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14300" y="114300"/>
            <a:ext cx="30480000" cy="1714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8669655" y="1123950"/>
            <a:ext cx="1352169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75" b="1" i="0">
                <a:solidFill>
                  <a:srgbClr val="0291FA"/>
                </a:solidFill>
                <a:latin typeface="Microsoft YaHei"/>
                <a:ea typeface="Microsoft YaHei"/>
                <a:cs typeface="Microsoft YaHei"/>
              </a:rPr>
              <a:t>经营态势问题分析与解决方案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667500" y="2495550"/>
            <a:ext cx="174307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7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合理配置信贷资源，加大对优质客户的授信支持，提高资金使用效率，同时加强对贷款客户的跟踪管理</a:t>
            </a:r>
          </a:p>
        </p:txBody>
      </p:sp>
      <p:cxnSp>
        <p:nvCxnSpPr>
          <p:cNvPr id="6" name="hdr-rule"/>
          <p:cNvCxnSpPr/>
          <p:nvPr/>
        </p:nvCxnSpPr>
        <p:spPr>
          <a:xfrm>
            <a:off x="1657350" y="3619500"/>
            <a:ext cx="27412950" cy="0"/>
          </a:xfrm>
          <a:prstGeom prst="line">
            <a:avLst/>
          </a:prstGeom>
          <a:ln w="19050">
            <a:solidFill>
              <a:srgbClr val="2C82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iv-1"/>
          <p:cNvCxnSpPr/>
          <p:nvPr/>
        </p:nvCxnSpPr>
        <p:spPr>
          <a:xfrm>
            <a:off x="1657350" y="6410325"/>
            <a:ext cx="27412950" cy="0"/>
          </a:xfrm>
          <a:prstGeom prst="line">
            <a:avLst/>
          </a:prstGeom>
          <a:ln w="38100">
            <a:solidFill>
              <a:srgbClr val="E2E2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iv-2"/>
          <p:cNvCxnSpPr/>
          <p:nvPr/>
        </p:nvCxnSpPr>
        <p:spPr>
          <a:xfrm>
            <a:off x="1657350" y="9515475"/>
            <a:ext cx="27412950" cy="0"/>
          </a:xfrm>
          <a:prstGeom prst="line">
            <a:avLst/>
          </a:prstGeom>
          <a:ln w="38100">
            <a:solidFill>
              <a:srgbClr val="E2E2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-3"/>
          <p:cNvCxnSpPr/>
          <p:nvPr/>
        </p:nvCxnSpPr>
        <p:spPr>
          <a:xfrm>
            <a:off x="1657350" y="12630150"/>
            <a:ext cx="27412950" cy="0"/>
          </a:xfrm>
          <a:prstGeom prst="line">
            <a:avLst/>
          </a:prstGeom>
          <a:ln w="38100">
            <a:solidFill>
              <a:srgbClr val="E2E2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cc-L1"/>
          <p:cNvSpPr/>
          <p:nvPr/>
        </p:nvSpPr>
        <p:spPr>
          <a:xfrm>
            <a:off x="1647825" y="3609975"/>
            <a:ext cx="228600" cy="2781300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-R1"/>
          <p:cNvSpPr/>
          <p:nvPr/>
        </p:nvSpPr>
        <p:spPr>
          <a:xfrm>
            <a:off x="28841700" y="3609975"/>
            <a:ext cx="228600" cy="2781300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c-L2"/>
          <p:cNvSpPr/>
          <p:nvPr/>
        </p:nvSpPr>
        <p:spPr>
          <a:xfrm>
            <a:off x="1647825" y="672465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-R2"/>
          <p:cNvSpPr/>
          <p:nvPr/>
        </p:nvSpPr>
        <p:spPr>
          <a:xfrm>
            <a:off x="28841700" y="672465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-L3"/>
          <p:cNvSpPr/>
          <p:nvPr/>
        </p:nvSpPr>
        <p:spPr>
          <a:xfrm>
            <a:off x="1647825" y="982980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-R3"/>
          <p:cNvSpPr/>
          <p:nvPr/>
        </p:nvSpPr>
        <p:spPr>
          <a:xfrm>
            <a:off x="28841700" y="982980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c-L4"/>
          <p:cNvSpPr/>
          <p:nvPr/>
        </p:nvSpPr>
        <p:spPr>
          <a:xfrm>
            <a:off x="1647825" y="1293495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c-R4"/>
          <p:cNvSpPr/>
          <p:nvPr/>
        </p:nvSpPr>
        <p:spPr>
          <a:xfrm>
            <a:off x="28841700" y="12934950"/>
            <a:ext cx="228600" cy="2771775"/>
          </a:xfrm>
          <a:prstGeom prst="rect">
            <a:avLst/>
          </a:prstGeom>
          <a:gradFill rotWithShape="1">
            <a:gsLst>
              <a:gs pos="0">
                <a:srgbClr val="0091FE"/>
              </a:gs>
              <a:gs pos="100000">
                <a:srgbClr val="4A6C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1" name="block-L1"/>
          <p:cNvGrpSpPr/>
          <p:nvPr/>
        </p:nvGrpSpPr>
        <p:grpSpPr>
          <a:xfrm>
            <a:off x="2381250" y="3762375"/>
            <a:ext cx="7383780" cy="2447925"/>
            <a:chOff x="2381250" y="3762375"/>
            <a:chExt cx="7383780" cy="2447925"/>
          </a:xfrm>
        </p:grpSpPr>
        <p:sp>
          <p:nvSpPr>
            <p:cNvPr id="18" name="L1-title"/>
            <p:cNvSpPr txBox="1"/>
            <p:nvPr/>
          </p:nvSpPr>
          <p:spPr>
            <a:xfrm>
              <a:off x="2381250" y="3762375"/>
              <a:ext cx="3675126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业务增长不均衡</a:t>
              </a:r>
            </a:p>
          </p:txBody>
        </p:sp>
        <p:sp>
          <p:nvSpPr>
            <p:cNvPr id="19" name="L1-b1"/>
            <p:cNvSpPr txBox="1"/>
            <p:nvPr/>
          </p:nvSpPr>
          <p:spPr>
            <a:xfrm>
              <a:off x="2381250" y="4505325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各季度完成金额占比差异较大，一季度仅占</a:t>
              </a:r>
            </a:p>
          </p:txBody>
        </p:sp>
        <p:sp>
          <p:nvSpPr>
            <p:cNvPr id="20" name="L1-b2"/>
            <p:cNvSpPr txBox="1"/>
            <p:nvPr/>
          </p:nvSpPr>
          <p:spPr>
            <a:xfrm>
              <a:off x="2381250" y="5057775"/>
              <a:ext cx="73818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5.51%,说明业务集中在年末完成，前期业务</a:t>
              </a:r>
            </a:p>
          </p:txBody>
        </p:sp>
        <p:sp>
          <p:nvSpPr>
            <p:cNvPr id="21" name="L1-b3"/>
            <p:cNvSpPr txBox="1"/>
            <p:nvPr/>
          </p:nvSpPr>
          <p:spPr>
            <a:xfrm>
              <a:off x="2381250" y="5600700"/>
              <a:ext cx="24003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拓展力度不足</a:t>
              </a:r>
            </a:p>
          </p:txBody>
        </p:sp>
      </p:grpSp>
      <p:grpSp>
        <p:nvGrpSpPr>
          <p:cNvPr id="76" name="block-L2"/>
          <p:cNvGrpSpPr/>
          <p:nvPr/>
        </p:nvGrpSpPr>
        <p:grpSpPr>
          <a:xfrm>
            <a:off x="2381250" y="7029450"/>
            <a:ext cx="7383780" cy="2447925"/>
            <a:chOff x="2381250" y="7029450"/>
            <a:chExt cx="7383780" cy="2447925"/>
          </a:xfrm>
        </p:grpSpPr>
        <p:sp>
          <p:nvSpPr>
            <p:cNvPr id="22" name="L2-title"/>
            <p:cNvSpPr txBox="1"/>
            <p:nvPr/>
          </p:nvSpPr>
          <p:spPr>
            <a:xfrm>
              <a:off x="2381250" y="7029450"/>
              <a:ext cx="4200144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存款业务有待提升</a:t>
              </a:r>
            </a:p>
          </p:txBody>
        </p:sp>
        <p:sp>
          <p:nvSpPr>
            <p:cNvPr id="23" name="L2-b1"/>
            <p:cNvSpPr txBox="1"/>
            <p:nvPr/>
          </p:nvSpPr>
          <p:spPr>
            <a:xfrm>
              <a:off x="2381250" y="7772400"/>
              <a:ext cx="7243877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截止2025年底对公客户总存款为7825万，</a:t>
              </a:r>
            </a:p>
          </p:txBody>
        </p:sp>
        <p:sp>
          <p:nvSpPr>
            <p:cNvPr id="24" name="L2-b2"/>
            <p:cNvSpPr txBox="1"/>
            <p:nvPr/>
          </p:nvSpPr>
          <p:spPr>
            <a:xfrm>
              <a:off x="2381250" y="8324850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相比行业平均水平或公司预期可能存在一定</a:t>
              </a:r>
            </a:p>
          </p:txBody>
        </p:sp>
        <p:sp>
          <p:nvSpPr>
            <p:cNvPr id="25" name="L2-b3"/>
            <p:cNvSpPr txBox="1"/>
            <p:nvPr/>
          </p:nvSpPr>
          <p:spPr>
            <a:xfrm>
              <a:off x="2381250" y="8867775"/>
              <a:ext cx="8763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差距</a:t>
              </a:r>
            </a:p>
          </p:txBody>
        </p:sp>
      </p:grpSp>
      <p:grpSp>
        <p:nvGrpSpPr>
          <p:cNvPr id="74" name="block-L3"/>
          <p:cNvGrpSpPr/>
          <p:nvPr/>
        </p:nvGrpSpPr>
        <p:grpSpPr>
          <a:xfrm>
            <a:off x="2381250" y="10182225"/>
            <a:ext cx="6396685" cy="1981200"/>
            <a:chOff x="2381250" y="10182225"/>
            <a:chExt cx="6396685" cy="1981200"/>
          </a:xfrm>
        </p:grpSpPr>
        <p:sp>
          <p:nvSpPr>
            <p:cNvPr id="26" name="L3-title"/>
            <p:cNvSpPr txBox="1"/>
            <p:nvPr/>
          </p:nvSpPr>
          <p:spPr>
            <a:xfrm>
              <a:off x="2381250" y="10182225"/>
              <a:ext cx="4200144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中间业务收入较低</a:t>
              </a:r>
            </a:p>
          </p:txBody>
        </p:sp>
        <p:sp>
          <p:nvSpPr>
            <p:cNvPr id="27" name="L3-b1"/>
            <p:cNvSpPr txBox="1"/>
            <p:nvPr/>
          </p:nvSpPr>
          <p:spPr>
            <a:xfrm>
              <a:off x="2381250" y="11010900"/>
              <a:ext cx="639668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截止2025年底中间业务收入仅为11.2</a:t>
              </a:r>
            </a:p>
          </p:txBody>
        </p:sp>
        <p:sp>
          <p:nvSpPr>
            <p:cNvPr id="28" name="L3-b2"/>
            <p:cNvSpPr txBox="1"/>
            <p:nvPr/>
          </p:nvSpPr>
          <p:spPr>
            <a:xfrm>
              <a:off x="2381250" y="11553825"/>
              <a:ext cx="42748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万，在总收入中占比较小</a:t>
              </a:r>
            </a:p>
          </p:txBody>
        </p:sp>
      </p:grpSp>
      <p:grpSp>
        <p:nvGrpSpPr>
          <p:cNvPr id="72" name="block-L4"/>
          <p:cNvGrpSpPr/>
          <p:nvPr/>
        </p:nvGrpSpPr>
        <p:grpSpPr>
          <a:xfrm>
            <a:off x="2381250" y="13287375"/>
            <a:ext cx="7610475" cy="2009775"/>
            <a:chOff x="2381250" y="13287375"/>
            <a:chExt cx="7610475" cy="2009775"/>
          </a:xfrm>
        </p:grpSpPr>
        <p:sp>
          <p:nvSpPr>
            <p:cNvPr id="29" name="L4-title"/>
            <p:cNvSpPr txBox="1"/>
            <p:nvPr/>
          </p:nvSpPr>
          <p:spPr>
            <a:xfrm>
              <a:off x="2381250" y="13287375"/>
              <a:ext cx="525018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利息收入增长潜力不足</a:t>
              </a:r>
            </a:p>
          </p:txBody>
        </p:sp>
        <p:sp>
          <p:nvSpPr>
            <p:cNvPr id="30" name="L4-b1"/>
            <p:cNvSpPr txBox="1"/>
            <p:nvPr/>
          </p:nvSpPr>
          <p:spPr>
            <a:xfrm>
              <a:off x="2381250" y="14116050"/>
              <a:ext cx="76104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虽然截止2025年底利息收入达到127.9</a:t>
              </a:r>
            </a:p>
          </p:txBody>
        </p:sp>
        <p:sp>
          <p:nvSpPr>
            <p:cNvPr id="31" name="L4-b2"/>
            <p:cNvSpPr txBox="1"/>
            <p:nvPr/>
          </p:nvSpPr>
          <p:spPr>
            <a:xfrm>
              <a:off x="2381250" y="14687550"/>
              <a:ext cx="54406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万，但可能未充分挖掘市场潜力</a:t>
              </a:r>
            </a:p>
          </p:txBody>
        </p:sp>
      </p:grpSp>
      <p:grpSp>
        <p:nvGrpSpPr>
          <p:cNvPr id="77" name="block-R1"/>
          <p:cNvGrpSpPr/>
          <p:nvPr/>
        </p:nvGrpSpPr>
        <p:grpSpPr>
          <a:xfrm>
            <a:off x="23031450" y="4000500"/>
            <a:ext cx="5381625" cy="1962150"/>
            <a:chOff x="23031450" y="4000500"/>
            <a:chExt cx="5381625" cy="1962150"/>
          </a:xfrm>
        </p:grpSpPr>
        <p:sp>
          <p:nvSpPr>
            <p:cNvPr id="32" name="R1-title"/>
            <p:cNvSpPr txBox="1"/>
            <p:nvPr/>
          </p:nvSpPr>
          <p:spPr>
            <a:xfrm>
              <a:off x="25224867" y="4000500"/>
              <a:ext cx="3150108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业务均衡发展</a:t>
              </a:r>
            </a:p>
          </p:txBody>
        </p:sp>
        <p:sp>
          <p:nvSpPr>
            <p:cNvPr id="33" name="R1-b1"/>
            <p:cNvSpPr txBox="1"/>
            <p:nvPr/>
          </p:nvSpPr>
          <p:spPr>
            <a:xfrm>
              <a:off x="23031450" y="4800600"/>
              <a:ext cx="53816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简化业务手续，提高效率，缩</a:t>
              </a:r>
            </a:p>
          </p:txBody>
        </p:sp>
        <p:sp>
          <p:nvSpPr>
            <p:cNvPr id="34" name="R1-b2"/>
            <p:cNvSpPr txBox="1"/>
            <p:nvPr/>
          </p:nvSpPr>
          <p:spPr>
            <a:xfrm>
              <a:off x="23707725" y="5353050"/>
              <a:ext cx="47053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短业务周期，吸引更多客户</a:t>
              </a:r>
            </a:p>
          </p:txBody>
        </p:sp>
      </p:grpSp>
      <p:grpSp>
        <p:nvGrpSpPr>
          <p:cNvPr id="73" name="block-R2"/>
          <p:cNvGrpSpPr/>
          <p:nvPr/>
        </p:nvGrpSpPr>
        <p:grpSpPr>
          <a:xfrm>
            <a:off x="21040725" y="6781800"/>
            <a:ext cx="7372350" cy="2505075"/>
            <a:chOff x="21040725" y="6781800"/>
            <a:chExt cx="7372350" cy="2505075"/>
          </a:xfrm>
        </p:grpSpPr>
        <p:sp>
          <p:nvSpPr>
            <p:cNvPr id="35" name="R2-title"/>
            <p:cNvSpPr txBox="1"/>
            <p:nvPr/>
          </p:nvSpPr>
          <p:spPr>
            <a:xfrm>
              <a:off x="25224867" y="6781800"/>
              <a:ext cx="3150108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提升存款业务</a:t>
              </a:r>
            </a:p>
          </p:txBody>
        </p:sp>
        <p:sp>
          <p:nvSpPr>
            <p:cNvPr id="36" name="R2-b1"/>
            <p:cNvSpPr txBox="1"/>
            <p:nvPr/>
          </p:nvSpPr>
          <p:spPr>
            <a:xfrm>
              <a:off x="21107400" y="7524750"/>
              <a:ext cx="73056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根据市场需求和客户特点，设计具有竞</a:t>
              </a:r>
            </a:p>
          </p:txBody>
        </p:sp>
        <p:sp>
          <p:nvSpPr>
            <p:cNvPr id="37" name="R2-b2"/>
            <p:cNvSpPr txBox="1"/>
            <p:nvPr/>
          </p:nvSpPr>
          <p:spPr>
            <a:xfrm>
              <a:off x="21040725" y="8134350"/>
              <a:ext cx="73723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争力的存款产品，如高收益定期存款、</a:t>
              </a:r>
            </a:p>
          </p:txBody>
        </p:sp>
        <p:sp>
          <p:nvSpPr>
            <p:cNvPr id="38" name="R2-b3"/>
            <p:cNvSpPr txBox="1"/>
            <p:nvPr/>
          </p:nvSpPr>
          <p:spPr>
            <a:xfrm>
              <a:off x="21593175" y="8677275"/>
              <a:ext cx="68199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灵活支取的活期存款组合等</a:t>
              </a:r>
            </a:p>
          </p:txBody>
        </p:sp>
      </p:grpSp>
      <p:grpSp>
        <p:nvGrpSpPr>
          <p:cNvPr id="70" name="block-R3"/>
          <p:cNvGrpSpPr/>
          <p:nvPr/>
        </p:nvGrpSpPr>
        <p:grpSpPr>
          <a:xfrm>
            <a:off x="21029295" y="10010775"/>
            <a:ext cx="7383780" cy="2447925"/>
            <a:chOff x="21029295" y="10010775"/>
            <a:chExt cx="7383780" cy="2447925"/>
          </a:xfrm>
        </p:grpSpPr>
        <p:sp>
          <p:nvSpPr>
            <p:cNvPr id="39" name="R3-title"/>
            <p:cNvSpPr txBox="1"/>
            <p:nvPr/>
          </p:nvSpPr>
          <p:spPr>
            <a:xfrm>
              <a:off x="25224867" y="10010775"/>
              <a:ext cx="3150108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拓展中间业务</a:t>
              </a:r>
            </a:p>
          </p:txBody>
        </p:sp>
        <p:sp>
          <p:nvSpPr>
            <p:cNvPr id="40" name="R3-b1"/>
            <p:cNvSpPr txBox="1"/>
            <p:nvPr/>
          </p:nvSpPr>
          <p:spPr>
            <a:xfrm>
              <a:off x="21029295" y="10753725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加强中间业务的宣传和推广，通过举办客户</a:t>
              </a:r>
            </a:p>
          </p:txBody>
        </p:sp>
        <p:sp>
          <p:nvSpPr>
            <p:cNvPr id="41" name="R3-b2"/>
            <p:cNvSpPr txBox="1"/>
            <p:nvPr/>
          </p:nvSpPr>
          <p:spPr>
            <a:xfrm>
              <a:off x="21029295" y="11306175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讲座、线上宣传等方式，提高中间业务产品</a:t>
              </a:r>
            </a:p>
          </p:txBody>
        </p:sp>
        <p:sp>
          <p:nvSpPr>
            <p:cNvPr id="42" name="R3-b3"/>
            <p:cNvSpPr txBox="1"/>
            <p:nvPr/>
          </p:nvSpPr>
          <p:spPr>
            <a:xfrm>
              <a:off x="25241250" y="11849100"/>
              <a:ext cx="31718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的知名度和认可度</a:t>
              </a:r>
            </a:p>
          </p:txBody>
        </p:sp>
      </p:grpSp>
      <p:grpSp>
        <p:nvGrpSpPr>
          <p:cNvPr id="75" name="block-R4"/>
          <p:cNvGrpSpPr/>
          <p:nvPr/>
        </p:nvGrpSpPr>
        <p:grpSpPr>
          <a:xfrm>
            <a:off x="21029295" y="13325475"/>
            <a:ext cx="7383780" cy="1943100"/>
            <a:chOff x="21029295" y="13325475"/>
            <a:chExt cx="7383780" cy="1943100"/>
          </a:xfrm>
        </p:grpSpPr>
        <p:sp>
          <p:nvSpPr>
            <p:cNvPr id="43" name="R4-title"/>
            <p:cNvSpPr txBox="1"/>
            <p:nvPr/>
          </p:nvSpPr>
          <p:spPr>
            <a:xfrm>
              <a:off x="24174831" y="13325475"/>
              <a:ext cx="4200144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挖掘利息收入潜力</a:t>
              </a:r>
            </a:p>
          </p:txBody>
        </p:sp>
        <p:sp>
          <p:nvSpPr>
            <p:cNvPr id="44" name="R4-b1"/>
            <p:cNvSpPr txBox="1"/>
            <p:nvPr/>
          </p:nvSpPr>
          <p:spPr>
            <a:xfrm>
              <a:off x="21029295" y="14106525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密切关注市场利率变化，运用利率衍生品等</a:t>
              </a:r>
            </a:p>
          </p:txBody>
        </p:sp>
        <p:sp>
          <p:nvSpPr>
            <p:cNvPr id="45" name="R4-b2"/>
            <p:cNvSpPr txBox="1"/>
            <p:nvPr/>
          </p:nvSpPr>
          <p:spPr>
            <a:xfrm>
              <a:off x="21029295" y="14658975"/>
              <a:ext cx="73837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工具进行风险对冲，提高利息收入的稳定性</a:t>
              </a:r>
            </a:p>
          </p:txBody>
        </p:sp>
      </p:grpSp>
      <p:sp>
        <p:nvSpPr>
          <p:cNvPr id="46" name="arrow-swoosh"/>
          <p:cNvSpPr/>
          <p:nvPr/>
        </p:nvSpPr>
        <p:spPr>
          <a:xfrm>
            <a:off x="9439275" y="5105400"/>
            <a:ext cx="4314825" cy="7372350"/>
          </a:xfrm>
          <a:custGeom>
            <a:avLst/>
            <a:gdLst/>
            <a:ahLst/>
            <a:cxnLst/>
            <a:rect l="l" t="t" r="r" b="b"/>
            <a:pathLst>
              <a:path w="4314825" h="7372350">
                <a:moveTo>
                  <a:pt x="2343150" y="0"/>
                </a:moveTo>
                <a:lnTo>
                  <a:pt x="2476500" y="57150"/>
                </a:lnTo>
                <a:lnTo>
                  <a:pt x="2609850" y="114300"/>
                </a:lnTo>
                <a:lnTo>
                  <a:pt x="2743200" y="171450"/>
                </a:lnTo>
                <a:lnTo>
                  <a:pt x="2876550" y="228600"/>
                </a:lnTo>
                <a:lnTo>
                  <a:pt x="3019425" y="285750"/>
                </a:lnTo>
                <a:lnTo>
                  <a:pt x="3143250" y="342900"/>
                </a:lnTo>
                <a:lnTo>
                  <a:pt x="3095625" y="400050"/>
                </a:lnTo>
                <a:lnTo>
                  <a:pt x="3019425" y="457200"/>
                </a:lnTo>
                <a:lnTo>
                  <a:pt x="2952750" y="514350"/>
                </a:lnTo>
                <a:lnTo>
                  <a:pt x="2886075" y="571500"/>
                </a:lnTo>
                <a:lnTo>
                  <a:pt x="2819400" y="628650"/>
                </a:lnTo>
                <a:lnTo>
                  <a:pt x="2752725" y="685800"/>
                </a:lnTo>
                <a:lnTo>
                  <a:pt x="2695575" y="742950"/>
                </a:lnTo>
                <a:lnTo>
                  <a:pt x="2638425" y="800100"/>
                </a:lnTo>
                <a:lnTo>
                  <a:pt x="2581275" y="857250"/>
                </a:lnTo>
                <a:lnTo>
                  <a:pt x="2524125" y="914400"/>
                </a:lnTo>
                <a:lnTo>
                  <a:pt x="2466975" y="971550"/>
                </a:lnTo>
                <a:lnTo>
                  <a:pt x="2409825" y="1028700"/>
                </a:lnTo>
                <a:lnTo>
                  <a:pt x="2362200" y="1085850"/>
                </a:lnTo>
                <a:lnTo>
                  <a:pt x="2305050" y="1143000"/>
                </a:lnTo>
                <a:lnTo>
                  <a:pt x="2257425" y="1200150"/>
                </a:lnTo>
                <a:lnTo>
                  <a:pt x="2200275" y="1257300"/>
                </a:lnTo>
                <a:lnTo>
                  <a:pt x="2152650" y="1314450"/>
                </a:lnTo>
                <a:lnTo>
                  <a:pt x="2105025" y="1371600"/>
                </a:lnTo>
                <a:lnTo>
                  <a:pt x="2066925" y="1428750"/>
                </a:lnTo>
                <a:lnTo>
                  <a:pt x="2019300" y="1485900"/>
                </a:lnTo>
                <a:lnTo>
                  <a:pt x="1971675" y="1543050"/>
                </a:lnTo>
                <a:lnTo>
                  <a:pt x="1933575" y="1600200"/>
                </a:lnTo>
                <a:lnTo>
                  <a:pt x="1885950" y="1657350"/>
                </a:lnTo>
                <a:lnTo>
                  <a:pt x="1847850" y="1714500"/>
                </a:lnTo>
                <a:lnTo>
                  <a:pt x="1809750" y="1771650"/>
                </a:lnTo>
                <a:lnTo>
                  <a:pt x="1762125" y="1828800"/>
                </a:lnTo>
                <a:lnTo>
                  <a:pt x="1724025" y="1885950"/>
                </a:lnTo>
                <a:lnTo>
                  <a:pt x="1685925" y="1943100"/>
                </a:lnTo>
                <a:lnTo>
                  <a:pt x="1647825" y="2000250"/>
                </a:lnTo>
                <a:lnTo>
                  <a:pt x="1609725" y="2057400"/>
                </a:lnTo>
                <a:lnTo>
                  <a:pt x="1581150" y="2114550"/>
                </a:lnTo>
                <a:lnTo>
                  <a:pt x="1543050" y="2171700"/>
                </a:lnTo>
                <a:lnTo>
                  <a:pt x="1504950" y="2228850"/>
                </a:lnTo>
                <a:lnTo>
                  <a:pt x="1466850" y="2286000"/>
                </a:lnTo>
                <a:lnTo>
                  <a:pt x="1428750" y="2343150"/>
                </a:lnTo>
                <a:lnTo>
                  <a:pt x="1400175" y="2400300"/>
                </a:lnTo>
                <a:lnTo>
                  <a:pt x="1362075" y="2457450"/>
                </a:lnTo>
                <a:lnTo>
                  <a:pt x="1333500" y="2514600"/>
                </a:lnTo>
                <a:lnTo>
                  <a:pt x="1304925" y="2571750"/>
                </a:lnTo>
                <a:lnTo>
                  <a:pt x="1266825" y="2628900"/>
                </a:lnTo>
                <a:lnTo>
                  <a:pt x="1238250" y="2686050"/>
                </a:lnTo>
                <a:lnTo>
                  <a:pt x="1209675" y="2743200"/>
                </a:lnTo>
                <a:lnTo>
                  <a:pt x="1181100" y="2800350"/>
                </a:lnTo>
                <a:lnTo>
                  <a:pt x="1152525" y="2857500"/>
                </a:lnTo>
                <a:lnTo>
                  <a:pt x="1114425" y="2914650"/>
                </a:lnTo>
                <a:lnTo>
                  <a:pt x="1085850" y="2971800"/>
                </a:lnTo>
                <a:lnTo>
                  <a:pt x="1066800" y="3028950"/>
                </a:lnTo>
                <a:lnTo>
                  <a:pt x="1038225" y="3086100"/>
                </a:lnTo>
                <a:lnTo>
                  <a:pt x="1009650" y="3143250"/>
                </a:lnTo>
                <a:lnTo>
                  <a:pt x="981075" y="3200400"/>
                </a:lnTo>
                <a:lnTo>
                  <a:pt x="952500" y="3257550"/>
                </a:lnTo>
                <a:lnTo>
                  <a:pt x="933450" y="3314700"/>
                </a:lnTo>
                <a:lnTo>
                  <a:pt x="904875" y="3371850"/>
                </a:lnTo>
                <a:lnTo>
                  <a:pt x="876300" y="3429000"/>
                </a:lnTo>
                <a:lnTo>
                  <a:pt x="857250" y="3486150"/>
                </a:lnTo>
                <a:lnTo>
                  <a:pt x="828675" y="3543300"/>
                </a:lnTo>
                <a:lnTo>
                  <a:pt x="809625" y="3600450"/>
                </a:lnTo>
                <a:lnTo>
                  <a:pt x="781050" y="3657600"/>
                </a:lnTo>
                <a:lnTo>
                  <a:pt x="762000" y="3714750"/>
                </a:lnTo>
                <a:lnTo>
                  <a:pt x="742950" y="3771900"/>
                </a:lnTo>
                <a:lnTo>
                  <a:pt x="714375" y="3829050"/>
                </a:lnTo>
                <a:lnTo>
                  <a:pt x="695325" y="3886200"/>
                </a:lnTo>
                <a:lnTo>
                  <a:pt x="676275" y="3943350"/>
                </a:lnTo>
                <a:lnTo>
                  <a:pt x="647700" y="4000500"/>
                </a:lnTo>
                <a:lnTo>
                  <a:pt x="628650" y="4057650"/>
                </a:lnTo>
                <a:lnTo>
                  <a:pt x="609600" y="4114800"/>
                </a:lnTo>
                <a:lnTo>
                  <a:pt x="590550" y="4171950"/>
                </a:lnTo>
                <a:lnTo>
                  <a:pt x="571500" y="4229100"/>
                </a:lnTo>
                <a:lnTo>
                  <a:pt x="552450" y="4286250"/>
                </a:lnTo>
                <a:lnTo>
                  <a:pt x="533400" y="4343400"/>
                </a:lnTo>
                <a:lnTo>
                  <a:pt x="514350" y="4400550"/>
                </a:lnTo>
                <a:lnTo>
                  <a:pt x="504825" y="4457700"/>
                </a:lnTo>
                <a:lnTo>
                  <a:pt x="485775" y="4514850"/>
                </a:lnTo>
                <a:lnTo>
                  <a:pt x="466725" y="4572000"/>
                </a:lnTo>
                <a:lnTo>
                  <a:pt x="447675" y="4629150"/>
                </a:lnTo>
                <a:lnTo>
                  <a:pt x="428625" y="4686300"/>
                </a:lnTo>
                <a:lnTo>
                  <a:pt x="419100" y="4743450"/>
                </a:lnTo>
                <a:lnTo>
                  <a:pt x="400050" y="4800600"/>
                </a:lnTo>
                <a:lnTo>
                  <a:pt x="390525" y="4857750"/>
                </a:lnTo>
                <a:lnTo>
                  <a:pt x="371475" y="4914900"/>
                </a:lnTo>
                <a:lnTo>
                  <a:pt x="352425" y="4972050"/>
                </a:lnTo>
                <a:lnTo>
                  <a:pt x="342900" y="5029200"/>
                </a:lnTo>
                <a:lnTo>
                  <a:pt x="323850" y="5086350"/>
                </a:lnTo>
                <a:lnTo>
                  <a:pt x="314325" y="5143500"/>
                </a:lnTo>
                <a:lnTo>
                  <a:pt x="295275" y="5200650"/>
                </a:lnTo>
                <a:lnTo>
                  <a:pt x="285750" y="5257800"/>
                </a:lnTo>
                <a:lnTo>
                  <a:pt x="276225" y="5314950"/>
                </a:lnTo>
                <a:lnTo>
                  <a:pt x="266700" y="5372100"/>
                </a:lnTo>
                <a:lnTo>
                  <a:pt x="247650" y="5429250"/>
                </a:lnTo>
                <a:lnTo>
                  <a:pt x="238125" y="5486400"/>
                </a:lnTo>
                <a:lnTo>
                  <a:pt x="228600" y="5543550"/>
                </a:lnTo>
                <a:lnTo>
                  <a:pt x="219075" y="5600700"/>
                </a:lnTo>
                <a:lnTo>
                  <a:pt x="209550" y="5657850"/>
                </a:lnTo>
                <a:lnTo>
                  <a:pt x="200025" y="5715000"/>
                </a:lnTo>
                <a:lnTo>
                  <a:pt x="180975" y="5772150"/>
                </a:lnTo>
                <a:lnTo>
                  <a:pt x="171450" y="5829300"/>
                </a:lnTo>
                <a:lnTo>
                  <a:pt x="161925" y="5886450"/>
                </a:lnTo>
                <a:lnTo>
                  <a:pt x="152400" y="5943600"/>
                </a:lnTo>
                <a:lnTo>
                  <a:pt x="142875" y="6000750"/>
                </a:lnTo>
                <a:lnTo>
                  <a:pt x="133350" y="6057900"/>
                </a:lnTo>
                <a:lnTo>
                  <a:pt x="123825" y="6115050"/>
                </a:lnTo>
                <a:lnTo>
                  <a:pt x="123825" y="6172200"/>
                </a:lnTo>
                <a:lnTo>
                  <a:pt x="114300" y="6229350"/>
                </a:lnTo>
                <a:lnTo>
                  <a:pt x="104775" y="6286500"/>
                </a:lnTo>
                <a:lnTo>
                  <a:pt x="104775" y="6343650"/>
                </a:lnTo>
                <a:lnTo>
                  <a:pt x="85725" y="6400800"/>
                </a:lnTo>
                <a:lnTo>
                  <a:pt x="85725" y="6457950"/>
                </a:lnTo>
                <a:lnTo>
                  <a:pt x="76200" y="6515100"/>
                </a:lnTo>
                <a:lnTo>
                  <a:pt x="66675" y="6572250"/>
                </a:lnTo>
                <a:lnTo>
                  <a:pt x="66675" y="6629400"/>
                </a:lnTo>
                <a:lnTo>
                  <a:pt x="57150" y="6686550"/>
                </a:lnTo>
                <a:lnTo>
                  <a:pt x="47625" y="6743700"/>
                </a:lnTo>
                <a:lnTo>
                  <a:pt x="47625" y="6800850"/>
                </a:lnTo>
                <a:lnTo>
                  <a:pt x="47625" y="6858000"/>
                </a:lnTo>
                <a:lnTo>
                  <a:pt x="38100" y="6915150"/>
                </a:lnTo>
                <a:lnTo>
                  <a:pt x="28575" y="6972300"/>
                </a:lnTo>
                <a:lnTo>
                  <a:pt x="19050" y="7029450"/>
                </a:lnTo>
                <a:lnTo>
                  <a:pt x="19050" y="7086600"/>
                </a:lnTo>
                <a:lnTo>
                  <a:pt x="9525" y="7143750"/>
                </a:lnTo>
                <a:lnTo>
                  <a:pt x="9525" y="7200900"/>
                </a:lnTo>
                <a:lnTo>
                  <a:pt x="9525" y="7258050"/>
                </a:lnTo>
                <a:lnTo>
                  <a:pt x="0" y="7315200"/>
                </a:lnTo>
                <a:lnTo>
                  <a:pt x="0" y="7372350"/>
                </a:lnTo>
                <a:lnTo>
                  <a:pt x="19050" y="7372350"/>
                </a:lnTo>
                <a:lnTo>
                  <a:pt x="28575" y="7315200"/>
                </a:lnTo>
                <a:lnTo>
                  <a:pt x="38100" y="7258050"/>
                </a:lnTo>
                <a:lnTo>
                  <a:pt x="47625" y="7200900"/>
                </a:lnTo>
                <a:lnTo>
                  <a:pt x="57150" y="7143750"/>
                </a:lnTo>
                <a:lnTo>
                  <a:pt x="76200" y="7086600"/>
                </a:lnTo>
                <a:lnTo>
                  <a:pt x="76200" y="7029450"/>
                </a:lnTo>
                <a:lnTo>
                  <a:pt x="95250" y="6972300"/>
                </a:lnTo>
                <a:lnTo>
                  <a:pt x="104775" y="6915150"/>
                </a:lnTo>
                <a:lnTo>
                  <a:pt x="114300" y="6858000"/>
                </a:lnTo>
                <a:lnTo>
                  <a:pt x="133350" y="6800850"/>
                </a:lnTo>
                <a:lnTo>
                  <a:pt x="142875" y="6743700"/>
                </a:lnTo>
                <a:lnTo>
                  <a:pt x="161925" y="6686550"/>
                </a:lnTo>
                <a:lnTo>
                  <a:pt x="171450" y="6629400"/>
                </a:lnTo>
                <a:lnTo>
                  <a:pt x="180975" y="6572250"/>
                </a:lnTo>
                <a:lnTo>
                  <a:pt x="200025" y="6515100"/>
                </a:lnTo>
                <a:lnTo>
                  <a:pt x="209550" y="6457950"/>
                </a:lnTo>
                <a:lnTo>
                  <a:pt x="228600" y="6400800"/>
                </a:lnTo>
                <a:lnTo>
                  <a:pt x="238125" y="6343650"/>
                </a:lnTo>
                <a:lnTo>
                  <a:pt x="257175" y="6286500"/>
                </a:lnTo>
                <a:lnTo>
                  <a:pt x="266700" y="6229350"/>
                </a:lnTo>
                <a:lnTo>
                  <a:pt x="285750" y="6172200"/>
                </a:lnTo>
                <a:lnTo>
                  <a:pt x="304800" y="6115050"/>
                </a:lnTo>
                <a:lnTo>
                  <a:pt x="314325" y="6057900"/>
                </a:lnTo>
                <a:lnTo>
                  <a:pt x="333375" y="6000750"/>
                </a:lnTo>
                <a:lnTo>
                  <a:pt x="342900" y="5943600"/>
                </a:lnTo>
                <a:lnTo>
                  <a:pt x="361950" y="5886450"/>
                </a:lnTo>
                <a:lnTo>
                  <a:pt x="381000" y="5829300"/>
                </a:lnTo>
                <a:lnTo>
                  <a:pt x="400050" y="5772150"/>
                </a:lnTo>
                <a:lnTo>
                  <a:pt x="419100" y="5715000"/>
                </a:lnTo>
                <a:lnTo>
                  <a:pt x="438150" y="5657850"/>
                </a:lnTo>
                <a:lnTo>
                  <a:pt x="457200" y="5600700"/>
                </a:lnTo>
                <a:lnTo>
                  <a:pt x="466725" y="5543550"/>
                </a:lnTo>
                <a:lnTo>
                  <a:pt x="485775" y="5486400"/>
                </a:lnTo>
                <a:lnTo>
                  <a:pt x="504825" y="5429250"/>
                </a:lnTo>
                <a:lnTo>
                  <a:pt x="523875" y="5372100"/>
                </a:lnTo>
                <a:lnTo>
                  <a:pt x="542925" y="5314950"/>
                </a:lnTo>
                <a:lnTo>
                  <a:pt x="561975" y="5257800"/>
                </a:lnTo>
                <a:lnTo>
                  <a:pt x="581025" y="5200650"/>
                </a:lnTo>
                <a:lnTo>
                  <a:pt x="600075" y="5143500"/>
                </a:lnTo>
                <a:lnTo>
                  <a:pt x="619125" y="5086350"/>
                </a:lnTo>
                <a:lnTo>
                  <a:pt x="647700" y="5029200"/>
                </a:lnTo>
                <a:lnTo>
                  <a:pt x="666750" y="4972050"/>
                </a:lnTo>
                <a:lnTo>
                  <a:pt x="685800" y="4914900"/>
                </a:lnTo>
                <a:lnTo>
                  <a:pt x="704850" y="4857750"/>
                </a:lnTo>
                <a:lnTo>
                  <a:pt x="4286250" y="4800600"/>
                </a:lnTo>
                <a:lnTo>
                  <a:pt x="752475" y="4743450"/>
                </a:lnTo>
                <a:lnTo>
                  <a:pt x="771525" y="4686300"/>
                </a:lnTo>
                <a:lnTo>
                  <a:pt x="800100" y="4629150"/>
                </a:lnTo>
                <a:lnTo>
                  <a:pt x="819150" y="4572000"/>
                </a:lnTo>
                <a:lnTo>
                  <a:pt x="847725" y="4514850"/>
                </a:lnTo>
                <a:lnTo>
                  <a:pt x="866775" y="4457700"/>
                </a:lnTo>
                <a:lnTo>
                  <a:pt x="895350" y="4400550"/>
                </a:lnTo>
                <a:lnTo>
                  <a:pt x="914400" y="4343400"/>
                </a:lnTo>
                <a:lnTo>
                  <a:pt x="942975" y="4286250"/>
                </a:lnTo>
                <a:lnTo>
                  <a:pt x="971550" y="4229100"/>
                </a:lnTo>
                <a:lnTo>
                  <a:pt x="990600" y="4171950"/>
                </a:lnTo>
                <a:lnTo>
                  <a:pt x="1019175" y="4114800"/>
                </a:lnTo>
                <a:lnTo>
                  <a:pt x="1047750" y="4057650"/>
                </a:lnTo>
                <a:lnTo>
                  <a:pt x="1076325" y="4000500"/>
                </a:lnTo>
                <a:lnTo>
                  <a:pt x="1104900" y="3943350"/>
                </a:lnTo>
                <a:lnTo>
                  <a:pt x="1133475" y="3886200"/>
                </a:lnTo>
                <a:lnTo>
                  <a:pt x="1162050" y="3829050"/>
                </a:lnTo>
                <a:lnTo>
                  <a:pt x="1190625" y="3771900"/>
                </a:lnTo>
                <a:lnTo>
                  <a:pt x="1219200" y="3714750"/>
                </a:lnTo>
                <a:lnTo>
                  <a:pt x="1247775" y="3657600"/>
                </a:lnTo>
                <a:lnTo>
                  <a:pt x="1276350" y="3600450"/>
                </a:lnTo>
                <a:lnTo>
                  <a:pt x="1314450" y="3543300"/>
                </a:lnTo>
                <a:lnTo>
                  <a:pt x="1343025" y="3486150"/>
                </a:lnTo>
                <a:lnTo>
                  <a:pt x="1371600" y="3429000"/>
                </a:lnTo>
                <a:lnTo>
                  <a:pt x="1409700" y="3371850"/>
                </a:lnTo>
                <a:lnTo>
                  <a:pt x="1438275" y="3314700"/>
                </a:lnTo>
                <a:lnTo>
                  <a:pt x="1476375" y="3257550"/>
                </a:lnTo>
                <a:lnTo>
                  <a:pt x="1514475" y="3200400"/>
                </a:lnTo>
                <a:lnTo>
                  <a:pt x="1543050" y="3143250"/>
                </a:lnTo>
                <a:lnTo>
                  <a:pt x="3371850" y="3086100"/>
                </a:lnTo>
                <a:lnTo>
                  <a:pt x="1609725" y="3028950"/>
                </a:lnTo>
                <a:lnTo>
                  <a:pt x="1647825" y="2971800"/>
                </a:lnTo>
                <a:lnTo>
                  <a:pt x="1685925" y="2914650"/>
                </a:lnTo>
                <a:lnTo>
                  <a:pt x="1724025" y="2857500"/>
                </a:lnTo>
                <a:lnTo>
                  <a:pt x="1762125" y="2800350"/>
                </a:lnTo>
                <a:lnTo>
                  <a:pt x="1800225" y="2743200"/>
                </a:lnTo>
                <a:lnTo>
                  <a:pt x="1847850" y="2686050"/>
                </a:lnTo>
                <a:lnTo>
                  <a:pt x="1895475" y="2628900"/>
                </a:lnTo>
                <a:lnTo>
                  <a:pt x="1933575" y="2571750"/>
                </a:lnTo>
                <a:lnTo>
                  <a:pt x="1981200" y="2514600"/>
                </a:lnTo>
                <a:lnTo>
                  <a:pt x="2019300" y="2457450"/>
                </a:lnTo>
                <a:lnTo>
                  <a:pt x="2066925" y="2400300"/>
                </a:lnTo>
                <a:lnTo>
                  <a:pt x="2114550" y="2343150"/>
                </a:lnTo>
                <a:lnTo>
                  <a:pt x="2162175" y="2286000"/>
                </a:lnTo>
                <a:lnTo>
                  <a:pt x="2209800" y="2228850"/>
                </a:lnTo>
                <a:lnTo>
                  <a:pt x="2257425" y="2171700"/>
                </a:lnTo>
                <a:lnTo>
                  <a:pt x="2314575" y="2114550"/>
                </a:lnTo>
                <a:lnTo>
                  <a:pt x="2362200" y="2057400"/>
                </a:lnTo>
                <a:lnTo>
                  <a:pt x="2419350" y="2000250"/>
                </a:lnTo>
                <a:lnTo>
                  <a:pt x="2466975" y="1943100"/>
                </a:lnTo>
                <a:lnTo>
                  <a:pt x="2524125" y="1885950"/>
                </a:lnTo>
                <a:lnTo>
                  <a:pt x="2590800" y="1828800"/>
                </a:lnTo>
                <a:lnTo>
                  <a:pt x="2647950" y="1771650"/>
                </a:lnTo>
                <a:lnTo>
                  <a:pt x="2705100" y="1714500"/>
                </a:lnTo>
                <a:lnTo>
                  <a:pt x="2771775" y="1657350"/>
                </a:lnTo>
                <a:lnTo>
                  <a:pt x="2838450" y="1600200"/>
                </a:lnTo>
                <a:lnTo>
                  <a:pt x="2905125" y="1543050"/>
                </a:lnTo>
                <a:lnTo>
                  <a:pt x="2981325" y="1485900"/>
                </a:lnTo>
                <a:lnTo>
                  <a:pt x="3057525" y="1428750"/>
                </a:lnTo>
                <a:lnTo>
                  <a:pt x="3124200" y="1371600"/>
                </a:lnTo>
                <a:lnTo>
                  <a:pt x="3209925" y="1314450"/>
                </a:lnTo>
                <a:lnTo>
                  <a:pt x="3295650" y="1257300"/>
                </a:lnTo>
                <a:lnTo>
                  <a:pt x="3381375" y="1200150"/>
                </a:lnTo>
                <a:lnTo>
                  <a:pt x="3476625" y="1143000"/>
                </a:lnTo>
                <a:lnTo>
                  <a:pt x="3571875" y="1085850"/>
                </a:lnTo>
                <a:lnTo>
                  <a:pt x="4314825" y="1028700"/>
                </a:lnTo>
                <a:lnTo>
                  <a:pt x="4314825" y="971550"/>
                </a:lnTo>
                <a:lnTo>
                  <a:pt x="4314825" y="914400"/>
                </a:lnTo>
                <a:lnTo>
                  <a:pt x="4314825" y="857250"/>
                </a:lnTo>
                <a:lnTo>
                  <a:pt x="4314825" y="800100"/>
                </a:lnTo>
                <a:lnTo>
                  <a:pt x="4314825" y="742950"/>
                </a:lnTo>
                <a:lnTo>
                  <a:pt x="4314825" y="685800"/>
                </a:lnTo>
                <a:lnTo>
                  <a:pt x="4314825" y="628650"/>
                </a:lnTo>
                <a:lnTo>
                  <a:pt x="4314825" y="571500"/>
                </a:lnTo>
                <a:lnTo>
                  <a:pt x="4314825" y="514350"/>
                </a:lnTo>
                <a:lnTo>
                  <a:pt x="4314825" y="457200"/>
                </a:lnTo>
                <a:lnTo>
                  <a:pt x="4314825" y="400050"/>
                </a:lnTo>
                <a:lnTo>
                  <a:pt x="4314825" y="342900"/>
                </a:lnTo>
                <a:lnTo>
                  <a:pt x="4314825" y="285750"/>
                </a:lnTo>
                <a:lnTo>
                  <a:pt x="4314825" y="228600"/>
                </a:lnTo>
                <a:lnTo>
                  <a:pt x="4314825" y="171450"/>
                </a:lnTo>
                <a:lnTo>
                  <a:pt x="4314825" y="114300"/>
                </a:lnTo>
                <a:lnTo>
                  <a:pt x="3848100" y="57150"/>
                </a:lnTo>
                <a:lnTo>
                  <a:pt x="3048000" y="0"/>
                </a:lnTo>
                <a:close/>
              </a:path>
            </a:pathLst>
          </a:custGeom>
          <a:gradFill rotWithShape="1">
            <a:gsLst>
              <a:gs pos="0">
                <a:srgbClr val="4FC3FF"/>
              </a:gs>
              <a:gs pos="100000">
                <a:srgbClr val="0091F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-side"/>
          <p:cNvSpPr/>
          <p:nvPr/>
        </p:nvSpPr>
        <p:spPr>
          <a:xfrm>
            <a:off x="22317075" y="4638675"/>
            <a:ext cx="781050" cy="2295525"/>
          </a:xfrm>
          <a:custGeom>
            <a:avLst/>
            <a:gdLst/>
            <a:ahLst/>
            <a:cxnLst/>
            <a:rect l="l" t="t" r="r" b="b"/>
            <a:pathLst>
              <a:path w="781050" h="2295525">
                <a:moveTo>
                  <a:pt x="781050" y="0"/>
                </a:moveTo>
                <a:lnTo>
                  <a:pt x="0" y="1457325"/>
                </a:lnTo>
                <a:lnTo>
                  <a:pt x="0" y="2295525"/>
                </a:lnTo>
                <a:lnTo>
                  <a:pt x="781050" y="838200"/>
                </a:lnTo>
                <a:close/>
              </a:path>
            </a:pathLst>
          </a:custGeom>
          <a:solidFill>
            <a:srgbClr val="00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-front"/>
          <p:cNvSpPr/>
          <p:nvPr/>
        </p:nvSpPr>
        <p:spPr>
          <a:xfrm>
            <a:off x="14630400" y="6096000"/>
            <a:ext cx="7000875" cy="838200"/>
          </a:xfrm>
          <a:custGeom>
            <a:avLst/>
            <a:gdLst/>
            <a:ahLst/>
            <a:cxnLst/>
            <a:rect l="l" t="t" r="r" b="b"/>
            <a:pathLst>
              <a:path w="7000875" h="838200">
                <a:moveTo>
                  <a:pt x="0" y="0"/>
                </a:moveTo>
                <a:lnTo>
                  <a:pt x="7000875" y="0"/>
                </a:lnTo>
                <a:lnTo>
                  <a:pt x="7000875" y="838200"/>
                </a:lnTo>
                <a:lnTo>
                  <a:pt x="0" y="838200"/>
                </a:lnTo>
                <a:close/>
              </a:path>
            </a:pathLst>
          </a:custGeom>
          <a:solidFill>
            <a:srgbClr val="007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-top"/>
          <p:cNvSpPr/>
          <p:nvPr/>
        </p:nvSpPr>
        <p:spPr>
          <a:xfrm>
            <a:off x="13677900" y="4638675"/>
            <a:ext cx="9420225" cy="1457325"/>
          </a:xfrm>
          <a:custGeom>
            <a:avLst/>
            <a:gdLst/>
            <a:ahLst/>
            <a:cxnLst/>
            <a:rect l="l" t="t" r="r" b="b"/>
            <a:pathLst>
              <a:path w="9420225" h="1457325">
                <a:moveTo>
                  <a:pt x="2914650" y="0"/>
                </a:moveTo>
                <a:lnTo>
                  <a:pt x="9420225" y="0"/>
                </a:lnTo>
                <a:lnTo>
                  <a:pt x="8639175" y="1457325"/>
                </a:lnTo>
                <a:lnTo>
                  <a:pt x="0" y="1457325"/>
                </a:lnTo>
                <a:close/>
              </a:path>
            </a:pathLst>
          </a:custGeom>
          <a:solidFill>
            <a:srgbClr val="009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2-side"/>
          <p:cNvSpPr/>
          <p:nvPr/>
        </p:nvSpPr>
        <p:spPr>
          <a:xfrm>
            <a:off x="20116800" y="6953250"/>
            <a:ext cx="1514475" cy="2305050"/>
          </a:xfrm>
          <a:custGeom>
            <a:avLst/>
            <a:gdLst/>
            <a:ahLst/>
            <a:cxnLst/>
            <a:rect l="l" t="t" r="r" b="b"/>
            <a:pathLst>
              <a:path w="1514475" h="2305050">
                <a:moveTo>
                  <a:pt x="1514475" y="0"/>
                </a:moveTo>
                <a:lnTo>
                  <a:pt x="0" y="1495425"/>
                </a:lnTo>
                <a:lnTo>
                  <a:pt x="0" y="2305050"/>
                </a:lnTo>
                <a:lnTo>
                  <a:pt x="1514475" y="809625"/>
                </a:lnTo>
                <a:close/>
              </a:path>
            </a:pathLst>
          </a:custGeom>
          <a:solidFill>
            <a:srgbClr val="3A4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2-front"/>
          <p:cNvSpPr/>
          <p:nvPr/>
        </p:nvSpPr>
        <p:spPr>
          <a:xfrm>
            <a:off x="12449175" y="8448675"/>
            <a:ext cx="7667625" cy="809625"/>
          </a:xfrm>
          <a:custGeom>
            <a:avLst/>
            <a:gdLst/>
            <a:ahLst/>
            <a:cxnLst/>
            <a:rect l="l" t="t" r="r" b="b"/>
            <a:pathLst>
              <a:path w="7667625" h="809625">
                <a:moveTo>
                  <a:pt x="0" y="0"/>
                </a:moveTo>
                <a:lnTo>
                  <a:pt x="7667625" y="0"/>
                </a:lnTo>
                <a:lnTo>
                  <a:pt x="7667625" y="809625"/>
                </a:lnTo>
                <a:lnTo>
                  <a:pt x="0" y="809625"/>
                </a:lnTo>
                <a:close/>
              </a:path>
            </a:pathLst>
          </a:custGeom>
          <a:solidFill>
            <a:srgbClr val="465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2-top"/>
          <p:cNvSpPr/>
          <p:nvPr/>
        </p:nvSpPr>
        <p:spPr>
          <a:xfrm>
            <a:off x="12449175" y="6953250"/>
            <a:ext cx="9182100" cy="1495425"/>
          </a:xfrm>
          <a:custGeom>
            <a:avLst/>
            <a:gdLst/>
            <a:ahLst/>
            <a:cxnLst/>
            <a:rect l="l" t="t" r="r" b="b"/>
            <a:pathLst>
              <a:path w="9182100" h="1495425">
                <a:moveTo>
                  <a:pt x="2047875" y="0"/>
                </a:moveTo>
                <a:lnTo>
                  <a:pt x="9182100" y="0"/>
                </a:lnTo>
                <a:lnTo>
                  <a:pt x="7667625" y="1495425"/>
                </a:lnTo>
                <a:lnTo>
                  <a:pt x="0" y="1495425"/>
                </a:lnTo>
                <a:close/>
              </a:path>
            </a:pathLst>
          </a:custGeom>
          <a:solidFill>
            <a:srgbClr val="536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3-side"/>
          <p:cNvSpPr/>
          <p:nvPr/>
        </p:nvSpPr>
        <p:spPr>
          <a:xfrm>
            <a:off x="18630900" y="9305925"/>
            <a:ext cx="1476375" cy="2295525"/>
          </a:xfrm>
          <a:custGeom>
            <a:avLst/>
            <a:gdLst/>
            <a:ahLst/>
            <a:cxnLst/>
            <a:rect l="l" t="t" r="r" b="b"/>
            <a:pathLst>
              <a:path w="1476375" h="2295525">
                <a:moveTo>
                  <a:pt x="1476375" y="0"/>
                </a:moveTo>
                <a:lnTo>
                  <a:pt x="0" y="1476375"/>
                </a:lnTo>
                <a:lnTo>
                  <a:pt x="0" y="2295525"/>
                </a:lnTo>
                <a:lnTo>
                  <a:pt x="1476375" y="819150"/>
                </a:lnTo>
                <a:close/>
              </a:path>
            </a:pathLst>
          </a:custGeom>
          <a:solidFill>
            <a:srgbClr val="0B2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3-front"/>
          <p:cNvSpPr/>
          <p:nvPr/>
        </p:nvSpPr>
        <p:spPr>
          <a:xfrm>
            <a:off x="10344150" y="10782300"/>
            <a:ext cx="8286750" cy="819150"/>
          </a:xfrm>
          <a:custGeom>
            <a:avLst/>
            <a:gdLst/>
            <a:ahLst/>
            <a:cxnLst/>
            <a:rect l="l" t="t" r="r" b="b"/>
            <a:pathLst>
              <a:path w="8286750" h="819150">
                <a:moveTo>
                  <a:pt x="0" y="0"/>
                </a:moveTo>
                <a:lnTo>
                  <a:pt x="8286750" y="0"/>
                </a:lnTo>
                <a:lnTo>
                  <a:pt x="8286750" y="819150"/>
                </a:lnTo>
                <a:lnTo>
                  <a:pt x="0" y="819150"/>
                </a:lnTo>
                <a:close/>
              </a:path>
            </a:pathLst>
          </a:custGeom>
          <a:solidFill>
            <a:srgbClr val="0E3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3-top"/>
          <p:cNvSpPr/>
          <p:nvPr/>
        </p:nvSpPr>
        <p:spPr>
          <a:xfrm>
            <a:off x="10344150" y="9305925"/>
            <a:ext cx="9763125" cy="1476375"/>
          </a:xfrm>
          <a:custGeom>
            <a:avLst/>
            <a:gdLst/>
            <a:ahLst/>
            <a:cxnLst/>
            <a:rect l="l" t="t" r="r" b="b"/>
            <a:pathLst>
              <a:path w="9763125" h="1476375">
                <a:moveTo>
                  <a:pt x="1952625" y="0"/>
                </a:moveTo>
                <a:lnTo>
                  <a:pt x="9763125" y="0"/>
                </a:lnTo>
                <a:lnTo>
                  <a:pt x="8286750" y="1476375"/>
                </a:lnTo>
                <a:lnTo>
                  <a:pt x="0" y="1476375"/>
                </a:lnTo>
                <a:close/>
              </a:path>
            </a:pathLst>
          </a:custGeom>
          <a:solidFill>
            <a:srgbClr val="1D4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4-side"/>
          <p:cNvSpPr/>
          <p:nvPr/>
        </p:nvSpPr>
        <p:spPr>
          <a:xfrm>
            <a:off x="17964150" y="11639550"/>
            <a:ext cx="695325" cy="2257425"/>
          </a:xfrm>
          <a:custGeom>
            <a:avLst/>
            <a:gdLst/>
            <a:ahLst/>
            <a:cxnLst/>
            <a:rect l="l" t="t" r="r" b="b"/>
            <a:pathLst>
              <a:path w="695325" h="2257425">
                <a:moveTo>
                  <a:pt x="695325" y="0"/>
                </a:moveTo>
                <a:lnTo>
                  <a:pt x="0" y="638175"/>
                </a:lnTo>
                <a:lnTo>
                  <a:pt x="0" y="2257425"/>
                </a:lnTo>
                <a:lnTo>
                  <a:pt x="695325" y="1619250"/>
                </a:lnTo>
                <a:close/>
              </a:path>
            </a:pathLst>
          </a:custGeom>
          <a:solidFill>
            <a:srgbClr val="23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4-front"/>
          <p:cNvSpPr/>
          <p:nvPr/>
        </p:nvSpPr>
        <p:spPr>
          <a:xfrm>
            <a:off x="8629650" y="12277725"/>
            <a:ext cx="9334500" cy="1323975"/>
          </a:xfrm>
          <a:custGeom>
            <a:avLst/>
            <a:gdLst/>
            <a:ahLst/>
            <a:cxnLst/>
            <a:rect l="l" t="t" r="r" b="b"/>
            <a:pathLst>
              <a:path w="9334500" h="1323975">
                <a:moveTo>
                  <a:pt x="0" y="0"/>
                </a:moveTo>
                <a:lnTo>
                  <a:pt x="9334500" y="0"/>
                </a:lnTo>
                <a:lnTo>
                  <a:pt x="9334500" y="600075"/>
                </a:lnTo>
                <a:lnTo>
                  <a:pt x="0" y="1323975"/>
                </a:lnTo>
                <a:close/>
              </a:path>
            </a:pathLst>
          </a:custGeom>
          <a:solidFill>
            <a:srgbClr val="2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4-top"/>
          <p:cNvSpPr/>
          <p:nvPr/>
        </p:nvSpPr>
        <p:spPr>
          <a:xfrm>
            <a:off x="8629650" y="11639550"/>
            <a:ext cx="10029825" cy="638175"/>
          </a:xfrm>
          <a:custGeom>
            <a:avLst/>
            <a:gdLst/>
            <a:ahLst/>
            <a:cxnLst/>
            <a:rect l="l" t="t" r="r" b="b"/>
            <a:pathLst>
              <a:path w="10029825" h="638175">
                <a:moveTo>
                  <a:pt x="1847850" y="0"/>
                </a:moveTo>
                <a:lnTo>
                  <a:pt x="10029825" y="0"/>
                </a:lnTo>
                <a:lnTo>
                  <a:pt x="9334500" y="638175"/>
                </a:lnTo>
                <a:lnTo>
                  <a:pt x="0" y="638175"/>
                </a:lnTo>
                <a:close/>
              </a:path>
            </a:pathLst>
          </a:custGeom>
          <a:solidFill>
            <a:srgbClr val="423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1-val"/>
          <p:cNvSpPr txBox="1"/>
          <p:nvPr/>
        </p:nvSpPr>
        <p:spPr>
          <a:xfrm>
            <a:off x="17259300" y="4533900"/>
            <a:ext cx="32385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5.8亿</a:t>
            </a:r>
          </a:p>
        </p:txBody>
      </p:sp>
      <p:sp>
        <p:nvSpPr>
          <p:cNvPr id="60" name="s1-lab"/>
          <p:cNvSpPr txBox="1"/>
          <p:nvPr/>
        </p:nvSpPr>
        <p:spPr>
          <a:xfrm>
            <a:off x="16859250" y="6143625"/>
            <a:ext cx="247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总授信额度</a:t>
            </a:r>
          </a:p>
        </p:txBody>
      </p:sp>
      <p:sp>
        <p:nvSpPr>
          <p:cNvPr id="61" name="s2-val"/>
          <p:cNvSpPr txBox="1"/>
          <p:nvPr/>
        </p:nvSpPr>
        <p:spPr>
          <a:xfrm>
            <a:off x="14554200" y="7038975"/>
            <a:ext cx="49530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7525万元</a:t>
            </a:r>
          </a:p>
        </p:txBody>
      </p:sp>
      <p:sp>
        <p:nvSpPr>
          <p:cNvPr id="62" name="s2-lab"/>
          <p:cNvSpPr txBox="1"/>
          <p:nvPr/>
        </p:nvSpPr>
        <p:spPr>
          <a:xfrm>
            <a:off x="14849475" y="8543925"/>
            <a:ext cx="2857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对公总存款数</a:t>
            </a:r>
          </a:p>
        </p:txBody>
      </p:sp>
      <p:sp>
        <p:nvSpPr>
          <p:cNvPr id="63" name="s3-val"/>
          <p:cNvSpPr txBox="1"/>
          <p:nvPr/>
        </p:nvSpPr>
        <p:spPr>
          <a:xfrm>
            <a:off x="12677775" y="9448800"/>
            <a:ext cx="51435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127.9万元</a:t>
            </a:r>
          </a:p>
        </p:txBody>
      </p:sp>
      <p:sp>
        <p:nvSpPr>
          <p:cNvPr id="64" name="s3-lab"/>
          <p:cNvSpPr txBox="1"/>
          <p:nvPr/>
        </p:nvSpPr>
        <p:spPr>
          <a:xfrm>
            <a:off x="13430250" y="10972800"/>
            <a:ext cx="2095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利息收入</a:t>
            </a:r>
          </a:p>
        </p:txBody>
      </p:sp>
      <p:sp>
        <p:nvSpPr>
          <p:cNvPr id="65" name="s4-val"/>
          <p:cNvSpPr txBox="1"/>
          <p:nvPr/>
        </p:nvSpPr>
        <p:spPr>
          <a:xfrm>
            <a:off x="11163300" y="11591925"/>
            <a:ext cx="45720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11.2万元</a:t>
            </a:r>
          </a:p>
        </p:txBody>
      </p:sp>
      <p:sp>
        <p:nvSpPr>
          <p:cNvPr id="66" name="s4-lab"/>
          <p:cNvSpPr txBox="1"/>
          <p:nvPr/>
        </p:nvSpPr>
        <p:spPr>
          <a:xfrm>
            <a:off x="11163300" y="13106400"/>
            <a:ext cx="30480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中间业务收入</a:t>
            </a:r>
          </a:p>
        </p:txBody>
      </p:sp>
      <p:pic>
        <p:nvPicPr>
          <p:cNvPr id="67" name="illus-hand" descr="_photo_illus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13639800"/>
            <a:ext cx="3048000" cy="1790700"/>
          </a:xfrm>
          <a:prstGeom prst="rect">
            <a:avLst/>
          </a:prstGeom>
          <a:effectLst/>
        </p:spPr>
      </p:pic>
      <p:sp>
        <p:nvSpPr>
          <p:cNvPr id="68" name="slogan"/>
          <p:cNvSpPr txBox="1"/>
          <p:nvPr/>
        </p:nvSpPr>
        <p:spPr>
          <a:xfrm>
            <a:off x="12344400" y="14439900"/>
            <a:ext cx="428625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6FE8"/>
                </a:solidFill>
                <a:latin typeface="Microsoft YaHei"/>
                <a:ea typeface="Microsoft YaHei"/>
                <a:cs typeface="Microsoft YaHei"/>
              </a:rPr>
              <a:t>洞察现状，驱动未来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