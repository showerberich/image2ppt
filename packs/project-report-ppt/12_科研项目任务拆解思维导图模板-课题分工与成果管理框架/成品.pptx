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4061400" cy="168021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4061400" cy="1680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ame"/>
          <p:cNvSpPr/>
          <p:nvPr/>
        </p:nvSpPr>
        <p:spPr>
          <a:xfrm>
            <a:off x="133350" y="123825"/>
            <a:ext cx="33794700" cy="16554450"/>
          </a:xfrm>
          <a:prstGeom prst="rect">
            <a:avLst/>
          </a:prstGeom>
          <a:noFill/>
          <a:ln w="14287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48" name="card-LT"/>
          <p:cNvGrpSpPr/>
          <p:nvPr/>
        </p:nvGrpSpPr>
        <p:grpSpPr>
          <a:xfrm>
            <a:off x="1171575" y="2105025"/>
            <a:ext cx="9324975" cy="3152775"/>
            <a:chOff x="1171575" y="2105025"/>
            <a:chExt cx="9324975" cy="3152775"/>
          </a:xfrm>
        </p:grpSpPr>
        <p:sp>
          <p:nvSpPr>
            <p:cNvPr id="4" name="card-LT-body"/>
            <p:cNvSpPr/>
            <p:nvPr/>
          </p:nvSpPr>
          <p:spPr>
            <a:xfrm>
              <a:off x="1171575" y="2105025"/>
              <a:ext cx="8972550" cy="3152775"/>
            </a:xfrm>
            <a:custGeom>
              <a:avLst/>
              <a:gdLst/>
              <a:ahLst/>
              <a:cxnLst/>
              <a:rect l="l" t="t" r="r" b="b"/>
              <a:pathLst>
                <a:path w="8972550" h="3152775">
                  <a:moveTo>
                    <a:pt x="0" y="1571625"/>
                  </a:moveTo>
                  <a:lnTo>
                    <a:pt x="5715" y="1434465"/>
                  </a:lnTo>
                  <a:lnTo>
                    <a:pt x="23813" y="1298257"/>
                  </a:lnTo>
                  <a:lnTo>
                    <a:pt x="53340" y="1164907"/>
                  </a:lnTo>
                  <a:lnTo>
                    <a:pt x="95250" y="1034415"/>
                  </a:lnTo>
                  <a:lnTo>
                    <a:pt x="147637" y="907733"/>
                  </a:lnTo>
                  <a:lnTo>
                    <a:pt x="210503" y="785813"/>
                  </a:lnTo>
                  <a:lnTo>
                    <a:pt x="283845" y="670560"/>
                  </a:lnTo>
                  <a:lnTo>
                    <a:pt x="367665" y="561023"/>
                  </a:lnTo>
                  <a:lnTo>
                    <a:pt x="460057" y="460057"/>
                  </a:lnTo>
                  <a:lnTo>
                    <a:pt x="561023" y="367665"/>
                  </a:lnTo>
                  <a:lnTo>
                    <a:pt x="670560" y="283845"/>
                  </a:lnTo>
                  <a:lnTo>
                    <a:pt x="785813" y="210503"/>
                  </a:lnTo>
                  <a:lnTo>
                    <a:pt x="907733" y="147637"/>
                  </a:lnTo>
                  <a:lnTo>
                    <a:pt x="1034415" y="95250"/>
                  </a:lnTo>
                  <a:lnTo>
                    <a:pt x="1164907" y="53340"/>
                  </a:lnTo>
                  <a:lnTo>
                    <a:pt x="1298257" y="23813"/>
                  </a:lnTo>
                  <a:lnTo>
                    <a:pt x="1434465" y="5715"/>
                  </a:lnTo>
                  <a:lnTo>
                    <a:pt x="1571625" y="0"/>
                  </a:lnTo>
                  <a:lnTo>
                    <a:pt x="8324850" y="0"/>
                  </a:lnTo>
                  <a:lnTo>
                    <a:pt x="8381047" y="2857"/>
                  </a:lnTo>
                  <a:lnTo>
                    <a:pt x="8437245" y="9525"/>
                  </a:lnTo>
                  <a:lnTo>
                    <a:pt x="8492490" y="21907"/>
                  </a:lnTo>
                  <a:lnTo>
                    <a:pt x="8546783" y="39053"/>
                  </a:lnTo>
                  <a:lnTo>
                    <a:pt x="8598217" y="60960"/>
                  </a:lnTo>
                  <a:lnTo>
                    <a:pt x="8648700" y="86677"/>
                  </a:lnTo>
                  <a:lnTo>
                    <a:pt x="8696325" y="117157"/>
                  </a:lnTo>
                  <a:lnTo>
                    <a:pt x="8741093" y="151447"/>
                  </a:lnTo>
                  <a:lnTo>
                    <a:pt x="8783003" y="189547"/>
                  </a:lnTo>
                  <a:lnTo>
                    <a:pt x="8821103" y="231457"/>
                  </a:lnTo>
                  <a:lnTo>
                    <a:pt x="8855393" y="276225"/>
                  </a:lnTo>
                  <a:lnTo>
                    <a:pt x="8885873" y="323850"/>
                  </a:lnTo>
                  <a:lnTo>
                    <a:pt x="8911590" y="374333"/>
                  </a:lnTo>
                  <a:lnTo>
                    <a:pt x="8933497" y="425767"/>
                  </a:lnTo>
                  <a:lnTo>
                    <a:pt x="8950643" y="480060"/>
                  </a:lnTo>
                  <a:lnTo>
                    <a:pt x="8963025" y="535305"/>
                  </a:lnTo>
                  <a:lnTo>
                    <a:pt x="8969693" y="591503"/>
                  </a:lnTo>
                  <a:lnTo>
                    <a:pt x="8972550" y="647700"/>
                  </a:lnTo>
                  <a:lnTo>
                    <a:pt x="8972550" y="2505075"/>
                  </a:lnTo>
                  <a:lnTo>
                    <a:pt x="8969693" y="2561273"/>
                  </a:lnTo>
                  <a:lnTo>
                    <a:pt x="8963025" y="2617470"/>
                  </a:lnTo>
                  <a:lnTo>
                    <a:pt x="8950643" y="2672715"/>
                  </a:lnTo>
                  <a:lnTo>
                    <a:pt x="8933497" y="2727007"/>
                  </a:lnTo>
                  <a:lnTo>
                    <a:pt x="8911590" y="2778443"/>
                  </a:lnTo>
                  <a:lnTo>
                    <a:pt x="8885873" y="2828925"/>
                  </a:lnTo>
                  <a:lnTo>
                    <a:pt x="8855393" y="2876550"/>
                  </a:lnTo>
                  <a:lnTo>
                    <a:pt x="8821103" y="2921317"/>
                  </a:lnTo>
                  <a:lnTo>
                    <a:pt x="8783003" y="2963227"/>
                  </a:lnTo>
                  <a:lnTo>
                    <a:pt x="8741093" y="3001327"/>
                  </a:lnTo>
                  <a:lnTo>
                    <a:pt x="8696325" y="3035617"/>
                  </a:lnTo>
                  <a:lnTo>
                    <a:pt x="8648700" y="3066097"/>
                  </a:lnTo>
                  <a:lnTo>
                    <a:pt x="8598217" y="3091815"/>
                  </a:lnTo>
                  <a:lnTo>
                    <a:pt x="8546783" y="3113723"/>
                  </a:lnTo>
                  <a:lnTo>
                    <a:pt x="8492490" y="3130867"/>
                  </a:lnTo>
                  <a:lnTo>
                    <a:pt x="8437245" y="3143250"/>
                  </a:lnTo>
                  <a:lnTo>
                    <a:pt x="8381047" y="3149917"/>
                  </a:lnTo>
                  <a:lnTo>
                    <a:pt x="8324850" y="3152775"/>
                  </a:lnTo>
                  <a:lnTo>
                    <a:pt x="1571625" y="3152775"/>
                  </a:lnTo>
                  <a:lnTo>
                    <a:pt x="1434465" y="3147060"/>
                  </a:lnTo>
                  <a:lnTo>
                    <a:pt x="1298257" y="3128963"/>
                  </a:lnTo>
                  <a:lnTo>
                    <a:pt x="1164907" y="3099435"/>
                  </a:lnTo>
                  <a:lnTo>
                    <a:pt x="1034415" y="3057525"/>
                  </a:lnTo>
                  <a:lnTo>
                    <a:pt x="907733" y="3005137"/>
                  </a:lnTo>
                  <a:lnTo>
                    <a:pt x="785813" y="2942273"/>
                  </a:lnTo>
                  <a:lnTo>
                    <a:pt x="670560" y="2868930"/>
                  </a:lnTo>
                  <a:lnTo>
                    <a:pt x="561023" y="2785110"/>
                  </a:lnTo>
                  <a:lnTo>
                    <a:pt x="460057" y="2692717"/>
                  </a:lnTo>
                  <a:lnTo>
                    <a:pt x="367665" y="2591753"/>
                  </a:lnTo>
                  <a:lnTo>
                    <a:pt x="283845" y="2482215"/>
                  </a:lnTo>
                  <a:lnTo>
                    <a:pt x="210503" y="2366963"/>
                  </a:lnTo>
                  <a:lnTo>
                    <a:pt x="147637" y="2245043"/>
                  </a:lnTo>
                  <a:lnTo>
                    <a:pt x="95250" y="2118360"/>
                  </a:lnTo>
                  <a:lnTo>
                    <a:pt x="53340" y="1987867"/>
                  </a:lnTo>
                  <a:lnTo>
                    <a:pt x="23813" y="1854517"/>
                  </a:lnTo>
                  <a:lnTo>
                    <a:pt x="5715" y="1718310"/>
                  </a:lnTo>
                  <a:lnTo>
                    <a:pt x="0" y="1581150"/>
                  </a:lnTo>
                  <a:close/>
                </a:path>
              </a:pathLst>
            </a:custGeom>
            <a:solidFill>
              <a:srgbClr val="EE7A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card-LT-tail"/>
            <p:cNvSpPr/>
            <p:nvPr/>
          </p:nvSpPr>
          <p:spPr>
            <a:xfrm>
              <a:off x="9858375" y="3238500"/>
              <a:ext cx="638175" cy="876300"/>
            </a:xfrm>
            <a:custGeom>
              <a:avLst/>
              <a:gdLst/>
              <a:ahLst/>
              <a:cxnLst/>
              <a:rect l="l" t="t" r="r" b="b"/>
              <a:pathLst>
                <a:path w="638175" h="876300">
                  <a:moveTo>
                    <a:pt x="0" y="0"/>
                  </a:moveTo>
                  <a:lnTo>
                    <a:pt x="638175" y="438150"/>
                  </a:lnTo>
                  <a:lnTo>
                    <a:pt x="0" y="876300"/>
                  </a:lnTo>
                  <a:close/>
                </a:path>
              </a:pathLst>
            </a:custGeom>
            <a:solidFill>
              <a:srgbClr val="EE7A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card-LT-iconbg"/>
            <p:cNvSpPr/>
            <p:nvPr/>
          </p:nvSpPr>
          <p:spPr>
            <a:xfrm>
              <a:off x="1600200" y="2486025"/>
              <a:ext cx="2381250" cy="2381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35" name="card-LT-icon"/>
            <p:cNvGrpSpPr/>
            <p:nvPr/>
          </p:nvGrpSpPr>
          <p:grpSpPr>
            <a:xfrm>
              <a:off x="2233612" y="3119438"/>
              <a:ext cx="1128713" cy="1128712"/>
              <a:chOff x="2233612" y="3119438"/>
              <a:chExt cx="1128713" cy="112871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233612" y="3119438"/>
                <a:ext cx="885825" cy="885825"/>
              </a:xfrm>
              <a:prstGeom prst="ellipse">
                <a:avLst/>
              </a:prstGeom>
              <a:noFill/>
              <a:ln w="15240">
                <a:solidFill>
                  <a:srgbClr val="22314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8" name="Connector 7"/>
              <p:cNvCxnSpPr/>
              <p:nvPr/>
            </p:nvCxnSpPr>
            <p:spPr>
              <a:xfrm>
                <a:off x="2962275" y="3848100"/>
                <a:ext cx="400050" cy="400050"/>
              </a:xfrm>
              <a:prstGeom prst="line">
                <a:avLst/>
              </a:prstGeom>
              <a:ln w="148590">
                <a:solidFill>
                  <a:srgbClr val="22314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card-LT-name"/>
            <p:cNvSpPr txBox="1"/>
            <p:nvPr/>
          </p:nvSpPr>
          <p:spPr>
            <a:xfrm>
              <a:off x="4619625" y="2667000"/>
              <a:ext cx="2400300" cy="5429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6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理论研究组</a:t>
              </a:r>
            </a:p>
          </p:txBody>
        </p:sp>
        <p:sp>
          <p:nvSpPr>
            <p:cNvPr id="10" name="card-LT-desc1"/>
            <p:cNvSpPr txBox="1"/>
            <p:nvPr/>
          </p:nvSpPr>
          <p:spPr>
            <a:xfrm>
              <a:off x="4619625" y="3267075"/>
              <a:ext cx="47053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负责文献综述与模型构建，</a:t>
              </a:r>
            </a:p>
          </p:txBody>
        </p:sp>
        <p:sp>
          <p:nvSpPr>
            <p:cNvPr id="11" name="card-LT-desc2"/>
            <p:cNvSpPr txBox="1"/>
            <p:nvPr/>
          </p:nvSpPr>
          <p:spPr>
            <a:xfrm>
              <a:off x="4619625" y="3762375"/>
              <a:ext cx="47053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完成核心算法的数学推导与</a:t>
              </a:r>
            </a:p>
          </p:txBody>
        </p:sp>
        <p:sp>
          <p:nvSpPr>
            <p:cNvPr id="12" name="card-LT-desc3"/>
            <p:cNvSpPr txBox="1"/>
            <p:nvPr/>
          </p:nvSpPr>
          <p:spPr>
            <a:xfrm>
              <a:off x="4619625" y="4267200"/>
              <a:ext cx="16573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仿真验证</a:t>
              </a:r>
            </a:p>
          </p:txBody>
        </p:sp>
      </p:grpSp>
      <p:grpSp>
        <p:nvGrpSpPr>
          <p:cNvPr id="141" name="card-LM"/>
          <p:cNvGrpSpPr/>
          <p:nvPr/>
        </p:nvGrpSpPr>
        <p:grpSpPr>
          <a:xfrm>
            <a:off x="1171575" y="6096000"/>
            <a:ext cx="9324975" cy="3152775"/>
            <a:chOff x="1171575" y="6096000"/>
            <a:chExt cx="9324975" cy="3152775"/>
          </a:xfrm>
        </p:grpSpPr>
        <p:sp>
          <p:nvSpPr>
            <p:cNvPr id="13" name="card-LM-body"/>
            <p:cNvSpPr/>
            <p:nvPr/>
          </p:nvSpPr>
          <p:spPr>
            <a:xfrm>
              <a:off x="1171575" y="6096000"/>
              <a:ext cx="8972550" cy="3152775"/>
            </a:xfrm>
            <a:custGeom>
              <a:avLst/>
              <a:gdLst/>
              <a:ahLst/>
              <a:cxnLst/>
              <a:rect l="l" t="t" r="r" b="b"/>
              <a:pathLst>
                <a:path w="8972550" h="3152775">
                  <a:moveTo>
                    <a:pt x="0" y="1571625"/>
                  </a:moveTo>
                  <a:lnTo>
                    <a:pt x="5715" y="1434465"/>
                  </a:lnTo>
                  <a:lnTo>
                    <a:pt x="23813" y="1298258"/>
                  </a:lnTo>
                  <a:lnTo>
                    <a:pt x="53340" y="1164908"/>
                  </a:lnTo>
                  <a:lnTo>
                    <a:pt x="95250" y="1034415"/>
                  </a:lnTo>
                  <a:lnTo>
                    <a:pt x="147637" y="907732"/>
                  </a:lnTo>
                  <a:lnTo>
                    <a:pt x="210503" y="785812"/>
                  </a:lnTo>
                  <a:lnTo>
                    <a:pt x="283845" y="670560"/>
                  </a:lnTo>
                  <a:lnTo>
                    <a:pt x="367665" y="561022"/>
                  </a:lnTo>
                  <a:lnTo>
                    <a:pt x="460057" y="460058"/>
                  </a:lnTo>
                  <a:lnTo>
                    <a:pt x="561023" y="367665"/>
                  </a:lnTo>
                  <a:lnTo>
                    <a:pt x="670560" y="283845"/>
                  </a:lnTo>
                  <a:lnTo>
                    <a:pt x="785813" y="210502"/>
                  </a:lnTo>
                  <a:lnTo>
                    <a:pt x="907733" y="147638"/>
                  </a:lnTo>
                  <a:lnTo>
                    <a:pt x="1034415" y="95250"/>
                  </a:lnTo>
                  <a:lnTo>
                    <a:pt x="1164907" y="53340"/>
                  </a:lnTo>
                  <a:lnTo>
                    <a:pt x="1298257" y="23812"/>
                  </a:lnTo>
                  <a:lnTo>
                    <a:pt x="1434465" y="5715"/>
                  </a:lnTo>
                  <a:lnTo>
                    <a:pt x="1571625" y="0"/>
                  </a:lnTo>
                  <a:lnTo>
                    <a:pt x="8324850" y="0"/>
                  </a:lnTo>
                  <a:lnTo>
                    <a:pt x="8381047" y="2858"/>
                  </a:lnTo>
                  <a:lnTo>
                    <a:pt x="8437245" y="9525"/>
                  </a:lnTo>
                  <a:lnTo>
                    <a:pt x="8492490" y="21908"/>
                  </a:lnTo>
                  <a:lnTo>
                    <a:pt x="8546783" y="39052"/>
                  </a:lnTo>
                  <a:lnTo>
                    <a:pt x="8598217" y="60960"/>
                  </a:lnTo>
                  <a:lnTo>
                    <a:pt x="8648700" y="86678"/>
                  </a:lnTo>
                  <a:lnTo>
                    <a:pt x="8696325" y="117158"/>
                  </a:lnTo>
                  <a:lnTo>
                    <a:pt x="8741093" y="151448"/>
                  </a:lnTo>
                  <a:lnTo>
                    <a:pt x="8783003" y="189548"/>
                  </a:lnTo>
                  <a:lnTo>
                    <a:pt x="8821103" y="231458"/>
                  </a:lnTo>
                  <a:lnTo>
                    <a:pt x="8855393" y="276225"/>
                  </a:lnTo>
                  <a:lnTo>
                    <a:pt x="8885873" y="323850"/>
                  </a:lnTo>
                  <a:lnTo>
                    <a:pt x="8911590" y="374332"/>
                  </a:lnTo>
                  <a:lnTo>
                    <a:pt x="8933497" y="425768"/>
                  </a:lnTo>
                  <a:lnTo>
                    <a:pt x="8950643" y="480060"/>
                  </a:lnTo>
                  <a:lnTo>
                    <a:pt x="8963025" y="535305"/>
                  </a:lnTo>
                  <a:lnTo>
                    <a:pt x="8969693" y="591502"/>
                  </a:lnTo>
                  <a:lnTo>
                    <a:pt x="8972550" y="647700"/>
                  </a:lnTo>
                  <a:lnTo>
                    <a:pt x="8972550" y="2505075"/>
                  </a:lnTo>
                  <a:lnTo>
                    <a:pt x="8969693" y="2561272"/>
                  </a:lnTo>
                  <a:lnTo>
                    <a:pt x="8963025" y="2617470"/>
                  </a:lnTo>
                  <a:lnTo>
                    <a:pt x="8950643" y="2672715"/>
                  </a:lnTo>
                  <a:lnTo>
                    <a:pt x="8933497" y="2727008"/>
                  </a:lnTo>
                  <a:lnTo>
                    <a:pt x="8911590" y="2778442"/>
                  </a:lnTo>
                  <a:lnTo>
                    <a:pt x="8885873" y="2828925"/>
                  </a:lnTo>
                  <a:lnTo>
                    <a:pt x="8855393" y="2876550"/>
                  </a:lnTo>
                  <a:lnTo>
                    <a:pt x="8821103" y="2921318"/>
                  </a:lnTo>
                  <a:lnTo>
                    <a:pt x="8783003" y="2963228"/>
                  </a:lnTo>
                  <a:lnTo>
                    <a:pt x="8741093" y="3001328"/>
                  </a:lnTo>
                  <a:lnTo>
                    <a:pt x="8696325" y="3035618"/>
                  </a:lnTo>
                  <a:lnTo>
                    <a:pt x="8648700" y="3066098"/>
                  </a:lnTo>
                  <a:lnTo>
                    <a:pt x="8598217" y="3091815"/>
                  </a:lnTo>
                  <a:lnTo>
                    <a:pt x="8546783" y="3113722"/>
                  </a:lnTo>
                  <a:lnTo>
                    <a:pt x="8492490" y="3130868"/>
                  </a:lnTo>
                  <a:lnTo>
                    <a:pt x="8437245" y="3143250"/>
                  </a:lnTo>
                  <a:lnTo>
                    <a:pt x="8381047" y="3149918"/>
                  </a:lnTo>
                  <a:lnTo>
                    <a:pt x="8324850" y="3152775"/>
                  </a:lnTo>
                  <a:lnTo>
                    <a:pt x="1571625" y="3152775"/>
                  </a:lnTo>
                  <a:lnTo>
                    <a:pt x="1434465" y="3147060"/>
                  </a:lnTo>
                  <a:lnTo>
                    <a:pt x="1298257" y="3128962"/>
                  </a:lnTo>
                  <a:lnTo>
                    <a:pt x="1164907" y="3099435"/>
                  </a:lnTo>
                  <a:lnTo>
                    <a:pt x="1034415" y="3057525"/>
                  </a:lnTo>
                  <a:lnTo>
                    <a:pt x="907733" y="3005138"/>
                  </a:lnTo>
                  <a:lnTo>
                    <a:pt x="785813" y="2942272"/>
                  </a:lnTo>
                  <a:lnTo>
                    <a:pt x="670560" y="2868930"/>
                  </a:lnTo>
                  <a:lnTo>
                    <a:pt x="561023" y="2785110"/>
                  </a:lnTo>
                  <a:lnTo>
                    <a:pt x="460057" y="2692718"/>
                  </a:lnTo>
                  <a:lnTo>
                    <a:pt x="367665" y="2591752"/>
                  </a:lnTo>
                  <a:lnTo>
                    <a:pt x="283845" y="2482215"/>
                  </a:lnTo>
                  <a:lnTo>
                    <a:pt x="210503" y="2366962"/>
                  </a:lnTo>
                  <a:lnTo>
                    <a:pt x="147637" y="2245042"/>
                  </a:lnTo>
                  <a:lnTo>
                    <a:pt x="95250" y="2118360"/>
                  </a:lnTo>
                  <a:lnTo>
                    <a:pt x="53340" y="1987868"/>
                  </a:lnTo>
                  <a:lnTo>
                    <a:pt x="23813" y="1854518"/>
                  </a:lnTo>
                  <a:lnTo>
                    <a:pt x="5715" y="1718310"/>
                  </a:lnTo>
                  <a:lnTo>
                    <a:pt x="0" y="1581150"/>
                  </a:lnTo>
                  <a:close/>
                </a:path>
              </a:pathLst>
            </a:custGeom>
            <a:solidFill>
              <a:srgbClr val="E98F1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card-LM-tail"/>
            <p:cNvSpPr/>
            <p:nvPr/>
          </p:nvSpPr>
          <p:spPr>
            <a:xfrm>
              <a:off x="9858375" y="7229475"/>
              <a:ext cx="638175" cy="876300"/>
            </a:xfrm>
            <a:custGeom>
              <a:avLst/>
              <a:gdLst/>
              <a:ahLst/>
              <a:cxnLst/>
              <a:rect l="l" t="t" r="r" b="b"/>
              <a:pathLst>
                <a:path w="638175" h="876300">
                  <a:moveTo>
                    <a:pt x="0" y="0"/>
                  </a:moveTo>
                  <a:lnTo>
                    <a:pt x="638175" y="438150"/>
                  </a:lnTo>
                  <a:lnTo>
                    <a:pt x="0" y="876300"/>
                  </a:lnTo>
                  <a:close/>
                </a:path>
              </a:pathLst>
            </a:custGeom>
            <a:solidFill>
              <a:srgbClr val="E98F1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card-LM-iconbg"/>
            <p:cNvSpPr/>
            <p:nvPr/>
          </p:nvSpPr>
          <p:spPr>
            <a:xfrm>
              <a:off x="1600200" y="6477000"/>
              <a:ext cx="2381250" cy="2381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36" name="card-LM-icon"/>
            <p:cNvGrpSpPr/>
            <p:nvPr/>
          </p:nvGrpSpPr>
          <p:grpSpPr>
            <a:xfrm>
              <a:off x="2276475" y="7096125"/>
              <a:ext cx="1028700" cy="1014413"/>
              <a:chOff x="2276475" y="7096125"/>
              <a:chExt cx="1028700" cy="1014413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2633662" y="7096125"/>
                <a:ext cx="314325" cy="392906"/>
              </a:xfrm>
              <a:prstGeom prst="rect">
                <a:avLst/>
              </a:prstGeom>
              <a:solidFill>
                <a:srgbClr val="22314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Freeform 16"/>
              <p:cNvSpPr/>
              <p:nvPr/>
            </p:nvSpPr>
            <p:spPr>
              <a:xfrm>
                <a:off x="2276475" y="7381875"/>
                <a:ext cx="1028700" cy="728663"/>
              </a:xfrm>
              <a:custGeom>
                <a:avLst/>
                <a:gdLst/>
                <a:ahLst/>
                <a:cxnLst/>
                <a:rect l="l" t="t" r="r" b="b"/>
                <a:pathLst>
                  <a:path w="1028700" h="728663">
                    <a:moveTo>
                      <a:pt x="342900" y="0"/>
                    </a:moveTo>
                    <a:lnTo>
                      <a:pt x="0" y="728663"/>
                    </a:lnTo>
                    <a:lnTo>
                      <a:pt x="1028700" y="728663"/>
                    </a:lnTo>
                    <a:lnTo>
                      <a:pt x="685800" y="0"/>
                    </a:lnTo>
                    <a:close/>
                  </a:path>
                </a:pathLst>
              </a:custGeom>
              <a:solidFill>
                <a:srgbClr val="22314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8" name="card-LM-name"/>
            <p:cNvSpPr txBox="1"/>
            <p:nvPr/>
          </p:nvSpPr>
          <p:spPr>
            <a:xfrm>
              <a:off x="4619625" y="6657975"/>
              <a:ext cx="2400300" cy="5429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6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实验开发组</a:t>
              </a:r>
            </a:p>
          </p:txBody>
        </p:sp>
        <p:sp>
          <p:nvSpPr>
            <p:cNvPr id="19" name="card-LM-desc1"/>
            <p:cNvSpPr txBox="1"/>
            <p:nvPr/>
          </p:nvSpPr>
          <p:spPr>
            <a:xfrm>
              <a:off x="4619625" y="7258050"/>
              <a:ext cx="47053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搭建实验环境及数据集，执</a:t>
              </a:r>
            </a:p>
          </p:txBody>
        </p:sp>
        <p:sp>
          <p:nvSpPr>
            <p:cNvPr id="20" name="card-LM-desc2"/>
            <p:cNvSpPr txBox="1"/>
            <p:nvPr/>
          </p:nvSpPr>
          <p:spPr>
            <a:xfrm>
              <a:off x="4619625" y="7753350"/>
              <a:ext cx="47053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行算法测试与性能调优，记</a:t>
              </a:r>
            </a:p>
          </p:txBody>
        </p:sp>
        <p:sp>
          <p:nvSpPr>
            <p:cNvPr id="21" name="card-LM-desc3"/>
            <p:cNvSpPr txBox="1"/>
            <p:nvPr/>
          </p:nvSpPr>
          <p:spPr>
            <a:xfrm>
              <a:off x="4619625" y="8258175"/>
              <a:ext cx="28003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录分析实验数据</a:t>
              </a:r>
            </a:p>
          </p:txBody>
        </p:sp>
      </p:grpSp>
      <p:grpSp>
        <p:nvGrpSpPr>
          <p:cNvPr id="146" name="card-LB"/>
          <p:cNvGrpSpPr/>
          <p:nvPr/>
        </p:nvGrpSpPr>
        <p:grpSpPr>
          <a:xfrm>
            <a:off x="1171575" y="10086975"/>
            <a:ext cx="9324975" cy="3152775"/>
            <a:chOff x="1171575" y="10086975"/>
            <a:chExt cx="9324975" cy="3152775"/>
          </a:xfrm>
        </p:grpSpPr>
        <p:sp>
          <p:nvSpPr>
            <p:cNvPr id="22" name="card-LB-body"/>
            <p:cNvSpPr/>
            <p:nvPr/>
          </p:nvSpPr>
          <p:spPr>
            <a:xfrm>
              <a:off x="1171575" y="10086975"/>
              <a:ext cx="8972550" cy="3152775"/>
            </a:xfrm>
            <a:custGeom>
              <a:avLst/>
              <a:gdLst/>
              <a:ahLst/>
              <a:cxnLst/>
              <a:rect l="l" t="t" r="r" b="b"/>
              <a:pathLst>
                <a:path w="8972550" h="3152775">
                  <a:moveTo>
                    <a:pt x="0" y="1571625"/>
                  </a:moveTo>
                  <a:lnTo>
                    <a:pt x="5715" y="1434465"/>
                  </a:lnTo>
                  <a:lnTo>
                    <a:pt x="23813" y="1298257"/>
                  </a:lnTo>
                  <a:lnTo>
                    <a:pt x="53340" y="1164907"/>
                  </a:lnTo>
                  <a:lnTo>
                    <a:pt x="95250" y="1034415"/>
                  </a:lnTo>
                  <a:lnTo>
                    <a:pt x="147637" y="907733"/>
                  </a:lnTo>
                  <a:lnTo>
                    <a:pt x="210503" y="785813"/>
                  </a:lnTo>
                  <a:lnTo>
                    <a:pt x="283845" y="670560"/>
                  </a:lnTo>
                  <a:lnTo>
                    <a:pt x="367665" y="561023"/>
                  </a:lnTo>
                  <a:lnTo>
                    <a:pt x="460057" y="460057"/>
                  </a:lnTo>
                  <a:lnTo>
                    <a:pt x="561023" y="367665"/>
                  </a:lnTo>
                  <a:lnTo>
                    <a:pt x="670560" y="283845"/>
                  </a:lnTo>
                  <a:lnTo>
                    <a:pt x="785813" y="210503"/>
                  </a:lnTo>
                  <a:lnTo>
                    <a:pt x="907733" y="147637"/>
                  </a:lnTo>
                  <a:lnTo>
                    <a:pt x="1034415" y="95250"/>
                  </a:lnTo>
                  <a:lnTo>
                    <a:pt x="1164907" y="53340"/>
                  </a:lnTo>
                  <a:lnTo>
                    <a:pt x="1298257" y="23813"/>
                  </a:lnTo>
                  <a:lnTo>
                    <a:pt x="1434465" y="5715"/>
                  </a:lnTo>
                  <a:lnTo>
                    <a:pt x="1571625" y="0"/>
                  </a:lnTo>
                  <a:lnTo>
                    <a:pt x="8324850" y="0"/>
                  </a:lnTo>
                  <a:lnTo>
                    <a:pt x="8381047" y="2857"/>
                  </a:lnTo>
                  <a:lnTo>
                    <a:pt x="8437245" y="9525"/>
                  </a:lnTo>
                  <a:lnTo>
                    <a:pt x="8492490" y="21907"/>
                  </a:lnTo>
                  <a:lnTo>
                    <a:pt x="8546783" y="39053"/>
                  </a:lnTo>
                  <a:lnTo>
                    <a:pt x="8598217" y="60960"/>
                  </a:lnTo>
                  <a:lnTo>
                    <a:pt x="8648700" y="86677"/>
                  </a:lnTo>
                  <a:lnTo>
                    <a:pt x="8696325" y="117157"/>
                  </a:lnTo>
                  <a:lnTo>
                    <a:pt x="8741093" y="151447"/>
                  </a:lnTo>
                  <a:lnTo>
                    <a:pt x="8783003" y="189547"/>
                  </a:lnTo>
                  <a:lnTo>
                    <a:pt x="8821103" y="231457"/>
                  </a:lnTo>
                  <a:lnTo>
                    <a:pt x="8855393" y="276225"/>
                  </a:lnTo>
                  <a:lnTo>
                    <a:pt x="8885873" y="323850"/>
                  </a:lnTo>
                  <a:lnTo>
                    <a:pt x="8911590" y="374333"/>
                  </a:lnTo>
                  <a:lnTo>
                    <a:pt x="8933497" y="425767"/>
                  </a:lnTo>
                  <a:lnTo>
                    <a:pt x="8950643" y="480060"/>
                  </a:lnTo>
                  <a:lnTo>
                    <a:pt x="8963025" y="535305"/>
                  </a:lnTo>
                  <a:lnTo>
                    <a:pt x="8969693" y="591503"/>
                  </a:lnTo>
                  <a:lnTo>
                    <a:pt x="8972550" y="647700"/>
                  </a:lnTo>
                  <a:lnTo>
                    <a:pt x="8972550" y="2505075"/>
                  </a:lnTo>
                  <a:lnTo>
                    <a:pt x="8969693" y="2561273"/>
                  </a:lnTo>
                  <a:lnTo>
                    <a:pt x="8963025" y="2617470"/>
                  </a:lnTo>
                  <a:lnTo>
                    <a:pt x="8950643" y="2672715"/>
                  </a:lnTo>
                  <a:lnTo>
                    <a:pt x="8933497" y="2727007"/>
                  </a:lnTo>
                  <a:lnTo>
                    <a:pt x="8911590" y="2778443"/>
                  </a:lnTo>
                  <a:lnTo>
                    <a:pt x="8885873" y="2828925"/>
                  </a:lnTo>
                  <a:lnTo>
                    <a:pt x="8855393" y="2876550"/>
                  </a:lnTo>
                  <a:lnTo>
                    <a:pt x="8821103" y="2921317"/>
                  </a:lnTo>
                  <a:lnTo>
                    <a:pt x="8783003" y="2963227"/>
                  </a:lnTo>
                  <a:lnTo>
                    <a:pt x="8741093" y="3001327"/>
                  </a:lnTo>
                  <a:lnTo>
                    <a:pt x="8696325" y="3035617"/>
                  </a:lnTo>
                  <a:lnTo>
                    <a:pt x="8648700" y="3066097"/>
                  </a:lnTo>
                  <a:lnTo>
                    <a:pt x="8598217" y="3091815"/>
                  </a:lnTo>
                  <a:lnTo>
                    <a:pt x="8546783" y="3113723"/>
                  </a:lnTo>
                  <a:lnTo>
                    <a:pt x="8492490" y="3130867"/>
                  </a:lnTo>
                  <a:lnTo>
                    <a:pt x="8437245" y="3143250"/>
                  </a:lnTo>
                  <a:lnTo>
                    <a:pt x="8381047" y="3149917"/>
                  </a:lnTo>
                  <a:lnTo>
                    <a:pt x="8324850" y="3152775"/>
                  </a:lnTo>
                  <a:lnTo>
                    <a:pt x="1571625" y="3152775"/>
                  </a:lnTo>
                  <a:lnTo>
                    <a:pt x="1434465" y="3147060"/>
                  </a:lnTo>
                  <a:lnTo>
                    <a:pt x="1298257" y="3128963"/>
                  </a:lnTo>
                  <a:lnTo>
                    <a:pt x="1164907" y="3099435"/>
                  </a:lnTo>
                  <a:lnTo>
                    <a:pt x="1034415" y="3057525"/>
                  </a:lnTo>
                  <a:lnTo>
                    <a:pt x="907733" y="3005137"/>
                  </a:lnTo>
                  <a:lnTo>
                    <a:pt x="785813" y="2942273"/>
                  </a:lnTo>
                  <a:lnTo>
                    <a:pt x="670560" y="2868930"/>
                  </a:lnTo>
                  <a:lnTo>
                    <a:pt x="561023" y="2785110"/>
                  </a:lnTo>
                  <a:lnTo>
                    <a:pt x="460057" y="2692717"/>
                  </a:lnTo>
                  <a:lnTo>
                    <a:pt x="367665" y="2591753"/>
                  </a:lnTo>
                  <a:lnTo>
                    <a:pt x="283845" y="2482215"/>
                  </a:lnTo>
                  <a:lnTo>
                    <a:pt x="210503" y="2366963"/>
                  </a:lnTo>
                  <a:lnTo>
                    <a:pt x="147637" y="2245043"/>
                  </a:lnTo>
                  <a:lnTo>
                    <a:pt x="95250" y="2118360"/>
                  </a:lnTo>
                  <a:lnTo>
                    <a:pt x="53340" y="1987867"/>
                  </a:lnTo>
                  <a:lnTo>
                    <a:pt x="23813" y="1854517"/>
                  </a:lnTo>
                  <a:lnTo>
                    <a:pt x="5715" y="1718310"/>
                  </a:lnTo>
                  <a:lnTo>
                    <a:pt x="0" y="1581150"/>
                  </a:lnTo>
                  <a:close/>
                </a:path>
              </a:pathLst>
            </a:custGeom>
            <a:solidFill>
              <a:srgbClr val="CBA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card-LB-tail"/>
            <p:cNvSpPr/>
            <p:nvPr/>
          </p:nvSpPr>
          <p:spPr>
            <a:xfrm>
              <a:off x="9858375" y="11220450"/>
              <a:ext cx="638175" cy="876300"/>
            </a:xfrm>
            <a:custGeom>
              <a:avLst/>
              <a:gdLst/>
              <a:ahLst/>
              <a:cxnLst/>
              <a:rect l="l" t="t" r="r" b="b"/>
              <a:pathLst>
                <a:path w="638175" h="876300">
                  <a:moveTo>
                    <a:pt x="0" y="0"/>
                  </a:moveTo>
                  <a:lnTo>
                    <a:pt x="638175" y="438150"/>
                  </a:lnTo>
                  <a:lnTo>
                    <a:pt x="0" y="876300"/>
                  </a:lnTo>
                  <a:close/>
                </a:path>
              </a:pathLst>
            </a:custGeom>
            <a:solidFill>
              <a:srgbClr val="CBA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card-LB-iconbg"/>
            <p:cNvSpPr/>
            <p:nvPr/>
          </p:nvSpPr>
          <p:spPr>
            <a:xfrm>
              <a:off x="1600200" y="10467975"/>
              <a:ext cx="2381250" cy="2381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37" name="card-LB-icon"/>
            <p:cNvGrpSpPr/>
            <p:nvPr/>
          </p:nvGrpSpPr>
          <p:grpSpPr>
            <a:xfrm>
              <a:off x="2262188" y="11129962"/>
              <a:ext cx="1057275" cy="1057275"/>
              <a:chOff x="2262188" y="11129962"/>
              <a:chExt cx="1057275" cy="1057275"/>
            </a:xfrm>
          </p:grpSpPr>
          <p:sp>
            <p:nvSpPr>
              <p:cNvPr id="25" name="Oval 24"/>
              <p:cNvSpPr/>
              <p:nvPr/>
            </p:nvSpPr>
            <p:spPr>
              <a:xfrm>
                <a:off x="2262188" y="11701462"/>
                <a:ext cx="485775" cy="485775"/>
              </a:xfrm>
              <a:prstGeom prst="ellipse">
                <a:avLst/>
              </a:prstGeom>
              <a:noFill/>
              <a:ln w="15240">
                <a:solidFill>
                  <a:srgbClr val="22314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2833688" y="11129962"/>
                <a:ext cx="485775" cy="485775"/>
              </a:xfrm>
              <a:prstGeom prst="ellipse">
                <a:avLst/>
              </a:prstGeom>
              <a:noFill/>
              <a:ln w="15240">
                <a:solidFill>
                  <a:srgbClr val="22314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7" name="Connector 26"/>
              <p:cNvCxnSpPr/>
              <p:nvPr/>
            </p:nvCxnSpPr>
            <p:spPr>
              <a:xfrm flipV="1">
                <a:off x="2647950" y="11515725"/>
                <a:ext cx="285750" cy="285750"/>
              </a:xfrm>
              <a:prstGeom prst="line">
                <a:avLst/>
              </a:prstGeom>
              <a:ln w="157876">
                <a:solidFill>
                  <a:srgbClr val="22314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card-LB-name"/>
            <p:cNvSpPr txBox="1"/>
            <p:nvPr/>
          </p:nvSpPr>
          <p:spPr>
            <a:xfrm>
              <a:off x="4619625" y="10648950"/>
              <a:ext cx="2400300" cy="5429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6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应用对接组</a:t>
              </a:r>
            </a:p>
          </p:txBody>
        </p:sp>
        <p:sp>
          <p:nvSpPr>
            <p:cNvPr id="29" name="card-LB-desc1"/>
            <p:cNvSpPr txBox="1"/>
            <p:nvPr/>
          </p:nvSpPr>
          <p:spPr>
            <a:xfrm>
              <a:off x="4619625" y="11249025"/>
              <a:ext cx="47053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联系合作单位收集需求，部</a:t>
              </a:r>
            </a:p>
          </p:txBody>
        </p:sp>
        <p:sp>
          <p:nvSpPr>
            <p:cNvPr id="30" name="card-LB-desc2"/>
            <p:cNvSpPr txBox="1"/>
            <p:nvPr/>
          </p:nvSpPr>
          <p:spPr>
            <a:xfrm>
              <a:off x="4619625" y="11744325"/>
              <a:ext cx="47053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署原型系统并跟踪实际场景</a:t>
              </a:r>
            </a:p>
          </p:txBody>
        </p:sp>
        <p:sp>
          <p:nvSpPr>
            <p:cNvPr id="31" name="card-LB-desc3"/>
            <p:cNvSpPr txBox="1"/>
            <p:nvPr/>
          </p:nvSpPr>
          <p:spPr>
            <a:xfrm>
              <a:off x="4619625" y="12249150"/>
              <a:ext cx="16573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运行反馈</a:t>
              </a:r>
            </a:p>
          </p:txBody>
        </p:sp>
      </p:grpSp>
      <p:grpSp>
        <p:nvGrpSpPr>
          <p:cNvPr id="145" name="card-RT"/>
          <p:cNvGrpSpPr/>
          <p:nvPr/>
        </p:nvGrpSpPr>
        <p:grpSpPr>
          <a:xfrm>
            <a:off x="23583900" y="2105025"/>
            <a:ext cx="9324975" cy="3152775"/>
            <a:chOff x="23583900" y="2105025"/>
            <a:chExt cx="9324975" cy="3152775"/>
          </a:xfrm>
        </p:grpSpPr>
        <p:sp>
          <p:nvSpPr>
            <p:cNvPr id="32" name="card-RT-body"/>
            <p:cNvSpPr/>
            <p:nvPr/>
          </p:nvSpPr>
          <p:spPr>
            <a:xfrm>
              <a:off x="23936325" y="2105025"/>
              <a:ext cx="8972550" cy="3152775"/>
            </a:xfrm>
            <a:custGeom>
              <a:avLst/>
              <a:gdLst/>
              <a:ahLst/>
              <a:cxnLst/>
              <a:rect l="l" t="t" r="r" b="b"/>
              <a:pathLst>
                <a:path w="8972550" h="3152775">
                  <a:moveTo>
                    <a:pt x="0" y="647700"/>
                  </a:moveTo>
                  <a:lnTo>
                    <a:pt x="2857" y="591503"/>
                  </a:lnTo>
                  <a:lnTo>
                    <a:pt x="9525" y="535305"/>
                  </a:lnTo>
                  <a:lnTo>
                    <a:pt x="21907" y="480060"/>
                  </a:lnTo>
                  <a:lnTo>
                    <a:pt x="39053" y="425767"/>
                  </a:lnTo>
                  <a:lnTo>
                    <a:pt x="60960" y="374333"/>
                  </a:lnTo>
                  <a:lnTo>
                    <a:pt x="86677" y="323850"/>
                  </a:lnTo>
                  <a:lnTo>
                    <a:pt x="117157" y="276225"/>
                  </a:lnTo>
                  <a:lnTo>
                    <a:pt x="151447" y="231457"/>
                  </a:lnTo>
                  <a:lnTo>
                    <a:pt x="189547" y="189547"/>
                  </a:lnTo>
                  <a:lnTo>
                    <a:pt x="231457" y="151447"/>
                  </a:lnTo>
                  <a:lnTo>
                    <a:pt x="276225" y="117157"/>
                  </a:lnTo>
                  <a:lnTo>
                    <a:pt x="323850" y="86677"/>
                  </a:lnTo>
                  <a:lnTo>
                    <a:pt x="374333" y="60960"/>
                  </a:lnTo>
                  <a:lnTo>
                    <a:pt x="425767" y="39053"/>
                  </a:lnTo>
                  <a:lnTo>
                    <a:pt x="480060" y="21907"/>
                  </a:lnTo>
                  <a:lnTo>
                    <a:pt x="535305" y="9525"/>
                  </a:lnTo>
                  <a:lnTo>
                    <a:pt x="591503" y="2857"/>
                  </a:lnTo>
                  <a:lnTo>
                    <a:pt x="647700" y="0"/>
                  </a:lnTo>
                  <a:lnTo>
                    <a:pt x="7400925" y="0"/>
                  </a:lnTo>
                  <a:lnTo>
                    <a:pt x="7538085" y="5715"/>
                  </a:lnTo>
                  <a:lnTo>
                    <a:pt x="7674293" y="23813"/>
                  </a:lnTo>
                  <a:lnTo>
                    <a:pt x="7807643" y="53340"/>
                  </a:lnTo>
                  <a:lnTo>
                    <a:pt x="7938135" y="95250"/>
                  </a:lnTo>
                  <a:lnTo>
                    <a:pt x="8064817" y="147637"/>
                  </a:lnTo>
                  <a:lnTo>
                    <a:pt x="8186737" y="210503"/>
                  </a:lnTo>
                  <a:lnTo>
                    <a:pt x="8301990" y="283845"/>
                  </a:lnTo>
                  <a:lnTo>
                    <a:pt x="8411527" y="367665"/>
                  </a:lnTo>
                  <a:lnTo>
                    <a:pt x="8512493" y="460057"/>
                  </a:lnTo>
                  <a:lnTo>
                    <a:pt x="8604885" y="561023"/>
                  </a:lnTo>
                  <a:lnTo>
                    <a:pt x="8688705" y="670560"/>
                  </a:lnTo>
                  <a:lnTo>
                    <a:pt x="8762047" y="785813"/>
                  </a:lnTo>
                  <a:lnTo>
                    <a:pt x="8824913" y="907733"/>
                  </a:lnTo>
                  <a:lnTo>
                    <a:pt x="8877300" y="1034415"/>
                  </a:lnTo>
                  <a:lnTo>
                    <a:pt x="8919210" y="1164907"/>
                  </a:lnTo>
                  <a:lnTo>
                    <a:pt x="8948737" y="1298257"/>
                  </a:lnTo>
                  <a:lnTo>
                    <a:pt x="8966835" y="1434465"/>
                  </a:lnTo>
                  <a:lnTo>
                    <a:pt x="8972550" y="1571625"/>
                  </a:lnTo>
                  <a:lnTo>
                    <a:pt x="8972550" y="1581150"/>
                  </a:lnTo>
                  <a:lnTo>
                    <a:pt x="8966835" y="1718310"/>
                  </a:lnTo>
                  <a:lnTo>
                    <a:pt x="8948737" y="1854517"/>
                  </a:lnTo>
                  <a:lnTo>
                    <a:pt x="8919210" y="1987867"/>
                  </a:lnTo>
                  <a:lnTo>
                    <a:pt x="8877300" y="2118360"/>
                  </a:lnTo>
                  <a:lnTo>
                    <a:pt x="8824913" y="2245043"/>
                  </a:lnTo>
                  <a:lnTo>
                    <a:pt x="8762047" y="2366963"/>
                  </a:lnTo>
                  <a:lnTo>
                    <a:pt x="8688705" y="2482215"/>
                  </a:lnTo>
                  <a:lnTo>
                    <a:pt x="8604885" y="2591753"/>
                  </a:lnTo>
                  <a:lnTo>
                    <a:pt x="8512493" y="2692717"/>
                  </a:lnTo>
                  <a:lnTo>
                    <a:pt x="8411527" y="2785110"/>
                  </a:lnTo>
                  <a:lnTo>
                    <a:pt x="8301990" y="2868930"/>
                  </a:lnTo>
                  <a:lnTo>
                    <a:pt x="8186737" y="2942273"/>
                  </a:lnTo>
                  <a:lnTo>
                    <a:pt x="8064817" y="3005137"/>
                  </a:lnTo>
                  <a:lnTo>
                    <a:pt x="7938135" y="3057525"/>
                  </a:lnTo>
                  <a:lnTo>
                    <a:pt x="7807643" y="3099435"/>
                  </a:lnTo>
                  <a:lnTo>
                    <a:pt x="7674293" y="3128963"/>
                  </a:lnTo>
                  <a:lnTo>
                    <a:pt x="7538085" y="3147060"/>
                  </a:lnTo>
                  <a:lnTo>
                    <a:pt x="7400925" y="3152775"/>
                  </a:lnTo>
                  <a:lnTo>
                    <a:pt x="647700" y="3152775"/>
                  </a:lnTo>
                  <a:lnTo>
                    <a:pt x="591503" y="3149917"/>
                  </a:lnTo>
                  <a:lnTo>
                    <a:pt x="535305" y="3143250"/>
                  </a:lnTo>
                  <a:lnTo>
                    <a:pt x="480060" y="3130867"/>
                  </a:lnTo>
                  <a:lnTo>
                    <a:pt x="425767" y="3113723"/>
                  </a:lnTo>
                  <a:lnTo>
                    <a:pt x="374333" y="3091815"/>
                  </a:lnTo>
                  <a:lnTo>
                    <a:pt x="323850" y="3066097"/>
                  </a:lnTo>
                  <a:lnTo>
                    <a:pt x="276225" y="3035617"/>
                  </a:lnTo>
                  <a:lnTo>
                    <a:pt x="231457" y="3001327"/>
                  </a:lnTo>
                  <a:lnTo>
                    <a:pt x="189547" y="2963227"/>
                  </a:lnTo>
                  <a:lnTo>
                    <a:pt x="151447" y="2921317"/>
                  </a:lnTo>
                  <a:lnTo>
                    <a:pt x="117157" y="2876550"/>
                  </a:lnTo>
                  <a:lnTo>
                    <a:pt x="86677" y="2828925"/>
                  </a:lnTo>
                  <a:lnTo>
                    <a:pt x="60960" y="2778443"/>
                  </a:lnTo>
                  <a:lnTo>
                    <a:pt x="39053" y="2727007"/>
                  </a:lnTo>
                  <a:lnTo>
                    <a:pt x="21907" y="2672715"/>
                  </a:lnTo>
                  <a:lnTo>
                    <a:pt x="9525" y="2617470"/>
                  </a:lnTo>
                  <a:lnTo>
                    <a:pt x="2857" y="2561273"/>
                  </a:lnTo>
                  <a:lnTo>
                    <a:pt x="0" y="2505075"/>
                  </a:lnTo>
                  <a:close/>
                </a:path>
              </a:pathLst>
            </a:custGeom>
            <a:solidFill>
              <a:srgbClr val="4676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card-RT-tail"/>
            <p:cNvSpPr/>
            <p:nvPr/>
          </p:nvSpPr>
          <p:spPr>
            <a:xfrm>
              <a:off x="23583900" y="3238500"/>
              <a:ext cx="638175" cy="876300"/>
            </a:xfrm>
            <a:custGeom>
              <a:avLst/>
              <a:gdLst/>
              <a:ahLst/>
              <a:cxnLst/>
              <a:rect l="l" t="t" r="r" b="b"/>
              <a:pathLst>
                <a:path w="638175" h="876300">
                  <a:moveTo>
                    <a:pt x="638175" y="0"/>
                  </a:moveTo>
                  <a:lnTo>
                    <a:pt x="0" y="438150"/>
                  </a:lnTo>
                  <a:lnTo>
                    <a:pt x="638175" y="876300"/>
                  </a:lnTo>
                  <a:close/>
                </a:path>
              </a:pathLst>
            </a:custGeom>
            <a:solidFill>
              <a:srgbClr val="4676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card-RT-iconbg"/>
            <p:cNvSpPr/>
            <p:nvPr/>
          </p:nvSpPr>
          <p:spPr>
            <a:xfrm>
              <a:off x="30099000" y="2486025"/>
              <a:ext cx="2381250" cy="2381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38" name="card-RT-icon"/>
            <p:cNvGrpSpPr/>
            <p:nvPr/>
          </p:nvGrpSpPr>
          <p:grpSpPr>
            <a:xfrm>
              <a:off x="30675262" y="3162300"/>
              <a:ext cx="1228725" cy="1143000"/>
              <a:chOff x="30675262" y="3162300"/>
              <a:chExt cx="1228725" cy="1143000"/>
            </a:xfrm>
          </p:grpSpPr>
          <p:sp>
            <p:nvSpPr>
              <p:cNvPr id="35" name="Rounded Rectangle 34"/>
              <p:cNvSpPr/>
              <p:nvPr/>
            </p:nvSpPr>
            <p:spPr>
              <a:xfrm>
                <a:off x="30675262" y="3162300"/>
                <a:ext cx="1228725" cy="885825"/>
              </a:xfrm>
              <a:prstGeom prst="roundRect">
                <a:avLst>
                  <a:gd name="adj" fmla="val 14516"/>
                </a:avLst>
              </a:prstGeom>
              <a:noFill/>
              <a:ln w="15240">
                <a:solidFill>
                  <a:srgbClr val="22314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6" name="Connector 35"/>
              <p:cNvCxnSpPr/>
              <p:nvPr/>
            </p:nvCxnSpPr>
            <p:spPr>
              <a:xfrm flipV="1">
                <a:off x="30889575" y="3576638"/>
                <a:ext cx="242887" cy="257174"/>
              </a:xfrm>
              <a:prstGeom prst="line">
                <a:avLst/>
              </a:prstGeom>
              <a:ln w="107727">
                <a:solidFill>
                  <a:srgbClr val="22314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nector 36"/>
              <p:cNvCxnSpPr/>
              <p:nvPr/>
            </p:nvCxnSpPr>
            <p:spPr>
              <a:xfrm>
                <a:off x="31132462" y="3576638"/>
                <a:ext cx="242888" cy="142874"/>
              </a:xfrm>
              <a:prstGeom prst="line">
                <a:avLst/>
              </a:prstGeom>
              <a:ln w="107727">
                <a:solidFill>
                  <a:srgbClr val="22314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nector 37"/>
              <p:cNvCxnSpPr/>
              <p:nvPr/>
            </p:nvCxnSpPr>
            <p:spPr>
              <a:xfrm flipV="1">
                <a:off x="31375350" y="3376612"/>
                <a:ext cx="285750" cy="342900"/>
              </a:xfrm>
              <a:prstGeom prst="line">
                <a:avLst/>
              </a:prstGeom>
              <a:ln w="107727">
                <a:solidFill>
                  <a:srgbClr val="22314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nector 38"/>
              <p:cNvCxnSpPr/>
              <p:nvPr/>
            </p:nvCxnSpPr>
            <p:spPr>
              <a:xfrm>
                <a:off x="31289625" y="4119562"/>
                <a:ext cx="0" cy="185738"/>
              </a:xfrm>
              <a:prstGeom prst="line">
                <a:avLst/>
              </a:prstGeom>
              <a:ln w="130016">
                <a:solidFill>
                  <a:srgbClr val="22314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nector 39"/>
              <p:cNvCxnSpPr/>
              <p:nvPr/>
            </p:nvCxnSpPr>
            <p:spPr>
              <a:xfrm>
                <a:off x="30961012" y="4305300"/>
                <a:ext cx="657226" cy="0"/>
              </a:xfrm>
              <a:prstGeom prst="line">
                <a:avLst/>
              </a:prstGeom>
              <a:ln w="130016">
                <a:solidFill>
                  <a:srgbClr val="22314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card-RT-name"/>
            <p:cNvSpPr txBox="1"/>
            <p:nvPr/>
          </p:nvSpPr>
          <p:spPr>
            <a:xfrm>
              <a:off x="27060525" y="2667000"/>
              <a:ext cx="2400300" cy="5429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56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数据分析组</a:t>
              </a:r>
            </a:p>
          </p:txBody>
        </p:sp>
        <p:sp>
          <p:nvSpPr>
            <p:cNvPr id="42" name="card-RT-desc1"/>
            <p:cNvSpPr txBox="1"/>
            <p:nvPr/>
          </p:nvSpPr>
          <p:spPr>
            <a:xfrm>
              <a:off x="24755475" y="3267075"/>
              <a:ext cx="47053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清洗与可视化实验数据，评</a:t>
              </a:r>
            </a:p>
          </p:txBody>
        </p:sp>
        <p:sp>
          <p:nvSpPr>
            <p:cNvPr id="43" name="card-RT-desc2"/>
            <p:cNvSpPr txBox="1"/>
            <p:nvPr/>
          </p:nvSpPr>
          <p:spPr>
            <a:xfrm>
              <a:off x="24755475" y="3762375"/>
              <a:ext cx="47053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估模型表现，为优化迭代提</a:t>
              </a:r>
            </a:p>
          </p:txBody>
        </p:sp>
        <p:sp>
          <p:nvSpPr>
            <p:cNvPr id="44" name="card-RT-desc3"/>
            <p:cNvSpPr txBox="1"/>
            <p:nvPr/>
          </p:nvSpPr>
          <p:spPr>
            <a:xfrm>
              <a:off x="27422475" y="4267200"/>
              <a:ext cx="20383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供定量依据</a:t>
              </a:r>
            </a:p>
          </p:txBody>
        </p:sp>
      </p:grpSp>
      <p:grpSp>
        <p:nvGrpSpPr>
          <p:cNvPr id="142" name="card-RM"/>
          <p:cNvGrpSpPr/>
          <p:nvPr/>
        </p:nvGrpSpPr>
        <p:grpSpPr>
          <a:xfrm>
            <a:off x="23583900" y="6096000"/>
            <a:ext cx="9324975" cy="3152775"/>
            <a:chOff x="23583900" y="6096000"/>
            <a:chExt cx="9324975" cy="3152775"/>
          </a:xfrm>
        </p:grpSpPr>
        <p:sp>
          <p:nvSpPr>
            <p:cNvPr id="45" name="card-RM-body"/>
            <p:cNvSpPr/>
            <p:nvPr/>
          </p:nvSpPr>
          <p:spPr>
            <a:xfrm>
              <a:off x="23936325" y="6096000"/>
              <a:ext cx="8972550" cy="3152775"/>
            </a:xfrm>
            <a:custGeom>
              <a:avLst/>
              <a:gdLst/>
              <a:ahLst/>
              <a:cxnLst/>
              <a:rect l="l" t="t" r="r" b="b"/>
              <a:pathLst>
                <a:path w="8972550" h="3152775">
                  <a:moveTo>
                    <a:pt x="0" y="647700"/>
                  </a:moveTo>
                  <a:lnTo>
                    <a:pt x="2857" y="591502"/>
                  </a:lnTo>
                  <a:lnTo>
                    <a:pt x="9525" y="535305"/>
                  </a:lnTo>
                  <a:lnTo>
                    <a:pt x="21907" y="480060"/>
                  </a:lnTo>
                  <a:lnTo>
                    <a:pt x="39053" y="425768"/>
                  </a:lnTo>
                  <a:lnTo>
                    <a:pt x="60960" y="374332"/>
                  </a:lnTo>
                  <a:lnTo>
                    <a:pt x="86677" y="323850"/>
                  </a:lnTo>
                  <a:lnTo>
                    <a:pt x="117157" y="276225"/>
                  </a:lnTo>
                  <a:lnTo>
                    <a:pt x="151447" y="231458"/>
                  </a:lnTo>
                  <a:lnTo>
                    <a:pt x="189547" y="189548"/>
                  </a:lnTo>
                  <a:lnTo>
                    <a:pt x="231457" y="151448"/>
                  </a:lnTo>
                  <a:lnTo>
                    <a:pt x="276225" y="117158"/>
                  </a:lnTo>
                  <a:lnTo>
                    <a:pt x="323850" y="86678"/>
                  </a:lnTo>
                  <a:lnTo>
                    <a:pt x="374333" y="60960"/>
                  </a:lnTo>
                  <a:lnTo>
                    <a:pt x="425767" y="39052"/>
                  </a:lnTo>
                  <a:lnTo>
                    <a:pt x="480060" y="21908"/>
                  </a:lnTo>
                  <a:lnTo>
                    <a:pt x="535305" y="9525"/>
                  </a:lnTo>
                  <a:lnTo>
                    <a:pt x="591503" y="2858"/>
                  </a:lnTo>
                  <a:lnTo>
                    <a:pt x="647700" y="0"/>
                  </a:lnTo>
                  <a:lnTo>
                    <a:pt x="7400925" y="0"/>
                  </a:lnTo>
                  <a:lnTo>
                    <a:pt x="7538085" y="5715"/>
                  </a:lnTo>
                  <a:lnTo>
                    <a:pt x="7674293" y="23812"/>
                  </a:lnTo>
                  <a:lnTo>
                    <a:pt x="7807643" y="53340"/>
                  </a:lnTo>
                  <a:lnTo>
                    <a:pt x="7938135" y="95250"/>
                  </a:lnTo>
                  <a:lnTo>
                    <a:pt x="8064817" y="147638"/>
                  </a:lnTo>
                  <a:lnTo>
                    <a:pt x="8186737" y="210502"/>
                  </a:lnTo>
                  <a:lnTo>
                    <a:pt x="8301990" y="283845"/>
                  </a:lnTo>
                  <a:lnTo>
                    <a:pt x="8411527" y="367665"/>
                  </a:lnTo>
                  <a:lnTo>
                    <a:pt x="8512493" y="460058"/>
                  </a:lnTo>
                  <a:lnTo>
                    <a:pt x="8604885" y="561022"/>
                  </a:lnTo>
                  <a:lnTo>
                    <a:pt x="8688705" y="670560"/>
                  </a:lnTo>
                  <a:lnTo>
                    <a:pt x="8762047" y="785812"/>
                  </a:lnTo>
                  <a:lnTo>
                    <a:pt x="8824913" y="907732"/>
                  </a:lnTo>
                  <a:lnTo>
                    <a:pt x="8877300" y="1034415"/>
                  </a:lnTo>
                  <a:lnTo>
                    <a:pt x="8919210" y="1164908"/>
                  </a:lnTo>
                  <a:lnTo>
                    <a:pt x="8948737" y="1298258"/>
                  </a:lnTo>
                  <a:lnTo>
                    <a:pt x="8966835" y="1434465"/>
                  </a:lnTo>
                  <a:lnTo>
                    <a:pt x="8972550" y="1571625"/>
                  </a:lnTo>
                  <a:lnTo>
                    <a:pt x="8972550" y="1581150"/>
                  </a:lnTo>
                  <a:lnTo>
                    <a:pt x="8966835" y="1718310"/>
                  </a:lnTo>
                  <a:lnTo>
                    <a:pt x="8948737" y="1854518"/>
                  </a:lnTo>
                  <a:lnTo>
                    <a:pt x="8919210" y="1987868"/>
                  </a:lnTo>
                  <a:lnTo>
                    <a:pt x="8877300" y="2118360"/>
                  </a:lnTo>
                  <a:lnTo>
                    <a:pt x="8824913" y="2245042"/>
                  </a:lnTo>
                  <a:lnTo>
                    <a:pt x="8762047" y="2366962"/>
                  </a:lnTo>
                  <a:lnTo>
                    <a:pt x="8688705" y="2482215"/>
                  </a:lnTo>
                  <a:lnTo>
                    <a:pt x="8604885" y="2591752"/>
                  </a:lnTo>
                  <a:lnTo>
                    <a:pt x="8512493" y="2692718"/>
                  </a:lnTo>
                  <a:lnTo>
                    <a:pt x="8411527" y="2785110"/>
                  </a:lnTo>
                  <a:lnTo>
                    <a:pt x="8301990" y="2868930"/>
                  </a:lnTo>
                  <a:lnTo>
                    <a:pt x="8186737" y="2942272"/>
                  </a:lnTo>
                  <a:lnTo>
                    <a:pt x="8064817" y="3005138"/>
                  </a:lnTo>
                  <a:lnTo>
                    <a:pt x="7938135" y="3057525"/>
                  </a:lnTo>
                  <a:lnTo>
                    <a:pt x="7807643" y="3099435"/>
                  </a:lnTo>
                  <a:lnTo>
                    <a:pt x="7674293" y="3128962"/>
                  </a:lnTo>
                  <a:lnTo>
                    <a:pt x="7538085" y="3147060"/>
                  </a:lnTo>
                  <a:lnTo>
                    <a:pt x="7400925" y="3152775"/>
                  </a:lnTo>
                  <a:lnTo>
                    <a:pt x="647700" y="3152775"/>
                  </a:lnTo>
                  <a:lnTo>
                    <a:pt x="591503" y="3149918"/>
                  </a:lnTo>
                  <a:lnTo>
                    <a:pt x="535305" y="3143250"/>
                  </a:lnTo>
                  <a:lnTo>
                    <a:pt x="480060" y="3130868"/>
                  </a:lnTo>
                  <a:lnTo>
                    <a:pt x="425767" y="3113722"/>
                  </a:lnTo>
                  <a:lnTo>
                    <a:pt x="374333" y="3091815"/>
                  </a:lnTo>
                  <a:lnTo>
                    <a:pt x="323850" y="3066098"/>
                  </a:lnTo>
                  <a:lnTo>
                    <a:pt x="276225" y="3035618"/>
                  </a:lnTo>
                  <a:lnTo>
                    <a:pt x="231457" y="3001328"/>
                  </a:lnTo>
                  <a:lnTo>
                    <a:pt x="189547" y="2963228"/>
                  </a:lnTo>
                  <a:lnTo>
                    <a:pt x="151447" y="2921318"/>
                  </a:lnTo>
                  <a:lnTo>
                    <a:pt x="117157" y="2876550"/>
                  </a:lnTo>
                  <a:lnTo>
                    <a:pt x="86677" y="2828925"/>
                  </a:lnTo>
                  <a:lnTo>
                    <a:pt x="60960" y="2778442"/>
                  </a:lnTo>
                  <a:lnTo>
                    <a:pt x="39053" y="2727008"/>
                  </a:lnTo>
                  <a:lnTo>
                    <a:pt x="21907" y="2672715"/>
                  </a:lnTo>
                  <a:lnTo>
                    <a:pt x="9525" y="2617470"/>
                  </a:lnTo>
                  <a:lnTo>
                    <a:pt x="2857" y="2561272"/>
                  </a:lnTo>
                  <a:lnTo>
                    <a:pt x="0" y="2505075"/>
                  </a:lnTo>
                  <a:close/>
                </a:path>
              </a:pathLst>
            </a:custGeom>
            <a:solidFill>
              <a:srgbClr val="4DCA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card-RM-tail"/>
            <p:cNvSpPr/>
            <p:nvPr/>
          </p:nvSpPr>
          <p:spPr>
            <a:xfrm>
              <a:off x="23583900" y="7229475"/>
              <a:ext cx="638175" cy="876300"/>
            </a:xfrm>
            <a:custGeom>
              <a:avLst/>
              <a:gdLst/>
              <a:ahLst/>
              <a:cxnLst/>
              <a:rect l="l" t="t" r="r" b="b"/>
              <a:pathLst>
                <a:path w="638175" h="876300">
                  <a:moveTo>
                    <a:pt x="638175" y="0"/>
                  </a:moveTo>
                  <a:lnTo>
                    <a:pt x="0" y="438150"/>
                  </a:lnTo>
                  <a:lnTo>
                    <a:pt x="638175" y="876300"/>
                  </a:lnTo>
                  <a:close/>
                </a:path>
              </a:pathLst>
            </a:custGeom>
            <a:solidFill>
              <a:srgbClr val="4DCA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card-RM-iconbg"/>
            <p:cNvSpPr/>
            <p:nvPr/>
          </p:nvSpPr>
          <p:spPr>
            <a:xfrm>
              <a:off x="30099000" y="6477000"/>
              <a:ext cx="2381250" cy="2381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39" name="card-RM-icon"/>
            <p:cNvGrpSpPr/>
            <p:nvPr/>
          </p:nvGrpSpPr>
          <p:grpSpPr>
            <a:xfrm>
              <a:off x="30660975" y="7038975"/>
              <a:ext cx="1257300" cy="1257300"/>
              <a:chOff x="30660975" y="7038975"/>
              <a:chExt cx="1257300" cy="1257300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30660975" y="7038975"/>
                <a:ext cx="1257300" cy="1257300"/>
              </a:xfrm>
              <a:prstGeom prst="ellipse">
                <a:avLst/>
              </a:prstGeom>
              <a:noFill/>
              <a:ln w="15240">
                <a:solidFill>
                  <a:srgbClr val="22314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49" name="Connector 48"/>
              <p:cNvCxnSpPr/>
              <p:nvPr/>
            </p:nvCxnSpPr>
            <p:spPr>
              <a:xfrm>
                <a:off x="30989588" y="7696200"/>
                <a:ext cx="214312" cy="228600"/>
              </a:xfrm>
              <a:prstGeom prst="line">
                <a:avLst/>
              </a:prstGeom>
              <a:ln w="148590">
                <a:solidFill>
                  <a:srgbClr val="22314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nector 49"/>
              <p:cNvCxnSpPr/>
              <p:nvPr/>
            </p:nvCxnSpPr>
            <p:spPr>
              <a:xfrm flipV="1">
                <a:off x="31203900" y="7453312"/>
                <a:ext cx="400050" cy="471488"/>
              </a:xfrm>
              <a:prstGeom prst="line">
                <a:avLst/>
              </a:prstGeom>
              <a:ln w="148590">
                <a:solidFill>
                  <a:srgbClr val="22314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card-RM-name"/>
            <p:cNvSpPr txBox="1"/>
            <p:nvPr/>
          </p:nvSpPr>
          <p:spPr>
            <a:xfrm>
              <a:off x="27060525" y="6657975"/>
              <a:ext cx="2400300" cy="5429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56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成果凝练组</a:t>
              </a:r>
            </a:p>
          </p:txBody>
        </p:sp>
        <p:sp>
          <p:nvSpPr>
            <p:cNvPr id="52" name="card-RM-desc1"/>
            <p:cNvSpPr txBox="1"/>
            <p:nvPr/>
          </p:nvSpPr>
          <p:spPr>
            <a:xfrm>
              <a:off x="24755475" y="7258050"/>
              <a:ext cx="47053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撰写论文、专利申报书及结</a:t>
              </a:r>
            </a:p>
          </p:txBody>
        </p:sp>
        <p:sp>
          <p:nvSpPr>
            <p:cNvPr id="53" name="card-RM-desc2"/>
            <p:cNvSpPr txBox="1"/>
            <p:nvPr/>
          </p:nvSpPr>
          <p:spPr>
            <a:xfrm>
              <a:off x="24755475" y="7753350"/>
              <a:ext cx="47053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题报告，整理技术文档与展</a:t>
              </a:r>
            </a:p>
          </p:txBody>
        </p:sp>
        <p:sp>
          <p:nvSpPr>
            <p:cNvPr id="54" name="card-RM-desc3"/>
            <p:cNvSpPr txBox="1"/>
            <p:nvPr/>
          </p:nvSpPr>
          <p:spPr>
            <a:xfrm>
              <a:off x="28184475" y="8258175"/>
              <a:ext cx="12763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示材料</a:t>
              </a:r>
            </a:p>
          </p:txBody>
        </p:sp>
      </p:grpSp>
      <p:grpSp>
        <p:nvGrpSpPr>
          <p:cNvPr id="144" name="card-RB"/>
          <p:cNvGrpSpPr/>
          <p:nvPr/>
        </p:nvGrpSpPr>
        <p:grpSpPr>
          <a:xfrm>
            <a:off x="23583900" y="10086975"/>
            <a:ext cx="9324975" cy="3152775"/>
            <a:chOff x="23583900" y="10086975"/>
            <a:chExt cx="9324975" cy="3152775"/>
          </a:xfrm>
        </p:grpSpPr>
        <p:sp>
          <p:nvSpPr>
            <p:cNvPr id="55" name="card-RB-body"/>
            <p:cNvSpPr/>
            <p:nvPr/>
          </p:nvSpPr>
          <p:spPr>
            <a:xfrm>
              <a:off x="23936325" y="10086975"/>
              <a:ext cx="8972550" cy="3152775"/>
            </a:xfrm>
            <a:custGeom>
              <a:avLst/>
              <a:gdLst/>
              <a:ahLst/>
              <a:cxnLst/>
              <a:rect l="l" t="t" r="r" b="b"/>
              <a:pathLst>
                <a:path w="8972550" h="3152775">
                  <a:moveTo>
                    <a:pt x="0" y="647700"/>
                  </a:moveTo>
                  <a:lnTo>
                    <a:pt x="2857" y="591503"/>
                  </a:lnTo>
                  <a:lnTo>
                    <a:pt x="9525" y="535305"/>
                  </a:lnTo>
                  <a:lnTo>
                    <a:pt x="21907" y="480060"/>
                  </a:lnTo>
                  <a:lnTo>
                    <a:pt x="39053" y="425767"/>
                  </a:lnTo>
                  <a:lnTo>
                    <a:pt x="60960" y="374333"/>
                  </a:lnTo>
                  <a:lnTo>
                    <a:pt x="86677" y="323850"/>
                  </a:lnTo>
                  <a:lnTo>
                    <a:pt x="117157" y="276225"/>
                  </a:lnTo>
                  <a:lnTo>
                    <a:pt x="151447" y="231457"/>
                  </a:lnTo>
                  <a:lnTo>
                    <a:pt x="189547" y="189547"/>
                  </a:lnTo>
                  <a:lnTo>
                    <a:pt x="231457" y="151447"/>
                  </a:lnTo>
                  <a:lnTo>
                    <a:pt x="276225" y="117157"/>
                  </a:lnTo>
                  <a:lnTo>
                    <a:pt x="323850" y="86677"/>
                  </a:lnTo>
                  <a:lnTo>
                    <a:pt x="374333" y="60960"/>
                  </a:lnTo>
                  <a:lnTo>
                    <a:pt x="425767" y="39053"/>
                  </a:lnTo>
                  <a:lnTo>
                    <a:pt x="480060" y="21907"/>
                  </a:lnTo>
                  <a:lnTo>
                    <a:pt x="535305" y="9525"/>
                  </a:lnTo>
                  <a:lnTo>
                    <a:pt x="591503" y="2857"/>
                  </a:lnTo>
                  <a:lnTo>
                    <a:pt x="647700" y="0"/>
                  </a:lnTo>
                  <a:lnTo>
                    <a:pt x="7400925" y="0"/>
                  </a:lnTo>
                  <a:lnTo>
                    <a:pt x="7538085" y="5715"/>
                  </a:lnTo>
                  <a:lnTo>
                    <a:pt x="7674293" y="23813"/>
                  </a:lnTo>
                  <a:lnTo>
                    <a:pt x="7807643" y="53340"/>
                  </a:lnTo>
                  <a:lnTo>
                    <a:pt x="7938135" y="95250"/>
                  </a:lnTo>
                  <a:lnTo>
                    <a:pt x="8064817" y="147637"/>
                  </a:lnTo>
                  <a:lnTo>
                    <a:pt x="8186737" y="210503"/>
                  </a:lnTo>
                  <a:lnTo>
                    <a:pt x="8301990" y="283845"/>
                  </a:lnTo>
                  <a:lnTo>
                    <a:pt x="8411527" y="367665"/>
                  </a:lnTo>
                  <a:lnTo>
                    <a:pt x="8512493" y="460057"/>
                  </a:lnTo>
                  <a:lnTo>
                    <a:pt x="8604885" y="561023"/>
                  </a:lnTo>
                  <a:lnTo>
                    <a:pt x="8688705" y="670560"/>
                  </a:lnTo>
                  <a:lnTo>
                    <a:pt x="8762047" y="785813"/>
                  </a:lnTo>
                  <a:lnTo>
                    <a:pt x="8824913" y="907733"/>
                  </a:lnTo>
                  <a:lnTo>
                    <a:pt x="8877300" y="1034415"/>
                  </a:lnTo>
                  <a:lnTo>
                    <a:pt x="8919210" y="1164907"/>
                  </a:lnTo>
                  <a:lnTo>
                    <a:pt x="8948737" y="1298257"/>
                  </a:lnTo>
                  <a:lnTo>
                    <a:pt x="8966835" y="1434465"/>
                  </a:lnTo>
                  <a:lnTo>
                    <a:pt x="8972550" y="1571625"/>
                  </a:lnTo>
                  <a:lnTo>
                    <a:pt x="8972550" y="1581150"/>
                  </a:lnTo>
                  <a:lnTo>
                    <a:pt x="8966835" y="1718310"/>
                  </a:lnTo>
                  <a:lnTo>
                    <a:pt x="8948737" y="1854517"/>
                  </a:lnTo>
                  <a:lnTo>
                    <a:pt x="8919210" y="1987867"/>
                  </a:lnTo>
                  <a:lnTo>
                    <a:pt x="8877300" y="2118360"/>
                  </a:lnTo>
                  <a:lnTo>
                    <a:pt x="8824913" y="2245043"/>
                  </a:lnTo>
                  <a:lnTo>
                    <a:pt x="8762047" y="2366963"/>
                  </a:lnTo>
                  <a:lnTo>
                    <a:pt x="8688705" y="2482215"/>
                  </a:lnTo>
                  <a:lnTo>
                    <a:pt x="8604885" y="2591753"/>
                  </a:lnTo>
                  <a:lnTo>
                    <a:pt x="8512493" y="2692717"/>
                  </a:lnTo>
                  <a:lnTo>
                    <a:pt x="8411527" y="2785110"/>
                  </a:lnTo>
                  <a:lnTo>
                    <a:pt x="8301990" y="2868930"/>
                  </a:lnTo>
                  <a:lnTo>
                    <a:pt x="8186737" y="2942273"/>
                  </a:lnTo>
                  <a:lnTo>
                    <a:pt x="8064817" y="3005137"/>
                  </a:lnTo>
                  <a:lnTo>
                    <a:pt x="7938135" y="3057525"/>
                  </a:lnTo>
                  <a:lnTo>
                    <a:pt x="7807643" y="3099435"/>
                  </a:lnTo>
                  <a:lnTo>
                    <a:pt x="7674293" y="3128963"/>
                  </a:lnTo>
                  <a:lnTo>
                    <a:pt x="7538085" y="3147060"/>
                  </a:lnTo>
                  <a:lnTo>
                    <a:pt x="7400925" y="3152775"/>
                  </a:lnTo>
                  <a:lnTo>
                    <a:pt x="647700" y="3152775"/>
                  </a:lnTo>
                  <a:lnTo>
                    <a:pt x="591503" y="3149917"/>
                  </a:lnTo>
                  <a:lnTo>
                    <a:pt x="535305" y="3143250"/>
                  </a:lnTo>
                  <a:lnTo>
                    <a:pt x="480060" y="3130867"/>
                  </a:lnTo>
                  <a:lnTo>
                    <a:pt x="425767" y="3113723"/>
                  </a:lnTo>
                  <a:lnTo>
                    <a:pt x="374333" y="3091815"/>
                  </a:lnTo>
                  <a:lnTo>
                    <a:pt x="323850" y="3066097"/>
                  </a:lnTo>
                  <a:lnTo>
                    <a:pt x="276225" y="3035617"/>
                  </a:lnTo>
                  <a:lnTo>
                    <a:pt x="231457" y="3001327"/>
                  </a:lnTo>
                  <a:lnTo>
                    <a:pt x="189547" y="2963227"/>
                  </a:lnTo>
                  <a:lnTo>
                    <a:pt x="151447" y="2921317"/>
                  </a:lnTo>
                  <a:lnTo>
                    <a:pt x="117157" y="2876550"/>
                  </a:lnTo>
                  <a:lnTo>
                    <a:pt x="86677" y="2828925"/>
                  </a:lnTo>
                  <a:lnTo>
                    <a:pt x="60960" y="2778443"/>
                  </a:lnTo>
                  <a:lnTo>
                    <a:pt x="39053" y="2727007"/>
                  </a:lnTo>
                  <a:lnTo>
                    <a:pt x="21907" y="2672715"/>
                  </a:lnTo>
                  <a:lnTo>
                    <a:pt x="9525" y="2617470"/>
                  </a:lnTo>
                  <a:lnTo>
                    <a:pt x="2857" y="2561273"/>
                  </a:lnTo>
                  <a:lnTo>
                    <a:pt x="0" y="2505075"/>
                  </a:lnTo>
                  <a:close/>
                </a:path>
              </a:pathLst>
            </a:custGeom>
            <a:solidFill>
              <a:srgbClr val="87B3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card-RB-tail"/>
            <p:cNvSpPr/>
            <p:nvPr/>
          </p:nvSpPr>
          <p:spPr>
            <a:xfrm>
              <a:off x="23583900" y="11220450"/>
              <a:ext cx="638175" cy="876300"/>
            </a:xfrm>
            <a:custGeom>
              <a:avLst/>
              <a:gdLst/>
              <a:ahLst/>
              <a:cxnLst/>
              <a:rect l="l" t="t" r="r" b="b"/>
              <a:pathLst>
                <a:path w="638175" h="876300">
                  <a:moveTo>
                    <a:pt x="638175" y="0"/>
                  </a:moveTo>
                  <a:lnTo>
                    <a:pt x="0" y="438150"/>
                  </a:lnTo>
                  <a:lnTo>
                    <a:pt x="638175" y="876300"/>
                  </a:lnTo>
                  <a:close/>
                </a:path>
              </a:pathLst>
            </a:custGeom>
            <a:solidFill>
              <a:srgbClr val="87B3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card-RB-iconbg"/>
            <p:cNvSpPr/>
            <p:nvPr/>
          </p:nvSpPr>
          <p:spPr>
            <a:xfrm>
              <a:off x="30099000" y="10467975"/>
              <a:ext cx="2381250" cy="2381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40" name="card-RB-icon"/>
            <p:cNvGrpSpPr/>
            <p:nvPr/>
          </p:nvGrpSpPr>
          <p:grpSpPr>
            <a:xfrm>
              <a:off x="30732412" y="11044238"/>
              <a:ext cx="1114426" cy="1128712"/>
              <a:chOff x="30732412" y="11044238"/>
              <a:chExt cx="1114426" cy="1128712"/>
            </a:xfrm>
          </p:grpSpPr>
          <p:sp>
            <p:nvSpPr>
              <p:cNvPr id="58" name="Rounded Rectangle 57"/>
              <p:cNvSpPr/>
              <p:nvPr/>
            </p:nvSpPr>
            <p:spPr>
              <a:xfrm>
                <a:off x="30732412" y="11172825"/>
                <a:ext cx="1114425" cy="1000125"/>
              </a:xfrm>
              <a:prstGeom prst="roundRect">
                <a:avLst>
                  <a:gd name="adj" fmla="val 11428"/>
                </a:avLst>
              </a:prstGeom>
              <a:noFill/>
              <a:ln w="15240">
                <a:solidFill>
                  <a:srgbClr val="22314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59" name="Connector 58"/>
              <p:cNvCxnSpPr/>
              <p:nvPr/>
            </p:nvCxnSpPr>
            <p:spPr>
              <a:xfrm>
                <a:off x="30732412" y="11430000"/>
                <a:ext cx="1114426" cy="0"/>
              </a:xfrm>
              <a:prstGeom prst="line">
                <a:avLst/>
              </a:prstGeom>
              <a:ln w="111442">
                <a:solidFill>
                  <a:srgbClr val="22314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nector 59"/>
              <p:cNvCxnSpPr/>
              <p:nvPr/>
            </p:nvCxnSpPr>
            <p:spPr>
              <a:xfrm>
                <a:off x="31003875" y="11044238"/>
                <a:ext cx="0" cy="185737"/>
              </a:xfrm>
              <a:prstGeom prst="line">
                <a:avLst/>
              </a:prstGeom>
              <a:ln w="111442">
                <a:solidFill>
                  <a:srgbClr val="22314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Connector 60"/>
              <p:cNvCxnSpPr/>
              <p:nvPr/>
            </p:nvCxnSpPr>
            <p:spPr>
              <a:xfrm>
                <a:off x="31575375" y="11044238"/>
                <a:ext cx="0" cy="185737"/>
              </a:xfrm>
              <a:prstGeom prst="line">
                <a:avLst/>
              </a:prstGeom>
              <a:ln w="111442">
                <a:solidFill>
                  <a:srgbClr val="22314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Oval 61"/>
              <p:cNvSpPr/>
              <p:nvPr/>
            </p:nvSpPr>
            <p:spPr>
              <a:xfrm>
                <a:off x="30953869" y="11580019"/>
                <a:ext cx="185738" cy="185738"/>
              </a:xfrm>
              <a:prstGeom prst="ellipse">
                <a:avLst/>
              </a:prstGeom>
              <a:solidFill>
                <a:srgbClr val="22314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31239619" y="11580019"/>
                <a:ext cx="185738" cy="185738"/>
              </a:xfrm>
              <a:prstGeom prst="ellipse">
                <a:avLst/>
              </a:prstGeom>
              <a:solidFill>
                <a:srgbClr val="22314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30953869" y="11865769"/>
                <a:ext cx="185738" cy="185738"/>
              </a:xfrm>
              <a:prstGeom prst="ellipse">
                <a:avLst/>
              </a:prstGeom>
              <a:solidFill>
                <a:srgbClr val="22314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31239619" y="11865769"/>
                <a:ext cx="185738" cy="185738"/>
              </a:xfrm>
              <a:prstGeom prst="ellipse">
                <a:avLst/>
              </a:prstGeom>
              <a:solidFill>
                <a:srgbClr val="22314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66" name="card-RB-name"/>
            <p:cNvSpPr txBox="1"/>
            <p:nvPr/>
          </p:nvSpPr>
          <p:spPr>
            <a:xfrm>
              <a:off x="27060525" y="10648950"/>
              <a:ext cx="2400300" cy="5429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56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项目管理组</a:t>
              </a:r>
            </a:p>
          </p:txBody>
        </p:sp>
        <p:sp>
          <p:nvSpPr>
            <p:cNvPr id="67" name="card-RB-desc1"/>
            <p:cNvSpPr txBox="1"/>
            <p:nvPr/>
          </p:nvSpPr>
          <p:spPr>
            <a:xfrm>
              <a:off x="24755475" y="11249025"/>
              <a:ext cx="47053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制定时间表与里程碑，组织</a:t>
              </a:r>
            </a:p>
          </p:txBody>
        </p:sp>
        <p:sp>
          <p:nvSpPr>
            <p:cNvPr id="68" name="card-RB-desc2"/>
            <p:cNvSpPr txBox="1"/>
            <p:nvPr/>
          </p:nvSpPr>
          <p:spPr>
            <a:xfrm>
              <a:off x="24755475" y="11744325"/>
              <a:ext cx="47053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例会跟进任务，管理经费与</a:t>
              </a:r>
            </a:p>
          </p:txBody>
        </p:sp>
        <p:sp>
          <p:nvSpPr>
            <p:cNvPr id="69" name="card-RB-desc3"/>
            <p:cNvSpPr txBox="1"/>
            <p:nvPr/>
          </p:nvSpPr>
          <p:spPr>
            <a:xfrm>
              <a:off x="27803475" y="12249150"/>
              <a:ext cx="165735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采购流程</a:t>
              </a:r>
            </a:p>
          </p:txBody>
        </p:sp>
      </p:grpSp>
      <p:grpSp>
        <p:nvGrpSpPr>
          <p:cNvPr id="147" name="badge"/>
          <p:cNvGrpSpPr/>
          <p:nvPr/>
        </p:nvGrpSpPr>
        <p:grpSpPr>
          <a:xfrm>
            <a:off x="13030200" y="4476750"/>
            <a:ext cx="8001000" cy="8001000"/>
            <a:chOff x="13030200" y="4476750"/>
            <a:chExt cx="8001000" cy="8001000"/>
          </a:xfrm>
        </p:grpSpPr>
        <p:sp>
          <p:nvSpPr>
            <p:cNvPr id="70" name="badge-ring0"/>
            <p:cNvSpPr/>
            <p:nvPr/>
          </p:nvSpPr>
          <p:spPr>
            <a:xfrm>
              <a:off x="13030200" y="4476750"/>
              <a:ext cx="8001000" cy="8001000"/>
            </a:xfrm>
            <a:prstGeom prst="ellipse">
              <a:avLst/>
            </a:prstGeom>
            <a:solidFill>
              <a:srgbClr val="71555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badge-ring1"/>
            <p:cNvSpPr/>
            <p:nvPr/>
          </p:nvSpPr>
          <p:spPr>
            <a:xfrm>
              <a:off x="13049250" y="4495800"/>
              <a:ext cx="7962900" cy="7962900"/>
            </a:xfrm>
            <a:prstGeom prst="ellipse">
              <a:avLst/>
            </a:prstGeom>
            <a:solidFill>
              <a:srgbClr val="7256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badge-ring2"/>
            <p:cNvSpPr/>
            <p:nvPr/>
          </p:nvSpPr>
          <p:spPr>
            <a:xfrm>
              <a:off x="13068300" y="4514850"/>
              <a:ext cx="7924800" cy="7924800"/>
            </a:xfrm>
            <a:prstGeom prst="ellipse">
              <a:avLst/>
            </a:prstGeom>
            <a:solidFill>
              <a:srgbClr val="735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badge-ring3"/>
            <p:cNvSpPr/>
            <p:nvPr/>
          </p:nvSpPr>
          <p:spPr>
            <a:xfrm>
              <a:off x="13087350" y="4533900"/>
              <a:ext cx="7886700" cy="7886700"/>
            </a:xfrm>
            <a:prstGeom prst="ellipse">
              <a:avLst/>
            </a:prstGeom>
            <a:solidFill>
              <a:srgbClr val="7457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badge-ring4"/>
            <p:cNvSpPr/>
            <p:nvPr/>
          </p:nvSpPr>
          <p:spPr>
            <a:xfrm>
              <a:off x="13106400" y="4552950"/>
              <a:ext cx="7848600" cy="7848600"/>
            </a:xfrm>
            <a:prstGeom prst="ellipse">
              <a:avLst/>
            </a:prstGeom>
            <a:solidFill>
              <a:srgbClr val="75585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badge-ring5"/>
            <p:cNvSpPr/>
            <p:nvPr/>
          </p:nvSpPr>
          <p:spPr>
            <a:xfrm>
              <a:off x="13125450" y="4572000"/>
              <a:ext cx="7810500" cy="7810500"/>
            </a:xfrm>
            <a:prstGeom prst="ellipse">
              <a:avLst/>
            </a:prstGeom>
            <a:solidFill>
              <a:srgbClr val="7659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badge-ring6"/>
            <p:cNvSpPr/>
            <p:nvPr/>
          </p:nvSpPr>
          <p:spPr>
            <a:xfrm>
              <a:off x="13144500" y="4591050"/>
              <a:ext cx="7772400" cy="7772400"/>
            </a:xfrm>
            <a:prstGeom prst="ellipse">
              <a:avLst/>
            </a:prstGeom>
            <a:solidFill>
              <a:srgbClr val="775A5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badge-ring7"/>
            <p:cNvSpPr/>
            <p:nvPr/>
          </p:nvSpPr>
          <p:spPr>
            <a:xfrm>
              <a:off x="13163550" y="4610100"/>
              <a:ext cx="7734300" cy="7734300"/>
            </a:xfrm>
            <a:prstGeom prst="ellipse">
              <a:avLst/>
            </a:prstGeom>
            <a:solidFill>
              <a:srgbClr val="785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badge-ring8"/>
            <p:cNvSpPr/>
            <p:nvPr/>
          </p:nvSpPr>
          <p:spPr>
            <a:xfrm>
              <a:off x="13182600" y="4629150"/>
              <a:ext cx="7696200" cy="7696200"/>
            </a:xfrm>
            <a:prstGeom prst="ellipse">
              <a:avLst/>
            </a:prstGeom>
            <a:solidFill>
              <a:srgbClr val="795B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badge-ring9"/>
            <p:cNvSpPr/>
            <p:nvPr/>
          </p:nvSpPr>
          <p:spPr>
            <a:xfrm>
              <a:off x="13201650" y="4648200"/>
              <a:ext cx="7658100" cy="7658100"/>
            </a:xfrm>
            <a:prstGeom prst="ellipse">
              <a:avLst/>
            </a:prstGeom>
            <a:solidFill>
              <a:srgbClr val="7A5C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badge-ring10"/>
            <p:cNvSpPr/>
            <p:nvPr/>
          </p:nvSpPr>
          <p:spPr>
            <a:xfrm>
              <a:off x="13220700" y="4667250"/>
              <a:ext cx="7620000" cy="7620000"/>
            </a:xfrm>
            <a:prstGeom prst="ellipse">
              <a:avLst/>
            </a:prstGeom>
            <a:solidFill>
              <a:srgbClr val="7B5D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badge-ring11"/>
            <p:cNvSpPr/>
            <p:nvPr/>
          </p:nvSpPr>
          <p:spPr>
            <a:xfrm>
              <a:off x="13239750" y="4686300"/>
              <a:ext cx="7581900" cy="7581900"/>
            </a:xfrm>
            <a:prstGeom prst="ellipse">
              <a:avLst/>
            </a:prstGeom>
            <a:solidFill>
              <a:srgbClr val="7C5D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badge-ring12"/>
            <p:cNvSpPr/>
            <p:nvPr/>
          </p:nvSpPr>
          <p:spPr>
            <a:xfrm>
              <a:off x="13258800" y="4705350"/>
              <a:ext cx="7543800" cy="7543800"/>
            </a:xfrm>
            <a:prstGeom prst="ellipse">
              <a:avLst/>
            </a:prstGeom>
            <a:solidFill>
              <a:srgbClr val="7D5E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badge-ring13"/>
            <p:cNvSpPr/>
            <p:nvPr/>
          </p:nvSpPr>
          <p:spPr>
            <a:xfrm>
              <a:off x="13277850" y="4724400"/>
              <a:ext cx="7505700" cy="7505700"/>
            </a:xfrm>
            <a:prstGeom prst="ellipse">
              <a:avLst/>
            </a:prstGeom>
            <a:solidFill>
              <a:srgbClr val="7E5F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badge-ring14"/>
            <p:cNvSpPr/>
            <p:nvPr/>
          </p:nvSpPr>
          <p:spPr>
            <a:xfrm>
              <a:off x="13296900" y="4743450"/>
              <a:ext cx="7467600" cy="7467600"/>
            </a:xfrm>
            <a:prstGeom prst="ellipse">
              <a:avLst/>
            </a:prstGeom>
            <a:solidFill>
              <a:srgbClr val="7F605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badge-ring15"/>
            <p:cNvSpPr/>
            <p:nvPr/>
          </p:nvSpPr>
          <p:spPr>
            <a:xfrm>
              <a:off x="13315950" y="4762500"/>
              <a:ext cx="7429500" cy="7429500"/>
            </a:xfrm>
            <a:prstGeom prst="ellipse">
              <a:avLst/>
            </a:prstGeom>
            <a:solidFill>
              <a:srgbClr val="80615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badge-ring16"/>
            <p:cNvSpPr/>
            <p:nvPr/>
          </p:nvSpPr>
          <p:spPr>
            <a:xfrm>
              <a:off x="13335000" y="4781550"/>
              <a:ext cx="7391400" cy="7391400"/>
            </a:xfrm>
            <a:prstGeom prst="ellipse">
              <a:avLst/>
            </a:prstGeom>
            <a:solidFill>
              <a:srgbClr val="8161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badge-ring17"/>
            <p:cNvSpPr/>
            <p:nvPr/>
          </p:nvSpPr>
          <p:spPr>
            <a:xfrm>
              <a:off x="13354050" y="4800600"/>
              <a:ext cx="7353300" cy="7353300"/>
            </a:xfrm>
            <a:prstGeom prst="ellipse">
              <a:avLst/>
            </a:prstGeom>
            <a:solidFill>
              <a:srgbClr val="8262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badge-ring18"/>
            <p:cNvSpPr/>
            <p:nvPr/>
          </p:nvSpPr>
          <p:spPr>
            <a:xfrm>
              <a:off x="13373100" y="4819650"/>
              <a:ext cx="7315200" cy="7315200"/>
            </a:xfrm>
            <a:prstGeom prst="ellipse">
              <a:avLst/>
            </a:prstGeom>
            <a:solidFill>
              <a:srgbClr val="8263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badge-ring19"/>
            <p:cNvSpPr/>
            <p:nvPr/>
          </p:nvSpPr>
          <p:spPr>
            <a:xfrm>
              <a:off x="13392150" y="4838700"/>
              <a:ext cx="7277100" cy="7277100"/>
            </a:xfrm>
            <a:prstGeom prst="ellipse">
              <a:avLst/>
            </a:prstGeom>
            <a:solidFill>
              <a:srgbClr val="8364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badge-ring20"/>
            <p:cNvSpPr/>
            <p:nvPr/>
          </p:nvSpPr>
          <p:spPr>
            <a:xfrm>
              <a:off x="13411200" y="4857750"/>
              <a:ext cx="7239000" cy="7239000"/>
            </a:xfrm>
            <a:prstGeom prst="ellipse">
              <a:avLst/>
            </a:prstGeom>
            <a:solidFill>
              <a:srgbClr val="8464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badge-ring21"/>
            <p:cNvSpPr/>
            <p:nvPr/>
          </p:nvSpPr>
          <p:spPr>
            <a:xfrm>
              <a:off x="13430250" y="4876800"/>
              <a:ext cx="7200900" cy="7200900"/>
            </a:xfrm>
            <a:prstGeom prst="ellipse">
              <a:avLst/>
            </a:prstGeom>
            <a:solidFill>
              <a:srgbClr val="8565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badge-ring22"/>
            <p:cNvSpPr/>
            <p:nvPr/>
          </p:nvSpPr>
          <p:spPr>
            <a:xfrm>
              <a:off x="13449300" y="4895850"/>
              <a:ext cx="7162800" cy="7162800"/>
            </a:xfrm>
            <a:prstGeom prst="ellipse">
              <a:avLst/>
            </a:prstGeom>
            <a:solidFill>
              <a:srgbClr val="8666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badge-ring23"/>
            <p:cNvSpPr/>
            <p:nvPr/>
          </p:nvSpPr>
          <p:spPr>
            <a:xfrm>
              <a:off x="13468350" y="4914900"/>
              <a:ext cx="7124700" cy="7124700"/>
            </a:xfrm>
            <a:prstGeom prst="ellipse">
              <a:avLst/>
            </a:prstGeom>
            <a:solidFill>
              <a:srgbClr val="8767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badge-ring24"/>
            <p:cNvSpPr/>
            <p:nvPr/>
          </p:nvSpPr>
          <p:spPr>
            <a:xfrm>
              <a:off x="13487400" y="4933950"/>
              <a:ext cx="7086600" cy="7086600"/>
            </a:xfrm>
            <a:prstGeom prst="ellipse">
              <a:avLst/>
            </a:prstGeom>
            <a:solidFill>
              <a:srgbClr val="8868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badge-ring25"/>
            <p:cNvSpPr/>
            <p:nvPr/>
          </p:nvSpPr>
          <p:spPr>
            <a:xfrm>
              <a:off x="13506450" y="4953000"/>
              <a:ext cx="7048500" cy="7048500"/>
            </a:xfrm>
            <a:prstGeom prst="ellipse">
              <a:avLst/>
            </a:prstGeom>
            <a:solidFill>
              <a:srgbClr val="8968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badge-ring26"/>
            <p:cNvSpPr/>
            <p:nvPr/>
          </p:nvSpPr>
          <p:spPr>
            <a:xfrm>
              <a:off x="13525500" y="4972050"/>
              <a:ext cx="7010400" cy="7010400"/>
            </a:xfrm>
            <a:prstGeom prst="ellipse">
              <a:avLst/>
            </a:prstGeom>
            <a:solidFill>
              <a:srgbClr val="8A69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badge-ring27"/>
            <p:cNvSpPr/>
            <p:nvPr/>
          </p:nvSpPr>
          <p:spPr>
            <a:xfrm>
              <a:off x="13544550" y="4991100"/>
              <a:ext cx="6972300" cy="6972300"/>
            </a:xfrm>
            <a:prstGeom prst="ellipse">
              <a:avLst/>
            </a:prstGeom>
            <a:solidFill>
              <a:srgbClr val="8B6A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badge-ring28"/>
            <p:cNvSpPr/>
            <p:nvPr/>
          </p:nvSpPr>
          <p:spPr>
            <a:xfrm>
              <a:off x="13563600" y="5010150"/>
              <a:ext cx="6934200" cy="6934200"/>
            </a:xfrm>
            <a:prstGeom prst="ellipse">
              <a:avLst/>
            </a:prstGeom>
            <a:solidFill>
              <a:srgbClr val="8C6B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badge-ring29"/>
            <p:cNvSpPr/>
            <p:nvPr/>
          </p:nvSpPr>
          <p:spPr>
            <a:xfrm>
              <a:off x="13582650" y="5029200"/>
              <a:ext cx="6896100" cy="6896100"/>
            </a:xfrm>
            <a:prstGeom prst="ellipse">
              <a:avLst/>
            </a:prstGeom>
            <a:solidFill>
              <a:srgbClr val="8D6B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badge-ring30"/>
            <p:cNvSpPr/>
            <p:nvPr/>
          </p:nvSpPr>
          <p:spPr>
            <a:xfrm>
              <a:off x="13601700" y="5048250"/>
              <a:ext cx="6858000" cy="6858000"/>
            </a:xfrm>
            <a:prstGeom prst="ellipse">
              <a:avLst/>
            </a:prstGeom>
            <a:solidFill>
              <a:srgbClr val="8E6C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badge-ring31"/>
            <p:cNvSpPr/>
            <p:nvPr/>
          </p:nvSpPr>
          <p:spPr>
            <a:xfrm>
              <a:off x="13620750" y="5067300"/>
              <a:ext cx="6819900" cy="6819900"/>
            </a:xfrm>
            <a:prstGeom prst="ellipse">
              <a:avLst/>
            </a:prstGeom>
            <a:solidFill>
              <a:srgbClr val="8F6D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badge-ring32"/>
            <p:cNvSpPr/>
            <p:nvPr/>
          </p:nvSpPr>
          <p:spPr>
            <a:xfrm>
              <a:off x="13639800" y="5086350"/>
              <a:ext cx="6781800" cy="6781800"/>
            </a:xfrm>
            <a:prstGeom prst="ellipse">
              <a:avLst/>
            </a:prstGeom>
            <a:solidFill>
              <a:srgbClr val="906E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badge-ring33"/>
            <p:cNvSpPr/>
            <p:nvPr/>
          </p:nvSpPr>
          <p:spPr>
            <a:xfrm>
              <a:off x="13658850" y="5105400"/>
              <a:ext cx="6743700" cy="6743700"/>
            </a:xfrm>
            <a:prstGeom prst="ellipse">
              <a:avLst/>
            </a:prstGeom>
            <a:solidFill>
              <a:srgbClr val="916E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badge-ring34"/>
            <p:cNvSpPr/>
            <p:nvPr/>
          </p:nvSpPr>
          <p:spPr>
            <a:xfrm>
              <a:off x="13677900" y="5124450"/>
              <a:ext cx="6705600" cy="6705600"/>
            </a:xfrm>
            <a:prstGeom prst="ellipse">
              <a:avLst/>
            </a:prstGeom>
            <a:solidFill>
              <a:srgbClr val="926F6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badge-ring35"/>
            <p:cNvSpPr/>
            <p:nvPr/>
          </p:nvSpPr>
          <p:spPr>
            <a:xfrm>
              <a:off x="13696950" y="5143500"/>
              <a:ext cx="6667500" cy="6667500"/>
            </a:xfrm>
            <a:prstGeom prst="ellipse">
              <a:avLst/>
            </a:prstGeom>
            <a:solidFill>
              <a:srgbClr val="9370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badge-inner"/>
            <p:cNvSpPr/>
            <p:nvPr/>
          </p:nvSpPr>
          <p:spPr>
            <a:xfrm>
              <a:off x="13716000" y="5162550"/>
              <a:ext cx="6629400" cy="6629400"/>
            </a:xfrm>
            <a:prstGeom prst="ellipse">
              <a:avLst/>
            </a:prstGeom>
            <a:solidFill>
              <a:srgbClr val="F3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rbit-1"/>
            <p:cNvSpPr/>
            <p:nvPr/>
          </p:nvSpPr>
          <p:spPr>
            <a:xfrm rot="1800000">
              <a:off x="14801850" y="7239000"/>
              <a:ext cx="4457700" cy="2476500"/>
            </a:xfrm>
            <a:prstGeom prst="ellipse">
              <a:avLst/>
            </a:prstGeom>
            <a:noFill/>
            <a:ln w="104775">
              <a:solidFill>
                <a:srgbClr val="1E243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rbit-2"/>
            <p:cNvSpPr/>
            <p:nvPr/>
          </p:nvSpPr>
          <p:spPr>
            <a:xfrm rot="5400000">
              <a:off x="14801850" y="7239000"/>
              <a:ext cx="4457700" cy="2476500"/>
            </a:xfrm>
            <a:prstGeom prst="ellipse">
              <a:avLst/>
            </a:prstGeom>
            <a:noFill/>
            <a:ln w="104775">
              <a:solidFill>
                <a:srgbClr val="1E243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rbit-3"/>
            <p:cNvSpPr/>
            <p:nvPr/>
          </p:nvSpPr>
          <p:spPr>
            <a:xfrm rot="9000000">
              <a:off x="14801850" y="7239000"/>
              <a:ext cx="4457700" cy="2476500"/>
            </a:xfrm>
            <a:prstGeom prst="ellipse">
              <a:avLst/>
            </a:prstGeom>
            <a:noFill/>
            <a:ln w="104775">
              <a:solidFill>
                <a:srgbClr val="1E243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nucleus"/>
            <p:cNvSpPr/>
            <p:nvPr/>
          </p:nvSpPr>
          <p:spPr>
            <a:xfrm>
              <a:off x="16649700" y="8067675"/>
              <a:ext cx="838200" cy="838200"/>
            </a:xfrm>
            <a:prstGeom prst="ellipse">
              <a:avLst/>
            </a:prstGeom>
            <a:solidFill>
              <a:srgbClr val="EE5A44"/>
            </a:solidFill>
            <a:ln w="85725">
              <a:solidFill>
                <a:srgbClr val="1E243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electron-1"/>
            <p:cNvSpPr/>
            <p:nvPr/>
          </p:nvSpPr>
          <p:spPr>
            <a:xfrm>
              <a:off x="16259175" y="6362700"/>
              <a:ext cx="495300" cy="495300"/>
            </a:xfrm>
            <a:prstGeom prst="ellipse">
              <a:avLst/>
            </a:prstGeom>
            <a:solidFill>
              <a:srgbClr val="8DC0FF"/>
            </a:solidFill>
            <a:ln w="76200">
              <a:solidFill>
                <a:srgbClr val="1E243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electron-2"/>
            <p:cNvSpPr/>
            <p:nvPr/>
          </p:nvSpPr>
          <p:spPr>
            <a:xfrm>
              <a:off x="16306800" y="9144000"/>
              <a:ext cx="495300" cy="495300"/>
            </a:xfrm>
            <a:prstGeom prst="ellipse">
              <a:avLst/>
            </a:prstGeom>
            <a:solidFill>
              <a:srgbClr val="8DC0FF"/>
            </a:solidFill>
            <a:ln w="76200">
              <a:solidFill>
                <a:srgbClr val="1E243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electron-3"/>
            <p:cNvSpPr/>
            <p:nvPr/>
          </p:nvSpPr>
          <p:spPr>
            <a:xfrm>
              <a:off x="14868525" y="8867775"/>
              <a:ext cx="495300" cy="495300"/>
            </a:xfrm>
            <a:prstGeom prst="ellipse">
              <a:avLst/>
            </a:prstGeom>
            <a:solidFill>
              <a:srgbClr val="FEE281"/>
            </a:solidFill>
            <a:ln w="76200">
              <a:solidFill>
                <a:srgbClr val="1E243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electron-4"/>
            <p:cNvSpPr/>
            <p:nvPr/>
          </p:nvSpPr>
          <p:spPr>
            <a:xfrm>
              <a:off x="18697575" y="7762875"/>
              <a:ext cx="495300" cy="495300"/>
            </a:xfrm>
            <a:prstGeom prst="ellipse">
              <a:avLst/>
            </a:prstGeom>
            <a:solidFill>
              <a:srgbClr val="FEE281"/>
            </a:solidFill>
            <a:ln w="76200">
              <a:solidFill>
                <a:srgbClr val="1E243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3" name="connectors"/>
          <p:cNvGrpSpPr/>
          <p:nvPr/>
        </p:nvGrpSpPr>
        <p:grpSpPr>
          <a:xfrm>
            <a:off x="10601325" y="3609975"/>
            <a:ext cx="12782550" cy="8115300"/>
            <a:chOff x="10601325" y="3609975"/>
            <a:chExt cx="12782550" cy="8115300"/>
          </a:xfrm>
        </p:grpSpPr>
        <p:sp>
          <p:nvSpPr>
            <p:cNvPr id="115" name="conn-LT"/>
            <p:cNvSpPr/>
            <p:nvPr/>
          </p:nvSpPr>
          <p:spPr>
            <a:xfrm>
              <a:off x="10668000" y="3676650"/>
              <a:ext cx="4010025" cy="914400"/>
            </a:xfrm>
            <a:custGeom>
              <a:avLst/>
              <a:gdLst/>
              <a:ahLst/>
              <a:cxnLst/>
              <a:rect l="l" t="t" r="r" b="b"/>
              <a:pathLst>
                <a:path w="4010025" h="914400">
                  <a:moveTo>
                    <a:pt x="0" y="0"/>
                  </a:moveTo>
                  <a:lnTo>
                    <a:pt x="3095625" y="0"/>
                  </a:lnTo>
                  <a:lnTo>
                    <a:pt x="4010025" y="914400"/>
                  </a:lnTo>
                </a:path>
              </a:pathLst>
            </a:custGeom>
            <a:noFill/>
            <a:ln w="28575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conn-LT-dot1"/>
            <p:cNvSpPr/>
            <p:nvPr/>
          </p:nvSpPr>
          <p:spPr>
            <a:xfrm>
              <a:off x="10601325" y="3609975"/>
              <a:ext cx="133350" cy="133350"/>
            </a:xfrm>
            <a:prstGeom prst="ellipse">
              <a:avLst/>
            </a:prstGeom>
            <a:solidFill>
              <a:srgbClr val="9A9A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conn-LT-dot2"/>
            <p:cNvSpPr/>
            <p:nvPr/>
          </p:nvSpPr>
          <p:spPr>
            <a:xfrm>
              <a:off x="14601825" y="4514850"/>
              <a:ext cx="152400" cy="152400"/>
            </a:xfrm>
            <a:prstGeom prst="ellipse">
              <a:avLst/>
            </a:prstGeom>
            <a:solidFill>
              <a:srgbClr val="9A9A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conn-LM"/>
            <p:cNvSpPr/>
            <p:nvPr/>
          </p:nvSpPr>
          <p:spPr>
            <a:xfrm>
              <a:off x="10668000" y="6553200"/>
              <a:ext cx="3362325" cy="1114425"/>
            </a:xfrm>
            <a:custGeom>
              <a:avLst/>
              <a:gdLst/>
              <a:ahLst/>
              <a:cxnLst/>
              <a:rect l="l" t="t" r="r" b="b"/>
              <a:pathLst>
                <a:path w="3362325" h="1114425">
                  <a:moveTo>
                    <a:pt x="0" y="1114425"/>
                  </a:moveTo>
                  <a:lnTo>
                    <a:pt x="3362325" y="1114425"/>
                  </a:lnTo>
                  <a:lnTo>
                    <a:pt x="2247900" y="0"/>
                  </a:lnTo>
                </a:path>
              </a:pathLst>
            </a:custGeom>
            <a:noFill/>
            <a:ln w="28575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conn-LM-dot1"/>
            <p:cNvSpPr/>
            <p:nvPr/>
          </p:nvSpPr>
          <p:spPr>
            <a:xfrm>
              <a:off x="10601325" y="7600950"/>
              <a:ext cx="133350" cy="133350"/>
            </a:xfrm>
            <a:prstGeom prst="ellipse">
              <a:avLst/>
            </a:prstGeom>
            <a:solidFill>
              <a:srgbClr val="9A9A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conn-LM-dot2"/>
            <p:cNvSpPr/>
            <p:nvPr/>
          </p:nvSpPr>
          <p:spPr>
            <a:xfrm>
              <a:off x="12839700" y="6477000"/>
              <a:ext cx="152400" cy="152400"/>
            </a:xfrm>
            <a:prstGeom prst="ellipse">
              <a:avLst/>
            </a:prstGeom>
            <a:solidFill>
              <a:srgbClr val="9A9A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conn-LB"/>
            <p:cNvSpPr/>
            <p:nvPr/>
          </p:nvSpPr>
          <p:spPr>
            <a:xfrm>
              <a:off x="10668000" y="11296650"/>
              <a:ext cx="2790825" cy="361950"/>
            </a:xfrm>
            <a:custGeom>
              <a:avLst/>
              <a:gdLst/>
              <a:ahLst/>
              <a:cxnLst/>
              <a:rect l="l" t="t" r="r" b="b"/>
              <a:pathLst>
                <a:path w="2790825" h="361950">
                  <a:moveTo>
                    <a:pt x="0" y="361950"/>
                  </a:moveTo>
                  <a:lnTo>
                    <a:pt x="2790825" y="361950"/>
                  </a:lnTo>
                  <a:lnTo>
                    <a:pt x="2428875" y="0"/>
                  </a:lnTo>
                </a:path>
              </a:pathLst>
            </a:custGeom>
            <a:noFill/>
            <a:ln w="28575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conn-LB-dot1"/>
            <p:cNvSpPr/>
            <p:nvPr/>
          </p:nvSpPr>
          <p:spPr>
            <a:xfrm>
              <a:off x="10601325" y="11591925"/>
              <a:ext cx="133350" cy="133350"/>
            </a:xfrm>
            <a:prstGeom prst="ellipse">
              <a:avLst/>
            </a:prstGeom>
            <a:solidFill>
              <a:srgbClr val="9A9A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conn-LB-dot2"/>
            <p:cNvSpPr/>
            <p:nvPr/>
          </p:nvSpPr>
          <p:spPr>
            <a:xfrm>
              <a:off x="13020675" y="11220450"/>
              <a:ext cx="152400" cy="152400"/>
            </a:xfrm>
            <a:prstGeom prst="ellipse">
              <a:avLst/>
            </a:prstGeom>
            <a:solidFill>
              <a:srgbClr val="9A9A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conn-RT"/>
            <p:cNvSpPr/>
            <p:nvPr/>
          </p:nvSpPr>
          <p:spPr>
            <a:xfrm>
              <a:off x="19383375" y="3676650"/>
              <a:ext cx="3933825" cy="923925"/>
            </a:xfrm>
            <a:custGeom>
              <a:avLst/>
              <a:gdLst/>
              <a:ahLst/>
              <a:cxnLst/>
              <a:rect l="l" t="t" r="r" b="b"/>
              <a:pathLst>
                <a:path w="3933825" h="923925">
                  <a:moveTo>
                    <a:pt x="3933825" y="0"/>
                  </a:moveTo>
                  <a:lnTo>
                    <a:pt x="923925" y="0"/>
                  </a:lnTo>
                  <a:lnTo>
                    <a:pt x="0" y="923925"/>
                  </a:lnTo>
                </a:path>
              </a:pathLst>
            </a:custGeom>
            <a:noFill/>
            <a:ln w="28575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conn-RT-dot1"/>
            <p:cNvSpPr/>
            <p:nvPr/>
          </p:nvSpPr>
          <p:spPr>
            <a:xfrm>
              <a:off x="23250525" y="3609975"/>
              <a:ext cx="133350" cy="133350"/>
            </a:xfrm>
            <a:prstGeom prst="ellipse">
              <a:avLst/>
            </a:prstGeom>
            <a:solidFill>
              <a:srgbClr val="9A9A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conn-RT-dot2"/>
            <p:cNvSpPr/>
            <p:nvPr/>
          </p:nvSpPr>
          <p:spPr>
            <a:xfrm>
              <a:off x="19307175" y="4524375"/>
              <a:ext cx="152400" cy="152400"/>
            </a:xfrm>
            <a:prstGeom prst="ellipse">
              <a:avLst/>
            </a:prstGeom>
            <a:solidFill>
              <a:srgbClr val="9A9A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conn-RM"/>
            <p:cNvSpPr/>
            <p:nvPr/>
          </p:nvSpPr>
          <p:spPr>
            <a:xfrm>
              <a:off x="20050125" y="6553200"/>
              <a:ext cx="3267075" cy="1114425"/>
            </a:xfrm>
            <a:custGeom>
              <a:avLst/>
              <a:gdLst/>
              <a:ahLst/>
              <a:cxnLst/>
              <a:rect l="l" t="t" r="r" b="b"/>
              <a:pathLst>
                <a:path w="3267075" h="1114425">
                  <a:moveTo>
                    <a:pt x="3267075" y="1114425"/>
                  </a:moveTo>
                  <a:lnTo>
                    <a:pt x="0" y="1114425"/>
                  </a:lnTo>
                  <a:lnTo>
                    <a:pt x="1114425" y="0"/>
                  </a:lnTo>
                </a:path>
              </a:pathLst>
            </a:custGeom>
            <a:noFill/>
            <a:ln w="28575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conn-RM-dot1"/>
            <p:cNvSpPr/>
            <p:nvPr/>
          </p:nvSpPr>
          <p:spPr>
            <a:xfrm>
              <a:off x="23250525" y="7600950"/>
              <a:ext cx="133350" cy="133350"/>
            </a:xfrm>
            <a:prstGeom prst="ellipse">
              <a:avLst/>
            </a:prstGeom>
            <a:solidFill>
              <a:srgbClr val="9A9A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conn-RM-dot2"/>
            <p:cNvSpPr/>
            <p:nvPr/>
          </p:nvSpPr>
          <p:spPr>
            <a:xfrm>
              <a:off x="21088350" y="6477000"/>
              <a:ext cx="152400" cy="152400"/>
            </a:xfrm>
            <a:prstGeom prst="ellipse">
              <a:avLst/>
            </a:prstGeom>
            <a:solidFill>
              <a:srgbClr val="9A9A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conn-RB"/>
            <p:cNvSpPr/>
            <p:nvPr/>
          </p:nvSpPr>
          <p:spPr>
            <a:xfrm>
              <a:off x="20612100" y="11296650"/>
              <a:ext cx="2705100" cy="361950"/>
            </a:xfrm>
            <a:custGeom>
              <a:avLst/>
              <a:gdLst/>
              <a:ahLst/>
              <a:cxnLst/>
              <a:rect l="l" t="t" r="r" b="b"/>
              <a:pathLst>
                <a:path w="2705100" h="361950">
                  <a:moveTo>
                    <a:pt x="2705100" y="361950"/>
                  </a:moveTo>
                  <a:lnTo>
                    <a:pt x="0" y="361950"/>
                  </a:lnTo>
                  <a:lnTo>
                    <a:pt x="361950" y="0"/>
                  </a:lnTo>
                </a:path>
              </a:pathLst>
            </a:custGeom>
            <a:noFill/>
            <a:ln w="28575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conn-RB-dot1"/>
            <p:cNvSpPr/>
            <p:nvPr/>
          </p:nvSpPr>
          <p:spPr>
            <a:xfrm>
              <a:off x="23250525" y="11591925"/>
              <a:ext cx="133350" cy="133350"/>
            </a:xfrm>
            <a:prstGeom prst="ellipse">
              <a:avLst/>
            </a:prstGeom>
            <a:solidFill>
              <a:srgbClr val="9A9A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conn-RB-dot2"/>
            <p:cNvSpPr/>
            <p:nvPr/>
          </p:nvSpPr>
          <p:spPr>
            <a:xfrm>
              <a:off x="20897850" y="11220450"/>
              <a:ext cx="152400" cy="152400"/>
            </a:xfrm>
            <a:prstGeom prst="ellipse">
              <a:avLst/>
            </a:prstGeom>
            <a:solidFill>
              <a:srgbClr val="9A9A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3" name="title"/>
          <p:cNvSpPr txBox="1"/>
          <p:nvPr/>
        </p:nvSpPr>
        <p:spPr>
          <a:xfrm>
            <a:off x="9525000" y="14163675"/>
            <a:ext cx="15011400" cy="10096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科研项目任务拆解思维导图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