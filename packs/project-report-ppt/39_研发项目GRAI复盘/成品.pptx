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7433250" cy="2164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7433250" cy="2164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7433250" cy="21640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">
                <a:srgbClr val="F7FB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lat-goal-dash"/>
          <p:cNvSpPr/>
          <p:nvPr/>
        </p:nvSpPr>
        <p:spPr>
          <a:xfrm>
            <a:off x="5695950" y="6762750"/>
            <a:ext cx="11753850" cy="22098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DD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lat-goal-body"/>
          <p:cNvSpPr/>
          <p:nvPr/>
        </p:nvSpPr>
        <p:spPr>
          <a:xfrm>
            <a:off x="6524625" y="7210425"/>
            <a:ext cx="10096500" cy="131445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45000">
                <a:srgbClr val="E3F1FD"/>
              </a:gs>
            </a:gsLst>
            <a:lin scaled="0" ang="16200000"/>
          </a:gradFill>
          <a:ln w="85725">
            <a:solidFill>
              <a:srgbClr val="86AE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lat-res-dash"/>
          <p:cNvSpPr/>
          <p:nvPr/>
        </p:nvSpPr>
        <p:spPr>
          <a:xfrm>
            <a:off x="19907250" y="6762750"/>
            <a:ext cx="11753850" cy="22098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DD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lat-res-body"/>
          <p:cNvSpPr/>
          <p:nvPr/>
        </p:nvSpPr>
        <p:spPr>
          <a:xfrm>
            <a:off x="20735925" y="7210425"/>
            <a:ext cx="10096500" cy="131445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45000">
                <a:srgbClr val="E3F1FD"/>
              </a:gs>
            </a:gsLst>
            <a:lin scaled="0" ang="16200000"/>
          </a:gradFill>
          <a:ln w="85725">
            <a:solidFill>
              <a:srgbClr val="86AE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ec-arrow"/>
          <p:cNvSpPr/>
          <p:nvPr/>
        </p:nvSpPr>
        <p:spPr>
          <a:xfrm>
            <a:off x="16944975" y="4581525"/>
            <a:ext cx="4352925" cy="2505075"/>
          </a:xfrm>
          <a:custGeom>
            <a:avLst/>
            <a:gdLst/>
            <a:ahLst/>
            <a:cxnLst/>
            <a:rect l="l" t="t" r="r" b="b"/>
            <a:pathLst>
              <a:path w="4352925" h="2505075">
                <a:moveTo>
                  <a:pt x="0" y="0"/>
                </a:moveTo>
                <a:lnTo>
                  <a:pt x="3057525" y="714375"/>
                </a:lnTo>
                <a:lnTo>
                  <a:pt x="3057525" y="57150"/>
                </a:lnTo>
                <a:lnTo>
                  <a:pt x="4352925" y="1171575"/>
                </a:lnTo>
                <a:lnTo>
                  <a:pt x="3057525" y="2409825"/>
                </a:lnTo>
                <a:lnTo>
                  <a:pt x="3057525" y="1857375"/>
                </a:lnTo>
                <a:lnTo>
                  <a:pt x="0" y="2505075"/>
                </a:lnTo>
                <a:close/>
              </a:path>
            </a:pathLst>
          </a:custGeom>
          <a:gradFill rotWithShape="1">
            <a:gsLst>
              <a:gs pos="0">
                <a:srgbClr val="FFF4E6"/>
              </a:gs>
              <a:gs pos="55000">
                <a:srgbClr val="FBC58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-exec"/>
          <p:cNvSpPr txBox="1"/>
          <p:nvPr/>
        </p:nvSpPr>
        <p:spPr>
          <a:xfrm>
            <a:off x="18097500" y="7315200"/>
            <a:ext cx="19050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0" name="t-title"/>
          <p:cNvSpPr txBox="1"/>
          <p:nvPr/>
        </p:nvSpPr>
        <p:spPr>
          <a:xfrm>
            <a:off x="1866900" y="1219200"/>
            <a:ext cx="1381125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325" b="1" i="0">
                <a:solidFill>
                  <a:srgbClr val="02509A"/>
                </a:solidFill>
                <a:latin typeface="Microsoft YaHei"/>
                <a:ea typeface="Microsoft YaHei"/>
                <a:cs typeface="Microsoft YaHei"/>
              </a:rPr>
              <a:t>年度总结、工作事项复盘、GRAI复盘法</a:t>
            </a:r>
          </a:p>
        </p:txBody>
      </p:sp>
      <p:sp>
        <p:nvSpPr>
          <p:cNvPr id="11" name="t-goal-label"/>
          <p:cNvSpPr txBox="1"/>
          <p:nvPr/>
        </p:nvSpPr>
        <p:spPr>
          <a:xfrm>
            <a:off x="11049000" y="3886200"/>
            <a:ext cx="2000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Goal</a:t>
            </a:r>
          </a:p>
        </p:txBody>
      </p:sp>
      <p:sp>
        <p:nvSpPr>
          <p:cNvPr id="12" name="goal-pill"/>
          <p:cNvSpPr/>
          <p:nvPr/>
        </p:nvSpPr>
        <p:spPr>
          <a:xfrm>
            <a:off x="10325100" y="4419600"/>
            <a:ext cx="3448050" cy="895350"/>
          </a:xfrm>
          <a:prstGeom prst="roundRect">
            <a:avLst>
              <a:gd name="adj" fmla="val 50000"/>
            </a:avLst>
          </a:prstGeom>
          <a:solidFill>
            <a:srgbClr val="006E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-goal-pill"/>
          <p:cNvSpPr txBox="1"/>
          <p:nvPr/>
        </p:nvSpPr>
        <p:spPr>
          <a:xfrm>
            <a:off x="10325100" y="4419600"/>
            <a:ext cx="34480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年初目标</a:t>
            </a:r>
          </a:p>
        </p:txBody>
      </p:sp>
      <p:sp>
        <p:nvSpPr>
          <p:cNvPr id="14" name="t-goal-l1a"/>
          <p:cNvSpPr txBox="1"/>
          <p:nvPr/>
        </p:nvSpPr>
        <p:spPr>
          <a:xfrm>
            <a:off x="7600950" y="5715000"/>
            <a:ext cx="6096000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8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机票下单成功率达到</a:t>
            </a:r>
          </a:p>
        </p:txBody>
      </p:sp>
      <p:sp>
        <p:nvSpPr>
          <p:cNvPr id="15" name="t-goal-l1b"/>
          <p:cNvSpPr txBox="1"/>
          <p:nvPr/>
        </p:nvSpPr>
        <p:spPr>
          <a:xfrm>
            <a:off x="13725525" y="5715000"/>
            <a:ext cx="2571750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006ECF"/>
                </a:solidFill>
                <a:latin typeface="Microsoft YaHei"/>
                <a:ea typeface="Microsoft YaHei"/>
                <a:cs typeface="Microsoft YaHei"/>
              </a:rPr>
              <a:t>99.90%</a:t>
            </a:r>
          </a:p>
        </p:txBody>
      </p:sp>
      <p:sp>
        <p:nvSpPr>
          <p:cNvPr id="16" name="t-goal-l2a"/>
          <p:cNvSpPr txBox="1"/>
          <p:nvPr/>
        </p:nvSpPr>
        <p:spPr>
          <a:xfrm>
            <a:off x="7524750" y="6667500"/>
            <a:ext cx="6219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8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下单接口P95降至</a:t>
            </a:r>
          </a:p>
        </p:txBody>
      </p:sp>
      <p:sp>
        <p:nvSpPr>
          <p:cNvPr id="17" name="t-goal-l2b"/>
          <p:cNvSpPr txBox="1"/>
          <p:nvPr/>
        </p:nvSpPr>
        <p:spPr>
          <a:xfrm>
            <a:off x="13773150" y="6667500"/>
            <a:ext cx="1905000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006ECF"/>
                </a:solidFill>
                <a:latin typeface="Microsoft YaHei"/>
                <a:ea typeface="Microsoft YaHei"/>
                <a:cs typeface="Microsoft YaHei"/>
              </a:rPr>
              <a:t>1.5秒</a:t>
            </a:r>
          </a:p>
        </p:txBody>
      </p:sp>
      <p:sp>
        <p:nvSpPr>
          <p:cNvPr id="18" name="t-res-label"/>
          <p:cNvSpPr txBox="1"/>
          <p:nvPr/>
        </p:nvSpPr>
        <p:spPr>
          <a:xfrm>
            <a:off x="25241250" y="3886200"/>
            <a:ext cx="2000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Result</a:t>
            </a:r>
          </a:p>
        </p:txBody>
      </p:sp>
      <p:sp>
        <p:nvSpPr>
          <p:cNvPr id="19" name="res-pill"/>
          <p:cNvSpPr/>
          <p:nvPr/>
        </p:nvSpPr>
        <p:spPr>
          <a:xfrm>
            <a:off x="24517350" y="4419600"/>
            <a:ext cx="3467100" cy="895350"/>
          </a:xfrm>
          <a:prstGeom prst="roundRect">
            <a:avLst>
              <a:gd name="adj" fmla="val 50000"/>
            </a:avLst>
          </a:prstGeom>
          <a:solidFill>
            <a:srgbClr val="006E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-res-pill"/>
          <p:cNvSpPr txBox="1"/>
          <p:nvPr/>
        </p:nvSpPr>
        <p:spPr>
          <a:xfrm>
            <a:off x="24517350" y="4419600"/>
            <a:ext cx="346710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完成情况</a:t>
            </a:r>
          </a:p>
        </p:txBody>
      </p:sp>
      <p:sp>
        <p:nvSpPr>
          <p:cNvPr id="21" name="t-res-l1a"/>
          <p:cNvSpPr txBox="1"/>
          <p:nvPr/>
        </p:nvSpPr>
        <p:spPr>
          <a:xfrm>
            <a:off x="21583650" y="5715000"/>
            <a:ext cx="66389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8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目标达成，成功率达到</a:t>
            </a:r>
          </a:p>
        </p:txBody>
      </p:sp>
      <p:sp>
        <p:nvSpPr>
          <p:cNvPr id="22" name="t-res-l1b"/>
          <p:cNvSpPr txBox="1"/>
          <p:nvPr/>
        </p:nvSpPr>
        <p:spPr>
          <a:xfrm>
            <a:off x="28251150" y="5715000"/>
            <a:ext cx="1978030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006ECF"/>
                </a:solidFill>
                <a:latin typeface="Microsoft YaHei"/>
                <a:ea typeface="Microsoft YaHei"/>
                <a:cs typeface="Microsoft YaHei"/>
              </a:rPr>
              <a:t>99.95%</a:t>
            </a:r>
          </a:p>
        </p:txBody>
      </p:sp>
      <p:sp>
        <p:nvSpPr>
          <p:cNvPr id="23" name="t-res-l2a"/>
          <p:cNvSpPr txBox="1"/>
          <p:nvPr/>
        </p:nvSpPr>
        <p:spPr>
          <a:xfrm>
            <a:off x="21717000" y="6667500"/>
            <a:ext cx="6229350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8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下单接口P95降至</a:t>
            </a:r>
          </a:p>
        </p:txBody>
      </p:sp>
      <p:sp>
        <p:nvSpPr>
          <p:cNvPr id="24" name="t-res-l2b"/>
          <p:cNvSpPr txBox="1"/>
          <p:nvPr/>
        </p:nvSpPr>
        <p:spPr>
          <a:xfrm>
            <a:off x="27974925" y="6667500"/>
            <a:ext cx="1905000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006ECF"/>
                </a:solidFill>
                <a:latin typeface="Microsoft YaHei"/>
                <a:ea typeface="Microsoft YaHei"/>
                <a:cs typeface="Microsoft YaHei"/>
              </a:rPr>
              <a:t>1.2秒</a:t>
            </a:r>
          </a:p>
        </p:txBody>
      </p:sp>
      <p:sp>
        <p:nvSpPr>
          <p:cNvPr id="25" name="card"/>
          <p:cNvSpPr/>
          <p:nvPr/>
        </p:nvSpPr>
        <p:spPr>
          <a:xfrm>
            <a:off x="7258050" y="8572500"/>
            <a:ext cx="23488650" cy="6572250"/>
          </a:xfrm>
          <a:prstGeom prst="roundRect">
            <a:avLst>
              <a:gd name="adj" fmla="val 2608"/>
            </a:avLst>
          </a:prstGeom>
          <a:solidFill>
            <a:srgbClr val="F1F8FF"/>
          </a:solidFill>
          <a:ln w="23812">
            <a:solidFill>
              <a:srgbClr val="C6D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divider"/>
          <p:cNvCxnSpPr/>
          <p:nvPr/>
        </p:nvCxnSpPr>
        <p:spPr>
          <a:xfrm>
            <a:off x="18059400" y="9620250"/>
            <a:ext cx="0" cy="5200650"/>
          </a:xfrm>
          <a:prstGeom prst="line">
            <a:avLst/>
          </a:prstGeom>
          <a:ln w="28575">
            <a:solidFill>
              <a:srgbClr val="C6DFF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al-tab"/>
          <p:cNvSpPr/>
          <p:nvPr/>
        </p:nvSpPr>
        <p:spPr>
          <a:xfrm>
            <a:off x="17297400" y="8991600"/>
            <a:ext cx="3657600" cy="1371600"/>
          </a:xfrm>
          <a:prstGeom prst="rect">
            <a:avLst/>
          </a:prstGeom>
          <a:solidFill>
            <a:srgbClr val="17B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-teal-1"/>
          <p:cNvSpPr txBox="1"/>
          <p:nvPr/>
        </p:nvSpPr>
        <p:spPr>
          <a:xfrm>
            <a:off x="17230725" y="9048750"/>
            <a:ext cx="3657600" cy="628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过程分析</a:t>
            </a:r>
          </a:p>
        </p:txBody>
      </p:sp>
      <p:sp>
        <p:nvSpPr>
          <p:cNvPr id="29" name="t-teal-2"/>
          <p:cNvSpPr txBox="1"/>
          <p:nvPr/>
        </p:nvSpPr>
        <p:spPr>
          <a:xfrm>
            <a:off x="17230725" y="9591675"/>
            <a:ext cx="3657600" cy="628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成功的原因</a:t>
            </a:r>
          </a:p>
        </p:txBody>
      </p:sp>
      <p:sp>
        <p:nvSpPr>
          <p:cNvPr id="30" name="t-subj-head"/>
          <p:cNvSpPr txBox="1"/>
          <p:nvPr/>
        </p:nvSpPr>
        <p:spPr>
          <a:xfrm>
            <a:off x="11239500" y="10115550"/>
            <a:ext cx="33337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1" i="0">
                <a:solidFill>
                  <a:srgbClr val="06549E"/>
                </a:solidFill>
                <a:latin typeface="Microsoft YaHei"/>
                <a:ea typeface="Microsoft YaHei"/>
                <a:cs typeface="Microsoft YaHei"/>
              </a:rPr>
              <a:t>主观原因</a:t>
            </a:r>
          </a:p>
        </p:txBody>
      </p:sp>
      <p:sp>
        <p:nvSpPr>
          <p:cNvPr id="31" name="t-obj-head"/>
          <p:cNvSpPr txBox="1"/>
          <p:nvPr/>
        </p:nvSpPr>
        <p:spPr>
          <a:xfrm>
            <a:off x="23526750" y="10115550"/>
            <a:ext cx="33528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1" i="0">
                <a:solidFill>
                  <a:srgbClr val="06549E"/>
                </a:solidFill>
                <a:latin typeface="Microsoft YaHei"/>
                <a:ea typeface="Microsoft YaHei"/>
                <a:cs typeface="Microsoft YaHei"/>
              </a:rPr>
              <a:t>客观原因</a:t>
            </a:r>
          </a:p>
        </p:txBody>
      </p:sp>
      <p:cxnSp>
        <p:nvCxnSpPr>
          <p:cNvPr id="32" name="head-rule-0"/>
          <p:cNvCxnSpPr/>
          <p:nvPr/>
        </p:nvCxnSpPr>
        <p:spPr>
          <a:xfrm>
            <a:off x="9582150" y="10410825"/>
            <a:ext cx="2066925" cy="0"/>
          </a:xfrm>
          <a:prstGeom prst="line">
            <a:avLst/>
          </a:prstGeom>
          <a:ln w="23812">
            <a:solidFill>
              <a:srgbClr val="A6A6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head-rule-1"/>
          <p:cNvCxnSpPr/>
          <p:nvPr/>
        </p:nvCxnSpPr>
        <p:spPr>
          <a:xfrm>
            <a:off x="14154150" y="10410825"/>
            <a:ext cx="2066925" cy="0"/>
          </a:xfrm>
          <a:prstGeom prst="line">
            <a:avLst/>
          </a:prstGeom>
          <a:ln w="23812">
            <a:solidFill>
              <a:srgbClr val="A6A6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head-rule-2"/>
          <p:cNvCxnSpPr/>
          <p:nvPr/>
        </p:nvCxnSpPr>
        <p:spPr>
          <a:xfrm>
            <a:off x="21897975" y="10410825"/>
            <a:ext cx="2038350" cy="0"/>
          </a:xfrm>
          <a:prstGeom prst="line">
            <a:avLst/>
          </a:prstGeom>
          <a:ln w="23812">
            <a:solidFill>
              <a:srgbClr val="A6A6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head-rule-3"/>
          <p:cNvCxnSpPr/>
          <p:nvPr/>
        </p:nvCxnSpPr>
        <p:spPr>
          <a:xfrm>
            <a:off x="26441400" y="10410825"/>
            <a:ext cx="2066925" cy="0"/>
          </a:xfrm>
          <a:prstGeom prst="line">
            <a:avLst/>
          </a:prstGeom>
          <a:ln w="23812">
            <a:solidFill>
              <a:srgbClr val="A6A6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-subj-1"/>
          <p:cNvSpPr txBox="1"/>
          <p:nvPr/>
        </p:nvSpPr>
        <p:spPr>
          <a:xfrm>
            <a:off x="7734300" y="10925175"/>
            <a:ext cx="96202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50" b="0" i="0">
                <a:solidFill>
                  <a:srgbClr val="3F4042"/>
                </a:solidFill>
                <a:latin typeface="Microsoft YaHei"/>
                <a:ea typeface="Microsoft YaHei"/>
                <a:cs typeface="Microsoft YaHei"/>
              </a:rPr>
              <a:t>1、目标明确：以成功率99.20%、P95耗时</a:t>
            </a:r>
          </a:p>
        </p:txBody>
      </p:sp>
      <p:sp>
        <p:nvSpPr>
          <p:cNvPr id="37" name="t-subj-2"/>
          <p:cNvSpPr txBox="1"/>
          <p:nvPr/>
        </p:nvSpPr>
        <p:spPr>
          <a:xfrm>
            <a:off x="7734300" y="11734800"/>
            <a:ext cx="96202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50" b="0" i="0">
                <a:solidFill>
                  <a:srgbClr val="3F4042"/>
                </a:solidFill>
                <a:latin typeface="Microsoft YaHei"/>
                <a:ea typeface="Microsoft YaHei"/>
                <a:cs typeface="Microsoft YaHei"/>
              </a:rPr>
              <a:t>3.2秒为基线，拆解季度目标，按周复盘。</a:t>
            </a:r>
          </a:p>
        </p:txBody>
      </p:sp>
      <p:sp>
        <p:nvSpPr>
          <p:cNvPr id="38" name="t-subj-3"/>
          <p:cNvSpPr txBox="1"/>
          <p:nvPr/>
        </p:nvSpPr>
        <p:spPr>
          <a:xfrm>
            <a:off x="7734300" y="12534900"/>
            <a:ext cx="96202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50" b="0" i="0">
                <a:solidFill>
                  <a:srgbClr val="3F4042"/>
                </a:solidFill>
                <a:latin typeface="Microsoft YaHei"/>
                <a:ea typeface="Microsoft YaHei"/>
                <a:cs typeface="Microsoft YaHei"/>
              </a:rPr>
              <a:t>研发、产品与测试共同跟踪异常订单。</a:t>
            </a:r>
          </a:p>
        </p:txBody>
      </p:sp>
      <p:sp>
        <p:nvSpPr>
          <p:cNvPr id="39" name="t-subj-4"/>
          <p:cNvSpPr txBox="1"/>
          <p:nvPr/>
        </p:nvSpPr>
        <p:spPr>
          <a:xfrm>
            <a:off x="7734300" y="13354050"/>
            <a:ext cx="96202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50" b="0" i="0">
                <a:solidFill>
                  <a:srgbClr val="3F4042"/>
                </a:solidFill>
                <a:latin typeface="Microsoft YaHei"/>
                <a:ea typeface="Microsoft YaHei"/>
                <a:cs typeface="Microsoft YaHei"/>
              </a:rPr>
              <a:t>2、链路治理：统一超时与重试预算，补齐</a:t>
            </a:r>
          </a:p>
        </p:txBody>
      </p:sp>
      <p:sp>
        <p:nvSpPr>
          <p:cNvPr id="40" name="t-subj-5"/>
          <p:cNvSpPr txBox="1"/>
          <p:nvPr/>
        </p:nvSpPr>
        <p:spPr>
          <a:xfrm>
            <a:off x="7734300" y="14154150"/>
            <a:ext cx="96202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50" b="0" i="0">
                <a:solidFill>
                  <a:srgbClr val="3F4042"/>
                </a:solidFill>
                <a:latin typeface="Microsoft YaHei"/>
                <a:ea typeface="Microsoft YaHei"/>
                <a:cs typeface="Microsoft YaHei"/>
              </a:rPr>
              <a:t>幂等校验，结合灰度发布与快速回滚。</a:t>
            </a:r>
          </a:p>
        </p:txBody>
      </p:sp>
      <p:sp>
        <p:nvSpPr>
          <p:cNvPr id="41" name="t-obj-1"/>
          <p:cNvSpPr txBox="1"/>
          <p:nvPr/>
        </p:nvSpPr>
        <p:spPr>
          <a:xfrm>
            <a:off x="20373975" y="10877550"/>
            <a:ext cx="96202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50" b="0" i="0">
                <a:solidFill>
                  <a:srgbClr val="3F4042"/>
                </a:solidFill>
                <a:latin typeface="Microsoft YaHei"/>
                <a:ea typeface="Microsoft YaHei"/>
                <a:cs typeface="Microsoft YaHei"/>
              </a:rPr>
              <a:t>1、上游改善：供应商同步治理接口抖动，</a:t>
            </a:r>
          </a:p>
        </p:txBody>
      </p:sp>
      <p:sp>
        <p:nvSpPr>
          <p:cNvPr id="42" name="t-obj-2"/>
          <p:cNvSpPr txBox="1"/>
          <p:nvPr/>
        </p:nvSpPr>
        <p:spPr>
          <a:xfrm>
            <a:off x="20373975" y="11687175"/>
            <a:ext cx="96202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50" b="0" i="0">
                <a:solidFill>
                  <a:srgbClr val="3F4042"/>
                </a:solidFill>
                <a:latin typeface="Microsoft YaHei"/>
                <a:ea typeface="Microsoft YaHei"/>
                <a:cs typeface="Microsoft YaHei"/>
              </a:rPr>
              <a:t>配合统一错误码，降低上游超时与误重试。</a:t>
            </a:r>
          </a:p>
        </p:txBody>
      </p:sp>
      <p:sp>
        <p:nvSpPr>
          <p:cNvPr id="43" name="t-obj-3"/>
          <p:cNvSpPr txBox="1"/>
          <p:nvPr/>
        </p:nvSpPr>
        <p:spPr>
          <a:xfrm>
            <a:off x="20373975" y="12496800"/>
            <a:ext cx="96202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50" b="0" i="0">
                <a:solidFill>
                  <a:srgbClr val="3F4042"/>
                </a:solidFill>
                <a:latin typeface="Microsoft YaHei"/>
                <a:ea typeface="Microsoft YaHei"/>
                <a:cs typeface="Microsoft YaHei"/>
              </a:rPr>
              <a:t>2、资源保障：基础设施团队提供弹性扩容，</a:t>
            </a:r>
          </a:p>
        </p:txBody>
      </p:sp>
      <p:sp>
        <p:nvSpPr>
          <p:cNvPr id="44" name="t-obj-4"/>
          <p:cNvSpPr txBox="1"/>
          <p:nvPr/>
        </p:nvSpPr>
        <p:spPr>
          <a:xfrm>
            <a:off x="20373975" y="13306425"/>
            <a:ext cx="96202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50" b="0" i="0">
                <a:solidFill>
                  <a:srgbClr val="3F4042"/>
                </a:solidFill>
                <a:latin typeface="Microsoft YaHei"/>
                <a:ea typeface="Microsoft YaHei"/>
                <a:cs typeface="Microsoft YaHei"/>
              </a:rPr>
              <a:t>业务流量与压测预期接近，未出现超预期</a:t>
            </a:r>
          </a:p>
        </p:txBody>
      </p:sp>
      <p:sp>
        <p:nvSpPr>
          <p:cNvPr id="45" name="t-obj-5"/>
          <p:cNvSpPr txBox="1"/>
          <p:nvPr/>
        </p:nvSpPr>
        <p:spPr>
          <a:xfrm>
            <a:off x="20373975" y="14116050"/>
            <a:ext cx="96202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50" b="0" i="0">
                <a:solidFill>
                  <a:srgbClr val="3F4042"/>
                </a:solidFill>
                <a:latin typeface="Microsoft YaHei"/>
                <a:ea typeface="Microsoft YaHei"/>
                <a:cs typeface="Microsoft YaHei"/>
              </a:rPr>
              <a:t>突发，为下单链路稳定运行提供支撑。</a:t>
            </a:r>
          </a:p>
        </p:txBody>
      </p:sp>
      <p:sp>
        <p:nvSpPr>
          <p:cNvPr id="46" name="halo-l1"/>
          <p:cNvSpPr/>
          <p:nvPr/>
        </p:nvSpPr>
        <p:spPr>
          <a:xfrm>
            <a:off x="3076575" y="10210800"/>
            <a:ext cx="3419475" cy="1381125"/>
          </a:xfrm>
          <a:prstGeom prst="roundRect">
            <a:avLst>
              <a:gd name="adj" fmla="val 49655"/>
            </a:avLst>
          </a:prstGeom>
          <a:solidFill>
            <a:srgbClr val="F2FAFF"/>
          </a:solidFill>
          <a:ln w="19050">
            <a:solidFill>
              <a:srgbClr val="9CC6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ill-l1"/>
          <p:cNvSpPr/>
          <p:nvPr/>
        </p:nvSpPr>
        <p:spPr>
          <a:xfrm>
            <a:off x="3409950" y="10439400"/>
            <a:ext cx="2752725" cy="923925"/>
          </a:xfrm>
          <a:prstGeom prst="roundRect">
            <a:avLst>
              <a:gd name="adj" fmla="val 49484"/>
            </a:avLst>
          </a:prstGeom>
          <a:solidFill>
            <a:srgbClr val="006E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-pill-l1"/>
          <p:cNvSpPr txBox="1"/>
          <p:nvPr/>
        </p:nvSpPr>
        <p:spPr>
          <a:xfrm>
            <a:off x="3409950" y="10439400"/>
            <a:ext cx="2752725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2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目标明确</a:t>
            </a:r>
          </a:p>
        </p:txBody>
      </p:sp>
      <p:sp>
        <p:nvSpPr>
          <p:cNvPr id="49" name="halo-l2"/>
          <p:cNvSpPr/>
          <p:nvPr/>
        </p:nvSpPr>
        <p:spPr>
          <a:xfrm>
            <a:off x="2828925" y="12649200"/>
            <a:ext cx="3400425" cy="1371600"/>
          </a:xfrm>
          <a:prstGeom prst="roundRect">
            <a:avLst>
              <a:gd name="adj" fmla="val 50000"/>
            </a:avLst>
          </a:prstGeom>
          <a:solidFill>
            <a:srgbClr val="F2FAFF"/>
          </a:solidFill>
          <a:ln w="19050">
            <a:solidFill>
              <a:srgbClr val="9CC6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ill-l2"/>
          <p:cNvSpPr/>
          <p:nvPr/>
        </p:nvSpPr>
        <p:spPr>
          <a:xfrm>
            <a:off x="3162300" y="12877800"/>
            <a:ext cx="2733675" cy="914400"/>
          </a:xfrm>
          <a:prstGeom prst="roundRect">
            <a:avLst>
              <a:gd name="adj" fmla="val 50000"/>
            </a:avLst>
          </a:prstGeom>
          <a:solidFill>
            <a:srgbClr val="006E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-pill-l2"/>
          <p:cNvSpPr txBox="1"/>
          <p:nvPr/>
        </p:nvSpPr>
        <p:spPr>
          <a:xfrm>
            <a:off x="3162300" y="12877800"/>
            <a:ext cx="2733675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2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链路治理</a:t>
            </a:r>
          </a:p>
        </p:txBody>
      </p:sp>
      <p:sp>
        <p:nvSpPr>
          <p:cNvPr id="52" name="halo-r1"/>
          <p:cNvSpPr/>
          <p:nvPr/>
        </p:nvSpPr>
        <p:spPr>
          <a:xfrm>
            <a:off x="31442025" y="10210800"/>
            <a:ext cx="3438525" cy="1381125"/>
          </a:xfrm>
          <a:prstGeom prst="roundRect">
            <a:avLst>
              <a:gd name="adj" fmla="val 49655"/>
            </a:avLst>
          </a:prstGeom>
          <a:solidFill>
            <a:srgbClr val="F2FAFF"/>
          </a:solidFill>
          <a:ln w="19050">
            <a:solidFill>
              <a:srgbClr val="9CC6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ill-r1"/>
          <p:cNvSpPr/>
          <p:nvPr/>
        </p:nvSpPr>
        <p:spPr>
          <a:xfrm>
            <a:off x="31775400" y="10439400"/>
            <a:ext cx="2771775" cy="923925"/>
          </a:xfrm>
          <a:prstGeom prst="roundRect">
            <a:avLst>
              <a:gd name="adj" fmla="val 49484"/>
            </a:avLst>
          </a:prstGeom>
          <a:solidFill>
            <a:srgbClr val="006E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-pill-r1"/>
          <p:cNvSpPr txBox="1"/>
          <p:nvPr/>
        </p:nvSpPr>
        <p:spPr>
          <a:xfrm>
            <a:off x="31775400" y="10439400"/>
            <a:ext cx="2771775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2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上游改善</a:t>
            </a:r>
          </a:p>
        </p:txBody>
      </p:sp>
      <p:sp>
        <p:nvSpPr>
          <p:cNvPr id="55" name="halo-r2"/>
          <p:cNvSpPr/>
          <p:nvPr/>
        </p:nvSpPr>
        <p:spPr>
          <a:xfrm>
            <a:off x="31708725" y="12649200"/>
            <a:ext cx="3409950" cy="1362075"/>
          </a:xfrm>
          <a:prstGeom prst="roundRect">
            <a:avLst>
              <a:gd name="adj" fmla="val 49650"/>
            </a:avLst>
          </a:prstGeom>
          <a:solidFill>
            <a:srgbClr val="F2FAFF"/>
          </a:solidFill>
          <a:ln w="19050">
            <a:solidFill>
              <a:srgbClr val="9CC6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ill-r2"/>
          <p:cNvSpPr/>
          <p:nvPr/>
        </p:nvSpPr>
        <p:spPr>
          <a:xfrm>
            <a:off x="32042100" y="12877800"/>
            <a:ext cx="2743200" cy="904875"/>
          </a:xfrm>
          <a:prstGeom prst="roundRect">
            <a:avLst>
              <a:gd name="adj" fmla="val 49473"/>
            </a:avLst>
          </a:prstGeom>
          <a:solidFill>
            <a:srgbClr val="006E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-pill-r2"/>
          <p:cNvSpPr txBox="1"/>
          <p:nvPr/>
        </p:nvSpPr>
        <p:spPr>
          <a:xfrm>
            <a:off x="32042100" y="12877800"/>
            <a:ext cx="2743200" cy="904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2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资源保障</a:t>
            </a:r>
          </a:p>
        </p:txBody>
      </p:sp>
      <p:cxnSp>
        <p:nvCxnSpPr>
          <p:cNvPr id="58" name="conn-l1"/>
          <p:cNvCxnSpPr/>
          <p:nvPr/>
        </p:nvCxnSpPr>
        <p:spPr>
          <a:xfrm>
            <a:off x="6162675" y="10906125"/>
            <a:ext cx="1076325" cy="0"/>
          </a:xfrm>
          <a:prstGeom prst="line">
            <a:avLst/>
          </a:prstGeom>
          <a:ln w="23812">
            <a:solidFill>
              <a:srgbClr val="9CC6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-l2"/>
          <p:cNvCxnSpPr/>
          <p:nvPr/>
        </p:nvCxnSpPr>
        <p:spPr>
          <a:xfrm>
            <a:off x="5895975" y="13335000"/>
            <a:ext cx="1343025" cy="0"/>
          </a:xfrm>
          <a:prstGeom prst="line">
            <a:avLst/>
          </a:prstGeom>
          <a:ln w="23812">
            <a:solidFill>
              <a:srgbClr val="9CC6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-r1"/>
          <p:cNvCxnSpPr/>
          <p:nvPr/>
        </p:nvCxnSpPr>
        <p:spPr>
          <a:xfrm>
            <a:off x="30746700" y="10906125"/>
            <a:ext cx="1028700" cy="0"/>
          </a:xfrm>
          <a:prstGeom prst="line">
            <a:avLst/>
          </a:prstGeom>
          <a:ln w="23812">
            <a:solidFill>
              <a:srgbClr val="9CC6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-r2"/>
          <p:cNvCxnSpPr/>
          <p:nvPr/>
        </p:nvCxnSpPr>
        <p:spPr>
          <a:xfrm>
            <a:off x="30746700" y="13335000"/>
            <a:ext cx="1295400" cy="0"/>
          </a:xfrm>
          <a:prstGeom prst="line">
            <a:avLst/>
          </a:prstGeom>
          <a:ln w="23812">
            <a:solidFill>
              <a:srgbClr val="9CC6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-exec"/>
          <p:cNvCxnSpPr/>
          <p:nvPr/>
        </p:nvCxnSpPr>
        <p:spPr>
          <a:xfrm>
            <a:off x="19059525" y="7905750"/>
            <a:ext cx="0" cy="1047750"/>
          </a:xfrm>
          <a:prstGeom prst="line">
            <a:avLst/>
          </a:prstGeom>
          <a:ln w="19050">
            <a:solidFill>
              <a:srgbClr val="B9B9B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navy-bar"/>
          <p:cNvSpPr/>
          <p:nvPr/>
        </p:nvSpPr>
        <p:spPr>
          <a:xfrm>
            <a:off x="2171700" y="15440025"/>
            <a:ext cx="33861375" cy="171450"/>
          </a:xfrm>
          <a:prstGeom prst="rect">
            <a:avLst/>
          </a:prstGeom>
          <a:solidFill>
            <a:srgbClr val="064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-insight"/>
          <p:cNvSpPr txBox="1"/>
          <p:nvPr/>
        </p:nvSpPr>
        <p:spPr>
          <a:xfrm>
            <a:off x="4029075" y="16516350"/>
            <a:ext cx="1905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Insight</a:t>
            </a:r>
          </a:p>
        </p:txBody>
      </p:sp>
      <p:sp>
        <p:nvSpPr>
          <p:cNvPr id="65" name="t-guilei"/>
          <p:cNvSpPr txBox="1"/>
          <p:nvPr/>
        </p:nvSpPr>
        <p:spPr>
          <a:xfrm>
            <a:off x="4000500" y="17125950"/>
            <a:ext cx="2476500" cy="628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06549E"/>
                </a:solidFill>
                <a:latin typeface="Microsoft YaHei"/>
                <a:ea typeface="Microsoft YaHei"/>
                <a:cs typeface="Microsoft YaHei"/>
              </a:rPr>
              <a:t>归类总结</a:t>
            </a:r>
          </a:p>
        </p:txBody>
      </p:sp>
      <p:sp>
        <p:nvSpPr>
          <p:cNvPr id="66" name="t-jingyan"/>
          <p:cNvSpPr txBox="1"/>
          <p:nvPr/>
        </p:nvSpPr>
        <p:spPr>
          <a:xfrm>
            <a:off x="4000500" y="17754600"/>
            <a:ext cx="2476500" cy="628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06549E"/>
                </a:solidFill>
                <a:latin typeface="Microsoft YaHei"/>
                <a:ea typeface="Microsoft YaHei"/>
                <a:cs typeface="Microsoft YaHei"/>
              </a:rPr>
              <a:t>经验规律</a:t>
            </a:r>
          </a:p>
        </p:txBody>
      </p:sp>
      <p:sp>
        <p:nvSpPr>
          <p:cNvPr id="67" name="slab-01"/>
          <p:cNvSpPr/>
          <p:nvPr/>
        </p:nvSpPr>
        <p:spPr>
          <a:xfrm>
            <a:off x="6934200" y="16078200"/>
            <a:ext cx="12344400" cy="2895600"/>
          </a:xfrm>
          <a:prstGeom prst="rect">
            <a:avLst/>
          </a:prstGeom>
          <a:gradFill rotWithShape="1">
            <a:gsLst>
              <a:gs pos="0">
                <a:srgbClr val="0169CA"/>
              </a:gs>
              <a:gs pos="50000">
                <a:srgbClr val="055C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lab-01-top"/>
          <p:cNvSpPr/>
          <p:nvPr/>
        </p:nvSpPr>
        <p:spPr>
          <a:xfrm>
            <a:off x="6934200" y="16078200"/>
            <a:ext cx="12344400" cy="152400"/>
          </a:xfrm>
          <a:prstGeom prst="rect">
            <a:avLst/>
          </a:prstGeom>
          <a:solidFill>
            <a:srgbClr val="3D7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lab-01-side"/>
          <p:cNvSpPr/>
          <p:nvPr/>
        </p:nvSpPr>
        <p:spPr>
          <a:xfrm>
            <a:off x="19107150" y="16078200"/>
            <a:ext cx="171450" cy="2895600"/>
          </a:xfrm>
          <a:prstGeom prst="rect">
            <a:avLst/>
          </a:prstGeom>
          <a:solidFill>
            <a:srgbClr val="043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ab-01"/>
          <p:cNvSpPr/>
          <p:nvPr/>
        </p:nvSpPr>
        <p:spPr>
          <a:xfrm>
            <a:off x="6934200" y="15887700"/>
            <a:ext cx="2819400" cy="1028700"/>
          </a:xfrm>
          <a:prstGeom prst="roundRect">
            <a:avLst>
              <a:gd name="adj" fmla="val 5555"/>
            </a:avLst>
          </a:prstGeom>
          <a:solidFill>
            <a:srgbClr val="FFA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-tab-01"/>
          <p:cNvSpPr txBox="1"/>
          <p:nvPr/>
        </p:nvSpPr>
        <p:spPr>
          <a:xfrm>
            <a:off x="7592629" y="16116300"/>
            <a:ext cx="1502542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总结01</a:t>
            </a:r>
          </a:p>
        </p:txBody>
      </p:sp>
      <p:sp>
        <p:nvSpPr>
          <p:cNvPr id="72" name="t-slab-01-1"/>
          <p:cNvSpPr txBox="1"/>
          <p:nvPr/>
        </p:nvSpPr>
        <p:spPr>
          <a:xfrm>
            <a:off x="7353300" y="17268825"/>
            <a:ext cx="11525250" cy="628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目标拆到关键节点，成功率与P95同步跟踪；</a:t>
            </a:r>
          </a:p>
        </p:txBody>
      </p:sp>
      <p:sp>
        <p:nvSpPr>
          <p:cNvPr id="73" name="t-slab-01-2"/>
          <p:cNvSpPr txBox="1"/>
          <p:nvPr/>
        </p:nvSpPr>
        <p:spPr>
          <a:xfrm>
            <a:off x="7353300" y="17935575"/>
            <a:ext cx="11525250" cy="628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统一统计口径与责任人，以周度复盘持续纠偏。</a:t>
            </a:r>
          </a:p>
        </p:txBody>
      </p:sp>
      <p:sp>
        <p:nvSpPr>
          <p:cNvPr id="74" name="slab-02"/>
          <p:cNvSpPr/>
          <p:nvPr/>
        </p:nvSpPr>
        <p:spPr>
          <a:xfrm>
            <a:off x="19926300" y="16078200"/>
            <a:ext cx="12344400" cy="2895600"/>
          </a:xfrm>
          <a:prstGeom prst="rect">
            <a:avLst/>
          </a:prstGeom>
          <a:gradFill rotWithShape="1">
            <a:gsLst>
              <a:gs pos="0">
                <a:srgbClr val="0169CA"/>
              </a:gs>
              <a:gs pos="50000">
                <a:srgbClr val="055C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slab-02-top"/>
          <p:cNvSpPr/>
          <p:nvPr/>
        </p:nvSpPr>
        <p:spPr>
          <a:xfrm>
            <a:off x="19926300" y="16078200"/>
            <a:ext cx="12344400" cy="152400"/>
          </a:xfrm>
          <a:prstGeom prst="rect">
            <a:avLst/>
          </a:prstGeom>
          <a:solidFill>
            <a:srgbClr val="3D7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lab-02-side"/>
          <p:cNvSpPr/>
          <p:nvPr/>
        </p:nvSpPr>
        <p:spPr>
          <a:xfrm>
            <a:off x="32099250" y="16078200"/>
            <a:ext cx="171450" cy="2895600"/>
          </a:xfrm>
          <a:prstGeom prst="rect">
            <a:avLst/>
          </a:prstGeom>
          <a:solidFill>
            <a:srgbClr val="043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ab-02"/>
          <p:cNvSpPr/>
          <p:nvPr/>
        </p:nvSpPr>
        <p:spPr>
          <a:xfrm>
            <a:off x="19926300" y="15887700"/>
            <a:ext cx="2819400" cy="1028700"/>
          </a:xfrm>
          <a:prstGeom prst="roundRect">
            <a:avLst>
              <a:gd name="adj" fmla="val 5555"/>
            </a:avLst>
          </a:prstGeom>
          <a:solidFill>
            <a:srgbClr val="FFA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-tab-02"/>
          <p:cNvSpPr txBox="1"/>
          <p:nvPr/>
        </p:nvSpPr>
        <p:spPr>
          <a:xfrm>
            <a:off x="20584729" y="16116300"/>
            <a:ext cx="1502542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总结02</a:t>
            </a:r>
          </a:p>
        </p:txBody>
      </p:sp>
      <p:sp>
        <p:nvSpPr>
          <p:cNvPr id="79" name="t-slab-02-1"/>
          <p:cNvSpPr txBox="1"/>
          <p:nvPr/>
        </p:nvSpPr>
        <p:spPr>
          <a:xfrm>
            <a:off x="20345400" y="17268825"/>
            <a:ext cx="11525250" cy="628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将幂等、超时与回滚沉淀为通用能力，联动</a:t>
            </a:r>
          </a:p>
        </p:txBody>
      </p:sp>
      <p:sp>
        <p:nvSpPr>
          <p:cNvPr id="80" name="t-slab-02-2"/>
          <p:cNvSpPr txBox="1"/>
          <p:nvPr/>
        </p:nvSpPr>
        <p:spPr>
          <a:xfrm>
            <a:off x="20345400" y="17935575"/>
            <a:ext cx="11525250" cy="628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上游治理与容量验证，防止故障被重试放大。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