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23825" y="123825"/>
            <a:ext cx="30470475" cy="17135475"/>
          </a:xfrm>
          <a:prstGeom prst="rect">
            <a:avLst/>
          </a:prstGeom>
          <a:solidFill>
            <a:srgbClr val="FFFFFF"/>
          </a:solidFill>
          <a:ln w="1905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9" name="header"/>
          <p:cNvGrpSpPr/>
          <p:nvPr/>
        </p:nvGrpSpPr>
        <p:grpSpPr>
          <a:xfrm>
            <a:off x="9267825" y="1343025"/>
            <a:ext cx="12172950" cy="1400175"/>
            <a:chOff x="9267825" y="1343025"/>
            <a:chExt cx="12172950" cy="1400175"/>
          </a:xfrm>
        </p:grpSpPr>
        <p:sp>
          <p:nvSpPr>
            <p:cNvPr id="4" name="deco-l1"/>
            <p:cNvSpPr/>
            <p:nvPr/>
          </p:nvSpPr>
          <p:spPr>
            <a:xfrm>
              <a:off x="9267825" y="1781175"/>
              <a:ext cx="104775" cy="438150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l2"/>
            <p:cNvSpPr/>
            <p:nvPr/>
          </p:nvSpPr>
          <p:spPr>
            <a:xfrm>
              <a:off x="9582150" y="1685925"/>
              <a:ext cx="104775" cy="638175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co-l3"/>
            <p:cNvSpPr/>
            <p:nvPr/>
          </p:nvSpPr>
          <p:spPr>
            <a:xfrm>
              <a:off x="9896475" y="1619250"/>
              <a:ext cx="104775" cy="771525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eco-r1"/>
            <p:cNvSpPr/>
            <p:nvPr/>
          </p:nvSpPr>
          <p:spPr>
            <a:xfrm>
              <a:off x="21336000" y="1781175"/>
              <a:ext cx="104775" cy="438150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eco-r2"/>
            <p:cNvSpPr/>
            <p:nvPr/>
          </p:nvSpPr>
          <p:spPr>
            <a:xfrm>
              <a:off x="21021675" y="1685925"/>
              <a:ext cx="104775" cy="638175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eco-r3"/>
            <p:cNvSpPr/>
            <p:nvPr/>
          </p:nvSpPr>
          <p:spPr>
            <a:xfrm>
              <a:off x="20707350" y="1619250"/>
              <a:ext cx="104775" cy="771525"/>
            </a:xfrm>
            <a:prstGeom prst="roundRect">
              <a:avLst>
                <a:gd name="adj" fmla="val 18181"/>
              </a:avLst>
            </a:pr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itle"/>
            <p:cNvSpPr txBox="1"/>
            <p:nvPr/>
          </p:nvSpPr>
          <p:spPr>
            <a:xfrm>
              <a:off x="10337102" y="1343025"/>
              <a:ext cx="10024872" cy="14001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9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电商公司年度业务时间轴</a:t>
              </a:r>
            </a:p>
          </p:txBody>
        </p:sp>
      </p:grpSp>
      <p:grpSp>
        <p:nvGrpSpPr>
          <p:cNvPr id="116" name="col-1"/>
          <p:cNvGrpSpPr/>
          <p:nvPr/>
        </p:nvGrpSpPr>
        <p:grpSpPr>
          <a:xfrm>
            <a:off x="1685925" y="3581400"/>
            <a:ext cx="5162550" cy="11925300"/>
            <a:chOff x="1685925" y="3581400"/>
            <a:chExt cx="5162550" cy="11925300"/>
          </a:xfrm>
        </p:grpSpPr>
        <p:sp>
          <p:nvSpPr>
            <p:cNvPr id="11" name="card-1"/>
            <p:cNvSpPr/>
            <p:nvPr/>
          </p:nvSpPr>
          <p:spPr>
            <a:xfrm>
              <a:off x="1685925" y="5181600"/>
              <a:ext cx="5162550" cy="7286625"/>
            </a:xfrm>
            <a:custGeom>
              <a:avLst/>
              <a:gdLst/>
              <a:ahLst/>
              <a:cxnLst/>
              <a:rect l="l" t="t" r="r" b="b"/>
              <a:pathLst>
                <a:path w="5162550" h="7286625">
                  <a:moveTo>
                    <a:pt x="0" y="0"/>
                  </a:moveTo>
                  <a:lnTo>
                    <a:pt x="885825" y="200025"/>
                  </a:lnTo>
                  <a:lnTo>
                    <a:pt x="2581275" y="542925"/>
                  </a:lnTo>
                  <a:lnTo>
                    <a:pt x="4219575" y="590550"/>
                  </a:lnTo>
                  <a:lnTo>
                    <a:pt x="5162550" y="609600"/>
                  </a:lnTo>
                  <a:lnTo>
                    <a:pt x="5162550" y="7286625"/>
                  </a:lnTo>
                  <a:lnTo>
                    <a:pt x="2876550" y="7286625"/>
                  </a:lnTo>
                  <a:lnTo>
                    <a:pt x="2581275" y="6915150"/>
                  </a:lnTo>
                  <a:lnTo>
                    <a:pt x="2286000" y="7286625"/>
                  </a:lnTo>
                  <a:lnTo>
                    <a:pt x="0" y="7286625"/>
                  </a:lnTo>
                  <a:close/>
                </a:path>
              </a:pathLst>
            </a:cu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2" name="badgegrp-1"/>
            <p:cNvGrpSpPr/>
            <p:nvPr/>
          </p:nvGrpSpPr>
          <p:grpSpPr>
            <a:xfrm>
              <a:off x="2714625" y="3581400"/>
              <a:ext cx="3095625" cy="3086100"/>
              <a:chOff x="2714625" y="3581400"/>
              <a:chExt cx="3095625" cy="3086100"/>
            </a:xfrm>
          </p:grpSpPr>
          <p:sp>
            <p:nvSpPr>
              <p:cNvPr id="12" name="badge-1"/>
              <p:cNvSpPr/>
              <p:nvPr/>
            </p:nvSpPr>
            <p:spPr>
              <a:xfrm>
                <a:off x="2714625" y="3581400"/>
                <a:ext cx="30956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3086100">
                    <a:moveTo>
                      <a:pt x="781050" y="0"/>
                    </a:moveTo>
                    <a:lnTo>
                      <a:pt x="2324100" y="0"/>
                    </a:lnTo>
                    <a:lnTo>
                      <a:pt x="3095625" y="762000"/>
                    </a:lnTo>
                    <a:lnTo>
                      <a:pt x="3095625" y="2324100"/>
                    </a:lnTo>
                    <a:lnTo>
                      <a:pt x="2324100" y="3086100"/>
                    </a:lnTo>
                    <a:lnTo>
                      <a:pt x="781050" y="3086100"/>
                    </a:lnTo>
                    <a:lnTo>
                      <a:pt x="0" y="23241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FFFFFF"/>
              </a:solidFill>
              <a:ln w="23812">
                <a:solidFill>
                  <a:srgbClr val="5A7EF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ic1-shield"/>
              <p:cNvSpPr/>
              <p:nvPr/>
            </p:nvSpPr>
            <p:spPr>
              <a:xfrm>
                <a:off x="3762375" y="4000500"/>
                <a:ext cx="1009650" cy="942975"/>
              </a:xfrm>
              <a:custGeom>
                <a:avLst/>
                <a:gdLst/>
                <a:ahLst/>
                <a:cxnLst/>
                <a:rect l="l" t="t" r="r" b="b"/>
                <a:pathLst>
                  <a:path w="1009650" h="942975">
                    <a:moveTo>
                      <a:pt x="723900" y="0"/>
                    </a:moveTo>
                    <a:lnTo>
                      <a:pt x="857250" y="95250"/>
                    </a:lnTo>
                    <a:lnTo>
                      <a:pt x="923925" y="190500"/>
                    </a:lnTo>
                    <a:lnTo>
                      <a:pt x="990600" y="285750"/>
                    </a:lnTo>
                    <a:lnTo>
                      <a:pt x="1009650" y="381000"/>
                    </a:lnTo>
                    <a:lnTo>
                      <a:pt x="981075" y="476250"/>
                    </a:lnTo>
                    <a:lnTo>
                      <a:pt x="904875" y="571500"/>
                    </a:lnTo>
                    <a:lnTo>
                      <a:pt x="819150" y="666750"/>
                    </a:lnTo>
                    <a:lnTo>
                      <a:pt x="733425" y="762000"/>
                    </a:lnTo>
                    <a:lnTo>
                      <a:pt x="647700" y="857250"/>
                    </a:lnTo>
                    <a:lnTo>
                      <a:pt x="504825" y="942975"/>
                    </a:lnTo>
                    <a:lnTo>
                      <a:pt x="504825" y="942975"/>
                    </a:lnTo>
                    <a:lnTo>
                      <a:pt x="361950" y="857250"/>
                    </a:lnTo>
                    <a:lnTo>
                      <a:pt x="276225" y="762000"/>
                    </a:lnTo>
                    <a:lnTo>
                      <a:pt x="190500" y="666750"/>
                    </a:lnTo>
                    <a:lnTo>
                      <a:pt x="104775" y="571500"/>
                    </a:lnTo>
                    <a:lnTo>
                      <a:pt x="28575" y="476250"/>
                    </a:lnTo>
                    <a:lnTo>
                      <a:pt x="0" y="381000"/>
                    </a:lnTo>
                    <a:lnTo>
                      <a:pt x="19050" y="285750"/>
                    </a:lnTo>
                    <a:lnTo>
                      <a:pt x="85725" y="190500"/>
                    </a:lnTo>
                    <a:lnTo>
                      <a:pt x="152400" y="95250"/>
                    </a:lnTo>
                    <a:lnTo>
                      <a:pt x="285750" y="0"/>
                    </a:lnTo>
                    <a:close/>
                  </a:path>
                </a:pathLst>
              </a:cu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ic1-check"/>
              <p:cNvSpPr/>
              <p:nvPr/>
            </p:nvSpPr>
            <p:spPr>
              <a:xfrm>
                <a:off x="3886200" y="4286250"/>
                <a:ext cx="7810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419100">
                    <a:moveTo>
                      <a:pt x="0" y="0"/>
                    </a:moveTo>
                    <a:lnTo>
                      <a:pt x="381000" y="419100"/>
                    </a:lnTo>
                    <a:lnTo>
                      <a:pt x="781050" y="0"/>
                    </a:lnTo>
                  </a:path>
                </a:pathLst>
              </a:custGeom>
              <a:noFill/>
              <a:ln w="12382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month-1"/>
              <p:cNvSpPr txBox="1"/>
              <p:nvPr/>
            </p:nvSpPr>
            <p:spPr>
              <a:xfrm>
                <a:off x="3409950" y="5286375"/>
                <a:ext cx="1714500" cy="1219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6000" b="1" i="0">
                    <a:solidFill>
                      <a:srgbClr val="5A7EF8"/>
                    </a:solidFill>
                    <a:latin typeface="Microsoft YaHei"/>
                    <a:ea typeface="Microsoft YaHei"/>
                    <a:cs typeface="Microsoft YaHei"/>
                  </a:rPr>
                  <a:t>1月</a:t>
                </a:r>
              </a:p>
            </p:txBody>
          </p:sp>
        </p:grpSp>
        <p:sp>
          <p:nvSpPr>
            <p:cNvPr id="16" name="t-c1-1"/>
            <p:cNvSpPr txBox="1"/>
            <p:nvPr/>
          </p:nvSpPr>
          <p:spPr>
            <a:xfrm>
              <a:off x="2000250" y="7204710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提升用户粘性</a:t>
              </a:r>
            </a:p>
          </p:txBody>
        </p:sp>
        <p:sp>
          <p:nvSpPr>
            <p:cNvPr id="17" name="t-c1-2"/>
            <p:cNvSpPr txBox="1"/>
            <p:nvPr/>
          </p:nvSpPr>
          <p:spPr>
            <a:xfrm>
              <a:off x="2000250" y="7967662"/>
              <a:ext cx="4286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凭积分与专属权益，提升</a:t>
              </a:r>
            </a:p>
          </p:txBody>
        </p:sp>
        <p:sp>
          <p:nvSpPr>
            <p:cNvPr id="18" name="t-c1-3"/>
            <p:cNvSpPr txBox="1"/>
            <p:nvPr/>
          </p:nvSpPr>
          <p:spPr>
            <a:xfrm>
              <a:off x="2000250" y="8567738"/>
              <a:ext cx="3133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用户活跃度与留存</a:t>
              </a:r>
            </a:p>
          </p:txBody>
        </p:sp>
        <p:sp>
          <p:nvSpPr>
            <p:cNvPr id="19" name="t-c1-4"/>
            <p:cNvSpPr txBox="1"/>
            <p:nvPr/>
          </p:nvSpPr>
          <p:spPr>
            <a:xfrm>
              <a:off x="2000250" y="9800272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促进消费升级</a:t>
              </a:r>
            </a:p>
          </p:txBody>
        </p:sp>
        <p:sp>
          <p:nvSpPr>
            <p:cNvPr id="20" name="t-c1-5"/>
            <p:cNvSpPr txBox="1"/>
            <p:nvPr/>
          </p:nvSpPr>
          <p:spPr>
            <a:xfrm>
              <a:off x="2000250" y="10510838"/>
              <a:ext cx="4286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享折扣与优先权，促购高</a:t>
              </a:r>
            </a:p>
          </p:txBody>
        </p:sp>
        <p:sp>
          <p:nvSpPr>
            <p:cNvPr id="21" name="t-c1-6"/>
            <p:cNvSpPr txBox="1"/>
            <p:nvPr/>
          </p:nvSpPr>
          <p:spPr>
            <a:xfrm>
              <a:off x="2000250" y="11110912"/>
              <a:ext cx="16002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价值商品</a:t>
              </a:r>
            </a:p>
          </p:txBody>
        </p:sp>
        <p:cxnSp>
          <p:nvCxnSpPr>
            <p:cNvPr id="22" name="dash-1"/>
            <p:cNvCxnSpPr/>
            <p:nvPr/>
          </p:nvCxnSpPr>
          <p:spPr>
            <a:xfrm>
              <a:off x="2038350" y="9477375"/>
              <a:ext cx="4552950" cy="0"/>
            </a:xfrm>
            <a:prstGeom prst="line">
              <a:avLst/>
            </a:prstGeom>
            <a:ln w="19050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ark-1"/>
            <p:cNvSpPr/>
            <p:nvPr/>
          </p:nvSpPr>
          <p:spPr>
            <a:xfrm>
              <a:off x="1685925" y="12534900"/>
              <a:ext cx="5162550" cy="2971800"/>
            </a:xfrm>
            <a:custGeom>
              <a:avLst/>
              <a:gdLst/>
              <a:ahLst/>
              <a:cxnLst/>
              <a:rect l="l" t="t" r="r" b="b"/>
              <a:pathLst>
                <a:path w="5162550" h="2971800">
                  <a:moveTo>
                    <a:pt x="0" y="314325"/>
                  </a:moveTo>
                  <a:lnTo>
                    <a:pt x="2362200" y="314325"/>
                  </a:lnTo>
                  <a:lnTo>
                    <a:pt x="2581275" y="0"/>
                  </a:lnTo>
                  <a:lnTo>
                    <a:pt x="2800350" y="314325"/>
                  </a:lnTo>
                  <a:lnTo>
                    <a:pt x="5162550" y="314325"/>
                  </a:lnTo>
                  <a:lnTo>
                    <a:pt x="5162550" y="2971800"/>
                  </a:lnTo>
                  <a:lnTo>
                    <a:pt x="0" y="2971800"/>
                  </a:lnTo>
                  <a:close/>
                </a:path>
              </a:pathLst>
            </a:custGeom>
            <a:solidFill>
              <a:srgbClr val="4E6F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-d1-1"/>
            <p:cNvSpPr txBox="1"/>
            <p:nvPr/>
          </p:nvSpPr>
          <p:spPr>
            <a:xfrm>
              <a:off x="2201990" y="13257848"/>
              <a:ext cx="4120896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推出全新会员体系</a:t>
              </a:r>
            </a:p>
          </p:txBody>
        </p:sp>
        <p:sp>
          <p:nvSpPr>
            <p:cNvPr id="25" name="t-d1-2"/>
            <p:cNvSpPr txBox="1"/>
            <p:nvPr/>
          </p:nvSpPr>
          <p:spPr>
            <a:xfrm>
              <a:off x="2125028" y="14016038"/>
              <a:ext cx="42748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从多维度提升了公司在用</a:t>
              </a:r>
            </a:p>
          </p:txBody>
        </p:sp>
        <p:sp>
          <p:nvSpPr>
            <p:cNvPr id="26" name="t-d1-3"/>
            <p:cNvSpPr txBox="1"/>
            <p:nvPr/>
          </p:nvSpPr>
          <p:spPr>
            <a:xfrm>
              <a:off x="2703195" y="14616112"/>
              <a:ext cx="310896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户运营方面的能力</a:t>
              </a:r>
            </a:p>
          </p:txBody>
        </p:sp>
      </p:grpSp>
      <p:grpSp>
        <p:nvGrpSpPr>
          <p:cNvPr id="120" name="col-2"/>
          <p:cNvGrpSpPr/>
          <p:nvPr/>
        </p:nvGrpSpPr>
        <p:grpSpPr>
          <a:xfrm>
            <a:off x="7229475" y="3581400"/>
            <a:ext cx="5162550" cy="11925300"/>
            <a:chOff x="7229475" y="3581400"/>
            <a:chExt cx="5162550" cy="11925300"/>
          </a:xfrm>
        </p:grpSpPr>
        <p:sp>
          <p:nvSpPr>
            <p:cNvPr id="27" name="card-2"/>
            <p:cNvSpPr/>
            <p:nvPr/>
          </p:nvSpPr>
          <p:spPr>
            <a:xfrm>
              <a:off x="7229475" y="5181600"/>
              <a:ext cx="5162550" cy="7286625"/>
            </a:xfrm>
            <a:custGeom>
              <a:avLst/>
              <a:gdLst/>
              <a:ahLst/>
              <a:cxnLst/>
              <a:rect l="l" t="t" r="r" b="b"/>
              <a:pathLst>
                <a:path w="5162550" h="7286625">
                  <a:moveTo>
                    <a:pt x="0" y="0"/>
                  </a:moveTo>
                  <a:lnTo>
                    <a:pt x="885825" y="200025"/>
                  </a:lnTo>
                  <a:lnTo>
                    <a:pt x="2581275" y="542925"/>
                  </a:lnTo>
                  <a:lnTo>
                    <a:pt x="4219575" y="590550"/>
                  </a:lnTo>
                  <a:lnTo>
                    <a:pt x="5162550" y="609600"/>
                  </a:lnTo>
                  <a:lnTo>
                    <a:pt x="5162550" y="7286625"/>
                  </a:lnTo>
                  <a:lnTo>
                    <a:pt x="2876550" y="7286625"/>
                  </a:lnTo>
                  <a:lnTo>
                    <a:pt x="2581275" y="6915150"/>
                  </a:lnTo>
                  <a:lnTo>
                    <a:pt x="2286000" y="7286625"/>
                  </a:lnTo>
                  <a:lnTo>
                    <a:pt x="0" y="7286625"/>
                  </a:lnTo>
                  <a:close/>
                </a:path>
              </a:pathLst>
            </a:cu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3" name="badgegrp-2"/>
            <p:cNvGrpSpPr/>
            <p:nvPr/>
          </p:nvGrpSpPr>
          <p:grpSpPr>
            <a:xfrm>
              <a:off x="8258175" y="3581400"/>
              <a:ext cx="3095625" cy="3086100"/>
              <a:chOff x="8258175" y="3581400"/>
              <a:chExt cx="3095625" cy="3086100"/>
            </a:xfrm>
          </p:grpSpPr>
          <p:sp>
            <p:nvSpPr>
              <p:cNvPr id="28" name="badge-2"/>
              <p:cNvSpPr/>
              <p:nvPr/>
            </p:nvSpPr>
            <p:spPr>
              <a:xfrm>
                <a:off x="8258175" y="3581400"/>
                <a:ext cx="30956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3086100">
                    <a:moveTo>
                      <a:pt x="781050" y="0"/>
                    </a:moveTo>
                    <a:lnTo>
                      <a:pt x="2324100" y="0"/>
                    </a:lnTo>
                    <a:lnTo>
                      <a:pt x="3095625" y="762000"/>
                    </a:lnTo>
                    <a:lnTo>
                      <a:pt x="3095625" y="2324100"/>
                    </a:lnTo>
                    <a:lnTo>
                      <a:pt x="2324100" y="3086100"/>
                    </a:lnTo>
                    <a:lnTo>
                      <a:pt x="781050" y="3086100"/>
                    </a:lnTo>
                    <a:lnTo>
                      <a:pt x="0" y="23241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FFFFFF"/>
              </a:solidFill>
              <a:ln w="23812">
                <a:solidFill>
                  <a:srgbClr val="5A7EF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ic2-receipt"/>
              <p:cNvSpPr/>
              <p:nvPr/>
            </p:nvSpPr>
            <p:spPr>
              <a:xfrm>
                <a:off x="9305925" y="4000500"/>
                <a:ext cx="1019175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1019175" h="1038225">
                    <a:moveTo>
                      <a:pt x="0" y="0"/>
                    </a:moveTo>
                    <a:lnTo>
                      <a:pt x="1019175" y="0"/>
                    </a:lnTo>
                    <a:lnTo>
                      <a:pt x="1019175" y="933450"/>
                    </a:lnTo>
                    <a:lnTo>
                      <a:pt x="971550" y="1038225"/>
                    </a:lnTo>
                    <a:lnTo>
                      <a:pt x="819150" y="933450"/>
                    </a:lnTo>
                    <a:lnTo>
                      <a:pt x="666750" y="1038225"/>
                    </a:lnTo>
                    <a:lnTo>
                      <a:pt x="523875" y="933450"/>
                    </a:lnTo>
                    <a:lnTo>
                      <a:pt x="371475" y="1038225"/>
                    </a:lnTo>
                    <a:lnTo>
                      <a:pt x="209550" y="933450"/>
                    </a:lnTo>
                    <a:lnTo>
                      <a:pt x="57150" y="1038225"/>
                    </a:lnTo>
                    <a:lnTo>
                      <a:pt x="0" y="933450"/>
                    </a:lnTo>
                    <a:close/>
                  </a:path>
                </a:pathLst>
              </a:cu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ic2-topbar"/>
              <p:cNvSpPr/>
              <p:nvPr/>
            </p:nvSpPr>
            <p:spPr>
              <a:xfrm>
                <a:off x="9477375" y="4162425"/>
                <a:ext cx="695325" cy="104775"/>
              </a:xfrm>
              <a:prstGeom prst="roundRect">
                <a:avLst>
                  <a:gd name="adj" fmla="val 45454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ic2-dollar"/>
              <p:cNvSpPr txBox="1"/>
              <p:nvPr/>
            </p:nvSpPr>
            <p:spPr>
              <a:xfrm>
                <a:off x="9382125" y="4333875"/>
                <a:ext cx="457200" cy="4953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$</a:t>
                </a:r>
              </a:p>
            </p:txBody>
          </p:sp>
          <p:sp>
            <p:nvSpPr>
              <p:cNvPr id="32" name="ic2-line1"/>
              <p:cNvSpPr/>
              <p:nvPr/>
            </p:nvSpPr>
            <p:spPr>
              <a:xfrm>
                <a:off x="9867900" y="4400550"/>
                <a:ext cx="3048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ic2-line2"/>
              <p:cNvSpPr/>
              <p:nvPr/>
            </p:nvSpPr>
            <p:spPr>
              <a:xfrm>
                <a:off x="9867900" y="4657725"/>
                <a:ext cx="3048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month-2"/>
              <p:cNvSpPr txBox="1"/>
              <p:nvPr/>
            </p:nvSpPr>
            <p:spPr>
              <a:xfrm>
                <a:off x="8953500" y="5286375"/>
                <a:ext cx="1714500" cy="1219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6000" b="1" i="0">
                    <a:solidFill>
                      <a:srgbClr val="5A7EF8"/>
                    </a:solidFill>
                    <a:latin typeface="Microsoft YaHei"/>
                    <a:ea typeface="Microsoft YaHei"/>
                    <a:cs typeface="Microsoft YaHei"/>
                  </a:rPr>
                  <a:t>3月</a:t>
                </a:r>
              </a:p>
            </p:txBody>
          </p:sp>
        </p:grpSp>
        <p:sp>
          <p:nvSpPr>
            <p:cNvPr id="35" name="t-c2-1"/>
            <p:cNvSpPr txBox="1"/>
            <p:nvPr/>
          </p:nvSpPr>
          <p:spPr>
            <a:xfrm>
              <a:off x="7553325" y="7109460"/>
              <a:ext cx="3259074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开拓新市场空间</a:t>
              </a:r>
            </a:p>
          </p:txBody>
        </p:sp>
        <p:sp>
          <p:nvSpPr>
            <p:cNvPr id="36" name="t-c2-2"/>
            <p:cNvSpPr txBox="1"/>
            <p:nvPr/>
          </p:nvSpPr>
          <p:spPr>
            <a:xfrm>
              <a:off x="7543800" y="7967662"/>
              <a:ext cx="4276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进军海外新市场，拓客扩</a:t>
              </a:r>
            </a:p>
          </p:txBody>
        </p:sp>
        <p:sp>
          <p:nvSpPr>
            <p:cNvPr id="37" name="t-c2-3"/>
            <p:cNvSpPr txBox="1"/>
            <p:nvPr/>
          </p:nvSpPr>
          <p:spPr>
            <a:xfrm>
              <a:off x="7553325" y="8567738"/>
              <a:ext cx="847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覆盖</a:t>
              </a:r>
            </a:p>
          </p:txBody>
        </p:sp>
        <p:sp>
          <p:nvSpPr>
            <p:cNvPr id="38" name="t-c2-4"/>
            <p:cNvSpPr txBox="1"/>
            <p:nvPr/>
          </p:nvSpPr>
          <p:spPr>
            <a:xfrm>
              <a:off x="7572375" y="9800272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学习先进经验</a:t>
              </a:r>
            </a:p>
          </p:txBody>
        </p:sp>
        <p:sp>
          <p:nvSpPr>
            <p:cNvPr id="39" name="t-c2-5"/>
            <p:cNvSpPr txBox="1"/>
            <p:nvPr/>
          </p:nvSpPr>
          <p:spPr>
            <a:xfrm>
              <a:off x="7543800" y="10482262"/>
              <a:ext cx="4286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借鉴海外模式与技术，强</a:t>
              </a:r>
            </a:p>
          </p:txBody>
        </p:sp>
        <p:sp>
          <p:nvSpPr>
            <p:cNvPr id="40" name="t-c2-6"/>
            <p:cNvSpPr txBox="1"/>
            <p:nvPr/>
          </p:nvSpPr>
          <p:spPr>
            <a:xfrm>
              <a:off x="7543800" y="11082338"/>
              <a:ext cx="16002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综合实力</a:t>
              </a:r>
            </a:p>
          </p:txBody>
        </p:sp>
        <p:cxnSp>
          <p:nvCxnSpPr>
            <p:cNvPr id="41" name="dash-2"/>
            <p:cNvCxnSpPr/>
            <p:nvPr/>
          </p:nvCxnSpPr>
          <p:spPr>
            <a:xfrm>
              <a:off x="7581900" y="9477375"/>
              <a:ext cx="4552950" cy="0"/>
            </a:xfrm>
            <a:prstGeom prst="line">
              <a:avLst/>
            </a:prstGeom>
            <a:ln w="19050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dark-2"/>
            <p:cNvSpPr/>
            <p:nvPr/>
          </p:nvSpPr>
          <p:spPr>
            <a:xfrm>
              <a:off x="7229475" y="12534900"/>
              <a:ext cx="5162550" cy="2971800"/>
            </a:xfrm>
            <a:custGeom>
              <a:avLst/>
              <a:gdLst/>
              <a:ahLst/>
              <a:cxnLst/>
              <a:rect l="l" t="t" r="r" b="b"/>
              <a:pathLst>
                <a:path w="5162550" h="2971800">
                  <a:moveTo>
                    <a:pt x="0" y="314325"/>
                  </a:moveTo>
                  <a:lnTo>
                    <a:pt x="2362200" y="314325"/>
                  </a:lnTo>
                  <a:lnTo>
                    <a:pt x="2581275" y="0"/>
                  </a:lnTo>
                  <a:lnTo>
                    <a:pt x="2800350" y="314325"/>
                  </a:lnTo>
                  <a:lnTo>
                    <a:pt x="5162550" y="314325"/>
                  </a:lnTo>
                  <a:lnTo>
                    <a:pt x="5162550" y="2971800"/>
                  </a:lnTo>
                  <a:lnTo>
                    <a:pt x="0" y="2971800"/>
                  </a:lnTo>
                  <a:close/>
                </a:path>
              </a:pathLst>
            </a:custGeom>
            <a:solidFill>
              <a:srgbClr val="4E6F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-d2-1"/>
            <p:cNvSpPr txBox="1"/>
            <p:nvPr/>
          </p:nvSpPr>
          <p:spPr>
            <a:xfrm>
              <a:off x="7764590" y="13257848"/>
              <a:ext cx="4120896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拓展海外市场业务</a:t>
              </a:r>
            </a:p>
          </p:txBody>
        </p:sp>
        <p:sp>
          <p:nvSpPr>
            <p:cNvPr id="44" name="t-d2-2"/>
            <p:cNvSpPr txBox="1"/>
            <p:nvPr/>
          </p:nvSpPr>
          <p:spPr>
            <a:xfrm>
              <a:off x="8261032" y="13992225"/>
              <a:ext cx="310896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为公司带来了新的</a:t>
              </a:r>
            </a:p>
          </p:txBody>
        </p:sp>
        <p:sp>
          <p:nvSpPr>
            <p:cNvPr id="45" name="t-d2-3"/>
            <p:cNvSpPr txBox="1"/>
            <p:nvPr/>
          </p:nvSpPr>
          <p:spPr>
            <a:xfrm>
              <a:off x="9020175" y="14597062"/>
              <a:ext cx="16002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增长机遇</a:t>
              </a:r>
            </a:p>
          </p:txBody>
        </p:sp>
      </p:grpSp>
      <p:grpSp>
        <p:nvGrpSpPr>
          <p:cNvPr id="118" name="col-3"/>
          <p:cNvGrpSpPr/>
          <p:nvPr/>
        </p:nvGrpSpPr>
        <p:grpSpPr>
          <a:xfrm>
            <a:off x="12782550" y="3581400"/>
            <a:ext cx="5162550" cy="11925300"/>
            <a:chOff x="12782550" y="3581400"/>
            <a:chExt cx="5162550" cy="11925300"/>
          </a:xfrm>
        </p:grpSpPr>
        <p:sp>
          <p:nvSpPr>
            <p:cNvPr id="46" name="card-3"/>
            <p:cNvSpPr/>
            <p:nvPr/>
          </p:nvSpPr>
          <p:spPr>
            <a:xfrm>
              <a:off x="12782550" y="5181600"/>
              <a:ext cx="5162550" cy="7286625"/>
            </a:xfrm>
            <a:custGeom>
              <a:avLst/>
              <a:gdLst/>
              <a:ahLst/>
              <a:cxnLst/>
              <a:rect l="l" t="t" r="r" b="b"/>
              <a:pathLst>
                <a:path w="5162550" h="7286625">
                  <a:moveTo>
                    <a:pt x="0" y="0"/>
                  </a:moveTo>
                  <a:lnTo>
                    <a:pt x="885825" y="200025"/>
                  </a:lnTo>
                  <a:lnTo>
                    <a:pt x="2581275" y="542925"/>
                  </a:lnTo>
                  <a:lnTo>
                    <a:pt x="4219575" y="590550"/>
                  </a:lnTo>
                  <a:lnTo>
                    <a:pt x="5162550" y="609600"/>
                  </a:lnTo>
                  <a:lnTo>
                    <a:pt x="5162550" y="7286625"/>
                  </a:lnTo>
                  <a:lnTo>
                    <a:pt x="2876550" y="7286625"/>
                  </a:lnTo>
                  <a:lnTo>
                    <a:pt x="2581275" y="6915150"/>
                  </a:lnTo>
                  <a:lnTo>
                    <a:pt x="2286000" y="7286625"/>
                  </a:lnTo>
                  <a:lnTo>
                    <a:pt x="0" y="7286625"/>
                  </a:lnTo>
                  <a:close/>
                </a:path>
              </a:pathLst>
            </a:cu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0" name="badgegrp-3"/>
            <p:cNvGrpSpPr/>
            <p:nvPr/>
          </p:nvGrpSpPr>
          <p:grpSpPr>
            <a:xfrm>
              <a:off x="13811250" y="3581400"/>
              <a:ext cx="3095625" cy="3086100"/>
              <a:chOff x="13811250" y="3581400"/>
              <a:chExt cx="3095625" cy="3086100"/>
            </a:xfrm>
          </p:grpSpPr>
          <p:sp>
            <p:nvSpPr>
              <p:cNvPr id="47" name="badge-3"/>
              <p:cNvSpPr/>
              <p:nvPr/>
            </p:nvSpPr>
            <p:spPr>
              <a:xfrm>
                <a:off x="13811250" y="3581400"/>
                <a:ext cx="30956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3086100">
                    <a:moveTo>
                      <a:pt x="781050" y="0"/>
                    </a:moveTo>
                    <a:lnTo>
                      <a:pt x="2324100" y="0"/>
                    </a:lnTo>
                    <a:lnTo>
                      <a:pt x="3095625" y="762000"/>
                    </a:lnTo>
                    <a:lnTo>
                      <a:pt x="3095625" y="2324100"/>
                    </a:lnTo>
                    <a:lnTo>
                      <a:pt x="2324100" y="3086100"/>
                    </a:lnTo>
                    <a:lnTo>
                      <a:pt x="781050" y="3086100"/>
                    </a:lnTo>
                    <a:lnTo>
                      <a:pt x="0" y="23241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FFFFFF"/>
              </a:solidFill>
              <a:ln w="23812">
                <a:solidFill>
                  <a:srgbClr val="5A7EF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ic3-circle"/>
              <p:cNvSpPr/>
              <p:nvPr/>
            </p:nvSpPr>
            <p:spPr>
              <a:xfrm>
                <a:off x="14849475" y="3990975"/>
                <a:ext cx="1028700" cy="1028700"/>
              </a:xfrm>
              <a:prstGeom prst="ellipse">
                <a:avLst/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9" name="ic3-spoke100"/>
              <p:cNvCxnSpPr/>
              <p:nvPr/>
            </p:nvCxnSpPr>
            <p:spPr>
              <a:xfrm flipH="1" flipV="1">
                <a:off x="15271432" y="3980498"/>
                <a:ext cx="59056" cy="337184"/>
              </a:xfrm>
              <a:prstGeom prst="line">
                <a:avLst/>
              </a:prstGeom>
              <a:ln w="1047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ic3-spoke195"/>
              <p:cNvCxnSpPr/>
              <p:nvPr/>
            </p:nvCxnSpPr>
            <p:spPr>
              <a:xfrm flipH="1">
                <a:off x="14848522" y="4554855"/>
                <a:ext cx="331470" cy="88583"/>
              </a:xfrm>
              <a:prstGeom prst="line">
                <a:avLst/>
              </a:prstGeom>
              <a:ln w="1047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ic3-spoke285"/>
              <p:cNvCxnSpPr/>
              <p:nvPr/>
            </p:nvCxnSpPr>
            <p:spPr>
              <a:xfrm>
                <a:off x="15413355" y="4689158"/>
                <a:ext cx="88583" cy="331470"/>
              </a:xfrm>
              <a:prstGeom prst="line">
                <a:avLst/>
              </a:prstGeom>
              <a:ln w="1047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ic3-ring-o"/>
              <p:cNvSpPr/>
              <p:nvPr/>
            </p:nvSpPr>
            <p:spPr>
              <a:xfrm>
                <a:off x="15078075" y="4257675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ic3-ring-i"/>
              <p:cNvSpPr/>
              <p:nvPr/>
            </p:nvSpPr>
            <p:spPr>
              <a:xfrm>
                <a:off x="15192375" y="4371975"/>
                <a:ext cx="228600" cy="228600"/>
              </a:xfrm>
              <a:prstGeom prst="ellipse">
                <a:avLst/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month-3"/>
              <p:cNvSpPr txBox="1"/>
              <p:nvPr/>
            </p:nvSpPr>
            <p:spPr>
              <a:xfrm>
                <a:off x="14506575" y="5286375"/>
                <a:ext cx="1714500" cy="1219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6000" b="1" i="0">
                    <a:solidFill>
                      <a:srgbClr val="5A7EF8"/>
                    </a:solidFill>
                    <a:latin typeface="Microsoft YaHei"/>
                    <a:ea typeface="Microsoft YaHei"/>
                    <a:cs typeface="Microsoft YaHei"/>
                  </a:rPr>
                  <a:t>6月</a:t>
                </a:r>
              </a:p>
            </p:txBody>
          </p:sp>
        </p:grpSp>
        <p:sp>
          <p:nvSpPr>
            <p:cNvPr id="55" name="t-c3-1"/>
            <p:cNvSpPr txBox="1"/>
            <p:nvPr/>
          </p:nvSpPr>
          <p:spPr>
            <a:xfrm>
              <a:off x="13096875" y="7138035"/>
              <a:ext cx="3259074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提升品牌公信力</a:t>
              </a:r>
            </a:p>
          </p:txBody>
        </p:sp>
        <p:sp>
          <p:nvSpPr>
            <p:cNvPr id="56" name="t-c3-2"/>
            <p:cNvSpPr txBox="1"/>
            <p:nvPr/>
          </p:nvSpPr>
          <p:spPr>
            <a:xfrm>
              <a:off x="13096875" y="7967662"/>
              <a:ext cx="42748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借合作品牌口碑，增用户</a:t>
              </a:r>
            </a:p>
          </p:txBody>
        </p:sp>
        <p:sp>
          <p:nvSpPr>
            <p:cNvPr id="57" name="t-c3-3"/>
            <p:cNvSpPr txBox="1"/>
            <p:nvPr/>
          </p:nvSpPr>
          <p:spPr>
            <a:xfrm>
              <a:off x="13096875" y="8567738"/>
              <a:ext cx="1619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平台信任</a:t>
              </a:r>
            </a:p>
          </p:txBody>
        </p:sp>
        <p:sp>
          <p:nvSpPr>
            <p:cNvPr id="58" name="t-c3-4"/>
            <p:cNvSpPr txBox="1"/>
            <p:nvPr/>
          </p:nvSpPr>
          <p:spPr>
            <a:xfrm>
              <a:off x="13115925" y="9809798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实现互利共赢</a:t>
              </a:r>
            </a:p>
          </p:txBody>
        </p:sp>
        <p:sp>
          <p:nvSpPr>
            <p:cNvPr id="59" name="t-c3-5"/>
            <p:cNvSpPr txBox="1"/>
            <p:nvPr/>
          </p:nvSpPr>
          <p:spPr>
            <a:xfrm>
              <a:off x="13096875" y="10482262"/>
              <a:ext cx="42748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共享资源渠道，联办营销</a:t>
              </a:r>
            </a:p>
          </p:txBody>
        </p:sp>
        <p:sp>
          <p:nvSpPr>
            <p:cNvPr id="60" name="t-c3-6"/>
            <p:cNvSpPr txBox="1"/>
            <p:nvPr/>
          </p:nvSpPr>
          <p:spPr>
            <a:xfrm>
              <a:off x="13096875" y="11082338"/>
              <a:ext cx="1619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提双业绩</a:t>
              </a:r>
            </a:p>
          </p:txBody>
        </p:sp>
        <p:cxnSp>
          <p:nvCxnSpPr>
            <p:cNvPr id="61" name="dash-3"/>
            <p:cNvCxnSpPr/>
            <p:nvPr/>
          </p:nvCxnSpPr>
          <p:spPr>
            <a:xfrm>
              <a:off x="13134975" y="9477375"/>
              <a:ext cx="4552950" cy="0"/>
            </a:xfrm>
            <a:prstGeom prst="line">
              <a:avLst/>
            </a:prstGeom>
            <a:ln w="19050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dark-3"/>
            <p:cNvSpPr/>
            <p:nvPr/>
          </p:nvSpPr>
          <p:spPr>
            <a:xfrm>
              <a:off x="12782550" y="12534900"/>
              <a:ext cx="5162550" cy="2971800"/>
            </a:xfrm>
            <a:custGeom>
              <a:avLst/>
              <a:gdLst/>
              <a:ahLst/>
              <a:cxnLst/>
              <a:rect l="l" t="t" r="r" b="b"/>
              <a:pathLst>
                <a:path w="5162550" h="2971800">
                  <a:moveTo>
                    <a:pt x="0" y="314325"/>
                  </a:moveTo>
                  <a:lnTo>
                    <a:pt x="2362200" y="314325"/>
                  </a:lnTo>
                  <a:lnTo>
                    <a:pt x="2581275" y="0"/>
                  </a:lnTo>
                  <a:lnTo>
                    <a:pt x="2800350" y="314325"/>
                  </a:lnTo>
                  <a:lnTo>
                    <a:pt x="5162550" y="314325"/>
                  </a:lnTo>
                  <a:lnTo>
                    <a:pt x="5162550" y="2971800"/>
                  </a:lnTo>
                  <a:lnTo>
                    <a:pt x="0" y="2971800"/>
                  </a:lnTo>
                  <a:close/>
                </a:path>
              </a:pathLst>
            </a:custGeom>
            <a:solidFill>
              <a:srgbClr val="4E6F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-d3-1"/>
            <p:cNvSpPr txBox="1"/>
            <p:nvPr/>
          </p:nvSpPr>
          <p:spPr>
            <a:xfrm>
              <a:off x="13050583" y="13257848"/>
              <a:ext cx="4636008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与多家知名品牌达成</a:t>
              </a:r>
            </a:p>
          </p:txBody>
        </p:sp>
        <p:sp>
          <p:nvSpPr>
            <p:cNvPr id="64" name="t-d3-2"/>
            <p:cNvSpPr txBox="1"/>
            <p:nvPr/>
          </p:nvSpPr>
          <p:spPr>
            <a:xfrm>
              <a:off x="14344650" y="13924598"/>
              <a:ext cx="2066925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战略合作</a:t>
              </a:r>
            </a:p>
          </p:txBody>
        </p:sp>
        <p:sp>
          <p:nvSpPr>
            <p:cNvPr id="65" name="t-d3-3"/>
            <p:cNvSpPr txBox="1"/>
            <p:nvPr/>
          </p:nvSpPr>
          <p:spPr>
            <a:xfrm>
              <a:off x="13420725" y="14758988"/>
              <a:ext cx="38862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实现了业务的协同发展</a:t>
              </a:r>
            </a:p>
          </p:txBody>
        </p:sp>
      </p:grpSp>
      <p:grpSp>
        <p:nvGrpSpPr>
          <p:cNvPr id="117" name="col-4"/>
          <p:cNvGrpSpPr/>
          <p:nvPr/>
        </p:nvGrpSpPr>
        <p:grpSpPr>
          <a:xfrm>
            <a:off x="18326100" y="3581400"/>
            <a:ext cx="5162550" cy="11925300"/>
            <a:chOff x="18326100" y="3581400"/>
            <a:chExt cx="5162550" cy="11925300"/>
          </a:xfrm>
        </p:grpSpPr>
        <p:sp>
          <p:nvSpPr>
            <p:cNvPr id="66" name="card-4"/>
            <p:cNvSpPr/>
            <p:nvPr/>
          </p:nvSpPr>
          <p:spPr>
            <a:xfrm>
              <a:off x="18326100" y="5181600"/>
              <a:ext cx="5162550" cy="7286625"/>
            </a:xfrm>
            <a:custGeom>
              <a:avLst/>
              <a:gdLst/>
              <a:ahLst/>
              <a:cxnLst/>
              <a:rect l="l" t="t" r="r" b="b"/>
              <a:pathLst>
                <a:path w="5162550" h="7286625">
                  <a:moveTo>
                    <a:pt x="0" y="0"/>
                  </a:moveTo>
                  <a:lnTo>
                    <a:pt x="885825" y="200025"/>
                  </a:lnTo>
                  <a:lnTo>
                    <a:pt x="2581275" y="542925"/>
                  </a:lnTo>
                  <a:lnTo>
                    <a:pt x="4219575" y="590550"/>
                  </a:lnTo>
                  <a:lnTo>
                    <a:pt x="5162550" y="609600"/>
                  </a:lnTo>
                  <a:lnTo>
                    <a:pt x="5162550" y="7286625"/>
                  </a:lnTo>
                  <a:lnTo>
                    <a:pt x="2876550" y="7286625"/>
                  </a:lnTo>
                  <a:lnTo>
                    <a:pt x="2581275" y="6915150"/>
                  </a:lnTo>
                  <a:lnTo>
                    <a:pt x="2286000" y="7286625"/>
                  </a:lnTo>
                  <a:lnTo>
                    <a:pt x="0" y="7286625"/>
                  </a:lnTo>
                  <a:close/>
                </a:path>
              </a:pathLst>
            </a:cu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1" name="badgegrp-4"/>
            <p:cNvGrpSpPr/>
            <p:nvPr/>
          </p:nvGrpSpPr>
          <p:grpSpPr>
            <a:xfrm>
              <a:off x="19354800" y="3581400"/>
              <a:ext cx="3095625" cy="3086100"/>
              <a:chOff x="19354800" y="3581400"/>
              <a:chExt cx="3095625" cy="3086100"/>
            </a:xfrm>
          </p:grpSpPr>
          <p:sp>
            <p:nvSpPr>
              <p:cNvPr id="67" name="badge-4"/>
              <p:cNvSpPr/>
              <p:nvPr/>
            </p:nvSpPr>
            <p:spPr>
              <a:xfrm>
                <a:off x="19354800" y="3581400"/>
                <a:ext cx="30956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3086100">
                    <a:moveTo>
                      <a:pt x="781050" y="0"/>
                    </a:moveTo>
                    <a:lnTo>
                      <a:pt x="2324100" y="0"/>
                    </a:lnTo>
                    <a:lnTo>
                      <a:pt x="3095625" y="762000"/>
                    </a:lnTo>
                    <a:lnTo>
                      <a:pt x="3095625" y="2324100"/>
                    </a:lnTo>
                    <a:lnTo>
                      <a:pt x="2324100" y="3086100"/>
                    </a:lnTo>
                    <a:lnTo>
                      <a:pt x="781050" y="3086100"/>
                    </a:lnTo>
                    <a:lnTo>
                      <a:pt x="0" y="23241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FFFFFF"/>
              </a:solidFill>
              <a:ln w="23812">
                <a:solidFill>
                  <a:srgbClr val="5A7EF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ic4-bar1"/>
              <p:cNvSpPr/>
              <p:nvPr/>
            </p:nvSpPr>
            <p:spPr>
              <a:xfrm>
                <a:off x="20393025" y="4095750"/>
                <a:ext cx="1038225" cy="209550"/>
              </a:xfrm>
              <a:prstGeom prst="roundRect">
                <a:avLst>
                  <a:gd name="adj" fmla="val 50000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ic4-bar2"/>
              <p:cNvSpPr/>
              <p:nvPr/>
            </p:nvSpPr>
            <p:spPr>
              <a:xfrm>
                <a:off x="20393025" y="4371975"/>
                <a:ext cx="1038225" cy="295275"/>
              </a:xfrm>
              <a:prstGeom prst="roundRect">
                <a:avLst>
                  <a:gd name="adj" fmla="val 48387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ic4-bar3"/>
              <p:cNvSpPr/>
              <p:nvPr/>
            </p:nvSpPr>
            <p:spPr>
              <a:xfrm>
                <a:off x="20393025" y="4733925"/>
                <a:ext cx="1038225" cy="295275"/>
              </a:xfrm>
              <a:prstGeom prst="roundRect">
                <a:avLst>
                  <a:gd name="adj" fmla="val 48387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ic4-dot1"/>
              <p:cNvSpPr/>
              <p:nvPr/>
            </p:nvSpPr>
            <p:spPr>
              <a:xfrm>
                <a:off x="20497800" y="4133850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ic4-dot2"/>
              <p:cNvSpPr/>
              <p:nvPr/>
            </p:nvSpPr>
            <p:spPr>
              <a:xfrm>
                <a:off x="20497800" y="441007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ic4-dot3"/>
              <p:cNvSpPr/>
              <p:nvPr/>
            </p:nvSpPr>
            <p:spPr>
              <a:xfrm>
                <a:off x="20497800" y="4772025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month-4"/>
              <p:cNvSpPr txBox="1"/>
              <p:nvPr/>
            </p:nvSpPr>
            <p:spPr>
              <a:xfrm>
                <a:off x="20050125" y="5286375"/>
                <a:ext cx="1714500" cy="1219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6000" b="1" i="0">
                    <a:solidFill>
                      <a:srgbClr val="5A7EF8"/>
                    </a:solidFill>
                    <a:latin typeface="Microsoft YaHei"/>
                    <a:ea typeface="Microsoft YaHei"/>
                    <a:cs typeface="Microsoft YaHei"/>
                  </a:rPr>
                  <a:t>9月</a:t>
                </a:r>
              </a:p>
            </p:txBody>
          </p:sp>
        </p:grpSp>
        <p:sp>
          <p:nvSpPr>
            <p:cNvPr id="75" name="t-c4-1"/>
            <p:cNvSpPr txBox="1"/>
            <p:nvPr/>
          </p:nvSpPr>
          <p:spPr>
            <a:xfrm>
              <a:off x="18688050" y="7180898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提高服务效率</a:t>
              </a:r>
            </a:p>
          </p:txBody>
        </p:sp>
        <p:sp>
          <p:nvSpPr>
            <p:cNvPr id="76" name="t-c4-2"/>
            <p:cNvSpPr txBox="1"/>
            <p:nvPr/>
          </p:nvSpPr>
          <p:spPr>
            <a:xfrm>
              <a:off x="18649950" y="7967662"/>
              <a:ext cx="4276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快响咨询，减等待，升体</a:t>
              </a:r>
            </a:p>
          </p:txBody>
        </p:sp>
        <p:sp>
          <p:nvSpPr>
            <p:cNvPr id="77" name="t-c4-3"/>
            <p:cNvSpPr txBox="1"/>
            <p:nvPr/>
          </p:nvSpPr>
          <p:spPr>
            <a:xfrm>
              <a:off x="18649950" y="8567738"/>
              <a:ext cx="476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验</a:t>
              </a:r>
            </a:p>
          </p:txBody>
        </p:sp>
        <p:sp>
          <p:nvSpPr>
            <p:cNvPr id="78" name="t-c4-4"/>
            <p:cNvSpPr txBox="1"/>
            <p:nvPr/>
          </p:nvSpPr>
          <p:spPr>
            <a:xfrm>
              <a:off x="18688050" y="9800272"/>
              <a:ext cx="2809875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数据驱动优化</a:t>
              </a:r>
            </a:p>
          </p:txBody>
        </p:sp>
        <p:sp>
          <p:nvSpPr>
            <p:cNvPr id="79" name="t-c4-5"/>
            <p:cNvSpPr txBox="1"/>
            <p:nvPr/>
          </p:nvSpPr>
          <p:spPr>
            <a:xfrm>
              <a:off x="18649950" y="10482262"/>
              <a:ext cx="4276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析咨询数据，供产品服务</a:t>
              </a:r>
            </a:p>
          </p:txBody>
        </p:sp>
        <p:sp>
          <p:nvSpPr>
            <p:cNvPr id="80" name="t-c4-6"/>
            <p:cNvSpPr txBox="1"/>
            <p:nvPr/>
          </p:nvSpPr>
          <p:spPr>
            <a:xfrm>
              <a:off x="18649950" y="11077575"/>
              <a:ext cx="857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优化</a:t>
              </a:r>
            </a:p>
          </p:txBody>
        </p:sp>
        <p:cxnSp>
          <p:nvCxnSpPr>
            <p:cNvPr id="81" name="dash-4"/>
            <p:cNvCxnSpPr/>
            <p:nvPr/>
          </p:nvCxnSpPr>
          <p:spPr>
            <a:xfrm>
              <a:off x="18678525" y="9477375"/>
              <a:ext cx="4552950" cy="0"/>
            </a:xfrm>
            <a:prstGeom prst="line">
              <a:avLst/>
            </a:prstGeom>
            <a:ln w="19050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dark-4"/>
            <p:cNvSpPr/>
            <p:nvPr/>
          </p:nvSpPr>
          <p:spPr>
            <a:xfrm>
              <a:off x="18326100" y="12534900"/>
              <a:ext cx="5162550" cy="2971800"/>
            </a:xfrm>
            <a:custGeom>
              <a:avLst/>
              <a:gdLst/>
              <a:ahLst/>
              <a:cxnLst/>
              <a:rect l="l" t="t" r="r" b="b"/>
              <a:pathLst>
                <a:path w="5162550" h="2971800">
                  <a:moveTo>
                    <a:pt x="0" y="314325"/>
                  </a:moveTo>
                  <a:lnTo>
                    <a:pt x="2362200" y="314325"/>
                  </a:lnTo>
                  <a:lnTo>
                    <a:pt x="2581275" y="0"/>
                  </a:lnTo>
                  <a:lnTo>
                    <a:pt x="2800350" y="314325"/>
                  </a:lnTo>
                  <a:lnTo>
                    <a:pt x="5162550" y="314325"/>
                  </a:lnTo>
                  <a:lnTo>
                    <a:pt x="5162550" y="2971800"/>
                  </a:lnTo>
                  <a:lnTo>
                    <a:pt x="0" y="2971800"/>
                  </a:lnTo>
                  <a:close/>
                </a:path>
              </a:pathLst>
            </a:custGeom>
            <a:solidFill>
              <a:srgbClr val="4E6F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-d4-1"/>
            <p:cNvSpPr txBox="1"/>
            <p:nvPr/>
          </p:nvSpPr>
          <p:spPr>
            <a:xfrm>
              <a:off x="18856452" y="13210222"/>
              <a:ext cx="4120896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上线智能客服系统</a:t>
              </a:r>
            </a:p>
          </p:txBody>
        </p:sp>
        <p:sp>
          <p:nvSpPr>
            <p:cNvPr id="84" name="t-d4-2"/>
            <p:cNvSpPr txBox="1"/>
            <p:nvPr/>
          </p:nvSpPr>
          <p:spPr>
            <a:xfrm>
              <a:off x="19149060" y="14016038"/>
              <a:ext cx="34975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利用科技手段提升了</a:t>
              </a:r>
            </a:p>
          </p:txBody>
        </p:sp>
        <p:sp>
          <p:nvSpPr>
            <p:cNvPr id="85" name="t-d4-3"/>
            <p:cNvSpPr txBox="1"/>
            <p:nvPr/>
          </p:nvSpPr>
          <p:spPr>
            <a:xfrm>
              <a:off x="19163348" y="14616112"/>
              <a:ext cx="349758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公司的客户服务水平</a:t>
              </a:r>
            </a:p>
          </p:txBody>
        </p:sp>
      </p:grpSp>
      <p:grpSp>
        <p:nvGrpSpPr>
          <p:cNvPr id="115" name="col-5"/>
          <p:cNvGrpSpPr/>
          <p:nvPr/>
        </p:nvGrpSpPr>
        <p:grpSpPr>
          <a:xfrm>
            <a:off x="23879175" y="3581400"/>
            <a:ext cx="5162550" cy="11925300"/>
            <a:chOff x="23879175" y="3581400"/>
            <a:chExt cx="5162550" cy="11925300"/>
          </a:xfrm>
        </p:grpSpPr>
        <p:sp>
          <p:nvSpPr>
            <p:cNvPr id="86" name="card-5"/>
            <p:cNvSpPr/>
            <p:nvPr/>
          </p:nvSpPr>
          <p:spPr>
            <a:xfrm>
              <a:off x="23879175" y="5181600"/>
              <a:ext cx="5162550" cy="7286625"/>
            </a:xfrm>
            <a:custGeom>
              <a:avLst/>
              <a:gdLst/>
              <a:ahLst/>
              <a:cxnLst/>
              <a:rect l="l" t="t" r="r" b="b"/>
              <a:pathLst>
                <a:path w="5162550" h="7286625">
                  <a:moveTo>
                    <a:pt x="0" y="0"/>
                  </a:moveTo>
                  <a:lnTo>
                    <a:pt x="885825" y="200025"/>
                  </a:lnTo>
                  <a:lnTo>
                    <a:pt x="2581275" y="542925"/>
                  </a:lnTo>
                  <a:lnTo>
                    <a:pt x="4219575" y="590550"/>
                  </a:lnTo>
                  <a:lnTo>
                    <a:pt x="5162550" y="609600"/>
                  </a:lnTo>
                  <a:lnTo>
                    <a:pt x="5162550" y="7286625"/>
                  </a:lnTo>
                  <a:lnTo>
                    <a:pt x="2876550" y="7286625"/>
                  </a:lnTo>
                  <a:lnTo>
                    <a:pt x="2581275" y="6915150"/>
                  </a:lnTo>
                  <a:lnTo>
                    <a:pt x="2286000" y="7286625"/>
                  </a:lnTo>
                  <a:lnTo>
                    <a:pt x="0" y="7286625"/>
                  </a:lnTo>
                  <a:close/>
                </a:path>
              </a:pathLst>
            </a:custGeom>
            <a:solidFill>
              <a:srgbClr val="5A7E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4" name="badgegrp-5"/>
            <p:cNvGrpSpPr/>
            <p:nvPr/>
          </p:nvGrpSpPr>
          <p:grpSpPr>
            <a:xfrm>
              <a:off x="24907875" y="3581400"/>
              <a:ext cx="3095625" cy="3086100"/>
              <a:chOff x="24907875" y="3581400"/>
              <a:chExt cx="3095625" cy="3086100"/>
            </a:xfrm>
          </p:grpSpPr>
          <p:sp>
            <p:nvSpPr>
              <p:cNvPr id="87" name="badge-5"/>
              <p:cNvSpPr/>
              <p:nvPr/>
            </p:nvSpPr>
            <p:spPr>
              <a:xfrm>
                <a:off x="24907875" y="3581400"/>
                <a:ext cx="30956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3095625" h="3086100">
                    <a:moveTo>
                      <a:pt x="781050" y="0"/>
                    </a:moveTo>
                    <a:lnTo>
                      <a:pt x="2324100" y="0"/>
                    </a:lnTo>
                    <a:lnTo>
                      <a:pt x="3095625" y="762000"/>
                    </a:lnTo>
                    <a:lnTo>
                      <a:pt x="3095625" y="2324100"/>
                    </a:lnTo>
                    <a:lnTo>
                      <a:pt x="2324100" y="3086100"/>
                    </a:lnTo>
                    <a:lnTo>
                      <a:pt x="781050" y="3086100"/>
                    </a:lnTo>
                    <a:lnTo>
                      <a:pt x="0" y="23241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FFFFFF"/>
              </a:solidFill>
              <a:ln w="23812">
                <a:solidFill>
                  <a:srgbClr val="5A7EF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ic5-lid-l"/>
              <p:cNvSpPr/>
              <p:nvPr/>
            </p:nvSpPr>
            <p:spPr>
              <a:xfrm>
                <a:off x="25936575" y="4238625"/>
                <a:ext cx="495300" cy="381000"/>
              </a:xfrm>
              <a:prstGeom prst="roundRect">
                <a:avLst>
                  <a:gd name="adj" fmla="val 7500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c5-lid-r"/>
              <p:cNvSpPr/>
              <p:nvPr/>
            </p:nvSpPr>
            <p:spPr>
              <a:xfrm>
                <a:off x="26479500" y="4238625"/>
                <a:ext cx="485775" cy="381000"/>
              </a:xfrm>
              <a:prstGeom prst="roundRect">
                <a:avLst>
                  <a:gd name="adj" fmla="val 7500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ic5-body-l"/>
              <p:cNvSpPr/>
              <p:nvPr/>
            </p:nvSpPr>
            <p:spPr>
              <a:xfrm>
                <a:off x="26022300" y="4619625"/>
                <a:ext cx="409575" cy="409575"/>
              </a:xfrm>
              <a:prstGeom prst="roundRect">
                <a:avLst>
                  <a:gd name="adj" fmla="val 9302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ic5-body-r"/>
              <p:cNvSpPr/>
              <p:nvPr/>
            </p:nvSpPr>
            <p:spPr>
              <a:xfrm>
                <a:off x="26479500" y="4619625"/>
                <a:ext cx="400050" cy="409575"/>
              </a:xfrm>
              <a:prstGeom prst="roundRect">
                <a:avLst>
                  <a:gd name="adj" fmla="val 9523"/>
                </a:avLst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ic5-bow1"/>
              <p:cNvSpPr/>
              <p:nvPr/>
            </p:nvSpPr>
            <p:spPr>
              <a:xfrm>
                <a:off x="26155650" y="3962400"/>
                <a:ext cx="285750" cy="285750"/>
              </a:xfrm>
              <a:prstGeom prst="ellipse">
                <a:avLst/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ic5-bowhole1"/>
              <p:cNvSpPr/>
              <p:nvPr/>
            </p:nvSpPr>
            <p:spPr>
              <a:xfrm>
                <a:off x="26222325" y="4029075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c5-bow2"/>
              <p:cNvSpPr/>
              <p:nvPr/>
            </p:nvSpPr>
            <p:spPr>
              <a:xfrm>
                <a:off x="26460450" y="3962400"/>
                <a:ext cx="285750" cy="285750"/>
              </a:xfrm>
              <a:prstGeom prst="ellipse">
                <a:avLst/>
              </a:prstGeom>
              <a:solidFill>
                <a:srgbClr val="5A7EF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ic5-bowhole2"/>
              <p:cNvSpPr/>
              <p:nvPr/>
            </p:nvSpPr>
            <p:spPr>
              <a:xfrm>
                <a:off x="26527125" y="4029075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month-5"/>
              <p:cNvSpPr txBox="1"/>
              <p:nvPr/>
            </p:nvSpPr>
            <p:spPr>
              <a:xfrm>
                <a:off x="25603200" y="5286375"/>
                <a:ext cx="1714500" cy="12192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6000" b="1" i="0">
                    <a:solidFill>
                      <a:srgbClr val="5A7EF8"/>
                    </a:solidFill>
                    <a:latin typeface="Microsoft YaHei"/>
                    <a:ea typeface="Microsoft YaHei"/>
                    <a:cs typeface="Microsoft YaHei"/>
                  </a:rPr>
                  <a:t>12月</a:t>
                </a:r>
              </a:p>
            </p:txBody>
          </p:sp>
        </p:grpSp>
        <p:sp>
          <p:nvSpPr>
            <p:cNvPr id="97" name="t-c5-1"/>
            <p:cNvSpPr txBox="1"/>
            <p:nvPr/>
          </p:nvSpPr>
          <p:spPr>
            <a:xfrm>
              <a:off x="24193500" y="7204710"/>
              <a:ext cx="23622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提升销售额</a:t>
              </a:r>
            </a:p>
          </p:txBody>
        </p:sp>
        <p:sp>
          <p:nvSpPr>
            <p:cNvPr id="98" name="t-c5-2"/>
            <p:cNvSpPr txBox="1"/>
            <p:nvPr/>
          </p:nvSpPr>
          <p:spPr>
            <a:xfrm>
              <a:off x="24193500" y="7996238"/>
              <a:ext cx="456247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大优惠+多促销，购促销售</a:t>
              </a:r>
            </a:p>
          </p:txBody>
        </p:sp>
        <p:sp>
          <p:nvSpPr>
            <p:cNvPr id="99" name="t-c5-3"/>
            <p:cNvSpPr txBox="1"/>
            <p:nvPr/>
          </p:nvSpPr>
          <p:spPr>
            <a:xfrm>
              <a:off x="24193500" y="9800272"/>
              <a:ext cx="1905000" cy="7162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清理库存</a:t>
              </a:r>
            </a:p>
          </p:txBody>
        </p:sp>
        <p:sp>
          <p:nvSpPr>
            <p:cNvPr id="100" name="t-c5-4"/>
            <p:cNvSpPr txBox="1"/>
            <p:nvPr/>
          </p:nvSpPr>
          <p:spPr>
            <a:xfrm>
              <a:off x="24193500" y="10510838"/>
              <a:ext cx="427672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消积货、优结构，提资金</a:t>
              </a:r>
            </a:p>
          </p:txBody>
        </p:sp>
        <p:sp>
          <p:nvSpPr>
            <p:cNvPr id="101" name="t-c5-5"/>
            <p:cNvSpPr txBox="1"/>
            <p:nvPr/>
          </p:nvSpPr>
          <p:spPr>
            <a:xfrm>
              <a:off x="24193500" y="11106150"/>
              <a:ext cx="85725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周转</a:t>
              </a:r>
            </a:p>
          </p:txBody>
        </p:sp>
        <p:cxnSp>
          <p:nvCxnSpPr>
            <p:cNvPr id="102" name="dash-5"/>
            <p:cNvCxnSpPr/>
            <p:nvPr/>
          </p:nvCxnSpPr>
          <p:spPr>
            <a:xfrm>
              <a:off x="24231600" y="9477375"/>
              <a:ext cx="4552950" cy="0"/>
            </a:xfrm>
            <a:prstGeom prst="line">
              <a:avLst/>
            </a:prstGeom>
            <a:ln w="19050">
              <a:solidFill>
                <a:srgbClr val="FFFFFF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dark-5"/>
            <p:cNvSpPr/>
            <p:nvPr/>
          </p:nvSpPr>
          <p:spPr>
            <a:xfrm>
              <a:off x="23879175" y="12534900"/>
              <a:ext cx="5162550" cy="2971800"/>
            </a:xfrm>
            <a:custGeom>
              <a:avLst/>
              <a:gdLst/>
              <a:ahLst/>
              <a:cxnLst/>
              <a:rect l="l" t="t" r="r" b="b"/>
              <a:pathLst>
                <a:path w="5162550" h="2971800">
                  <a:moveTo>
                    <a:pt x="0" y="314325"/>
                  </a:moveTo>
                  <a:lnTo>
                    <a:pt x="2362200" y="314325"/>
                  </a:lnTo>
                  <a:lnTo>
                    <a:pt x="2581275" y="0"/>
                  </a:lnTo>
                  <a:lnTo>
                    <a:pt x="2800350" y="314325"/>
                  </a:lnTo>
                  <a:lnTo>
                    <a:pt x="5162550" y="314325"/>
                  </a:lnTo>
                  <a:lnTo>
                    <a:pt x="5162550" y="2971800"/>
                  </a:lnTo>
                  <a:lnTo>
                    <a:pt x="0" y="2971800"/>
                  </a:lnTo>
                  <a:close/>
                </a:path>
              </a:pathLst>
            </a:custGeom>
            <a:solidFill>
              <a:srgbClr val="4E6F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-d5-1"/>
            <p:cNvSpPr txBox="1"/>
            <p:nvPr/>
          </p:nvSpPr>
          <p:spPr>
            <a:xfrm>
              <a:off x="24910352" y="13205460"/>
              <a:ext cx="3090672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举办年度大型</a:t>
              </a:r>
            </a:p>
          </p:txBody>
        </p:sp>
        <p:sp>
          <p:nvSpPr>
            <p:cNvPr id="105" name="t-d5-2"/>
            <p:cNvSpPr txBox="1"/>
            <p:nvPr/>
          </p:nvSpPr>
          <p:spPr>
            <a:xfrm>
              <a:off x="25412700" y="13872210"/>
              <a:ext cx="2066925" cy="7924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促销活动</a:t>
              </a:r>
            </a:p>
          </p:txBody>
        </p:sp>
        <p:sp>
          <p:nvSpPr>
            <p:cNvPr id="106" name="t-d5-3"/>
            <p:cNvSpPr txBox="1"/>
            <p:nvPr/>
          </p:nvSpPr>
          <p:spPr>
            <a:xfrm>
              <a:off x="24327802" y="14758988"/>
              <a:ext cx="427482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为年度业务画上圆满句号</a:t>
              </a:r>
            </a:p>
          </p:txBody>
        </p:sp>
      </p:grpSp>
      <p:sp>
        <p:nvSpPr>
          <p:cNvPr id="107" name="axis-bar"/>
          <p:cNvSpPr/>
          <p:nvPr/>
        </p:nvSpPr>
        <p:spPr>
          <a:xfrm>
            <a:off x="1028700" y="15811500"/>
            <a:ext cx="27984450" cy="219075"/>
          </a:xfrm>
          <a:prstGeom prst="rect">
            <a:avLst/>
          </a:prstGeom>
          <a:solidFill>
            <a:srgbClr val="405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xis-arrow"/>
          <p:cNvSpPr/>
          <p:nvPr/>
        </p:nvSpPr>
        <p:spPr>
          <a:xfrm>
            <a:off x="29013150" y="15640050"/>
            <a:ext cx="676275" cy="381000"/>
          </a:xfrm>
          <a:custGeom>
            <a:avLst/>
            <a:gdLst/>
            <a:ahLst/>
            <a:cxnLst/>
            <a:rect l="l" t="t" r="r" b="b"/>
            <a:pathLst>
              <a:path w="676275" h="381000">
                <a:moveTo>
                  <a:pt x="0" y="0"/>
                </a:moveTo>
                <a:lnTo>
                  <a:pt x="676275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405B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