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-blue"/>
          <p:cNvSpPr/>
          <p:nvPr/>
        </p:nvSpPr>
        <p:spPr>
          <a:xfrm>
            <a:off x="1247775" y="1476375"/>
            <a:ext cx="1914525" cy="1381125"/>
          </a:xfrm>
          <a:prstGeom prst="rect">
            <a:avLst/>
          </a:prstGeom>
          <a:gradFill rotWithShape="1">
            <a:gsLst>
              <a:gs pos="0">
                <a:srgbClr val="F8FAFF"/>
              </a:gs>
              <a:gs pos="100000">
                <a:srgbClr val="1B3F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-gold"/>
          <p:cNvSpPr/>
          <p:nvPr/>
        </p:nvSpPr>
        <p:spPr>
          <a:xfrm>
            <a:off x="990600" y="1714500"/>
            <a:ext cx="1828800" cy="1304925"/>
          </a:xfrm>
          <a:prstGeom prst="rect">
            <a:avLst/>
          </a:prstGeom>
          <a:gradFill rotWithShape="1">
            <a:gsLst>
              <a:gs pos="0">
                <a:srgbClr val="FFFCEF"/>
              </a:gs>
              <a:gs pos="100000">
                <a:srgbClr val="FFB80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3657600" y="1314450"/>
            <a:ext cx="13591032" cy="1504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350" b="1" i="0">
                <a:solidFill>
                  <a:srgbClr val="0034B4"/>
                </a:solidFill>
                <a:latin typeface="Microsoft YaHei"/>
                <a:ea typeface="Microsoft YaHei"/>
                <a:cs typeface="Microsoft YaHei"/>
              </a:rPr>
              <a:t>项目目标：打造智慧零售新标杆</a:t>
            </a:r>
          </a:p>
        </p:txBody>
      </p:sp>
      <p:sp>
        <p:nvSpPr>
          <p:cNvPr id="6" name="head-rule"/>
          <p:cNvSpPr/>
          <p:nvPr/>
        </p:nvSpPr>
        <p:spPr>
          <a:xfrm>
            <a:off x="3486150" y="2733675"/>
            <a:ext cx="13620750" cy="38100"/>
          </a:xfrm>
          <a:prstGeom prst="rect">
            <a:avLst/>
          </a:prstGeom>
          <a:solidFill>
            <a:srgbClr val="AF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ng-guide"/>
          <p:cNvSpPr/>
          <p:nvPr/>
        </p:nvSpPr>
        <p:spPr>
          <a:xfrm>
            <a:off x="9810750" y="3571875"/>
            <a:ext cx="10782300" cy="107823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7E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2" name="card-1"/>
          <p:cNvGrpSpPr/>
          <p:nvPr/>
        </p:nvGrpSpPr>
        <p:grpSpPr>
          <a:xfrm>
            <a:off x="1609725" y="4210050"/>
            <a:ext cx="8648700" cy="4962525"/>
            <a:chOff x="1609725" y="4210050"/>
            <a:chExt cx="8648700" cy="4962525"/>
          </a:xfrm>
        </p:grpSpPr>
        <p:sp>
          <p:nvSpPr>
            <p:cNvPr id="8" name="card-1-panel"/>
            <p:cNvSpPr/>
            <p:nvPr/>
          </p:nvSpPr>
          <p:spPr>
            <a:xfrm>
              <a:off x="1609725" y="4210050"/>
              <a:ext cx="8648700" cy="4962525"/>
            </a:xfrm>
            <a:prstGeom prst="rect">
              <a:avLst/>
            </a:prstGeom>
            <a:gradFill rotWithShape="1">
              <a:gsLst>
                <a:gs pos="0">
                  <a:srgbClr val="F5F6F9"/>
                </a:gs>
                <a:gs pos="100000">
                  <a:srgbClr val="FDFDFF"/>
                </a:gs>
              </a:gsLst>
              <a:lin scaled="0" ang="16200000"/>
            </a:gradFill>
            <a:ln w="28575">
              <a:solidFill>
                <a:srgbClr val="6C86C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ard-1-icon-bg"/>
            <p:cNvSpPr/>
            <p:nvPr/>
          </p:nvSpPr>
          <p:spPr>
            <a:xfrm>
              <a:off x="2047875" y="4886325"/>
              <a:ext cx="914400" cy="914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937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5" name="card-1-icon"/>
            <p:cNvGrpSpPr/>
            <p:nvPr/>
          </p:nvGrpSpPr>
          <p:grpSpPr>
            <a:xfrm>
              <a:off x="2294572" y="5135499"/>
              <a:ext cx="421006" cy="435864"/>
              <a:chOff x="2294572" y="5135499"/>
              <a:chExt cx="421006" cy="435864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2401062" y="5135499"/>
                <a:ext cx="208026" cy="208026"/>
              </a:xfrm>
              <a:prstGeom prst="ellipse">
                <a:avLst/>
              </a:pr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2294572" y="5373243"/>
                <a:ext cx="421006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421006" h="198120">
                    <a:moveTo>
                      <a:pt x="0" y="198120"/>
                    </a:moveTo>
                    <a:lnTo>
                      <a:pt x="210503" y="0"/>
                    </a:lnTo>
                    <a:lnTo>
                      <a:pt x="421006" y="198120"/>
                    </a:lnTo>
                    <a:close/>
                  </a:path>
                </a:pathLst>
              </a:cu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" name="card-1-title"/>
            <p:cNvSpPr txBox="1"/>
            <p:nvPr/>
          </p:nvSpPr>
          <p:spPr>
            <a:xfrm>
              <a:off x="3152775" y="4819650"/>
              <a:ext cx="276225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0034B4"/>
                  </a:solidFill>
                  <a:latin typeface="Microsoft YaHei"/>
                  <a:ea typeface="Microsoft YaHei"/>
                  <a:cs typeface="Microsoft YaHei"/>
                </a:rPr>
                <a:t>用户增长</a:t>
              </a:r>
            </a:p>
          </p:txBody>
        </p:sp>
        <p:sp>
          <p:nvSpPr>
            <p:cNvPr id="13" name="card-1-div"/>
            <p:cNvSpPr/>
            <p:nvPr/>
          </p:nvSpPr>
          <p:spPr>
            <a:xfrm>
              <a:off x="3048000" y="5876925"/>
              <a:ext cx="6391275" cy="38100"/>
            </a:xfrm>
            <a:prstGeom prst="rect">
              <a:avLst/>
            </a:prstGeom>
            <a:solidFill>
              <a:srgbClr val="AFAF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rd-1-body1"/>
            <p:cNvSpPr txBox="1"/>
            <p:nvPr/>
          </p:nvSpPr>
          <p:spPr>
            <a:xfrm>
              <a:off x="3143250" y="6048375"/>
              <a:ext cx="553783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项目一年内线上会员数量增</a:t>
              </a:r>
            </a:p>
          </p:txBody>
        </p:sp>
        <p:sp>
          <p:nvSpPr>
            <p:cNvPr id="15" name="card-1-body2"/>
            <p:cNvSpPr txBox="1"/>
            <p:nvPr/>
          </p:nvSpPr>
          <p:spPr>
            <a:xfrm>
              <a:off x="3143250" y="6629400"/>
              <a:ext cx="1905000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长50%</a:t>
              </a:r>
            </a:p>
          </p:txBody>
        </p:sp>
        <p:sp>
          <p:nvSpPr>
            <p:cNvPr id="16" name="card-1-body3"/>
            <p:cNvSpPr txBox="1"/>
            <p:nvPr/>
          </p:nvSpPr>
          <p:spPr>
            <a:xfrm>
              <a:off x="3143250" y="7515225"/>
              <a:ext cx="3810000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目标规模达到50万</a:t>
              </a:r>
            </a:p>
          </p:txBody>
        </p:sp>
      </p:grpSp>
      <p:grpSp>
        <p:nvGrpSpPr>
          <p:cNvPr id="79" name="card-2"/>
          <p:cNvGrpSpPr/>
          <p:nvPr/>
        </p:nvGrpSpPr>
        <p:grpSpPr>
          <a:xfrm>
            <a:off x="19478625" y="4210050"/>
            <a:ext cx="9353550" cy="4962525"/>
            <a:chOff x="19478625" y="4210050"/>
            <a:chExt cx="9353550" cy="4962525"/>
          </a:xfrm>
        </p:grpSpPr>
        <p:sp>
          <p:nvSpPr>
            <p:cNvPr id="17" name="card-2-panel"/>
            <p:cNvSpPr/>
            <p:nvPr/>
          </p:nvSpPr>
          <p:spPr>
            <a:xfrm>
              <a:off x="19478625" y="4210050"/>
              <a:ext cx="9353550" cy="4962525"/>
            </a:xfrm>
            <a:prstGeom prst="rect">
              <a:avLst/>
            </a:prstGeom>
            <a:gradFill rotWithShape="1">
              <a:gsLst>
                <a:gs pos="0">
                  <a:srgbClr val="F5F6F9"/>
                </a:gs>
                <a:gs pos="100000">
                  <a:srgbClr val="FDFDFF"/>
                </a:gs>
              </a:gsLst>
              <a:lin scaled="0" ang="16200000"/>
            </a:gradFill>
            <a:ln w="28575">
              <a:solidFill>
                <a:srgbClr val="6C86C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card-2-icon-bg"/>
            <p:cNvSpPr/>
            <p:nvPr/>
          </p:nvSpPr>
          <p:spPr>
            <a:xfrm>
              <a:off x="27451050" y="4886325"/>
              <a:ext cx="914400" cy="914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937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6" name="card-2-icon"/>
            <p:cNvGrpSpPr/>
            <p:nvPr/>
          </p:nvGrpSpPr>
          <p:grpSpPr>
            <a:xfrm>
              <a:off x="27670506" y="5175123"/>
              <a:ext cx="475488" cy="386334"/>
              <a:chOff x="27670506" y="5175123"/>
              <a:chExt cx="475488" cy="386334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27702700" y="5175123"/>
                <a:ext cx="163449" cy="163449"/>
              </a:xfrm>
              <a:prstGeom prst="ellipse">
                <a:avLst/>
              </a:pr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27670506" y="5363337"/>
                <a:ext cx="227838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227838" h="198120">
                    <a:moveTo>
                      <a:pt x="0" y="198120"/>
                    </a:moveTo>
                    <a:lnTo>
                      <a:pt x="113919" y="0"/>
                    </a:lnTo>
                    <a:lnTo>
                      <a:pt x="227838" y="198120"/>
                    </a:lnTo>
                    <a:close/>
                  </a:path>
                </a:pathLst>
              </a:cu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7950350" y="5175123"/>
                <a:ext cx="163449" cy="163449"/>
              </a:xfrm>
              <a:prstGeom prst="ellipse">
                <a:avLst/>
              </a:pr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Freeform 21"/>
              <p:cNvSpPr/>
              <p:nvPr/>
            </p:nvSpPr>
            <p:spPr>
              <a:xfrm>
                <a:off x="27918156" y="5363337"/>
                <a:ext cx="227838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227838" h="198120">
                    <a:moveTo>
                      <a:pt x="0" y="198120"/>
                    </a:moveTo>
                    <a:lnTo>
                      <a:pt x="113919" y="0"/>
                    </a:lnTo>
                    <a:lnTo>
                      <a:pt x="227838" y="198120"/>
                    </a:lnTo>
                    <a:close/>
                  </a:path>
                </a:pathLst>
              </a:cu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" name="card-2-title"/>
            <p:cNvSpPr txBox="1"/>
            <p:nvPr/>
          </p:nvSpPr>
          <p:spPr>
            <a:xfrm>
              <a:off x="24507825" y="4819650"/>
              <a:ext cx="276225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100" b="1" i="0">
                  <a:solidFill>
                    <a:srgbClr val="0034B4"/>
                  </a:solidFill>
                  <a:latin typeface="Microsoft YaHei"/>
                  <a:ea typeface="Microsoft YaHei"/>
                  <a:cs typeface="Microsoft YaHei"/>
                </a:rPr>
                <a:t>生态协同</a:t>
              </a:r>
            </a:p>
          </p:txBody>
        </p:sp>
        <p:sp>
          <p:nvSpPr>
            <p:cNvPr id="24" name="card-2-div"/>
            <p:cNvSpPr/>
            <p:nvPr/>
          </p:nvSpPr>
          <p:spPr>
            <a:xfrm>
              <a:off x="20926425" y="5886450"/>
              <a:ext cx="6391275" cy="38100"/>
            </a:xfrm>
            <a:prstGeom prst="rect">
              <a:avLst/>
            </a:prstGeom>
            <a:solidFill>
              <a:srgbClr val="AFAF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ard-2-body1"/>
            <p:cNvSpPr txBox="1"/>
            <p:nvPr/>
          </p:nvSpPr>
          <p:spPr>
            <a:xfrm>
              <a:off x="21798915" y="6048375"/>
              <a:ext cx="553783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项目一年内线上会员数量增</a:t>
              </a:r>
            </a:p>
          </p:txBody>
        </p:sp>
        <p:sp>
          <p:nvSpPr>
            <p:cNvPr id="26" name="card-2-body2"/>
            <p:cNvSpPr txBox="1"/>
            <p:nvPr/>
          </p:nvSpPr>
          <p:spPr>
            <a:xfrm>
              <a:off x="25774650" y="6629400"/>
              <a:ext cx="149542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长50%</a:t>
              </a:r>
            </a:p>
          </p:txBody>
        </p:sp>
        <p:sp>
          <p:nvSpPr>
            <p:cNvPr id="27" name="card-2-body3"/>
            <p:cNvSpPr txBox="1"/>
            <p:nvPr/>
          </p:nvSpPr>
          <p:spPr>
            <a:xfrm>
              <a:off x="23622000" y="7515225"/>
              <a:ext cx="3810000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目标规模达到50万</a:t>
              </a:r>
            </a:p>
          </p:txBody>
        </p:sp>
      </p:grpSp>
      <p:grpSp>
        <p:nvGrpSpPr>
          <p:cNvPr id="81" name="card-3"/>
          <p:cNvGrpSpPr/>
          <p:nvPr/>
        </p:nvGrpSpPr>
        <p:grpSpPr>
          <a:xfrm>
            <a:off x="1609725" y="9372600"/>
            <a:ext cx="8648700" cy="4314825"/>
            <a:chOff x="1609725" y="9372600"/>
            <a:chExt cx="8648700" cy="4314825"/>
          </a:xfrm>
        </p:grpSpPr>
        <p:sp>
          <p:nvSpPr>
            <p:cNvPr id="28" name="card-3-panel"/>
            <p:cNvSpPr/>
            <p:nvPr/>
          </p:nvSpPr>
          <p:spPr>
            <a:xfrm>
              <a:off x="1609725" y="9372600"/>
              <a:ext cx="8648700" cy="4314825"/>
            </a:xfrm>
            <a:prstGeom prst="rect">
              <a:avLst/>
            </a:prstGeom>
            <a:gradFill rotWithShape="1">
              <a:gsLst>
                <a:gs pos="0">
                  <a:srgbClr val="F5F6F9"/>
                </a:gs>
                <a:gs pos="100000">
                  <a:srgbClr val="FDFDFF"/>
                </a:gs>
              </a:gsLst>
              <a:lin scaled="0" ang="16200000"/>
            </a:gradFill>
            <a:ln w="28575">
              <a:solidFill>
                <a:srgbClr val="6C86C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ard-3-icon-bg"/>
            <p:cNvSpPr/>
            <p:nvPr/>
          </p:nvSpPr>
          <p:spPr>
            <a:xfrm>
              <a:off x="2047875" y="9810750"/>
              <a:ext cx="914400" cy="914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937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7" name="card-3-icon"/>
            <p:cNvGrpSpPr/>
            <p:nvPr/>
          </p:nvGrpSpPr>
          <p:grpSpPr>
            <a:xfrm>
              <a:off x="2287143" y="10074783"/>
              <a:ext cx="435864" cy="386334"/>
              <a:chOff x="2287143" y="10074783"/>
              <a:chExt cx="435864" cy="386334"/>
            </a:xfrm>
          </p:grpSpPr>
          <p:cxnSp>
            <p:nvCxnSpPr>
              <p:cNvPr id="30" name="Connector 29"/>
              <p:cNvCxnSpPr/>
              <p:nvPr/>
            </p:nvCxnSpPr>
            <p:spPr>
              <a:xfrm>
                <a:off x="2287143" y="10461117"/>
                <a:ext cx="435864" cy="0"/>
              </a:xfrm>
              <a:prstGeom prst="line">
                <a:avLst/>
              </a:prstGeom>
              <a:ln w="38633">
                <a:solidFill>
                  <a:srgbClr val="09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or 30"/>
              <p:cNvCxnSpPr/>
              <p:nvPr/>
            </p:nvCxnSpPr>
            <p:spPr>
              <a:xfrm flipV="1">
                <a:off x="2287143" y="10074783"/>
                <a:ext cx="0" cy="386334"/>
              </a:xfrm>
              <a:prstGeom prst="line">
                <a:avLst/>
              </a:prstGeom>
              <a:ln w="38633">
                <a:solidFill>
                  <a:srgbClr val="09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or 31"/>
              <p:cNvCxnSpPr/>
              <p:nvPr/>
            </p:nvCxnSpPr>
            <p:spPr>
              <a:xfrm flipV="1">
                <a:off x="2341626" y="10243185"/>
                <a:ext cx="113919" cy="99060"/>
              </a:xfrm>
              <a:prstGeom prst="line">
                <a:avLst/>
              </a:prstGeom>
              <a:ln w="45072">
                <a:solidFill>
                  <a:srgbClr val="09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 32"/>
              <p:cNvCxnSpPr/>
              <p:nvPr/>
            </p:nvCxnSpPr>
            <p:spPr>
              <a:xfrm>
                <a:off x="2455545" y="10243185"/>
                <a:ext cx="104013" cy="54483"/>
              </a:xfrm>
              <a:prstGeom prst="line">
                <a:avLst/>
              </a:prstGeom>
              <a:ln w="45072">
                <a:solidFill>
                  <a:srgbClr val="09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or 33"/>
              <p:cNvCxnSpPr/>
              <p:nvPr/>
            </p:nvCxnSpPr>
            <p:spPr>
              <a:xfrm flipV="1">
                <a:off x="2559558" y="10119360"/>
                <a:ext cx="113919" cy="178308"/>
              </a:xfrm>
              <a:prstGeom prst="line">
                <a:avLst/>
              </a:prstGeom>
              <a:ln w="45072">
                <a:solidFill>
                  <a:srgbClr val="0937B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/>
              <p:cNvSpPr/>
              <p:nvPr/>
            </p:nvSpPr>
            <p:spPr>
              <a:xfrm>
                <a:off x="2638806" y="10084689"/>
                <a:ext cx="69342" cy="69342"/>
              </a:xfrm>
              <a:prstGeom prst="ellipse">
                <a:avLst/>
              </a:pr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6" name="card-3-title"/>
            <p:cNvSpPr txBox="1"/>
            <p:nvPr/>
          </p:nvSpPr>
          <p:spPr>
            <a:xfrm>
              <a:off x="3152775" y="9982200"/>
              <a:ext cx="276225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0034B4"/>
                  </a:solidFill>
                  <a:latin typeface="Microsoft YaHei"/>
                  <a:ea typeface="Microsoft YaHei"/>
                  <a:cs typeface="Microsoft YaHei"/>
                </a:rPr>
                <a:t>体验提升</a:t>
              </a:r>
            </a:p>
          </p:txBody>
        </p:sp>
        <p:sp>
          <p:nvSpPr>
            <p:cNvPr id="37" name="card-3-div"/>
            <p:cNvSpPr/>
            <p:nvPr/>
          </p:nvSpPr>
          <p:spPr>
            <a:xfrm>
              <a:off x="3048000" y="10801350"/>
              <a:ext cx="6391275" cy="38100"/>
            </a:xfrm>
            <a:prstGeom prst="rect">
              <a:avLst/>
            </a:prstGeom>
            <a:solidFill>
              <a:srgbClr val="AFAF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ard-3-body1"/>
            <p:cNvSpPr txBox="1"/>
            <p:nvPr/>
          </p:nvSpPr>
          <p:spPr>
            <a:xfrm>
              <a:off x="3143250" y="10972800"/>
              <a:ext cx="5619750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通过个性化服务，将客户满</a:t>
              </a:r>
            </a:p>
          </p:txBody>
        </p:sp>
        <p:sp>
          <p:nvSpPr>
            <p:cNvPr id="39" name="card-3-body2"/>
            <p:cNvSpPr txBox="1"/>
            <p:nvPr/>
          </p:nvSpPr>
          <p:spPr>
            <a:xfrm>
              <a:off x="3143250" y="11553825"/>
              <a:ext cx="3429000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意度提升至90%</a:t>
              </a:r>
            </a:p>
          </p:txBody>
        </p:sp>
        <p:sp>
          <p:nvSpPr>
            <p:cNvPr id="40" name="card-3-body3"/>
            <p:cNvSpPr txBox="1"/>
            <p:nvPr/>
          </p:nvSpPr>
          <p:spPr>
            <a:xfrm>
              <a:off x="3143250" y="12430125"/>
              <a:ext cx="4191000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平均客单价提高20%</a:t>
              </a:r>
            </a:p>
          </p:txBody>
        </p:sp>
      </p:grpSp>
      <p:grpSp>
        <p:nvGrpSpPr>
          <p:cNvPr id="80" name="card-4"/>
          <p:cNvGrpSpPr/>
          <p:nvPr/>
        </p:nvGrpSpPr>
        <p:grpSpPr>
          <a:xfrm>
            <a:off x="19478625" y="9372600"/>
            <a:ext cx="9353550" cy="4314825"/>
            <a:chOff x="19478625" y="9372600"/>
            <a:chExt cx="9353550" cy="4314825"/>
          </a:xfrm>
        </p:grpSpPr>
        <p:sp>
          <p:nvSpPr>
            <p:cNvPr id="41" name="card-4-panel"/>
            <p:cNvSpPr/>
            <p:nvPr/>
          </p:nvSpPr>
          <p:spPr>
            <a:xfrm>
              <a:off x="19478625" y="9372600"/>
              <a:ext cx="9353550" cy="4314825"/>
            </a:xfrm>
            <a:prstGeom prst="rect">
              <a:avLst/>
            </a:prstGeom>
            <a:gradFill rotWithShape="1">
              <a:gsLst>
                <a:gs pos="0">
                  <a:srgbClr val="F5F6F9"/>
                </a:gs>
                <a:gs pos="100000">
                  <a:srgbClr val="FDFDFF"/>
                </a:gs>
              </a:gsLst>
              <a:lin scaled="0" ang="16200000"/>
            </a:gradFill>
            <a:ln w="28575">
              <a:solidFill>
                <a:srgbClr val="6C86C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card-4-icon-bg"/>
            <p:cNvSpPr/>
            <p:nvPr/>
          </p:nvSpPr>
          <p:spPr>
            <a:xfrm>
              <a:off x="27451050" y="9810750"/>
              <a:ext cx="914400" cy="914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937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8" name="card-4-icon"/>
            <p:cNvGrpSpPr/>
            <p:nvPr/>
          </p:nvGrpSpPr>
          <p:grpSpPr>
            <a:xfrm>
              <a:off x="27754707" y="10099548"/>
              <a:ext cx="307086" cy="326898"/>
              <a:chOff x="27754707" y="10099548"/>
              <a:chExt cx="307086" cy="326898"/>
            </a:xfrm>
          </p:grpSpPr>
          <p:sp>
            <p:nvSpPr>
              <p:cNvPr id="43" name="Rounded Rectangle 42"/>
              <p:cNvSpPr/>
              <p:nvPr/>
            </p:nvSpPr>
            <p:spPr>
              <a:xfrm>
                <a:off x="27754707" y="10282809"/>
                <a:ext cx="89154" cy="143637"/>
              </a:xfrm>
              <a:prstGeom prst="roundRect">
                <a:avLst>
                  <a:gd name="adj" fmla="val 33333"/>
                </a:avLst>
              </a:pr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27863673" y="10181272"/>
                <a:ext cx="89154" cy="245173"/>
              </a:xfrm>
              <a:prstGeom prst="roundRect">
                <a:avLst>
                  <a:gd name="adj" fmla="val 33333"/>
                </a:avLst>
              </a:pr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27972639" y="10099548"/>
                <a:ext cx="89154" cy="326898"/>
              </a:xfrm>
              <a:prstGeom prst="roundRect">
                <a:avLst>
                  <a:gd name="adj" fmla="val 33333"/>
                </a:avLst>
              </a:prstGeom>
              <a:solidFill>
                <a:srgbClr val="0937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6" name="card-4-title"/>
            <p:cNvSpPr txBox="1"/>
            <p:nvPr/>
          </p:nvSpPr>
          <p:spPr>
            <a:xfrm>
              <a:off x="24507825" y="9982200"/>
              <a:ext cx="276225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100" b="1" i="0">
                  <a:solidFill>
                    <a:srgbClr val="0034B4"/>
                  </a:solidFill>
                  <a:latin typeface="Microsoft YaHei"/>
                  <a:ea typeface="Microsoft YaHei"/>
                  <a:cs typeface="Microsoft YaHei"/>
                </a:rPr>
                <a:t>效率优化</a:t>
              </a:r>
            </a:p>
          </p:txBody>
        </p:sp>
        <p:sp>
          <p:nvSpPr>
            <p:cNvPr id="47" name="card-4-div"/>
            <p:cNvSpPr/>
            <p:nvPr/>
          </p:nvSpPr>
          <p:spPr>
            <a:xfrm>
              <a:off x="20926425" y="10810875"/>
              <a:ext cx="6391275" cy="38100"/>
            </a:xfrm>
            <a:prstGeom prst="rect">
              <a:avLst/>
            </a:prstGeom>
            <a:solidFill>
              <a:srgbClr val="AFAF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card-4-body1"/>
            <p:cNvSpPr txBox="1"/>
            <p:nvPr/>
          </p:nvSpPr>
          <p:spPr>
            <a:xfrm>
              <a:off x="21798915" y="10972800"/>
              <a:ext cx="553783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跨平台订单协同处理效率提</a:t>
              </a:r>
            </a:p>
          </p:txBody>
        </p:sp>
        <p:sp>
          <p:nvSpPr>
            <p:cNvPr id="49" name="card-4-body2"/>
            <p:cNvSpPr txBox="1"/>
            <p:nvPr/>
          </p:nvSpPr>
          <p:spPr>
            <a:xfrm>
              <a:off x="25774650" y="11553825"/>
              <a:ext cx="149542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升25%</a:t>
              </a:r>
            </a:p>
          </p:txBody>
        </p:sp>
        <p:sp>
          <p:nvSpPr>
            <p:cNvPr id="50" name="card-4-body3"/>
            <p:cNvSpPr txBox="1"/>
            <p:nvPr/>
          </p:nvSpPr>
          <p:spPr>
            <a:xfrm>
              <a:off x="21202650" y="12430125"/>
              <a:ext cx="6096000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合作生态伙伴数量年增长40%</a:t>
              </a:r>
            </a:p>
          </p:txBody>
        </p:sp>
      </p:grpSp>
      <p:sp>
        <p:nvSpPr>
          <p:cNvPr id="51" name="ring-tl"/>
          <p:cNvSpPr/>
          <p:nvPr/>
        </p:nvSpPr>
        <p:spPr>
          <a:xfrm>
            <a:off x="10398442" y="4152900"/>
            <a:ext cx="5054918" cy="4687252"/>
          </a:xfrm>
          <a:custGeom>
            <a:avLst/>
            <a:gdLst/>
            <a:ahLst/>
            <a:cxnLst/>
            <a:rect l="l" t="t" r="r" b="b"/>
            <a:pathLst>
              <a:path w="5054918" h="4687252">
                <a:moveTo>
                  <a:pt x="0" y="4558665"/>
                </a:moveTo>
                <a:lnTo>
                  <a:pt x="15240" y="4349115"/>
                </a:lnTo>
                <a:lnTo>
                  <a:pt x="40006" y="4140518"/>
                </a:lnTo>
                <a:lnTo>
                  <a:pt x="74296" y="3933825"/>
                </a:lnTo>
                <a:lnTo>
                  <a:pt x="116206" y="3728085"/>
                </a:lnTo>
                <a:lnTo>
                  <a:pt x="168593" y="3524250"/>
                </a:lnTo>
                <a:lnTo>
                  <a:pt x="228600" y="3323272"/>
                </a:lnTo>
                <a:lnTo>
                  <a:pt x="298133" y="3125152"/>
                </a:lnTo>
                <a:lnTo>
                  <a:pt x="375286" y="2930842"/>
                </a:lnTo>
                <a:lnTo>
                  <a:pt x="461963" y="2739390"/>
                </a:lnTo>
                <a:lnTo>
                  <a:pt x="556260" y="2551748"/>
                </a:lnTo>
                <a:lnTo>
                  <a:pt x="659130" y="2368868"/>
                </a:lnTo>
                <a:lnTo>
                  <a:pt x="769620" y="2190750"/>
                </a:lnTo>
                <a:lnTo>
                  <a:pt x="887730" y="2016442"/>
                </a:lnTo>
                <a:lnTo>
                  <a:pt x="1013460" y="1848802"/>
                </a:lnTo>
                <a:lnTo>
                  <a:pt x="1145858" y="1685925"/>
                </a:lnTo>
                <a:lnTo>
                  <a:pt x="1285876" y="1529715"/>
                </a:lnTo>
                <a:lnTo>
                  <a:pt x="1431608" y="1379220"/>
                </a:lnTo>
                <a:lnTo>
                  <a:pt x="1584960" y="1235392"/>
                </a:lnTo>
                <a:lnTo>
                  <a:pt x="1744028" y="1098232"/>
                </a:lnTo>
                <a:lnTo>
                  <a:pt x="1908810" y="968692"/>
                </a:lnTo>
                <a:lnTo>
                  <a:pt x="2079308" y="845820"/>
                </a:lnTo>
                <a:lnTo>
                  <a:pt x="2254568" y="730568"/>
                </a:lnTo>
                <a:lnTo>
                  <a:pt x="2434590" y="623888"/>
                </a:lnTo>
                <a:lnTo>
                  <a:pt x="2619376" y="523875"/>
                </a:lnTo>
                <a:lnTo>
                  <a:pt x="2808923" y="433388"/>
                </a:lnTo>
                <a:lnTo>
                  <a:pt x="3001328" y="350520"/>
                </a:lnTo>
                <a:lnTo>
                  <a:pt x="3197543" y="276225"/>
                </a:lnTo>
                <a:lnTo>
                  <a:pt x="3397568" y="210502"/>
                </a:lnTo>
                <a:lnTo>
                  <a:pt x="3599498" y="153352"/>
                </a:lnTo>
                <a:lnTo>
                  <a:pt x="3803333" y="104775"/>
                </a:lnTo>
                <a:lnTo>
                  <a:pt x="4010026" y="65722"/>
                </a:lnTo>
                <a:lnTo>
                  <a:pt x="4217670" y="36195"/>
                </a:lnTo>
                <a:lnTo>
                  <a:pt x="4426268" y="15240"/>
                </a:lnTo>
                <a:lnTo>
                  <a:pt x="4635818" y="2858"/>
                </a:lnTo>
                <a:lnTo>
                  <a:pt x="4845368" y="0"/>
                </a:lnTo>
                <a:lnTo>
                  <a:pt x="5054918" y="6668"/>
                </a:lnTo>
                <a:lnTo>
                  <a:pt x="4926330" y="2469832"/>
                </a:lnTo>
                <a:lnTo>
                  <a:pt x="4823460" y="2466975"/>
                </a:lnTo>
                <a:lnTo>
                  <a:pt x="4721543" y="2467928"/>
                </a:lnTo>
                <a:lnTo>
                  <a:pt x="4619626" y="2474595"/>
                </a:lnTo>
                <a:lnTo>
                  <a:pt x="4517708" y="2484120"/>
                </a:lnTo>
                <a:lnTo>
                  <a:pt x="4416743" y="2499360"/>
                </a:lnTo>
                <a:lnTo>
                  <a:pt x="4316730" y="2518410"/>
                </a:lnTo>
                <a:lnTo>
                  <a:pt x="4216718" y="2541270"/>
                </a:lnTo>
                <a:lnTo>
                  <a:pt x="4118610" y="2568892"/>
                </a:lnTo>
                <a:lnTo>
                  <a:pt x="4021456" y="2601278"/>
                </a:lnTo>
                <a:lnTo>
                  <a:pt x="3925253" y="2637472"/>
                </a:lnTo>
                <a:lnTo>
                  <a:pt x="3831908" y="2677478"/>
                </a:lnTo>
                <a:lnTo>
                  <a:pt x="3739516" y="2722245"/>
                </a:lnTo>
                <a:lnTo>
                  <a:pt x="3649980" y="2770822"/>
                </a:lnTo>
                <a:lnTo>
                  <a:pt x="3561398" y="2823210"/>
                </a:lnTo>
                <a:lnTo>
                  <a:pt x="3476626" y="2879408"/>
                </a:lnTo>
                <a:lnTo>
                  <a:pt x="3393758" y="2938462"/>
                </a:lnTo>
                <a:lnTo>
                  <a:pt x="3312796" y="3002280"/>
                </a:lnTo>
                <a:lnTo>
                  <a:pt x="3235643" y="3068955"/>
                </a:lnTo>
                <a:lnTo>
                  <a:pt x="3161348" y="3138488"/>
                </a:lnTo>
                <a:lnTo>
                  <a:pt x="3089910" y="3211830"/>
                </a:lnTo>
                <a:lnTo>
                  <a:pt x="3021330" y="3288030"/>
                </a:lnTo>
                <a:lnTo>
                  <a:pt x="2956560" y="3367088"/>
                </a:lnTo>
                <a:lnTo>
                  <a:pt x="2895600" y="3449002"/>
                </a:lnTo>
                <a:lnTo>
                  <a:pt x="2838450" y="3533775"/>
                </a:lnTo>
                <a:lnTo>
                  <a:pt x="2784158" y="3620452"/>
                </a:lnTo>
                <a:lnTo>
                  <a:pt x="2734628" y="3709988"/>
                </a:lnTo>
                <a:lnTo>
                  <a:pt x="2688908" y="3801428"/>
                </a:lnTo>
                <a:lnTo>
                  <a:pt x="2646998" y="3894772"/>
                </a:lnTo>
                <a:lnTo>
                  <a:pt x="2608898" y="3989070"/>
                </a:lnTo>
                <a:lnTo>
                  <a:pt x="2574608" y="4086225"/>
                </a:lnTo>
                <a:lnTo>
                  <a:pt x="2545080" y="4184332"/>
                </a:lnTo>
                <a:lnTo>
                  <a:pt x="2520316" y="4283392"/>
                </a:lnTo>
                <a:lnTo>
                  <a:pt x="2499360" y="4383405"/>
                </a:lnTo>
                <a:lnTo>
                  <a:pt x="2483168" y="4484370"/>
                </a:lnTo>
                <a:lnTo>
                  <a:pt x="2470786" y="4585335"/>
                </a:lnTo>
                <a:lnTo>
                  <a:pt x="2463166" y="4687252"/>
                </a:lnTo>
                <a:close/>
              </a:path>
            </a:pathLst>
          </a:cu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ng-tr"/>
          <p:cNvSpPr/>
          <p:nvPr/>
        </p:nvSpPr>
        <p:spPr>
          <a:xfrm>
            <a:off x="15324772" y="4159568"/>
            <a:ext cx="4687253" cy="5054917"/>
          </a:xfrm>
          <a:custGeom>
            <a:avLst/>
            <a:gdLst/>
            <a:ahLst/>
            <a:cxnLst/>
            <a:rect l="l" t="t" r="r" b="b"/>
            <a:pathLst>
              <a:path w="4687253" h="5054917">
                <a:moveTo>
                  <a:pt x="128588" y="0"/>
                </a:moveTo>
                <a:lnTo>
                  <a:pt x="338138" y="15240"/>
                </a:lnTo>
                <a:lnTo>
                  <a:pt x="546736" y="40004"/>
                </a:lnTo>
                <a:lnTo>
                  <a:pt x="753428" y="74294"/>
                </a:lnTo>
                <a:lnTo>
                  <a:pt x="959168" y="116204"/>
                </a:lnTo>
                <a:lnTo>
                  <a:pt x="1163003" y="168592"/>
                </a:lnTo>
                <a:lnTo>
                  <a:pt x="1363980" y="228600"/>
                </a:lnTo>
                <a:lnTo>
                  <a:pt x="1562100" y="298132"/>
                </a:lnTo>
                <a:lnTo>
                  <a:pt x="1756410" y="375284"/>
                </a:lnTo>
                <a:lnTo>
                  <a:pt x="1947863" y="461962"/>
                </a:lnTo>
                <a:lnTo>
                  <a:pt x="2135506" y="556260"/>
                </a:lnTo>
                <a:lnTo>
                  <a:pt x="2318386" y="659130"/>
                </a:lnTo>
                <a:lnTo>
                  <a:pt x="2496503" y="769620"/>
                </a:lnTo>
                <a:lnTo>
                  <a:pt x="2670810" y="887730"/>
                </a:lnTo>
                <a:lnTo>
                  <a:pt x="2838450" y="1013460"/>
                </a:lnTo>
                <a:lnTo>
                  <a:pt x="3001328" y="1145857"/>
                </a:lnTo>
                <a:lnTo>
                  <a:pt x="3157538" y="1285874"/>
                </a:lnTo>
                <a:lnTo>
                  <a:pt x="3308033" y="1431607"/>
                </a:lnTo>
                <a:lnTo>
                  <a:pt x="3451860" y="1584960"/>
                </a:lnTo>
                <a:lnTo>
                  <a:pt x="3589020" y="1744027"/>
                </a:lnTo>
                <a:lnTo>
                  <a:pt x="3718560" y="1908810"/>
                </a:lnTo>
                <a:lnTo>
                  <a:pt x="3841433" y="2079307"/>
                </a:lnTo>
                <a:lnTo>
                  <a:pt x="3956686" y="2254567"/>
                </a:lnTo>
                <a:lnTo>
                  <a:pt x="4063366" y="2434590"/>
                </a:lnTo>
                <a:lnTo>
                  <a:pt x="4163378" y="2619374"/>
                </a:lnTo>
                <a:lnTo>
                  <a:pt x="4253866" y="2808922"/>
                </a:lnTo>
                <a:lnTo>
                  <a:pt x="4336733" y="3001327"/>
                </a:lnTo>
                <a:lnTo>
                  <a:pt x="4411028" y="3197542"/>
                </a:lnTo>
                <a:lnTo>
                  <a:pt x="4476750" y="3397567"/>
                </a:lnTo>
                <a:lnTo>
                  <a:pt x="4533900" y="3599497"/>
                </a:lnTo>
                <a:lnTo>
                  <a:pt x="4582478" y="3803332"/>
                </a:lnTo>
                <a:lnTo>
                  <a:pt x="4621530" y="4010024"/>
                </a:lnTo>
                <a:lnTo>
                  <a:pt x="4651058" y="4217670"/>
                </a:lnTo>
                <a:lnTo>
                  <a:pt x="4672013" y="4426267"/>
                </a:lnTo>
                <a:lnTo>
                  <a:pt x="4684396" y="4635817"/>
                </a:lnTo>
                <a:lnTo>
                  <a:pt x="4687253" y="4845367"/>
                </a:lnTo>
                <a:lnTo>
                  <a:pt x="4680586" y="5054917"/>
                </a:lnTo>
                <a:lnTo>
                  <a:pt x="2217420" y="4926330"/>
                </a:lnTo>
                <a:lnTo>
                  <a:pt x="2220278" y="4823460"/>
                </a:lnTo>
                <a:lnTo>
                  <a:pt x="2219326" y="4721542"/>
                </a:lnTo>
                <a:lnTo>
                  <a:pt x="2212658" y="4619624"/>
                </a:lnTo>
                <a:lnTo>
                  <a:pt x="2203133" y="4517707"/>
                </a:lnTo>
                <a:lnTo>
                  <a:pt x="2187893" y="4416742"/>
                </a:lnTo>
                <a:lnTo>
                  <a:pt x="2168843" y="4316730"/>
                </a:lnTo>
                <a:lnTo>
                  <a:pt x="2145983" y="4216717"/>
                </a:lnTo>
                <a:lnTo>
                  <a:pt x="2118360" y="4118610"/>
                </a:lnTo>
                <a:lnTo>
                  <a:pt x="2085976" y="4021454"/>
                </a:lnTo>
                <a:lnTo>
                  <a:pt x="2049780" y="3925252"/>
                </a:lnTo>
                <a:lnTo>
                  <a:pt x="2009776" y="3831907"/>
                </a:lnTo>
                <a:lnTo>
                  <a:pt x="1965008" y="3739514"/>
                </a:lnTo>
                <a:lnTo>
                  <a:pt x="1916430" y="3649980"/>
                </a:lnTo>
                <a:lnTo>
                  <a:pt x="1864043" y="3561397"/>
                </a:lnTo>
                <a:lnTo>
                  <a:pt x="1807846" y="3476624"/>
                </a:lnTo>
                <a:lnTo>
                  <a:pt x="1748790" y="3393757"/>
                </a:lnTo>
                <a:lnTo>
                  <a:pt x="1684973" y="3312794"/>
                </a:lnTo>
                <a:lnTo>
                  <a:pt x="1618298" y="3235642"/>
                </a:lnTo>
                <a:lnTo>
                  <a:pt x="1548766" y="3161347"/>
                </a:lnTo>
                <a:lnTo>
                  <a:pt x="1475423" y="3089910"/>
                </a:lnTo>
                <a:lnTo>
                  <a:pt x="1399223" y="3021330"/>
                </a:lnTo>
                <a:lnTo>
                  <a:pt x="1320166" y="2956560"/>
                </a:lnTo>
                <a:lnTo>
                  <a:pt x="1238250" y="2895600"/>
                </a:lnTo>
                <a:lnTo>
                  <a:pt x="1153478" y="2838450"/>
                </a:lnTo>
                <a:lnTo>
                  <a:pt x="1066800" y="2784157"/>
                </a:lnTo>
                <a:lnTo>
                  <a:pt x="977266" y="2734627"/>
                </a:lnTo>
                <a:lnTo>
                  <a:pt x="885826" y="2688907"/>
                </a:lnTo>
                <a:lnTo>
                  <a:pt x="792480" y="2646997"/>
                </a:lnTo>
                <a:lnTo>
                  <a:pt x="698183" y="2608897"/>
                </a:lnTo>
                <a:lnTo>
                  <a:pt x="601028" y="2574607"/>
                </a:lnTo>
                <a:lnTo>
                  <a:pt x="502920" y="2545080"/>
                </a:lnTo>
                <a:lnTo>
                  <a:pt x="403860" y="2520314"/>
                </a:lnTo>
                <a:lnTo>
                  <a:pt x="303848" y="2499360"/>
                </a:lnTo>
                <a:lnTo>
                  <a:pt x="202883" y="2483167"/>
                </a:lnTo>
                <a:lnTo>
                  <a:pt x="101918" y="2470784"/>
                </a:lnTo>
                <a:lnTo>
                  <a:pt x="0" y="2463164"/>
                </a:lnTo>
                <a:close/>
              </a:path>
            </a:pathLst>
          </a:cu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ng-br"/>
          <p:cNvSpPr/>
          <p:nvPr/>
        </p:nvSpPr>
        <p:spPr>
          <a:xfrm>
            <a:off x="14950440" y="9085898"/>
            <a:ext cx="5054918" cy="4687252"/>
          </a:xfrm>
          <a:custGeom>
            <a:avLst/>
            <a:gdLst/>
            <a:ahLst/>
            <a:cxnLst/>
            <a:rect l="l" t="t" r="r" b="b"/>
            <a:pathLst>
              <a:path w="5054918" h="4687252">
                <a:moveTo>
                  <a:pt x="5054918" y="128587"/>
                </a:moveTo>
                <a:lnTo>
                  <a:pt x="5039678" y="338137"/>
                </a:lnTo>
                <a:lnTo>
                  <a:pt x="5014912" y="546734"/>
                </a:lnTo>
                <a:lnTo>
                  <a:pt x="4980622" y="753427"/>
                </a:lnTo>
                <a:lnTo>
                  <a:pt x="4938712" y="959167"/>
                </a:lnTo>
                <a:lnTo>
                  <a:pt x="4886325" y="1163002"/>
                </a:lnTo>
                <a:lnTo>
                  <a:pt x="4826318" y="1363980"/>
                </a:lnTo>
                <a:lnTo>
                  <a:pt x="4756785" y="1562100"/>
                </a:lnTo>
                <a:lnTo>
                  <a:pt x="4679632" y="1756410"/>
                </a:lnTo>
                <a:lnTo>
                  <a:pt x="4592955" y="1947862"/>
                </a:lnTo>
                <a:lnTo>
                  <a:pt x="4498658" y="2135504"/>
                </a:lnTo>
                <a:lnTo>
                  <a:pt x="4395788" y="2318384"/>
                </a:lnTo>
                <a:lnTo>
                  <a:pt x="4285298" y="2496502"/>
                </a:lnTo>
                <a:lnTo>
                  <a:pt x="4167188" y="2670810"/>
                </a:lnTo>
                <a:lnTo>
                  <a:pt x="4041458" y="2838450"/>
                </a:lnTo>
                <a:lnTo>
                  <a:pt x="3909060" y="3001327"/>
                </a:lnTo>
                <a:lnTo>
                  <a:pt x="3769042" y="3157537"/>
                </a:lnTo>
                <a:lnTo>
                  <a:pt x="3623310" y="3308032"/>
                </a:lnTo>
                <a:lnTo>
                  <a:pt x="3469958" y="3451860"/>
                </a:lnTo>
                <a:lnTo>
                  <a:pt x="3310890" y="3589020"/>
                </a:lnTo>
                <a:lnTo>
                  <a:pt x="3146108" y="3718560"/>
                </a:lnTo>
                <a:lnTo>
                  <a:pt x="2975610" y="3841432"/>
                </a:lnTo>
                <a:lnTo>
                  <a:pt x="2800350" y="3956684"/>
                </a:lnTo>
                <a:lnTo>
                  <a:pt x="2620328" y="4063364"/>
                </a:lnTo>
                <a:lnTo>
                  <a:pt x="2435542" y="4163377"/>
                </a:lnTo>
                <a:lnTo>
                  <a:pt x="2245995" y="4253864"/>
                </a:lnTo>
                <a:lnTo>
                  <a:pt x="2053590" y="4336732"/>
                </a:lnTo>
                <a:lnTo>
                  <a:pt x="1857375" y="4411027"/>
                </a:lnTo>
                <a:lnTo>
                  <a:pt x="1657350" y="4476750"/>
                </a:lnTo>
                <a:lnTo>
                  <a:pt x="1455420" y="4533900"/>
                </a:lnTo>
                <a:lnTo>
                  <a:pt x="1251585" y="4582477"/>
                </a:lnTo>
                <a:lnTo>
                  <a:pt x="1044892" y="4621530"/>
                </a:lnTo>
                <a:lnTo>
                  <a:pt x="837248" y="4651057"/>
                </a:lnTo>
                <a:lnTo>
                  <a:pt x="628650" y="4672012"/>
                </a:lnTo>
                <a:lnTo>
                  <a:pt x="419100" y="4684394"/>
                </a:lnTo>
                <a:lnTo>
                  <a:pt x="209550" y="4687252"/>
                </a:lnTo>
                <a:lnTo>
                  <a:pt x="0" y="4680584"/>
                </a:lnTo>
                <a:lnTo>
                  <a:pt x="128588" y="2217420"/>
                </a:lnTo>
                <a:lnTo>
                  <a:pt x="231458" y="2220277"/>
                </a:lnTo>
                <a:lnTo>
                  <a:pt x="333375" y="2219324"/>
                </a:lnTo>
                <a:lnTo>
                  <a:pt x="435292" y="2212657"/>
                </a:lnTo>
                <a:lnTo>
                  <a:pt x="537210" y="2203132"/>
                </a:lnTo>
                <a:lnTo>
                  <a:pt x="638175" y="2187892"/>
                </a:lnTo>
                <a:lnTo>
                  <a:pt x="738188" y="2168842"/>
                </a:lnTo>
                <a:lnTo>
                  <a:pt x="838200" y="2145982"/>
                </a:lnTo>
                <a:lnTo>
                  <a:pt x="936308" y="2118360"/>
                </a:lnTo>
                <a:lnTo>
                  <a:pt x="1033462" y="2085974"/>
                </a:lnTo>
                <a:lnTo>
                  <a:pt x="1129665" y="2049780"/>
                </a:lnTo>
                <a:lnTo>
                  <a:pt x="1223010" y="2009774"/>
                </a:lnTo>
                <a:lnTo>
                  <a:pt x="1315402" y="1965007"/>
                </a:lnTo>
                <a:lnTo>
                  <a:pt x="1404938" y="1916430"/>
                </a:lnTo>
                <a:lnTo>
                  <a:pt x="1493520" y="1864042"/>
                </a:lnTo>
                <a:lnTo>
                  <a:pt x="1578292" y="1807844"/>
                </a:lnTo>
                <a:lnTo>
                  <a:pt x="1661160" y="1748790"/>
                </a:lnTo>
                <a:lnTo>
                  <a:pt x="1742122" y="1684972"/>
                </a:lnTo>
                <a:lnTo>
                  <a:pt x="1819275" y="1618297"/>
                </a:lnTo>
                <a:lnTo>
                  <a:pt x="1893570" y="1548764"/>
                </a:lnTo>
                <a:lnTo>
                  <a:pt x="1965008" y="1475422"/>
                </a:lnTo>
                <a:lnTo>
                  <a:pt x="2033588" y="1399222"/>
                </a:lnTo>
                <a:lnTo>
                  <a:pt x="2098358" y="1320164"/>
                </a:lnTo>
                <a:lnTo>
                  <a:pt x="2159318" y="1238250"/>
                </a:lnTo>
                <a:lnTo>
                  <a:pt x="2216468" y="1153477"/>
                </a:lnTo>
                <a:lnTo>
                  <a:pt x="2270760" y="1066800"/>
                </a:lnTo>
                <a:lnTo>
                  <a:pt x="2320290" y="977264"/>
                </a:lnTo>
                <a:lnTo>
                  <a:pt x="2366010" y="885824"/>
                </a:lnTo>
                <a:lnTo>
                  <a:pt x="2407920" y="792480"/>
                </a:lnTo>
                <a:lnTo>
                  <a:pt x="2446020" y="698182"/>
                </a:lnTo>
                <a:lnTo>
                  <a:pt x="2480310" y="601027"/>
                </a:lnTo>
                <a:lnTo>
                  <a:pt x="2509838" y="502920"/>
                </a:lnTo>
                <a:lnTo>
                  <a:pt x="2534602" y="403860"/>
                </a:lnTo>
                <a:lnTo>
                  <a:pt x="2555558" y="303847"/>
                </a:lnTo>
                <a:lnTo>
                  <a:pt x="2571750" y="202882"/>
                </a:lnTo>
                <a:lnTo>
                  <a:pt x="2584132" y="101917"/>
                </a:lnTo>
                <a:lnTo>
                  <a:pt x="2591752" y="0"/>
                </a:lnTo>
                <a:close/>
              </a:path>
            </a:pathLst>
          </a:cu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ng-bl"/>
          <p:cNvSpPr/>
          <p:nvPr/>
        </p:nvSpPr>
        <p:spPr>
          <a:xfrm>
            <a:off x="10391775" y="8711565"/>
            <a:ext cx="4687253" cy="5054917"/>
          </a:xfrm>
          <a:custGeom>
            <a:avLst/>
            <a:gdLst/>
            <a:ahLst/>
            <a:cxnLst/>
            <a:rect l="l" t="t" r="r" b="b"/>
            <a:pathLst>
              <a:path w="4687253" h="5054917">
                <a:moveTo>
                  <a:pt x="4558665" y="5054917"/>
                </a:moveTo>
                <a:lnTo>
                  <a:pt x="4349115" y="5039677"/>
                </a:lnTo>
                <a:lnTo>
                  <a:pt x="4140517" y="5014913"/>
                </a:lnTo>
                <a:lnTo>
                  <a:pt x="3933825" y="4980623"/>
                </a:lnTo>
                <a:lnTo>
                  <a:pt x="3728085" y="4938713"/>
                </a:lnTo>
                <a:lnTo>
                  <a:pt x="3524250" y="4886325"/>
                </a:lnTo>
                <a:lnTo>
                  <a:pt x="3323273" y="4826317"/>
                </a:lnTo>
                <a:lnTo>
                  <a:pt x="3125153" y="4756785"/>
                </a:lnTo>
                <a:lnTo>
                  <a:pt x="2930843" y="4679633"/>
                </a:lnTo>
                <a:lnTo>
                  <a:pt x="2739390" y="4592955"/>
                </a:lnTo>
                <a:lnTo>
                  <a:pt x="2551747" y="4498657"/>
                </a:lnTo>
                <a:lnTo>
                  <a:pt x="2368867" y="4395787"/>
                </a:lnTo>
                <a:lnTo>
                  <a:pt x="2190750" y="4285297"/>
                </a:lnTo>
                <a:lnTo>
                  <a:pt x="2016443" y="4167187"/>
                </a:lnTo>
                <a:lnTo>
                  <a:pt x="1848803" y="4041457"/>
                </a:lnTo>
                <a:lnTo>
                  <a:pt x="1685925" y="3909060"/>
                </a:lnTo>
                <a:lnTo>
                  <a:pt x="1529715" y="3769043"/>
                </a:lnTo>
                <a:lnTo>
                  <a:pt x="1379220" y="3623310"/>
                </a:lnTo>
                <a:lnTo>
                  <a:pt x="1235393" y="3469957"/>
                </a:lnTo>
                <a:lnTo>
                  <a:pt x="1098233" y="3310890"/>
                </a:lnTo>
                <a:lnTo>
                  <a:pt x="968693" y="3146107"/>
                </a:lnTo>
                <a:lnTo>
                  <a:pt x="845820" y="2975610"/>
                </a:lnTo>
                <a:lnTo>
                  <a:pt x="730567" y="2800350"/>
                </a:lnTo>
                <a:lnTo>
                  <a:pt x="623887" y="2620327"/>
                </a:lnTo>
                <a:lnTo>
                  <a:pt x="523875" y="2435543"/>
                </a:lnTo>
                <a:lnTo>
                  <a:pt x="433387" y="2245995"/>
                </a:lnTo>
                <a:lnTo>
                  <a:pt x="350520" y="2053590"/>
                </a:lnTo>
                <a:lnTo>
                  <a:pt x="276225" y="1857375"/>
                </a:lnTo>
                <a:lnTo>
                  <a:pt x="210503" y="1657350"/>
                </a:lnTo>
                <a:lnTo>
                  <a:pt x="153353" y="1455420"/>
                </a:lnTo>
                <a:lnTo>
                  <a:pt x="104775" y="1251585"/>
                </a:lnTo>
                <a:lnTo>
                  <a:pt x="65723" y="1044893"/>
                </a:lnTo>
                <a:lnTo>
                  <a:pt x="36195" y="837247"/>
                </a:lnTo>
                <a:lnTo>
                  <a:pt x="15240" y="628650"/>
                </a:lnTo>
                <a:lnTo>
                  <a:pt x="2857" y="419100"/>
                </a:lnTo>
                <a:lnTo>
                  <a:pt x="0" y="209550"/>
                </a:lnTo>
                <a:lnTo>
                  <a:pt x="6667" y="0"/>
                </a:lnTo>
                <a:lnTo>
                  <a:pt x="2469833" y="128587"/>
                </a:lnTo>
                <a:lnTo>
                  <a:pt x="2466975" y="231457"/>
                </a:lnTo>
                <a:lnTo>
                  <a:pt x="2467927" y="333375"/>
                </a:lnTo>
                <a:lnTo>
                  <a:pt x="2474595" y="435293"/>
                </a:lnTo>
                <a:lnTo>
                  <a:pt x="2484120" y="537210"/>
                </a:lnTo>
                <a:lnTo>
                  <a:pt x="2499360" y="638175"/>
                </a:lnTo>
                <a:lnTo>
                  <a:pt x="2518410" y="738187"/>
                </a:lnTo>
                <a:lnTo>
                  <a:pt x="2541270" y="838200"/>
                </a:lnTo>
                <a:lnTo>
                  <a:pt x="2568893" y="936307"/>
                </a:lnTo>
                <a:lnTo>
                  <a:pt x="2601277" y="1033463"/>
                </a:lnTo>
                <a:lnTo>
                  <a:pt x="2637473" y="1129665"/>
                </a:lnTo>
                <a:lnTo>
                  <a:pt x="2677477" y="1223010"/>
                </a:lnTo>
                <a:lnTo>
                  <a:pt x="2722245" y="1315403"/>
                </a:lnTo>
                <a:lnTo>
                  <a:pt x="2770823" y="1404937"/>
                </a:lnTo>
                <a:lnTo>
                  <a:pt x="2823210" y="1493520"/>
                </a:lnTo>
                <a:lnTo>
                  <a:pt x="2879407" y="1578293"/>
                </a:lnTo>
                <a:lnTo>
                  <a:pt x="2938463" y="1661160"/>
                </a:lnTo>
                <a:lnTo>
                  <a:pt x="3002280" y="1742123"/>
                </a:lnTo>
                <a:lnTo>
                  <a:pt x="3068955" y="1819275"/>
                </a:lnTo>
                <a:lnTo>
                  <a:pt x="3138487" y="1893570"/>
                </a:lnTo>
                <a:lnTo>
                  <a:pt x="3211830" y="1965007"/>
                </a:lnTo>
                <a:lnTo>
                  <a:pt x="3288030" y="2033587"/>
                </a:lnTo>
                <a:lnTo>
                  <a:pt x="3367087" y="2098357"/>
                </a:lnTo>
                <a:lnTo>
                  <a:pt x="3449003" y="2159317"/>
                </a:lnTo>
                <a:lnTo>
                  <a:pt x="3533775" y="2216467"/>
                </a:lnTo>
                <a:lnTo>
                  <a:pt x="3620453" y="2270760"/>
                </a:lnTo>
                <a:lnTo>
                  <a:pt x="3709987" y="2320290"/>
                </a:lnTo>
                <a:lnTo>
                  <a:pt x="3801427" y="2366010"/>
                </a:lnTo>
                <a:lnTo>
                  <a:pt x="3894773" y="2407920"/>
                </a:lnTo>
                <a:lnTo>
                  <a:pt x="3989070" y="2446020"/>
                </a:lnTo>
                <a:lnTo>
                  <a:pt x="4086225" y="2480310"/>
                </a:lnTo>
                <a:lnTo>
                  <a:pt x="4184333" y="2509837"/>
                </a:lnTo>
                <a:lnTo>
                  <a:pt x="4283393" y="2534603"/>
                </a:lnTo>
                <a:lnTo>
                  <a:pt x="4383405" y="2555557"/>
                </a:lnTo>
                <a:lnTo>
                  <a:pt x="4484370" y="2571750"/>
                </a:lnTo>
                <a:lnTo>
                  <a:pt x="4585335" y="2584133"/>
                </a:lnTo>
                <a:lnTo>
                  <a:pt x="4687253" y="2591753"/>
                </a:lnTo>
                <a:close/>
              </a:path>
            </a:pathLst>
          </a:cu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ng-gap-1"/>
          <p:cNvSpPr/>
          <p:nvPr/>
        </p:nvSpPr>
        <p:spPr>
          <a:xfrm>
            <a:off x="17443132" y="8256270"/>
            <a:ext cx="2663190" cy="1095375"/>
          </a:xfrm>
          <a:custGeom>
            <a:avLst/>
            <a:gdLst/>
            <a:ahLst/>
            <a:cxnLst/>
            <a:rect l="l" t="t" r="r" b="b"/>
            <a:pathLst>
              <a:path w="2663190" h="1095375">
                <a:moveTo>
                  <a:pt x="197168" y="1024890"/>
                </a:moveTo>
                <a:lnTo>
                  <a:pt x="1262063" y="490538"/>
                </a:lnTo>
                <a:lnTo>
                  <a:pt x="2466976" y="1095375"/>
                </a:lnTo>
                <a:lnTo>
                  <a:pt x="2663190" y="703898"/>
                </a:lnTo>
                <a:lnTo>
                  <a:pt x="1262063" y="0"/>
                </a:lnTo>
                <a:lnTo>
                  <a:pt x="0" y="6334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ing-gap-2"/>
          <p:cNvSpPr/>
          <p:nvPr/>
        </p:nvSpPr>
        <p:spPr>
          <a:xfrm>
            <a:off x="14813280" y="11204258"/>
            <a:ext cx="1095375" cy="2663190"/>
          </a:xfrm>
          <a:custGeom>
            <a:avLst/>
            <a:gdLst/>
            <a:ahLst/>
            <a:cxnLst/>
            <a:rect l="l" t="t" r="r" b="b"/>
            <a:pathLst>
              <a:path w="1095375" h="2663190">
                <a:moveTo>
                  <a:pt x="70485" y="197167"/>
                </a:moveTo>
                <a:lnTo>
                  <a:pt x="604838" y="1262062"/>
                </a:lnTo>
                <a:lnTo>
                  <a:pt x="0" y="2466974"/>
                </a:lnTo>
                <a:lnTo>
                  <a:pt x="391478" y="2663190"/>
                </a:lnTo>
                <a:lnTo>
                  <a:pt x="1095375" y="1262062"/>
                </a:lnTo>
                <a:lnTo>
                  <a:pt x="461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ing-gap-3"/>
          <p:cNvSpPr/>
          <p:nvPr/>
        </p:nvSpPr>
        <p:spPr>
          <a:xfrm>
            <a:off x="10297478" y="8574405"/>
            <a:ext cx="2663190" cy="1095375"/>
          </a:xfrm>
          <a:custGeom>
            <a:avLst/>
            <a:gdLst/>
            <a:ahLst/>
            <a:cxnLst/>
            <a:rect l="l" t="t" r="r" b="b"/>
            <a:pathLst>
              <a:path w="2663190" h="1095375">
                <a:moveTo>
                  <a:pt x="2466022" y="70485"/>
                </a:moveTo>
                <a:lnTo>
                  <a:pt x="1401127" y="604837"/>
                </a:lnTo>
                <a:lnTo>
                  <a:pt x="196214" y="0"/>
                </a:lnTo>
                <a:lnTo>
                  <a:pt x="0" y="391477"/>
                </a:lnTo>
                <a:lnTo>
                  <a:pt x="1401127" y="1095375"/>
                </a:lnTo>
                <a:lnTo>
                  <a:pt x="2663190" y="4619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ing-gap-4"/>
          <p:cNvSpPr/>
          <p:nvPr/>
        </p:nvSpPr>
        <p:spPr>
          <a:xfrm>
            <a:off x="14495145" y="4058602"/>
            <a:ext cx="1095375" cy="2663190"/>
          </a:xfrm>
          <a:custGeom>
            <a:avLst/>
            <a:gdLst/>
            <a:ahLst/>
            <a:cxnLst/>
            <a:rect l="l" t="t" r="r" b="b"/>
            <a:pathLst>
              <a:path w="1095375" h="2663190">
                <a:moveTo>
                  <a:pt x="1024890" y="2466023"/>
                </a:moveTo>
                <a:lnTo>
                  <a:pt x="490537" y="1401128"/>
                </a:lnTo>
                <a:lnTo>
                  <a:pt x="1095375" y="196216"/>
                </a:lnTo>
                <a:lnTo>
                  <a:pt x="703897" y="0"/>
                </a:lnTo>
                <a:lnTo>
                  <a:pt x="0" y="1401128"/>
                </a:lnTo>
                <a:lnTo>
                  <a:pt x="633413" y="26631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ng-lbl-1"/>
          <p:cNvSpPr txBox="1"/>
          <p:nvPr/>
        </p:nvSpPr>
        <p:spPr>
          <a:xfrm>
            <a:off x="11487150" y="6200775"/>
            <a:ext cx="24765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规模扩张</a:t>
            </a:r>
          </a:p>
        </p:txBody>
      </p:sp>
      <p:sp>
        <p:nvSpPr>
          <p:cNvPr id="60" name="ring-lbl-2"/>
          <p:cNvSpPr txBox="1"/>
          <p:nvPr/>
        </p:nvSpPr>
        <p:spPr>
          <a:xfrm>
            <a:off x="16078200" y="5819775"/>
            <a:ext cx="24765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生态共建</a:t>
            </a:r>
          </a:p>
        </p:txBody>
      </p:sp>
      <p:sp>
        <p:nvSpPr>
          <p:cNvPr id="61" name="ring-lbl-3"/>
          <p:cNvSpPr txBox="1"/>
          <p:nvPr/>
        </p:nvSpPr>
        <p:spPr>
          <a:xfrm>
            <a:off x="16878300" y="10820400"/>
            <a:ext cx="24765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降本增效</a:t>
            </a:r>
          </a:p>
        </p:txBody>
      </p:sp>
      <p:sp>
        <p:nvSpPr>
          <p:cNvPr id="62" name="ring-lbl-4"/>
          <p:cNvSpPr txBox="1"/>
          <p:nvPr/>
        </p:nvSpPr>
        <p:spPr>
          <a:xfrm>
            <a:off x="11753850" y="11372850"/>
            <a:ext cx="24765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体验升级</a:t>
            </a:r>
          </a:p>
        </p:txBody>
      </p:sp>
      <p:sp>
        <p:nvSpPr>
          <p:cNvPr id="63" name="hub-shadow"/>
          <p:cNvSpPr/>
          <p:nvPr/>
        </p:nvSpPr>
        <p:spPr>
          <a:xfrm>
            <a:off x="12915900" y="6715125"/>
            <a:ext cx="4762500" cy="4762500"/>
          </a:xfrm>
          <a:prstGeom prst="ellipse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hub"/>
          <p:cNvSpPr/>
          <p:nvPr/>
        </p:nvSpPr>
        <p:spPr>
          <a:xfrm>
            <a:off x="12877800" y="6638925"/>
            <a:ext cx="4648200" cy="4648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hub-icon-screen"/>
          <p:cNvSpPr/>
          <p:nvPr/>
        </p:nvSpPr>
        <p:spPr>
          <a:xfrm>
            <a:off x="14506575" y="7648575"/>
            <a:ext cx="1447800" cy="10668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762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hub-icon-bar1"/>
          <p:cNvSpPr/>
          <p:nvPr/>
        </p:nvSpPr>
        <p:spPr>
          <a:xfrm>
            <a:off x="14725650" y="8258175"/>
            <a:ext cx="190500" cy="304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hub-icon-bar2"/>
          <p:cNvSpPr/>
          <p:nvPr/>
        </p:nvSpPr>
        <p:spPr>
          <a:xfrm>
            <a:off x="15030450" y="8048625"/>
            <a:ext cx="190500" cy="5143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hub-icon-bar3"/>
          <p:cNvSpPr/>
          <p:nvPr/>
        </p:nvSpPr>
        <p:spPr>
          <a:xfrm>
            <a:off x="15335250" y="7839075"/>
            <a:ext cx="190500" cy="7239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hub-icon-stand"/>
          <p:cNvSpPr/>
          <p:nvPr/>
        </p:nvSpPr>
        <p:spPr>
          <a:xfrm>
            <a:off x="15049500" y="8715375"/>
            <a:ext cx="304800" cy="152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hub-icon-base"/>
          <p:cNvSpPr/>
          <p:nvPr/>
        </p:nvSpPr>
        <p:spPr>
          <a:xfrm>
            <a:off x="14725650" y="8867775"/>
            <a:ext cx="1009650" cy="1333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hub-text"/>
          <p:cNvSpPr txBox="1"/>
          <p:nvPr/>
        </p:nvSpPr>
        <p:spPr>
          <a:xfrm>
            <a:off x="13392150" y="9182100"/>
            <a:ext cx="36195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72" name="footer-yellow"/>
          <p:cNvSpPr/>
          <p:nvPr/>
        </p:nvSpPr>
        <p:spPr>
          <a:xfrm>
            <a:off x="904875" y="15744825"/>
            <a:ext cx="4705350" cy="542925"/>
          </a:xfrm>
          <a:prstGeom prst="rect">
            <a:avLst/>
          </a:pr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ooter-blue"/>
          <p:cNvSpPr/>
          <p:nvPr/>
        </p:nvSpPr>
        <p:spPr>
          <a:xfrm>
            <a:off x="5629275" y="15744825"/>
            <a:ext cx="23936325" cy="542925"/>
          </a:xfrm>
          <a:prstGeom prst="rect">
            <a:avLst/>
          </a:pr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