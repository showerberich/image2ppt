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vider"/>
          <p:cNvSpPr/>
          <p:nvPr/>
        </p:nvSpPr>
        <p:spPr>
          <a:xfrm>
            <a:off x="0" y="2743200"/>
            <a:ext cx="30470475" cy="28575"/>
          </a:xfrm>
          <a:prstGeom prst="rect">
            <a:avLst/>
          </a:prstGeom>
          <a:solidFill>
            <a:srgbClr val="AFA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ogo-blue"/>
          <p:cNvSpPr/>
          <p:nvPr/>
        </p:nvSpPr>
        <p:spPr>
          <a:xfrm>
            <a:off x="1600200" y="1524000"/>
            <a:ext cx="1590675" cy="1285875"/>
          </a:xfrm>
          <a:prstGeom prst="rect">
            <a:avLst/>
          </a:prstGeom>
          <a:gradFill rotWithShape="1">
            <a:gsLst>
              <a:gs pos="0">
                <a:srgbClr val="D2DCF8"/>
              </a:gs>
              <a:gs pos="100000">
                <a:srgbClr val="0836B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ogo-gold"/>
          <p:cNvSpPr/>
          <p:nvPr/>
        </p:nvSpPr>
        <p:spPr>
          <a:xfrm>
            <a:off x="1524000" y="1895475"/>
            <a:ext cx="1314450" cy="1095375"/>
          </a:xfrm>
          <a:prstGeom prst="rect">
            <a:avLst/>
          </a:prstGeom>
          <a:gradFill rotWithShape="1">
            <a:gsLst>
              <a:gs pos="0">
                <a:srgbClr val="D9C28A"/>
              </a:gs>
              <a:gs pos="100000">
                <a:srgbClr val="FFBF0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itle"/>
          <p:cNvSpPr txBox="1"/>
          <p:nvPr/>
        </p:nvSpPr>
        <p:spPr>
          <a:xfrm>
            <a:off x="4057650" y="1485900"/>
            <a:ext cx="14573250" cy="11620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425" b="1" i="0" spc="-360">
                <a:solidFill>
                  <a:srgbClr val="0937BE"/>
                </a:solidFill>
                <a:latin typeface="Microsoft YaHei"/>
                <a:ea typeface="Microsoft YaHei"/>
                <a:cs typeface="Microsoft YaHei"/>
              </a:rPr>
              <a:t>投资回报分析：预计两年内实现盈利</a:t>
            </a:r>
          </a:p>
        </p:txBody>
      </p:sp>
      <p:grpSp>
        <p:nvGrpSpPr>
          <p:cNvPr id="62" name="year-card-1"/>
          <p:cNvGrpSpPr/>
          <p:nvPr/>
        </p:nvGrpSpPr>
        <p:grpSpPr>
          <a:xfrm>
            <a:off x="2943225" y="4210050"/>
            <a:ext cx="7296150" cy="7381875"/>
            <a:chOff x="2943225" y="4210050"/>
            <a:chExt cx="7296150" cy="7381875"/>
          </a:xfrm>
        </p:grpSpPr>
        <p:sp>
          <p:nvSpPr>
            <p:cNvPr id="7" name="panel-1"/>
            <p:cNvSpPr/>
            <p:nvPr/>
          </p:nvSpPr>
          <p:spPr>
            <a:xfrm>
              <a:off x="2943225" y="4562475"/>
              <a:ext cx="7296150" cy="7029450"/>
            </a:xfrm>
            <a:prstGeom prst="rect">
              <a:avLst/>
            </a:prstGeom>
            <a:solidFill>
              <a:srgbClr val="F6F6F6"/>
            </a:solidFill>
            <a:ln w="47625">
              <a:solidFill>
                <a:srgbClr val="4F68B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axis-1"/>
            <p:cNvCxnSpPr/>
            <p:nvPr/>
          </p:nvCxnSpPr>
          <p:spPr>
            <a:xfrm>
              <a:off x="3657600" y="10429875"/>
              <a:ext cx="5886450" cy="0"/>
            </a:xfrm>
            <a:prstGeom prst="line">
              <a:avLst/>
            </a:prstGeom>
            <a:ln w="19050">
              <a:solidFill>
                <a:srgbClr val="2E55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tick-1a"/>
            <p:cNvCxnSpPr/>
            <p:nvPr/>
          </p:nvCxnSpPr>
          <p:spPr>
            <a:xfrm>
              <a:off x="3657600" y="10429875"/>
              <a:ext cx="0" cy="95250"/>
            </a:xfrm>
            <a:prstGeom prst="line">
              <a:avLst/>
            </a:prstGeom>
            <a:ln w="19050">
              <a:solidFill>
                <a:srgbClr val="2E55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tick-1m"/>
            <p:cNvCxnSpPr/>
            <p:nvPr/>
          </p:nvCxnSpPr>
          <p:spPr>
            <a:xfrm>
              <a:off x="6600825" y="10429875"/>
              <a:ext cx="0" cy="95250"/>
            </a:xfrm>
            <a:prstGeom prst="line">
              <a:avLst/>
            </a:prstGeom>
            <a:ln w="19050">
              <a:solidFill>
                <a:srgbClr val="2E55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tick-1b"/>
            <p:cNvCxnSpPr/>
            <p:nvPr/>
          </p:nvCxnSpPr>
          <p:spPr>
            <a:xfrm>
              <a:off x="9544050" y="10429875"/>
              <a:ext cx="0" cy="95250"/>
            </a:xfrm>
            <a:prstGeom prst="line">
              <a:avLst/>
            </a:prstGeom>
            <a:ln w="19050">
              <a:solidFill>
                <a:srgbClr val="2E55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bar-1a"/>
            <p:cNvSpPr/>
            <p:nvPr/>
          </p:nvSpPr>
          <p:spPr>
            <a:xfrm>
              <a:off x="4391025" y="7667625"/>
              <a:ext cx="1495425" cy="2762250"/>
            </a:xfrm>
            <a:prstGeom prst="rect">
              <a:avLst/>
            </a:prstGeom>
            <a:solidFill>
              <a:srgbClr val="0937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um-1a"/>
            <p:cNvSpPr txBox="1"/>
            <p:nvPr/>
          </p:nvSpPr>
          <p:spPr>
            <a:xfrm>
              <a:off x="4410075" y="8515350"/>
              <a:ext cx="1457325" cy="666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800</a:t>
              </a:r>
            </a:p>
          </p:txBody>
        </p:sp>
        <p:sp>
          <p:nvSpPr>
            <p:cNvPr id="14" name="lbl-1a"/>
            <p:cNvSpPr txBox="1"/>
            <p:nvPr/>
          </p:nvSpPr>
          <p:spPr>
            <a:xfrm>
              <a:off x="4410075" y="10648950"/>
              <a:ext cx="1457325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7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收入</a:t>
              </a:r>
            </a:p>
          </p:txBody>
        </p:sp>
        <p:sp>
          <p:nvSpPr>
            <p:cNvPr id="15" name="bar-1b"/>
            <p:cNvSpPr/>
            <p:nvPr/>
          </p:nvSpPr>
          <p:spPr>
            <a:xfrm>
              <a:off x="7334250" y="6981825"/>
              <a:ext cx="1495425" cy="3448050"/>
            </a:xfrm>
            <a:prstGeom prst="rect">
              <a:avLst/>
            </a:prstGeom>
            <a:solidFill>
              <a:srgbClr val="0937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num-1b"/>
            <p:cNvSpPr txBox="1"/>
            <p:nvPr/>
          </p:nvSpPr>
          <p:spPr>
            <a:xfrm>
              <a:off x="7353300" y="7981950"/>
              <a:ext cx="1457325" cy="666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1000</a:t>
              </a:r>
            </a:p>
          </p:txBody>
        </p:sp>
        <p:sp>
          <p:nvSpPr>
            <p:cNvPr id="17" name="lbl-1b"/>
            <p:cNvSpPr txBox="1"/>
            <p:nvPr/>
          </p:nvSpPr>
          <p:spPr>
            <a:xfrm>
              <a:off x="7353300" y="10648950"/>
              <a:ext cx="1457325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7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成本</a:t>
              </a:r>
            </a:p>
          </p:txBody>
        </p:sp>
        <p:sp>
          <p:nvSpPr>
            <p:cNvPr id="18" name="tab-wingL-1"/>
            <p:cNvSpPr/>
            <p:nvPr/>
          </p:nvSpPr>
          <p:spPr>
            <a:xfrm>
              <a:off x="4295775" y="4210050"/>
              <a:ext cx="161925" cy="295275"/>
            </a:xfrm>
            <a:custGeom>
              <a:avLst/>
              <a:gdLst/>
              <a:ahLst/>
              <a:cxnLst/>
              <a:rect l="l" t="t" r="r" b="b"/>
              <a:pathLst>
                <a:path w="161925" h="295275">
                  <a:moveTo>
                    <a:pt x="161925" y="0"/>
                  </a:moveTo>
                  <a:lnTo>
                    <a:pt x="161925" y="295275"/>
                  </a:lnTo>
                  <a:lnTo>
                    <a:pt x="0" y="295275"/>
                  </a:lnTo>
                  <a:close/>
                </a:path>
              </a:pathLst>
            </a:custGeom>
            <a:solidFill>
              <a:srgbClr val="06288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ab-wingR-1"/>
            <p:cNvSpPr/>
            <p:nvPr/>
          </p:nvSpPr>
          <p:spPr>
            <a:xfrm>
              <a:off x="8620125" y="4210050"/>
              <a:ext cx="161925" cy="295275"/>
            </a:xfrm>
            <a:custGeom>
              <a:avLst/>
              <a:gdLst/>
              <a:ahLst/>
              <a:cxnLst/>
              <a:rect l="l" t="t" r="r" b="b"/>
              <a:pathLst>
                <a:path w="161925" h="295275">
                  <a:moveTo>
                    <a:pt x="0" y="0"/>
                  </a:moveTo>
                  <a:lnTo>
                    <a:pt x="161925" y="295275"/>
                  </a:lnTo>
                  <a:lnTo>
                    <a:pt x="0" y="295275"/>
                  </a:lnTo>
                  <a:close/>
                </a:path>
              </a:pathLst>
            </a:custGeom>
            <a:solidFill>
              <a:srgbClr val="06288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ab-1"/>
            <p:cNvSpPr/>
            <p:nvPr/>
          </p:nvSpPr>
          <p:spPr>
            <a:xfrm>
              <a:off x="4457700" y="4210050"/>
              <a:ext cx="4162425" cy="933450"/>
            </a:xfrm>
            <a:prstGeom prst="rect">
              <a:avLst/>
            </a:prstGeom>
            <a:solidFill>
              <a:srgbClr val="0937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year-1"/>
            <p:cNvSpPr txBox="1"/>
            <p:nvPr/>
          </p:nvSpPr>
          <p:spPr>
            <a:xfrm>
              <a:off x="4457700" y="4267200"/>
              <a:ext cx="4162425" cy="838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57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2026</a:t>
              </a:r>
            </a:p>
          </p:txBody>
        </p:sp>
        <p:sp>
          <p:nvSpPr>
            <p:cNvPr id="22" name="unit-1"/>
            <p:cNvSpPr txBox="1"/>
            <p:nvPr/>
          </p:nvSpPr>
          <p:spPr>
            <a:xfrm>
              <a:off x="3867150" y="5572125"/>
              <a:ext cx="5438775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单位（万元）</a:t>
              </a:r>
            </a:p>
          </p:txBody>
        </p:sp>
      </p:grpSp>
      <p:grpSp>
        <p:nvGrpSpPr>
          <p:cNvPr id="63" name="year-card-2"/>
          <p:cNvGrpSpPr/>
          <p:nvPr/>
        </p:nvGrpSpPr>
        <p:grpSpPr>
          <a:xfrm>
            <a:off x="11639550" y="4210050"/>
            <a:ext cx="7296150" cy="7381875"/>
            <a:chOff x="11639550" y="4210050"/>
            <a:chExt cx="7296150" cy="7381875"/>
          </a:xfrm>
        </p:grpSpPr>
        <p:sp>
          <p:nvSpPr>
            <p:cNvPr id="23" name="panel-2"/>
            <p:cNvSpPr/>
            <p:nvPr/>
          </p:nvSpPr>
          <p:spPr>
            <a:xfrm>
              <a:off x="11639550" y="4562475"/>
              <a:ext cx="7296150" cy="7029450"/>
            </a:xfrm>
            <a:prstGeom prst="rect">
              <a:avLst/>
            </a:prstGeom>
            <a:solidFill>
              <a:srgbClr val="F6F6F6"/>
            </a:solidFill>
            <a:ln w="47625">
              <a:solidFill>
                <a:srgbClr val="4F68B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4" name="axis-2"/>
            <p:cNvCxnSpPr/>
            <p:nvPr/>
          </p:nvCxnSpPr>
          <p:spPr>
            <a:xfrm>
              <a:off x="12353925" y="10429875"/>
              <a:ext cx="5886450" cy="0"/>
            </a:xfrm>
            <a:prstGeom prst="line">
              <a:avLst/>
            </a:prstGeom>
            <a:ln w="19050">
              <a:solidFill>
                <a:srgbClr val="2E55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tick-2a"/>
            <p:cNvCxnSpPr/>
            <p:nvPr/>
          </p:nvCxnSpPr>
          <p:spPr>
            <a:xfrm>
              <a:off x="12353925" y="10429875"/>
              <a:ext cx="0" cy="95250"/>
            </a:xfrm>
            <a:prstGeom prst="line">
              <a:avLst/>
            </a:prstGeom>
            <a:ln w="19050">
              <a:solidFill>
                <a:srgbClr val="2E55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tick-2m"/>
            <p:cNvCxnSpPr/>
            <p:nvPr/>
          </p:nvCxnSpPr>
          <p:spPr>
            <a:xfrm>
              <a:off x="15297150" y="10429875"/>
              <a:ext cx="0" cy="95250"/>
            </a:xfrm>
            <a:prstGeom prst="line">
              <a:avLst/>
            </a:prstGeom>
            <a:ln w="19050">
              <a:solidFill>
                <a:srgbClr val="2E55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tick-2b"/>
            <p:cNvCxnSpPr/>
            <p:nvPr/>
          </p:nvCxnSpPr>
          <p:spPr>
            <a:xfrm>
              <a:off x="18240375" y="10429875"/>
              <a:ext cx="0" cy="95250"/>
            </a:xfrm>
            <a:prstGeom prst="line">
              <a:avLst/>
            </a:prstGeom>
            <a:ln w="19050">
              <a:solidFill>
                <a:srgbClr val="2E55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bar-2a"/>
            <p:cNvSpPr/>
            <p:nvPr/>
          </p:nvSpPr>
          <p:spPr>
            <a:xfrm>
              <a:off x="13011150" y="6715125"/>
              <a:ext cx="1495425" cy="3714750"/>
            </a:xfrm>
            <a:prstGeom prst="rect">
              <a:avLst/>
            </a:prstGeom>
            <a:solidFill>
              <a:srgbClr val="0937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num-2a"/>
            <p:cNvSpPr txBox="1"/>
            <p:nvPr/>
          </p:nvSpPr>
          <p:spPr>
            <a:xfrm>
              <a:off x="13030200" y="7724775"/>
              <a:ext cx="1457325" cy="666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1500</a:t>
              </a:r>
            </a:p>
          </p:txBody>
        </p:sp>
        <p:sp>
          <p:nvSpPr>
            <p:cNvPr id="30" name="lbl-2a"/>
            <p:cNvSpPr txBox="1"/>
            <p:nvPr/>
          </p:nvSpPr>
          <p:spPr>
            <a:xfrm>
              <a:off x="13030200" y="10648950"/>
              <a:ext cx="1457325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7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收入</a:t>
              </a:r>
            </a:p>
          </p:txBody>
        </p:sp>
        <p:sp>
          <p:nvSpPr>
            <p:cNvPr id="31" name="bar-2b"/>
            <p:cNvSpPr/>
            <p:nvPr/>
          </p:nvSpPr>
          <p:spPr>
            <a:xfrm>
              <a:off x="15954375" y="8934450"/>
              <a:ext cx="1495425" cy="1495425"/>
            </a:xfrm>
            <a:prstGeom prst="rect">
              <a:avLst/>
            </a:prstGeom>
            <a:solidFill>
              <a:srgbClr val="0937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um-2b"/>
            <p:cNvSpPr txBox="1"/>
            <p:nvPr/>
          </p:nvSpPr>
          <p:spPr>
            <a:xfrm>
              <a:off x="15973425" y="9077325"/>
              <a:ext cx="1457325" cy="666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600</a:t>
              </a:r>
            </a:p>
          </p:txBody>
        </p:sp>
        <p:sp>
          <p:nvSpPr>
            <p:cNvPr id="33" name="lbl-2b"/>
            <p:cNvSpPr txBox="1"/>
            <p:nvPr/>
          </p:nvSpPr>
          <p:spPr>
            <a:xfrm>
              <a:off x="15973425" y="10648950"/>
              <a:ext cx="1457325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7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成本</a:t>
              </a:r>
            </a:p>
          </p:txBody>
        </p:sp>
        <p:sp>
          <p:nvSpPr>
            <p:cNvPr id="34" name="tab-wingL-2"/>
            <p:cNvSpPr/>
            <p:nvPr/>
          </p:nvSpPr>
          <p:spPr>
            <a:xfrm>
              <a:off x="12992100" y="4210050"/>
              <a:ext cx="161925" cy="295275"/>
            </a:xfrm>
            <a:custGeom>
              <a:avLst/>
              <a:gdLst/>
              <a:ahLst/>
              <a:cxnLst/>
              <a:rect l="l" t="t" r="r" b="b"/>
              <a:pathLst>
                <a:path w="161925" h="295275">
                  <a:moveTo>
                    <a:pt x="161925" y="0"/>
                  </a:moveTo>
                  <a:lnTo>
                    <a:pt x="161925" y="295275"/>
                  </a:lnTo>
                  <a:lnTo>
                    <a:pt x="0" y="295275"/>
                  </a:lnTo>
                  <a:close/>
                </a:path>
              </a:pathLst>
            </a:custGeom>
            <a:solidFill>
              <a:srgbClr val="06288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ab-wingR-2"/>
            <p:cNvSpPr/>
            <p:nvPr/>
          </p:nvSpPr>
          <p:spPr>
            <a:xfrm>
              <a:off x="17316450" y="4210050"/>
              <a:ext cx="161925" cy="295275"/>
            </a:xfrm>
            <a:custGeom>
              <a:avLst/>
              <a:gdLst/>
              <a:ahLst/>
              <a:cxnLst/>
              <a:rect l="l" t="t" r="r" b="b"/>
              <a:pathLst>
                <a:path w="161925" h="295275">
                  <a:moveTo>
                    <a:pt x="0" y="0"/>
                  </a:moveTo>
                  <a:lnTo>
                    <a:pt x="161925" y="295275"/>
                  </a:lnTo>
                  <a:lnTo>
                    <a:pt x="0" y="295275"/>
                  </a:lnTo>
                  <a:close/>
                </a:path>
              </a:pathLst>
            </a:custGeom>
            <a:solidFill>
              <a:srgbClr val="06288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ab-2"/>
            <p:cNvSpPr/>
            <p:nvPr/>
          </p:nvSpPr>
          <p:spPr>
            <a:xfrm>
              <a:off x="13154025" y="4210050"/>
              <a:ext cx="4162425" cy="933450"/>
            </a:xfrm>
            <a:prstGeom prst="rect">
              <a:avLst/>
            </a:prstGeom>
            <a:solidFill>
              <a:srgbClr val="0937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year-2"/>
            <p:cNvSpPr txBox="1"/>
            <p:nvPr/>
          </p:nvSpPr>
          <p:spPr>
            <a:xfrm>
              <a:off x="13154025" y="4267200"/>
              <a:ext cx="4162425" cy="838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57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2027</a:t>
              </a:r>
            </a:p>
          </p:txBody>
        </p:sp>
        <p:sp>
          <p:nvSpPr>
            <p:cNvPr id="38" name="unit-2"/>
            <p:cNvSpPr txBox="1"/>
            <p:nvPr/>
          </p:nvSpPr>
          <p:spPr>
            <a:xfrm>
              <a:off x="12563475" y="5572125"/>
              <a:ext cx="5438775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单位（万元）</a:t>
              </a:r>
            </a:p>
          </p:txBody>
        </p:sp>
      </p:grpSp>
      <p:grpSp>
        <p:nvGrpSpPr>
          <p:cNvPr id="64" name="year-card-3"/>
          <p:cNvGrpSpPr/>
          <p:nvPr/>
        </p:nvGrpSpPr>
        <p:grpSpPr>
          <a:xfrm>
            <a:off x="20326350" y="4210050"/>
            <a:ext cx="7296150" cy="7381875"/>
            <a:chOff x="20326350" y="4210050"/>
            <a:chExt cx="7296150" cy="7381875"/>
          </a:xfrm>
        </p:grpSpPr>
        <p:sp>
          <p:nvSpPr>
            <p:cNvPr id="39" name="panel-3"/>
            <p:cNvSpPr/>
            <p:nvPr/>
          </p:nvSpPr>
          <p:spPr>
            <a:xfrm>
              <a:off x="20326350" y="4562475"/>
              <a:ext cx="7296150" cy="7029450"/>
            </a:xfrm>
            <a:prstGeom prst="rect">
              <a:avLst/>
            </a:prstGeom>
            <a:solidFill>
              <a:srgbClr val="F6F6F6"/>
            </a:solidFill>
            <a:ln w="47625">
              <a:solidFill>
                <a:srgbClr val="4F68B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axis-3"/>
            <p:cNvCxnSpPr/>
            <p:nvPr/>
          </p:nvCxnSpPr>
          <p:spPr>
            <a:xfrm>
              <a:off x="21040725" y="10429875"/>
              <a:ext cx="5886450" cy="0"/>
            </a:xfrm>
            <a:prstGeom prst="line">
              <a:avLst/>
            </a:prstGeom>
            <a:ln w="19050">
              <a:solidFill>
                <a:srgbClr val="2E55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tick-3a"/>
            <p:cNvCxnSpPr/>
            <p:nvPr/>
          </p:nvCxnSpPr>
          <p:spPr>
            <a:xfrm>
              <a:off x="21040725" y="10429875"/>
              <a:ext cx="0" cy="95250"/>
            </a:xfrm>
            <a:prstGeom prst="line">
              <a:avLst/>
            </a:prstGeom>
            <a:ln w="19050">
              <a:solidFill>
                <a:srgbClr val="2E55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tick-3m"/>
            <p:cNvCxnSpPr/>
            <p:nvPr/>
          </p:nvCxnSpPr>
          <p:spPr>
            <a:xfrm>
              <a:off x="23983950" y="10429875"/>
              <a:ext cx="0" cy="95250"/>
            </a:xfrm>
            <a:prstGeom prst="line">
              <a:avLst/>
            </a:prstGeom>
            <a:ln w="19050">
              <a:solidFill>
                <a:srgbClr val="2E55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tick-3b"/>
            <p:cNvCxnSpPr/>
            <p:nvPr/>
          </p:nvCxnSpPr>
          <p:spPr>
            <a:xfrm>
              <a:off x="26927175" y="10429875"/>
              <a:ext cx="0" cy="95250"/>
            </a:xfrm>
            <a:prstGeom prst="line">
              <a:avLst/>
            </a:prstGeom>
            <a:ln w="19050">
              <a:solidFill>
                <a:srgbClr val="2E55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bar-3a"/>
            <p:cNvSpPr/>
            <p:nvPr/>
          </p:nvSpPr>
          <p:spPr>
            <a:xfrm>
              <a:off x="21707475" y="6467475"/>
              <a:ext cx="1495425" cy="3962400"/>
            </a:xfrm>
            <a:prstGeom prst="rect">
              <a:avLst/>
            </a:prstGeom>
            <a:solidFill>
              <a:srgbClr val="0937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num-3a"/>
            <p:cNvSpPr txBox="1"/>
            <p:nvPr/>
          </p:nvSpPr>
          <p:spPr>
            <a:xfrm>
              <a:off x="21726525" y="7153275"/>
              <a:ext cx="1457325" cy="666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2500</a:t>
              </a:r>
            </a:p>
          </p:txBody>
        </p:sp>
        <p:sp>
          <p:nvSpPr>
            <p:cNvPr id="46" name="lbl-3a"/>
            <p:cNvSpPr txBox="1"/>
            <p:nvPr/>
          </p:nvSpPr>
          <p:spPr>
            <a:xfrm>
              <a:off x="21726525" y="10648950"/>
              <a:ext cx="1457325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7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收入</a:t>
              </a:r>
            </a:p>
          </p:txBody>
        </p:sp>
        <p:sp>
          <p:nvSpPr>
            <p:cNvPr id="47" name="bar-3b"/>
            <p:cNvSpPr/>
            <p:nvPr/>
          </p:nvSpPr>
          <p:spPr>
            <a:xfrm>
              <a:off x="24641175" y="9144000"/>
              <a:ext cx="1495425" cy="1285875"/>
            </a:xfrm>
            <a:prstGeom prst="rect">
              <a:avLst/>
            </a:prstGeom>
            <a:solidFill>
              <a:srgbClr val="0937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num-3b"/>
            <p:cNvSpPr txBox="1"/>
            <p:nvPr/>
          </p:nvSpPr>
          <p:spPr>
            <a:xfrm>
              <a:off x="24660225" y="9353550"/>
              <a:ext cx="1457325" cy="666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6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800</a:t>
              </a:r>
            </a:p>
          </p:txBody>
        </p:sp>
        <p:sp>
          <p:nvSpPr>
            <p:cNvPr id="49" name="lbl-3b"/>
            <p:cNvSpPr txBox="1"/>
            <p:nvPr/>
          </p:nvSpPr>
          <p:spPr>
            <a:xfrm>
              <a:off x="24660225" y="10648950"/>
              <a:ext cx="1457325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7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成本</a:t>
              </a:r>
            </a:p>
          </p:txBody>
        </p:sp>
        <p:sp>
          <p:nvSpPr>
            <p:cNvPr id="50" name="tab-wingL-3"/>
            <p:cNvSpPr/>
            <p:nvPr/>
          </p:nvSpPr>
          <p:spPr>
            <a:xfrm>
              <a:off x="21678900" y="4210050"/>
              <a:ext cx="161925" cy="295275"/>
            </a:xfrm>
            <a:custGeom>
              <a:avLst/>
              <a:gdLst/>
              <a:ahLst/>
              <a:cxnLst/>
              <a:rect l="l" t="t" r="r" b="b"/>
              <a:pathLst>
                <a:path w="161925" h="295275">
                  <a:moveTo>
                    <a:pt x="161925" y="0"/>
                  </a:moveTo>
                  <a:lnTo>
                    <a:pt x="161925" y="295275"/>
                  </a:lnTo>
                  <a:lnTo>
                    <a:pt x="0" y="295275"/>
                  </a:lnTo>
                  <a:close/>
                </a:path>
              </a:pathLst>
            </a:custGeom>
            <a:solidFill>
              <a:srgbClr val="06288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tab-wingR-3"/>
            <p:cNvSpPr/>
            <p:nvPr/>
          </p:nvSpPr>
          <p:spPr>
            <a:xfrm>
              <a:off x="26003250" y="4210050"/>
              <a:ext cx="161925" cy="295275"/>
            </a:xfrm>
            <a:custGeom>
              <a:avLst/>
              <a:gdLst/>
              <a:ahLst/>
              <a:cxnLst/>
              <a:rect l="l" t="t" r="r" b="b"/>
              <a:pathLst>
                <a:path w="161925" h="295275">
                  <a:moveTo>
                    <a:pt x="0" y="0"/>
                  </a:moveTo>
                  <a:lnTo>
                    <a:pt x="161925" y="295275"/>
                  </a:lnTo>
                  <a:lnTo>
                    <a:pt x="0" y="295275"/>
                  </a:lnTo>
                  <a:close/>
                </a:path>
              </a:pathLst>
            </a:custGeom>
            <a:solidFill>
              <a:srgbClr val="06288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tab-3"/>
            <p:cNvSpPr/>
            <p:nvPr/>
          </p:nvSpPr>
          <p:spPr>
            <a:xfrm>
              <a:off x="21840825" y="4210050"/>
              <a:ext cx="4162425" cy="933450"/>
            </a:xfrm>
            <a:prstGeom prst="rect">
              <a:avLst/>
            </a:prstGeom>
            <a:solidFill>
              <a:srgbClr val="0937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year-3"/>
            <p:cNvSpPr txBox="1"/>
            <p:nvPr/>
          </p:nvSpPr>
          <p:spPr>
            <a:xfrm>
              <a:off x="21840825" y="4267200"/>
              <a:ext cx="4162425" cy="838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57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2028</a:t>
              </a:r>
            </a:p>
          </p:txBody>
        </p:sp>
        <p:sp>
          <p:nvSpPr>
            <p:cNvPr id="54" name="unit-3"/>
            <p:cNvSpPr txBox="1"/>
            <p:nvPr/>
          </p:nvSpPr>
          <p:spPr>
            <a:xfrm>
              <a:off x="21250275" y="5572125"/>
              <a:ext cx="5438775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单位（万元）</a:t>
              </a:r>
            </a:p>
          </p:txBody>
        </p:sp>
      </p:grpSp>
      <p:sp>
        <p:nvSpPr>
          <p:cNvPr id="55" name="banner-shadow"/>
          <p:cNvSpPr/>
          <p:nvPr/>
        </p:nvSpPr>
        <p:spPr>
          <a:xfrm>
            <a:off x="2162175" y="14763750"/>
            <a:ext cx="26136600" cy="152400"/>
          </a:xfrm>
          <a:prstGeom prst="rect">
            <a:avLst/>
          </a:prstGeom>
          <a:solidFill>
            <a:srgbClr val="1B2A6B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banner"/>
          <p:cNvSpPr/>
          <p:nvPr/>
        </p:nvSpPr>
        <p:spPr>
          <a:xfrm>
            <a:off x="2162175" y="12296775"/>
            <a:ext cx="26136600" cy="2438400"/>
          </a:xfrm>
          <a:prstGeom prst="rect">
            <a:avLst/>
          </a:prstGeom>
          <a:solidFill>
            <a:srgbClr val="093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banner-gloss"/>
          <p:cNvSpPr/>
          <p:nvPr/>
        </p:nvSpPr>
        <p:spPr>
          <a:xfrm>
            <a:off x="2162175" y="12296775"/>
            <a:ext cx="26136600" cy="552450"/>
          </a:xfrm>
          <a:prstGeom prst="rect">
            <a:avLst/>
          </a:prstGeom>
          <a:gradFill rotWithShape="1">
            <a:gsLst>
              <a:gs pos="0">
                <a:srgbClr val="0937BE"/>
              </a:gs>
              <a:gs pos="100000">
                <a:srgbClr val="C2CDF1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banner-text"/>
          <p:cNvSpPr txBox="1"/>
          <p:nvPr/>
        </p:nvSpPr>
        <p:spPr>
          <a:xfrm>
            <a:off x="2381250" y="13182600"/>
            <a:ext cx="25888950" cy="609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趋势洞察：2026年处于投入期略有亏损，2027年营收翻倍并实现盈利拐点，2028年进入高速增长期，</a:t>
            </a:r>
          </a:p>
        </p:txBody>
      </p:sp>
      <p:sp>
        <p:nvSpPr>
          <p:cNvPr id="59" name="footer-blue"/>
          <p:cNvSpPr/>
          <p:nvPr/>
        </p:nvSpPr>
        <p:spPr>
          <a:xfrm>
            <a:off x="5629275" y="15706725"/>
            <a:ext cx="23945850" cy="571500"/>
          </a:xfrm>
          <a:prstGeom prst="rect">
            <a:avLst/>
          </a:prstGeom>
          <a:solidFill>
            <a:srgbClr val="093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ooter-gold"/>
          <p:cNvSpPr/>
          <p:nvPr/>
        </p:nvSpPr>
        <p:spPr>
          <a:xfrm>
            <a:off x="876300" y="15706725"/>
            <a:ext cx="4724400" cy="571500"/>
          </a:xfrm>
          <a:prstGeom prst="rect">
            <a:avLst/>
          </a:prstGeom>
          <a:solidFill>
            <a:srgbClr val="FD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