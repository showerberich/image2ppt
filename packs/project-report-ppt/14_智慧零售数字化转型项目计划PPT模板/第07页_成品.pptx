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logo-blue"/>
          <p:cNvSpPr/>
          <p:nvPr/>
        </p:nvSpPr>
        <p:spPr>
          <a:xfrm>
            <a:off x="1219200" y="1504950"/>
            <a:ext cx="1981200" cy="1314450"/>
          </a:xfrm>
          <a:prstGeom prst="rect">
            <a:avLst/>
          </a:prstGeom>
          <a:gradFill rotWithShape="1">
            <a:gsLst>
              <a:gs pos="0">
                <a:srgbClr val="F7FBFF"/>
              </a:gs>
              <a:gs pos="100000">
                <a:srgbClr val="1B3EAE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logo-gold-a"/>
          <p:cNvSpPr/>
          <p:nvPr/>
        </p:nvSpPr>
        <p:spPr>
          <a:xfrm>
            <a:off x="952500" y="1895475"/>
            <a:ext cx="952500" cy="1114425"/>
          </a:xfrm>
          <a:prstGeom prst="rect">
            <a:avLst/>
          </a:prstGeom>
          <a:gradFill rotWithShape="1">
            <a:gsLst>
              <a:gs pos="0">
                <a:srgbClr val="FFFCF3"/>
              </a:gs>
              <a:gs pos="100000">
                <a:srgbClr val="D2B768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logo-gold-b"/>
          <p:cNvSpPr/>
          <p:nvPr/>
        </p:nvSpPr>
        <p:spPr>
          <a:xfrm>
            <a:off x="1905000" y="1895475"/>
            <a:ext cx="952500" cy="1114425"/>
          </a:xfrm>
          <a:prstGeom prst="rect">
            <a:avLst/>
          </a:prstGeom>
          <a:gradFill rotWithShape="1">
            <a:gsLst>
              <a:gs pos="0">
                <a:srgbClr val="D2B768"/>
              </a:gs>
              <a:gs pos="100000">
                <a:srgbClr val="F3B60D"/>
              </a:gs>
            </a:gsLst>
            <a:lin scaled="0" ang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"/>
          <p:cNvSpPr txBox="1"/>
          <p:nvPr/>
        </p:nvSpPr>
        <p:spPr>
          <a:xfrm>
            <a:off x="3705225" y="1352550"/>
            <a:ext cx="11944853" cy="143827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87" b="1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现状 vs 目标：转型前后对比</a:t>
            </a:r>
          </a:p>
        </p:txBody>
      </p:sp>
      <p:cxnSp>
        <p:nvCxnSpPr>
          <p:cNvPr id="7" name="title-rule"/>
          <p:cNvCxnSpPr/>
          <p:nvPr/>
        </p:nvCxnSpPr>
        <p:spPr>
          <a:xfrm>
            <a:off x="3476625" y="2752725"/>
            <a:ext cx="26955750" cy="0"/>
          </a:xfrm>
          <a:prstGeom prst="line">
            <a:avLst/>
          </a:prstGeom>
          <a:ln w="28575">
            <a:solidFill>
              <a:srgbClr val="AEAEA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anel-asis"/>
          <p:cNvSpPr/>
          <p:nvPr/>
        </p:nvSpPr>
        <p:spPr>
          <a:xfrm>
            <a:off x="2667000" y="4124325"/>
            <a:ext cx="13935075" cy="10344150"/>
          </a:xfrm>
          <a:custGeom>
            <a:avLst/>
            <a:gdLst/>
            <a:ahLst/>
            <a:cxnLst/>
            <a:rect l="l" t="t" r="r" b="b"/>
            <a:pathLst>
              <a:path w="13935075" h="10344150">
                <a:moveTo>
                  <a:pt x="0" y="10344150"/>
                </a:moveTo>
                <a:lnTo>
                  <a:pt x="0" y="828675"/>
                </a:lnTo>
                <a:lnTo>
                  <a:pt x="0" y="828675"/>
                </a:lnTo>
                <a:lnTo>
                  <a:pt x="9127" y="720511"/>
                </a:lnTo>
                <a:lnTo>
                  <a:pt x="36350" y="614198"/>
                </a:lnTo>
                <a:lnTo>
                  <a:pt x="81205" y="511555"/>
                </a:lnTo>
                <a:lnTo>
                  <a:pt x="142924" y="414337"/>
                </a:lnTo>
                <a:lnTo>
                  <a:pt x="220451" y="324210"/>
                </a:lnTo>
                <a:lnTo>
                  <a:pt x="312458" y="242713"/>
                </a:lnTo>
                <a:lnTo>
                  <a:pt x="417373" y="171243"/>
                </a:lnTo>
                <a:lnTo>
                  <a:pt x="533400" y="111021"/>
                </a:lnTo>
                <a:lnTo>
                  <a:pt x="658553" y="63079"/>
                </a:lnTo>
                <a:lnTo>
                  <a:pt x="790692" y="28236"/>
                </a:lnTo>
                <a:lnTo>
                  <a:pt x="927555" y="7089"/>
                </a:lnTo>
                <a:lnTo>
                  <a:pt x="1066800" y="0"/>
                </a:lnTo>
                <a:lnTo>
                  <a:pt x="9791700" y="0"/>
                </a:lnTo>
                <a:lnTo>
                  <a:pt x="13935075" y="10344150"/>
                </a:lnTo>
                <a:close/>
              </a:path>
            </a:pathLst>
          </a:cu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anel-deco-circle"/>
          <p:cNvSpPr/>
          <p:nvPr/>
        </p:nvSpPr>
        <p:spPr>
          <a:xfrm>
            <a:off x="2676525" y="4133850"/>
            <a:ext cx="1685925" cy="1543050"/>
          </a:xfrm>
          <a:custGeom>
            <a:avLst/>
            <a:gdLst/>
            <a:ahLst/>
            <a:cxnLst/>
            <a:rect l="l" t="t" r="r" b="b"/>
            <a:pathLst>
              <a:path w="1685925" h="1543050">
                <a:moveTo>
                  <a:pt x="1685925" y="533400"/>
                </a:moveTo>
                <a:lnTo>
                  <a:pt x="1682083" y="621397"/>
                </a:lnTo>
                <a:lnTo>
                  <a:pt x="1670586" y="708724"/>
                </a:lnTo>
                <a:lnTo>
                  <a:pt x="1651522" y="794717"/>
                </a:lnTo>
                <a:lnTo>
                  <a:pt x="1625036" y="878721"/>
                </a:lnTo>
                <a:lnTo>
                  <a:pt x="1591329" y="960097"/>
                </a:lnTo>
                <a:lnTo>
                  <a:pt x="1550658" y="1038225"/>
                </a:lnTo>
                <a:lnTo>
                  <a:pt x="1503332" y="1112511"/>
                </a:lnTo>
                <a:lnTo>
                  <a:pt x="1449712" y="1182391"/>
                </a:lnTo>
                <a:lnTo>
                  <a:pt x="1390205" y="1247330"/>
                </a:lnTo>
                <a:lnTo>
                  <a:pt x="1325266" y="1306837"/>
                </a:lnTo>
                <a:lnTo>
                  <a:pt x="1255386" y="1360457"/>
                </a:lnTo>
                <a:lnTo>
                  <a:pt x="1181100" y="1407783"/>
                </a:lnTo>
                <a:lnTo>
                  <a:pt x="1102972" y="1448454"/>
                </a:lnTo>
                <a:lnTo>
                  <a:pt x="1021596" y="1482161"/>
                </a:lnTo>
                <a:lnTo>
                  <a:pt x="937592" y="1508647"/>
                </a:lnTo>
                <a:lnTo>
                  <a:pt x="851599" y="1527711"/>
                </a:lnTo>
                <a:lnTo>
                  <a:pt x="764272" y="1539208"/>
                </a:lnTo>
                <a:lnTo>
                  <a:pt x="676275" y="1543050"/>
                </a:lnTo>
                <a:lnTo>
                  <a:pt x="588278" y="1539208"/>
                </a:lnTo>
                <a:lnTo>
                  <a:pt x="500951" y="1527711"/>
                </a:lnTo>
                <a:lnTo>
                  <a:pt x="414958" y="1508647"/>
                </a:lnTo>
                <a:lnTo>
                  <a:pt x="330954" y="1482161"/>
                </a:lnTo>
                <a:lnTo>
                  <a:pt x="249578" y="1448454"/>
                </a:lnTo>
                <a:lnTo>
                  <a:pt x="171450" y="1407783"/>
                </a:lnTo>
                <a:lnTo>
                  <a:pt x="97164" y="1360457"/>
                </a:lnTo>
                <a:lnTo>
                  <a:pt x="27284" y="1306837"/>
                </a:lnTo>
                <a:lnTo>
                  <a:pt x="0" y="1247330"/>
                </a:lnTo>
                <a:lnTo>
                  <a:pt x="0" y="1182391"/>
                </a:lnTo>
                <a:lnTo>
                  <a:pt x="0" y="1112511"/>
                </a:lnTo>
                <a:lnTo>
                  <a:pt x="0" y="1038225"/>
                </a:lnTo>
                <a:lnTo>
                  <a:pt x="0" y="960097"/>
                </a:lnTo>
                <a:lnTo>
                  <a:pt x="0" y="878721"/>
                </a:lnTo>
                <a:lnTo>
                  <a:pt x="0" y="794717"/>
                </a:lnTo>
                <a:lnTo>
                  <a:pt x="0" y="708724"/>
                </a:lnTo>
                <a:lnTo>
                  <a:pt x="0" y="621397"/>
                </a:lnTo>
                <a:lnTo>
                  <a:pt x="0" y="533400"/>
                </a:lnTo>
                <a:lnTo>
                  <a:pt x="0" y="445403"/>
                </a:lnTo>
                <a:lnTo>
                  <a:pt x="0" y="358076"/>
                </a:lnTo>
                <a:lnTo>
                  <a:pt x="0" y="272083"/>
                </a:lnTo>
                <a:lnTo>
                  <a:pt x="0" y="188079"/>
                </a:lnTo>
                <a:lnTo>
                  <a:pt x="0" y="106703"/>
                </a:lnTo>
                <a:lnTo>
                  <a:pt x="0" y="28575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27284" y="0"/>
                </a:lnTo>
                <a:lnTo>
                  <a:pt x="97164" y="0"/>
                </a:lnTo>
                <a:lnTo>
                  <a:pt x="171450" y="0"/>
                </a:lnTo>
                <a:lnTo>
                  <a:pt x="249578" y="0"/>
                </a:lnTo>
                <a:lnTo>
                  <a:pt x="330954" y="0"/>
                </a:lnTo>
                <a:lnTo>
                  <a:pt x="414958" y="0"/>
                </a:lnTo>
                <a:lnTo>
                  <a:pt x="500951" y="0"/>
                </a:lnTo>
                <a:lnTo>
                  <a:pt x="588278" y="0"/>
                </a:lnTo>
                <a:lnTo>
                  <a:pt x="676275" y="0"/>
                </a:lnTo>
                <a:lnTo>
                  <a:pt x="764272" y="0"/>
                </a:lnTo>
                <a:lnTo>
                  <a:pt x="851599" y="0"/>
                </a:lnTo>
                <a:lnTo>
                  <a:pt x="937592" y="0"/>
                </a:lnTo>
                <a:lnTo>
                  <a:pt x="1021596" y="0"/>
                </a:lnTo>
                <a:lnTo>
                  <a:pt x="1102972" y="0"/>
                </a:lnTo>
                <a:lnTo>
                  <a:pt x="1181100" y="0"/>
                </a:lnTo>
                <a:lnTo>
                  <a:pt x="1255386" y="0"/>
                </a:lnTo>
                <a:lnTo>
                  <a:pt x="1325266" y="0"/>
                </a:lnTo>
                <a:lnTo>
                  <a:pt x="1390205" y="0"/>
                </a:lnTo>
                <a:lnTo>
                  <a:pt x="1449712" y="0"/>
                </a:lnTo>
                <a:lnTo>
                  <a:pt x="1503332" y="0"/>
                </a:lnTo>
                <a:lnTo>
                  <a:pt x="1550658" y="28575"/>
                </a:lnTo>
                <a:lnTo>
                  <a:pt x="1591329" y="106703"/>
                </a:lnTo>
                <a:lnTo>
                  <a:pt x="1625036" y="188079"/>
                </a:lnTo>
                <a:lnTo>
                  <a:pt x="1651522" y="272083"/>
                </a:lnTo>
                <a:lnTo>
                  <a:pt x="1670586" y="358076"/>
                </a:lnTo>
                <a:lnTo>
                  <a:pt x="1682083" y="445403"/>
                </a:lnTo>
                <a:lnTo>
                  <a:pt x="1685925" y="533400"/>
                </a:lnTo>
                <a:close/>
              </a:path>
            </a:pathLst>
          </a:custGeom>
          <a:solidFill>
            <a:srgbClr val="527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-asis"/>
          <p:cNvSpPr txBox="1"/>
          <p:nvPr/>
        </p:nvSpPr>
        <p:spPr>
          <a:xfrm>
            <a:off x="3686175" y="5753100"/>
            <a:ext cx="5389359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62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当前现状 (AS-IS)</a:t>
            </a:r>
          </a:p>
        </p:txBody>
      </p:sp>
      <p:cxnSp>
        <p:nvCxnSpPr>
          <p:cNvPr id="11" name="h-asis-rule"/>
          <p:cNvCxnSpPr/>
          <p:nvPr/>
        </p:nvCxnSpPr>
        <p:spPr>
          <a:xfrm>
            <a:off x="3657600" y="7048500"/>
            <a:ext cx="8810625" cy="0"/>
          </a:xfrm>
          <a:prstGeom prst="line">
            <a:avLst/>
          </a:prstGeom>
          <a:ln w="28575">
            <a:solidFill>
              <a:srgbClr val="EAFA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sis-l1"/>
          <p:cNvSpPr txBox="1"/>
          <p:nvPr/>
        </p:nvSpPr>
        <p:spPr>
          <a:xfrm>
            <a:off x="3686175" y="7429500"/>
            <a:ext cx="8958986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客户管理：人工记录，信息孤岛，无法形成</a:t>
            </a:r>
          </a:p>
        </p:txBody>
      </p:sp>
      <p:sp>
        <p:nvSpPr>
          <p:cNvPr id="13" name="asis-l2"/>
          <p:cNvSpPr txBox="1"/>
          <p:nvPr/>
        </p:nvSpPr>
        <p:spPr>
          <a:xfrm>
            <a:off x="3686175" y="8172450"/>
            <a:ext cx="8953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统一视图。</a:t>
            </a:r>
          </a:p>
        </p:txBody>
      </p:sp>
      <p:sp>
        <p:nvSpPr>
          <p:cNvPr id="14" name="asis-l3"/>
          <p:cNvSpPr txBox="1"/>
          <p:nvPr/>
        </p:nvSpPr>
        <p:spPr>
          <a:xfrm>
            <a:off x="3686175" y="9210675"/>
            <a:ext cx="8958986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营销方式：粗放式的广撒网，缺乏精准度，</a:t>
            </a:r>
          </a:p>
        </p:txBody>
      </p:sp>
      <p:sp>
        <p:nvSpPr>
          <p:cNvPr id="15" name="asis-l4"/>
          <p:cNvSpPr txBox="1"/>
          <p:nvPr/>
        </p:nvSpPr>
        <p:spPr>
          <a:xfrm>
            <a:off x="3686175" y="9944100"/>
            <a:ext cx="8953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效果不佳。</a:t>
            </a:r>
          </a:p>
        </p:txBody>
      </p:sp>
      <p:sp>
        <p:nvSpPr>
          <p:cNvPr id="16" name="asis-l5"/>
          <p:cNvSpPr txBox="1"/>
          <p:nvPr/>
        </p:nvSpPr>
        <p:spPr>
          <a:xfrm>
            <a:off x="3686175" y="11001375"/>
            <a:ext cx="8958986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库存管理：被动响应市场需求，库存周转率</a:t>
            </a:r>
          </a:p>
        </p:txBody>
      </p:sp>
      <p:sp>
        <p:nvSpPr>
          <p:cNvPr id="17" name="asis-l6"/>
          <p:cNvSpPr txBox="1"/>
          <p:nvPr/>
        </p:nvSpPr>
        <p:spPr>
          <a:xfrm>
            <a:off x="3686175" y="11734800"/>
            <a:ext cx="89535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低，成本高。</a:t>
            </a:r>
          </a:p>
        </p:txBody>
      </p:sp>
      <p:sp>
        <p:nvSpPr>
          <p:cNvPr id="18" name="banner-asis"/>
          <p:cNvSpPr/>
          <p:nvPr/>
        </p:nvSpPr>
        <p:spPr>
          <a:xfrm>
            <a:off x="11268075" y="12811125"/>
            <a:ext cx="4762500" cy="1143000"/>
          </a:xfrm>
          <a:custGeom>
            <a:avLst/>
            <a:gdLst/>
            <a:ahLst/>
            <a:cxnLst/>
            <a:rect l="l" t="t" r="r" b="b"/>
            <a:pathLst>
              <a:path w="4762500" h="1143000">
                <a:moveTo>
                  <a:pt x="514350" y="0"/>
                </a:moveTo>
                <a:lnTo>
                  <a:pt x="4333875" y="0"/>
                </a:lnTo>
                <a:lnTo>
                  <a:pt x="4762500" y="1143000"/>
                </a:lnTo>
                <a:lnTo>
                  <a:pt x="514350" y="1143000"/>
                </a:lnTo>
                <a:lnTo>
                  <a:pt x="0" y="571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anner-asis-text"/>
          <p:cNvSpPr txBox="1"/>
          <p:nvPr/>
        </p:nvSpPr>
        <p:spPr>
          <a:xfrm>
            <a:off x="12211050" y="12944475"/>
            <a:ext cx="28575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存量瓶颈</a:t>
            </a:r>
          </a:p>
        </p:txBody>
      </p:sp>
      <p:sp>
        <p:nvSpPr>
          <p:cNvPr id="20" name="panel-tobe"/>
          <p:cNvSpPr/>
          <p:nvPr/>
        </p:nvSpPr>
        <p:spPr>
          <a:xfrm>
            <a:off x="13163550" y="4095750"/>
            <a:ext cx="14649450" cy="10382250"/>
          </a:xfrm>
          <a:custGeom>
            <a:avLst/>
            <a:gdLst/>
            <a:ahLst/>
            <a:cxnLst/>
            <a:rect l="l" t="t" r="r" b="b"/>
            <a:pathLst>
              <a:path w="14649450" h="10382250">
                <a:moveTo>
                  <a:pt x="0" y="0"/>
                </a:moveTo>
                <a:lnTo>
                  <a:pt x="14649450" y="0"/>
                </a:lnTo>
                <a:lnTo>
                  <a:pt x="14649450" y="9353550"/>
                </a:lnTo>
                <a:lnTo>
                  <a:pt x="14649450" y="9353550"/>
                </a:lnTo>
                <a:lnTo>
                  <a:pt x="14644497" y="9454380"/>
                </a:lnTo>
                <a:lnTo>
                  <a:pt x="14629684" y="9554239"/>
                </a:lnTo>
                <a:lnTo>
                  <a:pt x="14605155" y="9652166"/>
                </a:lnTo>
                <a:lnTo>
                  <a:pt x="14571145" y="9747216"/>
                </a:lnTo>
                <a:lnTo>
                  <a:pt x="14527982" y="9838476"/>
                </a:lnTo>
                <a:lnTo>
                  <a:pt x="14476083" y="9925065"/>
                </a:lnTo>
                <a:lnTo>
                  <a:pt x="14415946" y="10006150"/>
                </a:lnTo>
                <a:lnTo>
                  <a:pt x="14348151" y="10080951"/>
                </a:lnTo>
                <a:lnTo>
                  <a:pt x="14273350" y="10148746"/>
                </a:lnTo>
                <a:lnTo>
                  <a:pt x="14192265" y="10208883"/>
                </a:lnTo>
                <a:lnTo>
                  <a:pt x="14105676" y="10260782"/>
                </a:lnTo>
                <a:lnTo>
                  <a:pt x="14014416" y="10303945"/>
                </a:lnTo>
                <a:lnTo>
                  <a:pt x="13919366" y="10337955"/>
                </a:lnTo>
                <a:lnTo>
                  <a:pt x="13821439" y="10362484"/>
                </a:lnTo>
                <a:lnTo>
                  <a:pt x="13721580" y="10377297"/>
                </a:lnTo>
                <a:lnTo>
                  <a:pt x="13620750" y="10382250"/>
                </a:lnTo>
                <a:lnTo>
                  <a:pt x="4152900" y="1038225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rgbClr val="E5BA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orner-deco"/>
          <p:cNvSpPr/>
          <p:nvPr/>
        </p:nvSpPr>
        <p:spPr>
          <a:xfrm>
            <a:off x="26099197" y="12573000"/>
            <a:ext cx="1713803" cy="1905613"/>
          </a:xfrm>
          <a:custGeom>
            <a:avLst/>
            <a:gdLst/>
            <a:ahLst/>
            <a:cxnLst/>
            <a:rect l="l" t="t" r="r" b="b"/>
            <a:pathLst>
              <a:path w="1713803" h="1905613">
                <a:moveTo>
                  <a:pt x="1713803" y="0"/>
                </a:moveTo>
                <a:lnTo>
                  <a:pt x="1713803" y="876300"/>
                </a:lnTo>
                <a:lnTo>
                  <a:pt x="1713803" y="876300"/>
                </a:lnTo>
                <a:lnTo>
                  <a:pt x="1708850" y="977130"/>
                </a:lnTo>
                <a:lnTo>
                  <a:pt x="1694037" y="1076989"/>
                </a:lnTo>
                <a:lnTo>
                  <a:pt x="1669508" y="1174916"/>
                </a:lnTo>
                <a:lnTo>
                  <a:pt x="1635498" y="1269966"/>
                </a:lnTo>
                <a:lnTo>
                  <a:pt x="1592335" y="1361226"/>
                </a:lnTo>
                <a:lnTo>
                  <a:pt x="1540436" y="1447815"/>
                </a:lnTo>
                <a:lnTo>
                  <a:pt x="1480299" y="1528900"/>
                </a:lnTo>
                <a:lnTo>
                  <a:pt x="1412504" y="1603701"/>
                </a:lnTo>
                <a:lnTo>
                  <a:pt x="1337703" y="1671496"/>
                </a:lnTo>
                <a:lnTo>
                  <a:pt x="1256618" y="1731633"/>
                </a:lnTo>
                <a:lnTo>
                  <a:pt x="1170029" y="1783532"/>
                </a:lnTo>
                <a:lnTo>
                  <a:pt x="1078769" y="1826695"/>
                </a:lnTo>
                <a:lnTo>
                  <a:pt x="983719" y="1860705"/>
                </a:lnTo>
                <a:lnTo>
                  <a:pt x="885792" y="1885234"/>
                </a:lnTo>
                <a:lnTo>
                  <a:pt x="785933" y="1900047"/>
                </a:lnTo>
                <a:lnTo>
                  <a:pt x="685103" y="1905000"/>
                </a:lnTo>
                <a:lnTo>
                  <a:pt x="8828" y="1905000"/>
                </a:lnTo>
                <a:lnTo>
                  <a:pt x="9988" y="1905613"/>
                </a:lnTo>
                <a:lnTo>
                  <a:pt x="786" y="1785798"/>
                </a:lnTo>
                <a:lnTo>
                  <a:pt x="0" y="1665631"/>
                </a:lnTo>
                <a:lnTo>
                  <a:pt x="7632" y="1545705"/>
                </a:lnTo>
                <a:lnTo>
                  <a:pt x="23647" y="1426608"/>
                </a:lnTo>
                <a:lnTo>
                  <a:pt x="47964" y="1308926"/>
                </a:lnTo>
                <a:lnTo>
                  <a:pt x="80465" y="1193235"/>
                </a:lnTo>
                <a:lnTo>
                  <a:pt x="120990" y="1080106"/>
                </a:lnTo>
                <a:lnTo>
                  <a:pt x="169339" y="970093"/>
                </a:lnTo>
                <a:lnTo>
                  <a:pt x="225276" y="863737"/>
                </a:lnTo>
                <a:lnTo>
                  <a:pt x="288525" y="761560"/>
                </a:lnTo>
                <a:lnTo>
                  <a:pt x="358777" y="664065"/>
                </a:lnTo>
                <a:lnTo>
                  <a:pt x="435684" y="571730"/>
                </a:lnTo>
                <a:lnTo>
                  <a:pt x="518871" y="485009"/>
                </a:lnTo>
                <a:lnTo>
                  <a:pt x="607928" y="404328"/>
                </a:lnTo>
                <a:lnTo>
                  <a:pt x="702417" y="330083"/>
                </a:lnTo>
                <a:lnTo>
                  <a:pt x="801875" y="262640"/>
                </a:lnTo>
                <a:lnTo>
                  <a:pt x="905813" y="202328"/>
                </a:lnTo>
                <a:lnTo>
                  <a:pt x="1013720" y="149446"/>
                </a:lnTo>
                <a:lnTo>
                  <a:pt x="1125067" y="104252"/>
                </a:lnTo>
                <a:lnTo>
                  <a:pt x="1239305" y="66968"/>
                </a:lnTo>
                <a:lnTo>
                  <a:pt x="1355875" y="37778"/>
                </a:lnTo>
                <a:lnTo>
                  <a:pt x="1474203" y="16825"/>
                </a:lnTo>
                <a:lnTo>
                  <a:pt x="1593708" y="4211"/>
                </a:lnTo>
                <a:lnTo>
                  <a:pt x="1713803" y="0"/>
                </a:lnTo>
                <a:close/>
              </a:path>
            </a:pathLst>
          </a:custGeom>
          <a:solidFill>
            <a:srgbClr val="FFEA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anner-tobe"/>
          <p:cNvSpPr/>
          <p:nvPr/>
        </p:nvSpPr>
        <p:spPr>
          <a:xfrm>
            <a:off x="13725525" y="4629150"/>
            <a:ext cx="4762500" cy="1143000"/>
          </a:xfrm>
          <a:custGeom>
            <a:avLst/>
            <a:gdLst/>
            <a:ahLst/>
            <a:cxnLst/>
            <a:rect l="l" t="t" r="r" b="b"/>
            <a:pathLst>
              <a:path w="4762500" h="1143000">
                <a:moveTo>
                  <a:pt x="0" y="0"/>
                </a:moveTo>
                <a:lnTo>
                  <a:pt x="4267200" y="0"/>
                </a:lnTo>
                <a:lnTo>
                  <a:pt x="4762500" y="571500"/>
                </a:lnTo>
                <a:lnTo>
                  <a:pt x="4267200" y="1143000"/>
                </a:lnTo>
                <a:lnTo>
                  <a:pt x="409575" y="1143000"/>
                </a:lnTo>
                <a:close/>
              </a:path>
            </a:pathLst>
          </a:cu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banner-tobe-text"/>
          <p:cNvSpPr txBox="1"/>
          <p:nvPr/>
        </p:nvSpPr>
        <p:spPr>
          <a:xfrm>
            <a:off x="14859000" y="4724400"/>
            <a:ext cx="2514600" cy="914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4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数智重构</a:t>
            </a:r>
          </a:p>
        </p:txBody>
      </p:sp>
      <p:sp>
        <p:nvSpPr>
          <p:cNvPr id="24" name="h-tobe"/>
          <p:cNvSpPr txBox="1"/>
          <p:nvPr/>
        </p:nvSpPr>
        <p:spPr>
          <a:xfrm>
            <a:off x="21574125" y="5753100"/>
            <a:ext cx="5905500" cy="10287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062" b="1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转型目标 (TO-BE)</a:t>
            </a:r>
          </a:p>
        </p:txBody>
      </p:sp>
      <p:cxnSp>
        <p:nvCxnSpPr>
          <p:cNvPr id="25" name="h-tobe-rule"/>
          <p:cNvCxnSpPr/>
          <p:nvPr/>
        </p:nvCxnSpPr>
        <p:spPr>
          <a:xfrm>
            <a:off x="18097500" y="7048500"/>
            <a:ext cx="8848725" cy="0"/>
          </a:xfrm>
          <a:prstGeom prst="line">
            <a:avLst/>
          </a:prstGeom>
          <a:ln w="19050">
            <a:solidFill>
              <a:srgbClr val="1C388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obe-l1"/>
          <p:cNvSpPr txBox="1"/>
          <p:nvPr/>
        </p:nvSpPr>
        <p:spPr>
          <a:xfrm>
            <a:off x="18040350" y="7429500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客户管理：建立数字化会员体系，实现精准</a:t>
            </a:r>
          </a:p>
        </p:txBody>
      </p:sp>
      <p:sp>
        <p:nvSpPr>
          <p:cNvPr id="27" name="tobe-l2"/>
          <p:cNvSpPr txBox="1"/>
          <p:nvPr/>
        </p:nvSpPr>
        <p:spPr>
          <a:xfrm>
            <a:off x="18040350" y="8172450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用户画像和个性化服务。</a:t>
            </a:r>
          </a:p>
        </p:txBody>
      </p:sp>
      <p:sp>
        <p:nvSpPr>
          <p:cNvPr id="28" name="tobe-l3"/>
          <p:cNvSpPr txBox="1"/>
          <p:nvPr/>
        </p:nvSpPr>
        <p:spPr>
          <a:xfrm>
            <a:off x="18040350" y="9210675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营销方式：基于用户画像的个性化推荐，实</a:t>
            </a:r>
          </a:p>
        </p:txBody>
      </p:sp>
      <p:sp>
        <p:nvSpPr>
          <p:cNvPr id="29" name="tobe-l4"/>
          <p:cNvSpPr txBox="1"/>
          <p:nvPr/>
        </p:nvSpPr>
        <p:spPr>
          <a:xfrm>
            <a:off x="18040350" y="9944100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现精准触达和高效转化。</a:t>
            </a:r>
          </a:p>
        </p:txBody>
      </p:sp>
      <p:sp>
        <p:nvSpPr>
          <p:cNvPr id="30" name="tobe-l5"/>
          <p:cNvSpPr txBox="1"/>
          <p:nvPr/>
        </p:nvSpPr>
        <p:spPr>
          <a:xfrm>
            <a:off x="18040350" y="11001375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库存管理：通过智能预测实现动态调整，提</a:t>
            </a:r>
          </a:p>
        </p:txBody>
      </p:sp>
      <p:sp>
        <p:nvSpPr>
          <p:cNvPr id="31" name="tobe-l6"/>
          <p:cNvSpPr txBox="1"/>
          <p:nvPr/>
        </p:nvSpPr>
        <p:spPr>
          <a:xfrm>
            <a:off x="18040350" y="11734800"/>
            <a:ext cx="9144000" cy="7239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3570" b="0" i="0">
                <a:solidFill>
                  <a:srgbClr val="0937BE"/>
                </a:solidFill>
                <a:latin typeface="Microsoft YaHei"/>
                <a:ea typeface="Microsoft YaHei"/>
                <a:cs typeface="Microsoft YaHei"/>
              </a:rPr>
              <a:t>高库存周转率，降低成本。</a:t>
            </a:r>
          </a:p>
        </p:txBody>
      </p:sp>
      <p:sp>
        <p:nvSpPr>
          <p:cNvPr id="32" name="footer-gold"/>
          <p:cNvSpPr/>
          <p:nvPr/>
        </p:nvSpPr>
        <p:spPr>
          <a:xfrm>
            <a:off x="885825" y="15706725"/>
            <a:ext cx="4743450" cy="561975"/>
          </a:xfrm>
          <a:prstGeom prst="rect">
            <a:avLst/>
          </a:prstGeom>
          <a:solidFill>
            <a:srgbClr val="FDBC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footer-blue"/>
          <p:cNvSpPr/>
          <p:nvPr/>
        </p:nvSpPr>
        <p:spPr>
          <a:xfrm>
            <a:off x="5629275" y="15706725"/>
            <a:ext cx="23926800" cy="561975"/>
          </a:xfrm>
          <a:prstGeom prst="rect">
            <a:avLst/>
          </a:prstGeom>
          <a:solidFill>
            <a:srgbClr val="0937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