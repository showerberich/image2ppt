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-blue"/>
          <p:cNvSpPr/>
          <p:nvPr/>
        </p:nvSpPr>
        <p:spPr>
          <a:xfrm>
            <a:off x="1447800" y="1504950"/>
            <a:ext cx="1733550" cy="1314450"/>
          </a:xfrm>
          <a:prstGeom prst="rect">
            <a:avLst/>
          </a:prstGeom>
          <a:gradFill rotWithShape="1">
            <a:gsLst>
              <a:gs pos="0">
                <a:srgbClr val="DCE3F7"/>
              </a:gs>
              <a:gs pos="100000">
                <a:srgbClr val="0E3AB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yellow"/>
          <p:cNvSpPr/>
          <p:nvPr/>
        </p:nvSpPr>
        <p:spPr>
          <a:xfrm>
            <a:off x="1209675" y="1885950"/>
            <a:ext cx="1638300" cy="1104900"/>
          </a:xfrm>
          <a:prstGeom prst="rect">
            <a:avLst/>
          </a:prstGeom>
          <a:gradFill rotWithShape="1">
            <a:gsLst>
              <a:gs pos="0">
                <a:srgbClr val="E2D0A4"/>
              </a:gs>
              <a:gs pos="100000">
                <a:srgbClr val="F6B80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3667125" y="1314450"/>
            <a:ext cx="16419195" cy="1476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312" b="1" i="0">
                <a:solidFill>
                  <a:srgbClr val="0B37BE"/>
                </a:solidFill>
                <a:latin typeface="Microsoft YaHei"/>
                <a:ea typeface="Microsoft YaHei"/>
                <a:cs typeface="Microsoft YaHei"/>
              </a:rPr>
              <a:t>项目背景：传统零售面临的挑战与机遇</a:t>
            </a:r>
          </a:p>
        </p:txBody>
      </p:sp>
      <p:cxnSp>
        <p:nvCxnSpPr>
          <p:cNvPr id="6" name="divider"/>
          <p:cNvCxnSpPr/>
          <p:nvPr/>
        </p:nvCxnSpPr>
        <p:spPr>
          <a:xfrm>
            <a:off x="3486150" y="2752725"/>
            <a:ext cx="26060400" cy="0"/>
          </a:xfrm>
          <a:prstGeom prst="line">
            <a:avLst/>
          </a:prstGeom>
          <a:ln w="42862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card1"/>
          <p:cNvGrpSpPr/>
          <p:nvPr/>
        </p:nvGrpSpPr>
        <p:grpSpPr>
          <a:xfrm>
            <a:off x="3038475" y="3590925"/>
            <a:ext cx="7200900" cy="12268200"/>
            <a:chOff x="3038475" y="3590925"/>
            <a:chExt cx="7200900" cy="12268200"/>
          </a:xfrm>
        </p:grpSpPr>
        <p:sp>
          <p:nvSpPr>
            <p:cNvPr id="7" name="card1-panel"/>
            <p:cNvSpPr/>
            <p:nvPr/>
          </p:nvSpPr>
          <p:spPr>
            <a:xfrm>
              <a:off x="3038475" y="4391025"/>
              <a:ext cx="7200900" cy="11468100"/>
            </a:xfrm>
            <a:prstGeom prst="roundRect">
              <a:avLst>
                <a:gd name="adj" fmla="val 2380"/>
              </a:avLst>
            </a:prstGeom>
            <a:solidFill>
              <a:srgbClr val="FFFFFF"/>
            </a:solidFill>
            <a:ln w="28575">
              <a:solidFill>
                <a:srgbClr val="3A5F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card1-shade-top"/>
            <p:cNvSpPr/>
            <p:nvPr/>
          </p:nvSpPr>
          <p:spPr>
            <a:xfrm>
              <a:off x="3057525" y="4410075"/>
              <a:ext cx="7162800" cy="5638800"/>
            </a:xfrm>
            <a:prstGeom prst="rect">
              <a:avLst/>
            </a:prstGeom>
            <a:gradFill rotWithShape="1">
              <a:gsLst>
                <a:gs pos="0">
                  <a:srgbClr val="F2F2F2"/>
                </a:gs>
                <a:gs pos="100000">
                  <a:srgbClr val="FFFFF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ard1-shade-bot"/>
            <p:cNvSpPr/>
            <p:nvPr/>
          </p:nvSpPr>
          <p:spPr>
            <a:xfrm>
              <a:off x="3057525" y="10048875"/>
              <a:ext cx="7162800" cy="56388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2F2F2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card1-badge"/>
            <p:cNvSpPr/>
            <p:nvPr/>
          </p:nvSpPr>
          <p:spPr>
            <a:xfrm>
              <a:off x="5857875" y="3590925"/>
              <a:ext cx="1714500" cy="1714500"/>
            </a:xfrm>
            <a:prstGeom prst="ellipse">
              <a:avLst/>
            </a:prstGeom>
            <a:solidFill>
              <a:srgbClr val="0B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c0-r0"/>
            <p:cNvSpPr/>
            <p:nvPr/>
          </p:nvSpPr>
          <p:spPr>
            <a:xfrm>
              <a:off x="6238875" y="4067175"/>
              <a:ext cx="857250" cy="685800"/>
            </a:xfrm>
            <a:prstGeom prst="roundRect">
              <a:avLst>
                <a:gd name="adj" fmla="val 5555"/>
              </a:avLst>
            </a:prstGeom>
            <a:noFill/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ic0-l1"/>
            <p:cNvCxnSpPr/>
            <p:nvPr/>
          </p:nvCxnSpPr>
          <p:spPr>
            <a:xfrm>
              <a:off x="6238875" y="4238625"/>
              <a:ext cx="857250" cy="0"/>
            </a:xfrm>
            <a:prstGeom prst="line">
              <a:avLst/>
            </a:prstGeom>
            <a:ln w="42862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ic0-r2"/>
            <p:cNvSpPr/>
            <p:nvPr/>
          </p:nvSpPr>
          <p:spPr>
            <a:xfrm>
              <a:off x="6334125" y="4305300"/>
              <a:ext cx="209550" cy="304800"/>
            </a:xfrm>
            <a:prstGeom prst="roundRect">
              <a:avLst>
                <a:gd name="adj" fmla="val 9090"/>
              </a:avLst>
            </a:prstGeom>
            <a:noFill/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ic0-l3"/>
            <p:cNvCxnSpPr/>
            <p:nvPr/>
          </p:nvCxnSpPr>
          <p:spPr>
            <a:xfrm>
              <a:off x="6438900" y="4343400"/>
              <a:ext cx="0" cy="228600"/>
            </a:xfrm>
            <a:prstGeom prst="line">
              <a:avLst/>
            </a:prstGeom>
            <a:ln w="3333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ic0-l4"/>
            <p:cNvCxnSpPr/>
            <p:nvPr/>
          </p:nvCxnSpPr>
          <p:spPr>
            <a:xfrm>
              <a:off x="6638925" y="4343400"/>
              <a:ext cx="342900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ic0-l5"/>
            <p:cNvCxnSpPr/>
            <p:nvPr/>
          </p:nvCxnSpPr>
          <p:spPr>
            <a:xfrm>
              <a:off x="6638925" y="4457700"/>
              <a:ext cx="342900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ic0-l6"/>
            <p:cNvCxnSpPr/>
            <p:nvPr/>
          </p:nvCxnSpPr>
          <p:spPr>
            <a:xfrm>
              <a:off x="6638925" y="4572000"/>
              <a:ext cx="342900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ear738-ring"/>
            <p:cNvSpPr/>
            <p:nvPr/>
          </p:nvSpPr>
          <p:spPr>
            <a:xfrm>
              <a:off x="6886575" y="4495800"/>
              <a:ext cx="285750" cy="285750"/>
            </a:xfrm>
            <a:prstGeom prst="ellipse">
              <a:avLst/>
            </a:prstGeom>
            <a:solidFill>
              <a:srgbClr val="0B37B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gear738-t0"/>
            <p:cNvCxnSpPr/>
            <p:nvPr/>
          </p:nvCxnSpPr>
          <p:spPr>
            <a:xfrm>
              <a:off x="7128449" y="4679682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ar738-t1"/>
            <p:cNvCxnSpPr/>
            <p:nvPr/>
          </p:nvCxnSpPr>
          <p:spPr>
            <a:xfrm>
              <a:off x="7070457" y="4737674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ar738-t2"/>
            <p:cNvCxnSpPr/>
            <p:nvPr/>
          </p:nvCxnSpPr>
          <p:spPr>
            <a:xfrm flipH="1">
              <a:off x="6951810" y="4737674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ar738-t3"/>
            <p:cNvCxnSpPr/>
            <p:nvPr/>
          </p:nvCxnSpPr>
          <p:spPr>
            <a:xfrm flipH="1">
              <a:off x="6842011" y="4679682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ar738-t4"/>
            <p:cNvCxnSpPr/>
            <p:nvPr/>
          </p:nvCxnSpPr>
          <p:spPr>
            <a:xfrm flipH="1" flipV="1">
              <a:off x="6842011" y="4561035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ar738-t5"/>
            <p:cNvCxnSpPr/>
            <p:nvPr/>
          </p:nvCxnSpPr>
          <p:spPr>
            <a:xfrm flipH="1" flipV="1">
              <a:off x="6951810" y="4451236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ar738-t6"/>
            <p:cNvCxnSpPr/>
            <p:nvPr/>
          </p:nvCxnSpPr>
          <p:spPr>
            <a:xfrm flipV="1">
              <a:off x="7070457" y="4451236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ar738-t7"/>
            <p:cNvCxnSpPr/>
            <p:nvPr/>
          </p:nvCxnSpPr>
          <p:spPr>
            <a:xfrm flipV="1">
              <a:off x="7128449" y="4561035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gear738-hub"/>
            <p:cNvSpPr/>
            <p:nvPr/>
          </p:nvSpPr>
          <p:spPr>
            <a:xfrm>
              <a:off x="6986588" y="4595812"/>
              <a:ext cx="85725" cy="85725"/>
            </a:xfrm>
            <a:prstGeom prst="ellipse">
              <a:avLst/>
            </a:prstGeom>
            <a:solidFill>
              <a:srgbClr val="0B37B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card1-pill"/>
            <p:cNvSpPr/>
            <p:nvPr/>
          </p:nvSpPr>
          <p:spPr>
            <a:xfrm>
              <a:off x="3705225" y="5610225"/>
              <a:ext cx="5876925" cy="1209675"/>
            </a:xfrm>
            <a:prstGeom prst="roundRect">
              <a:avLst>
                <a:gd name="adj" fmla="val 49606"/>
              </a:avLst>
            </a:prstGeom>
            <a:solidFill>
              <a:srgbClr val="0B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card1-pilltext"/>
            <p:cNvSpPr txBox="1"/>
            <p:nvPr/>
          </p:nvSpPr>
          <p:spPr>
            <a:xfrm>
              <a:off x="3705225" y="5676900"/>
              <a:ext cx="5876925" cy="1076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市场挑战</a:t>
              </a:r>
            </a:p>
          </p:txBody>
        </p:sp>
        <p:sp>
          <p:nvSpPr>
            <p:cNvPr id="30" name="card1-body1"/>
            <p:cNvSpPr txBox="1"/>
            <p:nvPr/>
          </p:nvSpPr>
          <p:spPr>
            <a:xfrm>
              <a:off x="3877246" y="70866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线上零售冲击导致客户流</a:t>
              </a:r>
            </a:p>
          </p:txBody>
        </p:sp>
        <p:sp>
          <p:nvSpPr>
            <p:cNvPr id="31" name="card1-body2-s1"/>
            <p:cNvSpPr txBox="1"/>
            <p:nvPr/>
          </p:nvSpPr>
          <p:spPr>
            <a:xfrm>
              <a:off x="3971925" y="7886700"/>
              <a:ext cx="1552575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失率达</a:t>
              </a:r>
            </a:p>
          </p:txBody>
        </p:sp>
        <p:sp>
          <p:nvSpPr>
            <p:cNvPr id="32" name="card1-body2-s2"/>
            <p:cNvSpPr txBox="1"/>
            <p:nvPr/>
          </p:nvSpPr>
          <p:spPr>
            <a:xfrm>
              <a:off x="5467350" y="7886700"/>
              <a:ext cx="1038225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  <p:sp>
          <p:nvSpPr>
            <p:cNvPr id="33" name="card1-body2-s3"/>
            <p:cNvSpPr txBox="1"/>
            <p:nvPr/>
          </p:nvSpPr>
          <p:spPr>
            <a:xfrm>
              <a:off x="6448425" y="7886700"/>
              <a:ext cx="309067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；线下体验同</a:t>
              </a:r>
            </a:p>
          </p:txBody>
        </p:sp>
        <p:sp>
          <p:nvSpPr>
            <p:cNvPr id="34" name="card1-body3"/>
            <p:cNvSpPr txBox="1"/>
            <p:nvPr/>
          </p:nvSpPr>
          <p:spPr>
            <a:xfrm>
              <a:off x="3882009" y="86868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质化严重，缺乏个性化服</a:t>
              </a:r>
            </a:p>
          </p:txBody>
        </p:sp>
        <p:sp>
          <p:nvSpPr>
            <p:cNvPr id="35" name="card1-body4"/>
            <p:cNvSpPr txBox="1"/>
            <p:nvPr/>
          </p:nvSpPr>
          <p:spPr>
            <a:xfrm>
              <a:off x="4654677" y="9486900"/>
              <a:ext cx="4120896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务，难以留存客户</a:t>
              </a:r>
            </a:p>
          </p:txBody>
        </p:sp>
        <p:pic>
          <p:nvPicPr>
            <p:cNvPr id="36" name="card1-photo" descr="_photo_card1_photo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0" y="10591800"/>
              <a:ext cx="6343650" cy="3924300"/>
            </a:xfrm>
            <a:prstGeom prst="rect">
              <a:avLst/>
            </a:prstGeom>
            <a:effectLst/>
          </p:spPr>
        </p:pic>
      </p:grpSp>
      <p:grpSp>
        <p:nvGrpSpPr>
          <p:cNvPr id="83" name="card2"/>
          <p:cNvGrpSpPr/>
          <p:nvPr/>
        </p:nvGrpSpPr>
        <p:grpSpPr>
          <a:xfrm>
            <a:off x="11630025" y="3590925"/>
            <a:ext cx="7200900" cy="12268200"/>
            <a:chOff x="11630025" y="3590925"/>
            <a:chExt cx="7200900" cy="12268200"/>
          </a:xfrm>
        </p:grpSpPr>
        <p:sp>
          <p:nvSpPr>
            <p:cNvPr id="37" name="card2-panel"/>
            <p:cNvSpPr/>
            <p:nvPr/>
          </p:nvSpPr>
          <p:spPr>
            <a:xfrm>
              <a:off x="11630025" y="4391025"/>
              <a:ext cx="7200900" cy="11468100"/>
            </a:xfrm>
            <a:prstGeom prst="roundRect">
              <a:avLst>
                <a:gd name="adj" fmla="val 2380"/>
              </a:avLst>
            </a:prstGeom>
            <a:solidFill>
              <a:srgbClr val="FFFFFF"/>
            </a:solidFill>
            <a:ln w="28575">
              <a:solidFill>
                <a:srgbClr val="3A5F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card2-shade-top"/>
            <p:cNvSpPr/>
            <p:nvPr/>
          </p:nvSpPr>
          <p:spPr>
            <a:xfrm>
              <a:off x="11649075" y="4410075"/>
              <a:ext cx="7162800" cy="5638800"/>
            </a:xfrm>
            <a:prstGeom prst="rect">
              <a:avLst/>
            </a:prstGeom>
            <a:gradFill rotWithShape="1">
              <a:gsLst>
                <a:gs pos="0">
                  <a:srgbClr val="F2F2F2"/>
                </a:gs>
                <a:gs pos="100000">
                  <a:srgbClr val="FFFFF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ard2-shade-bot"/>
            <p:cNvSpPr/>
            <p:nvPr/>
          </p:nvSpPr>
          <p:spPr>
            <a:xfrm>
              <a:off x="11649075" y="10048875"/>
              <a:ext cx="7162800" cy="56388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2F2F2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card2-badge"/>
            <p:cNvSpPr/>
            <p:nvPr/>
          </p:nvSpPr>
          <p:spPr>
            <a:xfrm>
              <a:off x="14373225" y="3590925"/>
              <a:ext cx="1714500" cy="1714500"/>
            </a:xfrm>
            <a:prstGeom prst="ellipse">
              <a:avLst/>
            </a:prstGeom>
            <a:solidFill>
              <a:srgbClr val="0B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c1-r0"/>
            <p:cNvSpPr/>
            <p:nvPr/>
          </p:nvSpPr>
          <p:spPr>
            <a:xfrm>
              <a:off x="14754225" y="4067175"/>
              <a:ext cx="323850" cy="323850"/>
            </a:xfrm>
            <a:prstGeom prst="roundRect">
              <a:avLst>
                <a:gd name="adj" fmla="val 8823"/>
              </a:avLst>
            </a:prstGeom>
            <a:noFill/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c1-r1"/>
            <p:cNvSpPr/>
            <p:nvPr/>
          </p:nvSpPr>
          <p:spPr>
            <a:xfrm>
              <a:off x="14754225" y="4533900"/>
              <a:ext cx="323850" cy="323850"/>
            </a:xfrm>
            <a:prstGeom prst="roundRect">
              <a:avLst>
                <a:gd name="adj" fmla="val 8823"/>
              </a:avLst>
            </a:prstGeom>
            <a:noFill/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c1-r2"/>
            <p:cNvSpPr/>
            <p:nvPr/>
          </p:nvSpPr>
          <p:spPr>
            <a:xfrm>
              <a:off x="15211425" y="4533900"/>
              <a:ext cx="323850" cy="323850"/>
            </a:xfrm>
            <a:prstGeom prst="roundRect">
              <a:avLst>
                <a:gd name="adj" fmla="val 8823"/>
              </a:avLst>
            </a:prstGeom>
            <a:noFill/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gear1615-ring"/>
            <p:cNvSpPr/>
            <p:nvPr/>
          </p:nvSpPr>
          <p:spPr>
            <a:xfrm>
              <a:off x="15240000" y="4038600"/>
              <a:ext cx="285750" cy="285750"/>
            </a:xfrm>
            <a:prstGeom prst="ellipse">
              <a:avLst/>
            </a:prstGeom>
            <a:solidFill>
              <a:srgbClr val="0B37B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gear1615-t0"/>
            <p:cNvCxnSpPr/>
            <p:nvPr/>
          </p:nvCxnSpPr>
          <p:spPr>
            <a:xfrm>
              <a:off x="15481874" y="4222482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ar1615-t1"/>
            <p:cNvCxnSpPr/>
            <p:nvPr/>
          </p:nvCxnSpPr>
          <p:spPr>
            <a:xfrm>
              <a:off x="15423882" y="4280474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ar1615-t2"/>
            <p:cNvCxnSpPr/>
            <p:nvPr/>
          </p:nvCxnSpPr>
          <p:spPr>
            <a:xfrm flipH="1">
              <a:off x="15305235" y="4280474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ar1615-t3"/>
            <p:cNvCxnSpPr/>
            <p:nvPr/>
          </p:nvCxnSpPr>
          <p:spPr>
            <a:xfrm flipH="1">
              <a:off x="15195436" y="4222482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ar1615-t4"/>
            <p:cNvCxnSpPr/>
            <p:nvPr/>
          </p:nvCxnSpPr>
          <p:spPr>
            <a:xfrm flipH="1" flipV="1">
              <a:off x="15195436" y="4103835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ar1615-t5"/>
            <p:cNvCxnSpPr/>
            <p:nvPr/>
          </p:nvCxnSpPr>
          <p:spPr>
            <a:xfrm flipH="1" flipV="1">
              <a:off x="15305235" y="3994036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ar1615-t6"/>
            <p:cNvCxnSpPr/>
            <p:nvPr/>
          </p:nvCxnSpPr>
          <p:spPr>
            <a:xfrm flipV="1">
              <a:off x="15423882" y="3994036"/>
              <a:ext cx="36633" cy="88440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ar1615-t7"/>
            <p:cNvCxnSpPr/>
            <p:nvPr/>
          </p:nvCxnSpPr>
          <p:spPr>
            <a:xfrm flipV="1">
              <a:off x="15481874" y="4103835"/>
              <a:ext cx="88440" cy="36633"/>
            </a:xfrm>
            <a:prstGeom prst="line">
              <a:avLst/>
            </a:prstGeom>
            <a:ln w="60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gear1615-hub"/>
            <p:cNvSpPr/>
            <p:nvPr/>
          </p:nvSpPr>
          <p:spPr>
            <a:xfrm>
              <a:off x="15340012" y="4138612"/>
              <a:ext cx="85725" cy="85725"/>
            </a:xfrm>
            <a:prstGeom prst="ellipse">
              <a:avLst/>
            </a:prstGeom>
            <a:solidFill>
              <a:srgbClr val="0B37BE"/>
            </a:solidFill>
            <a:ln w="381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ard2-pill"/>
            <p:cNvSpPr/>
            <p:nvPr/>
          </p:nvSpPr>
          <p:spPr>
            <a:xfrm>
              <a:off x="12296775" y="5610225"/>
              <a:ext cx="5876925" cy="1209675"/>
            </a:xfrm>
            <a:prstGeom prst="roundRect">
              <a:avLst>
                <a:gd name="adj" fmla="val 49606"/>
              </a:avLst>
            </a:prstGeom>
            <a:solidFill>
              <a:srgbClr val="0B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2-pilltext"/>
            <p:cNvSpPr txBox="1"/>
            <p:nvPr/>
          </p:nvSpPr>
          <p:spPr>
            <a:xfrm>
              <a:off x="12296775" y="5676900"/>
              <a:ext cx="5876925" cy="1076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技术机遇</a:t>
              </a:r>
            </a:p>
          </p:txBody>
        </p:sp>
        <p:sp>
          <p:nvSpPr>
            <p:cNvPr id="56" name="card2-body1-s1"/>
            <p:cNvSpPr txBox="1"/>
            <p:nvPr/>
          </p:nvSpPr>
          <p:spPr>
            <a:xfrm>
              <a:off x="12630150" y="7086600"/>
              <a:ext cx="2060448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大数据、</a:t>
              </a:r>
            </a:p>
          </p:txBody>
        </p:sp>
        <p:sp>
          <p:nvSpPr>
            <p:cNvPr id="57" name="card2-body1-s2"/>
            <p:cNvSpPr txBox="1"/>
            <p:nvPr/>
          </p:nvSpPr>
          <p:spPr>
            <a:xfrm>
              <a:off x="14620875" y="7086600"/>
              <a:ext cx="557906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AI</a:t>
              </a:r>
            </a:p>
          </p:txBody>
        </p:sp>
        <p:sp>
          <p:nvSpPr>
            <p:cNvPr id="58" name="card2-body1-s3"/>
            <p:cNvSpPr txBox="1"/>
            <p:nvPr/>
          </p:nvSpPr>
          <p:spPr>
            <a:xfrm>
              <a:off x="15116175" y="7086600"/>
              <a:ext cx="55245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</a:p>
          </p:txBody>
        </p:sp>
        <p:sp>
          <p:nvSpPr>
            <p:cNvPr id="59" name="card2-body1-s4"/>
            <p:cNvSpPr txBox="1"/>
            <p:nvPr/>
          </p:nvSpPr>
          <p:spPr>
            <a:xfrm>
              <a:off x="15611475" y="7086600"/>
              <a:ext cx="810707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3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IoT</a:t>
              </a:r>
            </a:p>
          </p:txBody>
        </p:sp>
        <p:sp>
          <p:nvSpPr>
            <p:cNvPr id="60" name="card2-body1-s5"/>
            <p:cNvSpPr txBox="1"/>
            <p:nvPr/>
          </p:nvSpPr>
          <p:spPr>
            <a:xfrm>
              <a:off x="16354425" y="7086600"/>
              <a:ext cx="1552575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技术成</a:t>
              </a:r>
            </a:p>
          </p:txBody>
        </p:sp>
        <p:sp>
          <p:nvSpPr>
            <p:cNvPr id="61" name="card2-body2"/>
            <p:cNvSpPr txBox="1"/>
            <p:nvPr/>
          </p:nvSpPr>
          <p:spPr>
            <a:xfrm>
              <a:off x="12392596" y="78867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熟，为精准营销、智能运</a:t>
              </a:r>
            </a:p>
          </p:txBody>
        </p:sp>
        <p:sp>
          <p:nvSpPr>
            <p:cNvPr id="62" name="card2-body3"/>
            <p:cNvSpPr txBox="1"/>
            <p:nvPr/>
          </p:nvSpPr>
          <p:spPr>
            <a:xfrm>
              <a:off x="12392596" y="86868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营及全链路客户体验提升</a:t>
              </a:r>
            </a:p>
          </p:txBody>
        </p:sp>
        <p:sp>
          <p:nvSpPr>
            <p:cNvPr id="63" name="card2-body4"/>
            <p:cNvSpPr txBox="1"/>
            <p:nvPr/>
          </p:nvSpPr>
          <p:spPr>
            <a:xfrm>
              <a:off x="12392596" y="94869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提供了强有力的技术支撑</a:t>
              </a:r>
            </a:p>
          </p:txBody>
        </p:sp>
        <p:pic>
          <p:nvPicPr>
            <p:cNvPr id="64" name="card2-photo" descr="_photo_card2_photo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68175" y="10591800"/>
              <a:ext cx="6343650" cy="3924300"/>
            </a:xfrm>
            <a:prstGeom prst="rect">
              <a:avLst/>
            </a:prstGeom>
            <a:effectLst/>
          </p:spPr>
        </p:pic>
      </p:grpSp>
      <p:grpSp>
        <p:nvGrpSpPr>
          <p:cNvPr id="84" name="card3"/>
          <p:cNvGrpSpPr/>
          <p:nvPr/>
        </p:nvGrpSpPr>
        <p:grpSpPr>
          <a:xfrm>
            <a:off x="20221575" y="3590925"/>
            <a:ext cx="7200900" cy="12268200"/>
            <a:chOff x="20221575" y="3590925"/>
            <a:chExt cx="7200900" cy="12268200"/>
          </a:xfrm>
        </p:grpSpPr>
        <p:sp>
          <p:nvSpPr>
            <p:cNvPr id="65" name="card3-panel"/>
            <p:cNvSpPr/>
            <p:nvPr/>
          </p:nvSpPr>
          <p:spPr>
            <a:xfrm>
              <a:off x="20221575" y="4391025"/>
              <a:ext cx="7200900" cy="11468100"/>
            </a:xfrm>
            <a:prstGeom prst="roundRect">
              <a:avLst>
                <a:gd name="adj" fmla="val 2380"/>
              </a:avLst>
            </a:prstGeom>
            <a:solidFill>
              <a:srgbClr val="FFFFFF"/>
            </a:solidFill>
            <a:ln w="28575">
              <a:solidFill>
                <a:srgbClr val="3A5F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card3-shade-top"/>
            <p:cNvSpPr/>
            <p:nvPr/>
          </p:nvSpPr>
          <p:spPr>
            <a:xfrm>
              <a:off x="20240625" y="4410075"/>
              <a:ext cx="7162800" cy="5638800"/>
            </a:xfrm>
            <a:prstGeom prst="rect">
              <a:avLst/>
            </a:prstGeom>
            <a:gradFill rotWithShape="1">
              <a:gsLst>
                <a:gs pos="0">
                  <a:srgbClr val="F2F2F2"/>
                </a:gs>
                <a:gs pos="100000">
                  <a:srgbClr val="FFFFFF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card3-shade-bot"/>
            <p:cNvSpPr/>
            <p:nvPr/>
          </p:nvSpPr>
          <p:spPr>
            <a:xfrm>
              <a:off x="20240625" y="10048875"/>
              <a:ext cx="7162800" cy="56388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2F2F2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card3-badge"/>
            <p:cNvSpPr/>
            <p:nvPr/>
          </p:nvSpPr>
          <p:spPr>
            <a:xfrm>
              <a:off x="22964775" y="3590925"/>
              <a:ext cx="1714500" cy="1714500"/>
            </a:xfrm>
            <a:prstGeom prst="ellipse">
              <a:avLst/>
            </a:prstGeom>
            <a:solidFill>
              <a:srgbClr val="0B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pin2475"/>
            <p:cNvSpPr/>
            <p:nvPr/>
          </p:nvSpPr>
          <p:spPr>
            <a:xfrm>
              <a:off x="23383875" y="4181475"/>
              <a:ext cx="381000" cy="647700"/>
            </a:xfrm>
            <a:custGeom>
              <a:avLst/>
              <a:gdLst/>
              <a:ahLst/>
              <a:cxnLst/>
              <a:rect l="l" t="t" r="r" b="b"/>
              <a:pathLst>
                <a:path w="381000" h="647700">
                  <a:moveTo>
                    <a:pt x="80963" y="346710"/>
                  </a:moveTo>
                  <a:lnTo>
                    <a:pt x="65723" y="334327"/>
                  </a:lnTo>
                  <a:lnTo>
                    <a:pt x="51435" y="320040"/>
                  </a:lnTo>
                  <a:lnTo>
                    <a:pt x="38100" y="304800"/>
                  </a:lnTo>
                  <a:lnTo>
                    <a:pt x="27623" y="288607"/>
                  </a:lnTo>
                  <a:lnTo>
                    <a:pt x="18097" y="271463"/>
                  </a:lnTo>
                  <a:lnTo>
                    <a:pt x="10477" y="252413"/>
                  </a:lnTo>
                  <a:lnTo>
                    <a:pt x="4763" y="233363"/>
                  </a:lnTo>
                  <a:lnTo>
                    <a:pt x="953" y="213360"/>
                  </a:lnTo>
                  <a:lnTo>
                    <a:pt x="0" y="193357"/>
                  </a:lnTo>
                  <a:lnTo>
                    <a:pt x="953" y="174307"/>
                  </a:lnTo>
                  <a:lnTo>
                    <a:pt x="3810" y="154305"/>
                  </a:lnTo>
                  <a:lnTo>
                    <a:pt x="8573" y="135255"/>
                  </a:lnTo>
                  <a:lnTo>
                    <a:pt x="15240" y="116205"/>
                  </a:lnTo>
                  <a:lnTo>
                    <a:pt x="23813" y="98107"/>
                  </a:lnTo>
                  <a:lnTo>
                    <a:pt x="34290" y="80963"/>
                  </a:lnTo>
                  <a:lnTo>
                    <a:pt x="46673" y="65723"/>
                  </a:lnTo>
                  <a:lnTo>
                    <a:pt x="60960" y="51435"/>
                  </a:lnTo>
                  <a:lnTo>
                    <a:pt x="76200" y="38100"/>
                  </a:lnTo>
                  <a:lnTo>
                    <a:pt x="92393" y="27623"/>
                  </a:lnTo>
                  <a:lnTo>
                    <a:pt x="109537" y="18097"/>
                  </a:lnTo>
                  <a:lnTo>
                    <a:pt x="128587" y="10477"/>
                  </a:lnTo>
                  <a:lnTo>
                    <a:pt x="147637" y="4763"/>
                  </a:lnTo>
                  <a:lnTo>
                    <a:pt x="167640" y="953"/>
                  </a:lnTo>
                  <a:lnTo>
                    <a:pt x="187643" y="0"/>
                  </a:lnTo>
                  <a:lnTo>
                    <a:pt x="206693" y="953"/>
                  </a:lnTo>
                  <a:lnTo>
                    <a:pt x="226695" y="3810"/>
                  </a:lnTo>
                  <a:lnTo>
                    <a:pt x="245745" y="8573"/>
                  </a:lnTo>
                  <a:lnTo>
                    <a:pt x="264795" y="15240"/>
                  </a:lnTo>
                  <a:lnTo>
                    <a:pt x="282893" y="23813"/>
                  </a:lnTo>
                  <a:lnTo>
                    <a:pt x="300037" y="34290"/>
                  </a:lnTo>
                  <a:lnTo>
                    <a:pt x="315277" y="46673"/>
                  </a:lnTo>
                  <a:lnTo>
                    <a:pt x="329565" y="60960"/>
                  </a:lnTo>
                  <a:lnTo>
                    <a:pt x="342900" y="76200"/>
                  </a:lnTo>
                  <a:lnTo>
                    <a:pt x="353377" y="92393"/>
                  </a:lnTo>
                  <a:lnTo>
                    <a:pt x="362903" y="109537"/>
                  </a:lnTo>
                  <a:lnTo>
                    <a:pt x="370523" y="128587"/>
                  </a:lnTo>
                  <a:lnTo>
                    <a:pt x="376237" y="147637"/>
                  </a:lnTo>
                  <a:lnTo>
                    <a:pt x="380047" y="167640"/>
                  </a:lnTo>
                  <a:lnTo>
                    <a:pt x="381000" y="187643"/>
                  </a:lnTo>
                  <a:lnTo>
                    <a:pt x="380047" y="206693"/>
                  </a:lnTo>
                  <a:lnTo>
                    <a:pt x="377190" y="226695"/>
                  </a:lnTo>
                  <a:lnTo>
                    <a:pt x="372427" y="245745"/>
                  </a:lnTo>
                  <a:lnTo>
                    <a:pt x="365760" y="264795"/>
                  </a:lnTo>
                  <a:lnTo>
                    <a:pt x="357187" y="282893"/>
                  </a:lnTo>
                  <a:lnTo>
                    <a:pt x="346710" y="300037"/>
                  </a:lnTo>
                  <a:lnTo>
                    <a:pt x="334327" y="315277"/>
                  </a:lnTo>
                  <a:lnTo>
                    <a:pt x="320040" y="329565"/>
                  </a:lnTo>
                  <a:lnTo>
                    <a:pt x="304800" y="342900"/>
                  </a:lnTo>
                  <a:lnTo>
                    <a:pt x="190500" y="647700"/>
                  </a:lnTo>
                  <a:close/>
                </a:path>
              </a:pathLst>
            </a:custGeom>
            <a:solidFill>
              <a:srgbClr val="0B37BE"/>
            </a:solidFill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pin2475-hole"/>
            <p:cNvSpPr/>
            <p:nvPr/>
          </p:nvSpPr>
          <p:spPr>
            <a:xfrm>
              <a:off x="23509605" y="4307205"/>
              <a:ext cx="129540" cy="129540"/>
            </a:xfrm>
            <a:prstGeom prst="ellipse">
              <a:avLst/>
            </a:prstGeom>
            <a:solidFill>
              <a:srgbClr val="0B37BE"/>
            </a:solidFill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pin2519"/>
            <p:cNvSpPr/>
            <p:nvPr/>
          </p:nvSpPr>
          <p:spPr>
            <a:xfrm>
              <a:off x="23841075" y="4095750"/>
              <a:ext cx="304800" cy="518160"/>
            </a:xfrm>
            <a:custGeom>
              <a:avLst/>
              <a:gdLst/>
              <a:ahLst/>
              <a:cxnLst/>
              <a:rect l="l" t="t" r="r" b="b"/>
              <a:pathLst>
                <a:path w="304800" h="518160">
                  <a:moveTo>
                    <a:pt x="64770" y="277178"/>
                  </a:moveTo>
                  <a:lnTo>
                    <a:pt x="52387" y="267652"/>
                  </a:lnTo>
                  <a:lnTo>
                    <a:pt x="40957" y="256222"/>
                  </a:lnTo>
                  <a:lnTo>
                    <a:pt x="30480" y="243840"/>
                  </a:lnTo>
                  <a:lnTo>
                    <a:pt x="21907" y="230505"/>
                  </a:lnTo>
                  <a:lnTo>
                    <a:pt x="14287" y="217170"/>
                  </a:lnTo>
                  <a:lnTo>
                    <a:pt x="8573" y="201930"/>
                  </a:lnTo>
                  <a:lnTo>
                    <a:pt x="3810" y="186690"/>
                  </a:lnTo>
                  <a:lnTo>
                    <a:pt x="953" y="170498"/>
                  </a:lnTo>
                  <a:lnTo>
                    <a:pt x="0" y="155258"/>
                  </a:lnTo>
                  <a:lnTo>
                    <a:pt x="953" y="139065"/>
                  </a:lnTo>
                  <a:lnTo>
                    <a:pt x="2857" y="122872"/>
                  </a:lnTo>
                  <a:lnTo>
                    <a:pt x="6667" y="107632"/>
                  </a:lnTo>
                  <a:lnTo>
                    <a:pt x="12383" y="92392"/>
                  </a:lnTo>
                  <a:lnTo>
                    <a:pt x="19050" y="78105"/>
                  </a:lnTo>
                  <a:lnTo>
                    <a:pt x="27623" y="64770"/>
                  </a:lnTo>
                  <a:lnTo>
                    <a:pt x="37147" y="52388"/>
                  </a:lnTo>
                  <a:lnTo>
                    <a:pt x="48577" y="40958"/>
                  </a:lnTo>
                  <a:lnTo>
                    <a:pt x="60960" y="30480"/>
                  </a:lnTo>
                  <a:lnTo>
                    <a:pt x="74295" y="21908"/>
                  </a:lnTo>
                  <a:lnTo>
                    <a:pt x="87630" y="14288"/>
                  </a:lnTo>
                  <a:lnTo>
                    <a:pt x="102870" y="8572"/>
                  </a:lnTo>
                  <a:lnTo>
                    <a:pt x="118110" y="3810"/>
                  </a:lnTo>
                  <a:lnTo>
                    <a:pt x="134303" y="952"/>
                  </a:lnTo>
                  <a:lnTo>
                    <a:pt x="149543" y="0"/>
                  </a:lnTo>
                  <a:lnTo>
                    <a:pt x="165735" y="952"/>
                  </a:lnTo>
                  <a:lnTo>
                    <a:pt x="181927" y="2858"/>
                  </a:lnTo>
                  <a:lnTo>
                    <a:pt x="197167" y="6668"/>
                  </a:lnTo>
                  <a:lnTo>
                    <a:pt x="212407" y="12382"/>
                  </a:lnTo>
                  <a:lnTo>
                    <a:pt x="226695" y="19050"/>
                  </a:lnTo>
                  <a:lnTo>
                    <a:pt x="240030" y="27622"/>
                  </a:lnTo>
                  <a:lnTo>
                    <a:pt x="252413" y="37148"/>
                  </a:lnTo>
                  <a:lnTo>
                    <a:pt x="263843" y="48578"/>
                  </a:lnTo>
                  <a:lnTo>
                    <a:pt x="274320" y="60960"/>
                  </a:lnTo>
                  <a:lnTo>
                    <a:pt x="282893" y="74295"/>
                  </a:lnTo>
                  <a:lnTo>
                    <a:pt x="290513" y="87630"/>
                  </a:lnTo>
                  <a:lnTo>
                    <a:pt x="296227" y="102870"/>
                  </a:lnTo>
                  <a:lnTo>
                    <a:pt x="300990" y="118110"/>
                  </a:lnTo>
                  <a:lnTo>
                    <a:pt x="303847" y="134302"/>
                  </a:lnTo>
                  <a:lnTo>
                    <a:pt x="304800" y="149542"/>
                  </a:lnTo>
                  <a:lnTo>
                    <a:pt x="303847" y="165735"/>
                  </a:lnTo>
                  <a:lnTo>
                    <a:pt x="301943" y="181928"/>
                  </a:lnTo>
                  <a:lnTo>
                    <a:pt x="298133" y="197168"/>
                  </a:lnTo>
                  <a:lnTo>
                    <a:pt x="292417" y="212408"/>
                  </a:lnTo>
                  <a:lnTo>
                    <a:pt x="285750" y="226695"/>
                  </a:lnTo>
                  <a:lnTo>
                    <a:pt x="277177" y="240030"/>
                  </a:lnTo>
                  <a:lnTo>
                    <a:pt x="267653" y="252412"/>
                  </a:lnTo>
                  <a:lnTo>
                    <a:pt x="256223" y="263842"/>
                  </a:lnTo>
                  <a:lnTo>
                    <a:pt x="243840" y="274320"/>
                  </a:lnTo>
                  <a:lnTo>
                    <a:pt x="152400" y="518160"/>
                  </a:lnTo>
                  <a:close/>
                </a:path>
              </a:pathLst>
            </a:custGeom>
            <a:solidFill>
              <a:srgbClr val="0B37BE"/>
            </a:solidFill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in2519-hole"/>
            <p:cNvSpPr/>
            <p:nvPr/>
          </p:nvSpPr>
          <p:spPr>
            <a:xfrm>
              <a:off x="23941659" y="4196334"/>
              <a:ext cx="103632" cy="103632"/>
            </a:xfrm>
            <a:prstGeom prst="ellipse">
              <a:avLst/>
            </a:prstGeom>
            <a:solidFill>
              <a:srgbClr val="0B37BE"/>
            </a:solidFill>
            <a:ln w="42862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card3-pill"/>
            <p:cNvSpPr/>
            <p:nvPr/>
          </p:nvSpPr>
          <p:spPr>
            <a:xfrm>
              <a:off x="20888325" y="5610225"/>
              <a:ext cx="5876925" cy="1209675"/>
            </a:xfrm>
            <a:prstGeom prst="roundRect">
              <a:avLst>
                <a:gd name="adj" fmla="val 49606"/>
              </a:avLst>
            </a:prstGeom>
            <a:solidFill>
              <a:srgbClr val="0B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ard3-pilltext"/>
            <p:cNvSpPr txBox="1"/>
            <p:nvPr/>
          </p:nvSpPr>
          <p:spPr>
            <a:xfrm>
              <a:off x="20888325" y="5676900"/>
              <a:ext cx="5876925" cy="1076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业务需求</a:t>
              </a:r>
            </a:p>
          </p:txBody>
        </p:sp>
        <p:sp>
          <p:nvSpPr>
            <p:cNvPr id="75" name="card3-body1"/>
            <p:cNvSpPr txBox="1"/>
            <p:nvPr/>
          </p:nvSpPr>
          <p:spPr>
            <a:xfrm>
              <a:off x="20984146" y="70866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迫切需要通过数字化转型</a:t>
              </a:r>
            </a:p>
          </p:txBody>
        </p:sp>
        <p:sp>
          <p:nvSpPr>
            <p:cNvPr id="76" name="card3-body2"/>
            <p:cNvSpPr txBox="1"/>
            <p:nvPr/>
          </p:nvSpPr>
          <p:spPr>
            <a:xfrm>
              <a:off x="20988909" y="78867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优化供应链效率，重塑客</a:t>
              </a:r>
            </a:p>
          </p:txBody>
        </p:sp>
        <p:sp>
          <p:nvSpPr>
            <p:cNvPr id="77" name="card3-body3"/>
            <p:cNvSpPr txBox="1"/>
            <p:nvPr/>
          </p:nvSpPr>
          <p:spPr>
            <a:xfrm>
              <a:off x="20988909" y="8686800"/>
              <a:ext cx="5666232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户体验，最终实现线上线</a:t>
              </a:r>
            </a:p>
          </p:txBody>
        </p:sp>
        <p:sp>
          <p:nvSpPr>
            <p:cNvPr id="78" name="card3-body4"/>
            <p:cNvSpPr txBox="1"/>
            <p:nvPr/>
          </p:nvSpPr>
          <p:spPr>
            <a:xfrm>
              <a:off x="21504021" y="9486900"/>
              <a:ext cx="4636008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00" b="1" i="0">
                  <a:solidFill>
                    <a:srgbClr val="151515"/>
                  </a:solidFill>
                  <a:latin typeface="Microsoft YaHei"/>
                  <a:ea typeface="Microsoft YaHei"/>
                  <a:cs typeface="Microsoft YaHei"/>
                </a:rPr>
                <a:t>下一体化的高效运营</a:t>
              </a:r>
            </a:p>
          </p:txBody>
        </p:sp>
        <p:pic>
          <p:nvPicPr>
            <p:cNvPr id="79" name="card3-photo" descr="_photo_card3_photo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50200" y="10591800"/>
              <a:ext cx="6343650" cy="3924300"/>
            </a:xfrm>
            <a:prstGeom prst="rect">
              <a:avLst/>
            </a:prstGeom>
            <a:effectLst/>
          </p:spPr>
        </p:pic>
      </p:grpSp>
      <p:sp>
        <p:nvSpPr>
          <p:cNvPr id="80" name="footer-yellow"/>
          <p:cNvSpPr/>
          <p:nvPr/>
        </p:nvSpPr>
        <p:spPr>
          <a:xfrm>
            <a:off x="904875" y="15744825"/>
            <a:ext cx="4705350" cy="523875"/>
          </a:xfrm>
          <a:prstGeom prst="rect">
            <a:avLst/>
          </a:prstGeom>
          <a:solidFill>
            <a:srgbClr val="FDB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ooter-blue"/>
          <p:cNvSpPr/>
          <p:nvPr/>
        </p:nvSpPr>
        <p:spPr>
          <a:xfrm>
            <a:off x="5629275" y="15744825"/>
            <a:ext cx="23936325" cy="523875"/>
          </a:xfrm>
          <a:prstGeom prst="rect">
            <a:avLst/>
          </a:prstGeom>
          <a:solidFill>
            <a:srgbClr val="0B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