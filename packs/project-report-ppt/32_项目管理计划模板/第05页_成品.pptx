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7" name="hdr-icon"/>
          <p:cNvGrpSpPr/>
          <p:nvPr/>
        </p:nvGrpSpPr>
        <p:grpSpPr>
          <a:xfrm>
            <a:off x="1734502" y="1764030"/>
            <a:ext cx="1196340" cy="1128712"/>
            <a:chOff x="1734502" y="1764030"/>
            <a:chExt cx="1196340" cy="1128712"/>
          </a:xfrm>
        </p:grpSpPr>
        <p:sp>
          <p:nvSpPr>
            <p:cNvPr id="3" name="hi-band2"/>
            <p:cNvSpPr/>
            <p:nvPr/>
          </p:nvSpPr>
          <p:spPr>
            <a:xfrm>
              <a:off x="1763078" y="2265045"/>
              <a:ext cx="991552" cy="333375"/>
            </a:xfrm>
            <a:custGeom>
              <a:avLst/>
              <a:gdLst/>
              <a:ahLst/>
              <a:cxnLst/>
              <a:rect l="l" t="t" r="r" b="b"/>
              <a:pathLst>
                <a:path w="991552" h="333375">
                  <a:moveTo>
                    <a:pt x="0" y="0"/>
                  </a:moveTo>
                  <a:lnTo>
                    <a:pt x="373380" y="333375"/>
                  </a:lnTo>
                  <a:lnTo>
                    <a:pt x="991552" y="58103"/>
                  </a:lnTo>
                </a:path>
              </a:pathLst>
            </a:custGeom>
            <a:noFill/>
            <a:ln w="85725">
              <a:solidFill>
                <a:srgbClr val="045C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hi-band3"/>
            <p:cNvSpPr/>
            <p:nvPr/>
          </p:nvSpPr>
          <p:spPr>
            <a:xfrm>
              <a:off x="1734502" y="2431732"/>
              <a:ext cx="941070" cy="333376"/>
            </a:xfrm>
            <a:custGeom>
              <a:avLst/>
              <a:gdLst/>
              <a:ahLst/>
              <a:cxnLst/>
              <a:rect l="l" t="t" r="r" b="b"/>
              <a:pathLst>
                <a:path w="941070" h="333376">
                  <a:moveTo>
                    <a:pt x="0" y="0"/>
                  </a:moveTo>
                  <a:lnTo>
                    <a:pt x="391478" y="333376"/>
                  </a:lnTo>
                  <a:lnTo>
                    <a:pt x="941070" y="68580"/>
                  </a:lnTo>
                </a:path>
              </a:pathLst>
            </a:custGeom>
            <a:noFill/>
            <a:ln w="85725">
              <a:solidFill>
                <a:srgbClr val="045C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i-top"/>
            <p:cNvSpPr/>
            <p:nvPr/>
          </p:nvSpPr>
          <p:spPr>
            <a:xfrm>
              <a:off x="1763078" y="1764030"/>
              <a:ext cx="1050607" cy="706755"/>
            </a:xfrm>
            <a:custGeom>
              <a:avLst/>
              <a:gdLst/>
              <a:ahLst/>
              <a:cxnLst/>
              <a:rect l="l" t="t" r="r" b="b"/>
              <a:pathLst>
                <a:path w="1050607" h="706755">
                  <a:moveTo>
                    <a:pt x="588644" y="0"/>
                  </a:moveTo>
                  <a:lnTo>
                    <a:pt x="1050607" y="294322"/>
                  </a:lnTo>
                  <a:lnTo>
                    <a:pt x="461962" y="706755"/>
                  </a:lnTo>
                  <a:lnTo>
                    <a:pt x="0" y="362902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hi-slot"/>
            <p:cNvSpPr/>
            <p:nvPr/>
          </p:nvSpPr>
          <p:spPr>
            <a:xfrm>
              <a:off x="2097405" y="2078355"/>
              <a:ext cx="274320" cy="166687"/>
            </a:xfrm>
            <a:custGeom>
              <a:avLst/>
              <a:gdLst/>
              <a:ahLst/>
              <a:cxnLst/>
              <a:rect l="l" t="t" r="r" b="b"/>
              <a:pathLst>
                <a:path w="274320" h="166687">
                  <a:moveTo>
                    <a:pt x="0" y="166687"/>
                  </a:moveTo>
                  <a:lnTo>
                    <a:pt x="274320" y="0"/>
                  </a:lnTo>
                </a:path>
              </a:pathLst>
            </a:custGeom>
            <a:noFill/>
            <a:ln w="857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i-tag"/>
            <p:cNvSpPr/>
            <p:nvPr/>
          </p:nvSpPr>
          <p:spPr>
            <a:xfrm>
              <a:off x="2381250" y="2352675"/>
              <a:ext cx="549592" cy="540067"/>
            </a:xfrm>
            <a:custGeom>
              <a:avLst/>
              <a:gdLst/>
              <a:ahLst/>
              <a:cxnLst/>
              <a:rect l="l" t="t" r="r" b="b"/>
              <a:pathLst>
                <a:path w="549592" h="540067">
                  <a:moveTo>
                    <a:pt x="0" y="79057"/>
                  </a:moveTo>
                  <a:lnTo>
                    <a:pt x="314325" y="0"/>
                  </a:lnTo>
                  <a:lnTo>
                    <a:pt x="549592" y="353377"/>
                  </a:lnTo>
                  <a:lnTo>
                    <a:pt x="225742" y="540067"/>
                  </a:lnTo>
                  <a:close/>
                </a:path>
              </a:pathLst>
            </a:cu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hi-hole"/>
            <p:cNvSpPr/>
            <p:nvPr/>
          </p:nvSpPr>
          <p:spPr>
            <a:xfrm>
              <a:off x="2438400" y="2486025"/>
              <a:ext cx="95250" cy="95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hdr-title"/>
          <p:cNvSpPr txBox="1"/>
          <p:nvPr/>
        </p:nvSpPr>
        <p:spPr>
          <a:xfrm>
            <a:off x="2828925" y="1609725"/>
            <a:ext cx="7280910" cy="1600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875" b="1" i="0">
                <a:solidFill>
                  <a:srgbClr val="045CB5"/>
                </a:solidFill>
                <a:latin typeface="Microsoft YaHei"/>
                <a:ea typeface="Microsoft YaHei"/>
                <a:cs typeface="Microsoft YaHei"/>
              </a:rPr>
              <a:t>项目范围说明书</a:t>
            </a:r>
          </a:p>
        </p:txBody>
      </p:sp>
      <p:grpSp>
        <p:nvGrpSpPr>
          <p:cNvPr id="68" name="hdr-excl-icon"/>
          <p:cNvGrpSpPr/>
          <p:nvPr/>
        </p:nvGrpSpPr>
        <p:grpSpPr>
          <a:xfrm>
            <a:off x="2095500" y="3924300"/>
            <a:ext cx="971550" cy="962025"/>
            <a:chOff x="2095500" y="3924300"/>
            <a:chExt cx="971550" cy="962025"/>
          </a:xfrm>
        </p:grpSpPr>
        <p:sp>
          <p:nvSpPr>
            <p:cNvPr id="10" name="ex-sq-b"/>
            <p:cNvSpPr/>
            <p:nvPr/>
          </p:nvSpPr>
          <p:spPr>
            <a:xfrm>
              <a:off x="2095500" y="4238625"/>
              <a:ext cx="647700" cy="647700"/>
            </a:xfrm>
            <a:prstGeom prst="roundRect">
              <a:avLst>
                <a:gd name="adj" fmla="val 20588"/>
              </a:avLst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ex-sq-a"/>
            <p:cNvSpPr/>
            <p:nvPr/>
          </p:nvSpPr>
          <p:spPr>
            <a:xfrm>
              <a:off x="2419350" y="3924300"/>
              <a:ext cx="647700" cy="647700"/>
            </a:xfrm>
            <a:prstGeom prst="roundRect">
              <a:avLst>
                <a:gd name="adj" fmla="val 17647"/>
              </a:avLst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ex-not"/>
            <p:cNvSpPr/>
            <p:nvPr/>
          </p:nvSpPr>
          <p:spPr>
            <a:xfrm>
              <a:off x="2419350" y="4238625"/>
              <a:ext cx="323850" cy="2190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hdr-excl"/>
          <p:cNvSpPr txBox="1"/>
          <p:nvPr/>
        </p:nvSpPr>
        <p:spPr>
          <a:xfrm>
            <a:off x="3495675" y="3810000"/>
            <a:ext cx="2857500" cy="1038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除外范围</a:t>
            </a:r>
          </a:p>
        </p:txBody>
      </p:sp>
      <p:grpSp>
        <p:nvGrpSpPr>
          <p:cNvPr id="69" name="hdr-incl-icon"/>
          <p:cNvGrpSpPr/>
          <p:nvPr/>
        </p:nvGrpSpPr>
        <p:grpSpPr>
          <a:xfrm>
            <a:off x="24545925" y="3752850"/>
            <a:ext cx="990600" cy="1009650"/>
            <a:chOff x="24545925" y="3752850"/>
            <a:chExt cx="990600" cy="1009650"/>
          </a:xfrm>
        </p:grpSpPr>
        <p:sp>
          <p:nvSpPr>
            <p:cNvPr id="14" name="in-frame"/>
            <p:cNvSpPr/>
            <p:nvPr/>
          </p:nvSpPr>
          <p:spPr>
            <a:xfrm>
              <a:off x="24545925" y="3752850"/>
              <a:ext cx="990600" cy="1009650"/>
            </a:xfrm>
            <a:prstGeom prst="roundRect">
              <a:avLst>
                <a:gd name="adj" fmla="val 21153"/>
              </a:avLst>
            </a:pr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n-gap"/>
            <p:cNvSpPr/>
            <p:nvPr/>
          </p:nvSpPr>
          <p:spPr>
            <a:xfrm>
              <a:off x="24641175" y="3848100"/>
              <a:ext cx="800100" cy="819150"/>
            </a:xfrm>
            <a:prstGeom prst="roundRect">
              <a:avLst>
                <a:gd name="adj" fmla="val 1904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n-core"/>
            <p:cNvSpPr/>
            <p:nvPr/>
          </p:nvSpPr>
          <p:spPr>
            <a:xfrm>
              <a:off x="24736425" y="3933825"/>
              <a:ext cx="666750" cy="666750"/>
            </a:xfrm>
            <a:prstGeom prst="roundRect">
              <a:avLst>
                <a:gd name="adj" fmla="val 17142"/>
              </a:avLst>
            </a:prstGeom>
            <a:solidFill>
              <a:srgbClr val="045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in-slash"/>
            <p:cNvCxnSpPr/>
            <p:nvPr/>
          </p:nvCxnSpPr>
          <p:spPr>
            <a:xfrm flipV="1">
              <a:off x="24784050" y="4048125"/>
              <a:ext cx="571500" cy="438150"/>
            </a:xfrm>
            <a:prstGeom prst="line">
              <a:avLst/>
            </a:prstGeom>
            <a:ln w="1238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hdr-incl"/>
          <p:cNvSpPr txBox="1"/>
          <p:nvPr/>
        </p:nvSpPr>
        <p:spPr>
          <a:xfrm>
            <a:off x="25575768" y="3810000"/>
            <a:ext cx="2694432" cy="1038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包含范围</a:t>
            </a:r>
          </a:p>
        </p:txBody>
      </p:sp>
      <p:sp>
        <p:nvSpPr>
          <p:cNvPr id="19" name="panel-L1"/>
          <p:cNvSpPr/>
          <p:nvPr/>
        </p:nvSpPr>
        <p:spPr>
          <a:xfrm>
            <a:off x="1524000" y="5095875"/>
            <a:ext cx="12706350" cy="2714625"/>
          </a:xfrm>
          <a:prstGeom prst="roundRect">
            <a:avLst>
              <a:gd name="adj" fmla="val 9122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nel-R1"/>
          <p:cNvSpPr/>
          <p:nvPr/>
        </p:nvSpPr>
        <p:spPr>
          <a:xfrm>
            <a:off x="16278225" y="5095875"/>
            <a:ext cx="12773025" cy="2714625"/>
          </a:xfrm>
          <a:prstGeom prst="roundRect">
            <a:avLst>
              <a:gd name="adj" fmla="val 9122"/>
            </a:avLst>
          </a:prstGeom>
          <a:solidFill>
            <a:srgbClr val="E5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otch-L1-top"/>
          <p:cNvSpPr/>
          <p:nvPr/>
        </p:nvSpPr>
        <p:spPr>
          <a:xfrm>
            <a:off x="12811125" y="5095875"/>
            <a:ext cx="1419225" cy="1352550"/>
          </a:xfrm>
          <a:custGeom>
            <a:avLst/>
            <a:gdLst/>
            <a:ahLst/>
            <a:cxnLst/>
            <a:rect l="l" t="t" r="r" b="b"/>
            <a:pathLst>
              <a:path w="1419225" h="1352550">
                <a:moveTo>
                  <a:pt x="1419225" y="0"/>
                </a:moveTo>
                <a:lnTo>
                  <a:pt x="0" y="1352550"/>
                </a:lnTo>
                <a:lnTo>
                  <a:pt x="1419225" y="1352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otch-L1-bot"/>
          <p:cNvSpPr/>
          <p:nvPr/>
        </p:nvSpPr>
        <p:spPr>
          <a:xfrm>
            <a:off x="12811125" y="6448425"/>
            <a:ext cx="1419225" cy="1362075"/>
          </a:xfrm>
          <a:custGeom>
            <a:avLst/>
            <a:gdLst/>
            <a:ahLst/>
            <a:cxnLst/>
            <a:rect l="l" t="t" r="r" b="b"/>
            <a:pathLst>
              <a:path w="1419225" h="1362075">
                <a:moveTo>
                  <a:pt x="1419225" y="1362075"/>
                </a:moveTo>
                <a:lnTo>
                  <a:pt x="0" y="0"/>
                </a:lnTo>
                <a:lnTo>
                  <a:pt x="141922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otch-R1-top"/>
          <p:cNvSpPr/>
          <p:nvPr/>
        </p:nvSpPr>
        <p:spPr>
          <a:xfrm>
            <a:off x="16278225" y="5095875"/>
            <a:ext cx="1400175" cy="1352550"/>
          </a:xfrm>
          <a:custGeom>
            <a:avLst/>
            <a:gdLst/>
            <a:ahLst/>
            <a:cxnLst/>
            <a:rect l="l" t="t" r="r" b="b"/>
            <a:pathLst>
              <a:path w="1400175" h="1352550">
                <a:moveTo>
                  <a:pt x="0" y="0"/>
                </a:moveTo>
                <a:lnTo>
                  <a:pt x="1400175" y="1352550"/>
                </a:lnTo>
                <a:lnTo>
                  <a:pt x="0" y="1352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otch-R1-bot"/>
          <p:cNvSpPr/>
          <p:nvPr/>
        </p:nvSpPr>
        <p:spPr>
          <a:xfrm>
            <a:off x="16278225" y="6448425"/>
            <a:ext cx="1400175" cy="1362075"/>
          </a:xfrm>
          <a:custGeom>
            <a:avLst/>
            <a:gdLst/>
            <a:ahLst/>
            <a:cxnLst/>
            <a:rect l="l" t="t" r="r" b="b"/>
            <a:pathLst>
              <a:path w="1400175" h="1362075">
                <a:moveTo>
                  <a:pt x="0" y="1362075"/>
                </a:moveTo>
                <a:lnTo>
                  <a:pt x="1400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1-title"/>
          <p:cNvSpPr txBox="1"/>
          <p:nvPr/>
        </p:nvSpPr>
        <p:spPr>
          <a:xfrm>
            <a:off x="2190750" y="5295900"/>
            <a:ext cx="50292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ERP 系统深度集成</a:t>
            </a:r>
          </a:p>
        </p:txBody>
      </p:sp>
      <p:sp>
        <p:nvSpPr>
          <p:cNvPr id="26" name="L1-body1"/>
          <p:cNvSpPr txBox="1"/>
          <p:nvPr/>
        </p:nvSpPr>
        <p:spPr>
          <a:xfrm>
            <a:off x="2190750" y="6305550"/>
            <a:ext cx="1110615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本阶段项目暂不包含与企业现有ERP系统的深度数据</a:t>
            </a:r>
          </a:p>
        </p:txBody>
      </p:sp>
      <p:sp>
        <p:nvSpPr>
          <p:cNvPr id="27" name="L1-body2"/>
          <p:cNvSpPr txBox="1"/>
          <p:nvPr/>
        </p:nvSpPr>
        <p:spPr>
          <a:xfrm>
            <a:off x="2190750" y="6905625"/>
            <a:ext cx="43815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打通与业务流程对接</a:t>
            </a:r>
          </a:p>
        </p:txBody>
      </p:sp>
      <p:sp>
        <p:nvSpPr>
          <p:cNvPr id="28" name="R1-title"/>
          <p:cNvSpPr txBox="1"/>
          <p:nvPr/>
        </p:nvSpPr>
        <p:spPr>
          <a:xfrm>
            <a:off x="23326725" y="5295900"/>
            <a:ext cx="49149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核心功能模块覆盖</a:t>
            </a:r>
          </a:p>
        </p:txBody>
      </p:sp>
      <p:sp>
        <p:nvSpPr>
          <p:cNvPr id="29" name="R1-body1"/>
          <p:cNvSpPr txBox="1"/>
          <p:nvPr/>
        </p:nvSpPr>
        <p:spPr>
          <a:xfrm>
            <a:off x="17030700" y="6305550"/>
            <a:ext cx="11210925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完整包含客户管理、销售机会管理、营销活动管理及</a:t>
            </a:r>
          </a:p>
        </p:txBody>
      </p:sp>
      <p:sp>
        <p:nvSpPr>
          <p:cNvPr id="30" name="R1-body2"/>
          <p:cNvSpPr txBox="1"/>
          <p:nvPr/>
        </p:nvSpPr>
        <p:spPr>
          <a:xfrm>
            <a:off x="22412325" y="6915150"/>
            <a:ext cx="58293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报表分析四大核心业务模块</a:t>
            </a:r>
          </a:p>
        </p:txBody>
      </p:sp>
      <p:sp>
        <p:nvSpPr>
          <p:cNvPr id="31" name="panel-L2"/>
          <p:cNvSpPr/>
          <p:nvPr/>
        </p:nvSpPr>
        <p:spPr>
          <a:xfrm>
            <a:off x="1524000" y="8715375"/>
            <a:ext cx="12706350" cy="2714625"/>
          </a:xfrm>
          <a:prstGeom prst="roundRect">
            <a:avLst>
              <a:gd name="adj" fmla="val 9122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nel-R2"/>
          <p:cNvSpPr/>
          <p:nvPr/>
        </p:nvSpPr>
        <p:spPr>
          <a:xfrm>
            <a:off x="16278225" y="8715375"/>
            <a:ext cx="12773025" cy="2714625"/>
          </a:xfrm>
          <a:prstGeom prst="roundRect">
            <a:avLst>
              <a:gd name="adj" fmla="val 9122"/>
            </a:avLst>
          </a:prstGeom>
          <a:solidFill>
            <a:srgbClr val="E5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otch-L2-top"/>
          <p:cNvSpPr/>
          <p:nvPr/>
        </p:nvSpPr>
        <p:spPr>
          <a:xfrm>
            <a:off x="12811125" y="8715375"/>
            <a:ext cx="1419225" cy="1352550"/>
          </a:xfrm>
          <a:custGeom>
            <a:avLst/>
            <a:gdLst/>
            <a:ahLst/>
            <a:cxnLst/>
            <a:rect l="l" t="t" r="r" b="b"/>
            <a:pathLst>
              <a:path w="1419225" h="1352550">
                <a:moveTo>
                  <a:pt x="1419225" y="0"/>
                </a:moveTo>
                <a:lnTo>
                  <a:pt x="0" y="1352550"/>
                </a:lnTo>
                <a:lnTo>
                  <a:pt x="1419225" y="1352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otch-L2-bot"/>
          <p:cNvSpPr/>
          <p:nvPr/>
        </p:nvSpPr>
        <p:spPr>
          <a:xfrm>
            <a:off x="12811125" y="10067925"/>
            <a:ext cx="1419225" cy="1362075"/>
          </a:xfrm>
          <a:custGeom>
            <a:avLst/>
            <a:gdLst/>
            <a:ahLst/>
            <a:cxnLst/>
            <a:rect l="l" t="t" r="r" b="b"/>
            <a:pathLst>
              <a:path w="1419225" h="1362075">
                <a:moveTo>
                  <a:pt x="1419225" y="1362075"/>
                </a:moveTo>
                <a:lnTo>
                  <a:pt x="0" y="0"/>
                </a:lnTo>
                <a:lnTo>
                  <a:pt x="141922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otch-R2-top"/>
          <p:cNvSpPr/>
          <p:nvPr/>
        </p:nvSpPr>
        <p:spPr>
          <a:xfrm>
            <a:off x="16278225" y="8715375"/>
            <a:ext cx="1400175" cy="1352550"/>
          </a:xfrm>
          <a:custGeom>
            <a:avLst/>
            <a:gdLst/>
            <a:ahLst/>
            <a:cxnLst/>
            <a:rect l="l" t="t" r="r" b="b"/>
            <a:pathLst>
              <a:path w="1400175" h="1352550">
                <a:moveTo>
                  <a:pt x="0" y="0"/>
                </a:moveTo>
                <a:lnTo>
                  <a:pt x="1400175" y="1352550"/>
                </a:lnTo>
                <a:lnTo>
                  <a:pt x="0" y="1352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otch-R2-bot"/>
          <p:cNvSpPr/>
          <p:nvPr/>
        </p:nvSpPr>
        <p:spPr>
          <a:xfrm>
            <a:off x="16278225" y="10067925"/>
            <a:ext cx="1400175" cy="1362075"/>
          </a:xfrm>
          <a:custGeom>
            <a:avLst/>
            <a:gdLst/>
            <a:ahLst/>
            <a:cxnLst/>
            <a:rect l="l" t="t" r="r" b="b"/>
            <a:pathLst>
              <a:path w="1400175" h="1362075">
                <a:moveTo>
                  <a:pt x="0" y="1362075"/>
                </a:moveTo>
                <a:lnTo>
                  <a:pt x="1400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2-title"/>
          <p:cNvSpPr txBox="1"/>
          <p:nvPr/>
        </p:nvSpPr>
        <p:spPr>
          <a:xfrm>
            <a:off x="2190750" y="8934450"/>
            <a:ext cx="59626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移动端原生 App 开发</a:t>
            </a:r>
          </a:p>
        </p:txBody>
      </p:sp>
      <p:sp>
        <p:nvSpPr>
          <p:cNvPr id="38" name="L2-body1"/>
          <p:cNvSpPr txBox="1"/>
          <p:nvPr/>
        </p:nvSpPr>
        <p:spPr>
          <a:xfrm>
            <a:off x="2190750" y="9944100"/>
            <a:ext cx="114681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不开发独立的 iOS/Android 原生应用，仅提供适配移</a:t>
            </a:r>
          </a:p>
        </p:txBody>
      </p:sp>
      <p:sp>
        <p:nvSpPr>
          <p:cNvPr id="39" name="L2-body2"/>
          <p:cNvSpPr txBox="1"/>
          <p:nvPr/>
        </p:nvSpPr>
        <p:spPr>
          <a:xfrm>
            <a:off x="2190750" y="10544175"/>
            <a:ext cx="581025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动端的响应式网页访问能力</a:t>
            </a:r>
          </a:p>
        </p:txBody>
      </p:sp>
      <p:sp>
        <p:nvSpPr>
          <p:cNvPr id="40" name="R2-title"/>
          <p:cNvSpPr txBox="1"/>
          <p:nvPr/>
        </p:nvSpPr>
        <p:spPr>
          <a:xfrm>
            <a:off x="22698075" y="8934450"/>
            <a:ext cx="55435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全生命周期业务闭环</a:t>
            </a:r>
          </a:p>
        </p:txBody>
      </p:sp>
      <p:sp>
        <p:nvSpPr>
          <p:cNvPr id="41" name="R2-body1"/>
          <p:cNvSpPr txBox="1"/>
          <p:nvPr/>
        </p:nvSpPr>
        <p:spPr>
          <a:xfrm>
            <a:off x="17030700" y="9944100"/>
            <a:ext cx="11210925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流程贯穿线索获取、商机跟进、合同签订直至售后服</a:t>
            </a:r>
          </a:p>
        </p:txBody>
      </p:sp>
      <p:sp>
        <p:nvSpPr>
          <p:cNvPr id="42" name="R2-body2"/>
          <p:cNvSpPr txBox="1"/>
          <p:nvPr/>
        </p:nvSpPr>
        <p:spPr>
          <a:xfrm>
            <a:off x="21421725" y="10553700"/>
            <a:ext cx="68199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务，实现业务数据的端到端流转</a:t>
            </a:r>
          </a:p>
        </p:txBody>
      </p:sp>
      <p:sp>
        <p:nvSpPr>
          <p:cNvPr id="43" name="panel-L3"/>
          <p:cNvSpPr/>
          <p:nvPr/>
        </p:nvSpPr>
        <p:spPr>
          <a:xfrm>
            <a:off x="1524000" y="12382500"/>
            <a:ext cx="12706350" cy="2714625"/>
          </a:xfrm>
          <a:prstGeom prst="roundRect">
            <a:avLst>
              <a:gd name="adj" fmla="val 9122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nel-R3"/>
          <p:cNvSpPr/>
          <p:nvPr/>
        </p:nvSpPr>
        <p:spPr>
          <a:xfrm>
            <a:off x="16278225" y="12382500"/>
            <a:ext cx="12773025" cy="2714625"/>
          </a:xfrm>
          <a:prstGeom prst="roundRect">
            <a:avLst>
              <a:gd name="adj" fmla="val 9122"/>
            </a:avLst>
          </a:prstGeom>
          <a:solidFill>
            <a:srgbClr val="E5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otch-L3-top"/>
          <p:cNvSpPr/>
          <p:nvPr/>
        </p:nvSpPr>
        <p:spPr>
          <a:xfrm>
            <a:off x="12811125" y="12382500"/>
            <a:ext cx="1419225" cy="1352550"/>
          </a:xfrm>
          <a:custGeom>
            <a:avLst/>
            <a:gdLst/>
            <a:ahLst/>
            <a:cxnLst/>
            <a:rect l="l" t="t" r="r" b="b"/>
            <a:pathLst>
              <a:path w="1419225" h="1352550">
                <a:moveTo>
                  <a:pt x="1419225" y="0"/>
                </a:moveTo>
                <a:lnTo>
                  <a:pt x="0" y="1352550"/>
                </a:lnTo>
                <a:lnTo>
                  <a:pt x="1419225" y="1352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otch-L3-bot"/>
          <p:cNvSpPr/>
          <p:nvPr/>
        </p:nvSpPr>
        <p:spPr>
          <a:xfrm>
            <a:off x="12811125" y="13735050"/>
            <a:ext cx="1419225" cy="1362075"/>
          </a:xfrm>
          <a:custGeom>
            <a:avLst/>
            <a:gdLst/>
            <a:ahLst/>
            <a:cxnLst/>
            <a:rect l="l" t="t" r="r" b="b"/>
            <a:pathLst>
              <a:path w="1419225" h="1362075">
                <a:moveTo>
                  <a:pt x="1419225" y="1362075"/>
                </a:moveTo>
                <a:lnTo>
                  <a:pt x="0" y="0"/>
                </a:lnTo>
                <a:lnTo>
                  <a:pt x="141922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otch-R3-top"/>
          <p:cNvSpPr/>
          <p:nvPr/>
        </p:nvSpPr>
        <p:spPr>
          <a:xfrm>
            <a:off x="16278225" y="12382500"/>
            <a:ext cx="1400175" cy="1352550"/>
          </a:xfrm>
          <a:custGeom>
            <a:avLst/>
            <a:gdLst/>
            <a:ahLst/>
            <a:cxnLst/>
            <a:rect l="l" t="t" r="r" b="b"/>
            <a:pathLst>
              <a:path w="1400175" h="1352550">
                <a:moveTo>
                  <a:pt x="0" y="0"/>
                </a:moveTo>
                <a:lnTo>
                  <a:pt x="1400175" y="1352550"/>
                </a:lnTo>
                <a:lnTo>
                  <a:pt x="0" y="1352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otch-R3-bot"/>
          <p:cNvSpPr/>
          <p:nvPr/>
        </p:nvSpPr>
        <p:spPr>
          <a:xfrm>
            <a:off x="16278225" y="13735050"/>
            <a:ext cx="1400175" cy="1362075"/>
          </a:xfrm>
          <a:custGeom>
            <a:avLst/>
            <a:gdLst/>
            <a:ahLst/>
            <a:cxnLst/>
            <a:rect l="l" t="t" r="r" b="b"/>
            <a:pathLst>
              <a:path w="1400175" h="1362075">
                <a:moveTo>
                  <a:pt x="0" y="1362075"/>
                </a:moveTo>
                <a:lnTo>
                  <a:pt x="14001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3-title"/>
          <p:cNvSpPr txBox="1"/>
          <p:nvPr/>
        </p:nvSpPr>
        <p:spPr>
          <a:xfrm>
            <a:off x="2190750" y="12582525"/>
            <a:ext cx="5534025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历史数据清洗与迁移</a:t>
            </a:r>
          </a:p>
        </p:txBody>
      </p:sp>
      <p:sp>
        <p:nvSpPr>
          <p:cNvPr id="50" name="L3-body1"/>
          <p:cNvSpPr txBox="1"/>
          <p:nvPr/>
        </p:nvSpPr>
        <p:spPr>
          <a:xfrm>
            <a:off x="2190750" y="13592175"/>
            <a:ext cx="1122045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项目范围内仅负责新系统上线后的增量数据管理，不</a:t>
            </a:r>
          </a:p>
        </p:txBody>
      </p:sp>
      <p:sp>
        <p:nvSpPr>
          <p:cNvPr id="51" name="L3-body2"/>
          <p:cNvSpPr txBox="1"/>
          <p:nvPr/>
        </p:nvSpPr>
        <p:spPr>
          <a:xfrm>
            <a:off x="2190750" y="14192250"/>
            <a:ext cx="68199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包含旧系统历史数据的清洗工作</a:t>
            </a:r>
          </a:p>
        </p:txBody>
      </p:sp>
      <p:sp>
        <p:nvSpPr>
          <p:cNvPr id="52" name="R3-title"/>
          <p:cNvSpPr txBox="1"/>
          <p:nvPr/>
        </p:nvSpPr>
        <p:spPr>
          <a:xfrm>
            <a:off x="23926800" y="12582525"/>
            <a:ext cx="4314825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跨部门协同支持</a:t>
            </a:r>
          </a:p>
        </p:txBody>
      </p:sp>
      <p:sp>
        <p:nvSpPr>
          <p:cNvPr id="53" name="R3-body1"/>
          <p:cNvSpPr txBox="1"/>
          <p:nvPr/>
        </p:nvSpPr>
        <p:spPr>
          <a:xfrm>
            <a:off x="17068800" y="13592175"/>
            <a:ext cx="11172825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项目建设与使用覆盖销售部、市场部、客服部及IT技</a:t>
            </a:r>
          </a:p>
        </p:txBody>
      </p:sp>
      <p:sp>
        <p:nvSpPr>
          <p:cNvPr id="54" name="R3-body2"/>
          <p:cNvSpPr txBox="1"/>
          <p:nvPr/>
        </p:nvSpPr>
        <p:spPr>
          <a:xfrm>
            <a:off x="22440900" y="14201775"/>
            <a:ext cx="5800725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525" b="0" i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术支持部四大关键职能部门</a:t>
            </a:r>
          </a:p>
        </p:txBody>
      </p:sp>
      <p:sp>
        <p:nvSpPr>
          <p:cNvPr id="55" name="rail"/>
          <p:cNvSpPr/>
          <p:nvPr/>
        </p:nvSpPr>
        <p:spPr>
          <a:xfrm>
            <a:off x="15078075" y="4248150"/>
            <a:ext cx="342900" cy="11772900"/>
          </a:xfrm>
          <a:prstGeom prst="rect">
            <a:avLst/>
          </a:prstGeom>
          <a:solidFill>
            <a:srgbClr val="B4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ail-core"/>
          <p:cNvSpPr/>
          <p:nvPr/>
        </p:nvSpPr>
        <p:spPr>
          <a:xfrm>
            <a:off x="15163800" y="4248150"/>
            <a:ext cx="161925" cy="1177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ia-pale-01"/>
          <p:cNvSpPr/>
          <p:nvPr/>
        </p:nvSpPr>
        <p:spPr>
          <a:xfrm>
            <a:off x="12954000" y="4114800"/>
            <a:ext cx="4572000" cy="4819650"/>
          </a:xfrm>
          <a:custGeom>
            <a:avLst/>
            <a:gdLst/>
            <a:ahLst/>
            <a:cxnLst/>
            <a:rect l="l" t="t" r="r" b="b"/>
            <a:pathLst>
              <a:path w="4572000" h="4819650">
                <a:moveTo>
                  <a:pt x="2286000" y="0"/>
                </a:moveTo>
                <a:lnTo>
                  <a:pt x="4572000" y="2409825"/>
                </a:lnTo>
                <a:lnTo>
                  <a:pt x="2286000" y="4819650"/>
                </a:lnTo>
                <a:lnTo>
                  <a:pt x="0" y="2409825"/>
                </a:lnTo>
                <a:close/>
              </a:path>
            </a:pathLst>
          </a:custGeom>
          <a:solidFill>
            <a:srgbClr val="B4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ia-01"/>
          <p:cNvSpPr/>
          <p:nvPr/>
        </p:nvSpPr>
        <p:spPr>
          <a:xfrm>
            <a:off x="13144500" y="4429125"/>
            <a:ext cx="4191000" cy="4191000"/>
          </a:xfrm>
          <a:custGeom>
            <a:avLst/>
            <a:gdLst/>
            <a:ahLst/>
            <a:cxnLst/>
            <a:rect l="l" t="t" r="r" b="b"/>
            <a:pathLst>
              <a:path w="4191000" h="4191000">
                <a:moveTo>
                  <a:pt x="2095500" y="0"/>
                </a:moveTo>
                <a:lnTo>
                  <a:pt x="4191000" y="2095500"/>
                </a:lnTo>
                <a:lnTo>
                  <a:pt x="2095500" y="4191000"/>
                </a:lnTo>
                <a:lnTo>
                  <a:pt x="0" y="2095500"/>
                </a:lnTo>
                <a:close/>
              </a:path>
            </a:pathLst>
          </a:cu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um-01"/>
          <p:cNvSpPr txBox="1"/>
          <p:nvPr/>
        </p:nvSpPr>
        <p:spPr>
          <a:xfrm>
            <a:off x="14665452" y="5648325"/>
            <a:ext cx="1149096" cy="1524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0" name="dia-pale-02"/>
          <p:cNvSpPr/>
          <p:nvPr/>
        </p:nvSpPr>
        <p:spPr>
          <a:xfrm>
            <a:off x="12954000" y="7772400"/>
            <a:ext cx="4572000" cy="4819650"/>
          </a:xfrm>
          <a:custGeom>
            <a:avLst/>
            <a:gdLst/>
            <a:ahLst/>
            <a:cxnLst/>
            <a:rect l="l" t="t" r="r" b="b"/>
            <a:pathLst>
              <a:path w="4572000" h="4819650">
                <a:moveTo>
                  <a:pt x="2286000" y="0"/>
                </a:moveTo>
                <a:lnTo>
                  <a:pt x="4572000" y="2409825"/>
                </a:lnTo>
                <a:lnTo>
                  <a:pt x="2286000" y="4819650"/>
                </a:lnTo>
                <a:lnTo>
                  <a:pt x="0" y="2409825"/>
                </a:lnTo>
                <a:close/>
              </a:path>
            </a:pathLst>
          </a:custGeom>
          <a:solidFill>
            <a:srgbClr val="B4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ia-02"/>
          <p:cNvSpPr/>
          <p:nvPr/>
        </p:nvSpPr>
        <p:spPr>
          <a:xfrm>
            <a:off x="13144500" y="8086725"/>
            <a:ext cx="4191000" cy="4191000"/>
          </a:xfrm>
          <a:custGeom>
            <a:avLst/>
            <a:gdLst/>
            <a:ahLst/>
            <a:cxnLst/>
            <a:rect l="l" t="t" r="r" b="b"/>
            <a:pathLst>
              <a:path w="4191000" h="4191000">
                <a:moveTo>
                  <a:pt x="2095500" y="0"/>
                </a:moveTo>
                <a:lnTo>
                  <a:pt x="4191000" y="2095500"/>
                </a:lnTo>
                <a:lnTo>
                  <a:pt x="2095500" y="4191000"/>
                </a:lnTo>
                <a:lnTo>
                  <a:pt x="0" y="2095500"/>
                </a:lnTo>
                <a:close/>
              </a:path>
            </a:pathLst>
          </a:cu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num-02"/>
          <p:cNvSpPr txBox="1"/>
          <p:nvPr/>
        </p:nvSpPr>
        <p:spPr>
          <a:xfrm>
            <a:off x="14665452" y="9296400"/>
            <a:ext cx="1149096" cy="1524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3" name="dia-pale-03"/>
          <p:cNvSpPr/>
          <p:nvPr/>
        </p:nvSpPr>
        <p:spPr>
          <a:xfrm>
            <a:off x="12954000" y="11306175"/>
            <a:ext cx="4572000" cy="4819650"/>
          </a:xfrm>
          <a:custGeom>
            <a:avLst/>
            <a:gdLst/>
            <a:ahLst/>
            <a:cxnLst/>
            <a:rect l="l" t="t" r="r" b="b"/>
            <a:pathLst>
              <a:path w="4572000" h="4819650">
                <a:moveTo>
                  <a:pt x="2286000" y="0"/>
                </a:moveTo>
                <a:lnTo>
                  <a:pt x="4572000" y="2409825"/>
                </a:lnTo>
                <a:lnTo>
                  <a:pt x="2286000" y="4819650"/>
                </a:lnTo>
                <a:lnTo>
                  <a:pt x="0" y="2409825"/>
                </a:lnTo>
                <a:close/>
              </a:path>
            </a:pathLst>
          </a:custGeom>
          <a:solidFill>
            <a:srgbClr val="B4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-03"/>
          <p:cNvSpPr/>
          <p:nvPr/>
        </p:nvSpPr>
        <p:spPr>
          <a:xfrm>
            <a:off x="13144500" y="11620500"/>
            <a:ext cx="4191000" cy="4191000"/>
          </a:xfrm>
          <a:custGeom>
            <a:avLst/>
            <a:gdLst/>
            <a:ahLst/>
            <a:cxnLst/>
            <a:rect l="l" t="t" r="r" b="b"/>
            <a:pathLst>
              <a:path w="4191000" h="4191000">
                <a:moveTo>
                  <a:pt x="2095500" y="0"/>
                </a:moveTo>
                <a:lnTo>
                  <a:pt x="4191000" y="2095500"/>
                </a:lnTo>
                <a:lnTo>
                  <a:pt x="2095500" y="4191000"/>
                </a:lnTo>
                <a:lnTo>
                  <a:pt x="0" y="2095500"/>
                </a:lnTo>
                <a:close/>
              </a:path>
            </a:pathLst>
          </a:cu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um-03"/>
          <p:cNvSpPr txBox="1"/>
          <p:nvPr/>
        </p:nvSpPr>
        <p:spPr>
          <a:xfrm>
            <a:off x="14665452" y="12963525"/>
            <a:ext cx="1149096" cy="1524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