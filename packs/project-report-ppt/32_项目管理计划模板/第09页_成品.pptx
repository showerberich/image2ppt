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44" name="ic-title"/>
          <p:cNvGrpSpPr/>
          <p:nvPr/>
        </p:nvGrpSpPr>
        <p:grpSpPr>
          <a:xfrm>
            <a:off x="1733550" y="1752600"/>
            <a:ext cx="1200150" cy="1190625"/>
            <a:chOff x="1733550" y="1752600"/>
            <a:chExt cx="1200150" cy="1190625"/>
          </a:xfrm>
        </p:grpSpPr>
        <p:sp>
          <p:nvSpPr>
            <p:cNvPr id="3" name="ic-v3"/>
            <p:cNvSpPr/>
            <p:nvPr/>
          </p:nvSpPr>
          <p:spPr>
            <a:xfrm>
              <a:off x="1752600" y="2514600"/>
              <a:ext cx="990600" cy="352425"/>
            </a:xfrm>
            <a:custGeom>
              <a:avLst/>
              <a:gdLst/>
              <a:ahLst/>
              <a:cxnLst/>
              <a:rect l="l" t="t" r="r" b="b"/>
              <a:pathLst>
                <a:path w="990600" h="352425">
                  <a:moveTo>
                    <a:pt x="0" y="0"/>
                  </a:moveTo>
                  <a:lnTo>
                    <a:pt x="495300" y="352425"/>
                  </a:lnTo>
                  <a:lnTo>
                    <a:pt x="990600" y="0"/>
                  </a:lnTo>
                </a:path>
              </a:pathLst>
            </a:custGeom>
            <a:noFill/>
            <a:ln w="95250">
              <a:solidFill>
                <a:srgbClr val="045CB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ic-v2"/>
            <p:cNvSpPr/>
            <p:nvPr/>
          </p:nvSpPr>
          <p:spPr>
            <a:xfrm>
              <a:off x="1752600" y="2314575"/>
              <a:ext cx="990600" cy="352425"/>
            </a:xfrm>
            <a:custGeom>
              <a:avLst/>
              <a:gdLst/>
              <a:ahLst/>
              <a:cxnLst/>
              <a:rect l="l" t="t" r="r" b="b"/>
              <a:pathLst>
                <a:path w="990600" h="352425">
                  <a:moveTo>
                    <a:pt x="0" y="0"/>
                  </a:moveTo>
                  <a:lnTo>
                    <a:pt x="495300" y="352425"/>
                  </a:lnTo>
                  <a:lnTo>
                    <a:pt x="990600" y="0"/>
                  </a:lnTo>
                </a:path>
              </a:pathLst>
            </a:custGeom>
            <a:noFill/>
            <a:ln w="95250">
              <a:solidFill>
                <a:srgbClr val="045CB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c-card"/>
            <p:cNvSpPr/>
            <p:nvPr/>
          </p:nvSpPr>
          <p:spPr>
            <a:xfrm>
              <a:off x="1733550" y="1752600"/>
              <a:ext cx="1028700" cy="704850"/>
            </a:xfrm>
            <a:custGeom>
              <a:avLst/>
              <a:gdLst/>
              <a:ahLst/>
              <a:cxnLst/>
              <a:rect l="l" t="t" r="r" b="b"/>
              <a:pathLst>
                <a:path w="1028700" h="704850">
                  <a:moveTo>
                    <a:pt x="466725" y="0"/>
                  </a:moveTo>
                  <a:lnTo>
                    <a:pt x="561975" y="0"/>
                  </a:lnTo>
                  <a:lnTo>
                    <a:pt x="1028700" y="304800"/>
                  </a:lnTo>
                  <a:lnTo>
                    <a:pt x="1028700" y="400050"/>
                  </a:lnTo>
                  <a:lnTo>
                    <a:pt x="561975" y="704850"/>
                  </a:lnTo>
                  <a:lnTo>
                    <a:pt x="466725" y="704850"/>
                  </a:lnTo>
                  <a:lnTo>
                    <a:pt x="0" y="40005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c-slot"/>
            <p:cNvSpPr/>
            <p:nvPr/>
          </p:nvSpPr>
          <p:spPr>
            <a:xfrm rot="1620000">
              <a:off x="2028825" y="2085975"/>
              <a:ext cx="438150" cy="85725"/>
            </a:xfrm>
            <a:prstGeom prst="roundRect">
              <a:avLst>
                <a:gd name="adj" fmla="val 4444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c-tag"/>
            <p:cNvSpPr/>
            <p:nvPr/>
          </p:nvSpPr>
          <p:spPr>
            <a:xfrm rot="20160000">
              <a:off x="2390775" y="2466975"/>
              <a:ext cx="542925" cy="476250"/>
            </a:xfrm>
            <a:prstGeom prst="roundRect">
              <a:avLst>
                <a:gd name="adj" fmla="val 18000"/>
              </a:avLst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c-tag-fold"/>
            <p:cNvSpPr/>
            <p:nvPr/>
          </p:nvSpPr>
          <p:spPr>
            <a:xfrm>
              <a:off x="2781300" y="2552700"/>
              <a:ext cx="152400" cy="276225"/>
            </a:xfrm>
            <a:custGeom>
              <a:avLst/>
              <a:gdLst/>
              <a:ahLst/>
              <a:cxnLst/>
              <a:rect l="l" t="t" r="r" b="b"/>
              <a:pathLst>
                <a:path w="152400" h="276225">
                  <a:moveTo>
                    <a:pt x="0" y="0"/>
                  </a:moveTo>
                  <a:lnTo>
                    <a:pt x="152400" y="142875"/>
                  </a:lnTo>
                  <a:lnTo>
                    <a:pt x="47625" y="276225"/>
                  </a:lnTo>
                  <a:close/>
                </a:path>
              </a:pathLst>
            </a:custGeom>
            <a:solidFill>
              <a:srgbClr val="0244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c-tag-hole"/>
            <p:cNvSpPr/>
            <p:nvPr/>
          </p:nvSpPr>
          <p:spPr>
            <a:xfrm>
              <a:off x="2457450" y="255270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t-title"/>
          <p:cNvSpPr txBox="1"/>
          <p:nvPr/>
        </p:nvSpPr>
        <p:spPr>
          <a:xfrm>
            <a:off x="3143250" y="1619250"/>
            <a:ext cx="8915400" cy="1524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1B4F91"/>
                </a:solidFill>
                <a:latin typeface="Microsoft YaHei"/>
                <a:ea typeface="Microsoft YaHei"/>
                <a:cs typeface="Microsoft YaHei"/>
              </a:rPr>
              <a:t>资源计划与项目预算</a:t>
            </a:r>
          </a:p>
        </p:txBody>
      </p:sp>
      <p:grpSp>
        <p:nvGrpSpPr>
          <p:cNvPr id="40" name="bubble-A"/>
          <p:cNvGrpSpPr/>
          <p:nvPr/>
        </p:nvGrpSpPr>
        <p:grpSpPr>
          <a:xfrm>
            <a:off x="2438400" y="7839075"/>
            <a:ext cx="7143750" cy="7067550"/>
            <a:chOff x="2438400" y="7839075"/>
            <a:chExt cx="7143750" cy="7067550"/>
          </a:xfrm>
        </p:grpSpPr>
        <p:sp>
          <p:nvSpPr>
            <p:cNvPr id="11" name="circle-A"/>
            <p:cNvSpPr/>
            <p:nvPr/>
          </p:nvSpPr>
          <p:spPr>
            <a:xfrm>
              <a:off x="2476500" y="7839075"/>
              <a:ext cx="7067550" cy="7067550"/>
            </a:xfrm>
            <a:prstGeom prst="ellipse">
              <a:avLst/>
            </a:prstGeom>
            <a:gradFill rotWithShape="1">
              <a:gsLst>
                <a:gs pos="0">
                  <a:srgbClr val="0459B2"/>
                </a:gs>
                <a:gs pos="100000">
                  <a:srgbClr val="02448A"/>
                </a:gs>
              </a:gsLst>
              <a:lin scaled="0" ang="54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band-A"/>
            <p:cNvSpPr/>
            <p:nvPr/>
          </p:nvSpPr>
          <p:spPr>
            <a:xfrm>
              <a:off x="2438400" y="10496550"/>
              <a:ext cx="7143750" cy="17526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num-A"/>
            <p:cNvSpPr txBox="1"/>
            <p:nvPr/>
          </p:nvSpPr>
          <p:spPr>
            <a:xfrm>
              <a:off x="3852100" y="10626090"/>
              <a:ext cx="4278249" cy="14935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350" b="1" i="0">
                  <a:solidFill>
                    <a:srgbClr val="08348B"/>
                  </a:solidFill>
                  <a:latin typeface="Microsoft YaHei"/>
                  <a:ea typeface="Microsoft YaHei"/>
                  <a:cs typeface="Microsoft YaHei"/>
                </a:rPr>
                <a:t>1200000</a:t>
              </a:r>
            </a:p>
          </p:txBody>
        </p:sp>
        <p:sp>
          <p:nvSpPr>
            <p:cNvPr id="14" name="lab-A"/>
            <p:cNvSpPr txBox="1"/>
            <p:nvPr/>
          </p:nvSpPr>
          <p:spPr>
            <a:xfrm>
              <a:off x="4476750" y="12622530"/>
              <a:ext cx="3028950" cy="10058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人力成本</a:t>
              </a:r>
            </a:p>
          </p:txBody>
        </p:sp>
      </p:grpSp>
      <p:grpSp>
        <p:nvGrpSpPr>
          <p:cNvPr id="41" name="bubble-B"/>
          <p:cNvGrpSpPr/>
          <p:nvPr/>
        </p:nvGrpSpPr>
        <p:grpSpPr>
          <a:xfrm>
            <a:off x="21855112" y="6138862"/>
            <a:ext cx="6238875" cy="6162675"/>
            <a:chOff x="21855112" y="6138862"/>
            <a:chExt cx="6238875" cy="6162675"/>
          </a:xfrm>
        </p:grpSpPr>
        <p:sp>
          <p:nvSpPr>
            <p:cNvPr id="15" name="circle-B"/>
            <p:cNvSpPr/>
            <p:nvPr/>
          </p:nvSpPr>
          <p:spPr>
            <a:xfrm>
              <a:off x="21893212" y="6138862"/>
              <a:ext cx="6162675" cy="6162675"/>
            </a:xfrm>
            <a:prstGeom prst="ellipse">
              <a:avLst/>
            </a:prstGeom>
            <a:gradFill rotWithShape="1">
              <a:gsLst>
                <a:gs pos="0">
                  <a:srgbClr val="0459B2"/>
                </a:gs>
                <a:gs pos="100000">
                  <a:srgbClr val="02448A"/>
                </a:gs>
              </a:gsLst>
              <a:lin scaled="0" ang="54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and-B"/>
            <p:cNvSpPr/>
            <p:nvPr/>
          </p:nvSpPr>
          <p:spPr>
            <a:xfrm>
              <a:off x="21855112" y="8443912"/>
              <a:ext cx="6238875" cy="1552575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num-B"/>
            <p:cNvSpPr txBox="1"/>
            <p:nvPr/>
          </p:nvSpPr>
          <p:spPr>
            <a:xfrm>
              <a:off x="23143559" y="8473440"/>
              <a:ext cx="3681032" cy="14935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350" b="1" i="0">
                  <a:solidFill>
                    <a:srgbClr val="08348B"/>
                  </a:solidFill>
                  <a:latin typeface="Microsoft YaHei"/>
                  <a:ea typeface="Microsoft YaHei"/>
                  <a:cs typeface="Microsoft YaHei"/>
                </a:rPr>
                <a:t>200000</a:t>
              </a:r>
            </a:p>
          </p:txBody>
        </p:sp>
        <p:sp>
          <p:nvSpPr>
            <p:cNvPr id="18" name="lab-B"/>
            <p:cNvSpPr txBox="1"/>
            <p:nvPr/>
          </p:nvSpPr>
          <p:spPr>
            <a:xfrm>
              <a:off x="23623905" y="10306050"/>
              <a:ext cx="27203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风险应急</a:t>
              </a:r>
            </a:p>
          </p:txBody>
        </p:sp>
      </p:grpSp>
      <p:grpSp>
        <p:nvGrpSpPr>
          <p:cNvPr id="42" name="bubble-C"/>
          <p:cNvGrpSpPr/>
          <p:nvPr/>
        </p:nvGrpSpPr>
        <p:grpSpPr>
          <a:xfrm>
            <a:off x="15625762" y="3929062"/>
            <a:ext cx="5743575" cy="5667375"/>
            <a:chOff x="15625762" y="3929062"/>
            <a:chExt cx="5743575" cy="5667375"/>
          </a:xfrm>
        </p:grpSpPr>
        <p:sp>
          <p:nvSpPr>
            <p:cNvPr id="19" name="circle-C"/>
            <p:cNvSpPr/>
            <p:nvPr/>
          </p:nvSpPr>
          <p:spPr>
            <a:xfrm>
              <a:off x="15663862" y="3929062"/>
              <a:ext cx="5667375" cy="5667375"/>
            </a:xfrm>
            <a:prstGeom prst="ellipse">
              <a:avLst/>
            </a:prstGeom>
            <a:solidFill>
              <a:srgbClr val="0834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band-C"/>
            <p:cNvSpPr/>
            <p:nvPr/>
          </p:nvSpPr>
          <p:spPr>
            <a:xfrm>
              <a:off x="15625762" y="5976938"/>
              <a:ext cx="5743575" cy="1571625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num-C"/>
            <p:cNvSpPr txBox="1"/>
            <p:nvPr/>
          </p:nvSpPr>
          <p:spPr>
            <a:xfrm>
              <a:off x="16905446" y="6115050"/>
              <a:ext cx="3203257" cy="1295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375" b="1" i="0">
                  <a:solidFill>
                    <a:srgbClr val="08348B"/>
                  </a:solidFill>
                  <a:latin typeface="Microsoft YaHei"/>
                  <a:ea typeface="Microsoft YaHei"/>
                  <a:cs typeface="Microsoft YaHei"/>
                </a:rPr>
                <a:t>200000</a:t>
              </a:r>
            </a:p>
          </p:txBody>
        </p:sp>
        <p:sp>
          <p:nvSpPr>
            <p:cNvPr id="22" name="lab-C"/>
            <p:cNvSpPr txBox="1"/>
            <p:nvPr/>
          </p:nvSpPr>
          <p:spPr>
            <a:xfrm>
              <a:off x="17146905" y="7924800"/>
              <a:ext cx="27203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外包服务</a:t>
              </a:r>
            </a:p>
          </p:txBody>
        </p:sp>
      </p:grpSp>
      <p:grpSp>
        <p:nvGrpSpPr>
          <p:cNvPr id="39" name="bubble-D"/>
          <p:cNvGrpSpPr/>
          <p:nvPr/>
        </p:nvGrpSpPr>
        <p:grpSpPr>
          <a:xfrm>
            <a:off x="10248900" y="7943850"/>
            <a:ext cx="5600700" cy="5524500"/>
            <a:chOff x="10248900" y="7943850"/>
            <a:chExt cx="5600700" cy="5524500"/>
          </a:xfrm>
        </p:grpSpPr>
        <p:sp>
          <p:nvSpPr>
            <p:cNvPr id="23" name="circle-D"/>
            <p:cNvSpPr/>
            <p:nvPr/>
          </p:nvSpPr>
          <p:spPr>
            <a:xfrm>
              <a:off x="10287000" y="7943850"/>
              <a:ext cx="5524500" cy="5524500"/>
            </a:xfrm>
            <a:prstGeom prst="ellipse">
              <a:avLst/>
            </a:prstGeom>
            <a:solidFill>
              <a:srgbClr val="0350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band-D"/>
            <p:cNvSpPr/>
            <p:nvPr/>
          </p:nvSpPr>
          <p:spPr>
            <a:xfrm>
              <a:off x="10248900" y="9925050"/>
              <a:ext cx="5600700" cy="15621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num-D"/>
            <p:cNvSpPr txBox="1"/>
            <p:nvPr/>
          </p:nvSpPr>
          <p:spPr>
            <a:xfrm>
              <a:off x="11521059" y="10058400"/>
              <a:ext cx="3170682" cy="1295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375" b="1" i="0">
                  <a:solidFill>
                    <a:srgbClr val="08348B"/>
                  </a:solidFill>
                  <a:latin typeface="Microsoft YaHei"/>
                  <a:ea typeface="Microsoft YaHei"/>
                  <a:cs typeface="Microsoft YaHei"/>
                </a:rPr>
                <a:t>150000</a:t>
              </a:r>
            </a:p>
          </p:txBody>
        </p:sp>
        <p:sp>
          <p:nvSpPr>
            <p:cNvPr id="26" name="lab-D"/>
            <p:cNvSpPr txBox="1"/>
            <p:nvPr/>
          </p:nvSpPr>
          <p:spPr>
            <a:xfrm>
              <a:off x="11751945" y="11868150"/>
              <a:ext cx="270891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硬件设施</a:t>
              </a:r>
            </a:p>
          </p:txBody>
        </p:sp>
      </p:grpSp>
      <p:grpSp>
        <p:nvGrpSpPr>
          <p:cNvPr id="43" name="bubble-E"/>
          <p:cNvGrpSpPr/>
          <p:nvPr/>
        </p:nvGrpSpPr>
        <p:grpSpPr>
          <a:xfrm>
            <a:off x="6910388" y="3481388"/>
            <a:ext cx="4886325" cy="4810125"/>
            <a:chOff x="6910388" y="3481388"/>
            <a:chExt cx="4886325" cy="4810125"/>
          </a:xfrm>
        </p:grpSpPr>
        <p:sp>
          <p:nvSpPr>
            <p:cNvPr id="27" name="circle-E"/>
            <p:cNvSpPr/>
            <p:nvPr/>
          </p:nvSpPr>
          <p:spPr>
            <a:xfrm>
              <a:off x="6948488" y="3481388"/>
              <a:ext cx="4810125" cy="4810125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band-E"/>
            <p:cNvSpPr/>
            <p:nvPr/>
          </p:nvSpPr>
          <p:spPr>
            <a:xfrm>
              <a:off x="6910388" y="5176838"/>
              <a:ext cx="4886325" cy="1419225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num-E"/>
            <p:cNvSpPr txBox="1"/>
            <p:nvPr/>
          </p:nvSpPr>
          <p:spPr>
            <a:xfrm>
              <a:off x="7772305" y="5238750"/>
              <a:ext cx="3181540" cy="1295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375" b="1" i="0">
                  <a:solidFill>
                    <a:srgbClr val="08348B"/>
                  </a:solidFill>
                  <a:latin typeface="Microsoft YaHei"/>
                  <a:ea typeface="Microsoft YaHei"/>
                  <a:cs typeface="Microsoft YaHei"/>
                </a:rPr>
                <a:t>100000</a:t>
              </a:r>
            </a:p>
          </p:txBody>
        </p:sp>
        <p:sp>
          <p:nvSpPr>
            <p:cNvPr id="30" name="lab-E"/>
            <p:cNvSpPr txBox="1"/>
            <p:nvPr/>
          </p:nvSpPr>
          <p:spPr>
            <a:xfrm>
              <a:off x="8008620" y="6936105"/>
              <a:ext cx="2708910" cy="8534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保障测试</a:t>
              </a:r>
            </a:p>
          </p:txBody>
        </p:sp>
      </p:grpSp>
      <p:grpSp>
        <p:nvGrpSpPr>
          <p:cNvPr id="38" name="bubble-F"/>
          <p:cNvGrpSpPr/>
          <p:nvPr/>
        </p:nvGrpSpPr>
        <p:grpSpPr>
          <a:xfrm>
            <a:off x="17173575" y="10544175"/>
            <a:ext cx="4591050" cy="4514850"/>
            <a:chOff x="17173575" y="10544175"/>
            <a:chExt cx="4591050" cy="4514850"/>
          </a:xfrm>
        </p:grpSpPr>
        <p:sp>
          <p:nvSpPr>
            <p:cNvPr id="31" name="circle-F"/>
            <p:cNvSpPr/>
            <p:nvPr/>
          </p:nvSpPr>
          <p:spPr>
            <a:xfrm>
              <a:off x="17211675" y="10544175"/>
              <a:ext cx="4514850" cy="4514850"/>
            </a:xfrm>
            <a:prstGeom prst="ellipse">
              <a:avLst/>
            </a:prstGeom>
            <a:solidFill>
              <a:srgbClr val="0834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and-F"/>
            <p:cNvSpPr/>
            <p:nvPr/>
          </p:nvSpPr>
          <p:spPr>
            <a:xfrm>
              <a:off x="17173575" y="12244388"/>
              <a:ext cx="4591050" cy="1114425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num-F"/>
            <p:cNvSpPr txBox="1"/>
            <p:nvPr/>
          </p:nvSpPr>
          <p:spPr>
            <a:xfrm>
              <a:off x="18334387" y="12245340"/>
              <a:ext cx="2269426" cy="11125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75" b="1" i="0">
                  <a:solidFill>
                    <a:srgbClr val="08348B"/>
                  </a:solidFill>
                  <a:latin typeface="Microsoft YaHei"/>
                  <a:ea typeface="Microsoft YaHei"/>
                  <a:cs typeface="Microsoft YaHei"/>
                </a:rPr>
                <a:t>80000</a:t>
              </a:r>
            </a:p>
          </p:txBody>
        </p:sp>
        <p:sp>
          <p:nvSpPr>
            <p:cNvPr id="34" name="lab-F"/>
            <p:cNvSpPr txBox="1"/>
            <p:nvPr/>
          </p:nvSpPr>
          <p:spPr>
            <a:xfrm>
              <a:off x="18343245" y="13837920"/>
              <a:ext cx="2251710" cy="7467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软件授权</a:t>
              </a:r>
            </a:p>
          </p:txBody>
        </p:sp>
      </p:grpSp>
      <p:sp>
        <p:nvSpPr>
          <p:cNvPr id="35" name="footer-line"/>
          <p:cNvSpPr/>
          <p:nvPr/>
        </p:nvSpPr>
        <p:spPr>
          <a:xfrm>
            <a:off x="0" y="16278225"/>
            <a:ext cx="30470475" cy="142875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-total"/>
          <p:cNvSpPr txBox="1"/>
          <p:nvPr/>
        </p:nvSpPr>
        <p:spPr>
          <a:xfrm>
            <a:off x="10591800" y="15276671"/>
            <a:ext cx="9286875" cy="9220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37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项目总预算（含应急）2,143,000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