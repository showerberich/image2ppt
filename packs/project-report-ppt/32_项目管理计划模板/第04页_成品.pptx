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90" name="icon-layers"/>
          <p:cNvGrpSpPr/>
          <p:nvPr/>
        </p:nvGrpSpPr>
        <p:grpSpPr>
          <a:xfrm>
            <a:off x="1757362" y="1752600"/>
            <a:ext cx="1166813" cy="1209675"/>
            <a:chOff x="1757362" y="1752600"/>
            <a:chExt cx="1166813" cy="1209675"/>
          </a:xfrm>
        </p:grpSpPr>
        <p:sp>
          <p:nvSpPr>
            <p:cNvPr id="3" name="ic-line-0"/>
            <p:cNvSpPr/>
            <p:nvPr/>
          </p:nvSpPr>
          <p:spPr>
            <a:xfrm>
              <a:off x="1757362" y="2281238"/>
              <a:ext cx="995363" cy="260032"/>
            </a:xfrm>
            <a:custGeom>
              <a:avLst/>
              <a:gdLst/>
              <a:ahLst/>
              <a:cxnLst/>
              <a:rect l="l" t="t" r="r" b="b"/>
              <a:pathLst>
                <a:path w="995363" h="260032">
                  <a:moveTo>
                    <a:pt x="0" y="0"/>
                  </a:moveTo>
                  <a:lnTo>
                    <a:pt x="528638" y="260032"/>
                  </a:lnTo>
                  <a:lnTo>
                    <a:pt x="995363" y="0"/>
                  </a:lnTo>
                </a:path>
              </a:pathLst>
            </a:custGeom>
            <a:noFill/>
            <a:ln w="85725">
              <a:solidFill>
                <a:srgbClr val="045CB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ic-line-1"/>
            <p:cNvSpPr/>
            <p:nvPr/>
          </p:nvSpPr>
          <p:spPr>
            <a:xfrm>
              <a:off x="1757362" y="2490788"/>
              <a:ext cx="995363" cy="260032"/>
            </a:xfrm>
            <a:custGeom>
              <a:avLst/>
              <a:gdLst/>
              <a:ahLst/>
              <a:cxnLst/>
              <a:rect l="l" t="t" r="r" b="b"/>
              <a:pathLst>
                <a:path w="995363" h="260032">
                  <a:moveTo>
                    <a:pt x="0" y="0"/>
                  </a:moveTo>
                  <a:lnTo>
                    <a:pt x="528638" y="260032"/>
                  </a:lnTo>
                  <a:lnTo>
                    <a:pt x="995363" y="0"/>
                  </a:lnTo>
                </a:path>
              </a:pathLst>
            </a:custGeom>
            <a:noFill/>
            <a:ln w="85725">
              <a:solidFill>
                <a:srgbClr val="045CB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c-card"/>
            <p:cNvSpPr/>
            <p:nvPr/>
          </p:nvSpPr>
          <p:spPr>
            <a:xfrm>
              <a:off x="1762125" y="1752600"/>
              <a:ext cx="990600" cy="666750"/>
            </a:xfrm>
            <a:custGeom>
              <a:avLst/>
              <a:gdLst/>
              <a:ahLst/>
              <a:cxnLst/>
              <a:rect l="l" t="t" r="r" b="b"/>
              <a:pathLst>
                <a:path w="990600" h="666750">
                  <a:moveTo>
                    <a:pt x="533400" y="0"/>
                  </a:moveTo>
                  <a:lnTo>
                    <a:pt x="990600" y="409575"/>
                  </a:lnTo>
                  <a:lnTo>
                    <a:pt x="533400" y="6667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ic-slot"/>
            <p:cNvCxnSpPr/>
            <p:nvPr/>
          </p:nvCxnSpPr>
          <p:spPr>
            <a:xfrm flipV="1">
              <a:off x="2019300" y="1943100"/>
              <a:ext cx="361950" cy="3048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</p:cxnSp>
        <p:sp>
          <p:nvSpPr>
            <p:cNvPr id="7" name="ic-fold"/>
            <p:cNvSpPr/>
            <p:nvPr/>
          </p:nvSpPr>
          <p:spPr>
            <a:xfrm>
              <a:off x="2581275" y="246697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95250" y="0"/>
                  </a:moveTo>
                  <a:lnTo>
                    <a:pt x="342900" y="209550"/>
                  </a:lnTo>
                  <a:lnTo>
                    <a:pt x="238125" y="342900"/>
                  </a:lnTo>
                  <a:lnTo>
                    <a:pt x="0" y="123825"/>
                  </a:lnTo>
                  <a:close/>
                </a:path>
              </a:pathLst>
            </a:custGeom>
            <a:solidFill>
              <a:srgbClr val="004F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c-tag"/>
            <p:cNvSpPr/>
            <p:nvPr/>
          </p:nvSpPr>
          <p:spPr>
            <a:xfrm>
              <a:off x="2295525" y="2438400"/>
              <a:ext cx="619125" cy="523875"/>
            </a:xfrm>
            <a:custGeom>
              <a:avLst/>
              <a:gdLst/>
              <a:ahLst/>
              <a:cxnLst/>
              <a:rect l="l" t="t" r="r" b="b"/>
              <a:pathLst>
                <a:path w="619125" h="523875">
                  <a:moveTo>
                    <a:pt x="152400" y="0"/>
                  </a:moveTo>
                  <a:lnTo>
                    <a:pt x="619125" y="247650"/>
                  </a:lnTo>
                  <a:lnTo>
                    <a:pt x="466725" y="52387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c-hole"/>
            <p:cNvSpPr/>
            <p:nvPr/>
          </p:nvSpPr>
          <p:spPr>
            <a:xfrm>
              <a:off x="2471738" y="2471738"/>
              <a:ext cx="104775" cy="1047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title"/>
          <p:cNvSpPr txBox="1"/>
          <p:nvPr/>
        </p:nvSpPr>
        <p:spPr>
          <a:xfrm>
            <a:off x="3162300" y="1724025"/>
            <a:ext cx="6934200" cy="1314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grpSp>
        <p:nvGrpSpPr>
          <p:cNvPr id="89" name="banner"/>
          <p:cNvGrpSpPr/>
          <p:nvPr/>
        </p:nvGrpSpPr>
        <p:grpSpPr>
          <a:xfrm>
            <a:off x="3352800" y="3657600"/>
            <a:ext cx="23888700" cy="2038350"/>
            <a:chOff x="3352800" y="3657600"/>
            <a:chExt cx="23888700" cy="2038350"/>
          </a:xfrm>
        </p:grpSpPr>
        <p:sp>
          <p:nvSpPr>
            <p:cNvPr id="11" name="banner-shadow2"/>
            <p:cNvSpPr/>
            <p:nvPr/>
          </p:nvSpPr>
          <p:spPr>
            <a:xfrm>
              <a:off x="3429000" y="3733800"/>
              <a:ext cx="23812500" cy="1962150"/>
            </a:xfrm>
            <a:prstGeom prst="roundRect">
              <a:avLst>
                <a:gd name="adj" fmla="val 6796"/>
              </a:avLst>
            </a:prstGeom>
            <a:solidFill>
              <a:srgbClr val="E7ED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anner-shadow1"/>
            <p:cNvSpPr/>
            <p:nvPr/>
          </p:nvSpPr>
          <p:spPr>
            <a:xfrm>
              <a:off x="3400425" y="3705225"/>
              <a:ext cx="23841075" cy="1962150"/>
            </a:xfrm>
            <a:prstGeom prst="roundRect">
              <a:avLst>
                <a:gd name="adj" fmla="val 5825"/>
              </a:avLst>
            </a:prstGeom>
            <a:solidFill>
              <a:srgbClr val="F3F7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anner-bg"/>
            <p:cNvSpPr/>
            <p:nvPr/>
          </p:nvSpPr>
          <p:spPr>
            <a:xfrm>
              <a:off x="3352800" y="3657600"/>
              <a:ext cx="23869650" cy="1924050"/>
            </a:xfrm>
            <a:prstGeom prst="roundRect">
              <a:avLst>
                <a:gd name="adj" fmla="val 495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anner-arrow"/>
            <p:cNvSpPr/>
            <p:nvPr/>
          </p:nvSpPr>
          <p:spPr>
            <a:xfrm>
              <a:off x="3371850" y="4152900"/>
              <a:ext cx="2228850" cy="1028700"/>
            </a:xfrm>
            <a:custGeom>
              <a:avLst/>
              <a:gdLst/>
              <a:ahLst/>
              <a:cxnLst/>
              <a:rect l="l" t="t" r="r" b="b"/>
              <a:pathLst>
                <a:path w="2228850" h="1028700">
                  <a:moveTo>
                    <a:pt x="0" y="0"/>
                  </a:moveTo>
                  <a:lnTo>
                    <a:pt x="1743075" y="9525"/>
                  </a:lnTo>
                  <a:lnTo>
                    <a:pt x="2228850" y="514350"/>
                  </a:lnTo>
                  <a:lnTo>
                    <a:pt x="1743075" y="1019175"/>
                  </a:lnTo>
                  <a:lnTo>
                    <a:pt x="0" y="10287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anner-arrow-tl"/>
            <p:cNvSpPr/>
            <p:nvPr/>
          </p:nvSpPr>
          <p:spPr>
            <a:xfrm>
              <a:off x="3371850" y="4000500"/>
              <a:ext cx="190500" cy="161925"/>
            </a:xfrm>
            <a:custGeom>
              <a:avLst/>
              <a:gdLst/>
              <a:ahLst/>
              <a:cxnLst/>
              <a:rect l="l" t="t" r="r" b="b"/>
              <a:pathLst>
                <a:path w="190500" h="161925">
                  <a:moveTo>
                    <a:pt x="190500" y="0"/>
                  </a:moveTo>
                  <a:lnTo>
                    <a:pt x="190500" y="161925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anner-arrow-bl"/>
            <p:cNvSpPr/>
            <p:nvPr/>
          </p:nvSpPr>
          <p:spPr>
            <a:xfrm>
              <a:off x="3371850" y="5172075"/>
              <a:ext cx="190500" cy="161925"/>
            </a:xfrm>
            <a:custGeom>
              <a:avLst/>
              <a:gdLst/>
              <a:ahLst/>
              <a:cxnLst/>
              <a:rect l="l" t="t" r="r" b="b"/>
              <a:pathLst>
                <a:path w="190500" h="161925">
                  <a:moveTo>
                    <a:pt x="190500" y="161925"/>
                  </a:moveTo>
                  <a:lnTo>
                    <a:pt x="190500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anner-text"/>
            <p:cNvSpPr txBox="1"/>
            <p:nvPr/>
          </p:nvSpPr>
          <p:spPr>
            <a:xfrm>
              <a:off x="6067425" y="4276725"/>
              <a:ext cx="19959084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55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应对市场竞争加剧，提升客户满意度，公司决定启动新一代CRM系统开发项目</a:t>
              </a:r>
            </a:p>
          </p:txBody>
        </p:sp>
      </p:grpSp>
      <p:grpSp>
        <p:nvGrpSpPr>
          <p:cNvPr id="85" name="col-1"/>
          <p:cNvGrpSpPr/>
          <p:nvPr/>
        </p:nvGrpSpPr>
        <p:grpSpPr>
          <a:xfrm>
            <a:off x="3457575" y="6324600"/>
            <a:ext cx="4305300" cy="9515475"/>
            <a:chOff x="3457575" y="6324600"/>
            <a:chExt cx="4305300" cy="9515475"/>
          </a:xfrm>
        </p:grpSpPr>
        <p:sp>
          <p:nvSpPr>
            <p:cNvPr id="18" name="head-1-bg"/>
            <p:cNvSpPr/>
            <p:nvPr/>
          </p:nvSpPr>
          <p:spPr>
            <a:xfrm>
              <a:off x="3467100" y="6324600"/>
              <a:ext cx="4295775" cy="1790700"/>
            </a:xfrm>
            <a:prstGeom prst="roundRect">
              <a:avLst>
                <a:gd name="adj" fmla="val 11702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ad-1-notchL"/>
            <p:cNvSpPr/>
            <p:nvPr/>
          </p:nvSpPr>
          <p:spPr>
            <a:xfrm>
              <a:off x="345757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ad-1-notchR"/>
            <p:cNvSpPr/>
            <p:nvPr/>
          </p:nvSpPr>
          <p:spPr>
            <a:xfrm>
              <a:off x="709612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ad-1-dotL"/>
            <p:cNvSpPr/>
            <p:nvPr/>
          </p:nvSpPr>
          <p:spPr>
            <a:xfrm>
              <a:off x="3590925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ad-1-dotR"/>
            <p:cNvSpPr/>
            <p:nvPr/>
          </p:nvSpPr>
          <p:spPr>
            <a:xfrm>
              <a:off x="7353300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ad-1-text"/>
            <p:cNvSpPr txBox="1"/>
            <p:nvPr/>
          </p:nvSpPr>
          <p:spPr>
            <a:xfrm>
              <a:off x="4313596" y="6896100"/>
              <a:ext cx="2602782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Specific</a:t>
              </a:r>
            </a:p>
          </p:txBody>
        </p:sp>
        <p:cxnSp>
          <p:nvCxnSpPr>
            <p:cNvPr id="24" name="arrow-1-stem"/>
            <p:cNvCxnSpPr/>
            <p:nvPr/>
          </p:nvCxnSpPr>
          <p:spPr>
            <a:xfrm>
              <a:off x="5614988" y="8343900"/>
              <a:ext cx="0" cy="971550"/>
            </a:xfrm>
            <a:prstGeom prst="line">
              <a:avLst/>
            </a:prstGeom>
            <a:ln w="23812">
              <a:solidFill>
                <a:srgbClr val="045CB5"/>
              </a:solidFill>
              <a:prstDash val="dash"/>
            </a:ln>
            <a:effectLst/>
          </p:spPr>
        </p:cxnSp>
        <p:sp>
          <p:nvSpPr>
            <p:cNvPr id="25" name="arrow-1-head"/>
            <p:cNvSpPr/>
            <p:nvPr/>
          </p:nvSpPr>
          <p:spPr>
            <a:xfrm>
              <a:off x="5529262" y="9286875"/>
              <a:ext cx="171450" cy="200025"/>
            </a:xfrm>
            <a:custGeom>
              <a:avLst/>
              <a:gdLst/>
              <a:ahLst/>
              <a:cxnLst/>
              <a:rect l="l" t="t" r="r" b="b"/>
              <a:pathLst>
                <a:path w="171450" h="200025">
                  <a:moveTo>
                    <a:pt x="0" y="0"/>
                  </a:moveTo>
                  <a:lnTo>
                    <a:pt x="171450" y="0"/>
                  </a:lnTo>
                  <a:lnTo>
                    <a:pt x="85726" y="2000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ard-1-dome"/>
            <p:cNvSpPr/>
            <p:nvPr/>
          </p:nvSpPr>
          <p:spPr>
            <a:xfrm>
              <a:off x="4281488" y="9839325"/>
              <a:ext cx="2667000" cy="2476500"/>
            </a:xfrm>
            <a:prstGeom prst="ellipse">
              <a:avLst/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ard-1-bg"/>
            <p:cNvSpPr/>
            <p:nvPr/>
          </p:nvSpPr>
          <p:spPr>
            <a:xfrm>
              <a:off x="3481388" y="11049000"/>
              <a:ext cx="4267200" cy="4791075"/>
            </a:xfrm>
            <a:prstGeom prst="roundRect">
              <a:avLst>
                <a:gd name="adj" fmla="val 3571"/>
              </a:avLst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-1-badge"/>
            <p:cNvSpPr/>
            <p:nvPr/>
          </p:nvSpPr>
          <p:spPr>
            <a:xfrm>
              <a:off x="5119688" y="10182225"/>
              <a:ext cx="990600" cy="9906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-1-letter"/>
            <p:cNvSpPr txBox="1"/>
            <p:nvPr/>
          </p:nvSpPr>
          <p:spPr>
            <a:xfrm>
              <a:off x="5367338" y="10382250"/>
              <a:ext cx="4953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30" name="card-1-text"/>
            <p:cNvSpPr txBox="1"/>
            <p:nvPr/>
          </p:nvSpPr>
          <p:spPr>
            <a:xfrm>
              <a:off x="3788474" y="11972925"/>
              <a:ext cx="3653028" cy="3143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完成新一代CRM系统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的所有功能模块开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发、多轮测试（单元/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集成/用户验收测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试），并通过内部评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审，正式上线运行</a:t>
              </a:r>
            </a:p>
          </p:txBody>
        </p:sp>
      </p:grpSp>
      <p:grpSp>
        <p:nvGrpSpPr>
          <p:cNvPr id="84" name="col-2"/>
          <p:cNvGrpSpPr/>
          <p:nvPr/>
        </p:nvGrpSpPr>
        <p:grpSpPr>
          <a:xfrm>
            <a:off x="8334375" y="6324600"/>
            <a:ext cx="4305300" cy="9515475"/>
            <a:chOff x="8334375" y="6324600"/>
            <a:chExt cx="4305300" cy="9515475"/>
          </a:xfrm>
        </p:grpSpPr>
        <p:sp>
          <p:nvSpPr>
            <p:cNvPr id="31" name="head-2-bg"/>
            <p:cNvSpPr/>
            <p:nvPr/>
          </p:nvSpPr>
          <p:spPr>
            <a:xfrm>
              <a:off x="8343900" y="6324600"/>
              <a:ext cx="4295775" cy="1790700"/>
            </a:xfrm>
            <a:prstGeom prst="roundRect">
              <a:avLst>
                <a:gd name="adj" fmla="val 11702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ad-2-notchL"/>
            <p:cNvSpPr/>
            <p:nvPr/>
          </p:nvSpPr>
          <p:spPr>
            <a:xfrm>
              <a:off x="833437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ad-2-notchR"/>
            <p:cNvSpPr/>
            <p:nvPr/>
          </p:nvSpPr>
          <p:spPr>
            <a:xfrm>
              <a:off x="1197292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ad-2-dotL"/>
            <p:cNvSpPr/>
            <p:nvPr/>
          </p:nvSpPr>
          <p:spPr>
            <a:xfrm>
              <a:off x="8467725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ad-2-dotR"/>
            <p:cNvSpPr/>
            <p:nvPr/>
          </p:nvSpPr>
          <p:spPr>
            <a:xfrm>
              <a:off x="12230100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ad-2-text"/>
            <p:cNvSpPr txBox="1"/>
            <p:nvPr/>
          </p:nvSpPr>
          <p:spPr>
            <a:xfrm>
              <a:off x="8869202" y="6896100"/>
              <a:ext cx="3245171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Measurable</a:t>
              </a:r>
            </a:p>
          </p:txBody>
        </p:sp>
        <p:cxnSp>
          <p:nvCxnSpPr>
            <p:cNvPr id="37" name="arrow-2-stem"/>
            <p:cNvCxnSpPr/>
            <p:nvPr/>
          </p:nvCxnSpPr>
          <p:spPr>
            <a:xfrm>
              <a:off x="10491788" y="8343900"/>
              <a:ext cx="0" cy="971550"/>
            </a:xfrm>
            <a:prstGeom prst="line">
              <a:avLst/>
            </a:prstGeom>
            <a:ln w="23812">
              <a:solidFill>
                <a:srgbClr val="045CB5"/>
              </a:solidFill>
              <a:prstDash val="dash"/>
            </a:ln>
            <a:effectLst/>
          </p:spPr>
        </p:cxnSp>
        <p:sp>
          <p:nvSpPr>
            <p:cNvPr id="38" name="arrow-2-head"/>
            <p:cNvSpPr/>
            <p:nvPr/>
          </p:nvSpPr>
          <p:spPr>
            <a:xfrm>
              <a:off x="10406062" y="9286875"/>
              <a:ext cx="171450" cy="200025"/>
            </a:xfrm>
            <a:custGeom>
              <a:avLst/>
              <a:gdLst/>
              <a:ahLst/>
              <a:cxnLst/>
              <a:rect l="l" t="t" r="r" b="b"/>
              <a:pathLst>
                <a:path w="171450" h="200025">
                  <a:moveTo>
                    <a:pt x="0" y="0"/>
                  </a:moveTo>
                  <a:lnTo>
                    <a:pt x="171450" y="0"/>
                  </a:lnTo>
                  <a:lnTo>
                    <a:pt x="85726" y="2000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rd-2-dome"/>
            <p:cNvSpPr/>
            <p:nvPr/>
          </p:nvSpPr>
          <p:spPr>
            <a:xfrm>
              <a:off x="9158288" y="9839325"/>
              <a:ext cx="2667000" cy="2476500"/>
            </a:xfrm>
            <a:prstGeom prst="ellipse">
              <a:avLst/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-2-bg"/>
            <p:cNvSpPr/>
            <p:nvPr/>
          </p:nvSpPr>
          <p:spPr>
            <a:xfrm>
              <a:off x="8358188" y="11049000"/>
              <a:ext cx="4267200" cy="4791075"/>
            </a:xfrm>
            <a:prstGeom prst="roundRect">
              <a:avLst>
                <a:gd name="adj" fmla="val 3571"/>
              </a:avLst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card-2-badge"/>
            <p:cNvSpPr/>
            <p:nvPr/>
          </p:nvSpPr>
          <p:spPr>
            <a:xfrm>
              <a:off x="9996488" y="10182225"/>
              <a:ext cx="990600" cy="9906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card-2-letter"/>
            <p:cNvSpPr txBox="1"/>
            <p:nvPr/>
          </p:nvSpPr>
          <p:spPr>
            <a:xfrm>
              <a:off x="10244138" y="10382250"/>
              <a:ext cx="4953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</a:t>
              </a:r>
            </a:p>
          </p:txBody>
        </p:sp>
        <p:sp>
          <p:nvSpPr>
            <p:cNvPr id="43" name="card-2-text"/>
            <p:cNvSpPr txBox="1"/>
            <p:nvPr/>
          </p:nvSpPr>
          <p:spPr>
            <a:xfrm>
              <a:off x="8605838" y="11972925"/>
              <a:ext cx="3771900" cy="3143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开发任务完成率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100%，测试通过率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≥98%（严重Bug修复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率100%），上线前通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过率验收由项目组+业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务部门联合签字确认</a:t>
              </a:r>
            </a:p>
          </p:txBody>
        </p:sp>
      </p:grpSp>
      <p:grpSp>
        <p:nvGrpSpPr>
          <p:cNvPr id="86" name="col-3"/>
          <p:cNvGrpSpPr/>
          <p:nvPr/>
        </p:nvGrpSpPr>
        <p:grpSpPr>
          <a:xfrm>
            <a:off x="13192125" y="6324600"/>
            <a:ext cx="4305300" cy="9515475"/>
            <a:chOff x="13192125" y="6324600"/>
            <a:chExt cx="4305300" cy="9515475"/>
          </a:xfrm>
        </p:grpSpPr>
        <p:sp>
          <p:nvSpPr>
            <p:cNvPr id="44" name="head-3-bg"/>
            <p:cNvSpPr/>
            <p:nvPr/>
          </p:nvSpPr>
          <p:spPr>
            <a:xfrm>
              <a:off x="13201650" y="6324600"/>
              <a:ext cx="4295775" cy="1790700"/>
            </a:xfrm>
            <a:prstGeom prst="roundRect">
              <a:avLst>
                <a:gd name="adj" fmla="val 11702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ad-3-notchL"/>
            <p:cNvSpPr/>
            <p:nvPr/>
          </p:nvSpPr>
          <p:spPr>
            <a:xfrm>
              <a:off x="1319212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ad-3-notchR"/>
            <p:cNvSpPr/>
            <p:nvPr/>
          </p:nvSpPr>
          <p:spPr>
            <a:xfrm>
              <a:off x="1683067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ad-3-dotL"/>
            <p:cNvSpPr/>
            <p:nvPr/>
          </p:nvSpPr>
          <p:spPr>
            <a:xfrm>
              <a:off x="13325475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ad-3-dotR"/>
            <p:cNvSpPr/>
            <p:nvPr/>
          </p:nvSpPr>
          <p:spPr>
            <a:xfrm>
              <a:off x="17087850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ad-3-text"/>
            <p:cNvSpPr txBox="1"/>
            <p:nvPr/>
          </p:nvSpPr>
          <p:spPr>
            <a:xfrm>
              <a:off x="13726952" y="6896100"/>
              <a:ext cx="3245171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Achievable</a:t>
              </a:r>
            </a:p>
          </p:txBody>
        </p:sp>
        <p:cxnSp>
          <p:nvCxnSpPr>
            <p:cNvPr id="50" name="arrow-3-stem"/>
            <p:cNvCxnSpPr/>
            <p:nvPr/>
          </p:nvCxnSpPr>
          <p:spPr>
            <a:xfrm>
              <a:off x="15349538" y="8343900"/>
              <a:ext cx="0" cy="971550"/>
            </a:xfrm>
            <a:prstGeom prst="line">
              <a:avLst/>
            </a:prstGeom>
            <a:ln w="23812">
              <a:solidFill>
                <a:srgbClr val="045CB5"/>
              </a:solidFill>
              <a:prstDash val="dash"/>
            </a:ln>
            <a:effectLst/>
          </p:spPr>
        </p:cxnSp>
        <p:sp>
          <p:nvSpPr>
            <p:cNvPr id="51" name="arrow-3-head"/>
            <p:cNvSpPr/>
            <p:nvPr/>
          </p:nvSpPr>
          <p:spPr>
            <a:xfrm>
              <a:off x="15263812" y="9286875"/>
              <a:ext cx="171450" cy="200025"/>
            </a:xfrm>
            <a:custGeom>
              <a:avLst/>
              <a:gdLst/>
              <a:ahLst/>
              <a:cxnLst/>
              <a:rect l="l" t="t" r="r" b="b"/>
              <a:pathLst>
                <a:path w="171450" h="200025">
                  <a:moveTo>
                    <a:pt x="0" y="0"/>
                  </a:moveTo>
                  <a:lnTo>
                    <a:pt x="171450" y="0"/>
                  </a:lnTo>
                  <a:lnTo>
                    <a:pt x="85726" y="2000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card-3-dome"/>
            <p:cNvSpPr/>
            <p:nvPr/>
          </p:nvSpPr>
          <p:spPr>
            <a:xfrm>
              <a:off x="14016038" y="9839325"/>
              <a:ext cx="2667000" cy="2476500"/>
            </a:xfrm>
            <a:prstGeom prst="ellipse">
              <a:avLst/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card-3-bg"/>
            <p:cNvSpPr/>
            <p:nvPr/>
          </p:nvSpPr>
          <p:spPr>
            <a:xfrm>
              <a:off x="13215938" y="11049000"/>
              <a:ext cx="4267200" cy="4791075"/>
            </a:xfrm>
            <a:prstGeom prst="roundRect">
              <a:avLst>
                <a:gd name="adj" fmla="val 3571"/>
              </a:avLst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-3-badge"/>
            <p:cNvSpPr/>
            <p:nvPr/>
          </p:nvSpPr>
          <p:spPr>
            <a:xfrm>
              <a:off x="14854238" y="10182225"/>
              <a:ext cx="990600" cy="9906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-3-letter"/>
            <p:cNvSpPr txBox="1"/>
            <p:nvPr/>
          </p:nvSpPr>
          <p:spPr>
            <a:xfrm>
              <a:off x="15101888" y="10382250"/>
              <a:ext cx="4953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56" name="card-3-text"/>
            <p:cNvSpPr txBox="1"/>
            <p:nvPr/>
          </p:nvSpPr>
          <p:spPr>
            <a:xfrm>
              <a:off x="13600748" y="11972925"/>
              <a:ext cx="3497580" cy="3143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基于团队规模、技术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储备、资源投入，按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里程碑节点（需求冻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结→开发完成→测试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完成→上线）推进，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具备可实现性</a:t>
              </a:r>
            </a:p>
          </p:txBody>
        </p:sp>
      </p:grpSp>
      <p:grpSp>
        <p:nvGrpSpPr>
          <p:cNvPr id="88" name="col-4"/>
          <p:cNvGrpSpPr/>
          <p:nvPr/>
        </p:nvGrpSpPr>
        <p:grpSpPr>
          <a:xfrm>
            <a:off x="18049875" y="6324600"/>
            <a:ext cx="4305300" cy="9515475"/>
            <a:chOff x="18049875" y="6324600"/>
            <a:chExt cx="4305300" cy="9515475"/>
          </a:xfrm>
        </p:grpSpPr>
        <p:sp>
          <p:nvSpPr>
            <p:cNvPr id="57" name="head-4-bg"/>
            <p:cNvSpPr/>
            <p:nvPr/>
          </p:nvSpPr>
          <p:spPr>
            <a:xfrm>
              <a:off x="18059400" y="6324600"/>
              <a:ext cx="4295775" cy="1790700"/>
            </a:xfrm>
            <a:prstGeom prst="roundRect">
              <a:avLst>
                <a:gd name="adj" fmla="val 11702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head-4-notchL"/>
            <p:cNvSpPr/>
            <p:nvPr/>
          </p:nvSpPr>
          <p:spPr>
            <a:xfrm>
              <a:off x="1804987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head-4-notchR"/>
            <p:cNvSpPr/>
            <p:nvPr/>
          </p:nvSpPr>
          <p:spPr>
            <a:xfrm>
              <a:off x="2168842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head-4-dotL"/>
            <p:cNvSpPr/>
            <p:nvPr/>
          </p:nvSpPr>
          <p:spPr>
            <a:xfrm>
              <a:off x="18183225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head-4-dotR"/>
            <p:cNvSpPr/>
            <p:nvPr/>
          </p:nvSpPr>
          <p:spPr>
            <a:xfrm>
              <a:off x="21945600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head-4-text"/>
            <p:cNvSpPr txBox="1"/>
            <p:nvPr/>
          </p:nvSpPr>
          <p:spPr>
            <a:xfrm>
              <a:off x="18905896" y="6896100"/>
              <a:ext cx="2602782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Relevant</a:t>
              </a:r>
            </a:p>
          </p:txBody>
        </p:sp>
        <p:cxnSp>
          <p:nvCxnSpPr>
            <p:cNvPr id="63" name="arrow-4-stem"/>
            <p:cNvCxnSpPr/>
            <p:nvPr/>
          </p:nvCxnSpPr>
          <p:spPr>
            <a:xfrm>
              <a:off x="20207288" y="8343900"/>
              <a:ext cx="0" cy="971550"/>
            </a:xfrm>
            <a:prstGeom prst="line">
              <a:avLst/>
            </a:prstGeom>
            <a:ln w="23812">
              <a:solidFill>
                <a:srgbClr val="045CB5"/>
              </a:solidFill>
              <a:prstDash val="dash"/>
            </a:ln>
            <a:effectLst/>
          </p:spPr>
        </p:cxnSp>
        <p:sp>
          <p:nvSpPr>
            <p:cNvPr id="64" name="arrow-4-head"/>
            <p:cNvSpPr/>
            <p:nvPr/>
          </p:nvSpPr>
          <p:spPr>
            <a:xfrm>
              <a:off x="20121562" y="9286875"/>
              <a:ext cx="171450" cy="200025"/>
            </a:xfrm>
            <a:custGeom>
              <a:avLst/>
              <a:gdLst/>
              <a:ahLst/>
              <a:cxnLst/>
              <a:rect l="l" t="t" r="r" b="b"/>
              <a:pathLst>
                <a:path w="171450" h="200025">
                  <a:moveTo>
                    <a:pt x="0" y="0"/>
                  </a:moveTo>
                  <a:lnTo>
                    <a:pt x="171450" y="0"/>
                  </a:lnTo>
                  <a:lnTo>
                    <a:pt x="85726" y="2000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card-4-dome"/>
            <p:cNvSpPr/>
            <p:nvPr/>
          </p:nvSpPr>
          <p:spPr>
            <a:xfrm>
              <a:off x="18873788" y="9839325"/>
              <a:ext cx="2667000" cy="2476500"/>
            </a:xfrm>
            <a:prstGeom prst="ellipse">
              <a:avLst/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card-4-bg"/>
            <p:cNvSpPr/>
            <p:nvPr/>
          </p:nvSpPr>
          <p:spPr>
            <a:xfrm>
              <a:off x="18073688" y="11049000"/>
              <a:ext cx="4267200" cy="4791075"/>
            </a:xfrm>
            <a:prstGeom prst="roundRect">
              <a:avLst>
                <a:gd name="adj" fmla="val 3571"/>
              </a:avLst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card-4-badge"/>
            <p:cNvSpPr/>
            <p:nvPr/>
          </p:nvSpPr>
          <p:spPr>
            <a:xfrm>
              <a:off x="19711988" y="10182225"/>
              <a:ext cx="990600" cy="9906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card-4-letter"/>
            <p:cNvSpPr txBox="1"/>
            <p:nvPr/>
          </p:nvSpPr>
          <p:spPr>
            <a:xfrm>
              <a:off x="19959638" y="10382250"/>
              <a:ext cx="4953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  <p:sp>
          <p:nvSpPr>
            <p:cNvPr id="69" name="card-4-text"/>
            <p:cNvSpPr txBox="1"/>
            <p:nvPr/>
          </p:nvSpPr>
          <p:spPr>
            <a:xfrm>
              <a:off x="18458498" y="11972925"/>
              <a:ext cx="3497580" cy="2628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直接支撑“提升客户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满意度、应对市场竞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争”的业务驱动因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素，解决“现有系统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陈旧”的痛点</a:t>
              </a:r>
            </a:p>
          </p:txBody>
        </p:sp>
      </p:grpSp>
      <p:grpSp>
        <p:nvGrpSpPr>
          <p:cNvPr id="87" name="col-5"/>
          <p:cNvGrpSpPr/>
          <p:nvPr/>
        </p:nvGrpSpPr>
        <p:grpSpPr>
          <a:xfrm>
            <a:off x="22926675" y="6324600"/>
            <a:ext cx="4305300" cy="9515475"/>
            <a:chOff x="22926675" y="6324600"/>
            <a:chExt cx="4305300" cy="9515475"/>
          </a:xfrm>
        </p:grpSpPr>
        <p:sp>
          <p:nvSpPr>
            <p:cNvPr id="70" name="head-5-bg"/>
            <p:cNvSpPr/>
            <p:nvPr/>
          </p:nvSpPr>
          <p:spPr>
            <a:xfrm>
              <a:off x="22936200" y="6324600"/>
              <a:ext cx="4295775" cy="1790700"/>
            </a:xfrm>
            <a:prstGeom prst="roundRect">
              <a:avLst>
                <a:gd name="adj" fmla="val 11702"/>
              </a:avLst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head-5-notchL"/>
            <p:cNvSpPr/>
            <p:nvPr/>
          </p:nvSpPr>
          <p:spPr>
            <a:xfrm>
              <a:off x="2292667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head-5-notchR"/>
            <p:cNvSpPr/>
            <p:nvPr/>
          </p:nvSpPr>
          <p:spPr>
            <a:xfrm>
              <a:off x="26565225" y="6858000"/>
              <a:ext cx="666750" cy="666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head-5-dotL"/>
            <p:cNvSpPr/>
            <p:nvPr/>
          </p:nvSpPr>
          <p:spPr>
            <a:xfrm>
              <a:off x="23060025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head-5-dotR"/>
            <p:cNvSpPr/>
            <p:nvPr/>
          </p:nvSpPr>
          <p:spPr>
            <a:xfrm>
              <a:off x="26822400" y="7067550"/>
              <a:ext cx="247650" cy="24765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head-5-text"/>
            <p:cNvSpPr txBox="1"/>
            <p:nvPr/>
          </p:nvSpPr>
          <p:spPr>
            <a:xfrm>
              <a:off x="23511342" y="6896100"/>
              <a:ext cx="314549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275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Time-bound</a:t>
              </a:r>
            </a:p>
          </p:txBody>
        </p:sp>
        <p:cxnSp>
          <p:nvCxnSpPr>
            <p:cNvPr id="76" name="arrow-5-stem"/>
            <p:cNvCxnSpPr/>
            <p:nvPr/>
          </p:nvCxnSpPr>
          <p:spPr>
            <a:xfrm>
              <a:off x="25084088" y="8343900"/>
              <a:ext cx="0" cy="971550"/>
            </a:xfrm>
            <a:prstGeom prst="line">
              <a:avLst/>
            </a:prstGeom>
            <a:ln w="23812">
              <a:solidFill>
                <a:srgbClr val="045CB5"/>
              </a:solidFill>
              <a:prstDash val="dash"/>
            </a:ln>
            <a:effectLst/>
          </p:spPr>
        </p:cxnSp>
        <p:sp>
          <p:nvSpPr>
            <p:cNvPr id="77" name="arrow-5-head"/>
            <p:cNvSpPr/>
            <p:nvPr/>
          </p:nvSpPr>
          <p:spPr>
            <a:xfrm>
              <a:off x="24998362" y="9286875"/>
              <a:ext cx="171450" cy="200025"/>
            </a:xfrm>
            <a:custGeom>
              <a:avLst/>
              <a:gdLst/>
              <a:ahLst/>
              <a:cxnLst/>
              <a:rect l="l" t="t" r="r" b="b"/>
              <a:pathLst>
                <a:path w="171450" h="200025">
                  <a:moveTo>
                    <a:pt x="0" y="0"/>
                  </a:moveTo>
                  <a:lnTo>
                    <a:pt x="171450" y="0"/>
                  </a:lnTo>
                  <a:lnTo>
                    <a:pt x="85726" y="200025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card-5-dome"/>
            <p:cNvSpPr/>
            <p:nvPr/>
          </p:nvSpPr>
          <p:spPr>
            <a:xfrm>
              <a:off x="23750588" y="9839325"/>
              <a:ext cx="2667000" cy="2476500"/>
            </a:xfrm>
            <a:prstGeom prst="ellipse">
              <a:avLst/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card-5-bg"/>
            <p:cNvSpPr/>
            <p:nvPr/>
          </p:nvSpPr>
          <p:spPr>
            <a:xfrm>
              <a:off x="22950488" y="11049000"/>
              <a:ext cx="4267200" cy="4791075"/>
            </a:xfrm>
            <a:prstGeom prst="roundRect">
              <a:avLst>
                <a:gd name="adj" fmla="val 3571"/>
              </a:avLst>
            </a:prstGeom>
            <a:solidFill>
              <a:srgbClr val="ECF1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card-5-badge"/>
            <p:cNvSpPr/>
            <p:nvPr/>
          </p:nvSpPr>
          <p:spPr>
            <a:xfrm>
              <a:off x="24588788" y="10182225"/>
              <a:ext cx="990600" cy="990600"/>
            </a:xfrm>
            <a:prstGeom prst="ellipse">
              <a:avLst/>
            </a:prstGeom>
            <a:solidFill>
              <a:srgbClr val="045CB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card-5-letter"/>
            <p:cNvSpPr txBox="1"/>
            <p:nvPr/>
          </p:nvSpPr>
          <p:spPr>
            <a:xfrm>
              <a:off x="24836438" y="10382250"/>
              <a:ext cx="4953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</a:t>
              </a:r>
            </a:p>
          </p:txBody>
        </p:sp>
        <p:sp>
          <p:nvSpPr>
            <p:cNvPr id="82" name="card-5-text"/>
            <p:cNvSpPr txBox="1"/>
            <p:nvPr/>
          </p:nvSpPr>
          <p:spPr>
            <a:xfrm>
              <a:off x="23529608" y="11972925"/>
              <a:ext cx="3108960" cy="2628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2027年Q3前完成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数据整合与视图搭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建，2027年Q4前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完成稳定性架构优</a:t>
              </a:r>
            </a:p>
            <a:p>
              <a:pPr algn="ctr">
                <a:lnSpc>
                  <a:spcPct val="110000"/>
                </a:lnSpc>
              </a:pPr>
              <a:r>
                <a:rPr sz="3000" b="0" i="0">
                  <a:solidFill>
                    <a:srgbClr val="1C1C1C"/>
                  </a:solidFill>
                  <a:latin typeface="Microsoft YaHei"/>
                  <a:ea typeface="Microsoft YaHei"/>
                  <a:cs typeface="Microsoft YaHei"/>
                </a:rPr>
                <a:t>化并稳定运行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