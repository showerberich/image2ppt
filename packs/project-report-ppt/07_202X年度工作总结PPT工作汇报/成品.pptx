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23825" y="123825"/>
            <a:ext cx="30460950" cy="17125950"/>
          </a:xfrm>
          <a:prstGeom prst="rect">
            <a:avLst/>
          </a:prstGeom>
          <a:noFill/>
          <a:ln w="14287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-main"/>
          <p:cNvSpPr txBox="1"/>
          <p:nvPr/>
        </p:nvSpPr>
        <p:spPr>
          <a:xfrm>
            <a:off x="11287125" y="1628775"/>
            <a:ext cx="8191500" cy="1314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202X年度工作总结</a:t>
            </a:r>
          </a:p>
        </p:txBody>
      </p:sp>
      <p:sp>
        <p:nvSpPr>
          <p:cNvPr id="5" name="deco-L-1"/>
          <p:cNvSpPr/>
          <p:nvPr/>
        </p:nvSpPr>
        <p:spPr>
          <a:xfrm>
            <a:off x="9591675" y="1943100"/>
            <a:ext cx="666750" cy="171450"/>
          </a:xfrm>
          <a:custGeom>
            <a:avLst/>
            <a:gdLst/>
            <a:ahLst/>
            <a:cxnLst/>
            <a:rect l="l" t="t" r="r" b="b"/>
            <a:pathLst>
              <a:path w="666750" h="171450">
                <a:moveTo>
                  <a:pt x="152400" y="0"/>
                </a:moveTo>
                <a:lnTo>
                  <a:pt x="666750" y="0"/>
                </a:lnTo>
                <a:lnTo>
                  <a:pt x="514350" y="171450"/>
                </a:lnTo>
                <a:lnTo>
                  <a:pt x="0" y="171450"/>
                </a:lnTo>
                <a:close/>
              </a:path>
            </a:pathLst>
          </a:custGeom>
          <a:gradFill rotWithShape="1">
            <a:gsLst>
              <a:gs pos="0">
                <a:srgbClr val="4BA8F8"/>
              </a:gs>
              <a:gs pos="100000">
                <a:srgbClr val="BEE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L-2"/>
          <p:cNvSpPr/>
          <p:nvPr/>
        </p:nvSpPr>
        <p:spPr>
          <a:xfrm>
            <a:off x="9372600" y="2171700"/>
            <a:ext cx="1295400" cy="257175"/>
          </a:xfrm>
          <a:custGeom>
            <a:avLst/>
            <a:gdLst/>
            <a:ahLst/>
            <a:cxnLst/>
            <a:rect l="l" t="t" r="r" b="b"/>
            <a:pathLst>
              <a:path w="1295400" h="257175">
                <a:moveTo>
                  <a:pt x="152400" y="0"/>
                </a:moveTo>
                <a:lnTo>
                  <a:pt x="1295400" y="0"/>
                </a:lnTo>
                <a:lnTo>
                  <a:pt x="1143000" y="257175"/>
                </a:lnTo>
                <a:lnTo>
                  <a:pt x="0" y="257175"/>
                </a:lnTo>
                <a:close/>
              </a:path>
            </a:pathLst>
          </a:custGeom>
          <a:gradFill rotWithShape="1">
            <a:gsLst>
              <a:gs pos="0">
                <a:srgbClr val="4BA8F8"/>
              </a:gs>
              <a:gs pos="100000">
                <a:srgbClr val="BEE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L-3"/>
          <p:cNvSpPr/>
          <p:nvPr/>
        </p:nvSpPr>
        <p:spPr>
          <a:xfrm>
            <a:off x="9906000" y="2476500"/>
            <a:ext cx="657225" cy="171450"/>
          </a:xfrm>
          <a:custGeom>
            <a:avLst/>
            <a:gdLst/>
            <a:ahLst/>
            <a:cxnLst/>
            <a:rect l="l" t="t" r="r" b="b"/>
            <a:pathLst>
              <a:path w="657225" h="171450">
                <a:moveTo>
                  <a:pt x="152400" y="0"/>
                </a:moveTo>
                <a:lnTo>
                  <a:pt x="657225" y="0"/>
                </a:lnTo>
                <a:lnTo>
                  <a:pt x="504825" y="171450"/>
                </a:lnTo>
                <a:lnTo>
                  <a:pt x="0" y="171450"/>
                </a:lnTo>
                <a:close/>
              </a:path>
            </a:pathLst>
          </a:custGeom>
          <a:gradFill rotWithShape="1">
            <a:gsLst>
              <a:gs pos="0">
                <a:srgbClr val="4BA8F8"/>
              </a:gs>
              <a:gs pos="100000">
                <a:srgbClr val="BEE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R-1"/>
          <p:cNvSpPr/>
          <p:nvPr/>
        </p:nvSpPr>
        <p:spPr>
          <a:xfrm>
            <a:off x="20478750" y="1943100"/>
            <a:ext cx="666750" cy="171450"/>
          </a:xfrm>
          <a:custGeom>
            <a:avLst/>
            <a:gdLst/>
            <a:ahLst/>
            <a:cxnLst/>
            <a:rect l="l" t="t" r="r" b="b"/>
            <a:pathLst>
              <a:path w="666750" h="171450">
                <a:moveTo>
                  <a:pt x="152400" y="0"/>
                </a:moveTo>
                <a:lnTo>
                  <a:pt x="666750" y="0"/>
                </a:lnTo>
                <a:lnTo>
                  <a:pt x="514350" y="171450"/>
                </a:lnTo>
                <a:lnTo>
                  <a:pt x="0" y="171450"/>
                </a:lnTo>
                <a:close/>
              </a:path>
            </a:pathLst>
          </a:custGeom>
          <a:gradFill rotWithShape="1">
            <a:gsLst>
              <a:gs pos="0">
                <a:srgbClr val="4BA8F8"/>
              </a:gs>
              <a:gs pos="100000">
                <a:srgbClr val="BEE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R-2"/>
          <p:cNvSpPr/>
          <p:nvPr/>
        </p:nvSpPr>
        <p:spPr>
          <a:xfrm>
            <a:off x="20059650" y="2171700"/>
            <a:ext cx="1304925" cy="257175"/>
          </a:xfrm>
          <a:custGeom>
            <a:avLst/>
            <a:gdLst/>
            <a:ahLst/>
            <a:cxnLst/>
            <a:rect l="l" t="t" r="r" b="b"/>
            <a:pathLst>
              <a:path w="1304925" h="257175">
                <a:moveTo>
                  <a:pt x="152400" y="0"/>
                </a:moveTo>
                <a:lnTo>
                  <a:pt x="1304925" y="0"/>
                </a:lnTo>
                <a:lnTo>
                  <a:pt x="1152525" y="257175"/>
                </a:lnTo>
                <a:lnTo>
                  <a:pt x="0" y="257175"/>
                </a:lnTo>
                <a:close/>
              </a:path>
            </a:pathLst>
          </a:custGeom>
          <a:gradFill rotWithShape="1">
            <a:gsLst>
              <a:gs pos="0">
                <a:srgbClr val="4BA8F8"/>
              </a:gs>
              <a:gs pos="100000">
                <a:srgbClr val="BEE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-R-3"/>
          <p:cNvSpPr/>
          <p:nvPr/>
        </p:nvSpPr>
        <p:spPr>
          <a:xfrm>
            <a:off x="20173950" y="2476500"/>
            <a:ext cx="657225" cy="171450"/>
          </a:xfrm>
          <a:custGeom>
            <a:avLst/>
            <a:gdLst/>
            <a:ahLst/>
            <a:cxnLst/>
            <a:rect l="l" t="t" r="r" b="b"/>
            <a:pathLst>
              <a:path w="657225" h="171450">
                <a:moveTo>
                  <a:pt x="152400" y="0"/>
                </a:moveTo>
                <a:lnTo>
                  <a:pt x="657225" y="0"/>
                </a:lnTo>
                <a:lnTo>
                  <a:pt x="504825" y="171450"/>
                </a:lnTo>
                <a:lnTo>
                  <a:pt x="0" y="171450"/>
                </a:lnTo>
                <a:close/>
              </a:path>
            </a:pathLst>
          </a:custGeom>
          <a:gradFill rotWithShape="1">
            <a:gsLst>
              <a:gs pos="0">
                <a:srgbClr val="4BA8F8"/>
              </a:gs>
              <a:gs pos="100000">
                <a:srgbClr val="BEE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1" name="block-profit"/>
          <p:cNvGrpSpPr/>
          <p:nvPr/>
        </p:nvGrpSpPr>
        <p:grpSpPr>
          <a:xfrm>
            <a:off x="1752600" y="3810000"/>
            <a:ext cx="10477500" cy="3352800"/>
            <a:chOff x="1752600" y="3810000"/>
            <a:chExt cx="10477500" cy="3352800"/>
          </a:xfrm>
        </p:grpSpPr>
        <p:sp>
          <p:nvSpPr>
            <p:cNvPr id="11" name="profit-panel"/>
            <p:cNvSpPr/>
            <p:nvPr/>
          </p:nvSpPr>
          <p:spPr>
            <a:xfrm>
              <a:off x="1790700" y="5600700"/>
              <a:ext cx="10439400" cy="1562100"/>
            </a:xfrm>
            <a:prstGeom prst="roundRect">
              <a:avLst>
                <a:gd name="adj" fmla="val 8536"/>
              </a:avLst>
            </a:prstGeom>
            <a:solidFill>
              <a:srgbClr val="E7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profit-icon-bg"/>
            <p:cNvSpPr/>
            <p:nvPr/>
          </p:nvSpPr>
          <p:spPr>
            <a:xfrm>
              <a:off x="1752600" y="3810000"/>
              <a:ext cx="1790700" cy="1600200"/>
            </a:xfrm>
            <a:prstGeom prst="roundRect">
              <a:avLst>
                <a:gd name="adj" fmla="val 16666"/>
              </a:avLst>
            </a:prstGeom>
            <a:solidFill>
              <a:srgbClr val="009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b-body"/>
            <p:cNvSpPr/>
            <p:nvPr/>
          </p:nvSpPr>
          <p:spPr>
            <a:xfrm>
              <a:off x="2114550" y="4095750"/>
              <a:ext cx="106680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b-top"/>
            <p:cNvSpPr/>
            <p:nvPr/>
          </p:nvSpPr>
          <p:spPr>
            <a:xfrm>
              <a:off x="2114550" y="3895725"/>
              <a:ext cx="1066800" cy="400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b-bot"/>
            <p:cNvSpPr/>
            <p:nvPr/>
          </p:nvSpPr>
          <p:spPr>
            <a:xfrm>
              <a:off x="2114550" y="4752975"/>
              <a:ext cx="1066800" cy="400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b-gap1"/>
            <p:cNvSpPr/>
            <p:nvPr/>
          </p:nvSpPr>
          <p:spPr>
            <a:xfrm>
              <a:off x="2114550" y="4419600"/>
              <a:ext cx="1066800" cy="85725"/>
            </a:xfrm>
            <a:prstGeom prst="rect">
              <a:avLst/>
            </a:prstGeom>
            <a:solidFill>
              <a:srgbClr val="009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b-gap2"/>
            <p:cNvSpPr/>
            <p:nvPr/>
          </p:nvSpPr>
          <p:spPr>
            <a:xfrm>
              <a:off x="2114550" y="4714875"/>
              <a:ext cx="1066800" cy="85725"/>
            </a:xfrm>
            <a:prstGeom prst="rect">
              <a:avLst/>
            </a:prstGeom>
            <a:solidFill>
              <a:srgbClr val="009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profit-title"/>
            <p:cNvSpPr txBox="1"/>
            <p:nvPr/>
          </p:nvSpPr>
          <p:spPr>
            <a:xfrm>
              <a:off x="3657600" y="4163139"/>
              <a:ext cx="4191000" cy="9701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092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全年盈利情况</a:t>
              </a:r>
            </a:p>
          </p:txBody>
        </p:sp>
        <p:sp>
          <p:nvSpPr>
            <p:cNvPr id="19" name="profit-line1"/>
            <p:cNvSpPr txBox="1"/>
            <p:nvPr/>
          </p:nvSpPr>
          <p:spPr>
            <a:xfrm>
              <a:off x="1962150" y="5792391"/>
              <a:ext cx="9915525" cy="55006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87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全年总销售额达390万元，同比增长30%，完成既定销售目</a:t>
              </a:r>
            </a:p>
          </p:txBody>
        </p:sp>
        <p:sp>
          <p:nvSpPr>
            <p:cNvPr id="20" name="profit-line2"/>
            <p:cNvSpPr txBox="1"/>
            <p:nvPr/>
          </p:nvSpPr>
          <p:spPr>
            <a:xfrm>
              <a:off x="1962150" y="6392466"/>
              <a:ext cx="8610600" cy="55006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87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标。新增客户20家，客户群体扩大，市场份额提升</a:t>
              </a:r>
            </a:p>
          </p:txBody>
        </p:sp>
      </p:grpSp>
      <p:grpSp>
        <p:nvGrpSpPr>
          <p:cNvPr id="118" name="block-table"/>
          <p:cNvGrpSpPr/>
          <p:nvPr/>
        </p:nvGrpSpPr>
        <p:grpSpPr>
          <a:xfrm>
            <a:off x="1790700" y="7620000"/>
            <a:ext cx="8763000" cy="5238750"/>
            <a:chOff x="1790700" y="7620000"/>
            <a:chExt cx="8763000" cy="5238750"/>
          </a:xfrm>
        </p:grpSpPr>
        <p:sp>
          <p:nvSpPr>
            <p:cNvPr id="21" name="tbl-bg"/>
            <p:cNvSpPr/>
            <p:nvPr/>
          </p:nvSpPr>
          <p:spPr>
            <a:xfrm>
              <a:off x="1790700" y="7620000"/>
              <a:ext cx="8763000" cy="521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bl-line1"/>
            <p:cNvSpPr/>
            <p:nvPr/>
          </p:nvSpPr>
          <p:spPr>
            <a:xfrm>
              <a:off x="1790700" y="7639050"/>
              <a:ext cx="8763000" cy="57150"/>
            </a:xfrm>
            <a:prstGeom prst="rect">
              <a:avLst/>
            </a:prstGeom>
            <a:solidFill>
              <a:srgbClr val="1A8A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bl-line2"/>
            <p:cNvSpPr/>
            <p:nvPr/>
          </p:nvSpPr>
          <p:spPr>
            <a:xfrm>
              <a:off x="1790700" y="8705850"/>
              <a:ext cx="8763000" cy="57150"/>
            </a:xfrm>
            <a:prstGeom prst="rect">
              <a:avLst/>
            </a:prstGeom>
            <a:solidFill>
              <a:srgbClr val="1E88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bl-line3"/>
            <p:cNvSpPr/>
            <p:nvPr/>
          </p:nvSpPr>
          <p:spPr>
            <a:xfrm>
              <a:off x="1790700" y="9734550"/>
              <a:ext cx="8763000" cy="38100"/>
            </a:xfrm>
            <a:prstGeom prst="rect">
              <a:avLst/>
            </a:prstGeom>
            <a:solidFill>
              <a:srgbClr val="D4DB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bl-line4"/>
            <p:cNvSpPr/>
            <p:nvPr/>
          </p:nvSpPr>
          <p:spPr>
            <a:xfrm>
              <a:off x="1790700" y="10725150"/>
              <a:ext cx="8763000" cy="38100"/>
            </a:xfrm>
            <a:prstGeom prst="rect">
              <a:avLst/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bl-line5"/>
            <p:cNvSpPr/>
            <p:nvPr/>
          </p:nvSpPr>
          <p:spPr>
            <a:xfrm>
              <a:off x="1790700" y="11791950"/>
              <a:ext cx="8763000" cy="38100"/>
            </a:xfrm>
            <a:prstGeom prst="rect">
              <a:avLst/>
            </a:prstGeom>
            <a:solidFill>
              <a:srgbClr val="D3DB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bl-line6"/>
            <p:cNvSpPr/>
            <p:nvPr/>
          </p:nvSpPr>
          <p:spPr>
            <a:xfrm>
              <a:off x="1790700" y="12782550"/>
              <a:ext cx="8763000" cy="76200"/>
            </a:xfrm>
            <a:prstGeom prst="rect">
              <a:avLst/>
            </a:prstGeom>
            <a:solidFill>
              <a:srgbClr val="1E89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bl-h1"/>
            <p:cNvSpPr txBox="1"/>
            <p:nvPr/>
          </p:nvSpPr>
          <p:spPr>
            <a:xfrm>
              <a:off x="1905000" y="7914799"/>
              <a:ext cx="2000250" cy="5915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04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季度</a:t>
              </a:r>
            </a:p>
          </p:txBody>
        </p:sp>
        <p:sp>
          <p:nvSpPr>
            <p:cNvPr id="29" name="tbl-h2"/>
            <p:cNvSpPr txBox="1"/>
            <p:nvPr/>
          </p:nvSpPr>
          <p:spPr>
            <a:xfrm>
              <a:off x="4124325" y="7914799"/>
              <a:ext cx="1905000" cy="5915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04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营业额</a:t>
              </a:r>
            </a:p>
          </p:txBody>
        </p:sp>
        <p:sp>
          <p:nvSpPr>
            <p:cNvPr id="30" name="tbl-h3"/>
            <p:cNvSpPr txBox="1"/>
            <p:nvPr/>
          </p:nvSpPr>
          <p:spPr>
            <a:xfrm>
              <a:off x="6381750" y="7914799"/>
              <a:ext cx="1714500" cy="5915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04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成本</a:t>
              </a:r>
            </a:p>
          </p:txBody>
        </p:sp>
        <p:sp>
          <p:nvSpPr>
            <p:cNvPr id="31" name="tbl-h4"/>
            <p:cNvSpPr txBox="1"/>
            <p:nvPr/>
          </p:nvSpPr>
          <p:spPr>
            <a:xfrm>
              <a:off x="8543925" y="7914799"/>
              <a:ext cx="1714500" cy="5915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04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利润</a:t>
              </a:r>
            </a:p>
          </p:txBody>
        </p:sp>
        <p:sp>
          <p:nvSpPr>
            <p:cNvPr id="32" name="tbl-r1c1"/>
            <p:cNvSpPr txBox="1"/>
            <p:nvPr/>
          </p:nvSpPr>
          <p:spPr>
            <a:xfrm>
              <a:off x="1905000" y="8965406"/>
              <a:ext cx="200025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Q1</a:t>
              </a:r>
            </a:p>
          </p:txBody>
        </p:sp>
        <p:sp>
          <p:nvSpPr>
            <p:cNvPr id="33" name="tbl-r1c2"/>
            <p:cNvSpPr txBox="1"/>
            <p:nvPr/>
          </p:nvSpPr>
          <p:spPr>
            <a:xfrm>
              <a:off x="4124325" y="8965406"/>
              <a:ext cx="19050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50</a:t>
              </a:r>
            </a:p>
          </p:txBody>
        </p:sp>
        <p:sp>
          <p:nvSpPr>
            <p:cNvPr id="34" name="tbl-r1c3"/>
            <p:cNvSpPr txBox="1"/>
            <p:nvPr/>
          </p:nvSpPr>
          <p:spPr>
            <a:xfrm>
              <a:off x="6381750" y="89654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30</a:t>
              </a:r>
            </a:p>
          </p:txBody>
        </p:sp>
        <p:sp>
          <p:nvSpPr>
            <p:cNvPr id="35" name="tbl-r1c4"/>
            <p:cNvSpPr txBox="1"/>
            <p:nvPr/>
          </p:nvSpPr>
          <p:spPr>
            <a:xfrm>
              <a:off x="8543925" y="89654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</a:t>
              </a:r>
            </a:p>
          </p:txBody>
        </p:sp>
        <p:sp>
          <p:nvSpPr>
            <p:cNvPr id="36" name="tbl-r2c1"/>
            <p:cNvSpPr txBox="1"/>
            <p:nvPr/>
          </p:nvSpPr>
          <p:spPr>
            <a:xfrm>
              <a:off x="1905000" y="9994106"/>
              <a:ext cx="200025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Q2</a:t>
              </a:r>
            </a:p>
          </p:txBody>
        </p:sp>
        <p:sp>
          <p:nvSpPr>
            <p:cNvPr id="37" name="tbl-r2c2"/>
            <p:cNvSpPr txBox="1"/>
            <p:nvPr/>
          </p:nvSpPr>
          <p:spPr>
            <a:xfrm>
              <a:off x="4124325" y="9994106"/>
              <a:ext cx="19050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60</a:t>
              </a:r>
            </a:p>
          </p:txBody>
        </p:sp>
        <p:sp>
          <p:nvSpPr>
            <p:cNvPr id="38" name="tbl-r2c3"/>
            <p:cNvSpPr txBox="1"/>
            <p:nvPr/>
          </p:nvSpPr>
          <p:spPr>
            <a:xfrm>
              <a:off x="6381750" y="99941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35</a:t>
              </a:r>
            </a:p>
          </p:txBody>
        </p:sp>
        <p:sp>
          <p:nvSpPr>
            <p:cNvPr id="39" name="tbl-r2c4"/>
            <p:cNvSpPr txBox="1"/>
            <p:nvPr/>
          </p:nvSpPr>
          <p:spPr>
            <a:xfrm>
              <a:off x="8543925" y="99941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25</a:t>
              </a:r>
            </a:p>
          </p:txBody>
        </p:sp>
        <p:sp>
          <p:nvSpPr>
            <p:cNvPr id="40" name="tbl-r3c1"/>
            <p:cNvSpPr txBox="1"/>
            <p:nvPr/>
          </p:nvSpPr>
          <p:spPr>
            <a:xfrm>
              <a:off x="1905000" y="11022806"/>
              <a:ext cx="200025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Q3</a:t>
              </a:r>
            </a:p>
          </p:txBody>
        </p:sp>
        <p:sp>
          <p:nvSpPr>
            <p:cNvPr id="41" name="tbl-r3c2"/>
            <p:cNvSpPr txBox="1"/>
            <p:nvPr/>
          </p:nvSpPr>
          <p:spPr>
            <a:xfrm>
              <a:off x="4124325" y="11022806"/>
              <a:ext cx="19050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80</a:t>
              </a:r>
            </a:p>
          </p:txBody>
        </p:sp>
        <p:sp>
          <p:nvSpPr>
            <p:cNvPr id="42" name="tbl-r3c3"/>
            <p:cNvSpPr txBox="1"/>
            <p:nvPr/>
          </p:nvSpPr>
          <p:spPr>
            <a:xfrm>
              <a:off x="6381750" y="110228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45</a:t>
              </a:r>
            </a:p>
          </p:txBody>
        </p:sp>
        <p:sp>
          <p:nvSpPr>
            <p:cNvPr id="43" name="tbl-r3c4"/>
            <p:cNvSpPr txBox="1"/>
            <p:nvPr/>
          </p:nvSpPr>
          <p:spPr>
            <a:xfrm>
              <a:off x="8543925" y="110228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35</a:t>
              </a:r>
            </a:p>
          </p:txBody>
        </p:sp>
        <p:sp>
          <p:nvSpPr>
            <p:cNvPr id="44" name="tbl-r4c1"/>
            <p:cNvSpPr txBox="1"/>
            <p:nvPr/>
          </p:nvSpPr>
          <p:spPr>
            <a:xfrm>
              <a:off x="1905000" y="12051506"/>
              <a:ext cx="200025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Q4</a:t>
              </a:r>
            </a:p>
          </p:txBody>
        </p:sp>
        <p:sp>
          <p:nvSpPr>
            <p:cNvPr id="45" name="tbl-r4c2"/>
            <p:cNvSpPr txBox="1"/>
            <p:nvPr/>
          </p:nvSpPr>
          <p:spPr>
            <a:xfrm>
              <a:off x="4124325" y="12051506"/>
              <a:ext cx="19050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100</a:t>
              </a:r>
            </a:p>
          </p:txBody>
        </p:sp>
        <p:sp>
          <p:nvSpPr>
            <p:cNvPr id="46" name="tbl-r4c3"/>
            <p:cNvSpPr txBox="1"/>
            <p:nvPr/>
          </p:nvSpPr>
          <p:spPr>
            <a:xfrm>
              <a:off x="6381750" y="120515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55</a:t>
              </a:r>
            </a:p>
          </p:txBody>
        </p:sp>
        <p:sp>
          <p:nvSpPr>
            <p:cNvPr id="47" name="tbl-r4c4"/>
            <p:cNvSpPr txBox="1"/>
            <p:nvPr/>
          </p:nvSpPr>
          <p:spPr>
            <a:xfrm>
              <a:off x="8543925" y="12051506"/>
              <a:ext cx="1714500" cy="585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45</a:t>
              </a:r>
            </a:p>
          </p:txBody>
        </p:sp>
      </p:grpSp>
      <p:grpSp>
        <p:nvGrpSpPr>
          <p:cNvPr id="117" name="block-pyramid"/>
          <p:cNvGrpSpPr/>
          <p:nvPr/>
        </p:nvGrpSpPr>
        <p:grpSpPr>
          <a:xfrm>
            <a:off x="10286762" y="3724275"/>
            <a:ext cx="10154126" cy="9858375"/>
            <a:chOff x="10286762" y="3724275"/>
            <a:chExt cx="10154126" cy="9858375"/>
          </a:xfrm>
        </p:grpSpPr>
        <p:sp>
          <p:nvSpPr>
            <p:cNvPr id="48" name="pyr-layer1"/>
            <p:cNvSpPr/>
            <p:nvPr/>
          </p:nvSpPr>
          <p:spPr>
            <a:xfrm>
              <a:off x="13602795" y="3724275"/>
              <a:ext cx="3522060" cy="3419475"/>
            </a:xfrm>
            <a:custGeom>
              <a:avLst/>
              <a:gdLst/>
              <a:ahLst/>
              <a:cxnLst/>
              <a:rect l="l" t="t" r="r" b="b"/>
              <a:pathLst>
                <a:path w="3522060" h="3419475">
                  <a:moveTo>
                    <a:pt x="0" y="3419475"/>
                  </a:moveTo>
                  <a:lnTo>
                    <a:pt x="1761030" y="0"/>
                  </a:lnTo>
                  <a:lnTo>
                    <a:pt x="1761030" y="0"/>
                  </a:lnTo>
                  <a:lnTo>
                    <a:pt x="3522060" y="3419475"/>
                  </a:lnTo>
                  <a:close/>
                </a:path>
              </a:pathLst>
            </a:custGeom>
            <a:solidFill>
              <a:srgbClr val="0993F8"/>
            </a:solidFill>
            <a:ln w="952">
              <a:solidFill>
                <a:srgbClr val="0993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yr-sep1"/>
            <p:cNvSpPr/>
            <p:nvPr/>
          </p:nvSpPr>
          <p:spPr>
            <a:xfrm>
              <a:off x="13583745" y="7096125"/>
              <a:ext cx="3560159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pyr-layer2"/>
            <p:cNvSpPr/>
            <p:nvPr/>
          </p:nvSpPr>
          <p:spPr>
            <a:xfrm>
              <a:off x="12425505" y="7143750"/>
              <a:ext cx="5876640" cy="2286000"/>
            </a:xfrm>
            <a:custGeom>
              <a:avLst/>
              <a:gdLst/>
              <a:ahLst/>
              <a:cxnLst/>
              <a:rect l="l" t="t" r="r" b="b"/>
              <a:pathLst>
                <a:path w="5876640" h="2286000">
                  <a:moveTo>
                    <a:pt x="0" y="2286000"/>
                  </a:moveTo>
                  <a:lnTo>
                    <a:pt x="1177290" y="0"/>
                  </a:lnTo>
                  <a:lnTo>
                    <a:pt x="4699350" y="0"/>
                  </a:lnTo>
                  <a:lnTo>
                    <a:pt x="5876640" y="2286000"/>
                  </a:lnTo>
                  <a:close/>
                </a:path>
              </a:pathLst>
            </a:custGeom>
            <a:solidFill>
              <a:srgbClr val="007FE0"/>
            </a:solidFill>
            <a:ln w="952">
              <a:solidFill>
                <a:srgbClr val="007F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pyr-sep2"/>
            <p:cNvSpPr/>
            <p:nvPr/>
          </p:nvSpPr>
          <p:spPr>
            <a:xfrm>
              <a:off x="12406455" y="9382125"/>
              <a:ext cx="5914739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pyr-layer3"/>
            <p:cNvSpPr/>
            <p:nvPr/>
          </p:nvSpPr>
          <p:spPr>
            <a:xfrm>
              <a:off x="11287458" y="9429750"/>
              <a:ext cx="8152734" cy="2209800"/>
            </a:xfrm>
            <a:custGeom>
              <a:avLst/>
              <a:gdLst/>
              <a:ahLst/>
              <a:cxnLst/>
              <a:rect l="l" t="t" r="r" b="b"/>
              <a:pathLst>
                <a:path w="8152734" h="2209800">
                  <a:moveTo>
                    <a:pt x="0" y="2209800"/>
                  </a:moveTo>
                  <a:lnTo>
                    <a:pt x="1138047" y="0"/>
                  </a:lnTo>
                  <a:lnTo>
                    <a:pt x="7014687" y="0"/>
                  </a:lnTo>
                  <a:lnTo>
                    <a:pt x="8152734" y="2209800"/>
                  </a:lnTo>
                  <a:close/>
                </a:path>
              </a:pathLst>
            </a:custGeom>
            <a:solidFill>
              <a:srgbClr val="1D47F5"/>
            </a:solidFill>
            <a:ln w="952">
              <a:solidFill>
                <a:srgbClr val="1D47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pyr-sep3"/>
            <p:cNvSpPr/>
            <p:nvPr/>
          </p:nvSpPr>
          <p:spPr>
            <a:xfrm>
              <a:off x="11268408" y="11591925"/>
              <a:ext cx="8190833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pyr-layer4"/>
            <p:cNvSpPr/>
            <p:nvPr/>
          </p:nvSpPr>
          <p:spPr>
            <a:xfrm>
              <a:off x="10286762" y="11639550"/>
              <a:ext cx="10154126" cy="1943100"/>
            </a:xfrm>
            <a:custGeom>
              <a:avLst/>
              <a:gdLst/>
              <a:ahLst/>
              <a:cxnLst/>
              <a:rect l="l" t="t" r="r" b="b"/>
              <a:pathLst>
                <a:path w="10154126" h="1943100">
                  <a:moveTo>
                    <a:pt x="0" y="1943100"/>
                  </a:moveTo>
                  <a:lnTo>
                    <a:pt x="1000696" y="0"/>
                  </a:lnTo>
                  <a:lnTo>
                    <a:pt x="9153430" y="0"/>
                  </a:lnTo>
                  <a:lnTo>
                    <a:pt x="10154126" y="1943100"/>
                  </a:lnTo>
                  <a:close/>
                </a:path>
              </a:pathLst>
            </a:custGeom>
            <a:solidFill>
              <a:srgbClr val="1132B3"/>
            </a:solidFill>
            <a:ln w="952">
              <a:solidFill>
                <a:srgbClr val="1132B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yr-q4"/>
            <p:cNvSpPr txBox="1"/>
            <p:nvPr/>
          </p:nvSpPr>
          <p:spPr>
            <a:xfrm>
              <a:off x="14649450" y="4773930"/>
              <a:ext cx="1428750" cy="140589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38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Q4</a:t>
              </a:r>
            </a:p>
          </p:txBody>
        </p:sp>
        <p:sp>
          <p:nvSpPr>
            <p:cNvPr id="56" name="pyr-l1-a"/>
            <p:cNvSpPr txBox="1"/>
            <p:nvPr/>
          </p:nvSpPr>
          <p:spPr>
            <a:xfrm>
              <a:off x="14716125" y="5879068"/>
              <a:ext cx="1333500" cy="5672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7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营业额</a:t>
              </a:r>
            </a:p>
          </p:txBody>
        </p:sp>
        <p:sp>
          <p:nvSpPr>
            <p:cNvPr id="57" name="pyr-l1-b"/>
            <p:cNvSpPr txBox="1"/>
            <p:nvPr/>
          </p:nvSpPr>
          <p:spPr>
            <a:xfrm>
              <a:off x="14582775" y="6334839"/>
              <a:ext cx="1619250" cy="5700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9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100万元</a:t>
              </a:r>
            </a:p>
          </p:txBody>
        </p:sp>
        <p:sp>
          <p:nvSpPr>
            <p:cNvPr id="58" name="pyr-l2-a"/>
            <p:cNvSpPr txBox="1"/>
            <p:nvPr/>
          </p:nvSpPr>
          <p:spPr>
            <a:xfrm>
              <a:off x="14711362" y="7905036"/>
              <a:ext cx="1343025" cy="57292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营业额</a:t>
              </a:r>
            </a:p>
          </p:txBody>
        </p:sp>
        <p:sp>
          <p:nvSpPr>
            <p:cNvPr id="59" name="pyr-l2-b"/>
            <p:cNvSpPr txBox="1"/>
            <p:nvPr/>
          </p:nvSpPr>
          <p:spPr>
            <a:xfrm>
              <a:off x="14535150" y="8432244"/>
              <a:ext cx="1714500" cy="71866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7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80万元</a:t>
              </a:r>
            </a:p>
          </p:txBody>
        </p:sp>
        <p:sp>
          <p:nvSpPr>
            <p:cNvPr id="60" name="pyr-q3"/>
            <p:cNvSpPr txBox="1"/>
            <p:nvPr/>
          </p:nvSpPr>
          <p:spPr>
            <a:xfrm>
              <a:off x="16154400" y="7760970"/>
              <a:ext cx="1390650" cy="13944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31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Q3</a:t>
              </a:r>
            </a:p>
          </p:txBody>
        </p:sp>
        <p:sp>
          <p:nvSpPr>
            <p:cNvPr id="61" name="pyr-q2"/>
            <p:cNvSpPr txBox="1"/>
            <p:nvPr/>
          </p:nvSpPr>
          <p:spPr>
            <a:xfrm>
              <a:off x="12311062" y="9932670"/>
              <a:ext cx="1400175" cy="13944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31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Q2</a:t>
              </a:r>
            </a:p>
          </p:txBody>
        </p:sp>
        <p:sp>
          <p:nvSpPr>
            <p:cNvPr id="62" name="pyr-l3-a"/>
            <p:cNvSpPr txBox="1"/>
            <p:nvPr/>
          </p:nvSpPr>
          <p:spPr>
            <a:xfrm>
              <a:off x="13887450" y="10046018"/>
              <a:ext cx="1352550" cy="57721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2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营业额</a:t>
              </a:r>
            </a:p>
          </p:txBody>
        </p:sp>
        <p:sp>
          <p:nvSpPr>
            <p:cNvPr id="63" name="pyr-l3-b"/>
            <p:cNvSpPr txBox="1"/>
            <p:nvPr/>
          </p:nvSpPr>
          <p:spPr>
            <a:xfrm>
              <a:off x="13735050" y="10607992"/>
              <a:ext cx="1657350" cy="69151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2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60万元</a:t>
              </a:r>
            </a:p>
          </p:txBody>
        </p:sp>
        <p:sp>
          <p:nvSpPr>
            <p:cNvPr id="64" name="pyr-l4-a"/>
            <p:cNvSpPr txBox="1"/>
            <p:nvPr/>
          </p:nvSpPr>
          <p:spPr>
            <a:xfrm>
              <a:off x="16649700" y="12008168"/>
              <a:ext cx="1352550" cy="57721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2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营业额</a:t>
              </a:r>
            </a:p>
          </p:txBody>
        </p:sp>
        <p:sp>
          <p:nvSpPr>
            <p:cNvPr id="65" name="pyr-l4-b"/>
            <p:cNvSpPr txBox="1"/>
            <p:nvPr/>
          </p:nvSpPr>
          <p:spPr>
            <a:xfrm>
              <a:off x="16516350" y="12566332"/>
              <a:ext cx="1638300" cy="6800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7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50万元</a:t>
              </a:r>
            </a:p>
          </p:txBody>
        </p:sp>
        <p:sp>
          <p:nvSpPr>
            <p:cNvPr id="66" name="pyr-q1"/>
            <p:cNvSpPr txBox="1"/>
            <p:nvPr/>
          </p:nvSpPr>
          <p:spPr>
            <a:xfrm>
              <a:off x="18183225" y="11864340"/>
              <a:ext cx="1409700" cy="1417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44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Q1</a:t>
              </a:r>
            </a:p>
          </p:txBody>
        </p:sp>
      </p:grpSp>
      <p:grpSp>
        <p:nvGrpSpPr>
          <p:cNvPr id="120" name="block-notes"/>
          <p:cNvGrpSpPr/>
          <p:nvPr/>
        </p:nvGrpSpPr>
        <p:grpSpPr>
          <a:xfrm>
            <a:off x="17297400" y="3810000"/>
            <a:ext cx="11696700" cy="9448800"/>
            <a:chOff x="17297400" y="3810000"/>
            <a:chExt cx="11696700" cy="9448800"/>
          </a:xfrm>
        </p:grpSpPr>
        <p:sp>
          <p:nvSpPr>
            <p:cNvPr id="67" name="lead1"/>
            <p:cNvSpPr/>
            <p:nvPr/>
          </p:nvSpPr>
          <p:spPr>
            <a:xfrm>
              <a:off x="17297400" y="7315200"/>
              <a:ext cx="11658600" cy="76200"/>
            </a:xfrm>
            <a:prstGeom prst="rect">
              <a:avLst/>
            </a:prstGeom>
            <a:solidFill>
              <a:srgbClr val="0A8E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lead2"/>
            <p:cNvSpPr/>
            <p:nvPr/>
          </p:nvSpPr>
          <p:spPr>
            <a:xfrm>
              <a:off x="18364200" y="9334500"/>
              <a:ext cx="10591800" cy="95250"/>
            </a:xfrm>
            <a:prstGeom prst="rect">
              <a:avLst/>
            </a:prstGeom>
            <a:solidFill>
              <a:srgbClr val="0A7B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lead3"/>
            <p:cNvSpPr/>
            <p:nvPr/>
          </p:nvSpPr>
          <p:spPr>
            <a:xfrm>
              <a:off x="19278600" y="11125200"/>
              <a:ext cx="9677400" cy="95250"/>
            </a:xfrm>
            <a:prstGeom prst="rect">
              <a:avLst/>
            </a:prstGeom>
            <a:solidFill>
              <a:srgbClr val="2148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ote4-panel"/>
            <p:cNvSpPr/>
            <p:nvPr/>
          </p:nvSpPr>
          <p:spPr>
            <a:xfrm>
              <a:off x="18707100" y="5600700"/>
              <a:ext cx="10248900" cy="1562100"/>
            </a:xfrm>
            <a:prstGeom prst="roundRect">
              <a:avLst>
                <a:gd name="adj" fmla="val 8536"/>
              </a:avLst>
            </a:prstGeom>
            <a:solidFill>
              <a:srgbClr val="E7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ote4-line1"/>
            <p:cNvSpPr txBox="1"/>
            <p:nvPr/>
          </p:nvSpPr>
          <p:spPr>
            <a:xfrm>
              <a:off x="19510553" y="5780961"/>
              <a:ext cx="9350197" cy="57292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7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全力冲刺年度目标，在市场方面，成功举办了年度大型</a:t>
              </a:r>
            </a:p>
          </p:txBody>
        </p:sp>
        <p:sp>
          <p:nvSpPr>
            <p:cNvPr id="72" name="note4-line2"/>
            <p:cNvSpPr txBox="1"/>
            <p:nvPr/>
          </p:nvSpPr>
          <p:spPr>
            <a:xfrm>
              <a:off x="21068919" y="6381036"/>
              <a:ext cx="7791831" cy="57292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7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促销活动，吸引了大量客户，销售额再创新高</a:t>
              </a:r>
            </a:p>
          </p:txBody>
        </p:sp>
        <p:sp>
          <p:nvSpPr>
            <p:cNvPr id="73" name="tag3-bg"/>
            <p:cNvSpPr/>
            <p:nvPr/>
          </p:nvSpPr>
          <p:spPr>
            <a:xfrm>
              <a:off x="19088100" y="8001000"/>
              <a:ext cx="4876800" cy="723900"/>
            </a:xfrm>
            <a:prstGeom prst="roundRect">
              <a:avLst>
                <a:gd name="adj" fmla="val 11842"/>
              </a:avLst>
            </a:prstGeom>
            <a:solidFill>
              <a:srgbClr val="007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ag2-bg"/>
            <p:cNvSpPr/>
            <p:nvPr/>
          </p:nvSpPr>
          <p:spPr>
            <a:xfrm>
              <a:off x="19316700" y="9944100"/>
              <a:ext cx="4648200" cy="723900"/>
            </a:xfrm>
            <a:prstGeom prst="roundRect">
              <a:avLst>
                <a:gd name="adj" fmla="val 11842"/>
              </a:avLst>
            </a:prstGeom>
            <a:solidFill>
              <a:srgbClr val="1C4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ag1-light"/>
            <p:cNvSpPr/>
            <p:nvPr/>
          </p:nvSpPr>
          <p:spPr>
            <a:xfrm>
              <a:off x="20650200" y="12573000"/>
              <a:ext cx="2628900" cy="647700"/>
            </a:xfrm>
            <a:prstGeom prst="roundRect">
              <a:avLst>
                <a:gd name="adj" fmla="val 14705"/>
              </a:avLst>
            </a:prstGeom>
            <a:solidFill>
              <a:srgbClr val="E7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ag1-bg"/>
            <p:cNvSpPr/>
            <p:nvPr/>
          </p:nvSpPr>
          <p:spPr>
            <a:xfrm>
              <a:off x="23317200" y="12534900"/>
              <a:ext cx="3771900" cy="723900"/>
            </a:xfrm>
            <a:prstGeom prst="roundRect">
              <a:avLst>
                <a:gd name="adj" fmla="val 11842"/>
              </a:avLst>
            </a:prstGeom>
            <a:solidFill>
              <a:srgbClr val="0E38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ag3-text"/>
            <p:cNvSpPr txBox="1"/>
            <p:nvPr/>
          </p:nvSpPr>
          <p:spPr>
            <a:xfrm>
              <a:off x="20121562" y="8085772"/>
              <a:ext cx="2809875" cy="55435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1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达季度目标90%</a:t>
              </a:r>
            </a:p>
          </p:txBody>
        </p:sp>
        <p:sp>
          <p:nvSpPr>
            <p:cNvPr id="78" name="tag2-text"/>
            <p:cNvSpPr txBox="1"/>
            <p:nvPr/>
          </p:nvSpPr>
          <p:spPr>
            <a:xfrm>
              <a:off x="19502438" y="10029587"/>
              <a:ext cx="4276725" cy="55292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0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销售额较上季度增长60%</a:t>
              </a:r>
            </a:p>
          </p:txBody>
        </p:sp>
        <p:sp>
          <p:nvSpPr>
            <p:cNvPr id="79" name="tag1-text"/>
            <p:cNvSpPr txBox="1"/>
            <p:nvPr/>
          </p:nvSpPr>
          <p:spPr>
            <a:xfrm>
              <a:off x="23445788" y="12621816"/>
              <a:ext cx="3514725" cy="55006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8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开拓新客户占比50%</a:t>
              </a:r>
            </a:p>
          </p:txBody>
        </p:sp>
        <p:sp>
          <p:nvSpPr>
            <p:cNvPr id="80" name="grow1-label"/>
            <p:cNvSpPr txBox="1"/>
            <p:nvPr/>
          </p:nvSpPr>
          <p:spPr>
            <a:xfrm>
              <a:off x="24088725" y="4364831"/>
              <a:ext cx="1524000" cy="5286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同比增长</a:t>
              </a:r>
            </a:p>
          </p:txBody>
        </p:sp>
        <p:sp>
          <p:nvSpPr>
            <p:cNvPr id="81" name="grow1-val"/>
            <p:cNvSpPr txBox="1"/>
            <p:nvPr/>
          </p:nvSpPr>
          <p:spPr>
            <a:xfrm>
              <a:off x="25631775" y="4121944"/>
              <a:ext cx="1476375" cy="10144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325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  <p:sp>
          <p:nvSpPr>
            <p:cNvPr id="82" name="grow2-label"/>
            <p:cNvSpPr txBox="1"/>
            <p:nvPr/>
          </p:nvSpPr>
          <p:spPr>
            <a:xfrm>
              <a:off x="24088725" y="8127206"/>
              <a:ext cx="1524000" cy="5286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同比增长</a:t>
              </a:r>
            </a:p>
          </p:txBody>
        </p:sp>
        <p:sp>
          <p:nvSpPr>
            <p:cNvPr id="83" name="grow2-val"/>
            <p:cNvSpPr txBox="1"/>
            <p:nvPr/>
          </p:nvSpPr>
          <p:spPr>
            <a:xfrm>
              <a:off x="25631775" y="7884319"/>
              <a:ext cx="1476375" cy="10144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325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33%</a:t>
              </a:r>
            </a:p>
          </p:txBody>
        </p:sp>
        <p:sp>
          <p:nvSpPr>
            <p:cNvPr id="84" name="grow3-label"/>
            <p:cNvSpPr txBox="1"/>
            <p:nvPr/>
          </p:nvSpPr>
          <p:spPr>
            <a:xfrm>
              <a:off x="24088725" y="10041731"/>
              <a:ext cx="1524000" cy="5286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同比增长</a:t>
              </a:r>
            </a:p>
          </p:txBody>
        </p:sp>
        <p:sp>
          <p:nvSpPr>
            <p:cNvPr id="85" name="grow3-val"/>
            <p:cNvSpPr txBox="1"/>
            <p:nvPr/>
          </p:nvSpPr>
          <p:spPr>
            <a:xfrm>
              <a:off x="25631775" y="9798844"/>
              <a:ext cx="1476375" cy="10144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325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20%</a:t>
              </a:r>
            </a:p>
          </p:txBody>
        </p:sp>
        <p:sp>
          <p:nvSpPr>
            <p:cNvPr id="86" name="grow4-label"/>
            <p:cNvSpPr txBox="1"/>
            <p:nvPr/>
          </p:nvSpPr>
          <p:spPr>
            <a:xfrm>
              <a:off x="24088725" y="11651456"/>
              <a:ext cx="1524000" cy="5286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同比增长</a:t>
              </a:r>
            </a:p>
          </p:txBody>
        </p:sp>
        <p:sp>
          <p:nvSpPr>
            <p:cNvPr id="87" name="grow4-val"/>
            <p:cNvSpPr txBox="1"/>
            <p:nvPr/>
          </p:nvSpPr>
          <p:spPr>
            <a:xfrm>
              <a:off x="25631775" y="11408569"/>
              <a:ext cx="1476375" cy="10144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325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10%</a:t>
              </a:r>
            </a:p>
          </p:txBody>
        </p:sp>
        <p:grpSp>
          <p:nvGrpSpPr>
            <p:cNvPr id="116" name="qblock-Q4"/>
            <p:cNvGrpSpPr/>
            <p:nvPr/>
          </p:nvGrpSpPr>
          <p:grpSpPr>
            <a:xfrm>
              <a:off x="27203400" y="3810000"/>
              <a:ext cx="1790700" cy="1600200"/>
              <a:chOff x="27203400" y="3810000"/>
              <a:chExt cx="1790700" cy="1600200"/>
            </a:xfrm>
          </p:grpSpPr>
          <p:sp>
            <p:nvSpPr>
              <p:cNvPr id="88" name="qblk-Q4"/>
              <p:cNvSpPr/>
              <p:nvPr/>
            </p:nvSpPr>
            <p:spPr>
              <a:xfrm>
                <a:off x="27203400" y="3810000"/>
                <a:ext cx="1790700" cy="1600200"/>
              </a:xfrm>
              <a:prstGeom prst="roundRect">
                <a:avLst>
                  <a:gd name="adj" fmla="val 15476"/>
                </a:avLst>
              </a:prstGeom>
              <a:solidFill>
                <a:srgbClr val="0091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qblk-Q4-text"/>
              <p:cNvSpPr txBox="1"/>
              <p:nvPr/>
            </p:nvSpPr>
            <p:spPr>
              <a:xfrm>
                <a:off x="27489150" y="4114800"/>
                <a:ext cx="1181100" cy="990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54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Q4</a:t>
                </a:r>
              </a:p>
            </p:txBody>
          </p:sp>
          <p:sp>
            <p:nvSpPr>
              <p:cNvPr id="90" name="qblk-Q4-arrow"/>
              <p:cNvSpPr/>
              <p:nvPr/>
            </p:nvSpPr>
            <p:spPr>
              <a:xfrm>
                <a:off x="28517850" y="4819650"/>
                <a:ext cx="247650" cy="381000"/>
              </a:xfrm>
              <a:prstGeom prst="upArrow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4" name="qblock-Q3"/>
            <p:cNvGrpSpPr/>
            <p:nvPr/>
          </p:nvGrpSpPr>
          <p:grpSpPr>
            <a:xfrm>
              <a:off x="27203400" y="7543800"/>
              <a:ext cx="1790700" cy="1638300"/>
              <a:chOff x="27203400" y="7543800"/>
              <a:chExt cx="1790700" cy="1638300"/>
            </a:xfrm>
          </p:grpSpPr>
          <p:sp>
            <p:nvSpPr>
              <p:cNvPr id="91" name="qblk-Q3"/>
              <p:cNvSpPr/>
              <p:nvPr/>
            </p:nvSpPr>
            <p:spPr>
              <a:xfrm>
                <a:off x="27203400" y="7543800"/>
                <a:ext cx="1790700" cy="1638300"/>
              </a:xfrm>
              <a:prstGeom prst="roundRect">
                <a:avLst>
                  <a:gd name="adj" fmla="val 15116"/>
                </a:avLst>
              </a:prstGeom>
              <a:solidFill>
                <a:srgbClr val="007FE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qblk-Q3-text"/>
              <p:cNvSpPr txBox="1"/>
              <p:nvPr/>
            </p:nvSpPr>
            <p:spPr>
              <a:xfrm>
                <a:off x="27489150" y="7867650"/>
                <a:ext cx="1181100" cy="990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54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Q3</a:t>
                </a:r>
              </a:p>
            </p:txBody>
          </p:sp>
          <p:sp>
            <p:nvSpPr>
              <p:cNvPr id="93" name="qblk-Q3-arrow"/>
              <p:cNvSpPr/>
              <p:nvPr/>
            </p:nvSpPr>
            <p:spPr>
              <a:xfrm>
                <a:off x="28517850" y="8591550"/>
                <a:ext cx="247650" cy="381000"/>
              </a:xfrm>
              <a:prstGeom prst="upArrow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" name="qblock-Q2"/>
            <p:cNvGrpSpPr/>
            <p:nvPr/>
          </p:nvGrpSpPr>
          <p:grpSpPr>
            <a:xfrm>
              <a:off x="27203400" y="9486900"/>
              <a:ext cx="1790700" cy="1600200"/>
              <a:chOff x="27203400" y="9486900"/>
              <a:chExt cx="1790700" cy="1600200"/>
            </a:xfrm>
          </p:grpSpPr>
          <p:sp>
            <p:nvSpPr>
              <p:cNvPr id="94" name="qblk-Q2"/>
              <p:cNvSpPr/>
              <p:nvPr/>
            </p:nvSpPr>
            <p:spPr>
              <a:xfrm>
                <a:off x="27203400" y="9486900"/>
                <a:ext cx="1790700" cy="1600200"/>
              </a:xfrm>
              <a:prstGeom prst="roundRect">
                <a:avLst>
                  <a:gd name="adj" fmla="val 15476"/>
                </a:avLst>
              </a:prstGeom>
              <a:solidFill>
                <a:srgbClr val="1D47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qblk-Q2-text"/>
              <p:cNvSpPr txBox="1"/>
              <p:nvPr/>
            </p:nvSpPr>
            <p:spPr>
              <a:xfrm>
                <a:off x="27489150" y="9791700"/>
                <a:ext cx="1181100" cy="990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54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Q2</a:t>
                </a:r>
              </a:p>
            </p:txBody>
          </p:sp>
          <p:sp>
            <p:nvSpPr>
              <p:cNvPr id="96" name="qblk-Q2-arrow"/>
              <p:cNvSpPr/>
              <p:nvPr/>
            </p:nvSpPr>
            <p:spPr>
              <a:xfrm>
                <a:off x="28517850" y="10496550"/>
                <a:ext cx="247650" cy="381000"/>
              </a:xfrm>
              <a:prstGeom prst="upArrow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" name="qblock-Q1"/>
            <p:cNvGrpSpPr/>
            <p:nvPr/>
          </p:nvGrpSpPr>
          <p:grpSpPr>
            <a:xfrm>
              <a:off x="27203400" y="11582400"/>
              <a:ext cx="1790700" cy="1638300"/>
              <a:chOff x="27203400" y="11582400"/>
              <a:chExt cx="1790700" cy="1638300"/>
            </a:xfrm>
          </p:grpSpPr>
          <p:sp>
            <p:nvSpPr>
              <p:cNvPr id="97" name="qblk-Q1"/>
              <p:cNvSpPr/>
              <p:nvPr/>
            </p:nvSpPr>
            <p:spPr>
              <a:xfrm>
                <a:off x="27203400" y="11582400"/>
                <a:ext cx="1790700" cy="1638300"/>
              </a:xfrm>
              <a:prstGeom prst="roundRect">
                <a:avLst>
                  <a:gd name="adj" fmla="val 15116"/>
                </a:avLst>
              </a:prstGeom>
              <a:solidFill>
                <a:srgbClr val="0E38D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qblk-Q1-text"/>
              <p:cNvSpPr txBox="1"/>
              <p:nvPr/>
            </p:nvSpPr>
            <p:spPr>
              <a:xfrm>
                <a:off x="27489150" y="11906250"/>
                <a:ext cx="1181100" cy="990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54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Q1</a:t>
                </a:r>
              </a:p>
            </p:txBody>
          </p:sp>
          <p:sp>
            <p:nvSpPr>
              <p:cNvPr id="99" name="qblk-Q1-arrow"/>
              <p:cNvSpPr/>
              <p:nvPr/>
            </p:nvSpPr>
            <p:spPr>
              <a:xfrm>
                <a:off x="28517850" y="12630150"/>
                <a:ext cx="247650" cy="381000"/>
              </a:xfrm>
              <a:prstGeom prst="upArrow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19" name="block-bottom"/>
          <p:cNvGrpSpPr/>
          <p:nvPr/>
        </p:nvGrpSpPr>
        <p:grpSpPr>
          <a:xfrm>
            <a:off x="1752600" y="13754100"/>
            <a:ext cx="27203400" cy="2171700"/>
            <a:chOff x="1752600" y="13754100"/>
            <a:chExt cx="27203400" cy="2171700"/>
          </a:xfrm>
        </p:grpSpPr>
        <p:sp>
          <p:nvSpPr>
            <p:cNvPr id="100" name="bot-bar"/>
            <p:cNvSpPr/>
            <p:nvPr/>
          </p:nvSpPr>
          <p:spPr>
            <a:xfrm>
              <a:off x="1752600" y="13754100"/>
              <a:ext cx="27203400" cy="2171700"/>
            </a:xfrm>
            <a:prstGeom prst="rect">
              <a:avLst/>
            </a:prstGeom>
            <a:solidFill>
              <a:srgbClr val="1132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ot-sep1"/>
            <p:cNvSpPr/>
            <p:nvPr/>
          </p:nvSpPr>
          <p:spPr>
            <a:xfrm>
              <a:off x="8286750" y="14125575"/>
              <a:ext cx="66675" cy="140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bot-sep2"/>
            <p:cNvSpPr/>
            <p:nvPr/>
          </p:nvSpPr>
          <p:spPr>
            <a:xfrm>
              <a:off x="15449550" y="14125575"/>
              <a:ext cx="66675" cy="140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ot-sep3"/>
            <p:cNvSpPr/>
            <p:nvPr/>
          </p:nvSpPr>
          <p:spPr>
            <a:xfrm>
              <a:off x="22717125" y="14125575"/>
              <a:ext cx="66675" cy="140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ot1-l1"/>
            <p:cNvSpPr txBox="1"/>
            <p:nvPr/>
          </p:nvSpPr>
          <p:spPr>
            <a:xfrm>
              <a:off x="2371725" y="14070902"/>
              <a:ext cx="5248275" cy="66179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7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利润同比增长25%，为公</a:t>
              </a:r>
            </a:p>
          </p:txBody>
        </p:sp>
        <p:sp>
          <p:nvSpPr>
            <p:cNvPr id="105" name="bot1-l2"/>
            <p:cNvSpPr txBox="1"/>
            <p:nvPr/>
          </p:nvSpPr>
          <p:spPr>
            <a:xfrm>
              <a:off x="2381250" y="14813852"/>
              <a:ext cx="5143500" cy="66179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74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司发展提供坚实资金保障</a:t>
              </a:r>
            </a:p>
          </p:txBody>
        </p:sp>
        <p:sp>
          <p:nvSpPr>
            <p:cNvPr id="106" name="bot2-l1"/>
            <p:cNvSpPr txBox="1"/>
            <p:nvPr/>
          </p:nvSpPr>
          <p:spPr>
            <a:xfrm>
              <a:off x="9001125" y="14073659"/>
              <a:ext cx="5610225" cy="6562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4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有效市场推广与产品创新提</a:t>
              </a:r>
            </a:p>
          </p:txBody>
        </p:sp>
        <p:sp>
          <p:nvSpPr>
            <p:cNvPr id="107" name="bot2-l2"/>
            <p:cNvSpPr txBox="1"/>
            <p:nvPr/>
          </p:nvSpPr>
          <p:spPr>
            <a:xfrm>
              <a:off x="9010650" y="14816609"/>
              <a:ext cx="5591175" cy="6562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4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升公司品牌知名度与美誉度</a:t>
              </a:r>
            </a:p>
          </p:txBody>
        </p:sp>
        <p:sp>
          <p:nvSpPr>
            <p:cNvPr id="108" name="bot3-l1"/>
            <p:cNvSpPr txBox="1"/>
            <p:nvPr/>
          </p:nvSpPr>
          <p:spPr>
            <a:xfrm>
              <a:off x="16221075" y="14072280"/>
              <a:ext cx="5800725" cy="659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推出的新产品/新功能获市场</a:t>
              </a:r>
            </a:p>
          </p:txBody>
        </p:sp>
        <p:sp>
          <p:nvSpPr>
            <p:cNvPr id="109" name="bot3-l2"/>
            <p:cNvSpPr txBox="1"/>
            <p:nvPr/>
          </p:nvSpPr>
          <p:spPr>
            <a:xfrm>
              <a:off x="16554450" y="14815230"/>
              <a:ext cx="5114925" cy="659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9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广泛认可，填补市场空白</a:t>
              </a:r>
            </a:p>
          </p:txBody>
        </p:sp>
        <p:sp>
          <p:nvSpPr>
            <p:cNvPr id="110" name="bot4-l1"/>
            <p:cNvSpPr txBox="1"/>
            <p:nvPr/>
          </p:nvSpPr>
          <p:spPr>
            <a:xfrm>
              <a:off x="23536275" y="14072970"/>
              <a:ext cx="4676775" cy="65766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打造团结协作、富有创</a:t>
              </a:r>
            </a:p>
          </p:txBody>
        </p:sp>
        <p:sp>
          <p:nvSpPr>
            <p:cNvPr id="111" name="bot4-l2"/>
            <p:cNvSpPr txBox="1"/>
            <p:nvPr/>
          </p:nvSpPr>
          <p:spPr>
            <a:xfrm>
              <a:off x="23536275" y="14815920"/>
              <a:ext cx="4705350" cy="65766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新精神与战斗力的团队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