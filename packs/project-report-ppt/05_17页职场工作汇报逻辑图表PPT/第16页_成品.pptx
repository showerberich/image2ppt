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480000" cy="17145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0480000" cy="1714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"/>
          <p:cNvSpPr/>
          <p:nvPr/>
        </p:nvSpPr>
        <p:spPr>
          <a:xfrm>
            <a:off x="0" y="0"/>
            <a:ext cx="30480000" cy="1714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80" name="header"/>
          <p:cNvGrpSpPr/>
          <p:nvPr/>
        </p:nvGrpSpPr>
        <p:grpSpPr>
          <a:xfrm>
            <a:off x="1143000" y="438150"/>
            <a:ext cx="28470225" cy="1438275"/>
            <a:chOff x="1143000" y="438150"/>
            <a:chExt cx="28470225" cy="1438275"/>
          </a:xfrm>
        </p:grpSpPr>
        <p:sp>
          <p:nvSpPr>
            <p:cNvPr id="4" name="hdr-icon-ring"/>
            <p:cNvSpPr/>
            <p:nvPr/>
          </p:nvSpPr>
          <p:spPr>
            <a:xfrm>
              <a:off x="1200150" y="571500"/>
              <a:ext cx="1056322" cy="1057275"/>
            </a:xfrm>
            <a:custGeom>
              <a:avLst/>
              <a:gdLst/>
              <a:ahLst/>
              <a:cxnLst/>
              <a:rect l="l" t="t" r="r" b="b"/>
              <a:pathLst>
                <a:path w="1056322" h="1057275">
                  <a:moveTo>
                    <a:pt x="1015365" y="321945"/>
                  </a:moveTo>
                  <a:lnTo>
                    <a:pt x="1036320" y="381000"/>
                  </a:lnTo>
                  <a:lnTo>
                    <a:pt x="1049655" y="441960"/>
                  </a:lnTo>
                  <a:lnTo>
                    <a:pt x="1056322" y="503872"/>
                  </a:lnTo>
                  <a:lnTo>
                    <a:pt x="1056322" y="565785"/>
                  </a:lnTo>
                  <a:lnTo>
                    <a:pt x="1047750" y="627698"/>
                  </a:lnTo>
                  <a:lnTo>
                    <a:pt x="1032510" y="687705"/>
                  </a:lnTo>
                  <a:lnTo>
                    <a:pt x="1010602" y="745808"/>
                  </a:lnTo>
                  <a:lnTo>
                    <a:pt x="981075" y="801052"/>
                  </a:lnTo>
                  <a:lnTo>
                    <a:pt x="945832" y="852488"/>
                  </a:lnTo>
                  <a:lnTo>
                    <a:pt x="904875" y="900112"/>
                  </a:lnTo>
                  <a:lnTo>
                    <a:pt x="859155" y="941070"/>
                  </a:lnTo>
                  <a:lnTo>
                    <a:pt x="807720" y="977265"/>
                  </a:lnTo>
                  <a:lnTo>
                    <a:pt x="753428" y="1006792"/>
                  </a:lnTo>
                  <a:lnTo>
                    <a:pt x="695325" y="1030605"/>
                  </a:lnTo>
                  <a:lnTo>
                    <a:pt x="635318" y="1046798"/>
                  </a:lnTo>
                  <a:lnTo>
                    <a:pt x="573405" y="1055370"/>
                  </a:lnTo>
                  <a:lnTo>
                    <a:pt x="511492" y="1057275"/>
                  </a:lnTo>
                  <a:lnTo>
                    <a:pt x="449580" y="1051560"/>
                  </a:lnTo>
                  <a:lnTo>
                    <a:pt x="388620" y="1038225"/>
                  </a:lnTo>
                  <a:lnTo>
                    <a:pt x="329565" y="1018222"/>
                  </a:lnTo>
                  <a:lnTo>
                    <a:pt x="273368" y="991552"/>
                  </a:lnTo>
                  <a:lnTo>
                    <a:pt x="220028" y="958215"/>
                  </a:lnTo>
                  <a:lnTo>
                    <a:pt x="171450" y="919162"/>
                  </a:lnTo>
                  <a:lnTo>
                    <a:pt x="128588" y="874395"/>
                  </a:lnTo>
                  <a:lnTo>
                    <a:pt x="90488" y="824865"/>
                  </a:lnTo>
                  <a:lnTo>
                    <a:pt x="59055" y="770572"/>
                  </a:lnTo>
                  <a:lnTo>
                    <a:pt x="33338" y="714375"/>
                  </a:lnTo>
                  <a:lnTo>
                    <a:pt x="15240" y="654368"/>
                  </a:lnTo>
                  <a:lnTo>
                    <a:pt x="3810" y="593408"/>
                  </a:lnTo>
                  <a:lnTo>
                    <a:pt x="0" y="530542"/>
                  </a:lnTo>
                  <a:lnTo>
                    <a:pt x="3810" y="468630"/>
                  </a:lnTo>
                  <a:lnTo>
                    <a:pt x="14288" y="407670"/>
                  </a:lnTo>
                  <a:lnTo>
                    <a:pt x="32385" y="347662"/>
                  </a:lnTo>
                  <a:lnTo>
                    <a:pt x="57150" y="290512"/>
                  </a:lnTo>
                  <a:lnTo>
                    <a:pt x="87630" y="236220"/>
                  </a:lnTo>
                  <a:lnTo>
                    <a:pt x="125730" y="186690"/>
                  </a:lnTo>
                  <a:lnTo>
                    <a:pt x="168592" y="141922"/>
                  </a:lnTo>
                  <a:lnTo>
                    <a:pt x="216218" y="101918"/>
                  </a:lnTo>
                  <a:lnTo>
                    <a:pt x="268605" y="68580"/>
                  </a:lnTo>
                  <a:lnTo>
                    <a:pt x="324802" y="40958"/>
                  </a:lnTo>
                  <a:lnTo>
                    <a:pt x="383858" y="20002"/>
                  </a:lnTo>
                  <a:lnTo>
                    <a:pt x="444818" y="6668"/>
                  </a:lnTo>
                  <a:lnTo>
                    <a:pt x="506730" y="0"/>
                  </a:lnTo>
                  <a:lnTo>
                    <a:pt x="568642" y="1905"/>
                  </a:lnTo>
                  <a:lnTo>
                    <a:pt x="630555" y="9525"/>
                  </a:lnTo>
                  <a:lnTo>
                    <a:pt x="690562" y="25718"/>
                  </a:lnTo>
                  <a:lnTo>
                    <a:pt x="748665" y="48578"/>
                  </a:lnTo>
                  <a:lnTo>
                    <a:pt x="803910" y="77152"/>
                  </a:lnTo>
                  <a:lnTo>
                    <a:pt x="757238" y="154305"/>
                  </a:lnTo>
                  <a:lnTo>
                    <a:pt x="711518" y="130492"/>
                  </a:lnTo>
                  <a:lnTo>
                    <a:pt x="662940" y="111442"/>
                  </a:lnTo>
                  <a:lnTo>
                    <a:pt x="613410" y="99060"/>
                  </a:lnTo>
                  <a:lnTo>
                    <a:pt x="561975" y="91440"/>
                  </a:lnTo>
                  <a:lnTo>
                    <a:pt x="510540" y="90488"/>
                  </a:lnTo>
                  <a:lnTo>
                    <a:pt x="459105" y="96202"/>
                  </a:lnTo>
                  <a:lnTo>
                    <a:pt x="408622" y="107632"/>
                  </a:lnTo>
                  <a:lnTo>
                    <a:pt x="360045" y="124778"/>
                  </a:lnTo>
                  <a:lnTo>
                    <a:pt x="313372" y="146685"/>
                  </a:lnTo>
                  <a:lnTo>
                    <a:pt x="269558" y="175260"/>
                  </a:lnTo>
                  <a:lnTo>
                    <a:pt x="230505" y="207645"/>
                  </a:lnTo>
                  <a:lnTo>
                    <a:pt x="194310" y="244792"/>
                  </a:lnTo>
                  <a:lnTo>
                    <a:pt x="163830" y="286702"/>
                  </a:lnTo>
                  <a:lnTo>
                    <a:pt x="137160" y="331470"/>
                  </a:lnTo>
                  <a:lnTo>
                    <a:pt x="117158" y="378142"/>
                  </a:lnTo>
                  <a:lnTo>
                    <a:pt x="101918" y="427672"/>
                  </a:lnTo>
                  <a:lnTo>
                    <a:pt x="93345" y="479108"/>
                  </a:lnTo>
                  <a:lnTo>
                    <a:pt x="90488" y="530542"/>
                  </a:lnTo>
                  <a:lnTo>
                    <a:pt x="93345" y="581978"/>
                  </a:lnTo>
                  <a:lnTo>
                    <a:pt x="102870" y="632460"/>
                  </a:lnTo>
                  <a:lnTo>
                    <a:pt x="118110" y="681990"/>
                  </a:lnTo>
                  <a:lnTo>
                    <a:pt x="139065" y="729615"/>
                  </a:lnTo>
                  <a:lnTo>
                    <a:pt x="165735" y="774382"/>
                  </a:lnTo>
                  <a:lnTo>
                    <a:pt x="197168" y="815340"/>
                  </a:lnTo>
                  <a:lnTo>
                    <a:pt x="233362" y="851535"/>
                  </a:lnTo>
                  <a:lnTo>
                    <a:pt x="273368" y="884872"/>
                  </a:lnTo>
                  <a:lnTo>
                    <a:pt x="317182" y="912495"/>
                  </a:lnTo>
                  <a:lnTo>
                    <a:pt x="362902" y="934402"/>
                  </a:lnTo>
                  <a:lnTo>
                    <a:pt x="412432" y="950595"/>
                  </a:lnTo>
                  <a:lnTo>
                    <a:pt x="462915" y="962025"/>
                  </a:lnTo>
                  <a:lnTo>
                    <a:pt x="514350" y="966788"/>
                  </a:lnTo>
                  <a:lnTo>
                    <a:pt x="565785" y="964882"/>
                  </a:lnTo>
                  <a:lnTo>
                    <a:pt x="617220" y="958215"/>
                  </a:lnTo>
                  <a:lnTo>
                    <a:pt x="666750" y="944880"/>
                  </a:lnTo>
                  <a:lnTo>
                    <a:pt x="714375" y="924878"/>
                  </a:lnTo>
                  <a:lnTo>
                    <a:pt x="760095" y="901065"/>
                  </a:lnTo>
                  <a:lnTo>
                    <a:pt x="802005" y="870585"/>
                  </a:lnTo>
                  <a:lnTo>
                    <a:pt x="841058" y="836295"/>
                  </a:lnTo>
                  <a:lnTo>
                    <a:pt x="874395" y="797242"/>
                  </a:lnTo>
                  <a:lnTo>
                    <a:pt x="903922" y="754380"/>
                  </a:lnTo>
                  <a:lnTo>
                    <a:pt x="927735" y="708660"/>
                  </a:lnTo>
                  <a:lnTo>
                    <a:pt x="946785" y="661035"/>
                  </a:lnTo>
                  <a:lnTo>
                    <a:pt x="959168" y="610552"/>
                  </a:lnTo>
                  <a:lnTo>
                    <a:pt x="965835" y="559118"/>
                  </a:lnTo>
                  <a:lnTo>
                    <a:pt x="965835" y="507682"/>
                  </a:lnTo>
                  <a:lnTo>
                    <a:pt x="961072" y="456248"/>
                  </a:lnTo>
                  <a:lnTo>
                    <a:pt x="949642" y="405765"/>
                  </a:lnTo>
                  <a:lnTo>
                    <a:pt x="931545" y="357188"/>
                  </a:lnTo>
                  <a:close/>
                </a:path>
              </a:pathLst>
            </a:custGeom>
            <a:solidFill>
              <a:srgbClr val="508A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hdr-icon-check"/>
            <p:cNvSpPr/>
            <p:nvPr/>
          </p:nvSpPr>
          <p:spPr>
            <a:xfrm>
              <a:off x="1419225" y="628650"/>
              <a:ext cx="828675" cy="828675"/>
            </a:xfrm>
            <a:custGeom>
              <a:avLst/>
              <a:gdLst/>
              <a:ahLst/>
              <a:cxnLst/>
              <a:rect l="l" t="t" r="r" b="b"/>
              <a:pathLst>
                <a:path w="828675" h="828675">
                  <a:moveTo>
                    <a:pt x="0" y="495300"/>
                  </a:moveTo>
                  <a:lnTo>
                    <a:pt x="266700" y="828675"/>
                  </a:lnTo>
                  <a:lnTo>
                    <a:pt x="828675" y="0"/>
                  </a:lnTo>
                </a:path>
              </a:pathLst>
            </a:custGeom>
            <a:noFill/>
            <a:ln w="85725">
              <a:solidFill>
                <a:srgbClr val="508A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hdr-title"/>
            <p:cNvSpPr txBox="1"/>
            <p:nvPr/>
          </p:nvSpPr>
          <p:spPr>
            <a:xfrm>
              <a:off x="2143125" y="438150"/>
              <a:ext cx="10096500" cy="12192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6150" b="1" i="0">
                  <a:solidFill>
                    <a:srgbClr val="508A59"/>
                  </a:solidFill>
                  <a:latin typeface="Microsoft YaHei"/>
                  <a:ea typeface="Microsoft YaHei"/>
                  <a:cs typeface="Microsoft YaHei"/>
                </a:rPr>
                <a:t>职场工作汇报逻辑图表PPT</a:t>
              </a:r>
            </a:p>
          </p:txBody>
        </p:sp>
        <p:sp>
          <p:nvSpPr>
            <p:cNvPr id="7" name="hdr-rule"/>
            <p:cNvSpPr/>
            <p:nvPr/>
          </p:nvSpPr>
          <p:spPr>
            <a:xfrm>
              <a:off x="1143000" y="1762125"/>
              <a:ext cx="28470225" cy="114300"/>
            </a:xfrm>
            <a:prstGeom prst="rect">
              <a:avLst/>
            </a:prstGeom>
            <a:solidFill>
              <a:srgbClr val="508A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hdr-tag"/>
            <p:cNvSpPr/>
            <p:nvPr/>
          </p:nvSpPr>
          <p:spPr>
            <a:xfrm>
              <a:off x="25307925" y="619125"/>
              <a:ext cx="4305300" cy="876300"/>
            </a:xfrm>
            <a:prstGeom prst="roundRect">
              <a:avLst>
                <a:gd name="adj" fmla="val 6521"/>
              </a:avLst>
            </a:prstGeom>
            <a:solidFill>
              <a:srgbClr val="518A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hdr-tag-text"/>
            <p:cNvSpPr txBox="1"/>
            <p:nvPr/>
          </p:nvSpPr>
          <p:spPr>
            <a:xfrm>
              <a:off x="25307925" y="552450"/>
              <a:ext cx="4305300" cy="101917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5025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数据可视化</a:t>
              </a:r>
            </a:p>
          </p:txBody>
        </p:sp>
      </p:grpSp>
      <p:grpSp>
        <p:nvGrpSpPr>
          <p:cNvPr id="79" name="block-01"/>
          <p:cNvGrpSpPr/>
          <p:nvPr/>
        </p:nvGrpSpPr>
        <p:grpSpPr>
          <a:xfrm>
            <a:off x="1733550" y="2476500"/>
            <a:ext cx="8772525" cy="5076825"/>
            <a:chOff x="1733550" y="2476500"/>
            <a:chExt cx="8772525" cy="5076825"/>
          </a:xfrm>
        </p:grpSpPr>
        <p:sp>
          <p:nvSpPr>
            <p:cNvPr id="10" name="point-1-head"/>
            <p:cNvSpPr txBox="1"/>
            <p:nvPr/>
          </p:nvSpPr>
          <p:spPr>
            <a:xfrm>
              <a:off x="2276475" y="2476500"/>
              <a:ext cx="3810000" cy="10668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5250" b="1" i="0">
                  <a:solidFill>
                    <a:srgbClr val="262626"/>
                  </a:solidFill>
                  <a:latin typeface="Microsoft YaHei"/>
                  <a:ea typeface="Microsoft YaHei"/>
                  <a:cs typeface="Microsoft YaHei"/>
                </a:rPr>
                <a:t>要点 01</a:t>
              </a:r>
            </a:p>
          </p:txBody>
        </p:sp>
        <p:cxnSp>
          <p:nvCxnSpPr>
            <p:cNvPr id="11" name="point-1-rule"/>
            <p:cNvCxnSpPr/>
            <p:nvPr/>
          </p:nvCxnSpPr>
          <p:spPr>
            <a:xfrm>
              <a:off x="1752600" y="3686175"/>
              <a:ext cx="8743950" cy="0"/>
            </a:xfrm>
            <a:prstGeom prst="line">
              <a:avLst/>
            </a:prstGeom>
            <a:ln w="38100">
              <a:solidFill>
                <a:srgbClr val="508A59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point-1-slash"/>
            <p:cNvCxnSpPr/>
            <p:nvPr/>
          </p:nvCxnSpPr>
          <p:spPr>
            <a:xfrm>
              <a:off x="9915525" y="3295650"/>
              <a:ext cx="581025" cy="400050"/>
            </a:xfrm>
            <a:prstGeom prst="line">
              <a:avLst/>
            </a:prstGeom>
            <a:ln w="38100">
              <a:solidFill>
                <a:srgbClr val="508A59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card-1"/>
            <p:cNvSpPr/>
            <p:nvPr/>
          </p:nvSpPr>
          <p:spPr>
            <a:xfrm>
              <a:off x="1733550" y="4000500"/>
              <a:ext cx="8772525" cy="3552825"/>
            </a:xfrm>
            <a:prstGeom prst="rect">
              <a:avLst/>
            </a:prstGeom>
            <a:solidFill>
              <a:srgbClr val="518A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card-1-title"/>
            <p:cNvSpPr txBox="1"/>
            <p:nvPr/>
          </p:nvSpPr>
          <p:spPr>
            <a:xfrm>
              <a:off x="2276475" y="4391025"/>
              <a:ext cx="5334000" cy="10382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49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点击输入标题01</a:t>
              </a:r>
            </a:p>
          </p:txBody>
        </p:sp>
        <p:sp>
          <p:nvSpPr>
            <p:cNvPr id="15" name="card-1-body1"/>
            <p:cNvSpPr txBox="1"/>
            <p:nvPr/>
          </p:nvSpPr>
          <p:spPr>
            <a:xfrm>
              <a:off x="2305050" y="5676900"/>
              <a:ext cx="7810500" cy="5429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775" b="0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2025年，在公司营收、销量方面来看，日常出</a:t>
              </a:r>
            </a:p>
          </p:txBody>
        </p:sp>
        <p:sp>
          <p:nvSpPr>
            <p:cNvPr id="16" name="card-1-body2"/>
            <p:cNvSpPr txBox="1"/>
            <p:nvPr/>
          </p:nvSpPr>
          <p:spPr>
            <a:xfrm>
              <a:off x="2305050" y="6219825"/>
              <a:ext cx="7810500" cy="5429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775" b="0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行以及阅读学习成为本年度销量的有力增长点。</a:t>
              </a:r>
            </a:p>
          </p:txBody>
        </p:sp>
      </p:grpSp>
      <p:grpSp>
        <p:nvGrpSpPr>
          <p:cNvPr id="81" name="block-02"/>
          <p:cNvGrpSpPr/>
          <p:nvPr/>
        </p:nvGrpSpPr>
        <p:grpSpPr>
          <a:xfrm>
            <a:off x="10858500" y="2476500"/>
            <a:ext cx="8772525" cy="5076825"/>
            <a:chOff x="10858500" y="2476500"/>
            <a:chExt cx="8772525" cy="5076825"/>
          </a:xfrm>
        </p:grpSpPr>
        <p:sp>
          <p:nvSpPr>
            <p:cNvPr id="17" name="point-2-head"/>
            <p:cNvSpPr txBox="1"/>
            <p:nvPr/>
          </p:nvSpPr>
          <p:spPr>
            <a:xfrm>
              <a:off x="11401425" y="2476500"/>
              <a:ext cx="3810000" cy="10668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5250" b="1" i="0">
                  <a:solidFill>
                    <a:srgbClr val="262626"/>
                  </a:solidFill>
                  <a:latin typeface="Microsoft YaHei"/>
                  <a:ea typeface="Microsoft YaHei"/>
                  <a:cs typeface="Microsoft YaHei"/>
                </a:rPr>
                <a:t>要点 02</a:t>
              </a:r>
            </a:p>
          </p:txBody>
        </p:sp>
        <p:cxnSp>
          <p:nvCxnSpPr>
            <p:cNvPr id="18" name="point-2-rule"/>
            <p:cNvCxnSpPr/>
            <p:nvPr/>
          </p:nvCxnSpPr>
          <p:spPr>
            <a:xfrm>
              <a:off x="10877550" y="3686175"/>
              <a:ext cx="8743950" cy="0"/>
            </a:xfrm>
            <a:prstGeom prst="line">
              <a:avLst/>
            </a:prstGeom>
            <a:ln w="38100">
              <a:solidFill>
                <a:srgbClr val="508A59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point-2-slash"/>
            <p:cNvCxnSpPr/>
            <p:nvPr/>
          </p:nvCxnSpPr>
          <p:spPr>
            <a:xfrm>
              <a:off x="19040475" y="3295650"/>
              <a:ext cx="581025" cy="400050"/>
            </a:xfrm>
            <a:prstGeom prst="line">
              <a:avLst/>
            </a:prstGeom>
            <a:ln w="38100">
              <a:solidFill>
                <a:srgbClr val="508A59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card-2"/>
            <p:cNvSpPr/>
            <p:nvPr/>
          </p:nvSpPr>
          <p:spPr>
            <a:xfrm>
              <a:off x="10858500" y="4000500"/>
              <a:ext cx="8772525" cy="3552825"/>
            </a:xfrm>
            <a:prstGeom prst="rect">
              <a:avLst/>
            </a:prstGeom>
            <a:solidFill>
              <a:srgbClr val="518A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card-2-title"/>
            <p:cNvSpPr txBox="1"/>
            <p:nvPr/>
          </p:nvSpPr>
          <p:spPr>
            <a:xfrm>
              <a:off x="11401425" y="4391025"/>
              <a:ext cx="5334000" cy="10382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49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点击输入标题02</a:t>
              </a:r>
            </a:p>
          </p:txBody>
        </p:sp>
        <p:sp>
          <p:nvSpPr>
            <p:cNvPr id="22" name="card-2-body1"/>
            <p:cNvSpPr txBox="1"/>
            <p:nvPr/>
          </p:nvSpPr>
          <p:spPr>
            <a:xfrm>
              <a:off x="11430000" y="5676900"/>
              <a:ext cx="7810500" cy="5429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775" b="0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2025年，在公司营收、销量方面来看，日常出</a:t>
              </a:r>
            </a:p>
          </p:txBody>
        </p:sp>
        <p:sp>
          <p:nvSpPr>
            <p:cNvPr id="23" name="card-2-body2"/>
            <p:cNvSpPr txBox="1"/>
            <p:nvPr/>
          </p:nvSpPr>
          <p:spPr>
            <a:xfrm>
              <a:off x="11430000" y="6219825"/>
              <a:ext cx="7810500" cy="5429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775" b="0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行以及阅读学习成为本年度销量的有力增长点。</a:t>
              </a:r>
            </a:p>
          </p:txBody>
        </p:sp>
      </p:grpSp>
      <p:grpSp>
        <p:nvGrpSpPr>
          <p:cNvPr id="78" name="block-03"/>
          <p:cNvGrpSpPr/>
          <p:nvPr/>
        </p:nvGrpSpPr>
        <p:grpSpPr>
          <a:xfrm>
            <a:off x="19973925" y="2476500"/>
            <a:ext cx="8772525" cy="5076825"/>
            <a:chOff x="19973925" y="2476500"/>
            <a:chExt cx="8772525" cy="5076825"/>
          </a:xfrm>
        </p:grpSpPr>
        <p:sp>
          <p:nvSpPr>
            <p:cNvPr id="24" name="point-3-head"/>
            <p:cNvSpPr txBox="1"/>
            <p:nvPr/>
          </p:nvSpPr>
          <p:spPr>
            <a:xfrm>
              <a:off x="20516850" y="2476500"/>
              <a:ext cx="3810000" cy="10668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5250" b="1" i="0">
                  <a:solidFill>
                    <a:srgbClr val="262626"/>
                  </a:solidFill>
                  <a:latin typeface="Microsoft YaHei"/>
                  <a:ea typeface="Microsoft YaHei"/>
                  <a:cs typeface="Microsoft YaHei"/>
                </a:rPr>
                <a:t>要点 03</a:t>
              </a:r>
            </a:p>
          </p:txBody>
        </p:sp>
        <p:cxnSp>
          <p:nvCxnSpPr>
            <p:cNvPr id="25" name="point-3-rule"/>
            <p:cNvCxnSpPr/>
            <p:nvPr/>
          </p:nvCxnSpPr>
          <p:spPr>
            <a:xfrm>
              <a:off x="19992975" y="3686175"/>
              <a:ext cx="8743950" cy="0"/>
            </a:xfrm>
            <a:prstGeom prst="line">
              <a:avLst/>
            </a:prstGeom>
            <a:ln w="38100">
              <a:solidFill>
                <a:srgbClr val="508A59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point-3-slash"/>
            <p:cNvCxnSpPr/>
            <p:nvPr/>
          </p:nvCxnSpPr>
          <p:spPr>
            <a:xfrm>
              <a:off x="28155900" y="3295650"/>
              <a:ext cx="581025" cy="400050"/>
            </a:xfrm>
            <a:prstGeom prst="line">
              <a:avLst/>
            </a:prstGeom>
            <a:ln w="38100">
              <a:solidFill>
                <a:srgbClr val="508A59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card-3"/>
            <p:cNvSpPr/>
            <p:nvPr/>
          </p:nvSpPr>
          <p:spPr>
            <a:xfrm>
              <a:off x="19973925" y="4000500"/>
              <a:ext cx="8772525" cy="3552825"/>
            </a:xfrm>
            <a:prstGeom prst="rect">
              <a:avLst/>
            </a:prstGeom>
            <a:solidFill>
              <a:srgbClr val="518A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card-3-title"/>
            <p:cNvSpPr txBox="1"/>
            <p:nvPr/>
          </p:nvSpPr>
          <p:spPr>
            <a:xfrm>
              <a:off x="20516850" y="4391025"/>
              <a:ext cx="5334000" cy="10382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49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点击输入标题03</a:t>
              </a:r>
            </a:p>
          </p:txBody>
        </p:sp>
        <p:sp>
          <p:nvSpPr>
            <p:cNvPr id="29" name="card-3-body1"/>
            <p:cNvSpPr txBox="1"/>
            <p:nvPr/>
          </p:nvSpPr>
          <p:spPr>
            <a:xfrm>
              <a:off x="20545425" y="5676900"/>
              <a:ext cx="7810500" cy="5429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775" b="0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2025年，在公司营收、销量方面来看，日常出</a:t>
              </a:r>
            </a:p>
          </p:txBody>
        </p:sp>
        <p:sp>
          <p:nvSpPr>
            <p:cNvPr id="30" name="card-3-body2"/>
            <p:cNvSpPr txBox="1"/>
            <p:nvPr/>
          </p:nvSpPr>
          <p:spPr>
            <a:xfrm>
              <a:off x="20545425" y="6219825"/>
              <a:ext cx="7810500" cy="5429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775" b="0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行以及阅读学习成为本年度销量的有力增长点。</a:t>
              </a:r>
            </a:p>
          </p:txBody>
        </p:sp>
      </p:grpSp>
      <p:sp>
        <p:nvSpPr>
          <p:cNvPr id="31" name="frame-summary"/>
          <p:cNvSpPr/>
          <p:nvPr/>
        </p:nvSpPr>
        <p:spPr>
          <a:xfrm>
            <a:off x="1733550" y="7734300"/>
            <a:ext cx="27022425" cy="1428750"/>
          </a:xfrm>
          <a:prstGeom prst="rect">
            <a:avLst/>
          </a:prstGeom>
          <a:solidFill>
            <a:srgbClr val="FAFCFB"/>
          </a:solidFill>
          <a:ln w="28575">
            <a:solidFill>
              <a:srgbClr val="8FB89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summary-text"/>
          <p:cNvSpPr txBox="1"/>
          <p:nvPr/>
        </p:nvSpPr>
        <p:spPr>
          <a:xfrm>
            <a:off x="3248025" y="8115300"/>
            <a:ext cx="19335750" cy="723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525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2025年，在公司营收、销量方面来看，日常出行以及阅读学习成为本年度销量的有力增长点。</a:t>
            </a:r>
          </a:p>
        </p:txBody>
      </p:sp>
      <p:sp>
        <p:nvSpPr>
          <p:cNvPr id="33" name="frame-chart"/>
          <p:cNvSpPr/>
          <p:nvPr/>
        </p:nvSpPr>
        <p:spPr>
          <a:xfrm>
            <a:off x="1733550" y="9477375"/>
            <a:ext cx="27022425" cy="6429375"/>
          </a:xfrm>
          <a:prstGeom prst="rect">
            <a:avLst/>
          </a:prstGeom>
          <a:solidFill>
            <a:srgbClr val="FAFCFB"/>
          </a:solidFill>
          <a:ln w="28575">
            <a:solidFill>
              <a:srgbClr val="8FB89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bar-01"/>
          <p:cNvSpPr/>
          <p:nvPr/>
        </p:nvSpPr>
        <p:spPr>
          <a:xfrm>
            <a:off x="3495675" y="14455616"/>
            <a:ext cx="1009650" cy="641509"/>
          </a:xfrm>
          <a:prstGeom prst="rect">
            <a:avLst/>
          </a:prstGeom>
          <a:gradFill rotWithShape="1">
            <a:gsLst>
              <a:gs pos="0">
                <a:srgbClr val="91C099"/>
              </a:gs>
              <a:gs pos="100000">
                <a:srgbClr val="4F8A55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bar-01-val"/>
          <p:cNvSpPr txBox="1"/>
          <p:nvPr/>
        </p:nvSpPr>
        <p:spPr>
          <a:xfrm>
            <a:off x="3419475" y="14547771"/>
            <a:ext cx="116205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30%</a:t>
            </a:r>
          </a:p>
        </p:txBody>
      </p:sp>
      <p:sp>
        <p:nvSpPr>
          <p:cNvPr id="36" name="month-1"/>
          <p:cNvSpPr txBox="1"/>
          <p:nvPr/>
        </p:nvSpPr>
        <p:spPr>
          <a:xfrm>
            <a:off x="3409950" y="15344775"/>
            <a:ext cx="118110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100" b="0" i="0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>1月</a:t>
            </a:r>
          </a:p>
        </p:txBody>
      </p:sp>
      <p:sp>
        <p:nvSpPr>
          <p:cNvPr id="37" name="bar-02"/>
          <p:cNvSpPr/>
          <p:nvPr/>
        </p:nvSpPr>
        <p:spPr>
          <a:xfrm>
            <a:off x="5591175" y="12317254"/>
            <a:ext cx="1009650" cy="2779871"/>
          </a:xfrm>
          <a:prstGeom prst="rect">
            <a:avLst/>
          </a:prstGeom>
          <a:gradFill rotWithShape="1">
            <a:gsLst>
              <a:gs pos="0">
                <a:srgbClr val="91C099"/>
              </a:gs>
              <a:gs pos="100000">
                <a:srgbClr val="4F8A55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bar-02-val"/>
          <p:cNvSpPr txBox="1"/>
          <p:nvPr/>
        </p:nvSpPr>
        <p:spPr>
          <a:xfrm>
            <a:off x="5514975" y="13478589"/>
            <a:ext cx="116205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130%</a:t>
            </a:r>
          </a:p>
        </p:txBody>
      </p:sp>
      <p:sp>
        <p:nvSpPr>
          <p:cNvPr id="39" name="month-2"/>
          <p:cNvSpPr txBox="1"/>
          <p:nvPr/>
        </p:nvSpPr>
        <p:spPr>
          <a:xfrm>
            <a:off x="5505450" y="15344775"/>
            <a:ext cx="118110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100" b="0" i="0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>2月</a:t>
            </a:r>
          </a:p>
        </p:txBody>
      </p:sp>
      <p:sp>
        <p:nvSpPr>
          <p:cNvPr id="40" name="bar-03"/>
          <p:cNvSpPr/>
          <p:nvPr/>
        </p:nvSpPr>
        <p:spPr>
          <a:xfrm>
            <a:off x="7686675" y="14027944"/>
            <a:ext cx="1009650" cy="1069181"/>
          </a:xfrm>
          <a:prstGeom prst="rect">
            <a:avLst/>
          </a:prstGeom>
          <a:gradFill rotWithShape="1">
            <a:gsLst>
              <a:gs pos="0">
                <a:srgbClr val="91C099"/>
              </a:gs>
              <a:gs pos="100000">
                <a:srgbClr val="4F8A55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bar-03-val"/>
          <p:cNvSpPr txBox="1"/>
          <p:nvPr/>
        </p:nvSpPr>
        <p:spPr>
          <a:xfrm>
            <a:off x="7610475" y="14333934"/>
            <a:ext cx="116205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50%</a:t>
            </a:r>
          </a:p>
        </p:txBody>
      </p:sp>
      <p:sp>
        <p:nvSpPr>
          <p:cNvPr id="42" name="month-3"/>
          <p:cNvSpPr txBox="1"/>
          <p:nvPr/>
        </p:nvSpPr>
        <p:spPr>
          <a:xfrm>
            <a:off x="7600950" y="15344775"/>
            <a:ext cx="118110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100" b="0" i="0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>3月</a:t>
            </a:r>
          </a:p>
        </p:txBody>
      </p:sp>
      <p:sp>
        <p:nvSpPr>
          <p:cNvPr id="43" name="bar-04"/>
          <p:cNvSpPr/>
          <p:nvPr/>
        </p:nvSpPr>
        <p:spPr>
          <a:xfrm>
            <a:off x="9782175" y="13600271"/>
            <a:ext cx="1009650" cy="1496854"/>
          </a:xfrm>
          <a:prstGeom prst="rect">
            <a:avLst/>
          </a:prstGeom>
          <a:gradFill rotWithShape="1">
            <a:gsLst>
              <a:gs pos="0">
                <a:srgbClr val="91C099"/>
              </a:gs>
              <a:gs pos="100000">
                <a:srgbClr val="4F8A55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bar-04-val"/>
          <p:cNvSpPr txBox="1"/>
          <p:nvPr/>
        </p:nvSpPr>
        <p:spPr>
          <a:xfrm>
            <a:off x="9705975" y="14120098"/>
            <a:ext cx="116205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70%</a:t>
            </a:r>
          </a:p>
        </p:txBody>
      </p:sp>
      <p:sp>
        <p:nvSpPr>
          <p:cNvPr id="45" name="month-4"/>
          <p:cNvSpPr txBox="1"/>
          <p:nvPr/>
        </p:nvSpPr>
        <p:spPr>
          <a:xfrm>
            <a:off x="9696450" y="15344775"/>
            <a:ext cx="118110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100" b="0" i="0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>4月</a:t>
            </a:r>
          </a:p>
        </p:txBody>
      </p:sp>
      <p:sp>
        <p:nvSpPr>
          <p:cNvPr id="46" name="bar-05"/>
          <p:cNvSpPr/>
          <p:nvPr/>
        </p:nvSpPr>
        <p:spPr>
          <a:xfrm>
            <a:off x="11877675" y="10820400"/>
            <a:ext cx="1009650" cy="4276725"/>
          </a:xfrm>
          <a:prstGeom prst="rect">
            <a:avLst/>
          </a:prstGeom>
          <a:solidFill>
            <a:srgbClr val="518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bar-05-val"/>
          <p:cNvSpPr txBox="1"/>
          <p:nvPr/>
        </p:nvSpPr>
        <p:spPr>
          <a:xfrm>
            <a:off x="11801475" y="12730162"/>
            <a:ext cx="116205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200%</a:t>
            </a:r>
          </a:p>
        </p:txBody>
      </p:sp>
      <p:sp>
        <p:nvSpPr>
          <p:cNvPr id="48" name="month-5"/>
          <p:cNvSpPr txBox="1"/>
          <p:nvPr/>
        </p:nvSpPr>
        <p:spPr>
          <a:xfrm>
            <a:off x="11791950" y="15344775"/>
            <a:ext cx="118110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100" b="0" i="0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>5月</a:t>
            </a:r>
          </a:p>
        </p:txBody>
      </p:sp>
      <p:sp>
        <p:nvSpPr>
          <p:cNvPr id="49" name="bar-06"/>
          <p:cNvSpPr/>
          <p:nvPr/>
        </p:nvSpPr>
        <p:spPr>
          <a:xfrm>
            <a:off x="13973175" y="14027944"/>
            <a:ext cx="1009650" cy="1069181"/>
          </a:xfrm>
          <a:prstGeom prst="rect">
            <a:avLst/>
          </a:prstGeom>
          <a:gradFill rotWithShape="1">
            <a:gsLst>
              <a:gs pos="0">
                <a:srgbClr val="91C099"/>
              </a:gs>
              <a:gs pos="100000">
                <a:srgbClr val="4F8A55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bar-06-val"/>
          <p:cNvSpPr txBox="1"/>
          <p:nvPr/>
        </p:nvSpPr>
        <p:spPr>
          <a:xfrm>
            <a:off x="13896975" y="14333934"/>
            <a:ext cx="116205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50%</a:t>
            </a:r>
          </a:p>
        </p:txBody>
      </p:sp>
      <p:sp>
        <p:nvSpPr>
          <p:cNvPr id="51" name="month-6"/>
          <p:cNvSpPr txBox="1"/>
          <p:nvPr/>
        </p:nvSpPr>
        <p:spPr>
          <a:xfrm>
            <a:off x="13887450" y="15344775"/>
            <a:ext cx="118110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100" b="0" i="0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>6月</a:t>
            </a:r>
          </a:p>
        </p:txBody>
      </p:sp>
      <p:sp>
        <p:nvSpPr>
          <p:cNvPr id="52" name="bar-07"/>
          <p:cNvSpPr/>
          <p:nvPr/>
        </p:nvSpPr>
        <p:spPr>
          <a:xfrm>
            <a:off x="16068675" y="12958762"/>
            <a:ext cx="1009650" cy="2138362"/>
          </a:xfrm>
          <a:prstGeom prst="rect">
            <a:avLst/>
          </a:prstGeom>
          <a:gradFill rotWithShape="1">
            <a:gsLst>
              <a:gs pos="0">
                <a:srgbClr val="91C099"/>
              </a:gs>
              <a:gs pos="100000">
                <a:srgbClr val="4F8A55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bar-07-val"/>
          <p:cNvSpPr txBox="1"/>
          <p:nvPr/>
        </p:nvSpPr>
        <p:spPr>
          <a:xfrm>
            <a:off x="15992475" y="13799344"/>
            <a:ext cx="116205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100%</a:t>
            </a:r>
          </a:p>
        </p:txBody>
      </p:sp>
      <p:sp>
        <p:nvSpPr>
          <p:cNvPr id="54" name="month-7"/>
          <p:cNvSpPr txBox="1"/>
          <p:nvPr/>
        </p:nvSpPr>
        <p:spPr>
          <a:xfrm>
            <a:off x="15982950" y="15344775"/>
            <a:ext cx="118110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100" b="0" i="0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>7月</a:t>
            </a:r>
          </a:p>
        </p:txBody>
      </p:sp>
      <p:sp>
        <p:nvSpPr>
          <p:cNvPr id="55" name="bar-08"/>
          <p:cNvSpPr/>
          <p:nvPr/>
        </p:nvSpPr>
        <p:spPr>
          <a:xfrm>
            <a:off x="18164175" y="14348698"/>
            <a:ext cx="1009650" cy="748427"/>
          </a:xfrm>
          <a:prstGeom prst="rect">
            <a:avLst/>
          </a:prstGeom>
          <a:gradFill rotWithShape="1">
            <a:gsLst>
              <a:gs pos="0">
                <a:srgbClr val="91C099"/>
              </a:gs>
              <a:gs pos="100000">
                <a:srgbClr val="4F8A55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bar-08-val"/>
          <p:cNvSpPr txBox="1"/>
          <p:nvPr/>
        </p:nvSpPr>
        <p:spPr>
          <a:xfrm>
            <a:off x="18087975" y="14494312"/>
            <a:ext cx="116205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35%</a:t>
            </a:r>
          </a:p>
        </p:txBody>
      </p:sp>
      <p:sp>
        <p:nvSpPr>
          <p:cNvPr id="57" name="month-8"/>
          <p:cNvSpPr txBox="1"/>
          <p:nvPr/>
        </p:nvSpPr>
        <p:spPr>
          <a:xfrm>
            <a:off x="18078450" y="15344775"/>
            <a:ext cx="118110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100" b="0" i="0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>8月</a:t>
            </a:r>
          </a:p>
        </p:txBody>
      </p:sp>
      <p:sp>
        <p:nvSpPr>
          <p:cNvPr id="58" name="bar-09"/>
          <p:cNvSpPr/>
          <p:nvPr/>
        </p:nvSpPr>
        <p:spPr>
          <a:xfrm>
            <a:off x="20259675" y="13814108"/>
            <a:ext cx="1009650" cy="1283018"/>
          </a:xfrm>
          <a:prstGeom prst="rect">
            <a:avLst/>
          </a:prstGeom>
          <a:gradFill rotWithShape="1">
            <a:gsLst>
              <a:gs pos="0">
                <a:srgbClr val="91C099"/>
              </a:gs>
              <a:gs pos="100000">
                <a:srgbClr val="4F8A55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bar-09-val"/>
          <p:cNvSpPr txBox="1"/>
          <p:nvPr/>
        </p:nvSpPr>
        <p:spPr>
          <a:xfrm>
            <a:off x="20183475" y="14227016"/>
            <a:ext cx="116205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60%</a:t>
            </a:r>
          </a:p>
        </p:txBody>
      </p:sp>
      <p:sp>
        <p:nvSpPr>
          <p:cNvPr id="60" name="month-9"/>
          <p:cNvSpPr txBox="1"/>
          <p:nvPr/>
        </p:nvSpPr>
        <p:spPr>
          <a:xfrm>
            <a:off x="20173950" y="15344775"/>
            <a:ext cx="118110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100" b="0" i="0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>9月</a:t>
            </a:r>
          </a:p>
        </p:txBody>
      </p:sp>
      <p:sp>
        <p:nvSpPr>
          <p:cNvPr id="61" name="bar-10"/>
          <p:cNvSpPr/>
          <p:nvPr/>
        </p:nvSpPr>
        <p:spPr>
          <a:xfrm>
            <a:off x="22355175" y="11675745"/>
            <a:ext cx="1009650" cy="3421380"/>
          </a:xfrm>
          <a:prstGeom prst="rect">
            <a:avLst/>
          </a:prstGeom>
          <a:gradFill rotWithShape="1">
            <a:gsLst>
              <a:gs pos="0">
                <a:srgbClr val="91C099"/>
              </a:gs>
              <a:gs pos="100000">
                <a:srgbClr val="4F8A55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bar-10-val"/>
          <p:cNvSpPr txBox="1"/>
          <p:nvPr/>
        </p:nvSpPr>
        <p:spPr>
          <a:xfrm>
            <a:off x="22278975" y="13157835"/>
            <a:ext cx="116205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160%</a:t>
            </a:r>
          </a:p>
        </p:txBody>
      </p:sp>
      <p:sp>
        <p:nvSpPr>
          <p:cNvPr id="63" name="month-10"/>
          <p:cNvSpPr txBox="1"/>
          <p:nvPr/>
        </p:nvSpPr>
        <p:spPr>
          <a:xfrm>
            <a:off x="22269450" y="15344775"/>
            <a:ext cx="118110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100" b="0" i="0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>10月</a:t>
            </a:r>
          </a:p>
        </p:txBody>
      </p:sp>
      <p:sp>
        <p:nvSpPr>
          <p:cNvPr id="64" name="bar-11"/>
          <p:cNvSpPr/>
          <p:nvPr/>
        </p:nvSpPr>
        <p:spPr>
          <a:xfrm>
            <a:off x="24450675" y="13386435"/>
            <a:ext cx="1009650" cy="1710690"/>
          </a:xfrm>
          <a:prstGeom prst="rect">
            <a:avLst/>
          </a:prstGeom>
          <a:gradFill rotWithShape="1">
            <a:gsLst>
              <a:gs pos="0">
                <a:srgbClr val="91C099"/>
              </a:gs>
              <a:gs pos="100000">
                <a:srgbClr val="4F8A55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bar-11-val"/>
          <p:cNvSpPr txBox="1"/>
          <p:nvPr/>
        </p:nvSpPr>
        <p:spPr>
          <a:xfrm>
            <a:off x="24374475" y="14013180"/>
            <a:ext cx="116205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80%</a:t>
            </a:r>
          </a:p>
        </p:txBody>
      </p:sp>
      <p:sp>
        <p:nvSpPr>
          <p:cNvPr id="66" name="month-11"/>
          <p:cNvSpPr txBox="1"/>
          <p:nvPr/>
        </p:nvSpPr>
        <p:spPr>
          <a:xfrm>
            <a:off x="24364950" y="15344775"/>
            <a:ext cx="118110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100" b="0" i="0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>11月</a:t>
            </a:r>
          </a:p>
        </p:txBody>
      </p:sp>
      <p:sp>
        <p:nvSpPr>
          <p:cNvPr id="67" name="bar-12"/>
          <p:cNvSpPr/>
          <p:nvPr/>
        </p:nvSpPr>
        <p:spPr>
          <a:xfrm>
            <a:off x="26546175" y="12531090"/>
            <a:ext cx="1009650" cy="2566035"/>
          </a:xfrm>
          <a:prstGeom prst="rect">
            <a:avLst/>
          </a:prstGeom>
          <a:gradFill rotWithShape="1">
            <a:gsLst>
              <a:gs pos="0">
                <a:srgbClr val="91C099"/>
              </a:gs>
              <a:gs pos="100000">
                <a:srgbClr val="4F8A55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bar-12-val"/>
          <p:cNvSpPr txBox="1"/>
          <p:nvPr/>
        </p:nvSpPr>
        <p:spPr>
          <a:xfrm>
            <a:off x="26469975" y="13585508"/>
            <a:ext cx="116205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120%</a:t>
            </a:r>
          </a:p>
        </p:txBody>
      </p:sp>
      <p:sp>
        <p:nvSpPr>
          <p:cNvPr id="69" name="month-12"/>
          <p:cNvSpPr txBox="1"/>
          <p:nvPr/>
        </p:nvSpPr>
        <p:spPr>
          <a:xfrm>
            <a:off x="26460450" y="15344775"/>
            <a:ext cx="118110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100" b="0" i="0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>12月</a:t>
            </a:r>
          </a:p>
        </p:txBody>
      </p:sp>
      <p:sp>
        <p:nvSpPr>
          <p:cNvPr id="70" name="tick-0"/>
          <p:cNvSpPr txBox="1"/>
          <p:nvPr/>
        </p:nvSpPr>
        <p:spPr>
          <a:xfrm>
            <a:off x="1762125" y="14878050"/>
            <a:ext cx="866775" cy="4381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550" b="0" i="0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>0%</a:t>
            </a:r>
          </a:p>
        </p:txBody>
      </p:sp>
      <p:sp>
        <p:nvSpPr>
          <p:cNvPr id="71" name="tick-50"/>
          <p:cNvSpPr txBox="1"/>
          <p:nvPr/>
        </p:nvSpPr>
        <p:spPr>
          <a:xfrm>
            <a:off x="1762125" y="13808869"/>
            <a:ext cx="866775" cy="4381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550" b="0" i="0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>50%</a:t>
            </a:r>
          </a:p>
        </p:txBody>
      </p:sp>
      <p:sp>
        <p:nvSpPr>
          <p:cNvPr id="72" name="tick-100"/>
          <p:cNvSpPr txBox="1"/>
          <p:nvPr/>
        </p:nvSpPr>
        <p:spPr>
          <a:xfrm>
            <a:off x="1762125" y="12739688"/>
            <a:ext cx="866775" cy="4381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550" b="0" i="0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>100%</a:t>
            </a:r>
          </a:p>
        </p:txBody>
      </p:sp>
      <p:sp>
        <p:nvSpPr>
          <p:cNvPr id="73" name="tick-150"/>
          <p:cNvSpPr txBox="1"/>
          <p:nvPr/>
        </p:nvSpPr>
        <p:spPr>
          <a:xfrm>
            <a:off x="1762125" y="11670506"/>
            <a:ext cx="866775" cy="4381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550" b="0" i="0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>150%</a:t>
            </a:r>
          </a:p>
        </p:txBody>
      </p:sp>
      <p:sp>
        <p:nvSpPr>
          <p:cNvPr id="74" name="tick-200"/>
          <p:cNvSpPr txBox="1"/>
          <p:nvPr/>
        </p:nvSpPr>
        <p:spPr>
          <a:xfrm>
            <a:off x="1762125" y="10601325"/>
            <a:ext cx="866775" cy="4381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550" b="0" i="0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>200%</a:t>
            </a:r>
          </a:p>
        </p:txBody>
      </p:sp>
      <p:sp>
        <p:nvSpPr>
          <p:cNvPr id="75" name="tick-250"/>
          <p:cNvSpPr txBox="1"/>
          <p:nvPr/>
        </p:nvSpPr>
        <p:spPr>
          <a:xfrm>
            <a:off x="1762125" y="9532144"/>
            <a:ext cx="866775" cy="4381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550" b="0" i="0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>250%</a:t>
            </a:r>
          </a:p>
        </p:txBody>
      </p:sp>
      <p:sp>
        <p:nvSpPr>
          <p:cNvPr id="76" name="bottom-rule"/>
          <p:cNvSpPr/>
          <p:nvPr/>
        </p:nvSpPr>
        <p:spPr>
          <a:xfrm>
            <a:off x="1323975" y="16497300"/>
            <a:ext cx="28460700" cy="28575"/>
          </a:xfrm>
          <a:prstGeom prst="rect">
            <a:avLst/>
          </a:prstGeom>
          <a:solidFill>
            <a:srgbClr val="607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