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hdr-icon-circle"/>
          <p:cNvSpPr/>
          <p:nvPr/>
        </p:nvSpPr>
        <p:spPr>
          <a:xfrm>
            <a:off x="1257300" y="609600"/>
            <a:ext cx="876300" cy="876300"/>
          </a:xfrm>
          <a:prstGeom prst="ellipse">
            <a:avLst/>
          </a:prstGeom>
          <a:solidFill>
            <a:srgbClr val="FFFFFF"/>
          </a:solidFill>
          <a:ln w="8572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hdr-icon-check"/>
          <p:cNvSpPr/>
          <p:nvPr/>
        </p:nvSpPr>
        <p:spPr>
          <a:xfrm>
            <a:off x="1428750" y="666750"/>
            <a:ext cx="790575" cy="571500"/>
          </a:xfrm>
          <a:custGeom>
            <a:avLst/>
            <a:gdLst/>
            <a:ahLst/>
            <a:cxnLst/>
            <a:rect l="l" t="t" r="r" b="b"/>
            <a:pathLst>
              <a:path w="790575" h="571500">
                <a:moveTo>
                  <a:pt x="0" y="295275"/>
                </a:moveTo>
                <a:lnTo>
                  <a:pt x="247650" y="571500"/>
                </a:lnTo>
                <a:lnTo>
                  <a:pt x="790575" y="0"/>
                </a:lnTo>
              </a:path>
            </a:pathLst>
          </a:custGeom>
          <a:noFill/>
          <a:ln w="8572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676525" y="542925"/>
            <a:ext cx="94297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4C8254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6" name="hdr-tag"/>
          <p:cNvSpPr/>
          <p:nvPr/>
        </p:nvSpPr>
        <p:spPr>
          <a:xfrm>
            <a:off x="25307925" y="609600"/>
            <a:ext cx="4305300" cy="885825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hdr-tag-text"/>
          <p:cNvSpPr txBox="1"/>
          <p:nvPr/>
        </p:nvSpPr>
        <p:spPr>
          <a:xfrm>
            <a:off x="24955500" y="609600"/>
            <a:ext cx="430530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8" name="hdr-divider"/>
          <p:cNvSpPr/>
          <p:nvPr/>
        </p:nvSpPr>
        <p:spPr>
          <a:xfrm>
            <a:off x="1143000" y="1762125"/>
            <a:ext cx="28470225" cy="114300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unnel-body-left"/>
          <p:cNvSpPr/>
          <p:nvPr/>
        </p:nvSpPr>
        <p:spPr>
          <a:xfrm>
            <a:off x="1457325" y="3590925"/>
            <a:ext cx="5876925" cy="11649075"/>
          </a:xfrm>
          <a:custGeom>
            <a:avLst/>
            <a:gdLst/>
            <a:ahLst/>
            <a:cxnLst/>
            <a:rect l="l" t="t" r="r" b="b"/>
            <a:pathLst>
              <a:path w="5876925" h="11649075">
                <a:moveTo>
                  <a:pt x="0" y="1400175"/>
                </a:moveTo>
                <a:lnTo>
                  <a:pt x="214313" y="2179320"/>
                </a:lnTo>
                <a:lnTo>
                  <a:pt x="428625" y="2957513"/>
                </a:lnTo>
                <a:lnTo>
                  <a:pt x="642937" y="3735705"/>
                </a:lnTo>
                <a:lnTo>
                  <a:pt x="857250" y="4514850"/>
                </a:lnTo>
                <a:lnTo>
                  <a:pt x="1071563" y="5293995"/>
                </a:lnTo>
                <a:lnTo>
                  <a:pt x="1285875" y="6072187"/>
                </a:lnTo>
                <a:lnTo>
                  <a:pt x="1500187" y="6850380"/>
                </a:lnTo>
                <a:lnTo>
                  <a:pt x="1714500" y="7629525"/>
                </a:lnTo>
                <a:lnTo>
                  <a:pt x="1928813" y="8408670"/>
                </a:lnTo>
                <a:lnTo>
                  <a:pt x="2143125" y="9186863"/>
                </a:lnTo>
                <a:lnTo>
                  <a:pt x="2357437" y="9965055"/>
                </a:lnTo>
                <a:lnTo>
                  <a:pt x="2571750" y="10744200"/>
                </a:lnTo>
                <a:lnTo>
                  <a:pt x="2584133" y="10823257"/>
                </a:lnTo>
                <a:lnTo>
                  <a:pt x="2622233" y="10901363"/>
                </a:lnTo>
                <a:lnTo>
                  <a:pt x="2684145" y="10978515"/>
                </a:lnTo>
                <a:lnTo>
                  <a:pt x="2770823" y="11053763"/>
                </a:lnTo>
                <a:lnTo>
                  <a:pt x="2881313" y="11126153"/>
                </a:lnTo>
                <a:lnTo>
                  <a:pt x="3014663" y="11196637"/>
                </a:lnTo>
                <a:lnTo>
                  <a:pt x="3169920" y="11263313"/>
                </a:lnTo>
                <a:lnTo>
                  <a:pt x="3345180" y="11326177"/>
                </a:lnTo>
                <a:lnTo>
                  <a:pt x="3539490" y="11384280"/>
                </a:lnTo>
                <a:lnTo>
                  <a:pt x="3752850" y="11437620"/>
                </a:lnTo>
                <a:lnTo>
                  <a:pt x="3981450" y="11485245"/>
                </a:lnTo>
                <a:lnTo>
                  <a:pt x="4224337" y="11528107"/>
                </a:lnTo>
                <a:lnTo>
                  <a:pt x="4480560" y="11564303"/>
                </a:lnTo>
                <a:lnTo>
                  <a:pt x="4746307" y="11594783"/>
                </a:lnTo>
                <a:lnTo>
                  <a:pt x="5021580" y="11618595"/>
                </a:lnTo>
                <a:lnTo>
                  <a:pt x="5302567" y="11635740"/>
                </a:lnTo>
                <a:lnTo>
                  <a:pt x="5589270" y="11645265"/>
                </a:lnTo>
                <a:lnTo>
                  <a:pt x="5876925" y="11649075"/>
                </a:lnTo>
                <a:lnTo>
                  <a:pt x="5876925" y="0"/>
                </a:lnTo>
                <a:lnTo>
                  <a:pt x="5364480" y="5715"/>
                </a:lnTo>
                <a:lnTo>
                  <a:pt x="4856797" y="20955"/>
                </a:lnTo>
                <a:lnTo>
                  <a:pt x="4355783" y="47625"/>
                </a:lnTo>
                <a:lnTo>
                  <a:pt x="3867150" y="84773"/>
                </a:lnTo>
                <a:lnTo>
                  <a:pt x="3392805" y="131445"/>
                </a:lnTo>
                <a:lnTo>
                  <a:pt x="2938463" y="187643"/>
                </a:lnTo>
                <a:lnTo>
                  <a:pt x="2506027" y="253365"/>
                </a:lnTo>
                <a:lnTo>
                  <a:pt x="2099310" y="327660"/>
                </a:lnTo>
                <a:lnTo>
                  <a:pt x="1721167" y="410527"/>
                </a:lnTo>
                <a:lnTo>
                  <a:pt x="1375410" y="500063"/>
                </a:lnTo>
                <a:lnTo>
                  <a:pt x="1062990" y="597217"/>
                </a:lnTo>
                <a:lnTo>
                  <a:pt x="787717" y="700087"/>
                </a:lnTo>
                <a:lnTo>
                  <a:pt x="550545" y="808673"/>
                </a:lnTo>
                <a:lnTo>
                  <a:pt x="354330" y="921067"/>
                </a:lnTo>
                <a:lnTo>
                  <a:pt x="200025" y="1038225"/>
                </a:lnTo>
                <a:lnTo>
                  <a:pt x="89535" y="1157287"/>
                </a:lnTo>
                <a:lnTo>
                  <a:pt x="21907" y="1278255"/>
                </a:lnTo>
                <a:lnTo>
                  <a:pt x="0" y="1400175"/>
                </a:lnTo>
                <a:close/>
              </a:path>
            </a:pathLst>
          </a:custGeom>
          <a:gradFill rotWithShape="1">
            <a:gsLst>
              <a:gs pos="0">
                <a:srgbClr val="78A17C"/>
              </a:gs>
              <a:gs pos="100000">
                <a:srgbClr val="DBE9DC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unnel-body-right"/>
          <p:cNvSpPr/>
          <p:nvPr/>
        </p:nvSpPr>
        <p:spPr>
          <a:xfrm>
            <a:off x="7334250" y="3590925"/>
            <a:ext cx="5876925" cy="11649075"/>
          </a:xfrm>
          <a:custGeom>
            <a:avLst/>
            <a:gdLst/>
            <a:ahLst/>
            <a:cxnLst/>
            <a:rect l="l" t="t" r="r" b="b"/>
            <a:pathLst>
              <a:path w="5876925" h="11649075">
                <a:moveTo>
                  <a:pt x="0" y="0"/>
                </a:moveTo>
                <a:lnTo>
                  <a:pt x="512445" y="5715"/>
                </a:lnTo>
                <a:lnTo>
                  <a:pt x="1020128" y="20955"/>
                </a:lnTo>
                <a:lnTo>
                  <a:pt x="1521142" y="47625"/>
                </a:lnTo>
                <a:lnTo>
                  <a:pt x="2009775" y="84773"/>
                </a:lnTo>
                <a:lnTo>
                  <a:pt x="2484120" y="131445"/>
                </a:lnTo>
                <a:lnTo>
                  <a:pt x="2938462" y="187643"/>
                </a:lnTo>
                <a:lnTo>
                  <a:pt x="3370898" y="253365"/>
                </a:lnTo>
                <a:lnTo>
                  <a:pt x="3777615" y="327660"/>
                </a:lnTo>
                <a:lnTo>
                  <a:pt x="4155758" y="410527"/>
                </a:lnTo>
                <a:lnTo>
                  <a:pt x="4501515" y="500063"/>
                </a:lnTo>
                <a:lnTo>
                  <a:pt x="4813935" y="597217"/>
                </a:lnTo>
                <a:lnTo>
                  <a:pt x="5089208" y="700087"/>
                </a:lnTo>
                <a:lnTo>
                  <a:pt x="5326380" y="808673"/>
                </a:lnTo>
                <a:lnTo>
                  <a:pt x="5522595" y="921067"/>
                </a:lnTo>
                <a:lnTo>
                  <a:pt x="5676900" y="1038225"/>
                </a:lnTo>
                <a:lnTo>
                  <a:pt x="5787390" y="1157287"/>
                </a:lnTo>
                <a:lnTo>
                  <a:pt x="5855018" y="1278255"/>
                </a:lnTo>
                <a:lnTo>
                  <a:pt x="5876925" y="1400175"/>
                </a:lnTo>
                <a:lnTo>
                  <a:pt x="5867400" y="1400175"/>
                </a:lnTo>
                <a:lnTo>
                  <a:pt x="5654992" y="2179320"/>
                </a:lnTo>
                <a:lnTo>
                  <a:pt x="5441632" y="2957513"/>
                </a:lnTo>
                <a:lnTo>
                  <a:pt x="5229225" y="3735705"/>
                </a:lnTo>
                <a:lnTo>
                  <a:pt x="5016818" y="4514850"/>
                </a:lnTo>
                <a:lnTo>
                  <a:pt x="4803458" y="5293995"/>
                </a:lnTo>
                <a:lnTo>
                  <a:pt x="4591050" y="6072187"/>
                </a:lnTo>
                <a:lnTo>
                  <a:pt x="4378642" y="6850380"/>
                </a:lnTo>
                <a:lnTo>
                  <a:pt x="4165282" y="7629525"/>
                </a:lnTo>
                <a:lnTo>
                  <a:pt x="3952875" y="8408670"/>
                </a:lnTo>
                <a:lnTo>
                  <a:pt x="3740468" y="9186863"/>
                </a:lnTo>
                <a:lnTo>
                  <a:pt x="3527108" y="9965055"/>
                </a:lnTo>
                <a:lnTo>
                  <a:pt x="3314700" y="10744200"/>
                </a:lnTo>
                <a:lnTo>
                  <a:pt x="3292792" y="10823257"/>
                </a:lnTo>
                <a:lnTo>
                  <a:pt x="3254692" y="10901363"/>
                </a:lnTo>
                <a:lnTo>
                  <a:pt x="3192780" y="10978515"/>
                </a:lnTo>
                <a:lnTo>
                  <a:pt x="3106102" y="11053763"/>
                </a:lnTo>
                <a:lnTo>
                  <a:pt x="2995612" y="11126153"/>
                </a:lnTo>
                <a:lnTo>
                  <a:pt x="2862262" y="11196637"/>
                </a:lnTo>
                <a:lnTo>
                  <a:pt x="2707005" y="11263313"/>
                </a:lnTo>
                <a:lnTo>
                  <a:pt x="2531745" y="11326177"/>
                </a:lnTo>
                <a:lnTo>
                  <a:pt x="2337435" y="11384280"/>
                </a:lnTo>
                <a:lnTo>
                  <a:pt x="2124075" y="11437620"/>
                </a:lnTo>
                <a:lnTo>
                  <a:pt x="1895475" y="11485245"/>
                </a:lnTo>
                <a:lnTo>
                  <a:pt x="1652588" y="11528107"/>
                </a:lnTo>
                <a:lnTo>
                  <a:pt x="1396365" y="11564303"/>
                </a:lnTo>
                <a:lnTo>
                  <a:pt x="1130618" y="11594783"/>
                </a:lnTo>
                <a:lnTo>
                  <a:pt x="855345" y="11618595"/>
                </a:lnTo>
                <a:lnTo>
                  <a:pt x="574358" y="11635740"/>
                </a:lnTo>
                <a:lnTo>
                  <a:pt x="287655" y="11645265"/>
                </a:lnTo>
                <a:lnTo>
                  <a:pt x="0" y="11649075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DBE9DC"/>
              </a:gs>
              <a:gs pos="100000">
                <a:srgbClr val="78A17C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unnel-left-edge"/>
          <p:cNvSpPr/>
          <p:nvPr/>
        </p:nvSpPr>
        <p:spPr>
          <a:xfrm>
            <a:off x="1457325" y="4991100"/>
            <a:ext cx="2571750" cy="9344025"/>
          </a:xfrm>
          <a:custGeom>
            <a:avLst/>
            <a:gdLst/>
            <a:ahLst/>
            <a:cxnLst/>
            <a:rect l="l" t="t" r="r" b="b"/>
            <a:pathLst>
              <a:path w="2571750" h="9344025">
                <a:moveTo>
                  <a:pt x="0" y="0"/>
                </a:moveTo>
                <a:lnTo>
                  <a:pt x="2571750" y="9344025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unnel-right-edge"/>
          <p:cNvSpPr/>
          <p:nvPr/>
        </p:nvSpPr>
        <p:spPr>
          <a:xfrm>
            <a:off x="10648950" y="4991100"/>
            <a:ext cx="2552700" cy="9344025"/>
          </a:xfrm>
          <a:custGeom>
            <a:avLst/>
            <a:gdLst/>
            <a:ahLst/>
            <a:cxnLst/>
            <a:rect l="l" t="t" r="r" b="b"/>
            <a:pathLst>
              <a:path w="2552700" h="9344025">
                <a:moveTo>
                  <a:pt x="2552700" y="0"/>
                </a:moveTo>
                <a:lnTo>
                  <a:pt x="0" y="9344025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unnel-rim-mid"/>
          <p:cNvSpPr/>
          <p:nvPr/>
        </p:nvSpPr>
        <p:spPr>
          <a:xfrm>
            <a:off x="2819400" y="8667750"/>
            <a:ext cx="9029700" cy="2419350"/>
          </a:xfrm>
          <a:prstGeom prst="ellipse">
            <a:avLst/>
          </a:prstGeom>
          <a:solidFill>
            <a:srgbClr val="DBE9DC"/>
          </a:solidFill>
          <a:ln w="2857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unnel-tip"/>
          <p:cNvSpPr/>
          <p:nvPr/>
        </p:nvSpPr>
        <p:spPr>
          <a:xfrm>
            <a:off x="4029075" y="13430250"/>
            <a:ext cx="6610350" cy="1809750"/>
          </a:xfrm>
          <a:prstGeom prst="ellipse">
            <a:avLst/>
          </a:prstGeom>
          <a:solidFill>
            <a:srgbClr val="DBE9DC"/>
          </a:solidFill>
          <a:ln w="2857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unnel-mouth"/>
          <p:cNvSpPr/>
          <p:nvPr/>
        </p:nvSpPr>
        <p:spPr>
          <a:xfrm>
            <a:off x="1457325" y="3590925"/>
            <a:ext cx="11753850" cy="2800350"/>
          </a:xfrm>
          <a:prstGeom prst="ellipse">
            <a:avLst/>
          </a:prstGeom>
          <a:solidFill>
            <a:srgbClr val="DBE9DC"/>
          </a:solidFill>
          <a:ln w="28575">
            <a:solidFill>
              <a:srgbClr val="4C82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unnel-label-01"/>
          <p:cNvSpPr txBox="1"/>
          <p:nvPr/>
        </p:nvSpPr>
        <p:spPr>
          <a:xfrm>
            <a:off x="5391150" y="4610100"/>
            <a:ext cx="44196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相关情况描述01</a:t>
            </a:r>
          </a:p>
        </p:txBody>
      </p:sp>
      <p:sp>
        <p:nvSpPr>
          <p:cNvPr id="17" name="funnel-label-02"/>
          <p:cNvSpPr txBox="1"/>
          <p:nvPr/>
        </p:nvSpPr>
        <p:spPr>
          <a:xfrm>
            <a:off x="5372100" y="9515475"/>
            <a:ext cx="44196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相关情况描述02</a:t>
            </a:r>
          </a:p>
        </p:txBody>
      </p:sp>
      <p:sp>
        <p:nvSpPr>
          <p:cNvPr id="18" name="funnel-label-03"/>
          <p:cNvSpPr txBox="1"/>
          <p:nvPr/>
        </p:nvSpPr>
        <p:spPr>
          <a:xfrm>
            <a:off x="5276850" y="13992225"/>
            <a:ext cx="44196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相关情况描述03</a:t>
            </a:r>
          </a:p>
        </p:txBody>
      </p:sp>
      <p:sp>
        <p:nvSpPr>
          <p:cNvPr id="19" name="bubble-body"/>
          <p:cNvSpPr/>
          <p:nvPr/>
        </p:nvSpPr>
        <p:spPr>
          <a:xfrm>
            <a:off x="6334125" y="6724650"/>
            <a:ext cx="4895850" cy="1581150"/>
          </a:xfrm>
          <a:prstGeom prst="roundRect">
            <a:avLst>
              <a:gd name="adj" fmla="val 14457"/>
            </a:avLst>
          </a:prstGeom>
          <a:solidFill>
            <a:srgbClr val="4E88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ubble-tail"/>
          <p:cNvSpPr/>
          <p:nvPr/>
        </p:nvSpPr>
        <p:spPr>
          <a:xfrm>
            <a:off x="7162800" y="8172450"/>
            <a:ext cx="1219200" cy="1047750"/>
          </a:xfrm>
          <a:custGeom>
            <a:avLst/>
            <a:gdLst/>
            <a:ahLst/>
            <a:cxnLst/>
            <a:rect l="l" t="t" r="r" b="b"/>
            <a:pathLst>
              <a:path w="1219200" h="1047750">
                <a:moveTo>
                  <a:pt x="0" y="0"/>
                </a:moveTo>
                <a:lnTo>
                  <a:pt x="1219200" y="0"/>
                </a:lnTo>
                <a:lnTo>
                  <a:pt x="1085850" y="1047750"/>
                </a:lnTo>
                <a:close/>
              </a:path>
            </a:pathLst>
          </a:custGeom>
          <a:solidFill>
            <a:srgbClr val="4E88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ubble-text"/>
          <p:cNvSpPr txBox="1"/>
          <p:nvPr/>
        </p:nvSpPr>
        <p:spPr>
          <a:xfrm>
            <a:off x="6610350" y="6724650"/>
            <a:ext cx="4305300" cy="1581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详细情况说明</a:t>
            </a:r>
          </a:p>
        </p:txBody>
      </p:sp>
      <p:cxnSp>
        <p:nvCxnSpPr>
          <p:cNvPr id="22" name="arrow-1"/>
          <p:cNvCxnSpPr/>
          <p:nvPr/>
        </p:nvCxnSpPr>
        <p:spPr>
          <a:xfrm>
            <a:off x="13220700" y="5076825"/>
            <a:ext cx="1847850" cy="0"/>
          </a:xfrm>
          <a:prstGeom prst="line">
            <a:avLst/>
          </a:prstGeom>
          <a:ln w="66675">
            <a:solidFill>
              <a:srgbClr val="15402A"/>
            </a:solidFill>
            <a:tailEnd type="triangle" w="med" len="med"/>
            <a:prstDash val="sysDot"/>
          </a:ln>
          <a:effectLst/>
        </p:spPr>
      </p:cxnSp>
      <p:cxnSp>
        <p:nvCxnSpPr>
          <p:cNvPr id="23" name="arrow-2"/>
          <p:cNvCxnSpPr/>
          <p:nvPr/>
        </p:nvCxnSpPr>
        <p:spPr>
          <a:xfrm>
            <a:off x="11763375" y="10048875"/>
            <a:ext cx="3286125" cy="0"/>
          </a:xfrm>
          <a:prstGeom prst="line">
            <a:avLst/>
          </a:prstGeom>
          <a:ln w="66675">
            <a:solidFill>
              <a:srgbClr val="15402A"/>
            </a:solidFill>
            <a:tailEnd type="triangle" w="med" len="med"/>
            <a:prstDash val="sysDot"/>
          </a:ln>
          <a:effectLst/>
        </p:spPr>
      </p:cxnSp>
      <p:cxnSp>
        <p:nvCxnSpPr>
          <p:cNvPr id="24" name="arrow-3"/>
          <p:cNvCxnSpPr/>
          <p:nvPr/>
        </p:nvCxnSpPr>
        <p:spPr>
          <a:xfrm>
            <a:off x="11458575" y="14335125"/>
            <a:ext cx="3600450" cy="0"/>
          </a:xfrm>
          <a:prstGeom prst="line">
            <a:avLst/>
          </a:prstGeom>
          <a:ln w="66675">
            <a:solidFill>
              <a:srgbClr val="15402A"/>
            </a:solidFill>
            <a:tailEnd type="triangle" w="med" len="med"/>
            <a:prstDash val="sysDot"/>
          </a:ln>
          <a:effectLst/>
        </p:spPr>
      </p:cxnSp>
      <p:grpSp>
        <p:nvGrpSpPr>
          <p:cNvPr id="56" name="panel-1"/>
          <p:cNvGrpSpPr/>
          <p:nvPr/>
        </p:nvGrpSpPr>
        <p:grpSpPr>
          <a:xfrm>
            <a:off x="15478125" y="3810000"/>
            <a:ext cx="13515975" cy="3248025"/>
            <a:chOff x="15478125" y="3810000"/>
            <a:chExt cx="13515975" cy="3248025"/>
          </a:xfrm>
        </p:grpSpPr>
        <p:sp>
          <p:nvSpPr>
            <p:cNvPr id="25" name="panel-1-bg"/>
            <p:cNvSpPr/>
            <p:nvPr/>
          </p:nvSpPr>
          <p:spPr>
            <a:xfrm>
              <a:off x="15478125" y="3810000"/>
              <a:ext cx="13515975" cy="2600325"/>
            </a:xfrm>
            <a:prstGeom prst="roundRect">
              <a:avLst>
                <a:gd name="adj" fmla="val 2197"/>
              </a:avLst>
            </a:prstGeom>
            <a:solidFill>
              <a:srgbClr val="FAFCFB"/>
            </a:solidFill>
            <a:ln w="28575">
              <a:solidFill>
                <a:srgbClr val="95AC9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panel-1-para1"/>
            <p:cNvSpPr txBox="1"/>
            <p:nvPr/>
          </p:nvSpPr>
          <p:spPr>
            <a:xfrm>
              <a:off x="15878175" y="4086225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</a:t>
              </a:r>
            </a:p>
          </p:txBody>
        </p:sp>
        <p:sp>
          <p:nvSpPr>
            <p:cNvPr id="27" name="panel-1-para2"/>
            <p:cNvSpPr txBox="1"/>
            <p:nvPr/>
          </p:nvSpPr>
          <p:spPr>
            <a:xfrm>
              <a:off x="15878175" y="4772025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日常出行以及阅读学习成为本年度销量的</a:t>
              </a:r>
            </a:p>
          </p:txBody>
        </p:sp>
        <p:sp>
          <p:nvSpPr>
            <p:cNvPr id="28" name="panel-1-para3"/>
            <p:cNvSpPr txBox="1"/>
            <p:nvPr/>
          </p:nvSpPr>
          <p:spPr>
            <a:xfrm>
              <a:off x="15878175" y="5467350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有力增长点。</a:t>
              </a:r>
            </a:p>
          </p:txBody>
        </p:sp>
        <p:sp>
          <p:nvSpPr>
            <p:cNvPr id="29" name="panel-1-pct-num"/>
            <p:cNvSpPr txBox="1"/>
            <p:nvPr/>
          </p:nvSpPr>
          <p:spPr>
            <a:xfrm>
              <a:off x="24641175" y="4019550"/>
              <a:ext cx="2714625" cy="2000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63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86</a:t>
              </a:r>
            </a:p>
          </p:txBody>
        </p:sp>
        <p:sp>
          <p:nvSpPr>
            <p:cNvPr id="30" name="panel-1-pct-sign"/>
            <p:cNvSpPr txBox="1"/>
            <p:nvPr/>
          </p:nvSpPr>
          <p:spPr>
            <a:xfrm>
              <a:off x="27108150" y="4867275"/>
              <a:ext cx="1143000" cy="1143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40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31" name="panel-1-deco-bar"/>
            <p:cNvSpPr/>
            <p:nvPr/>
          </p:nvSpPr>
          <p:spPr>
            <a:xfrm>
              <a:off x="15525750" y="6734175"/>
              <a:ext cx="3724275" cy="114300"/>
            </a:xfrm>
            <a:prstGeom prst="rect">
              <a:avLst/>
            </a:prstGeom>
            <a:solidFill>
              <a:srgbClr val="4E885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panel-1-deco-dots"/>
            <p:cNvCxnSpPr/>
            <p:nvPr/>
          </p:nvCxnSpPr>
          <p:spPr>
            <a:xfrm>
              <a:off x="19354800" y="6791325"/>
              <a:ext cx="9448800" cy="0"/>
            </a:xfrm>
            <a:prstGeom prst="line">
              <a:avLst/>
            </a:prstGeom>
            <a:ln w="38100">
              <a:solidFill>
                <a:srgbClr val="598161"/>
              </a:solidFill>
              <a:prstDash val="dash"/>
            </a:ln>
            <a:effectLst/>
          </p:spPr>
        </p:cxnSp>
        <p:sp>
          <p:nvSpPr>
            <p:cNvPr id="33" name="panel-1-deco-bar2"/>
            <p:cNvSpPr/>
            <p:nvPr/>
          </p:nvSpPr>
          <p:spPr>
            <a:xfrm>
              <a:off x="15782925" y="6943725"/>
              <a:ext cx="3619500" cy="114300"/>
            </a:xfrm>
            <a:prstGeom prst="rect">
              <a:avLst/>
            </a:prstGeom>
            <a:solidFill>
              <a:srgbClr val="4E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anel-2"/>
          <p:cNvGrpSpPr/>
          <p:nvPr/>
        </p:nvGrpSpPr>
        <p:grpSpPr>
          <a:xfrm>
            <a:off x="15478125" y="8305800"/>
            <a:ext cx="13515975" cy="3248025"/>
            <a:chOff x="15478125" y="8305800"/>
            <a:chExt cx="13515975" cy="3248025"/>
          </a:xfrm>
        </p:grpSpPr>
        <p:sp>
          <p:nvSpPr>
            <p:cNvPr id="34" name="panel-2-bg"/>
            <p:cNvSpPr/>
            <p:nvPr/>
          </p:nvSpPr>
          <p:spPr>
            <a:xfrm>
              <a:off x="15478125" y="8305800"/>
              <a:ext cx="13515975" cy="2600325"/>
            </a:xfrm>
            <a:prstGeom prst="roundRect">
              <a:avLst>
                <a:gd name="adj" fmla="val 2197"/>
              </a:avLst>
            </a:prstGeom>
            <a:solidFill>
              <a:srgbClr val="FAFCFB"/>
            </a:solidFill>
            <a:ln w="28575">
              <a:solidFill>
                <a:srgbClr val="95AC9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anel-2-para1"/>
            <p:cNvSpPr txBox="1"/>
            <p:nvPr/>
          </p:nvSpPr>
          <p:spPr>
            <a:xfrm>
              <a:off x="15878175" y="8724900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</a:t>
              </a:r>
            </a:p>
          </p:txBody>
        </p:sp>
        <p:sp>
          <p:nvSpPr>
            <p:cNvPr id="36" name="panel-2-para2"/>
            <p:cNvSpPr txBox="1"/>
            <p:nvPr/>
          </p:nvSpPr>
          <p:spPr>
            <a:xfrm>
              <a:off x="15878175" y="9410700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日常出行以及阅读学习成为本年度销量的</a:t>
              </a:r>
            </a:p>
          </p:txBody>
        </p:sp>
        <p:sp>
          <p:nvSpPr>
            <p:cNvPr id="37" name="panel-2-para3"/>
            <p:cNvSpPr txBox="1"/>
            <p:nvPr/>
          </p:nvSpPr>
          <p:spPr>
            <a:xfrm>
              <a:off x="15878175" y="10106025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有力增长点。</a:t>
              </a:r>
            </a:p>
          </p:txBody>
        </p:sp>
        <p:sp>
          <p:nvSpPr>
            <p:cNvPr id="38" name="panel-2-pct-num"/>
            <p:cNvSpPr txBox="1"/>
            <p:nvPr/>
          </p:nvSpPr>
          <p:spPr>
            <a:xfrm>
              <a:off x="24641175" y="8467725"/>
              <a:ext cx="2714625" cy="2000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63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36</a:t>
              </a:r>
            </a:p>
          </p:txBody>
        </p:sp>
        <p:sp>
          <p:nvSpPr>
            <p:cNvPr id="39" name="panel-2-pct-sign"/>
            <p:cNvSpPr txBox="1"/>
            <p:nvPr/>
          </p:nvSpPr>
          <p:spPr>
            <a:xfrm>
              <a:off x="27108150" y="9315450"/>
              <a:ext cx="1143000" cy="1143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40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40" name="panel-2-deco-bar"/>
            <p:cNvSpPr/>
            <p:nvPr/>
          </p:nvSpPr>
          <p:spPr>
            <a:xfrm>
              <a:off x="15525750" y="11229975"/>
              <a:ext cx="3724275" cy="114300"/>
            </a:xfrm>
            <a:prstGeom prst="rect">
              <a:avLst/>
            </a:prstGeom>
            <a:solidFill>
              <a:srgbClr val="4E885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panel-2-deco-dots"/>
            <p:cNvCxnSpPr/>
            <p:nvPr/>
          </p:nvCxnSpPr>
          <p:spPr>
            <a:xfrm>
              <a:off x="19354800" y="11287125"/>
              <a:ext cx="9448800" cy="0"/>
            </a:xfrm>
            <a:prstGeom prst="line">
              <a:avLst/>
            </a:prstGeom>
            <a:ln w="38100">
              <a:solidFill>
                <a:srgbClr val="598161"/>
              </a:solidFill>
              <a:prstDash val="dash"/>
            </a:ln>
            <a:effectLst/>
          </p:spPr>
        </p:cxnSp>
        <p:sp>
          <p:nvSpPr>
            <p:cNvPr id="42" name="panel-2-deco-bar2"/>
            <p:cNvSpPr/>
            <p:nvPr/>
          </p:nvSpPr>
          <p:spPr>
            <a:xfrm>
              <a:off x="15782925" y="11439525"/>
              <a:ext cx="3619500" cy="114300"/>
            </a:xfrm>
            <a:prstGeom prst="rect">
              <a:avLst/>
            </a:prstGeom>
            <a:solidFill>
              <a:srgbClr val="4E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" name="panel-3"/>
          <p:cNvGrpSpPr/>
          <p:nvPr/>
        </p:nvGrpSpPr>
        <p:grpSpPr>
          <a:xfrm>
            <a:off x="15478125" y="12496800"/>
            <a:ext cx="13515975" cy="3248025"/>
            <a:chOff x="15478125" y="12496800"/>
            <a:chExt cx="13515975" cy="3248025"/>
          </a:xfrm>
        </p:grpSpPr>
        <p:sp>
          <p:nvSpPr>
            <p:cNvPr id="43" name="panel-3-bg"/>
            <p:cNvSpPr/>
            <p:nvPr/>
          </p:nvSpPr>
          <p:spPr>
            <a:xfrm>
              <a:off x="15478125" y="12496800"/>
              <a:ext cx="13515975" cy="2600325"/>
            </a:xfrm>
            <a:prstGeom prst="roundRect">
              <a:avLst>
                <a:gd name="adj" fmla="val 2197"/>
              </a:avLst>
            </a:prstGeom>
            <a:solidFill>
              <a:srgbClr val="FAFCFB"/>
            </a:solidFill>
            <a:ln w="28575">
              <a:solidFill>
                <a:srgbClr val="95AC9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anel-3-para1"/>
            <p:cNvSpPr txBox="1"/>
            <p:nvPr/>
          </p:nvSpPr>
          <p:spPr>
            <a:xfrm>
              <a:off x="15878175" y="12773025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</a:t>
              </a:r>
            </a:p>
          </p:txBody>
        </p:sp>
        <p:sp>
          <p:nvSpPr>
            <p:cNvPr id="45" name="panel-3-para2"/>
            <p:cNvSpPr txBox="1"/>
            <p:nvPr/>
          </p:nvSpPr>
          <p:spPr>
            <a:xfrm>
              <a:off x="15878175" y="13458825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日常出行以及阅读学习成为本年度销量的</a:t>
              </a:r>
            </a:p>
          </p:txBody>
        </p:sp>
        <p:sp>
          <p:nvSpPr>
            <p:cNvPr id="46" name="panel-3-para3"/>
            <p:cNvSpPr txBox="1"/>
            <p:nvPr/>
          </p:nvSpPr>
          <p:spPr>
            <a:xfrm>
              <a:off x="15878175" y="14154150"/>
              <a:ext cx="84772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24242"/>
                  </a:solidFill>
                  <a:latin typeface="Microsoft YaHei"/>
                  <a:ea typeface="Microsoft YaHei"/>
                  <a:cs typeface="Microsoft YaHei"/>
                </a:rPr>
                <a:t>有力增长点。</a:t>
              </a:r>
            </a:p>
          </p:txBody>
        </p:sp>
        <p:sp>
          <p:nvSpPr>
            <p:cNvPr id="47" name="panel-3-pct-num"/>
            <p:cNvSpPr txBox="1"/>
            <p:nvPr/>
          </p:nvSpPr>
          <p:spPr>
            <a:xfrm>
              <a:off x="24641175" y="12687300"/>
              <a:ext cx="2714625" cy="2000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63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98</a:t>
              </a:r>
            </a:p>
          </p:txBody>
        </p:sp>
        <p:sp>
          <p:nvSpPr>
            <p:cNvPr id="48" name="panel-3-pct-sign"/>
            <p:cNvSpPr txBox="1"/>
            <p:nvPr/>
          </p:nvSpPr>
          <p:spPr>
            <a:xfrm>
              <a:off x="27108150" y="13535025"/>
              <a:ext cx="1143000" cy="1143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40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49" name="panel-3-deco-bar"/>
            <p:cNvSpPr/>
            <p:nvPr/>
          </p:nvSpPr>
          <p:spPr>
            <a:xfrm>
              <a:off x="15525750" y="15420975"/>
              <a:ext cx="3724275" cy="114300"/>
            </a:xfrm>
            <a:prstGeom prst="rect">
              <a:avLst/>
            </a:prstGeom>
            <a:solidFill>
              <a:srgbClr val="4E885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panel-3-deco-dots"/>
            <p:cNvCxnSpPr/>
            <p:nvPr/>
          </p:nvCxnSpPr>
          <p:spPr>
            <a:xfrm>
              <a:off x="19354800" y="15478125"/>
              <a:ext cx="9448800" cy="0"/>
            </a:xfrm>
            <a:prstGeom prst="line">
              <a:avLst/>
            </a:prstGeom>
            <a:ln w="38100">
              <a:solidFill>
                <a:srgbClr val="598161"/>
              </a:solidFill>
              <a:prstDash val="dash"/>
            </a:ln>
            <a:effectLst/>
          </p:spPr>
        </p:cxnSp>
        <p:sp>
          <p:nvSpPr>
            <p:cNvPr id="51" name="panel-3-deco-bar2"/>
            <p:cNvSpPr/>
            <p:nvPr/>
          </p:nvSpPr>
          <p:spPr>
            <a:xfrm>
              <a:off x="15782925" y="15630525"/>
              <a:ext cx="3619500" cy="114300"/>
            </a:xfrm>
            <a:prstGeom prst="rect">
              <a:avLst/>
            </a:prstGeom>
            <a:solidFill>
              <a:srgbClr val="4E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2" name="footer-line"/>
          <p:cNvSpPr/>
          <p:nvPr/>
        </p:nvSpPr>
        <p:spPr>
          <a:xfrm>
            <a:off x="1323975" y="16497300"/>
            <a:ext cx="28460700" cy="28575"/>
          </a:xfrm>
          <a:prstGeom prst="rect">
            <a:avLst/>
          </a:prstGeom>
          <a:solidFill>
            <a:srgbClr val="5981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