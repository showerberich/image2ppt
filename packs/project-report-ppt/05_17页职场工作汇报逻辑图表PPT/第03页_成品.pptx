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rule-bottom"/>
          <p:cNvCxnSpPr/>
          <p:nvPr/>
        </p:nvCxnSpPr>
        <p:spPr>
          <a:xfrm>
            <a:off x="1333500" y="16506825"/>
            <a:ext cx="28432125" cy="0"/>
          </a:xfrm>
          <a:prstGeom prst="line">
            <a:avLst/>
          </a:prstGeom>
          <a:ln w="38100">
            <a:solidFill>
              <a:srgbClr val="4E88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rule-divider"/>
          <p:cNvCxnSpPr/>
          <p:nvPr/>
        </p:nvCxnSpPr>
        <p:spPr>
          <a:xfrm>
            <a:off x="1143000" y="1819275"/>
            <a:ext cx="28460700" cy="0"/>
          </a:xfrm>
          <a:prstGeom prst="line">
            <a:avLst/>
          </a:prstGeom>
          <a:ln w="104775">
            <a:solidFill>
              <a:srgbClr val="4E88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c-ring"/>
          <p:cNvSpPr/>
          <p:nvPr/>
        </p:nvSpPr>
        <p:spPr>
          <a:xfrm>
            <a:off x="1257300" y="561975"/>
            <a:ext cx="970598" cy="971550"/>
          </a:xfrm>
          <a:custGeom>
            <a:avLst/>
            <a:gdLst/>
            <a:ahLst/>
            <a:cxnLst/>
            <a:rect l="l" t="t" r="r" b="b"/>
            <a:pathLst>
              <a:path w="970598" h="971550">
                <a:moveTo>
                  <a:pt x="691515" y="45720"/>
                </a:moveTo>
                <a:lnTo>
                  <a:pt x="638175" y="24765"/>
                </a:lnTo>
                <a:lnTo>
                  <a:pt x="581978" y="9525"/>
                </a:lnTo>
                <a:lnTo>
                  <a:pt x="525780" y="1905"/>
                </a:lnTo>
                <a:lnTo>
                  <a:pt x="467678" y="0"/>
                </a:lnTo>
                <a:lnTo>
                  <a:pt x="411480" y="5715"/>
                </a:lnTo>
                <a:lnTo>
                  <a:pt x="355282" y="18097"/>
                </a:lnTo>
                <a:lnTo>
                  <a:pt x="300990" y="36195"/>
                </a:lnTo>
                <a:lnTo>
                  <a:pt x="248602" y="61913"/>
                </a:lnTo>
                <a:lnTo>
                  <a:pt x="200978" y="92393"/>
                </a:lnTo>
                <a:lnTo>
                  <a:pt x="156210" y="128587"/>
                </a:lnTo>
                <a:lnTo>
                  <a:pt x="116205" y="170497"/>
                </a:lnTo>
                <a:lnTo>
                  <a:pt x="81915" y="216217"/>
                </a:lnTo>
                <a:lnTo>
                  <a:pt x="53340" y="265747"/>
                </a:lnTo>
                <a:lnTo>
                  <a:pt x="29528" y="318135"/>
                </a:lnTo>
                <a:lnTo>
                  <a:pt x="13335" y="372427"/>
                </a:lnTo>
                <a:lnTo>
                  <a:pt x="2858" y="429577"/>
                </a:lnTo>
                <a:lnTo>
                  <a:pt x="0" y="486727"/>
                </a:lnTo>
                <a:lnTo>
                  <a:pt x="3810" y="543877"/>
                </a:lnTo>
                <a:lnTo>
                  <a:pt x="13335" y="600075"/>
                </a:lnTo>
                <a:lnTo>
                  <a:pt x="30480" y="655320"/>
                </a:lnTo>
                <a:lnTo>
                  <a:pt x="53340" y="707707"/>
                </a:lnTo>
                <a:lnTo>
                  <a:pt x="82868" y="757237"/>
                </a:lnTo>
                <a:lnTo>
                  <a:pt x="118110" y="802957"/>
                </a:lnTo>
                <a:lnTo>
                  <a:pt x="157162" y="843915"/>
                </a:lnTo>
                <a:lnTo>
                  <a:pt x="201930" y="880110"/>
                </a:lnTo>
                <a:lnTo>
                  <a:pt x="250508" y="910590"/>
                </a:lnTo>
                <a:lnTo>
                  <a:pt x="301942" y="935355"/>
                </a:lnTo>
                <a:lnTo>
                  <a:pt x="356235" y="954405"/>
                </a:lnTo>
                <a:lnTo>
                  <a:pt x="412432" y="965835"/>
                </a:lnTo>
                <a:lnTo>
                  <a:pt x="469582" y="971550"/>
                </a:lnTo>
                <a:lnTo>
                  <a:pt x="527685" y="969645"/>
                </a:lnTo>
                <a:lnTo>
                  <a:pt x="583882" y="961073"/>
                </a:lnTo>
                <a:lnTo>
                  <a:pt x="639128" y="946785"/>
                </a:lnTo>
                <a:lnTo>
                  <a:pt x="692468" y="924877"/>
                </a:lnTo>
                <a:lnTo>
                  <a:pt x="742950" y="898207"/>
                </a:lnTo>
                <a:lnTo>
                  <a:pt x="789622" y="864870"/>
                </a:lnTo>
                <a:lnTo>
                  <a:pt x="832485" y="825817"/>
                </a:lnTo>
                <a:lnTo>
                  <a:pt x="869632" y="782955"/>
                </a:lnTo>
                <a:lnTo>
                  <a:pt x="902018" y="735330"/>
                </a:lnTo>
                <a:lnTo>
                  <a:pt x="928688" y="684847"/>
                </a:lnTo>
                <a:lnTo>
                  <a:pt x="949642" y="630555"/>
                </a:lnTo>
                <a:lnTo>
                  <a:pt x="962978" y="575310"/>
                </a:lnTo>
                <a:lnTo>
                  <a:pt x="970598" y="518160"/>
                </a:lnTo>
                <a:lnTo>
                  <a:pt x="970598" y="461010"/>
                </a:lnTo>
                <a:lnTo>
                  <a:pt x="964882" y="403860"/>
                </a:lnTo>
                <a:lnTo>
                  <a:pt x="951548" y="348615"/>
                </a:lnTo>
                <a:lnTo>
                  <a:pt x="932498" y="294323"/>
                </a:lnTo>
                <a:lnTo>
                  <a:pt x="906780" y="242887"/>
                </a:lnTo>
              </a:path>
            </a:pathLst>
          </a:custGeom>
          <a:noFill/>
          <a:ln w="76200">
            <a:solidFill>
              <a:srgbClr val="4E8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c-check"/>
          <p:cNvSpPr/>
          <p:nvPr/>
        </p:nvSpPr>
        <p:spPr>
          <a:xfrm>
            <a:off x="1476375" y="733425"/>
            <a:ext cx="790575" cy="561975"/>
          </a:xfrm>
          <a:custGeom>
            <a:avLst/>
            <a:gdLst/>
            <a:ahLst/>
            <a:cxnLst/>
            <a:rect l="l" t="t" r="r" b="b"/>
            <a:pathLst>
              <a:path w="790575" h="561975">
                <a:moveTo>
                  <a:pt x="0" y="333375"/>
                </a:moveTo>
                <a:lnTo>
                  <a:pt x="219075" y="561975"/>
                </a:lnTo>
                <a:lnTo>
                  <a:pt x="790575" y="0"/>
                </a:lnTo>
              </a:path>
            </a:pathLst>
          </a:custGeom>
          <a:noFill/>
          <a:ln w="104775">
            <a:solidFill>
              <a:srgbClr val="4E8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-title"/>
          <p:cNvSpPr txBox="1"/>
          <p:nvPr/>
        </p:nvSpPr>
        <p:spPr>
          <a:xfrm>
            <a:off x="2358390" y="461962"/>
            <a:ext cx="10036492" cy="1143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4E8856"/>
                </a:solidFill>
                <a:latin typeface="Microsoft YaHei"/>
                <a:ea typeface="Microsoft YaHei"/>
                <a:cs typeface="Microsoft YaHei"/>
              </a:rPr>
              <a:t>职场工作汇报逻辑图表PPT</a:t>
            </a:r>
          </a:p>
        </p:txBody>
      </p:sp>
      <p:sp>
        <p:nvSpPr>
          <p:cNvPr id="8" name="badge-bg"/>
          <p:cNvSpPr/>
          <p:nvPr/>
        </p:nvSpPr>
        <p:spPr>
          <a:xfrm>
            <a:off x="25307925" y="619125"/>
            <a:ext cx="4295775" cy="876300"/>
          </a:xfrm>
          <a:prstGeom prst="rect">
            <a:avLst/>
          </a:prstGeom>
          <a:solidFill>
            <a:srgbClr val="51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-badge"/>
          <p:cNvSpPr txBox="1"/>
          <p:nvPr/>
        </p:nvSpPr>
        <p:spPr>
          <a:xfrm>
            <a:off x="25591770" y="563880"/>
            <a:ext cx="3765232" cy="9572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sp>
        <p:nvSpPr>
          <p:cNvPr id="10" name="banner"/>
          <p:cNvSpPr/>
          <p:nvPr/>
        </p:nvSpPr>
        <p:spPr>
          <a:xfrm>
            <a:off x="2076450" y="2743200"/>
            <a:ext cx="26822400" cy="1743075"/>
          </a:xfrm>
          <a:custGeom>
            <a:avLst/>
            <a:gdLst/>
            <a:ahLst/>
            <a:cxnLst/>
            <a:rect l="l" t="t" r="r" b="b"/>
            <a:pathLst>
              <a:path w="26822400" h="1743075">
                <a:moveTo>
                  <a:pt x="0" y="1743075"/>
                </a:moveTo>
                <a:lnTo>
                  <a:pt x="13401675" y="0"/>
                </a:lnTo>
                <a:lnTo>
                  <a:pt x="26822400" y="1743075"/>
                </a:lnTo>
                <a:close/>
              </a:path>
            </a:pathLst>
          </a:custGeom>
          <a:solidFill>
            <a:srgbClr val="518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-banner"/>
          <p:cNvSpPr txBox="1"/>
          <p:nvPr/>
        </p:nvSpPr>
        <p:spPr>
          <a:xfrm>
            <a:off x="13262610" y="3429000"/>
            <a:ext cx="4544378" cy="800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 spc="3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销售数据分布图</a:t>
            </a:r>
          </a:p>
        </p:txBody>
      </p:sp>
      <p:sp>
        <p:nvSpPr>
          <p:cNvPr id="12" name="card-summary"/>
          <p:cNvSpPr/>
          <p:nvPr/>
        </p:nvSpPr>
        <p:spPr>
          <a:xfrm>
            <a:off x="1909762" y="4676775"/>
            <a:ext cx="27141488" cy="185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4E8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-sum-1"/>
          <p:cNvSpPr txBox="1"/>
          <p:nvPr/>
        </p:nvSpPr>
        <p:spPr>
          <a:xfrm>
            <a:off x="2754630" y="5286375"/>
            <a:ext cx="26568082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 spc="-75">
                <a:solidFill>
                  <a:srgbClr val="485E52"/>
                </a:solidFill>
                <a:latin typeface="Microsoft YaHei"/>
                <a:ea typeface="Microsoft YaHei"/>
                <a:cs typeface="Microsoft YaHei"/>
              </a:rPr>
              <a:t>结合2023年度数据，可以看出用户对于产品品牌的关注更加强烈，头部品牌的用户粘性显著增加，对用户的停留起到了很大的影</a:t>
            </a:r>
          </a:p>
        </p:txBody>
      </p:sp>
      <p:sp>
        <p:nvSpPr>
          <p:cNvPr id="14" name="t-sum-2"/>
          <p:cNvSpPr txBox="1"/>
          <p:nvPr/>
        </p:nvSpPr>
        <p:spPr>
          <a:xfrm>
            <a:off x="2754630" y="5981700"/>
            <a:ext cx="1161098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 spc="-75">
                <a:solidFill>
                  <a:srgbClr val="485E52"/>
                </a:solidFill>
                <a:latin typeface="Microsoft YaHei"/>
                <a:ea typeface="Microsoft YaHei"/>
                <a:cs typeface="Microsoft YaHei"/>
              </a:rPr>
              <a:t>响。</a:t>
            </a:r>
          </a:p>
        </p:txBody>
      </p:sp>
      <p:sp>
        <p:nvSpPr>
          <p:cNvPr id="15" name="row-targets"/>
          <p:cNvSpPr/>
          <p:nvPr/>
        </p:nvSpPr>
        <p:spPr>
          <a:xfrm>
            <a:off x="1933575" y="6743700"/>
            <a:ext cx="27136725" cy="1704975"/>
          </a:xfrm>
          <a:prstGeom prst="rect">
            <a:avLst/>
          </a:prstGeom>
          <a:solidFill>
            <a:srgbClr val="FFFFFF"/>
          </a:solidFill>
          <a:ln w="28575">
            <a:solidFill>
              <a:srgbClr val="5B8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2" name="grp-targets"/>
          <p:cNvGrpSpPr/>
          <p:nvPr/>
        </p:nvGrpSpPr>
        <p:grpSpPr>
          <a:xfrm>
            <a:off x="3633788" y="7119938"/>
            <a:ext cx="23855362" cy="790575"/>
            <a:chOff x="3633788" y="7119938"/>
            <a:chExt cx="23855362" cy="790575"/>
          </a:xfrm>
        </p:grpSpPr>
        <p:sp>
          <p:nvSpPr>
            <p:cNvPr id="16" name="tgt-box-1"/>
            <p:cNvSpPr/>
            <p:nvPr/>
          </p:nvSpPr>
          <p:spPr>
            <a:xfrm>
              <a:off x="3633788" y="7119938"/>
              <a:ext cx="3167062" cy="790575"/>
            </a:xfrm>
            <a:prstGeom prst="roundRect">
              <a:avLst>
                <a:gd name="adj" fmla="val 16867"/>
              </a:avLst>
            </a:prstGeom>
            <a:solidFill>
              <a:srgbClr val="FFFFFF"/>
            </a:solidFill>
            <a:ln w="47625">
              <a:solidFill>
                <a:srgbClr val="4E885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gt-txt-1"/>
            <p:cNvSpPr txBox="1"/>
            <p:nvPr/>
          </p:nvSpPr>
          <p:spPr>
            <a:xfrm>
              <a:off x="3980498" y="7218045"/>
              <a:ext cx="2755582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568752"/>
                  </a:solidFill>
                  <a:latin typeface="Microsoft YaHei"/>
                  <a:ea typeface="Microsoft YaHei"/>
                  <a:cs typeface="Microsoft YaHei"/>
                </a:rPr>
                <a:t>销量目标01</a:t>
              </a:r>
            </a:p>
          </p:txBody>
        </p:sp>
        <p:sp>
          <p:nvSpPr>
            <p:cNvPr id="18" name="tgt-box-2"/>
            <p:cNvSpPr/>
            <p:nvPr/>
          </p:nvSpPr>
          <p:spPr>
            <a:xfrm>
              <a:off x="7720012" y="7119938"/>
              <a:ext cx="3176588" cy="790575"/>
            </a:xfrm>
            <a:prstGeom prst="roundRect">
              <a:avLst>
                <a:gd name="adj" fmla="val 16867"/>
              </a:avLst>
            </a:prstGeom>
            <a:solidFill>
              <a:srgbClr val="FFFFFF"/>
            </a:solidFill>
            <a:ln w="47625">
              <a:solidFill>
                <a:srgbClr val="4E885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gt-txt-2"/>
            <p:cNvSpPr txBox="1"/>
            <p:nvPr/>
          </p:nvSpPr>
          <p:spPr>
            <a:xfrm>
              <a:off x="8071485" y="7218045"/>
              <a:ext cx="2755582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568752"/>
                  </a:solidFill>
                  <a:latin typeface="Microsoft YaHei"/>
                  <a:ea typeface="Microsoft YaHei"/>
                  <a:cs typeface="Microsoft YaHei"/>
                </a:rPr>
                <a:t>销量目标02</a:t>
              </a:r>
            </a:p>
          </p:txBody>
        </p:sp>
        <p:sp>
          <p:nvSpPr>
            <p:cNvPr id="20" name="tgt-box-3"/>
            <p:cNvSpPr/>
            <p:nvPr/>
          </p:nvSpPr>
          <p:spPr>
            <a:xfrm>
              <a:off x="11958638" y="7119938"/>
              <a:ext cx="3176588" cy="790575"/>
            </a:xfrm>
            <a:prstGeom prst="roundRect">
              <a:avLst>
                <a:gd name="adj" fmla="val 16867"/>
              </a:avLst>
            </a:prstGeom>
            <a:solidFill>
              <a:srgbClr val="FFFFFF"/>
            </a:solidFill>
            <a:ln w="47625">
              <a:solidFill>
                <a:srgbClr val="4E885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gt-txt-3"/>
            <p:cNvSpPr txBox="1"/>
            <p:nvPr/>
          </p:nvSpPr>
          <p:spPr>
            <a:xfrm>
              <a:off x="12310110" y="7218045"/>
              <a:ext cx="2755582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568752"/>
                  </a:solidFill>
                  <a:latin typeface="Microsoft YaHei"/>
                  <a:ea typeface="Microsoft YaHei"/>
                  <a:cs typeface="Microsoft YaHei"/>
                </a:rPr>
                <a:t>销量目标03</a:t>
              </a:r>
            </a:p>
          </p:txBody>
        </p:sp>
        <p:sp>
          <p:nvSpPr>
            <p:cNvPr id="22" name="tgt-box-4"/>
            <p:cNvSpPr/>
            <p:nvPr/>
          </p:nvSpPr>
          <p:spPr>
            <a:xfrm>
              <a:off x="16102012" y="7119938"/>
              <a:ext cx="3176588" cy="790575"/>
            </a:xfrm>
            <a:prstGeom prst="roundRect">
              <a:avLst>
                <a:gd name="adj" fmla="val 16867"/>
              </a:avLst>
            </a:prstGeom>
            <a:solidFill>
              <a:srgbClr val="FFFFFF"/>
            </a:solidFill>
            <a:ln w="47625">
              <a:solidFill>
                <a:srgbClr val="4E885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gt-txt-4"/>
            <p:cNvSpPr txBox="1"/>
            <p:nvPr/>
          </p:nvSpPr>
          <p:spPr>
            <a:xfrm>
              <a:off x="16453485" y="7218045"/>
              <a:ext cx="2755582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568752"/>
                  </a:solidFill>
                  <a:latin typeface="Microsoft YaHei"/>
                  <a:ea typeface="Microsoft YaHei"/>
                  <a:cs typeface="Microsoft YaHei"/>
                </a:rPr>
                <a:t>销量目标04</a:t>
              </a:r>
            </a:p>
          </p:txBody>
        </p:sp>
        <p:sp>
          <p:nvSpPr>
            <p:cNvPr id="24" name="tgt-box-5"/>
            <p:cNvSpPr/>
            <p:nvPr/>
          </p:nvSpPr>
          <p:spPr>
            <a:xfrm>
              <a:off x="20197762" y="7119938"/>
              <a:ext cx="3195638" cy="790575"/>
            </a:xfrm>
            <a:prstGeom prst="roundRect">
              <a:avLst>
                <a:gd name="adj" fmla="val 16867"/>
              </a:avLst>
            </a:prstGeom>
            <a:solidFill>
              <a:srgbClr val="FFFFFF"/>
            </a:solidFill>
            <a:ln w="47625">
              <a:solidFill>
                <a:srgbClr val="4E885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gt-txt-5"/>
            <p:cNvSpPr txBox="1"/>
            <p:nvPr/>
          </p:nvSpPr>
          <p:spPr>
            <a:xfrm>
              <a:off x="20558760" y="7218045"/>
              <a:ext cx="2755582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568752"/>
                  </a:solidFill>
                  <a:latin typeface="Microsoft YaHei"/>
                  <a:ea typeface="Microsoft YaHei"/>
                  <a:cs typeface="Microsoft YaHei"/>
                </a:rPr>
                <a:t>销量目标05</a:t>
              </a:r>
            </a:p>
          </p:txBody>
        </p:sp>
        <p:sp>
          <p:nvSpPr>
            <p:cNvPr id="26" name="tgt-box-6"/>
            <p:cNvSpPr/>
            <p:nvPr/>
          </p:nvSpPr>
          <p:spPr>
            <a:xfrm>
              <a:off x="24322088" y="7119938"/>
              <a:ext cx="3167062" cy="790575"/>
            </a:xfrm>
            <a:prstGeom prst="roundRect">
              <a:avLst>
                <a:gd name="adj" fmla="val 16867"/>
              </a:avLst>
            </a:prstGeom>
            <a:solidFill>
              <a:srgbClr val="FFFFFF"/>
            </a:solidFill>
            <a:ln w="47625">
              <a:solidFill>
                <a:srgbClr val="4E885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gt-txt-6"/>
            <p:cNvSpPr txBox="1"/>
            <p:nvPr/>
          </p:nvSpPr>
          <p:spPr>
            <a:xfrm>
              <a:off x="24668798" y="7218045"/>
              <a:ext cx="2755582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568752"/>
                  </a:solidFill>
                  <a:latin typeface="Microsoft YaHei"/>
                  <a:ea typeface="Microsoft YaHei"/>
                  <a:cs typeface="Microsoft YaHei"/>
                </a:rPr>
                <a:t>销量目标06</a:t>
              </a:r>
            </a:p>
          </p:txBody>
        </p:sp>
      </p:grpSp>
      <p:sp>
        <p:nvSpPr>
          <p:cNvPr id="28" name="tbl-frame"/>
          <p:cNvSpPr/>
          <p:nvPr/>
        </p:nvSpPr>
        <p:spPr>
          <a:xfrm>
            <a:off x="1933575" y="8582025"/>
            <a:ext cx="27146250" cy="4781550"/>
          </a:xfrm>
          <a:prstGeom prst="rect">
            <a:avLst/>
          </a:prstGeom>
          <a:solidFill>
            <a:srgbClr val="FFFFFF"/>
          </a:solidFill>
          <a:ln w="28575">
            <a:solidFill>
              <a:srgbClr val="5B8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bl-mint"/>
          <p:cNvSpPr/>
          <p:nvPr/>
        </p:nvSpPr>
        <p:spPr>
          <a:xfrm>
            <a:off x="19888200" y="8591550"/>
            <a:ext cx="5181600" cy="4762500"/>
          </a:xfrm>
          <a:prstGeom prst="rect">
            <a:avLst/>
          </a:prstGeom>
          <a:solidFill>
            <a:srgbClr val="DB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3" name="grp-table-text"/>
          <p:cNvGrpSpPr/>
          <p:nvPr/>
        </p:nvGrpSpPr>
        <p:grpSpPr>
          <a:xfrm>
            <a:off x="3017520" y="8910638"/>
            <a:ext cx="25323165" cy="4198619"/>
            <a:chOff x="3017520" y="8910638"/>
            <a:chExt cx="25323165" cy="4198619"/>
          </a:xfrm>
        </p:grpSpPr>
        <p:sp>
          <p:nvSpPr>
            <p:cNvPr id="30" name="hdr-1"/>
            <p:cNvSpPr txBox="1"/>
            <p:nvPr/>
          </p:nvSpPr>
          <p:spPr>
            <a:xfrm>
              <a:off x="3063240" y="8910638"/>
              <a:ext cx="1998345" cy="742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4E8856"/>
                  </a:solidFill>
                  <a:latin typeface="Microsoft YaHei"/>
                  <a:ea typeface="Microsoft YaHei"/>
                  <a:cs typeface="Microsoft YaHei"/>
                </a:rPr>
                <a:t>标题01</a:t>
              </a:r>
            </a:p>
          </p:txBody>
        </p:sp>
        <p:sp>
          <p:nvSpPr>
            <p:cNvPr id="31" name="hdr-2"/>
            <p:cNvSpPr txBox="1"/>
            <p:nvPr/>
          </p:nvSpPr>
          <p:spPr>
            <a:xfrm>
              <a:off x="7663815" y="8910638"/>
              <a:ext cx="1998345" cy="742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4E8856"/>
                  </a:solidFill>
                  <a:latin typeface="Microsoft YaHei"/>
                  <a:ea typeface="Microsoft YaHei"/>
                  <a:cs typeface="Microsoft YaHei"/>
                </a:rPr>
                <a:t>标题02</a:t>
              </a:r>
            </a:p>
          </p:txBody>
        </p:sp>
        <p:sp>
          <p:nvSpPr>
            <p:cNvPr id="32" name="hdr-3"/>
            <p:cNvSpPr txBox="1"/>
            <p:nvPr/>
          </p:nvSpPr>
          <p:spPr>
            <a:xfrm>
              <a:off x="11907202" y="8910638"/>
              <a:ext cx="1998345" cy="742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4E8856"/>
                  </a:solidFill>
                  <a:latin typeface="Microsoft YaHei"/>
                  <a:ea typeface="Microsoft YaHei"/>
                  <a:cs typeface="Microsoft YaHei"/>
                </a:rPr>
                <a:t>标题03</a:t>
              </a:r>
            </a:p>
          </p:txBody>
        </p:sp>
        <p:sp>
          <p:nvSpPr>
            <p:cNvPr id="33" name="hdr-4"/>
            <p:cNvSpPr txBox="1"/>
            <p:nvPr/>
          </p:nvSpPr>
          <p:spPr>
            <a:xfrm>
              <a:off x="16707802" y="8910638"/>
              <a:ext cx="1998345" cy="742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4E8856"/>
                  </a:solidFill>
                  <a:latin typeface="Microsoft YaHei"/>
                  <a:ea typeface="Microsoft YaHei"/>
                  <a:cs typeface="Microsoft YaHei"/>
                </a:rPr>
                <a:t>标题04</a:t>
              </a:r>
            </a:p>
          </p:txBody>
        </p:sp>
        <p:sp>
          <p:nvSpPr>
            <p:cNvPr id="34" name="hdr-5"/>
            <p:cNvSpPr txBox="1"/>
            <p:nvPr/>
          </p:nvSpPr>
          <p:spPr>
            <a:xfrm>
              <a:off x="21441728" y="8910638"/>
              <a:ext cx="1998345" cy="742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4E8856"/>
                  </a:solidFill>
                  <a:latin typeface="Microsoft YaHei"/>
                  <a:ea typeface="Microsoft YaHei"/>
                  <a:cs typeface="Microsoft YaHei"/>
                </a:rPr>
                <a:t>标题05</a:t>
              </a:r>
            </a:p>
          </p:txBody>
        </p:sp>
        <p:sp>
          <p:nvSpPr>
            <p:cNvPr id="35" name="hdr-6"/>
            <p:cNvSpPr txBox="1"/>
            <p:nvPr/>
          </p:nvSpPr>
          <p:spPr>
            <a:xfrm>
              <a:off x="26342340" y="8910638"/>
              <a:ext cx="1998345" cy="74295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4E8856"/>
                  </a:solidFill>
                  <a:latin typeface="Microsoft YaHei"/>
                  <a:ea typeface="Microsoft YaHei"/>
                  <a:cs typeface="Microsoft YaHei"/>
                </a:rPr>
                <a:t>标题06</a:t>
              </a:r>
            </a:p>
          </p:txBody>
        </p:sp>
        <p:sp>
          <p:nvSpPr>
            <p:cNvPr id="36" name="body-1-1"/>
            <p:cNvSpPr txBox="1"/>
            <p:nvPr/>
          </p:nvSpPr>
          <p:spPr>
            <a:xfrm>
              <a:off x="3017520" y="9789795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37" name="body-1-2"/>
            <p:cNvSpPr txBox="1"/>
            <p:nvPr/>
          </p:nvSpPr>
          <p:spPr>
            <a:xfrm>
              <a:off x="7075170" y="9789795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38" name="body-1-3"/>
            <p:cNvSpPr txBox="1"/>
            <p:nvPr/>
          </p:nvSpPr>
          <p:spPr>
            <a:xfrm>
              <a:off x="11923395" y="9789795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39" name="body-1-4"/>
            <p:cNvSpPr txBox="1"/>
            <p:nvPr/>
          </p:nvSpPr>
          <p:spPr>
            <a:xfrm>
              <a:off x="16676370" y="9789795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40" name="body-1-5"/>
            <p:cNvSpPr txBox="1"/>
            <p:nvPr/>
          </p:nvSpPr>
          <p:spPr>
            <a:xfrm>
              <a:off x="21467445" y="9789795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41" name="body-1-6"/>
            <p:cNvSpPr txBox="1"/>
            <p:nvPr/>
          </p:nvSpPr>
          <p:spPr>
            <a:xfrm>
              <a:off x="25944195" y="9789795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42" name="body-2-1"/>
            <p:cNvSpPr txBox="1"/>
            <p:nvPr/>
          </p:nvSpPr>
          <p:spPr>
            <a:xfrm>
              <a:off x="3017520" y="10675620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43" name="body-2-2"/>
            <p:cNvSpPr txBox="1"/>
            <p:nvPr/>
          </p:nvSpPr>
          <p:spPr>
            <a:xfrm>
              <a:off x="7075170" y="10675620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44" name="body-2-3"/>
            <p:cNvSpPr txBox="1"/>
            <p:nvPr/>
          </p:nvSpPr>
          <p:spPr>
            <a:xfrm>
              <a:off x="11923395" y="10675620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45" name="body-2-4"/>
            <p:cNvSpPr txBox="1"/>
            <p:nvPr/>
          </p:nvSpPr>
          <p:spPr>
            <a:xfrm>
              <a:off x="16676370" y="10675620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46" name="body-2-5"/>
            <p:cNvSpPr txBox="1"/>
            <p:nvPr/>
          </p:nvSpPr>
          <p:spPr>
            <a:xfrm>
              <a:off x="21467445" y="10675620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47" name="body-2-6"/>
            <p:cNvSpPr txBox="1"/>
            <p:nvPr/>
          </p:nvSpPr>
          <p:spPr>
            <a:xfrm>
              <a:off x="25944195" y="10675620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48" name="body-3-1"/>
            <p:cNvSpPr txBox="1"/>
            <p:nvPr/>
          </p:nvSpPr>
          <p:spPr>
            <a:xfrm>
              <a:off x="3017520" y="11551920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49" name="body-3-2"/>
            <p:cNvSpPr txBox="1"/>
            <p:nvPr/>
          </p:nvSpPr>
          <p:spPr>
            <a:xfrm>
              <a:off x="7075170" y="11551920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50" name="body-3-3"/>
            <p:cNvSpPr txBox="1"/>
            <p:nvPr/>
          </p:nvSpPr>
          <p:spPr>
            <a:xfrm>
              <a:off x="11923395" y="11551920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51" name="body-3-4"/>
            <p:cNvSpPr txBox="1"/>
            <p:nvPr/>
          </p:nvSpPr>
          <p:spPr>
            <a:xfrm>
              <a:off x="16676370" y="11551920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52" name="body-3-5"/>
            <p:cNvSpPr txBox="1"/>
            <p:nvPr/>
          </p:nvSpPr>
          <p:spPr>
            <a:xfrm>
              <a:off x="21467445" y="11551920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53" name="body-3-6"/>
            <p:cNvSpPr txBox="1"/>
            <p:nvPr/>
          </p:nvSpPr>
          <p:spPr>
            <a:xfrm>
              <a:off x="25944195" y="11551920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54" name="body-4-1"/>
            <p:cNvSpPr txBox="1"/>
            <p:nvPr/>
          </p:nvSpPr>
          <p:spPr>
            <a:xfrm>
              <a:off x="3017520" y="12437745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55" name="body-4-2"/>
            <p:cNvSpPr txBox="1"/>
            <p:nvPr/>
          </p:nvSpPr>
          <p:spPr>
            <a:xfrm>
              <a:off x="7075170" y="12437745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56" name="body-4-3"/>
            <p:cNvSpPr txBox="1"/>
            <p:nvPr/>
          </p:nvSpPr>
          <p:spPr>
            <a:xfrm>
              <a:off x="11923395" y="12437745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57" name="body-4-4"/>
            <p:cNvSpPr txBox="1"/>
            <p:nvPr/>
          </p:nvSpPr>
          <p:spPr>
            <a:xfrm>
              <a:off x="16676370" y="12437745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58" name="body-4-5"/>
            <p:cNvSpPr txBox="1"/>
            <p:nvPr/>
          </p:nvSpPr>
          <p:spPr>
            <a:xfrm>
              <a:off x="21467445" y="12437745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  <p:sp>
          <p:nvSpPr>
            <p:cNvPr id="59" name="body-4-6"/>
            <p:cNvSpPr txBox="1"/>
            <p:nvPr/>
          </p:nvSpPr>
          <p:spPr>
            <a:xfrm>
              <a:off x="25944195" y="12437745"/>
              <a:ext cx="2166938" cy="67151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79838F"/>
                  </a:solidFill>
                  <a:latin typeface="Microsoft YaHei"/>
                  <a:ea typeface="Microsoft YaHei"/>
                  <a:cs typeface="Microsoft YaHei"/>
                </a:rPr>
                <a:t>主要内容</a:t>
              </a:r>
            </a:p>
          </p:txBody>
        </p:sp>
      </p:grpSp>
      <p:sp>
        <p:nvSpPr>
          <p:cNvPr id="60" name="bar-dark"/>
          <p:cNvSpPr/>
          <p:nvPr/>
        </p:nvSpPr>
        <p:spPr>
          <a:xfrm>
            <a:off x="1924050" y="13525500"/>
            <a:ext cx="27165300" cy="552450"/>
          </a:xfrm>
          <a:prstGeom prst="rect">
            <a:avLst/>
          </a:prstGeom>
          <a:solidFill>
            <a:srgbClr val="3E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anel-bottom"/>
          <p:cNvSpPr/>
          <p:nvPr/>
        </p:nvSpPr>
        <p:spPr>
          <a:xfrm>
            <a:off x="1933575" y="14268450"/>
            <a:ext cx="27136725" cy="1743075"/>
          </a:xfrm>
          <a:prstGeom prst="rect">
            <a:avLst/>
          </a:prstGeom>
          <a:solidFill>
            <a:srgbClr val="FFFFFF"/>
          </a:solidFill>
          <a:ln w="28575">
            <a:solidFill>
              <a:srgbClr val="5B8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bot-1"/>
          <p:cNvSpPr txBox="1"/>
          <p:nvPr/>
        </p:nvSpPr>
        <p:spPr>
          <a:xfrm>
            <a:off x="3916680" y="14763750"/>
            <a:ext cx="2397442" cy="7429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亲友推广</a:t>
            </a:r>
          </a:p>
        </p:txBody>
      </p:sp>
      <p:sp>
        <p:nvSpPr>
          <p:cNvPr id="63" name="bot-2"/>
          <p:cNvSpPr txBox="1"/>
          <p:nvPr/>
        </p:nvSpPr>
        <p:spPr>
          <a:xfrm>
            <a:off x="9565005" y="14763750"/>
            <a:ext cx="2397442" cy="7429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互相了解</a:t>
            </a:r>
          </a:p>
        </p:txBody>
      </p:sp>
      <p:sp>
        <p:nvSpPr>
          <p:cNvPr id="64" name="bot-3"/>
          <p:cNvSpPr txBox="1"/>
          <p:nvPr/>
        </p:nvSpPr>
        <p:spPr>
          <a:xfrm>
            <a:off x="14565630" y="14763750"/>
            <a:ext cx="2397442" cy="7429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交换体验</a:t>
            </a:r>
          </a:p>
        </p:txBody>
      </p:sp>
      <p:sp>
        <p:nvSpPr>
          <p:cNvPr id="65" name="bot-4"/>
          <p:cNvSpPr txBox="1"/>
          <p:nvPr/>
        </p:nvSpPr>
        <p:spPr>
          <a:xfrm>
            <a:off x="19494818" y="14763750"/>
            <a:ext cx="2397442" cy="7429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下单购买</a:t>
            </a:r>
          </a:p>
        </p:txBody>
      </p:sp>
      <p:sp>
        <p:nvSpPr>
          <p:cNvPr id="66" name="bot-5"/>
          <p:cNvSpPr txBox="1"/>
          <p:nvPr/>
        </p:nvSpPr>
        <p:spPr>
          <a:xfrm>
            <a:off x="24328755" y="14763750"/>
            <a:ext cx="2397442" cy="7429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00" b="0" i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意见反馈</a:t>
            </a:r>
          </a:p>
        </p:txBody>
      </p:sp>
      <p:sp>
        <p:nvSpPr>
          <p:cNvPr id="67" name="arr-1"/>
          <p:cNvSpPr/>
          <p:nvPr/>
        </p:nvSpPr>
        <p:spPr>
          <a:xfrm>
            <a:off x="7972425" y="15030450"/>
            <a:ext cx="533400" cy="228600"/>
          </a:xfrm>
          <a:prstGeom prst="rightArrow">
            <a:avLst/>
          </a:prstGeom>
          <a:solidFill>
            <a:srgbClr val="9CB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rr-2"/>
          <p:cNvSpPr/>
          <p:nvPr/>
        </p:nvSpPr>
        <p:spPr>
          <a:xfrm>
            <a:off x="13049250" y="15030450"/>
            <a:ext cx="552450" cy="228600"/>
          </a:xfrm>
          <a:prstGeom prst="rightArrow">
            <a:avLst/>
          </a:prstGeom>
          <a:solidFill>
            <a:srgbClr val="9CB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rr-3"/>
          <p:cNvSpPr/>
          <p:nvPr/>
        </p:nvSpPr>
        <p:spPr>
          <a:xfrm>
            <a:off x="18049875" y="15030450"/>
            <a:ext cx="523875" cy="228600"/>
          </a:xfrm>
          <a:prstGeom prst="rightArrow">
            <a:avLst/>
          </a:prstGeom>
          <a:solidFill>
            <a:srgbClr val="9CB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arr-4"/>
          <p:cNvSpPr/>
          <p:nvPr/>
        </p:nvSpPr>
        <p:spPr>
          <a:xfrm>
            <a:off x="23145750" y="15030450"/>
            <a:ext cx="552450" cy="228600"/>
          </a:xfrm>
          <a:prstGeom prst="rightArrow">
            <a:avLst/>
          </a:prstGeom>
          <a:solidFill>
            <a:srgbClr val="9CB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