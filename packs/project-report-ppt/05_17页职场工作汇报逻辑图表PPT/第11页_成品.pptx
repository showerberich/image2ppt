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hdr-icon-ring"/>
          <p:cNvSpPr/>
          <p:nvPr/>
        </p:nvSpPr>
        <p:spPr>
          <a:xfrm>
            <a:off x="1533525" y="504825"/>
            <a:ext cx="914400" cy="914400"/>
          </a:xfrm>
          <a:prstGeom prst="ellipse">
            <a:avLst/>
          </a:prstGeom>
          <a:noFill/>
          <a:ln w="57150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hdr-icon-check"/>
          <p:cNvSpPr/>
          <p:nvPr/>
        </p:nvSpPr>
        <p:spPr>
          <a:xfrm>
            <a:off x="1619250" y="552450"/>
            <a:ext cx="838200" cy="723900"/>
          </a:xfrm>
          <a:custGeom>
            <a:avLst/>
            <a:gdLst/>
            <a:ahLst/>
            <a:cxnLst/>
            <a:rect l="l" t="t" r="r" b="b"/>
            <a:pathLst>
              <a:path w="838200" h="723900">
                <a:moveTo>
                  <a:pt x="0" y="476250"/>
                </a:moveTo>
                <a:lnTo>
                  <a:pt x="266700" y="723900"/>
                </a:lnTo>
                <a:lnTo>
                  <a:pt x="838200" y="0"/>
                </a:lnTo>
              </a:path>
            </a:pathLst>
          </a:custGeom>
          <a:noFill/>
          <a:ln w="152400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2552700" y="495300"/>
            <a:ext cx="942975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925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6" name="hdr-tag"/>
          <p:cNvSpPr/>
          <p:nvPr/>
        </p:nvSpPr>
        <p:spPr>
          <a:xfrm>
            <a:off x="25298400" y="609600"/>
            <a:ext cx="4324350" cy="89535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hdr-tag-text"/>
          <p:cNvSpPr txBox="1"/>
          <p:nvPr/>
        </p:nvSpPr>
        <p:spPr>
          <a:xfrm>
            <a:off x="25298400" y="609600"/>
            <a:ext cx="43243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8" name="hdr-rule"/>
          <p:cNvSpPr/>
          <p:nvPr/>
        </p:nvSpPr>
        <p:spPr>
          <a:xfrm>
            <a:off x="1133475" y="1752600"/>
            <a:ext cx="28489275" cy="15240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tr-rule"/>
          <p:cNvSpPr/>
          <p:nvPr/>
        </p:nvSpPr>
        <p:spPr>
          <a:xfrm>
            <a:off x="1314450" y="16487775"/>
            <a:ext cx="28470225" cy="38100"/>
          </a:xfrm>
          <a:prstGeom prst="rect">
            <a:avLst/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goal-1-circle"/>
          <p:cNvSpPr/>
          <p:nvPr/>
        </p:nvSpPr>
        <p:spPr>
          <a:xfrm>
            <a:off x="2343150" y="3290888"/>
            <a:ext cx="4229100" cy="4229100"/>
          </a:xfrm>
          <a:prstGeom prst="ellipse">
            <a:avLst/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goal-1-no"/>
          <p:cNvSpPr txBox="1"/>
          <p:nvPr/>
        </p:nvSpPr>
        <p:spPr>
          <a:xfrm>
            <a:off x="2171700" y="4057650"/>
            <a:ext cx="4572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NO. 01</a:t>
            </a:r>
          </a:p>
        </p:txBody>
      </p:sp>
      <p:sp>
        <p:nvSpPr>
          <p:cNvPr id="12" name="goal-1-label"/>
          <p:cNvSpPr txBox="1"/>
          <p:nvPr/>
        </p:nvSpPr>
        <p:spPr>
          <a:xfrm>
            <a:off x="2171700" y="5305425"/>
            <a:ext cx="457200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3" name="goal-2-circle"/>
          <p:cNvSpPr/>
          <p:nvPr/>
        </p:nvSpPr>
        <p:spPr>
          <a:xfrm>
            <a:off x="2343150" y="6938962"/>
            <a:ext cx="4229100" cy="4229100"/>
          </a:xfrm>
          <a:prstGeom prst="ellipse">
            <a:avLst/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goal-2-no"/>
          <p:cNvSpPr txBox="1"/>
          <p:nvPr/>
        </p:nvSpPr>
        <p:spPr>
          <a:xfrm>
            <a:off x="2171700" y="8067675"/>
            <a:ext cx="4572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NO. 02</a:t>
            </a:r>
          </a:p>
        </p:txBody>
      </p:sp>
      <p:sp>
        <p:nvSpPr>
          <p:cNvPr id="15" name="goal-2-label"/>
          <p:cNvSpPr txBox="1"/>
          <p:nvPr/>
        </p:nvSpPr>
        <p:spPr>
          <a:xfrm>
            <a:off x="2171700" y="9372600"/>
            <a:ext cx="457200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6" name="goal-3-circle"/>
          <p:cNvSpPr/>
          <p:nvPr/>
        </p:nvSpPr>
        <p:spPr>
          <a:xfrm>
            <a:off x="2343150" y="10663238"/>
            <a:ext cx="4229100" cy="4229100"/>
          </a:xfrm>
          <a:prstGeom prst="ellipse">
            <a:avLst/>
          </a:prstGeom>
          <a:solidFill>
            <a:srgbClr val="8EBD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goal-3-no"/>
          <p:cNvSpPr txBox="1"/>
          <p:nvPr/>
        </p:nvSpPr>
        <p:spPr>
          <a:xfrm>
            <a:off x="2171700" y="11772900"/>
            <a:ext cx="4572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NO. 03</a:t>
            </a:r>
          </a:p>
        </p:txBody>
      </p:sp>
      <p:sp>
        <p:nvSpPr>
          <p:cNvPr id="18" name="goal-3-label"/>
          <p:cNvSpPr txBox="1"/>
          <p:nvPr/>
        </p:nvSpPr>
        <p:spPr>
          <a:xfrm>
            <a:off x="2171700" y="13030200"/>
            <a:ext cx="457200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9" name="goal-link-1"/>
          <p:cNvSpPr/>
          <p:nvPr/>
        </p:nvSpPr>
        <p:spPr>
          <a:xfrm>
            <a:off x="6667500" y="4810125"/>
            <a:ext cx="904875" cy="2809875"/>
          </a:xfrm>
          <a:custGeom>
            <a:avLst/>
            <a:gdLst/>
            <a:ahLst/>
            <a:cxnLst/>
            <a:rect l="l" t="t" r="r" b="b"/>
            <a:pathLst>
              <a:path w="904875" h="2809875">
                <a:moveTo>
                  <a:pt x="0" y="0"/>
                </a:moveTo>
                <a:lnTo>
                  <a:pt x="209550" y="171450"/>
                </a:lnTo>
                <a:lnTo>
                  <a:pt x="400050" y="352425"/>
                </a:lnTo>
                <a:lnTo>
                  <a:pt x="552450" y="523875"/>
                </a:lnTo>
                <a:lnTo>
                  <a:pt x="676275" y="704850"/>
                </a:lnTo>
                <a:lnTo>
                  <a:pt x="781050" y="876300"/>
                </a:lnTo>
                <a:lnTo>
                  <a:pt x="847725" y="1057275"/>
                </a:lnTo>
                <a:lnTo>
                  <a:pt x="895350" y="1228725"/>
                </a:lnTo>
                <a:lnTo>
                  <a:pt x="904875" y="1400175"/>
                </a:lnTo>
                <a:lnTo>
                  <a:pt x="895350" y="1581150"/>
                </a:lnTo>
                <a:lnTo>
                  <a:pt x="847725" y="1752600"/>
                </a:lnTo>
                <a:lnTo>
                  <a:pt x="781050" y="1933575"/>
                </a:lnTo>
                <a:lnTo>
                  <a:pt x="676275" y="2105025"/>
                </a:lnTo>
                <a:lnTo>
                  <a:pt x="552450" y="2286000"/>
                </a:lnTo>
                <a:lnTo>
                  <a:pt x="400050" y="2457450"/>
                </a:lnTo>
                <a:lnTo>
                  <a:pt x="209550" y="2638425"/>
                </a:lnTo>
                <a:lnTo>
                  <a:pt x="0" y="2809875"/>
                </a:lnTo>
              </a:path>
            </a:pathLst>
          </a:custGeom>
          <a:noFill/>
          <a:ln w="57150">
            <a:solidFill>
              <a:srgbClr val="4D895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goal-link-1-head"/>
          <p:cNvSpPr/>
          <p:nvPr/>
        </p:nvSpPr>
        <p:spPr>
          <a:xfrm>
            <a:off x="6286500" y="7372350"/>
            <a:ext cx="419100" cy="457200"/>
          </a:xfrm>
          <a:custGeom>
            <a:avLst/>
            <a:gdLst/>
            <a:ahLst/>
            <a:cxnLst/>
            <a:rect l="l" t="t" r="r" b="b"/>
            <a:pathLst>
              <a:path w="419100" h="457200">
                <a:moveTo>
                  <a:pt x="0" y="0"/>
                </a:moveTo>
                <a:lnTo>
                  <a:pt x="419100" y="304800"/>
                </a:lnTo>
                <a:lnTo>
                  <a:pt x="0" y="457200"/>
                </a:lnTo>
                <a:close/>
              </a:path>
            </a:pathLst>
          </a:cu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goal-link-2"/>
          <p:cNvSpPr/>
          <p:nvPr/>
        </p:nvSpPr>
        <p:spPr>
          <a:xfrm>
            <a:off x="6667500" y="8382000"/>
            <a:ext cx="2857500" cy="4095750"/>
          </a:xfrm>
          <a:custGeom>
            <a:avLst/>
            <a:gdLst/>
            <a:ahLst/>
            <a:cxnLst/>
            <a:rect l="l" t="t" r="r" b="b"/>
            <a:pathLst>
              <a:path w="2857500" h="4095750">
                <a:moveTo>
                  <a:pt x="0" y="0"/>
                </a:moveTo>
                <a:lnTo>
                  <a:pt x="666750" y="257175"/>
                </a:lnTo>
                <a:lnTo>
                  <a:pt x="1247775" y="514350"/>
                </a:lnTo>
                <a:lnTo>
                  <a:pt x="1743075" y="771525"/>
                </a:lnTo>
                <a:lnTo>
                  <a:pt x="2143125" y="1028700"/>
                </a:lnTo>
                <a:lnTo>
                  <a:pt x="2457450" y="1276350"/>
                </a:lnTo>
                <a:lnTo>
                  <a:pt x="2676525" y="1533525"/>
                </a:lnTo>
                <a:lnTo>
                  <a:pt x="2809875" y="1790700"/>
                </a:lnTo>
                <a:lnTo>
                  <a:pt x="2857500" y="2047875"/>
                </a:lnTo>
                <a:lnTo>
                  <a:pt x="2809875" y="2305050"/>
                </a:lnTo>
                <a:lnTo>
                  <a:pt x="2676525" y="2562225"/>
                </a:lnTo>
                <a:lnTo>
                  <a:pt x="2457450" y="2819400"/>
                </a:lnTo>
                <a:lnTo>
                  <a:pt x="2143125" y="3067050"/>
                </a:lnTo>
                <a:lnTo>
                  <a:pt x="1743075" y="3324225"/>
                </a:lnTo>
                <a:lnTo>
                  <a:pt x="1247775" y="3581400"/>
                </a:lnTo>
                <a:lnTo>
                  <a:pt x="666750" y="3838575"/>
                </a:lnTo>
                <a:lnTo>
                  <a:pt x="0" y="4095750"/>
                </a:lnTo>
              </a:path>
            </a:pathLst>
          </a:custGeom>
          <a:noFill/>
          <a:ln w="57150">
            <a:solidFill>
              <a:srgbClr val="4D895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oal-link-2-head"/>
          <p:cNvSpPr/>
          <p:nvPr/>
        </p:nvSpPr>
        <p:spPr>
          <a:xfrm>
            <a:off x="6286500" y="12230100"/>
            <a:ext cx="419100" cy="457200"/>
          </a:xfrm>
          <a:custGeom>
            <a:avLst/>
            <a:gdLst/>
            <a:ahLst/>
            <a:cxnLst/>
            <a:rect l="l" t="t" r="r" b="b"/>
            <a:pathLst>
              <a:path w="419100" h="457200">
                <a:moveTo>
                  <a:pt x="0" y="0"/>
                </a:moveTo>
                <a:lnTo>
                  <a:pt x="419100" y="304800"/>
                </a:lnTo>
                <a:lnTo>
                  <a:pt x="0" y="457200"/>
                </a:lnTo>
                <a:close/>
              </a:path>
            </a:pathLst>
          </a:cu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ing-outer"/>
          <p:cNvSpPr/>
          <p:nvPr/>
        </p:nvSpPr>
        <p:spPr>
          <a:xfrm>
            <a:off x="9191625" y="4210050"/>
            <a:ext cx="10725150" cy="10725150"/>
          </a:xfrm>
          <a:prstGeom prst="ellipse">
            <a:avLst/>
          </a:prstGeom>
          <a:noFill/>
          <a:ln w="57150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ing-inner"/>
          <p:cNvSpPr/>
          <p:nvPr/>
        </p:nvSpPr>
        <p:spPr>
          <a:xfrm>
            <a:off x="9763125" y="4781550"/>
            <a:ext cx="9582150" cy="9582150"/>
          </a:xfrm>
          <a:prstGeom prst="ellipse">
            <a:avLst/>
          </a:prstGeom>
          <a:noFill/>
          <a:ln w="57150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ing-arrow-l"/>
          <p:cNvSpPr/>
          <p:nvPr/>
        </p:nvSpPr>
        <p:spPr>
          <a:xfrm>
            <a:off x="9582150" y="11696700"/>
            <a:ext cx="495300" cy="419100"/>
          </a:xfrm>
          <a:custGeom>
            <a:avLst/>
            <a:gdLst/>
            <a:ahLst/>
            <a:cxnLst/>
            <a:rect l="l" t="t" r="r" b="b"/>
            <a:pathLst>
              <a:path w="495300" h="419100">
                <a:moveTo>
                  <a:pt x="209550" y="0"/>
                </a:moveTo>
                <a:lnTo>
                  <a:pt x="495300" y="381000"/>
                </a:lnTo>
                <a:lnTo>
                  <a:pt x="0" y="419100"/>
                </a:lnTo>
                <a:close/>
              </a:path>
            </a:pathLst>
          </a:custGeom>
          <a:solidFill>
            <a:srgbClr val="D931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ing-arrow-r"/>
          <p:cNvSpPr/>
          <p:nvPr/>
        </p:nvSpPr>
        <p:spPr>
          <a:xfrm>
            <a:off x="18688050" y="12801600"/>
            <a:ext cx="476250" cy="495300"/>
          </a:xfrm>
          <a:custGeom>
            <a:avLst/>
            <a:gdLst/>
            <a:ahLst/>
            <a:cxnLst/>
            <a:rect l="l" t="t" r="r" b="b"/>
            <a:pathLst>
              <a:path w="476250" h="495300">
                <a:moveTo>
                  <a:pt x="476250" y="76200"/>
                </a:moveTo>
                <a:lnTo>
                  <a:pt x="5715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D931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ing-node"/>
          <p:cNvSpPr/>
          <p:nvPr/>
        </p:nvSpPr>
        <p:spPr>
          <a:xfrm>
            <a:off x="10220325" y="13220700"/>
            <a:ext cx="228600" cy="2286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ing-node-leader"/>
          <p:cNvSpPr/>
          <p:nvPr/>
        </p:nvSpPr>
        <p:spPr>
          <a:xfrm>
            <a:off x="10429875" y="13411200"/>
            <a:ext cx="790575" cy="552450"/>
          </a:xfrm>
          <a:custGeom>
            <a:avLst/>
            <a:gdLst/>
            <a:ahLst/>
            <a:cxnLst/>
            <a:rect l="l" t="t" r="r" b="b"/>
            <a:pathLst>
              <a:path w="790575" h="552450">
                <a:moveTo>
                  <a:pt x="0" y="0"/>
                </a:moveTo>
                <a:lnTo>
                  <a:pt x="238125" y="266700"/>
                </a:lnTo>
                <a:lnTo>
                  <a:pt x="523875" y="457200"/>
                </a:lnTo>
                <a:lnTo>
                  <a:pt x="790575" y="552450"/>
                </a:lnTo>
              </a:path>
            </a:pathLst>
          </a:custGeom>
          <a:noFill/>
          <a:ln w="38100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ube-shadow"/>
          <p:cNvSpPr/>
          <p:nvPr/>
        </p:nvSpPr>
        <p:spPr>
          <a:xfrm>
            <a:off x="11144250" y="12763500"/>
            <a:ext cx="7200900" cy="1028700"/>
          </a:xfrm>
          <a:prstGeom prst="ellipse">
            <a:avLst/>
          </a:prstGeom>
          <a:solidFill>
            <a:srgbClr val="E6E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ube-top"/>
          <p:cNvSpPr/>
          <p:nvPr/>
        </p:nvSpPr>
        <p:spPr>
          <a:xfrm>
            <a:off x="11668125" y="6296025"/>
            <a:ext cx="5762625" cy="3228975"/>
          </a:xfrm>
          <a:custGeom>
            <a:avLst/>
            <a:gdLst/>
            <a:ahLst/>
            <a:cxnLst/>
            <a:rect l="l" t="t" r="r" b="b"/>
            <a:pathLst>
              <a:path w="5762625" h="3228975">
                <a:moveTo>
                  <a:pt x="2857500" y="0"/>
                </a:moveTo>
                <a:lnTo>
                  <a:pt x="0" y="1609725"/>
                </a:lnTo>
                <a:lnTo>
                  <a:pt x="2857500" y="3228975"/>
                </a:lnTo>
                <a:lnTo>
                  <a:pt x="5762625" y="1609725"/>
                </a:lnTo>
                <a:close/>
              </a:path>
            </a:pathLst>
          </a:custGeom>
          <a:solidFill>
            <a:srgbClr val="5691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ube-left"/>
          <p:cNvSpPr/>
          <p:nvPr/>
        </p:nvSpPr>
        <p:spPr>
          <a:xfrm>
            <a:off x="11668125" y="7905750"/>
            <a:ext cx="2857500" cy="5038725"/>
          </a:xfrm>
          <a:custGeom>
            <a:avLst/>
            <a:gdLst/>
            <a:ahLst/>
            <a:cxnLst/>
            <a:rect l="l" t="t" r="r" b="b"/>
            <a:pathLst>
              <a:path w="2857500" h="5038725">
                <a:moveTo>
                  <a:pt x="0" y="0"/>
                </a:moveTo>
                <a:lnTo>
                  <a:pt x="2857500" y="1619250"/>
                </a:lnTo>
                <a:lnTo>
                  <a:pt x="2857500" y="5038725"/>
                </a:lnTo>
                <a:lnTo>
                  <a:pt x="0" y="3048000"/>
                </a:lnTo>
                <a:close/>
              </a:path>
            </a:pathLst>
          </a:custGeom>
          <a:solidFill>
            <a:srgbClr val="548F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ube-right"/>
          <p:cNvSpPr/>
          <p:nvPr/>
        </p:nvSpPr>
        <p:spPr>
          <a:xfrm>
            <a:off x="14525625" y="7905750"/>
            <a:ext cx="2905125" cy="5038725"/>
          </a:xfrm>
          <a:custGeom>
            <a:avLst/>
            <a:gdLst/>
            <a:ahLst/>
            <a:cxnLst/>
            <a:rect l="l" t="t" r="r" b="b"/>
            <a:pathLst>
              <a:path w="2905125" h="5038725">
                <a:moveTo>
                  <a:pt x="2905125" y="0"/>
                </a:moveTo>
                <a:lnTo>
                  <a:pt x="0" y="1619250"/>
                </a:lnTo>
                <a:lnTo>
                  <a:pt x="0" y="5038725"/>
                </a:lnTo>
                <a:lnTo>
                  <a:pt x="2905125" y="3048000"/>
                </a:lnTo>
                <a:close/>
              </a:path>
            </a:pathLst>
          </a:custGeom>
          <a:solidFill>
            <a:srgbClr val="649F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ube-t1-a"/>
          <p:cNvSpPr txBox="1"/>
          <p:nvPr/>
        </p:nvSpPr>
        <p:spPr>
          <a:xfrm rot="19920000">
            <a:off x="13649325" y="7124700"/>
            <a:ext cx="1238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34" name="cube-t1-b"/>
          <p:cNvSpPr txBox="1"/>
          <p:nvPr/>
        </p:nvSpPr>
        <p:spPr>
          <a:xfrm rot="19920000">
            <a:off x="14287500" y="7734300"/>
            <a:ext cx="1238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5" name="cube-t2-a"/>
          <p:cNvSpPr txBox="1"/>
          <p:nvPr/>
        </p:nvSpPr>
        <p:spPr>
          <a:xfrm rot="1680000">
            <a:off x="12287250" y="8572500"/>
            <a:ext cx="1238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36" name="cube-t2-b"/>
          <p:cNvSpPr txBox="1"/>
          <p:nvPr/>
        </p:nvSpPr>
        <p:spPr>
          <a:xfrm rot="1680000">
            <a:off x="12363450" y="9620250"/>
            <a:ext cx="1238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cube-t3-a"/>
          <p:cNvSpPr txBox="1"/>
          <p:nvPr/>
        </p:nvSpPr>
        <p:spPr>
          <a:xfrm rot="19920000">
            <a:off x="15182850" y="8724900"/>
            <a:ext cx="1238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38" name="cube-t3-b"/>
          <p:cNvSpPr txBox="1"/>
          <p:nvPr/>
        </p:nvSpPr>
        <p:spPr>
          <a:xfrm rot="19920000">
            <a:off x="15316200" y="9772650"/>
            <a:ext cx="1238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bubble-top-tail"/>
          <p:cNvSpPr/>
          <p:nvPr/>
        </p:nvSpPr>
        <p:spPr>
          <a:xfrm>
            <a:off x="15001875" y="5143500"/>
            <a:ext cx="1304925" cy="1714500"/>
          </a:xfrm>
          <a:custGeom>
            <a:avLst/>
            <a:gdLst/>
            <a:ahLst/>
            <a:cxnLst/>
            <a:rect l="l" t="t" r="r" b="b"/>
            <a:pathLst>
              <a:path w="1304925" h="1714500">
                <a:moveTo>
                  <a:pt x="0" y="0"/>
                </a:moveTo>
                <a:lnTo>
                  <a:pt x="1304925" y="0"/>
                </a:lnTo>
                <a:lnTo>
                  <a:pt x="695325" y="1714500"/>
                </a:lnTo>
                <a:close/>
              </a:path>
            </a:pathLst>
          </a:custGeom>
          <a:solidFill>
            <a:srgbClr val="FFFFFF"/>
          </a:solidFill>
          <a:ln w="66675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ubble-top"/>
          <p:cNvSpPr/>
          <p:nvPr/>
        </p:nvSpPr>
        <p:spPr>
          <a:xfrm>
            <a:off x="14420850" y="3219450"/>
            <a:ext cx="4505325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66675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ubble-top-text"/>
          <p:cNvSpPr txBox="1"/>
          <p:nvPr/>
        </p:nvSpPr>
        <p:spPr>
          <a:xfrm>
            <a:off x="14420850" y="3219450"/>
            <a:ext cx="4505325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详细情况说明</a:t>
            </a:r>
          </a:p>
        </p:txBody>
      </p:sp>
      <p:sp>
        <p:nvSpPr>
          <p:cNvPr id="42" name="bubble-bot-tail"/>
          <p:cNvSpPr/>
          <p:nvPr/>
        </p:nvSpPr>
        <p:spPr>
          <a:xfrm>
            <a:off x="11811000" y="12382500"/>
            <a:ext cx="2190750" cy="1571625"/>
          </a:xfrm>
          <a:custGeom>
            <a:avLst/>
            <a:gdLst/>
            <a:ahLst/>
            <a:cxnLst/>
            <a:rect l="l" t="t" r="r" b="b"/>
            <a:pathLst>
              <a:path w="2190750" h="1571625">
                <a:moveTo>
                  <a:pt x="0" y="1571625"/>
                </a:moveTo>
                <a:lnTo>
                  <a:pt x="2190750" y="1571625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  <a:ln w="66675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ubble-bot"/>
          <p:cNvSpPr/>
          <p:nvPr/>
        </p:nvSpPr>
        <p:spPr>
          <a:xfrm>
            <a:off x="11229975" y="13820775"/>
            <a:ext cx="502920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66675">
            <a:solidFill>
              <a:srgbClr val="4D8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ubble-bot-text"/>
          <p:cNvSpPr txBox="1"/>
          <p:nvPr/>
        </p:nvSpPr>
        <p:spPr>
          <a:xfrm>
            <a:off x="11229975" y="13820775"/>
            <a:ext cx="5029200" cy="1724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4D8956"/>
                </a:solidFill>
                <a:latin typeface="Microsoft YaHei"/>
                <a:ea typeface="Microsoft YaHei"/>
                <a:cs typeface="Microsoft YaHei"/>
              </a:rPr>
              <a:t>详细情况说明</a:t>
            </a:r>
          </a:p>
        </p:txBody>
      </p:sp>
      <p:sp>
        <p:nvSpPr>
          <p:cNvPr id="45" name="part-1-box"/>
          <p:cNvSpPr/>
          <p:nvPr/>
        </p:nvSpPr>
        <p:spPr>
          <a:xfrm>
            <a:off x="20726400" y="4076700"/>
            <a:ext cx="8124825" cy="3009900"/>
          </a:xfrm>
          <a:prstGeom prst="rect">
            <a:avLst/>
          </a:prstGeom>
          <a:noFill/>
          <a:ln w="38100">
            <a:solidFill>
              <a:srgbClr val="4D895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rt-1-tag"/>
          <p:cNvSpPr/>
          <p:nvPr/>
        </p:nvSpPr>
        <p:spPr>
          <a:xfrm>
            <a:off x="21469350" y="3505200"/>
            <a:ext cx="3343275" cy="914400"/>
          </a:xfrm>
          <a:prstGeom prst="roundRect">
            <a:avLst>
              <a:gd name="adj" fmla="val 39583"/>
            </a:avLst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rt-1-tag-text"/>
          <p:cNvSpPr txBox="1"/>
          <p:nvPr/>
        </p:nvSpPr>
        <p:spPr>
          <a:xfrm>
            <a:off x="21469350" y="3505200"/>
            <a:ext cx="3343275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48" name="part-1-line1"/>
          <p:cNvSpPr txBox="1"/>
          <p:nvPr/>
        </p:nvSpPr>
        <p:spPr>
          <a:xfrm>
            <a:off x="21478875" y="4953000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2025年，在公司营收、销量方面来看，日</a:t>
            </a:r>
          </a:p>
        </p:txBody>
      </p:sp>
      <p:sp>
        <p:nvSpPr>
          <p:cNvPr id="49" name="part-1-line2"/>
          <p:cNvSpPr txBox="1"/>
          <p:nvPr/>
        </p:nvSpPr>
        <p:spPr>
          <a:xfrm>
            <a:off x="21478875" y="5548312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常出行以及阅读学习成为本年度销量的有</a:t>
            </a:r>
          </a:p>
        </p:txBody>
      </p:sp>
      <p:sp>
        <p:nvSpPr>
          <p:cNvPr id="50" name="part-1-line3"/>
          <p:cNvSpPr txBox="1"/>
          <p:nvPr/>
        </p:nvSpPr>
        <p:spPr>
          <a:xfrm>
            <a:off x="21478875" y="6143625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力增长点。</a:t>
            </a:r>
          </a:p>
        </p:txBody>
      </p:sp>
      <p:sp>
        <p:nvSpPr>
          <p:cNvPr id="51" name="part-2-box"/>
          <p:cNvSpPr/>
          <p:nvPr/>
        </p:nvSpPr>
        <p:spPr>
          <a:xfrm>
            <a:off x="20726400" y="8105775"/>
            <a:ext cx="8124825" cy="3009900"/>
          </a:xfrm>
          <a:prstGeom prst="rect">
            <a:avLst/>
          </a:prstGeom>
          <a:noFill/>
          <a:ln w="38100">
            <a:solidFill>
              <a:srgbClr val="4D895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rt-2-tag"/>
          <p:cNvSpPr/>
          <p:nvPr/>
        </p:nvSpPr>
        <p:spPr>
          <a:xfrm>
            <a:off x="21469350" y="7534275"/>
            <a:ext cx="3343275" cy="914400"/>
          </a:xfrm>
          <a:prstGeom prst="roundRect">
            <a:avLst>
              <a:gd name="adj" fmla="val 39583"/>
            </a:avLst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rt-2-tag-text"/>
          <p:cNvSpPr txBox="1"/>
          <p:nvPr/>
        </p:nvSpPr>
        <p:spPr>
          <a:xfrm>
            <a:off x="21469350" y="7534275"/>
            <a:ext cx="3343275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54" name="part-2-line1"/>
          <p:cNvSpPr txBox="1"/>
          <p:nvPr/>
        </p:nvSpPr>
        <p:spPr>
          <a:xfrm>
            <a:off x="21478875" y="8982075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2025年，在公司营收、销量方面来看，日</a:t>
            </a:r>
          </a:p>
        </p:txBody>
      </p:sp>
      <p:sp>
        <p:nvSpPr>
          <p:cNvPr id="55" name="part-2-line2"/>
          <p:cNvSpPr txBox="1"/>
          <p:nvPr/>
        </p:nvSpPr>
        <p:spPr>
          <a:xfrm>
            <a:off x="21478875" y="9577388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常出行以及阅读学习成为本年度销量的有</a:t>
            </a:r>
          </a:p>
        </p:txBody>
      </p:sp>
      <p:sp>
        <p:nvSpPr>
          <p:cNvPr id="56" name="part-2-line3"/>
          <p:cNvSpPr txBox="1"/>
          <p:nvPr/>
        </p:nvSpPr>
        <p:spPr>
          <a:xfrm>
            <a:off x="21478875" y="10172700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力增长点。</a:t>
            </a:r>
          </a:p>
        </p:txBody>
      </p:sp>
      <p:sp>
        <p:nvSpPr>
          <p:cNvPr id="57" name="part-3-box"/>
          <p:cNvSpPr/>
          <p:nvPr/>
        </p:nvSpPr>
        <p:spPr>
          <a:xfrm>
            <a:off x="20726400" y="12134850"/>
            <a:ext cx="8124825" cy="3009900"/>
          </a:xfrm>
          <a:prstGeom prst="rect">
            <a:avLst/>
          </a:prstGeom>
          <a:noFill/>
          <a:ln w="38100">
            <a:solidFill>
              <a:srgbClr val="4D895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art-3-tag"/>
          <p:cNvSpPr/>
          <p:nvPr/>
        </p:nvSpPr>
        <p:spPr>
          <a:xfrm>
            <a:off x="21469350" y="11563350"/>
            <a:ext cx="3343275" cy="914400"/>
          </a:xfrm>
          <a:prstGeom prst="roundRect">
            <a:avLst>
              <a:gd name="adj" fmla="val 39583"/>
            </a:avLst>
          </a:prstGeom>
          <a:solidFill>
            <a:srgbClr val="4D89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art-3-tag-text"/>
          <p:cNvSpPr txBox="1"/>
          <p:nvPr/>
        </p:nvSpPr>
        <p:spPr>
          <a:xfrm>
            <a:off x="21469350" y="11563350"/>
            <a:ext cx="3343275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60" name="part-3-line1"/>
          <p:cNvSpPr txBox="1"/>
          <p:nvPr/>
        </p:nvSpPr>
        <p:spPr>
          <a:xfrm>
            <a:off x="21478875" y="13011150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2025年，在公司营收、销量方面来看，日</a:t>
            </a:r>
          </a:p>
        </p:txBody>
      </p:sp>
      <p:sp>
        <p:nvSpPr>
          <p:cNvPr id="61" name="part-3-line2"/>
          <p:cNvSpPr txBox="1"/>
          <p:nvPr/>
        </p:nvSpPr>
        <p:spPr>
          <a:xfrm>
            <a:off x="21478875" y="13606462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常出行以及阅读学习成为本年度销量的有</a:t>
            </a:r>
          </a:p>
        </p:txBody>
      </p:sp>
      <p:sp>
        <p:nvSpPr>
          <p:cNvPr id="62" name="part-3-line3"/>
          <p:cNvSpPr txBox="1"/>
          <p:nvPr/>
        </p:nvSpPr>
        <p:spPr>
          <a:xfrm>
            <a:off x="21478875" y="14201775"/>
            <a:ext cx="7524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力增长点。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