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0000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0000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ule-top"/>
          <p:cNvSpPr/>
          <p:nvPr/>
        </p:nvSpPr>
        <p:spPr>
          <a:xfrm>
            <a:off x="1143000" y="1752600"/>
            <a:ext cx="28479750" cy="123825"/>
          </a:xfrm>
          <a:prstGeom prst="rect">
            <a:avLst/>
          </a:prstGeom>
          <a:solidFill>
            <a:srgbClr val="518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ule-bottom"/>
          <p:cNvSpPr/>
          <p:nvPr/>
        </p:nvSpPr>
        <p:spPr>
          <a:xfrm>
            <a:off x="1314450" y="16487775"/>
            <a:ext cx="28479750" cy="28575"/>
          </a:xfrm>
          <a:prstGeom prst="rect">
            <a:avLst/>
          </a:prstGeom>
          <a:solidFill>
            <a:srgbClr val="70946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57" name="ic-check"/>
          <p:cNvGrpSpPr/>
          <p:nvPr/>
        </p:nvGrpSpPr>
        <p:grpSpPr>
          <a:xfrm>
            <a:off x="1271588" y="552450"/>
            <a:ext cx="1014412" cy="971550"/>
            <a:chOff x="1271588" y="552450"/>
            <a:chExt cx="1014412" cy="971550"/>
          </a:xfrm>
        </p:grpSpPr>
        <p:sp>
          <p:nvSpPr>
            <p:cNvPr id="5" name="ic-ring"/>
            <p:cNvSpPr/>
            <p:nvPr/>
          </p:nvSpPr>
          <p:spPr>
            <a:xfrm>
              <a:off x="1271588" y="552450"/>
              <a:ext cx="971550" cy="971550"/>
            </a:xfrm>
            <a:prstGeom prst="ellipse">
              <a:avLst/>
            </a:prstGeom>
            <a:noFill/>
            <a:ln w="80962">
              <a:solidFill>
                <a:srgbClr val="518A5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c-knock"/>
            <p:cNvSpPr/>
            <p:nvPr/>
          </p:nvSpPr>
          <p:spPr>
            <a:xfrm>
              <a:off x="1476375" y="657225"/>
              <a:ext cx="809625" cy="609600"/>
            </a:xfrm>
            <a:custGeom>
              <a:avLst/>
              <a:gdLst/>
              <a:ahLst/>
              <a:cxnLst/>
              <a:rect l="l" t="t" r="r" b="b"/>
              <a:pathLst>
                <a:path w="809625" h="609600">
                  <a:moveTo>
                    <a:pt x="0" y="304800"/>
                  </a:moveTo>
                  <a:lnTo>
                    <a:pt x="209550" y="609600"/>
                  </a:lnTo>
                  <a:lnTo>
                    <a:pt x="809625" y="0"/>
                  </a:lnTo>
                </a:path>
              </a:pathLst>
            </a:custGeom>
            <a:noFill/>
            <a:ln w="228600">
              <a:solidFill>
                <a:srgbClr val="FFFFFF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c-tick"/>
            <p:cNvSpPr/>
            <p:nvPr/>
          </p:nvSpPr>
          <p:spPr>
            <a:xfrm>
              <a:off x="1476375" y="657225"/>
              <a:ext cx="809625" cy="609600"/>
            </a:xfrm>
            <a:custGeom>
              <a:avLst/>
              <a:gdLst/>
              <a:ahLst/>
              <a:cxnLst/>
              <a:rect l="l" t="t" r="r" b="b"/>
              <a:pathLst>
                <a:path w="809625" h="609600">
                  <a:moveTo>
                    <a:pt x="0" y="304800"/>
                  </a:moveTo>
                  <a:lnTo>
                    <a:pt x="209550" y="609600"/>
                  </a:lnTo>
                  <a:lnTo>
                    <a:pt x="809625" y="0"/>
                  </a:lnTo>
                </a:path>
              </a:pathLst>
            </a:custGeom>
            <a:noFill/>
            <a:ln w="95250">
              <a:solidFill>
                <a:srgbClr val="518A57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t-title"/>
          <p:cNvSpPr txBox="1"/>
          <p:nvPr/>
        </p:nvSpPr>
        <p:spPr>
          <a:xfrm>
            <a:off x="2724150" y="447675"/>
            <a:ext cx="9446362" cy="1219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41824C"/>
                </a:solidFill>
                <a:latin typeface="Microsoft YaHei"/>
                <a:ea typeface="Microsoft YaHei"/>
                <a:cs typeface="Microsoft YaHei"/>
              </a:rPr>
              <a:t>职场工作汇报逻辑图表PPT</a:t>
            </a:r>
          </a:p>
        </p:txBody>
      </p:sp>
      <p:sp>
        <p:nvSpPr>
          <p:cNvPr id="9" name="tag-bg"/>
          <p:cNvSpPr/>
          <p:nvPr/>
        </p:nvSpPr>
        <p:spPr>
          <a:xfrm>
            <a:off x="25307925" y="609600"/>
            <a:ext cx="4314825" cy="885825"/>
          </a:xfrm>
          <a:prstGeom prst="roundRect">
            <a:avLst>
              <a:gd name="adj" fmla="val 3225"/>
            </a:avLst>
          </a:prstGeom>
          <a:solidFill>
            <a:srgbClr val="518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-tag"/>
          <p:cNvSpPr txBox="1"/>
          <p:nvPr/>
        </p:nvSpPr>
        <p:spPr>
          <a:xfrm>
            <a:off x="25307925" y="514350"/>
            <a:ext cx="4314825" cy="1009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11" name="mid-panel"/>
          <p:cNvSpPr/>
          <p:nvPr/>
        </p:nvSpPr>
        <p:spPr>
          <a:xfrm>
            <a:off x="2143125" y="3038475"/>
            <a:ext cx="26670000" cy="2514600"/>
          </a:xfrm>
          <a:prstGeom prst="roundRect">
            <a:avLst>
              <a:gd name="adj" fmla="val 6818"/>
            </a:avLst>
          </a:prstGeom>
          <a:solidFill>
            <a:srgbClr val="518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id-tail"/>
          <p:cNvSpPr/>
          <p:nvPr/>
        </p:nvSpPr>
        <p:spPr>
          <a:xfrm>
            <a:off x="25698450" y="5429250"/>
            <a:ext cx="1123950" cy="476250"/>
          </a:xfrm>
          <a:custGeom>
            <a:avLst/>
            <a:gdLst/>
            <a:ahLst/>
            <a:cxnLst/>
            <a:rect l="l" t="t" r="r" b="b"/>
            <a:pathLst>
              <a:path w="1123950" h="476250">
                <a:moveTo>
                  <a:pt x="0" y="0"/>
                </a:moveTo>
                <a:lnTo>
                  <a:pt x="1123950" y="0"/>
                </a:lnTo>
                <a:lnTo>
                  <a:pt x="561975" y="476250"/>
                </a:lnTo>
                <a:close/>
              </a:path>
            </a:pathLst>
          </a:custGeom>
          <a:solidFill>
            <a:srgbClr val="518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mid-l1"/>
          <p:cNvSpPr txBox="1"/>
          <p:nvPr/>
        </p:nvSpPr>
        <p:spPr>
          <a:xfrm>
            <a:off x="3324225" y="3409950"/>
            <a:ext cx="25115733" cy="819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12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结合2025年度数据，可以看出用户对于产品品牌的关注更加强烈，头部品牌的用户粘性显著增加，其中价格、</a:t>
            </a:r>
          </a:p>
        </p:txBody>
      </p:sp>
      <p:sp>
        <p:nvSpPr>
          <p:cNvPr id="14" name="mid-l2"/>
          <p:cNvSpPr txBox="1"/>
          <p:nvPr/>
        </p:nvSpPr>
        <p:spPr>
          <a:xfrm>
            <a:off x="3324225" y="4314825"/>
            <a:ext cx="11430000" cy="819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营销手段、影响显著。</a:t>
            </a:r>
          </a:p>
        </p:txBody>
      </p:sp>
      <p:sp>
        <p:nvSpPr>
          <p:cNvPr id="15" name="big-arrow"/>
          <p:cNvSpPr/>
          <p:nvPr/>
        </p:nvSpPr>
        <p:spPr>
          <a:xfrm>
            <a:off x="2381250" y="13535025"/>
            <a:ext cx="26650950" cy="2724150"/>
          </a:xfrm>
          <a:custGeom>
            <a:avLst/>
            <a:gdLst/>
            <a:ahLst/>
            <a:cxnLst/>
            <a:rect l="l" t="t" r="r" b="b"/>
            <a:pathLst>
              <a:path w="26650950" h="2724150">
                <a:moveTo>
                  <a:pt x="0" y="714375"/>
                </a:moveTo>
                <a:lnTo>
                  <a:pt x="25317450" y="714375"/>
                </a:lnTo>
                <a:lnTo>
                  <a:pt x="25317450" y="0"/>
                </a:lnTo>
                <a:lnTo>
                  <a:pt x="26650950" y="1362075"/>
                </a:lnTo>
                <a:lnTo>
                  <a:pt x="25317450" y="2724150"/>
                </a:lnTo>
                <a:lnTo>
                  <a:pt x="25317450" y="2038350"/>
                </a:lnTo>
                <a:lnTo>
                  <a:pt x="0" y="2038350"/>
                </a:lnTo>
                <a:close/>
              </a:path>
            </a:pathLst>
          </a:custGeom>
          <a:solidFill>
            <a:srgbClr val="518A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56" name="card-1"/>
          <p:cNvGrpSpPr/>
          <p:nvPr/>
        </p:nvGrpSpPr>
        <p:grpSpPr>
          <a:xfrm>
            <a:off x="2428875" y="6515100"/>
            <a:ext cx="5791200" cy="8515350"/>
            <a:chOff x="2428875" y="6515100"/>
            <a:chExt cx="5791200" cy="8515350"/>
          </a:xfrm>
        </p:grpSpPr>
        <p:sp>
          <p:nvSpPr>
            <p:cNvPr id="16" name="card1-bg"/>
            <p:cNvSpPr/>
            <p:nvPr/>
          </p:nvSpPr>
          <p:spPr>
            <a:xfrm>
              <a:off x="2428875" y="6515100"/>
              <a:ext cx="5791200" cy="77343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759E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card1-bar"/>
            <p:cNvSpPr/>
            <p:nvPr/>
          </p:nvSpPr>
          <p:spPr>
            <a:xfrm>
              <a:off x="2428875" y="6515100"/>
              <a:ext cx="5791200" cy="1485900"/>
            </a:xfrm>
            <a:prstGeom prst="rect">
              <a:avLst/>
            </a:pr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card1-year"/>
            <p:cNvSpPr txBox="1"/>
            <p:nvPr/>
          </p:nvSpPr>
          <p:spPr>
            <a:xfrm>
              <a:off x="2428875" y="6648450"/>
              <a:ext cx="5791200" cy="1190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2022年</a:t>
              </a:r>
            </a:p>
          </p:txBody>
        </p:sp>
        <p:sp>
          <p:nvSpPr>
            <p:cNvPr id="19" name="card1-l1"/>
            <p:cNvSpPr txBox="1"/>
            <p:nvPr/>
          </p:nvSpPr>
          <p:spPr>
            <a:xfrm>
              <a:off x="3114675" y="832485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在公司营收、销量方面来</a:t>
              </a:r>
            </a:p>
          </p:txBody>
        </p:sp>
        <p:sp>
          <p:nvSpPr>
            <p:cNvPr id="20" name="card1-l2"/>
            <p:cNvSpPr txBox="1"/>
            <p:nvPr/>
          </p:nvSpPr>
          <p:spPr>
            <a:xfrm>
              <a:off x="3114675" y="899160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看，服饰、生活用品、娱</a:t>
              </a:r>
            </a:p>
          </p:txBody>
        </p:sp>
        <p:sp>
          <p:nvSpPr>
            <p:cNvPr id="21" name="card1-l3"/>
            <p:cNvSpPr txBox="1"/>
            <p:nvPr/>
          </p:nvSpPr>
          <p:spPr>
            <a:xfrm>
              <a:off x="3114675" y="967740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乐设施、美食、日常出行</a:t>
              </a:r>
            </a:p>
          </p:txBody>
        </p:sp>
        <p:sp>
          <p:nvSpPr>
            <p:cNvPr id="22" name="card1-l4"/>
            <p:cNvSpPr txBox="1"/>
            <p:nvPr/>
          </p:nvSpPr>
          <p:spPr>
            <a:xfrm>
              <a:off x="3114675" y="10372725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以及阅读学习成为本年度</a:t>
              </a:r>
            </a:p>
          </p:txBody>
        </p:sp>
        <p:sp>
          <p:nvSpPr>
            <p:cNvPr id="23" name="card1-l5"/>
            <p:cNvSpPr txBox="1"/>
            <p:nvPr/>
          </p:nvSpPr>
          <p:spPr>
            <a:xfrm>
              <a:off x="3114675" y="11058525"/>
              <a:ext cx="4476750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销量的有力增长点</a:t>
              </a:r>
            </a:p>
          </p:txBody>
        </p:sp>
        <p:sp>
          <p:nvSpPr>
            <p:cNvPr id="24" name="card1-wm"/>
            <p:cNvSpPr txBox="1"/>
            <p:nvPr/>
          </p:nvSpPr>
          <p:spPr>
            <a:xfrm>
              <a:off x="4791075" y="11163300"/>
              <a:ext cx="3352800" cy="3867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9050" b="1" i="0">
                  <a:solidFill>
                    <a:srgbClr val="D3DFD5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</p:grpSp>
      <p:grpSp>
        <p:nvGrpSpPr>
          <p:cNvPr id="53" name="card-2"/>
          <p:cNvGrpSpPr/>
          <p:nvPr/>
        </p:nvGrpSpPr>
        <p:grpSpPr>
          <a:xfrm>
            <a:off x="9001125" y="6515100"/>
            <a:ext cx="5791200" cy="8515350"/>
            <a:chOff x="9001125" y="6515100"/>
            <a:chExt cx="5791200" cy="8515350"/>
          </a:xfrm>
        </p:grpSpPr>
        <p:sp>
          <p:nvSpPr>
            <p:cNvPr id="25" name="card2-bg"/>
            <p:cNvSpPr/>
            <p:nvPr/>
          </p:nvSpPr>
          <p:spPr>
            <a:xfrm>
              <a:off x="9001125" y="6515100"/>
              <a:ext cx="5791200" cy="77343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759E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card2-bar"/>
            <p:cNvSpPr/>
            <p:nvPr/>
          </p:nvSpPr>
          <p:spPr>
            <a:xfrm>
              <a:off x="9001125" y="6515100"/>
              <a:ext cx="5791200" cy="1485900"/>
            </a:xfrm>
            <a:prstGeom prst="rect">
              <a:avLst/>
            </a:pr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card2-year"/>
            <p:cNvSpPr txBox="1"/>
            <p:nvPr/>
          </p:nvSpPr>
          <p:spPr>
            <a:xfrm>
              <a:off x="9001125" y="6648450"/>
              <a:ext cx="5791200" cy="1190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2023年</a:t>
              </a:r>
            </a:p>
          </p:txBody>
        </p:sp>
        <p:sp>
          <p:nvSpPr>
            <p:cNvPr id="28" name="card2-l1"/>
            <p:cNvSpPr txBox="1"/>
            <p:nvPr/>
          </p:nvSpPr>
          <p:spPr>
            <a:xfrm>
              <a:off x="9686925" y="832485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在公司营收、销量方面来</a:t>
              </a:r>
            </a:p>
          </p:txBody>
        </p:sp>
        <p:sp>
          <p:nvSpPr>
            <p:cNvPr id="29" name="card2-l2"/>
            <p:cNvSpPr txBox="1"/>
            <p:nvPr/>
          </p:nvSpPr>
          <p:spPr>
            <a:xfrm>
              <a:off x="9686925" y="899160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看，服饰、生活用品、娱</a:t>
              </a:r>
            </a:p>
          </p:txBody>
        </p:sp>
        <p:sp>
          <p:nvSpPr>
            <p:cNvPr id="30" name="card2-l3"/>
            <p:cNvSpPr txBox="1"/>
            <p:nvPr/>
          </p:nvSpPr>
          <p:spPr>
            <a:xfrm>
              <a:off x="9686925" y="967740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乐设施、美食、日常出行</a:t>
              </a:r>
            </a:p>
          </p:txBody>
        </p:sp>
        <p:sp>
          <p:nvSpPr>
            <p:cNvPr id="31" name="card2-l4"/>
            <p:cNvSpPr txBox="1"/>
            <p:nvPr/>
          </p:nvSpPr>
          <p:spPr>
            <a:xfrm>
              <a:off x="9686925" y="10372725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以及阅读学习成为本年度</a:t>
              </a:r>
            </a:p>
          </p:txBody>
        </p:sp>
        <p:sp>
          <p:nvSpPr>
            <p:cNvPr id="32" name="card2-l5"/>
            <p:cNvSpPr txBox="1"/>
            <p:nvPr/>
          </p:nvSpPr>
          <p:spPr>
            <a:xfrm>
              <a:off x="9686925" y="11058525"/>
              <a:ext cx="4476750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销量的有力增长点</a:t>
              </a:r>
            </a:p>
          </p:txBody>
        </p:sp>
        <p:sp>
          <p:nvSpPr>
            <p:cNvPr id="33" name="card2-wm"/>
            <p:cNvSpPr txBox="1"/>
            <p:nvPr/>
          </p:nvSpPr>
          <p:spPr>
            <a:xfrm>
              <a:off x="11363325" y="11163300"/>
              <a:ext cx="3352800" cy="3867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9050" b="1" i="0">
                  <a:solidFill>
                    <a:srgbClr val="D3DFD5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</p:grpSp>
      <p:grpSp>
        <p:nvGrpSpPr>
          <p:cNvPr id="54" name="card-3"/>
          <p:cNvGrpSpPr/>
          <p:nvPr/>
        </p:nvGrpSpPr>
        <p:grpSpPr>
          <a:xfrm>
            <a:off x="15449550" y="6515100"/>
            <a:ext cx="5791200" cy="8515350"/>
            <a:chOff x="15449550" y="6515100"/>
            <a:chExt cx="5791200" cy="8515350"/>
          </a:xfrm>
        </p:grpSpPr>
        <p:sp>
          <p:nvSpPr>
            <p:cNvPr id="34" name="card3-bg"/>
            <p:cNvSpPr/>
            <p:nvPr/>
          </p:nvSpPr>
          <p:spPr>
            <a:xfrm>
              <a:off x="15449550" y="6515100"/>
              <a:ext cx="5791200" cy="77343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759E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card3-bar"/>
            <p:cNvSpPr/>
            <p:nvPr/>
          </p:nvSpPr>
          <p:spPr>
            <a:xfrm>
              <a:off x="15449550" y="6515100"/>
              <a:ext cx="5791200" cy="1485900"/>
            </a:xfrm>
            <a:prstGeom prst="rect">
              <a:avLst/>
            </a:pr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card3-year"/>
            <p:cNvSpPr txBox="1"/>
            <p:nvPr/>
          </p:nvSpPr>
          <p:spPr>
            <a:xfrm>
              <a:off x="15449550" y="6648450"/>
              <a:ext cx="5791200" cy="1190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2024年</a:t>
              </a:r>
            </a:p>
          </p:txBody>
        </p:sp>
        <p:sp>
          <p:nvSpPr>
            <p:cNvPr id="37" name="card3-l1"/>
            <p:cNvSpPr txBox="1"/>
            <p:nvPr/>
          </p:nvSpPr>
          <p:spPr>
            <a:xfrm>
              <a:off x="16135350" y="832485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在公司营收、销量方面来</a:t>
              </a:r>
            </a:p>
          </p:txBody>
        </p:sp>
        <p:sp>
          <p:nvSpPr>
            <p:cNvPr id="38" name="card3-l2"/>
            <p:cNvSpPr txBox="1"/>
            <p:nvPr/>
          </p:nvSpPr>
          <p:spPr>
            <a:xfrm>
              <a:off x="16135350" y="899160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看，服饰、生活用品、娱</a:t>
              </a:r>
            </a:p>
          </p:txBody>
        </p:sp>
        <p:sp>
          <p:nvSpPr>
            <p:cNvPr id="39" name="card3-l3"/>
            <p:cNvSpPr txBox="1"/>
            <p:nvPr/>
          </p:nvSpPr>
          <p:spPr>
            <a:xfrm>
              <a:off x="16135350" y="967740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乐设施、美食、日常出行</a:t>
              </a:r>
            </a:p>
          </p:txBody>
        </p:sp>
        <p:sp>
          <p:nvSpPr>
            <p:cNvPr id="40" name="card3-l4"/>
            <p:cNvSpPr txBox="1"/>
            <p:nvPr/>
          </p:nvSpPr>
          <p:spPr>
            <a:xfrm>
              <a:off x="16135350" y="10372725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以及阅读学习成为本年度</a:t>
              </a:r>
            </a:p>
          </p:txBody>
        </p:sp>
        <p:sp>
          <p:nvSpPr>
            <p:cNvPr id="41" name="card3-l5"/>
            <p:cNvSpPr txBox="1"/>
            <p:nvPr/>
          </p:nvSpPr>
          <p:spPr>
            <a:xfrm>
              <a:off x="16135350" y="11058525"/>
              <a:ext cx="4476750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销量的有力增长点</a:t>
              </a:r>
            </a:p>
          </p:txBody>
        </p:sp>
        <p:sp>
          <p:nvSpPr>
            <p:cNvPr id="42" name="card3-wm"/>
            <p:cNvSpPr txBox="1"/>
            <p:nvPr/>
          </p:nvSpPr>
          <p:spPr>
            <a:xfrm>
              <a:off x="17811750" y="11163300"/>
              <a:ext cx="3352800" cy="3867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9050" b="1" i="0">
                  <a:solidFill>
                    <a:srgbClr val="D3DFD5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</p:grpSp>
      <p:grpSp>
        <p:nvGrpSpPr>
          <p:cNvPr id="55" name="card-4"/>
          <p:cNvGrpSpPr/>
          <p:nvPr/>
        </p:nvGrpSpPr>
        <p:grpSpPr>
          <a:xfrm>
            <a:off x="22021800" y="6515100"/>
            <a:ext cx="5791200" cy="8515350"/>
            <a:chOff x="22021800" y="6515100"/>
            <a:chExt cx="5791200" cy="8515350"/>
          </a:xfrm>
        </p:grpSpPr>
        <p:sp>
          <p:nvSpPr>
            <p:cNvPr id="43" name="card4-bg"/>
            <p:cNvSpPr/>
            <p:nvPr/>
          </p:nvSpPr>
          <p:spPr>
            <a:xfrm>
              <a:off x="22021800" y="6515100"/>
              <a:ext cx="5791200" cy="77343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759E7B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card4-bar"/>
            <p:cNvSpPr/>
            <p:nvPr/>
          </p:nvSpPr>
          <p:spPr>
            <a:xfrm>
              <a:off x="22021800" y="6515100"/>
              <a:ext cx="5791200" cy="1485900"/>
            </a:xfrm>
            <a:prstGeom prst="rect">
              <a:avLst/>
            </a:prstGeom>
            <a:solidFill>
              <a:srgbClr val="4D8956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card4-year"/>
            <p:cNvSpPr txBox="1"/>
            <p:nvPr/>
          </p:nvSpPr>
          <p:spPr>
            <a:xfrm>
              <a:off x="22021800" y="6648450"/>
              <a:ext cx="5791200" cy="11906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8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2025年</a:t>
              </a:r>
            </a:p>
          </p:txBody>
        </p:sp>
        <p:sp>
          <p:nvSpPr>
            <p:cNvPr id="46" name="card4-l1"/>
            <p:cNvSpPr txBox="1"/>
            <p:nvPr/>
          </p:nvSpPr>
          <p:spPr>
            <a:xfrm>
              <a:off x="22707600" y="832485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在公司营收、销量方面来</a:t>
              </a:r>
            </a:p>
          </p:txBody>
        </p:sp>
        <p:sp>
          <p:nvSpPr>
            <p:cNvPr id="47" name="card4-l2"/>
            <p:cNvSpPr txBox="1"/>
            <p:nvPr/>
          </p:nvSpPr>
          <p:spPr>
            <a:xfrm>
              <a:off x="22707600" y="899160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看，服饰、生活用品、娱</a:t>
              </a:r>
            </a:p>
          </p:txBody>
        </p:sp>
        <p:sp>
          <p:nvSpPr>
            <p:cNvPr id="48" name="card4-l3"/>
            <p:cNvSpPr txBox="1"/>
            <p:nvPr/>
          </p:nvSpPr>
          <p:spPr>
            <a:xfrm>
              <a:off x="22707600" y="9677400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乐设施、美食、日常出行</a:t>
              </a:r>
            </a:p>
          </p:txBody>
        </p:sp>
        <p:sp>
          <p:nvSpPr>
            <p:cNvPr id="49" name="card4-l4"/>
            <p:cNvSpPr txBox="1"/>
            <p:nvPr/>
          </p:nvSpPr>
          <p:spPr>
            <a:xfrm>
              <a:off x="22707600" y="10372725"/>
              <a:ext cx="4489399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以及阅读学习成为本年度</a:t>
              </a:r>
            </a:p>
          </p:txBody>
        </p:sp>
        <p:sp>
          <p:nvSpPr>
            <p:cNvPr id="50" name="card4-l5"/>
            <p:cNvSpPr txBox="1"/>
            <p:nvPr/>
          </p:nvSpPr>
          <p:spPr>
            <a:xfrm>
              <a:off x="22707600" y="11058525"/>
              <a:ext cx="4476750" cy="6191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90" b="1" i="0">
                  <a:solidFill>
                    <a:srgbClr val="3F5548"/>
                  </a:solidFill>
                  <a:latin typeface="Microsoft YaHei"/>
                  <a:ea typeface="Microsoft YaHei"/>
                  <a:cs typeface="Microsoft YaHei"/>
                </a:rPr>
                <a:t>销量的有力增长点</a:t>
              </a:r>
            </a:p>
          </p:txBody>
        </p:sp>
        <p:sp>
          <p:nvSpPr>
            <p:cNvPr id="51" name="card4-wm"/>
            <p:cNvSpPr txBox="1"/>
            <p:nvPr/>
          </p:nvSpPr>
          <p:spPr>
            <a:xfrm>
              <a:off x="24384000" y="11163300"/>
              <a:ext cx="3352800" cy="3867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9050" b="1" i="0">
                  <a:solidFill>
                    <a:srgbClr val="D3DFD5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