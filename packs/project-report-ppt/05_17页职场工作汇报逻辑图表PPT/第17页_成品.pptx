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1" name="g-header"/>
          <p:cNvGrpSpPr/>
          <p:nvPr/>
        </p:nvGrpSpPr>
        <p:grpSpPr>
          <a:xfrm>
            <a:off x="1152525" y="447675"/>
            <a:ext cx="28460700" cy="1428750"/>
            <a:chOff x="1152525" y="447675"/>
            <a:chExt cx="28460700" cy="1428750"/>
          </a:xfrm>
        </p:grpSpPr>
        <p:sp>
          <p:nvSpPr>
            <p:cNvPr id="3" name="header-line"/>
            <p:cNvSpPr/>
            <p:nvPr/>
          </p:nvSpPr>
          <p:spPr>
            <a:xfrm>
              <a:off x="1152525" y="1752600"/>
              <a:ext cx="28460700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hdr-check-bg"/>
            <p:cNvSpPr/>
            <p:nvPr/>
          </p:nvSpPr>
          <p:spPr>
            <a:xfrm>
              <a:off x="1343025" y="533400"/>
              <a:ext cx="1028700" cy="1028700"/>
            </a:xfrm>
            <a:prstGeom prst="ellipse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0" name="hdr-check"/>
            <p:cNvGrpSpPr/>
            <p:nvPr/>
          </p:nvGrpSpPr>
          <p:grpSpPr>
            <a:xfrm>
              <a:off x="1674304" y="817435"/>
              <a:ext cx="366141" cy="460629"/>
              <a:chOff x="1674304" y="817435"/>
              <a:chExt cx="366141" cy="460629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674304" y="817435"/>
                <a:ext cx="366141" cy="460629"/>
              </a:xfrm>
              <a:prstGeom prst="roundRect">
                <a:avLst>
                  <a:gd name="adj" fmla="val 19354"/>
                </a:avLst>
              </a:prstGeom>
              <a:noFill/>
              <a:ln w="15240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6" name="Connector 5"/>
              <p:cNvCxnSpPr/>
              <p:nvPr/>
            </p:nvCxnSpPr>
            <p:spPr>
              <a:xfrm>
                <a:off x="1762887" y="1047750"/>
                <a:ext cx="70866" cy="82677"/>
              </a:xfrm>
              <a:prstGeom prst="line">
                <a:avLst/>
              </a:prstGeom>
              <a:ln w="6525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nector 6"/>
              <p:cNvCxnSpPr/>
              <p:nvPr/>
            </p:nvCxnSpPr>
            <p:spPr>
              <a:xfrm flipV="1">
                <a:off x="1833753" y="953262"/>
                <a:ext cx="124015" cy="177165"/>
              </a:xfrm>
              <a:prstGeom prst="line">
                <a:avLst/>
              </a:prstGeom>
              <a:ln w="6525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itle"/>
            <p:cNvSpPr txBox="1"/>
            <p:nvPr/>
          </p:nvSpPr>
          <p:spPr>
            <a:xfrm>
              <a:off x="2647950" y="447675"/>
              <a:ext cx="9525000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925" b="1" i="0">
                  <a:solidFill>
                    <a:srgbClr val="3E7A47"/>
                  </a:solidFill>
                  <a:latin typeface="Microsoft YaHei"/>
                  <a:ea typeface="Microsoft YaHei"/>
                  <a:cs typeface="Microsoft YaHei"/>
                </a:rPr>
                <a:t>职场工作汇报逻辑图表PPT</a:t>
              </a:r>
            </a:p>
          </p:txBody>
        </p:sp>
        <p:sp>
          <p:nvSpPr>
            <p:cNvPr id="9" name="tag-dataviz"/>
            <p:cNvSpPr/>
            <p:nvPr/>
          </p:nvSpPr>
          <p:spPr>
            <a:xfrm>
              <a:off x="25307925" y="609600"/>
              <a:ext cx="4305300" cy="885825"/>
            </a:xfrm>
            <a:prstGeom prst="roundRect">
              <a:avLst>
                <a:gd name="adj" fmla="val 4301"/>
              </a:avLst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ag-dataviz-text"/>
            <p:cNvSpPr txBox="1"/>
            <p:nvPr/>
          </p:nvSpPr>
          <p:spPr>
            <a:xfrm>
              <a:off x="25307925" y="609600"/>
              <a:ext cx="4305300" cy="8858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1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数据可视化</a:t>
              </a:r>
            </a:p>
          </p:txBody>
        </p:sp>
      </p:grpSp>
      <p:grpSp>
        <p:nvGrpSpPr>
          <p:cNvPr id="112" name="g-bubble"/>
          <p:cNvGrpSpPr/>
          <p:nvPr/>
        </p:nvGrpSpPr>
        <p:grpSpPr>
          <a:xfrm>
            <a:off x="1781175" y="2438400"/>
            <a:ext cx="4229100" cy="4800600"/>
            <a:chOff x="1781175" y="2438400"/>
            <a:chExt cx="4229100" cy="4800600"/>
          </a:xfrm>
        </p:grpSpPr>
        <p:sp>
          <p:nvSpPr>
            <p:cNvPr id="11" name="bubble-circle"/>
            <p:cNvSpPr/>
            <p:nvPr/>
          </p:nvSpPr>
          <p:spPr>
            <a:xfrm>
              <a:off x="1781175" y="2438400"/>
              <a:ext cx="4229100" cy="4229100"/>
            </a:xfrm>
            <a:prstGeom prst="ellipse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bubble-tail"/>
            <p:cNvSpPr/>
            <p:nvPr/>
          </p:nvSpPr>
          <p:spPr>
            <a:xfrm>
              <a:off x="4276725" y="6286500"/>
              <a:ext cx="1285875" cy="952500"/>
            </a:xfrm>
            <a:custGeom>
              <a:avLst/>
              <a:gdLst/>
              <a:ahLst/>
              <a:cxnLst/>
              <a:rect l="l" t="t" r="r" b="b"/>
              <a:pathLst>
                <a:path w="1285875" h="952500">
                  <a:moveTo>
                    <a:pt x="0" y="952500"/>
                  </a:moveTo>
                  <a:lnTo>
                    <a:pt x="1285875" y="762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bubble-pct"/>
            <p:cNvSpPr txBox="1"/>
            <p:nvPr/>
          </p:nvSpPr>
          <p:spPr>
            <a:xfrm>
              <a:off x="1876425" y="3409950"/>
              <a:ext cx="4038600" cy="1524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0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100%</a:t>
              </a:r>
            </a:p>
          </p:txBody>
        </p:sp>
        <p:sp>
          <p:nvSpPr>
            <p:cNvPr id="14" name="bubble-label"/>
            <p:cNvSpPr txBox="1"/>
            <p:nvPr/>
          </p:nvSpPr>
          <p:spPr>
            <a:xfrm>
              <a:off x="1876425" y="5029200"/>
              <a:ext cx="4038600" cy="857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8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实现目标</a:t>
              </a:r>
            </a:p>
          </p:txBody>
        </p:sp>
      </p:grpSp>
      <p:grpSp>
        <p:nvGrpSpPr>
          <p:cNvPr id="115" name="card-2020"/>
          <p:cNvGrpSpPr/>
          <p:nvPr/>
        </p:nvGrpSpPr>
        <p:grpSpPr>
          <a:xfrm>
            <a:off x="1790700" y="6762750"/>
            <a:ext cx="3314700" cy="3467100"/>
            <a:chOff x="1790700" y="6762750"/>
            <a:chExt cx="3314700" cy="3467100"/>
          </a:xfrm>
        </p:grpSpPr>
        <p:sp>
          <p:nvSpPr>
            <p:cNvPr id="15" name="card-2020-panel"/>
            <p:cNvSpPr/>
            <p:nvPr/>
          </p:nvSpPr>
          <p:spPr>
            <a:xfrm>
              <a:off x="1790700" y="6762750"/>
              <a:ext cx="3314700" cy="34671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28575">
              <a:solidFill>
                <a:srgbClr val="BBD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ard-2020-deco1"/>
            <p:cNvSpPr/>
            <p:nvPr/>
          </p:nvSpPr>
          <p:spPr>
            <a:xfrm>
              <a:off x="2152650" y="7000875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ard-2020-deco2"/>
            <p:cNvSpPr/>
            <p:nvPr/>
          </p:nvSpPr>
          <p:spPr>
            <a:xfrm>
              <a:off x="2152650" y="7200900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card-2020-year"/>
            <p:cNvSpPr txBox="1"/>
            <p:nvPr/>
          </p:nvSpPr>
          <p:spPr>
            <a:xfrm>
              <a:off x="1885950" y="7086600"/>
              <a:ext cx="31242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2020年</a:t>
              </a:r>
            </a:p>
          </p:txBody>
        </p:sp>
        <p:sp>
          <p:nvSpPr>
            <p:cNvPr id="19" name="card-2020-b1"/>
            <p:cNvSpPr txBox="1"/>
            <p:nvPr/>
          </p:nvSpPr>
          <p:spPr>
            <a:xfrm>
              <a:off x="2171700" y="8286750"/>
              <a:ext cx="2857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工作情况说明、</a:t>
              </a:r>
            </a:p>
          </p:txBody>
        </p:sp>
        <p:sp>
          <p:nvSpPr>
            <p:cNvPr id="20" name="card-2020-b2"/>
            <p:cNvSpPr txBox="1"/>
            <p:nvPr/>
          </p:nvSpPr>
          <p:spPr>
            <a:xfrm>
              <a:off x="2171700" y="8801100"/>
              <a:ext cx="2647950" cy="1123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主要成绩、营收情况等</a:t>
              </a:r>
            </a:p>
          </p:txBody>
        </p:sp>
      </p:grpSp>
      <p:grpSp>
        <p:nvGrpSpPr>
          <p:cNvPr id="117" name="card-2021"/>
          <p:cNvGrpSpPr/>
          <p:nvPr/>
        </p:nvGrpSpPr>
        <p:grpSpPr>
          <a:xfrm>
            <a:off x="5524500" y="5695950"/>
            <a:ext cx="3314700" cy="3467100"/>
            <a:chOff x="5524500" y="5695950"/>
            <a:chExt cx="3314700" cy="3467100"/>
          </a:xfrm>
        </p:grpSpPr>
        <p:sp>
          <p:nvSpPr>
            <p:cNvPr id="21" name="card-2021-panel"/>
            <p:cNvSpPr/>
            <p:nvPr/>
          </p:nvSpPr>
          <p:spPr>
            <a:xfrm>
              <a:off x="5524500" y="5695950"/>
              <a:ext cx="3314700" cy="34671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28575">
              <a:solidFill>
                <a:srgbClr val="BBD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rd-2021-deco1"/>
            <p:cNvSpPr/>
            <p:nvPr/>
          </p:nvSpPr>
          <p:spPr>
            <a:xfrm>
              <a:off x="5886450" y="5934075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ard-2021-deco2"/>
            <p:cNvSpPr/>
            <p:nvPr/>
          </p:nvSpPr>
          <p:spPr>
            <a:xfrm>
              <a:off x="5886450" y="6134100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ard-2021-year"/>
            <p:cNvSpPr txBox="1"/>
            <p:nvPr/>
          </p:nvSpPr>
          <p:spPr>
            <a:xfrm>
              <a:off x="5619750" y="6019800"/>
              <a:ext cx="31242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2021年</a:t>
              </a:r>
            </a:p>
          </p:txBody>
        </p:sp>
        <p:sp>
          <p:nvSpPr>
            <p:cNvPr id="25" name="card-2021-b1"/>
            <p:cNvSpPr txBox="1"/>
            <p:nvPr/>
          </p:nvSpPr>
          <p:spPr>
            <a:xfrm>
              <a:off x="5905500" y="7219950"/>
              <a:ext cx="2857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工作情况说明、</a:t>
              </a:r>
            </a:p>
          </p:txBody>
        </p:sp>
        <p:sp>
          <p:nvSpPr>
            <p:cNvPr id="26" name="card-2021-b2"/>
            <p:cNvSpPr txBox="1"/>
            <p:nvPr/>
          </p:nvSpPr>
          <p:spPr>
            <a:xfrm>
              <a:off x="5905500" y="7734300"/>
              <a:ext cx="2647950" cy="1123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主要成绩、营收情况等</a:t>
              </a:r>
            </a:p>
          </p:txBody>
        </p:sp>
      </p:grpSp>
      <p:grpSp>
        <p:nvGrpSpPr>
          <p:cNvPr id="120" name="card-2022"/>
          <p:cNvGrpSpPr/>
          <p:nvPr/>
        </p:nvGrpSpPr>
        <p:grpSpPr>
          <a:xfrm>
            <a:off x="9258300" y="4629150"/>
            <a:ext cx="3314700" cy="3467100"/>
            <a:chOff x="9258300" y="4629150"/>
            <a:chExt cx="3314700" cy="3467100"/>
          </a:xfrm>
        </p:grpSpPr>
        <p:sp>
          <p:nvSpPr>
            <p:cNvPr id="27" name="card-2022-panel"/>
            <p:cNvSpPr/>
            <p:nvPr/>
          </p:nvSpPr>
          <p:spPr>
            <a:xfrm>
              <a:off x="9258300" y="4629150"/>
              <a:ext cx="3314700" cy="34671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28575">
              <a:solidFill>
                <a:srgbClr val="BBD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ard-2022-deco1"/>
            <p:cNvSpPr/>
            <p:nvPr/>
          </p:nvSpPr>
          <p:spPr>
            <a:xfrm>
              <a:off x="9620250" y="4867275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-2022-deco2"/>
            <p:cNvSpPr/>
            <p:nvPr/>
          </p:nvSpPr>
          <p:spPr>
            <a:xfrm>
              <a:off x="9620250" y="5067300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ard-2022-year"/>
            <p:cNvSpPr txBox="1"/>
            <p:nvPr/>
          </p:nvSpPr>
          <p:spPr>
            <a:xfrm>
              <a:off x="9353550" y="4953000"/>
              <a:ext cx="31242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2022年</a:t>
              </a:r>
            </a:p>
          </p:txBody>
        </p:sp>
        <p:sp>
          <p:nvSpPr>
            <p:cNvPr id="31" name="card-2022-b1"/>
            <p:cNvSpPr txBox="1"/>
            <p:nvPr/>
          </p:nvSpPr>
          <p:spPr>
            <a:xfrm>
              <a:off x="9639300" y="6153150"/>
              <a:ext cx="2857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工作情况说明、</a:t>
              </a:r>
            </a:p>
          </p:txBody>
        </p:sp>
        <p:sp>
          <p:nvSpPr>
            <p:cNvPr id="32" name="card-2022-b2"/>
            <p:cNvSpPr txBox="1"/>
            <p:nvPr/>
          </p:nvSpPr>
          <p:spPr>
            <a:xfrm>
              <a:off x="9639300" y="6667500"/>
              <a:ext cx="2647950" cy="1123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主要成绩、营收情况等</a:t>
              </a:r>
            </a:p>
          </p:txBody>
        </p:sp>
      </p:grpSp>
      <p:grpSp>
        <p:nvGrpSpPr>
          <p:cNvPr id="118" name="card-2023"/>
          <p:cNvGrpSpPr/>
          <p:nvPr/>
        </p:nvGrpSpPr>
        <p:grpSpPr>
          <a:xfrm>
            <a:off x="12992100" y="3562350"/>
            <a:ext cx="3314700" cy="3467100"/>
            <a:chOff x="12992100" y="3562350"/>
            <a:chExt cx="3314700" cy="3467100"/>
          </a:xfrm>
        </p:grpSpPr>
        <p:sp>
          <p:nvSpPr>
            <p:cNvPr id="33" name="card-2023-panel"/>
            <p:cNvSpPr/>
            <p:nvPr/>
          </p:nvSpPr>
          <p:spPr>
            <a:xfrm>
              <a:off x="12992100" y="3562350"/>
              <a:ext cx="3314700" cy="34671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28575">
              <a:solidFill>
                <a:srgbClr val="BBD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-2023-deco1"/>
            <p:cNvSpPr/>
            <p:nvPr/>
          </p:nvSpPr>
          <p:spPr>
            <a:xfrm>
              <a:off x="13354050" y="3800475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card-2023-deco2"/>
            <p:cNvSpPr/>
            <p:nvPr/>
          </p:nvSpPr>
          <p:spPr>
            <a:xfrm>
              <a:off x="13354050" y="4000500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card-2023-year"/>
            <p:cNvSpPr txBox="1"/>
            <p:nvPr/>
          </p:nvSpPr>
          <p:spPr>
            <a:xfrm>
              <a:off x="13087350" y="3886200"/>
              <a:ext cx="31242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2023年</a:t>
              </a:r>
            </a:p>
          </p:txBody>
        </p:sp>
        <p:sp>
          <p:nvSpPr>
            <p:cNvPr id="37" name="card-2023-b1"/>
            <p:cNvSpPr txBox="1"/>
            <p:nvPr/>
          </p:nvSpPr>
          <p:spPr>
            <a:xfrm>
              <a:off x="13373100" y="5086350"/>
              <a:ext cx="2857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工作情况说明、</a:t>
              </a:r>
            </a:p>
          </p:txBody>
        </p:sp>
        <p:sp>
          <p:nvSpPr>
            <p:cNvPr id="38" name="card-2023-b2"/>
            <p:cNvSpPr txBox="1"/>
            <p:nvPr/>
          </p:nvSpPr>
          <p:spPr>
            <a:xfrm>
              <a:off x="13373100" y="5600700"/>
              <a:ext cx="2647950" cy="1123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主要成绩、营收情况等</a:t>
              </a:r>
            </a:p>
          </p:txBody>
        </p:sp>
      </p:grpSp>
      <p:grpSp>
        <p:nvGrpSpPr>
          <p:cNvPr id="113" name="card-2024"/>
          <p:cNvGrpSpPr/>
          <p:nvPr/>
        </p:nvGrpSpPr>
        <p:grpSpPr>
          <a:xfrm>
            <a:off x="16725900" y="2495550"/>
            <a:ext cx="3314700" cy="3467100"/>
            <a:chOff x="16725900" y="2495550"/>
            <a:chExt cx="3314700" cy="3467100"/>
          </a:xfrm>
        </p:grpSpPr>
        <p:sp>
          <p:nvSpPr>
            <p:cNvPr id="39" name="card-2024-panel"/>
            <p:cNvSpPr/>
            <p:nvPr/>
          </p:nvSpPr>
          <p:spPr>
            <a:xfrm>
              <a:off x="16725900" y="2495550"/>
              <a:ext cx="3314700" cy="34671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28575">
              <a:solidFill>
                <a:srgbClr val="BBD8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ard-2024-deco1"/>
            <p:cNvSpPr/>
            <p:nvPr/>
          </p:nvSpPr>
          <p:spPr>
            <a:xfrm>
              <a:off x="17087850" y="2733675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card-2024-deco2"/>
            <p:cNvSpPr/>
            <p:nvPr/>
          </p:nvSpPr>
          <p:spPr>
            <a:xfrm>
              <a:off x="17087850" y="2933700"/>
              <a:ext cx="923925" cy="123825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card-2024-year"/>
            <p:cNvSpPr txBox="1"/>
            <p:nvPr/>
          </p:nvSpPr>
          <p:spPr>
            <a:xfrm>
              <a:off x="16821150" y="2819400"/>
              <a:ext cx="31242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2024年</a:t>
              </a:r>
            </a:p>
          </p:txBody>
        </p:sp>
        <p:sp>
          <p:nvSpPr>
            <p:cNvPr id="43" name="card-2024-b1"/>
            <p:cNvSpPr txBox="1"/>
            <p:nvPr/>
          </p:nvSpPr>
          <p:spPr>
            <a:xfrm>
              <a:off x="17106900" y="4019550"/>
              <a:ext cx="2857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工作情况说明、</a:t>
              </a:r>
            </a:p>
          </p:txBody>
        </p:sp>
        <p:sp>
          <p:nvSpPr>
            <p:cNvPr id="44" name="card-2024-b2"/>
            <p:cNvSpPr txBox="1"/>
            <p:nvPr/>
          </p:nvSpPr>
          <p:spPr>
            <a:xfrm>
              <a:off x="17106900" y="4533900"/>
              <a:ext cx="2647950" cy="1123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B3B3B"/>
                  </a:solidFill>
                  <a:latin typeface="Microsoft YaHei"/>
                  <a:ea typeface="Microsoft YaHei"/>
                  <a:cs typeface="Microsoft YaHei"/>
                </a:rPr>
                <a:t>主要成绩、营收情况等</a:t>
              </a:r>
            </a:p>
          </p:txBody>
        </p:sp>
      </p:grpSp>
      <p:cxnSp>
        <p:nvCxnSpPr>
          <p:cNvPr id="45" name="dash-2020"/>
          <p:cNvCxnSpPr/>
          <p:nvPr/>
        </p:nvCxnSpPr>
        <p:spPr>
          <a:xfrm>
            <a:off x="3448050" y="10229850"/>
            <a:ext cx="0" cy="3524250"/>
          </a:xfrm>
          <a:prstGeom prst="line">
            <a:avLst/>
          </a:prstGeom>
          <a:ln w="38100">
            <a:solidFill>
              <a:srgbClr val="518A5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ot-2020"/>
          <p:cNvSpPr/>
          <p:nvPr/>
        </p:nvSpPr>
        <p:spPr>
          <a:xfrm>
            <a:off x="3314700" y="13677900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dash-2021"/>
          <p:cNvCxnSpPr/>
          <p:nvPr/>
        </p:nvCxnSpPr>
        <p:spPr>
          <a:xfrm>
            <a:off x="7181850" y="9163050"/>
            <a:ext cx="0" cy="3200400"/>
          </a:xfrm>
          <a:prstGeom prst="line">
            <a:avLst/>
          </a:prstGeom>
          <a:ln w="38100">
            <a:solidFill>
              <a:srgbClr val="518A5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ot-2021"/>
          <p:cNvSpPr/>
          <p:nvPr/>
        </p:nvSpPr>
        <p:spPr>
          <a:xfrm>
            <a:off x="7048500" y="12287250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dash-2022"/>
          <p:cNvCxnSpPr/>
          <p:nvPr/>
        </p:nvCxnSpPr>
        <p:spPr>
          <a:xfrm>
            <a:off x="10915650" y="8096250"/>
            <a:ext cx="0" cy="2543175"/>
          </a:xfrm>
          <a:prstGeom prst="line">
            <a:avLst/>
          </a:prstGeom>
          <a:ln w="38100">
            <a:solidFill>
              <a:srgbClr val="518A5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t-2022"/>
          <p:cNvSpPr/>
          <p:nvPr/>
        </p:nvSpPr>
        <p:spPr>
          <a:xfrm>
            <a:off x="10782300" y="10563225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dash-2023"/>
          <p:cNvCxnSpPr/>
          <p:nvPr/>
        </p:nvCxnSpPr>
        <p:spPr>
          <a:xfrm>
            <a:off x="14649450" y="7029450"/>
            <a:ext cx="0" cy="1905000"/>
          </a:xfrm>
          <a:prstGeom prst="line">
            <a:avLst/>
          </a:prstGeom>
          <a:ln w="38100">
            <a:solidFill>
              <a:srgbClr val="518A5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t-2023"/>
          <p:cNvSpPr/>
          <p:nvPr/>
        </p:nvSpPr>
        <p:spPr>
          <a:xfrm>
            <a:off x="14516100" y="8858250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dash-2024"/>
          <p:cNvCxnSpPr/>
          <p:nvPr/>
        </p:nvCxnSpPr>
        <p:spPr>
          <a:xfrm>
            <a:off x="18383250" y="5962650"/>
            <a:ext cx="0" cy="1381125"/>
          </a:xfrm>
          <a:prstGeom prst="line">
            <a:avLst/>
          </a:prstGeom>
          <a:ln w="38100">
            <a:solidFill>
              <a:srgbClr val="518A5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ot-2024"/>
          <p:cNvSpPr/>
          <p:nvPr/>
        </p:nvSpPr>
        <p:spPr>
          <a:xfrm>
            <a:off x="18249900" y="7267575"/>
            <a:ext cx="266700" cy="266700"/>
          </a:xfrm>
          <a:prstGeom prst="ellipse">
            <a:avLst/>
          </a:pr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tep-1-face"/>
          <p:cNvSpPr/>
          <p:nvPr/>
        </p:nvSpPr>
        <p:spPr>
          <a:xfrm>
            <a:off x="2028825" y="13811250"/>
            <a:ext cx="3400425" cy="2047875"/>
          </a:xfrm>
          <a:prstGeom prst="rect">
            <a:avLst/>
          </a:prstGeom>
          <a:gradFill rotWithShape="1">
            <a:gsLst>
              <a:gs pos="0">
                <a:srgbClr val="3E6E45"/>
              </a:gs>
              <a:gs pos="100000">
                <a:srgbClr val="63A06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tep-1-top"/>
          <p:cNvSpPr/>
          <p:nvPr/>
        </p:nvSpPr>
        <p:spPr>
          <a:xfrm>
            <a:off x="2028825" y="13430250"/>
            <a:ext cx="3686175" cy="381000"/>
          </a:xfrm>
          <a:custGeom>
            <a:avLst/>
            <a:gdLst/>
            <a:ahLst/>
            <a:cxnLst/>
            <a:rect l="l" t="t" r="r" b="b"/>
            <a:pathLst>
              <a:path w="3686175" h="381000">
                <a:moveTo>
                  <a:pt x="0" y="381000"/>
                </a:moveTo>
                <a:lnTo>
                  <a:pt x="3400425" y="247650"/>
                </a:lnTo>
                <a:lnTo>
                  <a:pt x="3686175" y="0"/>
                </a:lnTo>
                <a:lnTo>
                  <a:pt x="285750" y="133350"/>
                </a:lnTo>
                <a:close/>
              </a:path>
            </a:pathLst>
          </a:custGeom>
          <a:solidFill>
            <a:srgbClr val="7CB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step-1-seam"/>
          <p:cNvCxnSpPr/>
          <p:nvPr/>
        </p:nvCxnSpPr>
        <p:spPr>
          <a:xfrm>
            <a:off x="5429250" y="13677900"/>
            <a:ext cx="0" cy="2181225"/>
          </a:xfrm>
          <a:prstGeom prst="line">
            <a:avLst/>
          </a:prstGeom>
          <a:ln w="28575">
            <a:solidFill>
              <a:srgbClr val="3E6E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step-2-face"/>
          <p:cNvSpPr/>
          <p:nvPr/>
        </p:nvSpPr>
        <p:spPr>
          <a:xfrm>
            <a:off x="5429250" y="12420600"/>
            <a:ext cx="3619500" cy="3438525"/>
          </a:xfrm>
          <a:prstGeom prst="rect">
            <a:avLst/>
          </a:prstGeom>
          <a:gradFill rotWithShape="1">
            <a:gsLst>
              <a:gs pos="0">
                <a:srgbClr val="3E6E45"/>
              </a:gs>
              <a:gs pos="100000">
                <a:srgbClr val="63A06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tep-2-top"/>
          <p:cNvSpPr/>
          <p:nvPr/>
        </p:nvSpPr>
        <p:spPr>
          <a:xfrm>
            <a:off x="5429250" y="12039600"/>
            <a:ext cx="3905250" cy="381000"/>
          </a:xfrm>
          <a:custGeom>
            <a:avLst/>
            <a:gdLst/>
            <a:ahLst/>
            <a:cxnLst/>
            <a:rect l="l" t="t" r="r" b="b"/>
            <a:pathLst>
              <a:path w="3905250" h="381000">
                <a:moveTo>
                  <a:pt x="0" y="381000"/>
                </a:moveTo>
                <a:lnTo>
                  <a:pt x="3619500" y="247650"/>
                </a:lnTo>
                <a:lnTo>
                  <a:pt x="3905250" y="0"/>
                </a:lnTo>
                <a:lnTo>
                  <a:pt x="285750" y="133350"/>
                </a:lnTo>
                <a:close/>
              </a:path>
            </a:pathLst>
          </a:custGeom>
          <a:solidFill>
            <a:srgbClr val="7CB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step-2-seam"/>
          <p:cNvCxnSpPr/>
          <p:nvPr/>
        </p:nvCxnSpPr>
        <p:spPr>
          <a:xfrm>
            <a:off x="9048750" y="12287250"/>
            <a:ext cx="0" cy="3571875"/>
          </a:xfrm>
          <a:prstGeom prst="line">
            <a:avLst/>
          </a:prstGeom>
          <a:ln w="28575">
            <a:solidFill>
              <a:srgbClr val="3E6E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step-3-face"/>
          <p:cNvSpPr/>
          <p:nvPr/>
        </p:nvSpPr>
        <p:spPr>
          <a:xfrm>
            <a:off x="9048750" y="10696575"/>
            <a:ext cx="3429000" cy="5162550"/>
          </a:xfrm>
          <a:prstGeom prst="rect">
            <a:avLst/>
          </a:prstGeom>
          <a:gradFill rotWithShape="1">
            <a:gsLst>
              <a:gs pos="0">
                <a:srgbClr val="3E6E45"/>
              </a:gs>
              <a:gs pos="100000">
                <a:srgbClr val="63A06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tep-3-top"/>
          <p:cNvSpPr/>
          <p:nvPr/>
        </p:nvSpPr>
        <p:spPr>
          <a:xfrm>
            <a:off x="9048750" y="10315575"/>
            <a:ext cx="3714750" cy="381000"/>
          </a:xfrm>
          <a:custGeom>
            <a:avLst/>
            <a:gdLst/>
            <a:ahLst/>
            <a:cxnLst/>
            <a:rect l="l" t="t" r="r" b="b"/>
            <a:pathLst>
              <a:path w="3714750" h="381000">
                <a:moveTo>
                  <a:pt x="0" y="381000"/>
                </a:moveTo>
                <a:lnTo>
                  <a:pt x="3429000" y="247650"/>
                </a:lnTo>
                <a:lnTo>
                  <a:pt x="3714750" y="0"/>
                </a:lnTo>
                <a:lnTo>
                  <a:pt x="285750" y="133350"/>
                </a:lnTo>
                <a:close/>
              </a:path>
            </a:pathLst>
          </a:custGeom>
          <a:solidFill>
            <a:srgbClr val="7CB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step-3-seam"/>
          <p:cNvCxnSpPr/>
          <p:nvPr/>
        </p:nvCxnSpPr>
        <p:spPr>
          <a:xfrm>
            <a:off x="12477750" y="10563225"/>
            <a:ext cx="0" cy="5295900"/>
          </a:xfrm>
          <a:prstGeom prst="line">
            <a:avLst/>
          </a:prstGeom>
          <a:ln w="28575">
            <a:solidFill>
              <a:srgbClr val="3E6E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step-4-face"/>
          <p:cNvSpPr/>
          <p:nvPr/>
        </p:nvSpPr>
        <p:spPr>
          <a:xfrm>
            <a:off x="12477750" y="8991600"/>
            <a:ext cx="3524250" cy="6867525"/>
          </a:xfrm>
          <a:prstGeom prst="rect">
            <a:avLst/>
          </a:prstGeom>
          <a:gradFill rotWithShape="1">
            <a:gsLst>
              <a:gs pos="0">
                <a:srgbClr val="3E6E45"/>
              </a:gs>
              <a:gs pos="100000">
                <a:srgbClr val="63A06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tep-4-top"/>
          <p:cNvSpPr/>
          <p:nvPr/>
        </p:nvSpPr>
        <p:spPr>
          <a:xfrm>
            <a:off x="12477750" y="861060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0" y="381000"/>
                </a:moveTo>
                <a:lnTo>
                  <a:pt x="3524250" y="247650"/>
                </a:lnTo>
                <a:lnTo>
                  <a:pt x="3810000" y="0"/>
                </a:lnTo>
                <a:lnTo>
                  <a:pt x="285750" y="133350"/>
                </a:lnTo>
                <a:close/>
              </a:path>
            </a:pathLst>
          </a:custGeom>
          <a:solidFill>
            <a:srgbClr val="7CB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step-4-seam"/>
          <p:cNvCxnSpPr/>
          <p:nvPr/>
        </p:nvCxnSpPr>
        <p:spPr>
          <a:xfrm>
            <a:off x="16002000" y="8858250"/>
            <a:ext cx="0" cy="7000875"/>
          </a:xfrm>
          <a:prstGeom prst="line">
            <a:avLst/>
          </a:prstGeom>
          <a:ln w="28575">
            <a:solidFill>
              <a:srgbClr val="3E6E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tep-5-face"/>
          <p:cNvSpPr/>
          <p:nvPr/>
        </p:nvSpPr>
        <p:spPr>
          <a:xfrm>
            <a:off x="16002000" y="7400925"/>
            <a:ext cx="4076700" cy="8458200"/>
          </a:xfrm>
          <a:prstGeom prst="rect">
            <a:avLst/>
          </a:prstGeom>
          <a:gradFill rotWithShape="1">
            <a:gsLst>
              <a:gs pos="0">
                <a:srgbClr val="3E6E45"/>
              </a:gs>
              <a:gs pos="100000">
                <a:srgbClr val="63A06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tep-5-top"/>
          <p:cNvSpPr/>
          <p:nvPr/>
        </p:nvSpPr>
        <p:spPr>
          <a:xfrm>
            <a:off x="16002000" y="7019925"/>
            <a:ext cx="4362450" cy="381000"/>
          </a:xfrm>
          <a:custGeom>
            <a:avLst/>
            <a:gdLst/>
            <a:ahLst/>
            <a:cxnLst/>
            <a:rect l="l" t="t" r="r" b="b"/>
            <a:pathLst>
              <a:path w="4362450" h="381000">
                <a:moveTo>
                  <a:pt x="0" y="381000"/>
                </a:moveTo>
                <a:lnTo>
                  <a:pt x="4076700" y="247650"/>
                </a:lnTo>
                <a:lnTo>
                  <a:pt x="4362450" y="0"/>
                </a:lnTo>
                <a:lnTo>
                  <a:pt x="285750" y="133350"/>
                </a:lnTo>
                <a:close/>
              </a:path>
            </a:pathLst>
          </a:custGeom>
          <a:solidFill>
            <a:srgbClr val="7CB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step-5-seam"/>
          <p:cNvCxnSpPr/>
          <p:nvPr/>
        </p:nvCxnSpPr>
        <p:spPr>
          <a:xfrm>
            <a:off x="20078700" y="7267575"/>
            <a:ext cx="0" cy="8591550"/>
          </a:xfrm>
          <a:prstGeom prst="line">
            <a:avLst/>
          </a:prstGeom>
          <a:ln w="28575">
            <a:solidFill>
              <a:srgbClr val="3E6E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base-shadow"/>
          <p:cNvSpPr/>
          <p:nvPr/>
        </p:nvSpPr>
        <p:spPr>
          <a:xfrm>
            <a:off x="1333500" y="16249650"/>
            <a:ext cx="28460700" cy="247650"/>
          </a:xfrm>
          <a:prstGeom prst="rect">
            <a:avLst/>
          </a:prstGeom>
          <a:solidFill>
            <a:srgbClr val="CBDCC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rrow-band-1"/>
          <p:cNvSpPr/>
          <p:nvPr/>
        </p:nvSpPr>
        <p:spPr>
          <a:xfrm>
            <a:off x="6210300" y="8743950"/>
            <a:ext cx="12506325" cy="7067550"/>
          </a:xfrm>
          <a:custGeom>
            <a:avLst/>
            <a:gdLst/>
            <a:ahLst/>
            <a:cxnLst/>
            <a:rect l="l" t="t" r="r" b="b"/>
            <a:pathLst>
              <a:path w="12506325" h="7067550">
                <a:moveTo>
                  <a:pt x="0" y="7067550"/>
                </a:moveTo>
                <a:lnTo>
                  <a:pt x="4743450" y="4600575"/>
                </a:lnTo>
                <a:lnTo>
                  <a:pt x="9505950" y="2352675"/>
                </a:lnTo>
                <a:lnTo>
                  <a:pt x="12506325" y="0"/>
                </a:lnTo>
              </a:path>
            </a:pathLst>
          </a:custGeom>
          <a:noFill/>
          <a:ln w="114300">
            <a:solidFill>
              <a:srgbClr val="F7F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rrow-band-2"/>
          <p:cNvSpPr/>
          <p:nvPr/>
        </p:nvSpPr>
        <p:spPr>
          <a:xfrm>
            <a:off x="7258050" y="9201150"/>
            <a:ext cx="11458575" cy="6629400"/>
          </a:xfrm>
          <a:custGeom>
            <a:avLst/>
            <a:gdLst/>
            <a:ahLst/>
            <a:cxnLst/>
            <a:rect l="l" t="t" r="r" b="b"/>
            <a:pathLst>
              <a:path w="11458575" h="6629400">
                <a:moveTo>
                  <a:pt x="0" y="6629400"/>
                </a:moveTo>
                <a:lnTo>
                  <a:pt x="3695700" y="4572000"/>
                </a:lnTo>
                <a:lnTo>
                  <a:pt x="8458200" y="2352675"/>
                </a:lnTo>
                <a:lnTo>
                  <a:pt x="11458575" y="0"/>
                </a:lnTo>
              </a:path>
            </a:pathLst>
          </a:custGeom>
          <a:noFill/>
          <a:ln w="114300">
            <a:solidFill>
              <a:srgbClr val="F7F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rrow-head"/>
          <p:cNvSpPr/>
          <p:nvPr/>
        </p:nvSpPr>
        <p:spPr>
          <a:xfrm>
            <a:off x="18173700" y="8362950"/>
            <a:ext cx="971550" cy="800100"/>
          </a:xfrm>
          <a:custGeom>
            <a:avLst/>
            <a:gdLst/>
            <a:ahLst/>
            <a:cxnLst/>
            <a:rect l="l" t="t" r="r" b="b"/>
            <a:pathLst>
              <a:path w="971550" h="800100">
                <a:moveTo>
                  <a:pt x="971550" y="0"/>
                </a:moveTo>
                <a:lnTo>
                  <a:pt x="419100" y="685800"/>
                </a:lnTo>
                <a:lnTo>
                  <a:pt x="209550" y="209550"/>
                </a:lnTo>
                <a:lnTo>
                  <a:pt x="0" y="800100"/>
                </a:lnTo>
                <a:close/>
              </a:path>
            </a:pathLst>
          </a:custGeom>
          <a:solidFill>
            <a:srgbClr val="F7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tep-num-1"/>
          <p:cNvSpPr txBox="1"/>
          <p:nvPr/>
        </p:nvSpPr>
        <p:spPr>
          <a:xfrm>
            <a:off x="3771900" y="14668500"/>
            <a:ext cx="2286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5" name="step-num-2"/>
          <p:cNvSpPr txBox="1"/>
          <p:nvPr/>
        </p:nvSpPr>
        <p:spPr>
          <a:xfrm>
            <a:off x="7019925" y="14668500"/>
            <a:ext cx="2286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6" name="step-num-3"/>
          <p:cNvSpPr txBox="1"/>
          <p:nvPr/>
        </p:nvSpPr>
        <p:spPr>
          <a:xfrm>
            <a:off x="10420350" y="14668500"/>
            <a:ext cx="2286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7" name="step-num-4"/>
          <p:cNvSpPr txBox="1"/>
          <p:nvPr/>
        </p:nvSpPr>
        <p:spPr>
          <a:xfrm>
            <a:off x="13782675" y="14668500"/>
            <a:ext cx="2286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8" name="step-num-5"/>
          <p:cNvSpPr txBox="1"/>
          <p:nvPr/>
        </p:nvSpPr>
        <p:spPr>
          <a:xfrm>
            <a:off x="17259300" y="14668500"/>
            <a:ext cx="2286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119" name="g-rbubble"/>
          <p:cNvGrpSpPr/>
          <p:nvPr/>
        </p:nvGrpSpPr>
        <p:grpSpPr>
          <a:xfrm>
            <a:off x="21336000" y="3543300"/>
            <a:ext cx="7439025" cy="3371850"/>
            <a:chOff x="21336000" y="3543300"/>
            <a:chExt cx="7439025" cy="3371850"/>
          </a:xfrm>
        </p:grpSpPr>
        <p:sp>
          <p:nvSpPr>
            <p:cNvPr id="79" name="rb-body"/>
            <p:cNvSpPr/>
            <p:nvPr/>
          </p:nvSpPr>
          <p:spPr>
            <a:xfrm>
              <a:off x="23774400" y="3543300"/>
              <a:ext cx="5000625" cy="3371850"/>
            </a:xfrm>
            <a:prstGeom prst="roundRect">
              <a:avLst>
                <a:gd name="adj" fmla="val 14689"/>
              </a:avLst>
            </a:prstGeom>
            <a:solidFill>
              <a:srgbClr val="FFFFFF"/>
            </a:solidFill>
            <a:ln w="57150">
              <a:solidFill>
                <a:srgbClr val="518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b-tail"/>
            <p:cNvSpPr/>
            <p:nvPr/>
          </p:nvSpPr>
          <p:spPr>
            <a:xfrm>
              <a:off x="21336000" y="3629025"/>
              <a:ext cx="2495550" cy="1952625"/>
            </a:xfrm>
            <a:custGeom>
              <a:avLst/>
              <a:gdLst/>
              <a:ahLst/>
              <a:cxnLst/>
              <a:rect l="l" t="t" r="r" b="b"/>
              <a:pathLst>
                <a:path w="2495550" h="1952625">
                  <a:moveTo>
                    <a:pt x="0" y="0"/>
                  </a:moveTo>
                  <a:lnTo>
                    <a:pt x="2495550" y="409575"/>
                  </a:lnTo>
                  <a:lnTo>
                    <a:pt x="2438400" y="1952625"/>
                  </a:lnTo>
                  <a:close/>
                </a:path>
              </a:pathLst>
            </a:custGeom>
            <a:solidFill>
              <a:srgbClr val="FFFFFF"/>
            </a:solidFill>
            <a:ln w="57150">
              <a:solidFill>
                <a:srgbClr val="518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b-line1"/>
            <p:cNvSpPr txBox="1"/>
            <p:nvPr/>
          </p:nvSpPr>
          <p:spPr>
            <a:xfrm>
              <a:off x="24479250" y="4533900"/>
              <a:ext cx="4191000" cy="704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025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2024年销量</a:t>
              </a:r>
            </a:p>
          </p:txBody>
        </p:sp>
        <p:sp>
          <p:nvSpPr>
            <p:cNvPr id="82" name="rb-line2"/>
            <p:cNvSpPr txBox="1"/>
            <p:nvPr/>
          </p:nvSpPr>
          <p:spPr>
            <a:xfrm>
              <a:off x="24479250" y="5314950"/>
              <a:ext cx="4191000" cy="742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00" b="1" i="0">
                  <a:solidFill>
                    <a:srgbClr val="518A57"/>
                  </a:solidFill>
                  <a:latin typeface="Microsoft YaHei"/>
                  <a:ea typeface="Microsoft YaHei"/>
                  <a:cs typeface="Microsoft YaHei"/>
                </a:rPr>
                <a:t>详细情况说明</a:t>
              </a:r>
            </a:p>
          </p:txBody>
        </p:sp>
      </p:grpSp>
      <p:grpSp>
        <p:nvGrpSpPr>
          <p:cNvPr id="116" name="g-table"/>
          <p:cNvGrpSpPr/>
          <p:nvPr/>
        </p:nvGrpSpPr>
        <p:grpSpPr>
          <a:xfrm>
            <a:off x="21726525" y="7591425"/>
            <a:ext cx="6943725" cy="4857750"/>
            <a:chOff x="21726525" y="7591425"/>
            <a:chExt cx="6943725" cy="4857750"/>
          </a:xfrm>
        </p:grpSpPr>
        <p:sp>
          <p:nvSpPr>
            <p:cNvPr id="83" name="tbl-panel"/>
            <p:cNvSpPr/>
            <p:nvPr/>
          </p:nvSpPr>
          <p:spPr>
            <a:xfrm>
              <a:off x="21726525" y="7591425"/>
              <a:ext cx="6943725" cy="4857750"/>
            </a:xfrm>
            <a:prstGeom prst="rect">
              <a:avLst/>
            </a:prstGeom>
            <a:solidFill>
              <a:srgbClr val="E7F1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bl-header"/>
            <p:cNvSpPr/>
            <p:nvPr/>
          </p:nvSpPr>
          <p:spPr>
            <a:xfrm>
              <a:off x="21726525" y="7591425"/>
              <a:ext cx="6943725" cy="952500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bl-header-text"/>
            <p:cNvSpPr txBox="1"/>
            <p:nvPr/>
          </p:nvSpPr>
          <p:spPr>
            <a:xfrm>
              <a:off x="21726525" y="7591425"/>
              <a:ext cx="6943725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XXX品牌商品质量</a:t>
              </a:r>
            </a:p>
          </p:txBody>
        </p:sp>
        <p:cxnSp>
          <p:nvCxnSpPr>
            <p:cNvPr id="86" name="tbl-v0"/>
            <p:cNvCxnSpPr/>
            <p:nvPr/>
          </p:nvCxnSpPr>
          <p:spPr>
            <a:xfrm>
              <a:off x="21726525" y="8543925"/>
              <a:ext cx="0" cy="3905250"/>
            </a:xfrm>
            <a:prstGeom prst="line">
              <a:avLst/>
            </a:prstGeom>
            <a:ln w="28575">
              <a:solidFill>
                <a:srgbClr val="9CC7A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tbl-v1"/>
            <p:cNvCxnSpPr/>
            <p:nvPr/>
          </p:nvCxnSpPr>
          <p:spPr>
            <a:xfrm>
              <a:off x="23793450" y="8543925"/>
              <a:ext cx="0" cy="3905250"/>
            </a:xfrm>
            <a:prstGeom prst="line">
              <a:avLst/>
            </a:prstGeom>
            <a:ln w="28575">
              <a:solidFill>
                <a:srgbClr val="9CC7A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tbl-v2"/>
            <p:cNvCxnSpPr/>
            <p:nvPr/>
          </p:nvCxnSpPr>
          <p:spPr>
            <a:xfrm>
              <a:off x="26231850" y="8543925"/>
              <a:ext cx="0" cy="3905250"/>
            </a:xfrm>
            <a:prstGeom prst="line">
              <a:avLst/>
            </a:prstGeom>
            <a:ln w="28575">
              <a:solidFill>
                <a:srgbClr val="9CC7A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tbl-h0"/>
            <p:cNvCxnSpPr/>
            <p:nvPr/>
          </p:nvCxnSpPr>
          <p:spPr>
            <a:xfrm>
              <a:off x="21726525" y="8543925"/>
              <a:ext cx="6943725" cy="0"/>
            </a:xfrm>
            <a:prstGeom prst="line">
              <a:avLst/>
            </a:prstGeom>
            <a:ln w="28575">
              <a:solidFill>
                <a:srgbClr val="9CC7A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bl-0-0-l"/>
            <p:cNvSpPr txBox="1"/>
            <p:nvPr/>
          </p:nvSpPr>
          <p:spPr>
            <a:xfrm>
              <a:off x="21821775" y="9077325"/>
              <a:ext cx="18764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用料材质</a:t>
              </a:r>
            </a:p>
          </p:txBody>
        </p:sp>
        <p:sp>
          <p:nvSpPr>
            <p:cNvPr id="91" name="tbl-0-0-v"/>
            <p:cNvSpPr txBox="1"/>
            <p:nvPr/>
          </p:nvSpPr>
          <p:spPr>
            <a:xfrm>
              <a:off x="21821775" y="9629775"/>
              <a:ext cx="18764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纯棉</a:t>
              </a:r>
            </a:p>
          </p:txBody>
        </p:sp>
        <p:sp>
          <p:nvSpPr>
            <p:cNvPr id="92" name="tbl-0-1-l"/>
            <p:cNvSpPr txBox="1"/>
            <p:nvPr/>
          </p:nvSpPr>
          <p:spPr>
            <a:xfrm>
              <a:off x="23888700" y="9077325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防风性能</a:t>
              </a:r>
            </a:p>
          </p:txBody>
        </p:sp>
        <p:sp>
          <p:nvSpPr>
            <p:cNvPr id="93" name="tbl-0-1-v"/>
            <p:cNvSpPr txBox="1"/>
            <p:nvPr/>
          </p:nvSpPr>
          <p:spPr>
            <a:xfrm>
              <a:off x="23888700" y="9629775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S级别</a:t>
              </a:r>
            </a:p>
          </p:txBody>
        </p:sp>
        <p:sp>
          <p:nvSpPr>
            <p:cNvPr id="94" name="tbl-0-2-l"/>
            <p:cNvSpPr txBox="1"/>
            <p:nvPr/>
          </p:nvSpPr>
          <p:spPr>
            <a:xfrm>
              <a:off x="26327100" y="9077325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含棉量</a:t>
              </a:r>
            </a:p>
          </p:txBody>
        </p:sp>
        <p:sp>
          <p:nvSpPr>
            <p:cNvPr id="95" name="tbl-0-2-v"/>
            <p:cNvSpPr txBox="1"/>
            <p:nvPr/>
          </p:nvSpPr>
          <p:spPr>
            <a:xfrm>
              <a:off x="26327100" y="9629775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100%</a:t>
              </a:r>
            </a:p>
          </p:txBody>
        </p:sp>
        <p:cxnSp>
          <p:nvCxnSpPr>
            <p:cNvPr id="96" name="tbl-h1"/>
            <p:cNvCxnSpPr/>
            <p:nvPr/>
          </p:nvCxnSpPr>
          <p:spPr>
            <a:xfrm>
              <a:off x="21726525" y="10496550"/>
              <a:ext cx="6943725" cy="0"/>
            </a:xfrm>
            <a:prstGeom prst="line">
              <a:avLst/>
            </a:prstGeom>
            <a:ln w="28575">
              <a:solidFill>
                <a:srgbClr val="9CC7A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bl-1-0-l"/>
            <p:cNvSpPr txBox="1"/>
            <p:nvPr/>
          </p:nvSpPr>
          <p:spPr>
            <a:xfrm>
              <a:off x="21821775" y="11029950"/>
              <a:ext cx="18764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尺码参数</a:t>
              </a:r>
            </a:p>
          </p:txBody>
        </p:sp>
        <p:sp>
          <p:nvSpPr>
            <p:cNvPr id="98" name="tbl-1-0-v"/>
            <p:cNvSpPr txBox="1"/>
            <p:nvPr/>
          </p:nvSpPr>
          <p:spPr>
            <a:xfrm>
              <a:off x="21821775" y="11582400"/>
              <a:ext cx="1876425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M码</a:t>
              </a:r>
            </a:p>
          </p:txBody>
        </p:sp>
        <p:sp>
          <p:nvSpPr>
            <p:cNvPr id="99" name="tbl-1-1-l"/>
            <p:cNvSpPr txBox="1"/>
            <p:nvPr/>
          </p:nvSpPr>
          <p:spPr>
            <a:xfrm>
              <a:off x="23888700" y="11029950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长度</a:t>
              </a:r>
            </a:p>
          </p:txBody>
        </p:sp>
        <p:sp>
          <p:nvSpPr>
            <p:cNvPr id="100" name="tbl-1-1-v"/>
            <p:cNvSpPr txBox="1"/>
            <p:nvPr/>
          </p:nvSpPr>
          <p:spPr>
            <a:xfrm>
              <a:off x="23888700" y="11582400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2.00m</a:t>
              </a:r>
            </a:p>
          </p:txBody>
        </p:sp>
        <p:sp>
          <p:nvSpPr>
            <p:cNvPr id="101" name="tbl-1-2-l"/>
            <p:cNvSpPr txBox="1"/>
            <p:nvPr/>
          </p:nvSpPr>
          <p:spPr>
            <a:xfrm>
              <a:off x="26327100" y="11029950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重量</a:t>
              </a:r>
            </a:p>
          </p:txBody>
        </p:sp>
        <p:sp>
          <p:nvSpPr>
            <p:cNvPr id="102" name="tbl-1-2-v"/>
            <p:cNvSpPr txBox="1"/>
            <p:nvPr/>
          </p:nvSpPr>
          <p:spPr>
            <a:xfrm>
              <a:off x="26327100" y="11582400"/>
              <a:ext cx="2247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10千克</a:t>
              </a:r>
            </a:p>
          </p:txBody>
        </p:sp>
        <p:cxnSp>
          <p:nvCxnSpPr>
            <p:cNvPr id="103" name="tbl-h2"/>
            <p:cNvCxnSpPr/>
            <p:nvPr/>
          </p:nvCxnSpPr>
          <p:spPr>
            <a:xfrm>
              <a:off x="21726525" y="12449175"/>
              <a:ext cx="6943725" cy="0"/>
            </a:xfrm>
            <a:prstGeom prst="line">
              <a:avLst/>
            </a:prstGeom>
            <a:ln w="28575">
              <a:solidFill>
                <a:srgbClr val="9CC7A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-progress"/>
          <p:cNvGrpSpPr/>
          <p:nvPr/>
        </p:nvGrpSpPr>
        <p:grpSpPr>
          <a:xfrm>
            <a:off x="21726525" y="12877800"/>
            <a:ext cx="6934200" cy="2857500"/>
            <a:chOff x="21726525" y="12877800"/>
            <a:chExt cx="6934200" cy="2857500"/>
          </a:xfrm>
        </p:grpSpPr>
        <p:sp>
          <p:nvSpPr>
            <p:cNvPr id="104" name="prog-panel"/>
            <p:cNvSpPr/>
            <p:nvPr/>
          </p:nvSpPr>
          <p:spPr>
            <a:xfrm>
              <a:off x="21726525" y="12877800"/>
              <a:ext cx="6934200" cy="2857500"/>
            </a:xfrm>
            <a:prstGeom prst="rect">
              <a:avLst/>
            </a:prstGeom>
            <a:solidFill>
              <a:srgbClr val="518A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prog-l1"/>
            <p:cNvSpPr txBox="1"/>
            <p:nvPr/>
          </p:nvSpPr>
          <p:spPr>
            <a:xfrm>
              <a:off x="22402800" y="13716000"/>
              <a:ext cx="12001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完成</a:t>
              </a:r>
            </a:p>
          </p:txBody>
        </p:sp>
        <p:sp>
          <p:nvSpPr>
            <p:cNvPr id="106" name="prog-l2"/>
            <p:cNvSpPr txBox="1"/>
            <p:nvPr/>
          </p:nvSpPr>
          <p:spPr>
            <a:xfrm>
              <a:off x="22402800" y="14401800"/>
              <a:ext cx="12001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进度</a:t>
              </a:r>
            </a:p>
          </p:txBody>
        </p:sp>
        <p:sp>
          <p:nvSpPr>
            <p:cNvPr id="107" name="prog-pct"/>
            <p:cNvSpPr txBox="1"/>
            <p:nvPr/>
          </p:nvSpPr>
          <p:spPr>
            <a:xfrm>
              <a:off x="23812500" y="13525500"/>
              <a:ext cx="2762250" cy="1733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03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98%</a:t>
              </a:r>
            </a:p>
          </p:txBody>
        </p:sp>
        <p:sp>
          <p:nvSpPr>
            <p:cNvPr id="108" name="prog-arrow"/>
            <p:cNvSpPr/>
            <p:nvPr/>
          </p:nvSpPr>
          <p:spPr>
            <a:xfrm>
              <a:off x="26670000" y="13354050"/>
              <a:ext cx="1524000" cy="1504950"/>
            </a:xfrm>
            <a:custGeom>
              <a:avLst/>
              <a:gdLst/>
              <a:ahLst/>
              <a:cxnLst/>
              <a:rect l="l" t="t" r="r" b="b"/>
              <a:pathLst>
                <a:path w="1524000" h="1504950">
                  <a:moveTo>
                    <a:pt x="742950" y="0"/>
                  </a:moveTo>
                  <a:lnTo>
                    <a:pt x="0" y="723900"/>
                  </a:lnTo>
                  <a:lnTo>
                    <a:pt x="361950" y="723900"/>
                  </a:lnTo>
                  <a:lnTo>
                    <a:pt x="361950" y="1504950"/>
                  </a:lnTo>
                  <a:lnTo>
                    <a:pt x="1162050" y="1504950"/>
                  </a:lnTo>
                  <a:lnTo>
                    <a:pt x="1162050" y="723900"/>
                  </a:lnTo>
                  <a:lnTo>
                    <a:pt x="1524000" y="7239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