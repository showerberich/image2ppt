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0000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icon-ring"/>
          <p:cNvSpPr/>
          <p:nvPr/>
        </p:nvSpPr>
        <p:spPr>
          <a:xfrm>
            <a:off x="1228725" y="533400"/>
            <a:ext cx="1028700" cy="1028700"/>
          </a:xfrm>
          <a:prstGeom prst="ellipse">
            <a:avLst/>
          </a:prstGeom>
          <a:noFill/>
          <a:ln w="57150">
            <a:solidFill>
              <a:srgbClr val="4E8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icon-check"/>
          <p:cNvSpPr/>
          <p:nvPr/>
        </p:nvSpPr>
        <p:spPr>
          <a:xfrm>
            <a:off x="1447800" y="819150"/>
            <a:ext cx="590550" cy="457200"/>
          </a:xfrm>
          <a:custGeom>
            <a:avLst/>
            <a:gdLst/>
            <a:ahLst/>
            <a:cxnLst/>
            <a:rect l="l" t="t" r="r" b="b"/>
            <a:pathLst>
              <a:path w="590550" h="457200">
                <a:moveTo>
                  <a:pt x="0" y="247650"/>
                </a:moveTo>
                <a:lnTo>
                  <a:pt x="219075" y="457200"/>
                </a:lnTo>
                <a:lnTo>
                  <a:pt x="590550" y="0"/>
                </a:lnTo>
              </a:path>
            </a:pathLst>
          </a:custGeom>
          <a:noFill/>
          <a:ln w="76200">
            <a:solidFill>
              <a:srgbClr val="4E8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dr-title"/>
          <p:cNvSpPr txBox="1"/>
          <p:nvPr/>
        </p:nvSpPr>
        <p:spPr>
          <a:xfrm>
            <a:off x="2714625" y="609600"/>
            <a:ext cx="93345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925" b="1" i="0">
                <a:solidFill>
                  <a:srgbClr val="4E8856"/>
                </a:solidFill>
                <a:latin typeface="Microsoft YaHei"/>
                <a:ea typeface="Microsoft YaHei"/>
                <a:cs typeface="Microsoft YaHei"/>
              </a:rPr>
              <a:t>职场工作汇报逻辑图表PPT</a:t>
            </a:r>
          </a:p>
        </p:txBody>
      </p:sp>
      <p:sp>
        <p:nvSpPr>
          <p:cNvPr id="6" name="hdr-tag"/>
          <p:cNvSpPr/>
          <p:nvPr/>
        </p:nvSpPr>
        <p:spPr>
          <a:xfrm>
            <a:off x="25307925" y="590550"/>
            <a:ext cx="4305300" cy="914400"/>
          </a:xfrm>
          <a:prstGeom prst="roundRect">
            <a:avLst>
              <a:gd name="adj" fmla="val 8333"/>
            </a:avLst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dr-tag-text"/>
          <p:cNvSpPr txBox="1"/>
          <p:nvPr/>
        </p:nvSpPr>
        <p:spPr>
          <a:xfrm>
            <a:off x="25346025" y="590550"/>
            <a:ext cx="42291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8" name="hdr-rule"/>
          <p:cNvSpPr/>
          <p:nvPr/>
        </p:nvSpPr>
        <p:spPr>
          <a:xfrm>
            <a:off x="1143000" y="1762125"/>
            <a:ext cx="28479750" cy="114300"/>
          </a:xfrm>
          <a:prstGeom prst="rect">
            <a:avLst/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-frame"/>
          <p:cNvSpPr/>
          <p:nvPr/>
        </p:nvSpPr>
        <p:spPr>
          <a:xfrm>
            <a:off x="1428750" y="2333625"/>
            <a:ext cx="17440275" cy="13582650"/>
          </a:xfrm>
          <a:prstGeom prst="roundRect">
            <a:avLst>
              <a:gd name="adj" fmla="val 701"/>
            </a:avLst>
          </a:prstGeom>
          <a:noFill/>
          <a:ln w="28575">
            <a:solidFill>
              <a:srgbClr val="4E88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-title"/>
          <p:cNvSpPr txBox="1"/>
          <p:nvPr/>
        </p:nvSpPr>
        <p:spPr>
          <a:xfrm>
            <a:off x="4333875" y="3162300"/>
            <a:ext cx="1057275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8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2025年度个品类销售情况汇总</a:t>
            </a:r>
          </a:p>
        </p:txBody>
      </p:sp>
      <p:cxnSp>
        <p:nvCxnSpPr>
          <p:cNvPr id="11" name="rule-dash-1"/>
          <p:cNvCxnSpPr/>
          <p:nvPr/>
        </p:nvCxnSpPr>
        <p:spPr>
          <a:xfrm>
            <a:off x="1457325" y="4762500"/>
            <a:ext cx="17373600" cy="0"/>
          </a:xfrm>
          <a:prstGeom prst="line">
            <a:avLst/>
          </a:prstGeom>
          <a:ln w="57150">
            <a:solidFill>
              <a:srgbClr val="4E885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ule-dash-2"/>
          <p:cNvCxnSpPr/>
          <p:nvPr/>
        </p:nvCxnSpPr>
        <p:spPr>
          <a:xfrm>
            <a:off x="1457325" y="5124450"/>
            <a:ext cx="17373600" cy="0"/>
          </a:xfrm>
          <a:prstGeom prst="line">
            <a:avLst/>
          </a:prstGeom>
          <a:ln w="57150">
            <a:solidFill>
              <a:srgbClr val="4E885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rid-1"/>
          <p:cNvCxnSpPr/>
          <p:nvPr/>
        </p:nvCxnSpPr>
        <p:spPr>
          <a:xfrm>
            <a:off x="2314575" y="5876925"/>
            <a:ext cx="16354425" cy="0"/>
          </a:xfrm>
          <a:prstGeom prst="line">
            <a:avLst/>
          </a:prstGeom>
          <a:ln w="19050">
            <a:solidFill>
              <a:srgbClr val="E7E9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rid-2"/>
          <p:cNvCxnSpPr/>
          <p:nvPr/>
        </p:nvCxnSpPr>
        <p:spPr>
          <a:xfrm>
            <a:off x="2314575" y="7162800"/>
            <a:ext cx="16354425" cy="0"/>
          </a:xfrm>
          <a:prstGeom prst="line">
            <a:avLst/>
          </a:prstGeom>
          <a:ln w="19050">
            <a:solidFill>
              <a:srgbClr val="E7E9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rid-3"/>
          <p:cNvCxnSpPr/>
          <p:nvPr/>
        </p:nvCxnSpPr>
        <p:spPr>
          <a:xfrm>
            <a:off x="2314575" y="8429625"/>
            <a:ext cx="16354425" cy="0"/>
          </a:xfrm>
          <a:prstGeom prst="line">
            <a:avLst/>
          </a:prstGeom>
          <a:ln w="19050">
            <a:solidFill>
              <a:srgbClr val="E7E9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rid-4"/>
          <p:cNvCxnSpPr/>
          <p:nvPr/>
        </p:nvCxnSpPr>
        <p:spPr>
          <a:xfrm>
            <a:off x="2314575" y="9686925"/>
            <a:ext cx="16354425" cy="0"/>
          </a:xfrm>
          <a:prstGeom prst="line">
            <a:avLst/>
          </a:prstGeom>
          <a:ln w="19050">
            <a:solidFill>
              <a:srgbClr val="E7E9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rid-5"/>
          <p:cNvCxnSpPr/>
          <p:nvPr/>
        </p:nvCxnSpPr>
        <p:spPr>
          <a:xfrm>
            <a:off x="2314575" y="10972800"/>
            <a:ext cx="16354425" cy="0"/>
          </a:xfrm>
          <a:prstGeom prst="line">
            <a:avLst/>
          </a:prstGeom>
          <a:ln w="19050">
            <a:solidFill>
              <a:srgbClr val="E7E9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rid-6"/>
          <p:cNvCxnSpPr/>
          <p:nvPr/>
        </p:nvCxnSpPr>
        <p:spPr>
          <a:xfrm>
            <a:off x="2314575" y="12239625"/>
            <a:ext cx="16354425" cy="0"/>
          </a:xfrm>
          <a:prstGeom prst="line">
            <a:avLst/>
          </a:prstGeom>
          <a:ln w="19050">
            <a:solidFill>
              <a:srgbClr val="E7E9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rid-7"/>
          <p:cNvCxnSpPr/>
          <p:nvPr/>
        </p:nvCxnSpPr>
        <p:spPr>
          <a:xfrm>
            <a:off x="2314575" y="13496925"/>
            <a:ext cx="16354425" cy="0"/>
          </a:xfrm>
          <a:prstGeom prst="line">
            <a:avLst/>
          </a:prstGeom>
          <a:ln w="19050">
            <a:solidFill>
              <a:srgbClr val="E7E9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llout-body"/>
          <p:cNvSpPr/>
          <p:nvPr/>
        </p:nvSpPr>
        <p:spPr>
          <a:xfrm>
            <a:off x="13992225" y="4333875"/>
            <a:ext cx="4895850" cy="323850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57150">
            <a:solidFill>
              <a:srgbClr val="4E8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llout-tail"/>
          <p:cNvSpPr/>
          <p:nvPr/>
        </p:nvSpPr>
        <p:spPr>
          <a:xfrm>
            <a:off x="13258800" y="4762500"/>
            <a:ext cx="762000" cy="1009650"/>
          </a:xfrm>
          <a:custGeom>
            <a:avLst/>
            <a:gdLst/>
            <a:ahLst/>
            <a:cxnLst/>
            <a:rect l="l" t="t" r="r" b="b"/>
            <a:pathLst>
              <a:path w="762000" h="1009650">
                <a:moveTo>
                  <a:pt x="762000" y="0"/>
                </a:moveTo>
                <a:lnTo>
                  <a:pt x="0" y="504825"/>
                </a:lnTo>
                <a:lnTo>
                  <a:pt x="762000" y="1009650"/>
                </a:lnTo>
                <a:close/>
              </a:path>
            </a:pathLst>
          </a:custGeom>
          <a:solidFill>
            <a:srgbClr val="FFFFFF"/>
          </a:solidFill>
          <a:ln w="47625">
            <a:solidFill>
              <a:srgbClr val="4E8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-l1"/>
          <p:cNvSpPr txBox="1"/>
          <p:nvPr/>
        </p:nvSpPr>
        <p:spPr>
          <a:xfrm>
            <a:off x="14382750" y="5219700"/>
            <a:ext cx="41148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4E8856"/>
                </a:solidFill>
                <a:latin typeface="Microsoft YaHei"/>
                <a:ea typeface="Microsoft YaHei"/>
                <a:cs typeface="Microsoft YaHei"/>
              </a:rPr>
              <a:t>2025年销量</a:t>
            </a:r>
          </a:p>
        </p:txBody>
      </p:sp>
      <p:sp>
        <p:nvSpPr>
          <p:cNvPr id="23" name="callout-l2"/>
          <p:cNvSpPr txBox="1"/>
          <p:nvPr/>
        </p:nvSpPr>
        <p:spPr>
          <a:xfrm>
            <a:off x="14382750" y="5981700"/>
            <a:ext cx="4114800" cy="800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4E8856"/>
                </a:solidFill>
                <a:latin typeface="Microsoft YaHei"/>
                <a:ea typeface="Microsoft YaHei"/>
                <a:cs typeface="Microsoft YaHei"/>
              </a:rPr>
              <a:t>详细情况说明</a:t>
            </a:r>
          </a:p>
        </p:txBody>
      </p:sp>
      <p:sp>
        <p:nvSpPr>
          <p:cNvPr id="24" name="bar-1"/>
          <p:cNvSpPr/>
          <p:nvPr/>
        </p:nvSpPr>
        <p:spPr>
          <a:xfrm>
            <a:off x="2609850" y="7172325"/>
            <a:ext cx="1533525" cy="7610475"/>
          </a:xfrm>
          <a:prstGeom prst="rect">
            <a:avLst/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-1-val"/>
          <p:cNvSpPr txBox="1"/>
          <p:nvPr/>
        </p:nvSpPr>
        <p:spPr>
          <a:xfrm>
            <a:off x="2609850" y="13963650"/>
            <a:ext cx="1533525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6000</a:t>
            </a:r>
          </a:p>
        </p:txBody>
      </p:sp>
      <p:sp>
        <p:nvSpPr>
          <p:cNvPr id="26" name="bar-2"/>
          <p:cNvSpPr/>
          <p:nvPr/>
        </p:nvSpPr>
        <p:spPr>
          <a:xfrm>
            <a:off x="4591050" y="8429625"/>
            <a:ext cx="1495425" cy="6353175"/>
          </a:xfrm>
          <a:prstGeom prst="rect">
            <a:avLst/>
          </a:prstGeom>
          <a:solidFill>
            <a:srgbClr val="D5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-2-val"/>
          <p:cNvSpPr txBox="1"/>
          <p:nvPr/>
        </p:nvSpPr>
        <p:spPr>
          <a:xfrm>
            <a:off x="4591050" y="14039850"/>
            <a:ext cx="1495425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5000</a:t>
            </a:r>
          </a:p>
        </p:txBody>
      </p:sp>
      <p:sp>
        <p:nvSpPr>
          <p:cNvPr id="28" name="bar-3"/>
          <p:cNvSpPr/>
          <p:nvPr/>
        </p:nvSpPr>
        <p:spPr>
          <a:xfrm>
            <a:off x="6543675" y="10972800"/>
            <a:ext cx="1524000" cy="3810000"/>
          </a:xfrm>
          <a:prstGeom prst="rect">
            <a:avLst/>
          </a:prstGeom>
          <a:solidFill>
            <a:srgbClr val="D5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ar-3-val"/>
          <p:cNvSpPr txBox="1"/>
          <p:nvPr/>
        </p:nvSpPr>
        <p:spPr>
          <a:xfrm>
            <a:off x="6543675" y="14039850"/>
            <a:ext cx="15240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3000</a:t>
            </a:r>
          </a:p>
        </p:txBody>
      </p:sp>
      <p:sp>
        <p:nvSpPr>
          <p:cNvPr id="30" name="bar-4"/>
          <p:cNvSpPr/>
          <p:nvPr/>
        </p:nvSpPr>
        <p:spPr>
          <a:xfrm>
            <a:off x="8524875" y="12239625"/>
            <a:ext cx="1514475" cy="2543175"/>
          </a:xfrm>
          <a:prstGeom prst="rect">
            <a:avLst/>
          </a:prstGeom>
          <a:solidFill>
            <a:srgbClr val="D5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ar-4-val"/>
          <p:cNvSpPr txBox="1"/>
          <p:nvPr/>
        </p:nvSpPr>
        <p:spPr>
          <a:xfrm>
            <a:off x="8524875" y="14039850"/>
            <a:ext cx="1514475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2000</a:t>
            </a:r>
          </a:p>
        </p:txBody>
      </p:sp>
      <p:sp>
        <p:nvSpPr>
          <p:cNvPr id="32" name="bar-5"/>
          <p:cNvSpPr/>
          <p:nvPr/>
        </p:nvSpPr>
        <p:spPr>
          <a:xfrm>
            <a:off x="10496550" y="12496800"/>
            <a:ext cx="1524000" cy="2286000"/>
          </a:xfrm>
          <a:prstGeom prst="rect">
            <a:avLst/>
          </a:prstGeom>
          <a:solidFill>
            <a:srgbClr val="D5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ar-5-val"/>
          <p:cNvSpPr txBox="1"/>
          <p:nvPr/>
        </p:nvSpPr>
        <p:spPr>
          <a:xfrm>
            <a:off x="10496550" y="14039850"/>
            <a:ext cx="15240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1800</a:t>
            </a:r>
          </a:p>
        </p:txBody>
      </p:sp>
      <p:sp>
        <p:nvSpPr>
          <p:cNvPr id="34" name="bar-6"/>
          <p:cNvSpPr/>
          <p:nvPr/>
        </p:nvSpPr>
        <p:spPr>
          <a:xfrm>
            <a:off x="12477750" y="13258800"/>
            <a:ext cx="1495425" cy="1524000"/>
          </a:xfrm>
          <a:prstGeom prst="rect">
            <a:avLst/>
          </a:prstGeom>
          <a:solidFill>
            <a:srgbClr val="D5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ar-6-val"/>
          <p:cNvSpPr txBox="1"/>
          <p:nvPr/>
        </p:nvSpPr>
        <p:spPr>
          <a:xfrm>
            <a:off x="12477750" y="14039850"/>
            <a:ext cx="1495425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36" name="bar-7"/>
          <p:cNvSpPr/>
          <p:nvPr/>
        </p:nvSpPr>
        <p:spPr>
          <a:xfrm>
            <a:off x="14430375" y="13382625"/>
            <a:ext cx="1514475" cy="1400175"/>
          </a:xfrm>
          <a:prstGeom prst="rect">
            <a:avLst/>
          </a:prstGeom>
          <a:solidFill>
            <a:srgbClr val="D5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-7-val"/>
          <p:cNvSpPr txBox="1"/>
          <p:nvPr/>
        </p:nvSpPr>
        <p:spPr>
          <a:xfrm>
            <a:off x="14430375" y="14039850"/>
            <a:ext cx="1514475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1100</a:t>
            </a:r>
          </a:p>
        </p:txBody>
      </p:sp>
      <p:sp>
        <p:nvSpPr>
          <p:cNvPr id="38" name="bar-8"/>
          <p:cNvSpPr/>
          <p:nvPr/>
        </p:nvSpPr>
        <p:spPr>
          <a:xfrm>
            <a:off x="16402050" y="14144625"/>
            <a:ext cx="1524000" cy="638175"/>
          </a:xfrm>
          <a:prstGeom prst="rect">
            <a:avLst/>
          </a:prstGeom>
          <a:solidFill>
            <a:srgbClr val="D5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-8-val"/>
          <p:cNvSpPr txBox="1"/>
          <p:nvPr/>
        </p:nvSpPr>
        <p:spPr>
          <a:xfrm>
            <a:off x="16402050" y="14039850"/>
            <a:ext cx="15240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40" name="axis-1"/>
          <p:cNvSpPr txBox="1"/>
          <p:nvPr/>
        </p:nvSpPr>
        <p:spPr>
          <a:xfrm>
            <a:off x="2419350" y="15125700"/>
            <a:ext cx="1905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类别01</a:t>
            </a:r>
          </a:p>
        </p:txBody>
      </p:sp>
      <p:sp>
        <p:nvSpPr>
          <p:cNvPr id="41" name="axis-2"/>
          <p:cNvSpPr txBox="1"/>
          <p:nvPr/>
        </p:nvSpPr>
        <p:spPr>
          <a:xfrm>
            <a:off x="4381500" y="15125700"/>
            <a:ext cx="1905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类别02</a:t>
            </a:r>
          </a:p>
        </p:txBody>
      </p:sp>
      <p:sp>
        <p:nvSpPr>
          <p:cNvPr id="42" name="axis-3"/>
          <p:cNvSpPr txBox="1"/>
          <p:nvPr/>
        </p:nvSpPr>
        <p:spPr>
          <a:xfrm>
            <a:off x="6353175" y="15125700"/>
            <a:ext cx="1905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类别03</a:t>
            </a:r>
          </a:p>
        </p:txBody>
      </p:sp>
      <p:sp>
        <p:nvSpPr>
          <p:cNvPr id="43" name="axis-4"/>
          <p:cNvSpPr txBox="1"/>
          <p:nvPr/>
        </p:nvSpPr>
        <p:spPr>
          <a:xfrm>
            <a:off x="8324850" y="15125700"/>
            <a:ext cx="1905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类别04</a:t>
            </a:r>
          </a:p>
        </p:txBody>
      </p:sp>
      <p:sp>
        <p:nvSpPr>
          <p:cNvPr id="44" name="axis-5"/>
          <p:cNvSpPr txBox="1"/>
          <p:nvPr/>
        </p:nvSpPr>
        <p:spPr>
          <a:xfrm>
            <a:off x="10306050" y="15125700"/>
            <a:ext cx="1905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类别05</a:t>
            </a:r>
          </a:p>
        </p:txBody>
      </p:sp>
      <p:sp>
        <p:nvSpPr>
          <p:cNvPr id="45" name="axis-6"/>
          <p:cNvSpPr txBox="1"/>
          <p:nvPr/>
        </p:nvSpPr>
        <p:spPr>
          <a:xfrm>
            <a:off x="12268200" y="15125700"/>
            <a:ext cx="1905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类别06</a:t>
            </a:r>
          </a:p>
        </p:txBody>
      </p:sp>
      <p:sp>
        <p:nvSpPr>
          <p:cNvPr id="46" name="axis-7"/>
          <p:cNvSpPr txBox="1"/>
          <p:nvPr/>
        </p:nvSpPr>
        <p:spPr>
          <a:xfrm>
            <a:off x="14230350" y="15125700"/>
            <a:ext cx="1905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类别07</a:t>
            </a:r>
          </a:p>
        </p:txBody>
      </p:sp>
      <p:sp>
        <p:nvSpPr>
          <p:cNvPr id="47" name="axis-8"/>
          <p:cNvSpPr txBox="1"/>
          <p:nvPr/>
        </p:nvSpPr>
        <p:spPr>
          <a:xfrm>
            <a:off x="16211550" y="15125700"/>
            <a:ext cx="1905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类别08</a:t>
            </a:r>
          </a:p>
        </p:txBody>
      </p:sp>
      <p:sp>
        <p:nvSpPr>
          <p:cNvPr id="48" name="trend-line"/>
          <p:cNvSpPr/>
          <p:nvPr/>
        </p:nvSpPr>
        <p:spPr>
          <a:xfrm>
            <a:off x="3371850" y="7162800"/>
            <a:ext cx="13792200" cy="6353175"/>
          </a:xfrm>
          <a:custGeom>
            <a:avLst/>
            <a:gdLst/>
            <a:ahLst/>
            <a:cxnLst/>
            <a:rect l="l" t="t" r="r" b="b"/>
            <a:pathLst>
              <a:path w="13792200" h="6353175">
                <a:moveTo>
                  <a:pt x="0" y="0"/>
                </a:moveTo>
                <a:lnTo>
                  <a:pt x="43815" y="10478"/>
                </a:lnTo>
                <a:lnTo>
                  <a:pt x="95250" y="21908"/>
                </a:lnTo>
                <a:lnTo>
                  <a:pt x="151448" y="33338"/>
                </a:lnTo>
                <a:lnTo>
                  <a:pt x="213360" y="44768"/>
                </a:lnTo>
                <a:lnTo>
                  <a:pt x="280988" y="56198"/>
                </a:lnTo>
                <a:lnTo>
                  <a:pt x="352425" y="69532"/>
                </a:lnTo>
                <a:lnTo>
                  <a:pt x="428625" y="82868"/>
                </a:lnTo>
                <a:lnTo>
                  <a:pt x="508635" y="96202"/>
                </a:lnTo>
                <a:lnTo>
                  <a:pt x="591502" y="111442"/>
                </a:lnTo>
                <a:lnTo>
                  <a:pt x="678180" y="127635"/>
                </a:lnTo>
                <a:lnTo>
                  <a:pt x="766762" y="144780"/>
                </a:lnTo>
                <a:lnTo>
                  <a:pt x="858202" y="162878"/>
                </a:lnTo>
                <a:lnTo>
                  <a:pt x="950595" y="182880"/>
                </a:lnTo>
                <a:lnTo>
                  <a:pt x="1044892" y="203835"/>
                </a:lnTo>
                <a:lnTo>
                  <a:pt x="1139190" y="226695"/>
                </a:lnTo>
                <a:lnTo>
                  <a:pt x="1234440" y="250508"/>
                </a:lnTo>
                <a:lnTo>
                  <a:pt x="1329690" y="276225"/>
                </a:lnTo>
                <a:lnTo>
                  <a:pt x="1424940" y="303848"/>
                </a:lnTo>
                <a:lnTo>
                  <a:pt x="1519238" y="333375"/>
                </a:lnTo>
                <a:lnTo>
                  <a:pt x="1611630" y="365760"/>
                </a:lnTo>
                <a:lnTo>
                  <a:pt x="1703070" y="399098"/>
                </a:lnTo>
                <a:lnTo>
                  <a:pt x="1791652" y="435292"/>
                </a:lnTo>
                <a:lnTo>
                  <a:pt x="1878330" y="473392"/>
                </a:lnTo>
                <a:lnTo>
                  <a:pt x="1962150" y="514350"/>
                </a:lnTo>
                <a:lnTo>
                  <a:pt x="2044065" y="555308"/>
                </a:lnTo>
                <a:lnTo>
                  <a:pt x="2125980" y="596265"/>
                </a:lnTo>
                <a:lnTo>
                  <a:pt x="2207895" y="635318"/>
                </a:lnTo>
                <a:lnTo>
                  <a:pt x="2289810" y="675322"/>
                </a:lnTo>
                <a:lnTo>
                  <a:pt x="2372678" y="714375"/>
                </a:lnTo>
                <a:lnTo>
                  <a:pt x="2454592" y="754380"/>
                </a:lnTo>
                <a:lnTo>
                  <a:pt x="2536508" y="795338"/>
                </a:lnTo>
                <a:lnTo>
                  <a:pt x="2618422" y="838200"/>
                </a:lnTo>
                <a:lnTo>
                  <a:pt x="2701290" y="882015"/>
                </a:lnTo>
                <a:lnTo>
                  <a:pt x="2783205" y="927735"/>
                </a:lnTo>
                <a:lnTo>
                  <a:pt x="2865120" y="976312"/>
                </a:lnTo>
                <a:lnTo>
                  <a:pt x="2947035" y="1027748"/>
                </a:lnTo>
                <a:lnTo>
                  <a:pt x="3029902" y="1082992"/>
                </a:lnTo>
                <a:lnTo>
                  <a:pt x="3111818" y="1141095"/>
                </a:lnTo>
                <a:lnTo>
                  <a:pt x="3193732" y="1203960"/>
                </a:lnTo>
                <a:lnTo>
                  <a:pt x="3276600" y="1271588"/>
                </a:lnTo>
                <a:lnTo>
                  <a:pt x="3358515" y="1343978"/>
                </a:lnTo>
                <a:lnTo>
                  <a:pt x="3440430" y="1421130"/>
                </a:lnTo>
                <a:lnTo>
                  <a:pt x="3523298" y="1503998"/>
                </a:lnTo>
                <a:lnTo>
                  <a:pt x="3605212" y="1593532"/>
                </a:lnTo>
                <a:lnTo>
                  <a:pt x="3687128" y="1688782"/>
                </a:lnTo>
                <a:lnTo>
                  <a:pt x="3769042" y="1791652"/>
                </a:lnTo>
                <a:lnTo>
                  <a:pt x="3851910" y="1901190"/>
                </a:lnTo>
                <a:lnTo>
                  <a:pt x="3933825" y="2019300"/>
                </a:lnTo>
                <a:lnTo>
                  <a:pt x="4015740" y="2152650"/>
                </a:lnTo>
                <a:lnTo>
                  <a:pt x="4097655" y="2308860"/>
                </a:lnTo>
                <a:lnTo>
                  <a:pt x="4180522" y="2485072"/>
                </a:lnTo>
                <a:lnTo>
                  <a:pt x="4262438" y="2678430"/>
                </a:lnTo>
                <a:lnTo>
                  <a:pt x="4344352" y="2886075"/>
                </a:lnTo>
                <a:lnTo>
                  <a:pt x="4426268" y="3107055"/>
                </a:lnTo>
                <a:lnTo>
                  <a:pt x="4508182" y="3337560"/>
                </a:lnTo>
                <a:lnTo>
                  <a:pt x="4591050" y="3575685"/>
                </a:lnTo>
                <a:lnTo>
                  <a:pt x="4672965" y="3818572"/>
                </a:lnTo>
                <a:lnTo>
                  <a:pt x="4754880" y="4063365"/>
                </a:lnTo>
                <a:lnTo>
                  <a:pt x="4836795" y="4308158"/>
                </a:lnTo>
                <a:lnTo>
                  <a:pt x="4918710" y="4551045"/>
                </a:lnTo>
                <a:lnTo>
                  <a:pt x="5001578" y="4788218"/>
                </a:lnTo>
                <a:lnTo>
                  <a:pt x="5083492" y="5018722"/>
                </a:lnTo>
                <a:lnTo>
                  <a:pt x="5165408" y="5238750"/>
                </a:lnTo>
                <a:lnTo>
                  <a:pt x="5247322" y="5445442"/>
                </a:lnTo>
                <a:lnTo>
                  <a:pt x="5330190" y="5637848"/>
                </a:lnTo>
                <a:lnTo>
                  <a:pt x="5412105" y="5813108"/>
                </a:lnTo>
                <a:lnTo>
                  <a:pt x="5494020" y="5967412"/>
                </a:lnTo>
                <a:lnTo>
                  <a:pt x="5575935" y="6099810"/>
                </a:lnTo>
                <a:lnTo>
                  <a:pt x="5658802" y="6206490"/>
                </a:lnTo>
                <a:lnTo>
                  <a:pt x="5740718" y="6286500"/>
                </a:lnTo>
                <a:lnTo>
                  <a:pt x="5823585" y="6336030"/>
                </a:lnTo>
                <a:lnTo>
                  <a:pt x="5905500" y="6353175"/>
                </a:lnTo>
                <a:lnTo>
                  <a:pt x="5987415" y="6335078"/>
                </a:lnTo>
                <a:lnTo>
                  <a:pt x="6070282" y="6283642"/>
                </a:lnTo>
                <a:lnTo>
                  <a:pt x="6153150" y="6199822"/>
                </a:lnTo>
                <a:lnTo>
                  <a:pt x="6235065" y="6088380"/>
                </a:lnTo>
                <a:lnTo>
                  <a:pt x="6317932" y="5950268"/>
                </a:lnTo>
                <a:lnTo>
                  <a:pt x="6400800" y="5789295"/>
                </a:lnTo>
                <a:lnTo>
                  <a:pt x="6483668" y="5608320"/>
                </a:lnTo>
                <a:lnTo>
                  <a:pt x="6565582" y="5409248"/>
                </a:lnTo>
                <a:lnTo>
                  <a:pt x="6648450" y="5194935"/>
                </a:lnTo>
                <a:lnTo>
                  <a:pt x="6731318" y="4968240"/>
                </a:lnTo>
                <a:lnTo>
                  <a:pt x="6814185" y="4732020"/>
                </a:lnTo>
                <a:lnTo>
                  <a:pt x="6897052" y="4488180"/>
                </a:lnTo>
                <a:lnTo>
                  <a:pt x="6978968" y="4241482"/>
                </a:lnTo>
                <a:lnTo>
                  <a:pt x="7061835" y="3992880"/>
                </a:lnTo>
                <a:lnTo>
                  <a:pt x="7144702" y="3745230"/>
                </a:lnTo>
                <a:lnTo>
                  <a:pt x="7227570" y="3501390"/>
                </a:lnTo>
                <a:lnTo>
                  <a:pt x="7309485" y="3264218"/>
                </a:lnTo>
                <a:lnTo>
                  <a:pt x="7392352" y="3036570"/>
                </a:lnTo>
                <a:lnTo>
                  <a:pt x="7475220" y="2821305"/>
                </a:lnTo>
                <a:lnTo>
                  <a:pt x="7557135" y="2620328"/>
                </a:lnTo>
                <a:lnTo>
                  <a:pt x="7640002" y="2437448"/>
                </a:lnTo>
                <a:lnTo>
                  <a:pt x="7721918" y="2273618"/>
                </a:lnTo>
                <a:lnTo>
                  <a:pt x="7804785" y="2133600"/>
                </a:lnTo>
                <a:lnTo>
                  <a:pt x="7886700" y="2019300"/>
                </a:lnTo>
                <a:lnTo>
                  <a:pt x="7968615" y="1924050"/>
                </a:lnTo>
                <a:lnTo>
                  <a:pt x="8050530" y="1838325"/>
                </a:lnTo>
                <a:lnTo>
                  <a:pt x="8132445" y="1762125"/>
                </a:lnTo>
                <a:lnTo>
                  <a:pt x="8214360" y="1695450"/>
                </a:lnTo>
                <a:lnTo>
                  <a:pt x="8296275" y="1637348"/>
                </a:lnTo>
                <a:lnTo>
                  <a:pt x="8378190" y="1587818"/>
                </a:lnTo>
                <a:lnTo>
                  <a:pt x="8460105" y="1545908"/>
                </a:lnTo>
                <a:lnTo>
                  <a:pt x="8542020" y="1510665"/>
                </a:lnTo>
                <a:lnTo>
                  <a:pt x="8623935" y="1482090"/>
                </a:lnTo>
                <a:lnTo>
                  <a:pt x="8705850" y="1460182"/>
                </a:lnTo>
                <a:lnTo>
                  <a:pt x="8787765" y="1443038"/>
                </a:lnTo>
                <a:lnTo>
                  <a:pt x="8868728" y="1431608"/>
                </a:lnTo>
                <a:lnTo>
                  <a:pt x="8950642" y="1424940"/>
                </a:lnTo>
                <a:lnTo>
                  <a:pt x="9032558" y="1422082"/>
                </a:lnTo>
                <a:lnTo>
                  <a:pt x="9113520" y="1423035"/>
                </a:lnTo>
                <a:lnTo>
                  <a:pt x="9195435" y="1427798"/>
                </a:lnTo>
                <a:lnTo>
                  <a:pt x="9277350" y="1434465"/>
                </a:lnTo>
                <a:lnTo>
                  <a:pt x="9358312" y="1443038"/>
                </a:lnTo>
                <a:lnTo>
                  <a:pt x="9440228" y="1453515"/>
                </a:lnTo>
                <a:lnTo>
                  <a:pt x="9522142" y="1465898"/>
                </a:lnTo>
                <a:lnTo>
                  <a:pt x="9604058" y="1478280"/>
                </a:lnTo>
                <a:lnTo>
                  <a:pt x="9685020" y="1490662"/>
                </a:lnTo>
                <a:lnTo>
                  <a:pt x="9766935" y="1503045"/>
                </a:lnTo>
                <a:lnTo>
                  <a:pt x="9848850" y="1514475"/>
                </a:lnTo>
                <a:lnTo>
                  <a:pt x="9930765" y="1527810"/>
                </a:lnTo>
                <a:lnTo>
                  <a:pt x="10012680" y="1545908"/>
                </a:lnTo>
                <a:lnTo>
                  <a:pt x="10093642" y="1567815"/>
                </a:lnTo>
                <a:lnTo>
                  <a:pt x="10175558" y="1594485"/>
                </a:lnTo>
                <a:lnTo>
                  <a:pt x="10257472" y="1624965"/>
                </a:lnTo>
                <a:lnTo>
                  <a:pt x="10339388" y="1658302"/>
                </a:lnTo>
                <a:lnTo>
                  <a:pt x="10420350" y="1695450"/>
                </a:lnTo>
                <a:lnTo>
                  <a:pt x="10502265" y="1735455"/>
                </a:lnTo>
                <a:lnTo>
                  <a:pt x="10584180" y="1778318"/>
                </a:lnTo>
                <a:lnTo>
                  <a:pt x="10665142" y="1823085"/>
                </a:lnTo>
                <a:lnTo>
                  <a:pt x="10747058" y="1869758"/>
                </a:lnTo>
                <a:lnTo>
                  <a:pt x="10828972" y="1918335"/>
                </a:lnTo>
                <a:lnTo>
                  <a:pt x="10909935" y="1968818"/>
                </a:lnTo>
                <a:lnTo>
                  <a:pt x="10991850" y="2020252"/>
                </a:lnTo>
                <a:lnTo>
                  <a:pt x="11073765" y="2073592"/>
                </a:lnTo>
                <a:lnTo>
                  <a:pt x="11155680" y="2126932"/>
                </a:lnTo>
                <a:lnTo>
                  <a:pt x="11237595" y="2180272"/>
                </a:lnTo>
                <a:lnTo>
                  <a:pt x="11319510" y="2233612"/>
                </a:lnTo>
                <a:lnTo>
                  <a:pt x="11401425" y="2287905"/>
                </a:lnTo>
                <a:lnTo>
                  <a:pt x="11483340" y="2340292"/>
                </a:lnTo>
                <a:lnTo>
                  <a:pt x="11565255" y="2393632"/>
                </a:lnTo>
                <a:lnTo>
                  <a:pt x="11647170" y="2444115"/>
                </a:lnTo>
                <a:lnTo>
                  <a:pt x="11729085" y="2494598"/>
                </a:lnTo>
                <a:lnTo>
                  <a:pt x="11811000" y="2543175"/>
                </a:lnTo>
                <a:lnTo>
                  <a:pt x="11894820" y="2592705"/>
                </a:lnTo>
                <a:lnTo>
                  <a:pt x="11981498" y="2644140"/>
                </a:lnTo>
                <a:lnTo>
                  <a:pt x="12071032" y="2698432"/>
                </a:lnTo>
                <a:lnTo>
                  <a:pt x="12163425" y="2753678"/>
                </a:lnTo>
                <a:lnTo>
                  <a:pt x="12256770" y="2811780"/>
                </a:lnTo>
                <a:lnTo>
                  <a:pt x="12351068" y="2870835"/>
                </a:lnTo>
                <a:lnTo>
                  <a:pt x="12447270" y="2930842"/>
                </a:lnTo>
                <a:lnTo>
                  <a:pt x="12543472" y="2991802"/>
                </a:lnTo>
                <a:lnTo>
                  <a:pt x="12639675" y="3052762"/>
                </a:lnTo>
                <a:lnTo>
                  <a:pt x="12735878" y="3114675"/>
                </a:lnTo>
                <a:lnTo>
                  <a:pt x="12830175" y="3175635"/>
                </a:lnTo>
                <a:lnTo>
                  <a:pt x="12924472" y="3236595"/>
                </a:lnTo>
                <a:lnTo>
                  <a:pt x="13015912" y="3295650"/>
                </a:lnTo>
                <a:lnTo>
                  <a:pt x="13106400" y="3353752"/>
                </a:lnTo>
                <a:lnTo>
                  <a:pt x="13193078" y="3410902"/>
                </a:lnTo>
                <a:lnTo>
                  <a:pt x="13277850" y="3466148"/>
                </a:lnTo>
                <a:lnTo>
                  <a:pt x="13358812" y="3518535"/>
                </a:lnTo>
                <a:lnTo>
                  <a:pt x="13435965" y="3569018"/>
                </a:lnTo>
                <a:lnTo>
                  <a:pt x="13508355" y="3616642"/>
                </a:lnTo>
                <a:lnTo>
                  <a:pt x="13575982" y="3661410"/>
                </a:lnTo>
                <a:lnTo>
                  <a:pt x="13638848" y="3702368"/>
                </a:lnTo>
                <a:lnTo>
                  <a:pt x="13695998" y="3738562"/>
                </a:lnTo>
                <a:lnTo>
                  <a:pt x="13747432" y="3771900"/>
                </a:lnTo>
                <a:lnTo>
                  <a:pt x="13792200" y="3800475"/>
                </a:lnTo>
              </a:path>
            </a:pathLst>
          </a:custGeom>
          <a:noFill/>
          <a:ln w="85725">
            <a:solidFill>
              <a:srgbClr val="4E8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arker-1"/>
          <p:cNvSpPr/>
          <p:nvPr/>
        </p:nvSpPr>
        <p:spPr>
          <a:xfrm>
            <a:off x="3209925" y="7000875"/>
            <a:ext cx="323850" cy="323850"/>
          </a:xfrm>
          <a:prstGeom prst="ellipse">
            <a:avLst/>
          </a:prstGeom>
          <a:solidFill>
            <a:srgbClr val="4E8856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marker-2"/>
          <p:cNvSpPr/>
          <p:nvPr/>
        </p:nvSpPr>
        <p:spPr>
          <a:xfrm>
            <a:off x="5172075" y="7515225"/>
            <a:ext cx="323850" cy="323850"/>
          </a:xfrm>
          <a:prstGeom prst="ellipse">
            <a:avLst/>
          </a:prstGeom>
          <a:solidFill>
            <a:srgbClr val="4E8856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marker-3"/>
          <p:cNvSpPr/>
          <p:nvPr/>
        </p:nvSpPr>
        <p:spPr>
          <a:xfrm>
            <a:off x="7143750" y="9020175"/>
            <a:ext cx="323850" cy="323850"/>
          </a:xfrm>
          <a:prstGeom prst="ellipse">
            <a:avLst/>
          </a:prstGeom>
          <a:solidFill>
            <a:srgbClr val="4E8856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arker-4"/>
          <p:cNvSpPr/>
          <p:nvPr/>
        </p:nvSpPr>
        <p:spPr>
          <a:xfrm>
            <a:off x="9115425" y="13354050"/>
            <a:ext cx="323850" cy="323850"/>
          </a:xfrm>
          <a:prstGeom prst="ellipse">
            <a:avLst/>
          </a:prstGeom>
          <a:solidFill>
            <a:srgbClr val="4E8856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marker-5"/>
          <p:cNvSpPr/>
          <p:nvPr/>
        </p:nvSpPr>
        <p:spPr>
          <a:xfrm>
            <a:off x="11096625" y="9020175"/>
            <a:ext cx="323850" cy="323850"/>
          </a:xfrm>
          <a:prstGeom prst="ellipse">
            <a:avLst/>
          </a:prstGeom>
          <a:solidFill>
            <a:srgbClr val="4E8856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marker-6"/>
          <p:cNvSpPr/>
          <p:nvPr/>
        </p:nvSpPr>
        <p:spPr>
          <a:xfrm>
            <a:off x="13058775" y="8515350"/>
            <a:ext cx="323850" cy="323850"/>
          </a:xfrm>
          <a:prstGeom prst="ellipse">
            <a:avLst/>
          </a:prstGeom>
          <a:solidFill>
            <a:srgbClr val="4E8856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arker-7"/>
          <p:cNvSpPr/>
          <p:nvPr/>
        </p:nvSpPr>
        <p:spPr>
          <a:xfrm>
            <a:off x="15020925" y="9544050"/>
            <a:ext cx="323850" cy="323850"/>
          </a:xfrm>
          <a:prstGeom prst="ellipse">
            <a:avLst/>
          </a:prstGeom>
          <a:solidFill>
            <a:srgbClr val="4E8856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arker-8"/>
          <p:cNvSpPr/>
          <p:nvPr/>
        </p:nvSpPr>
        <p:spPr>
          <a:xfrm>
            <a:off x="17002125" y="10801350"/>
            <a:ext cx="323850" cy="323850"/>
          </a:xfrm>
          <a:prstGeom prst="ellipse">
            <a:avLst/>
          </a:prstGeom>
          <a:solidFill>
            <a:srgbClr val="4E8856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ct-1"/>
          <p:cNvSpPr txBox="1"/>
          <p:nvPr/>
        </p:nvSpPr>
        <p:spPr>
          <a:xfrm>
            <a:off x="2324100" y="6029325"/>
            <a:ext cx="20955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4E8856"/>
                </a:solidFill>
                <a:latin typeface="Microsoft YaHei"/>
                <a:ea typeface="Microsoft YaHei"/>
                <a:cs typeface="Microsoft YaHei"/>
              </a:rPr>
              <a:t>5.0%</a:t>
            </a:r>
          </a:p>
        </p:txBody>
      </p:sp>
      <p:sp>
        <p:nvSpPr>
          <p:cNvPr id="58" name="pct-2"/>
          <p:cNvSpPr txBox="1"/>
          <p:nvPr/>
        </p:nvSpPr>
        <p:spPr>
          <a:xfrm>
            <a:off x="4286250" y="6753225"/>
            <a:ext cx="20955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3.0%</a:t>
            </a:r>
          </a:p>
        </p:txBody>
      </p:sp>
      <p:sp>
        <p:nvSpPr>
          <p:cNvPr id="59" name="pct-3"/>
          <p:cNvSpPr txBox="1"/>
          <p:nvPr/>
        </p:nvSpPr>
        <p:spPr>
          <a:xfrm>
            <a:off x="6257925" y="8058150"/>
            <a:ext cx="20955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-3.0%</a:t>
            </a:r>
          </a:p>
        </p:txBody>
      </p:sp>
      <p:sp>
        <p:nvSpPr>
          <p:cNvPr id="60" name="pct-4"/>
          <p:cNvSpPr txBox="1"/>
          <p:nvPr/>
        </p:nvSpPr>
        <p:spPr>
          <a:xfrm>
            <a:off x="8229600" y="12325350"/>
            <a:ext cx="20955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-20.0%</a:t>
            </a:r>
          </a:p>
        </p:txBody>
      </p:sp>
      <p:sp>
        <p:nvSpPr>
          <p:cNvPr id="61" name="pct-5"/>
          <p:cNvSpPr txBox="1"/>
          <p:nvPr/>
        </p:nvSpPr>
        <p:spPr>
          <a:xfrm>
            <a:off x="10210800" y="8277225"/>
            <a:ext cx="20955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-3.0%</a:t>
            </a:r>
          </a:p>
        </p:txBody>
      </p:sp>
      <p:sp>
        <p:nvSpPr>
          <p:cNvPr id="62" name="pct-6"/>
          <p:cNvSpPr txBox="1"/>
          <p:nvPr/>
        </p:nvSpPr>
        <p:spPr>
          <a:xfrm>
            <a:off x="12172950" y="7772400"/>
            <a:ext cx="20955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-1.0%</a:t>
            </a:r>
          </a:p>
        </p:txBody>
      </p:sp>
      <p:sp>
        <p:nvSpPr>
          <p:cNvPr id="63" name="pct-7"/>
          <p:cNvSpPr txBox="1"/>
          <p:nvPr/>
        </p:nvSpPr>
        <p:spPr>
          <a:xfrm>
            <a:off x="14135100" y="8801100"/>
            <a:ext cx="20955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-5.0%</a:t>
            </a:r>
          </a:p>
        </p:txBody>
      </p:sp>
      <p:sp>
        <p:nvSpPr>
          <p:cNvPr id="64" name="pct-8"/>
          <p:cNvSpPr txBox="1"/>
          <p:nvPr/>
        </p:nvSpPr>
        <p:spPr>
          <a:xfrm>
            <a:off x="16116300" y="10058400"/>
            <a:ext cx="20955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-10.0%</a:t>
            </a:r>
          </a:p>
        </p:txBody>
      </p:sp>
      <p:sp>
        <p:nvSpPr>
          <p:cNvPr id="65" name="card1-frame"/>
          <p:cNvSpPr/>
          <p:nvPr/>
        </p:nvSpPr>
        <p:spPr>
          <a:xfrm>
            <a:off x="21059775" y="2695575"/>
            <a:ext cx="6953250" cy="6076950"/>
          </a:xfrm>
          <a:prstGeom prst="roundRect">
            <a:avLst>
              <a:gd name="adj" fmla="val 1880"/>
            </a:avLst>
          </a:prstGeom>
          <a:solidFill>
            <a:srgbClr val="FAFCFB"/>
          </a:solidFill>
          <a:ln w="28575">
            <a:solidFill>
              <a:srgbClr val="4E88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ard1-arrow"/>
          <p:cNvSpPr/>
          <p:nvPr/>
        </p:nvSpPr>
        <p:spPr>
          <a:xfrm>
            <a:off x="20650200" y="5848350"/>
            <a:ext cx="409575" cy="342900"/>
          </a:xfrm>
          <a:custGeom>
            <a:avLst/>
            <a:gdLst/>
            <a:ahLst/>
            <a:cxnLst/>
            <a:rect l="l" t="t" r="r" b="b"/>
            <a:pathLst>
              <a:path w="409575" h="342900">
                <a:moveTo>
                  <a:pt x="409575" y="0"/>
                </a:moveTo>
                <a:lnTo>
                  <a:pt x="0" y="171450"/>
                </a:lnTo>
                <a:lnTo>
                  <a:pt x="409575" y="342900"/>
                </a:lnTo>
              </a:path>
            </a:pathLst>
          </a:custGeom>
          <a:noFill/>
          <a:ln w="28575">
            <a:solidFill>
              <a:srgbClr val="4E88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ard1-tag"/>
          <p:cNvSpPr/>
          <p:nvPr/>
        </p:nvSpPr>
        <p:spPr>
          <a:xfrm>
            <a:off x="22069425" y="3124200"/>
            <a:ext cx="4448175" cy="942975"/>
          </a:xfrm>
          <a:prstGeom prst="roundRect">
            <a:avLst>
              <a:gd name="adj" fmla="val 18181"/>
            </a:avLst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ard1-tag-text"/>
          <p:cNvSpPr txBox="1"/>
          <p:nvPr/>
        </p:nvSpPr>
        <p:spPr>
          <a:xfrm>
            <a:off x="22107525" y="3124200"/>
            <a:ext cx="4371975" cy="942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01</a:t>
            </a:r>
          </a:p>
        </p:txBody>
      </p:sp>
      <p:cxnSp>
        <p:nvCxnSpPr>
          <p:cNvPr id="69" name="card1-timeline"/>
          <p:cNvCxnSpPr/>
          <p:nvPr/>
        </p:nvCxnSpPr>
        <p:spPr>
          <a:xfrm>
            <a:off x="21917025" y="4514850"/>
            <a:ext cx="0" cy="2247900"/>
          </a:xfrm>
          <a:prstGeom prst="line">
            <a:avLst/>
          </a:prstGeom>
          <a:ln w="28575">
            <a:solidFill>
              <a:srgbClr val="4E88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ard1-dot1"/>
          <p:cNvSpPr/>
          <p:nvPr/>
        </p:nvSpPr>
        <p:spPr>
          <a:xfrm>
            <a:off x="21831300" y="4552950"/>
            <a:ext cx="171450" cy="171450"/>
          </a:xfrm>
          <a:prstGeom prst="ellipse">
            <a:avLst/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ard1-dot2"/>
          <p:cNvSpPr/>
          <p:nvPr/>
        </p:nvSpPr>
        <p:spPr>
          <a:xfrm>
            <a:off x="21831300" y="4857750"/>
            <a:ext cx="171450" cy="171450"/>
          </a:xfrm>
          <a:prstGeom prst="ellipse">
            <a:avLst/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ard1-dot3"/>
          <p:cNvSpPr/>
          <p:nvPr/>
        </p:nvSpPr>
        <p:spPr>
          <a:xfrm>
            <a:off x="21831300" y="6238875"/>
            <a:ext cx="171450" cy="171450"/>
          </a:xfrm>
          <a:prstGeom prst="ellipse">
            <a:avLst/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ard1-dot4"/>
          <p:cNvSpPr/>
          <p:nvPr/>
        </p:nvSpPr>
        <p:spPr>
          <a:xfrm>
            <a:off x="21831300" y="6553200"/>
            <a:ext cx="171450" cy="171450"/>
          </a:xfrm>
          <a:prstGeom prst="ellipse">
            <a:avLst/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ard1-bullet1"/>
          <p:cNvSpPr txBox="1"/>
          <p:nvPr/>
        </p:nvSpPr>
        <p:spPr>
          <a:xfrm>
            <a:off x="22679025" y="4457700"/>
            <a:ext cx="4953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2025年公司迎来高速增长期，</a:t>
            </a:r>
          </a:p>
        </p:txBody>
      </p:sp>
      <p:sp>
        <p:nvSpPr>
          <p:cNvPr id="75" name="card1-bullet2"/>
          <p:cNvSpPr txBox="1"/>
          <p:nvPr/>
        </p:nvSpPr>
        <p:spPr>
          <a:xfrm>
            <a:off x="22679025" y="5000625"/>
            <a:ext cx="4953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利润销量实现双增长</a:t>
            </a:r>
          </a:p>
        </p:txBody>
      </p:sp>
      <p:sp>
        <p:nvSpPr>
          <p:cNvPr id="76" name="card1-bullet3"/>
          <p:cNvSpPr txBox="1"/>
          <p:nvPr/>
        </p:nvSpPr>
        <p:spPr>
          <a:xfrm>
            <a:off x="22679025" y="5934075"/>
            <a:ext cx="4953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业务涵盖销售、电商以及生</a:t>
            </a:r>
          </a:p>
        </p:txBody>
      </p:sp>
      <p:sp>
        <p:nvSpPr>
          <p:cNvPr id="77" name="card1-bullet4"/>
          <p:cNvSpPr txBox="1"/>
          <p:nvPr/>
        </p:nvSpPr>
        <p:spPr>
          <a:xfrm>
            <a:off x="22679025" y="6477000"/>
            <a:ext cx="4953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产各个领域，产业链完整</a:t>
            </a:r>
          </a:p>
        </p:txBody>
      </p:sp>
      <p:sp>
        <p:nvSpPr>
          <p:cNvPr id="78" name="card1-track"/>
          <p:cNvSpPr/>
          <p:nvPr/>
        </p:nvSpPr>
        <p:spPr>
          <a:xfrm>
            <a:off x="21821775" y="7686675"/>
            <a:ext cx="4572000" cy="514350"/>
          </a:xfrm>
          <a:prstGeom prst="roundRect">
            <a:avLst>
              <a:gd name="adj" fmla="val 50000"/>
            </a:avLst>
          </a:prstGeom>
          <a:solidFill>
            <a:srgbClr val="DB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ard1-fill"/>
          <p:cNvSpPr/>
          <p:nvPr/>
        </p:nvSpPr>
        <p:spPr>
          <a:xfrm>
            <a:off x="21821775" y="7686675"/>
            <a:ext cx="2971800" cy="514350"/>
          </a:xfrm>
          <a:prstGeom prst="roundRect">
            <a:avLst>
              <a:gd name="adj" fmla="val 50000"/>
            </a:avLst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ard1-pct"/>
          <p:cNvSpPr txBox="1"/>
          <p:nvPr/>
        </p:nvSpPr>
        <p:spPr>
          <a:xfrm>
            <a:off x="26784300" y="7629525"/>
            <a:ext cx="123825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F3B45"/>
                </a:solidFill>
                <a:latin typeface="Microsoft YaHei"/>
                <a:ea typeface="Microsoft YaHei"/>
                <a:cs typeface="Microsoft YaHei"/>
              </a:rPr>
              <a:t>65%</a:t>
            </a:r>
          </a:p>
        </p:txBody>
      </p:sp>
      <p:sp>
        <p:nvSpPr>
          <p:cNvPr id="81" name="card2-frame"/>
          <p:cNvSpPr/>
          <p:nvPr/>
        </p:nvSpPr>
        <p:spPr>
          <a:xfrm>
            <a:off x="21059775" y="9648825"/>
            <a:ext cx="6953250" cy="6076950"/>
          </a:xfrm>
          <a:prstGeom prst="roundRect">
            <a:avLst>
              <a:gd name="adj" fmla="val 1880"/>
            </a:avLst>
          </a:prstGeom>
          <a:solidFill>
            <a:srgbClr val="FAFCFB"/>
          </a:solidFill>
          <a:ln w="28575">
            <a:solidFill>
              <a:srgbClr val="4E88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card2-arrow"/>
          <p:cNvSpPr/>
          <p:nvPr/>
        </p:nvSpPr>
        <p:spPr>
          <a:xfrm>
            <a:off x="20650200" y="5848350"/>
            <a:ext cx="409575" cy="342900"/>
          </a:xfrm>
          <a:custGeom>
            <a:avLst/>
            <a:gdLst/>
            <a:ahLst/>
            <a:cxnLst/>
            <a:rect l="l" t="t" r="r" b="b"/>
            <a:pathLst>
              <a:path w="409575" h="342900">
                <a:moveTo>
                  <a:pt x="409575" y="0"/>
                </a:moveTo>
                <a:lnTo>
                  <a:pt x="0" y="171450"/>
                </a:lnTo>
                <a:lnTo>
                  <a:pt x="409575" y="342900"/>
                </a:lnTo>
              </a:path>
            </a:pathLst>
          </a:custGeom>
          <a:noFill/>
          <a:ln w="28575">
            <a:solidFill>
              <a:srgbClr val="4E88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ard2-tag"/>
          <p:cNvSpPr/>
          <p:nvPr/>
        </p:nvSpPr>
        <p:spPr>
          <a:xfrm>
            <a:off x="22069425" y="10096500"/>
            <a:ext cx="4448175" cy="942975"/>
          </a:xfrm>
          <a:prstGeom prst="roundRect">
            <a:avLst>
              <a:gd name="adj" fmla="val 18181"/>
            </a:avLst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ard2-tag-text"/>
          <p:cNvSpPr txBox="1"/>
          <p:nvPr/>
        </p:nvSpPr>
        <p:spPr>
          <a:xfrm>
            <a:off x="22107525" y="10096500"/>
            <a:ext cx="4371975" cy="942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cxnSp>
        <p:nvCxnSpPr>
          <p:cNvPr id="85" name="card2-timeline"/>
          <p:cNvCxnSpPr/>
          <p:nvPr/>
        </p:nvCxnSpPr>
        <p:spPr>
          <a:xfrm>
            <a:off x="22364700" y="11582400"/>
            <a:ext cx="0" cy="2228850"/>
          </a:xfrm>
          <a:prstGeom prst="line">
            <a:avLst/>
          </a:prstGeom>
          <a:ln w="28575">
            <a:solidFill>
              <a:srgbClr val="4E88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card2-dot1"/>
          <p:cNvSpPr/>
          <p:nvPr/>
        </p:nvSpPr>
        <p:spPr>
          <a:xfrm>
            <a:off x="22278975" y="11620500"/>
            <a:ext cx="171450" cy="171450"/>
          </a:xfrm>
          <a:prstGeom prst="ellipse">
            <a:avLst/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ard2-dot2"/>
          <p:cNvSpPr/>
          <p:nvPr/>
        </p:nvSpPr>
        <p:spPr>
          <a:xfrm>
            <a:off x="22278975" y="11925300"/>
            <a:ext cx="171450" cy="171450"/>
          </a:xfrm>
          <a:prstGeom prst="ellipse">
            <a:avLst/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card2-dot3"/>
          <p:cNvSpPr/>
          <p:nvPr/>
        </p:nvSpPr>
        <p:spPr>
          <a:xfrm>
            <a:off x="22278975" y="13296900"/>
            <a:ext cx="171450" cy="171450"/>
          </a:xfrm>
          <a:prstGeom prst="ellipse">
            <a:avLst/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ard2-dot4"/>
          <p:cNvSpPr/>
          <p:nvPr/>
        </p:nvSpPr>
        <p:spPr>
          <a:xfrm>
            <a:off x="22278975" y="13601700"/>
            <a:ext cx="171450" cy="171450"/>
          </a:xfrm>
          <a:prstGeom prst="ellipse">
            <a:avLst/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card2-bullet1"/>
          <p:cNvSpPr txBox="1"/>
          <p:nvPr/>
        </p:nvSpPr>
        <p:spPr>
          <a:xfrm>
            <a:off x="23126700" y="11525250"/>
            <a:ext cx="4953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2025年公司迎来高速增长期，</a:t>
            </a:r>
          </a:p>
        </p:txBody>
      </p:sp>
      <p:sp>
        <p:nvSpPr>
          <p:cNvPr id="91" name="card2-bullet2"/>
          <p:cNvSpPr txBox="1"/>
          <p:nvPr/>
        </p:nvSpPr>
        <p:spPr>
          <a:xfrm>
            <a:off x="23126700" y="12068175"/>
            <a:ext cx="4953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利润销量实现双增长</a:t>
            </a:r>
          </a:p>
        </p:txBody>
      </p:sp>
      <p:sp>
        <p:nvSpPr>
          <p:cNvPr id="92" name="card2-bullet3"/>
          <p:cNvSpPr txBox="1"/>
          <p:nvPr/>
        </p:nvSpPr>
        <p:spPr>
          <a:xfrm>
            <a:off x="23126700" y="13001625"/>
            <a:ext cx="4953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业务涵盖销售、电商以及生</a:t>
            </a:r>
          </a:p>
        </p:txBody>
      </p:sp>
      <p:sp>
        <p:nvSpPr>
          <p:cNvPr id="93" name="card2-bullet4"/>
          <p:cNvSpPr txBox="1"/>
          <p:nvPr/>
        </p:nvSpPr>
        <p:spPr>
          <a:xfrm>
            <a:off x="23126700" y="13544550"/>
            <a:ext cx="4953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3F4344"/>
                </a:solidFill>
                <a:latin typeface="Microsoft YaHei"/>
                <a:ea typeface="Microsoft YaHei"/>
                <a:cs typeface="Microsoft YaHei"/>
              </a:rPr>
              <a:t>产各个领域，产业链完整</a:t>
            </a:r>
          </a:p>
        </p:txBody>
      </p:sp>
      <p:sp>
        <p:nvSpPr>
          <p:cNvPr id="94" name="card2-track"/>
          <p:cNvSpPr/>
          <p:nvPr/>
        </p:nvSpPr>
        <p:spPr>
          <a:xfrm>
            <a:off x="21821775" y="14744700"/>
            <a:ext cx="4572000" cy="514350"/>
          </a:xfrm>
          <a:prstGeom prst="roundRect">
            <a:avLst>
              <a:gd name="adj" fmla="val 50000"/>
            </a:avLst>
          </a:prstGeom>
          <a:solidFill>
            <a:srgbClr val="DB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card2-fill"/>
          <p:cNvSpPr/>
          <p:nvPr/>
        </p:nvSpPr>
        <p:spPr>
          <a:xfrm>
            <a:off x="21821775" y="14744700"/>
            <a:ext cx="1600200" cy="514350"/>
          </a:xfrm>
          <a:prstGeom prst="roundRect">
            <a:avLst>
              <a:gd name="adj" fmla="val 50000"/>
            </a:avLst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ard2-pct"/>
          <p:cNvSpPr txBox="1"/>
          <p:nvPr/>
        </p:nvSpPr>
        <p:spPr>
          <a:xfrm>
            <a:off x="26784300" y="14687550"/>
            <a:ext cx="123825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F3B45"/>
                </a:solidFill>
                <a:latin typeface="Microsoft YaHei"/>
                <a:ea typeface="Microsoft YaHei"/>
                <a:cs typeface="Microsoft YaHei"/>
              </a:rPr>
              <a:t>35%</a:t>
            </a:r>
          </a:p>
        </p:txBody>
      </p:sp>
      <p:sp>
        <p:nvSpPr>
          <p:cNvPr id="97" name="footer-rule"/>
          <p:cNvSpPr/>
          <p:nvPr/>
        </p:nvSpPr>
        <p:spPr>
          <a:xfrm>
            <a:off x="1323975" y="16497300"/>
            <a:ext cx="28460700" cy="28575"/>
          </a:xfrm>
          <a:prstGeom prst="rect">
            <a:avLst/>
          </a:prstGeom>
          <a:solidFill>
            <a:srgbClr val="4E8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