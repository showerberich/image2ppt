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0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arrow"/>
          <p:cNvSpPr/>
          <p:nvPr/>
        </p:nvSpPr>
        <p:spPr>
          <a:xfrm>
            <a:off x="10744200" y="2676525"/>
            <a:ext cx="9067800" cy="14458950"/>
          </a:xfrm>
          <a:custGeom>
            <a:avLst/>
            <a:gdLst/>
            <a:ahLst/>
            <a:cxnLst/>
            <a:rect l="l" t="t" r="r" b="b"/>
            <a:pathLst>
              <a:path w="9067800" h="14458950">
                <a:moveTo>
                  <a:pt x="4543425" y="0"/>
                </a:moveTo>
                <a:lnTo>
                  <a:pt x="1933575" y="3038475"/>
                </a:lnTo>
                <a:lnTo>
                  <a:pt x="3390900" y="3038475"/>
                </a:lnTo>
                <a:lnTo>
                  <a:pt x="3352800" y="3990975"/>
                </a:lnTo>
                <a:lnTo>
                  <a:pt x="3314700" y="4562475"/>
                </a:lnTo>
                <a:lnTo>
                  <a:pt x="3267075" y="5133975"/>
                </a:lnTo>
                <a:lnTo>
                  <a:pt x="3181350" y="5895975"/>
                </a:lnTo>
                <a:lnTo>
                  <a:pt x="3067050" y="6848475"/>
                </a:lnTo>
                <a:lnTo>
                  <a:pt x="2914650" y="7610475"/>
                </a:lnTo>
                <a:lnTo>
                  <a:pt x="2771775" y="8372475"/>
                </a:lnTo>
                <a:lnTo>
                  <a:pt x="2638425" y="8943975"/>
                </a:lnTo>
                <a:lnTo>
                  <a:pt x="2476500" y="9515475"/>
                </a:lnTo>
                <a:lnTo>
                  <a:pt x="2276475" y="10086975"/>
                </a:lnTo>
                <a:lnTo>
                  <a:pt x="2066925" y="10658475"/>
                </a:lnTo>
                <a:lnTo>
                  <a:pt x="1828800" y="11229975"/>
                </a:lnTo>
                <a:lnTo>
                  <a:pt x="1562100" y="11801475"/>
                </a:lnTo>
                <a:lnTo>
                  <a:pt x="1266825" y="12372975"/>
                </a:lnTo>
                <a:lnTo>
                  <a:pt x="952500" y="12944475"/>
                </a:lnTo>
                <a:lnTo>
                  <a:pt x="600075" y="13515975"/>
                </a:lnTo>
                <a:lnTo>
                  <a:pt x="219075" y="14087475"/>
                </a:lnTo>
                <a:lnTo>
                  <a:pt x="0" y="14458950"/>
                </a:lnTo>
                <a:lnTo>
                  <a:pt x="9067800" y="14458950"/>
                </a:lnTo>
                <a:lnTo>
                  <a:pt x="8848725" y="14087475"/>
                </a:lnTo>
                <a:lnTo>
                  <a:pt x="8467725" y="13515975"/>
                </a:lnTo>
                <a:lnTo>
                  <a:pt x="8115300" y="12944475"/>
                </a:lnTo>
                <a:lnTo>
                  <a:pt x="7800975" y="12372975"/>
                </a:lnTo>
                <a:lnTo>
                  <a:pt x="7505700" y="11801475"/>
                </a:lnTo>
                <a:lnTo>
                  <a:pt x="7239000" y="11229975"/>
                </a:lnTo>
                <a:lnTo>
                  <a:pt x="7000875" y="10658475"/>
                </a:lnTo>
                <a:lnTo>
                  <a:pt x="6791325" y="10086975"/>
                </a:lnTo>
                <a:lnTo>
                  <a:pt x="6591300" y="9515475"/>
                </a:lnTo>
                <a:lnTo>
                  <a:pt x="6429375" y="8943975"/>
                </a:lnTo>
                <a:lnTo>
                  <a:pt x="6296025" y="8372475"/>
                </a:lnTo>
                <a:lnTo>
                  <a:pt x="6153150" y="7610475"/>
                </a:lnTo>
                <a:lnTo>
                  <a:pt x="6000750" y="6848475"/>
                </a:lnTo>
                <a:lnTo>
                  <a:pt x="5886450" y="5895975"/>
                </a:lnTo>
                <a:lnTo>
                  <a:pt x="5800725" y="5133975"/>
                </a:lnTo>
                <a:lnTo>
                  <a:pt x="5753100" y="4562475"/>
                </a:lnTo>
                <a:lnTo>
                  <a:pt x="5715000" y="3990975"/>
                </a:lnTo>
                <a:lnTo>
                  <a:pt x="5676900" y="3133725"/>
                </a:lnTo>
                <a:lnTo>
                  <a:pt x="7134225" y="3038475"/>
                </a:lnTo>
                <a:close/>
              </a:path>
            </a:pathLst>
          </a:custGeom>
          <a:gradFill rotWithShape="1">
            <a:gsLst>
              <a:gs pos="0">
                <a:srgbClr val="D4E4D5"/>
              </a:gs>
              <a:gs pos="5000">
                <a:srgbClr val="CDDECE"/>
              </a:gs>
              <a:gs pos="20000">
                <a:srgbClr val="B5CDB7"/>
              </a:gs>
              <a:gs pos="35000">
                <a:srgbClr val="9CBDA0"/>
              </a:gs>
              <a:gs pos="50000">
                <a:srgbClr val="84AC89"/>
              </a:gs>
              <a:gs pos="65000">
                <a:srgbClr val="699A6F"/>
              </a:gs>
              <a:gs pos="80000">
                <a:srgbClr val="538C59"/>
              </a:gs>
              <a:gs pos="100000">
                <a:srgbClr val="518A57"/>
              </a:gs>
            </a:gsLst>
            <a:lin scaled="0" ang="16200000"/>
          </a:gradFill>
          <a:ln w="57150">
            <a:solidFill>
              <a:srgbClr val="EAF3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arrow-t-目"/>
          <p:cNvSpPr txBox="1"/>
          <p:nvPr/>
        </p:nvSpPr>
        <p:spPr>
          <a:xfrm>
            <a:off x="14601825" y="7934325"/>
            <a:ext cx="14287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9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5" name="arrow-t-标"/>
          <p:cNvSpPr txBox="1"/>
          <p:nvPr/>
        </p:nvSpPr>
        <p:spPr>
          <a:xfrm>
            <a:off x="14601825" y="9267825"/>
            <a:ext cx="14287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9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</a:t>
            </a:r>
          </a:p>
        </p:txBody>
      </p:sp>
      <p:sp>
        <p:nvSpPr>
          <p:cNvPr id="6" name="arrow-t-规"/>
          <p:cNvSpPr txBox="1"/>
          <p:nvPr/>
        </p:nvSpPr>
        <p:spPr>
          <a:xfrm>
            <a:off x="14601825" y="10639425"/>
            <a:ext cx="14287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9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</a:t>
            </a:r>
          </a:p>
        </p:txBody>
      </p:sp>
      <p:sp>
        <p:nvSpPr>
          <p:cNvPr id="7" name="arrow-t-划"/>
          <p:cNvSpPr txBox="1"/>
          <p:nvPr/>
        </p:nvSpPr>
        <p:spPr>
          <a:xfrm>
            <a:off x="14601825" y="12011025"/>
            <a:ext cx="14287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9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划</a:t>
            </a:r>
          </a:p>
        </p:txBody>
      </p:sp>
      <p:grpSp>
        <p:nvGrpSpPr>
          <p:cNvPr id="63" name="hdr-icon"/>
          <p:cNvGrpSpPr/>
          <p:nvPr/>
        </p:nvGrpSpPr>
        <p:grpSpPr>
          <a:xfrm>
            <a:off x="1205103" y="605028"/>
            <a:ext cx="1190244" cy="1190244"/>
            <a:chOff x="1205103" y="605028"/>
            <a:chExt cx="1190244" cy="1190244"/>
          </a:xfrm>
        </p:grpSpPr>
        <p:sp>
          <p:nvSpPr>
            <p:cNvPr id="8" name="Oval 7"/>
            <p:cNvSpPr/>
            <p:nvPr/>
          </p:nvSpPr>
          <p:spPr>
            <a:xfrm>
              <a:off x="1205103" y="605028"/>
              <a:ext cx="1190244" cy="1190244"/>
            </a:xfrm>
            <a:prstGeom prst="ellipse">
              <a:avLst/>
            </a:prstGeom>
            <a:noFill/>
            <a:ln w="15240">
              <a:solidFill>
                <a:srgbClr val="4D895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1516190" y="1227201"/>
              <a:ext cx="202882" cy="216408"/>
            </a:xfrm>
            <a:prstGeom prst="line">
              <a:avLst/>
            </a:prstGeom>
            <a:ln w="140665">
              <a:solidFill>
                <a:srgbClr val="4D8956"/>
              </a:solidFill>
            </a:ln>
            <a:effectLst/>
          </p:spPr>
        </p:cxnSp>
        <p:cxnSp>
          <p:nvCxnSpPr>
            <p:cNvPr id="10" name="Connector 9"/>
            <p:cNvCxnSpPr/>
            <p:nvPr/>
          </p:nvCxnSpPr>
          <p:spPr>
            <a:xfrm flipV="1">
              <a:off x="1719072" y="997268"/>
              <a:ext cx="378714" cy="446341"/>
            </a:xfrm>
            <a:prstGeom prst="line">
              <a:avLst/>
            </a:prstGeom>
            <a:ln w="140665">
              <a:solidFill>
                <a:srgbClr val="4D8956"/>
              </a:solidFill>
            </a:ln>
            <a:effectLst/>
          </p:spPr>
        </p:cxnSp>
      </p:grpSp>
      <p:sp>
        <p:nvSpPr>
          <p:cNvPr id="11" name="hdr-title"/>
          <p:cNvSpPr txBox="1"/>
          <p:nvPr/>
        </p:nvSpPr>
        <p:spPr>
          <a:xfrm>
            <a:off x="2590800" y="609600"/>
            <a:ext cx="9446362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职场工作汇报逻辑图表PPT</a:t>
            </a:r>
          </a:p>
        </p:txBody>
      </p:sp>
      <p:sp>
        <p:nvSpPr>
          <p:cNvPr id="12" name="hdr-tag"/>
          <p:cNvSpPr/>
          <p:nvPr/>
        </p:nvSpPr>
        <p:spPr>
          <a:xfrm>
            <a:off x="25317450" y="628650"/>
            <a:ext cx="4286250" cy="857250"/>
          </a:xfrm>
          <a:prstGeom prst="rect">
            <a:avLst/>
          </a:prstGeom>
          <a:solidFill>
            <a:srgbClr val="4D89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hdr-tag-text"/>
          <p:cNvSpPr txBox="1"/>
          <p:nvPr/>
        </p:nvSpPr>
        <p:spPr>
          <a:xfrm>
            <a:off x="25317450" y="628650"/>
            <a:ext cx="4286250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14" name="hdr-rule"/>
          <p:cNvSpPr/>
          <p:nvPr/>
        </p:nvSpPr>
        <p:spPr>
          <a:xfrm>
            <a:off x="1181100" y="1771650"/>
            <a:ext cx="28232100" cy="95250"/>
          </a:xfrm>
          <a:prstGeom prst="rect">
            <a:avLst/>
          </a:prstGeom>
          <a:solidFill>
            <a:srgbClr val="4D89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65" name="col-left"/>
          <p:cNvGrpSpPr/>
          <p:nvPr/>
        </p:nvGrpSpPr>
        <p:grpSpPr>
          <a:xfrm>
            <a:off x="1524000" y="3314700"/>
            <a:ext cx="10944225" cy="12211050"/>
            <a:chOff x="1524000" y="3314700"/>
            <a:chExt cx="10944225" cy="12211050"/>
          </a:xfrm>
        </p:grpSpPr>
        <p:sp>
          <p:nvSpPr>
            <p:cNvPr id="15" name="bubble-L"/>
            <p:cNvSpPr/>
            <p:nvPr/>
          </p:nvSpPr>
          <p:spPr>
            <a:xfrm>
              <a:off x="2057400" y="3314700"/>
              <a:ext cx="7953375" cy="2552700"/>
            </a:xfrm>
            <a:prstGeom prst="roundRect">
              <a:avLst>
                <a:gd name="adj" fmla="val 17910"/>
              </a:avLst>
            </a:prstGeom>
            <a:solidFill>
              <a:srgbClr val="4D895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bubble-tail-L"/>
            <p:cNvSpPr/>
            <p:nvPr/>
          </p:nvSpPr>
          <p:spPr>
            <a:xfrm>
              <a:off x="3086100" y="5772150"/>
              <a:ext cx="533400" cy="571500"/>
            </a:xfrm>
            <a:custGeom>
              <a:avLst/>
              <a:gdLst/>
              <a:ahLst/>
              <a:cxnLst/>
              <a:rect l="l" t="t" r="r" b="b"/>
              <a:pathLst>
                <a:path w="533400" h="571500">
                  <a:moveTo>
                    <a:pt x="0" y="0"/>
                  </a:moveTo>
                  <a:lnTo>
                    <a:pt x="66675" y="114300"/>
                  </a:lnTo>
                  <a:lnTo>
                    <a:pt x="104775" y="228600"/>
                  </a:lnTo>
                  <a:lnTo>
                    <a:pt x="152400" y="323850"/>
                  </a:lnTo>
                  <a:lnTo>
                    <a:pt x="219075" y="419100"/>
                  </a:lnTo>
                  <a:lnTo>
                    <a:pt x="314325" y="514350"/>
                  </a:lnTo>
                  <a:lnTo>
                    <a:pt x="371475" y="571500"/>
                  </a:lnTo>
                  <a:lnTo>
                    <a:pt x="409575" y="514350"/>
                  </a:lnTo>
                  <a:lnTo>
                    <a:pt x="419100" y="419100"/>
                  </a:lnTo>
                  <a:lnTo>
                    <a:pt x="409575" y="323850"/>
                  </a:lnTo>
                  <a:lnTo>
                    <a:pt x="428625" y="228600"/>
                  </a:lnTo>
                  <a:lnTo>
                    <a:pt x="495300" y="1143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4D895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ubble-2025-L"/>
            <p:cNvSpPr txBox="1"/>
            <p:nvPr/>
          </p:nvSpPr>
          <p:spPr>
            <a:xfrm>
              <a:off x="3524250" y="3714750"/>
              <a:ext cx="3143250" cy="1009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2025年</a:t>
              </a:r>
            </a:p>
          </p:txBody>
        </p:sp>
        <p:sp>
          <p:nvSpPr>
            <p:cNvPr id="18" name="bubble-sub-L"/>
            <p:cNvSpPr txBox="1"/>
            <p:nvPr/>
          </p:nvSpPr>
          <p:spPr>
            <a:xfrm>
              <a:off x="3257550" y="4762500"/>
              <a:ext cx="533400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平台各项业务数据表现</a:t>
              </a:r>
            </a:p>
          </p:txBody>
        </p:sp>
        <p:sp>
          <p:nvSpPr>
            <p:cNvPr id="19" name="card-L"/>
            <p:cNvSpPr/>
            <p:nvPr/>
          </p:nvSpPr>
          <p:spPr>
            <a:xfrm>
              <a:off x="1524000" y="7048500"/>
              <a:ext cx="10944225" cy="3857625"/>
            </a:xfrm>
            <a:prstGeom prst="roundRect">
              <a:avLst>
                <a:gd name="adj" fmla="val 5432"/>
              </a:avLst>
            </a:prstGeom>
            <a:solidFill>
              <a:srgbClr val="EDF4ED"/>
            </a:solidFill>
            <a:ln w="28575">
              <a:solidFill>
                <a:srgbClr val="4D895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ard-L-dash"/>
            <p:cNvCxnSpPr/>
            <p:nvPr/>
          </p:nvCxnSpPr>
          <p:spPr>
            <a:xfrm>
              <a:off x="2286000" y="7505700"/>
              <a:ext cx="9906000" cy="0"/>
            </a:xfrm>
            <a:prstGeom prst="line">
              <a:avLst/>
            </a:prstGeom>
            <a:ln w="28575">
              <a:solidFill>
                <a:srgbClr val="4D8956"/>
              </a:solidFill>
              <a:prstDash val="dash"/>
            </a:ln>
            <a:effectLst/>
          </p:spPr>
        </p:cxnSp>
        <p:sp>
          <p:nvSpPr>
            <p:cNvPr id="21" name="para-L1"/>
            <p:cNvSpPr txBox="1"/>
            <p:nvPr/>
          </p:nvSpPr>
          <p:spPr>
            <a:xfrm>
              <a:off x="2181225" y="7867650"/>
              <a:ext cx="10096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2025年，在公司营收、销量方面来看，日常出行以及阅读</a:t>
              </a:r>
            </a:p>
          </p:txBody>
        </p:sp>
        <p:sp>
          <p:nvSpPr>
            <p:cNvPr id="22" name="para-L2"/>
            <p:cNvSpPr txBox="1"/>
            <p:nvPr/>
          </p:nvSpPr>
          <p:spPr>
            <a:xfrm>
              <a:off x="2181225" y="8458200"/>
              <a:ext cx="76200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学习成为本年度销量的有力增长点。</a:t>
              </a:r>
            </a:p>
          </p:txBody>
        </p:sp>
        <p:sp>
          <p:nvSpPr>
            <p:cNvPr id="23" name="prog-panel-L"/>
            <p:cNvSpPr/>
            <p:nvPr/>
          </p:nvSpPr>
          <p:spPr>
            <a:xfrm>
              <a:off x="1952625" y="9382125"/>
              <a:ext cx="9953625" cy="1104900"/>
            </a:xfrm>
            <a:prstGeom prst="roundRect">
              <a:avLst>
                <a:gd name="adj" fmla="val 12068"/>
              </a:avLst>
            </a:prstGeom>
            <a:solidFill>
              <a:srgbClr val="BBCB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prog-label-L"/>
            <p:cNvSpPr txBox="1"/>
            <p:nvPr/>
          </p:nvSpPr>
          <p:spPr>
            <a:xfrm>
              <a:off x="2495550" y="9705975"/>
              <a:ext cx="257175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明确销售目标</a:t>
              </a:r>
            </a:p>
          </p:txBody>
        </p:sp>
        <p:sp>
          <p:nvSpPr>
            <p:cNvPr id="25" name="prog-track-L"/>
            <p:cNvSpPr/>
            <p:nvPr/>
          </p:nvSpPr>
          <p:spPr>
            <a:xfrm>
              <a:off x="5810250" y="9810750"/>
              <a:ext cx="4562475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prog-fill-L"/>
            <p:cNvSpPr/>
            <p:nvPr/>
          </p:nvSpPr>
          <p:spPr>
            <a:xfrm>
              <a:off x="5810250" y="9810750"/>
              <a:ext cx="3267075" cy="228600"/>
            </a:xfrm>
            <a:prstGeom prst="roundRect">
              <a:avLst>
                <a:gd name="adj" fmla="val 50000"/>
              </a:avLst>
            </a:prstGeom>
            <a:solidFill>
              <a:srgbClr val="4D895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prog-pct-L"/>
            <p:cNvSpPr txBox="1"/>
            <p:nvPr/>
          </p:nvSpPr>
          <p:spPr>
            <a:xfrm>
              <a:off x="10763250" y="9705975"/>
              <a:ext cx="95250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>
                  <a:solidFill>
                    <a:srgbClr val="1E3046"/>
                  </a:solidFill>
                  <a:latin typeface="Microsoft YaHei"/>
                  <a:ea typeface="Microsoft YaHei"/>
                  <a:cs typeface="Microsoft YaHei"/>
                </a:rPr>
                <a:t>65%</a:t>
              </a:r>
            </a:p>
          </p:txBody>
        </p:sp>
        <p:sp>
          <p:nvSpPr>
            <p:cNvPr id="28" name="kpi1-L"/>
            <p:cNvSpPr/>
            <p:nvPr/>
          </p:nvSpPr>
          <p:spPr>
            <a:xfrm>
              <a:off x="1619250" y="11668125"/>
              <a:ext cx="4305300" cy="2495550"/>
            </a:xfrm>
            <a:prstGeom prst="roundRect">
              <a:avLst>
                <a:gd name="adj" fmla="val 6870"/>
              </a:avLst>
            </a:prstGeom>
            <a:solidFill>
              <a:srgbClr val="FDFEFD"/>
            </a:solidFill>
            <a:ln w="28575">
              <a:solidFill>
                <a:srgbClr val="4D895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kpi1-l1-L"/>
            <p:cNvSpPr txBox="1"/>
            <p:nvPr/>
          </p:nvSpPr>
          <p:spPr>
            <a:xfrm>
              <a:off x="1676400" y="11868150"/>
              <a:ext cx="4191000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2025年度整体</a:t>
              </a:r>
            </a:p>
          </p:txBody>
        </p:sp>
        <p:sp>
          <p:nvSpPr>
            <p:cNvPr id="30" name="kpi1-l2-L"/>
            <p:cNvSpPr txBox="1"/>
            <p:nvPr/>
          </p:nvSpPr>
          <p:spPr>
            <a:xfrm>
              <a:off x="1676400" y="12344400"/>
              <a:ext cx="4191000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销量提升</a:t>
              </a:r>
            </a:p>
          </p:txBody>
        </p:sp>
        <p:sp>
          <p:nvSpPr>
            <p:cNvPr id="31" name="kpi1-big-L"/>
            <p:cNvSpPr txBox="1"/>
            <p:nvPr/>
          </p:nvSpPr>
          <p:spPr>
            <a:xfrm>
              <a:off x="1676400" y="12954000"/>
              <a:ext cx="4191000" cy="1009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75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86%</a:t>
              </a:r>
            </a:p>
          </p:txBody>
        </p:sp>
        <p:sp>
          <p:nvSpPr>
            <p:cNvPr id="32" name="kpi2-L"/>
            <p:cNvSpPr/>
            <p:nvPr/>
          </p:nvSpPr>
          <p:spPr>
            <a:xfrm>
              <a:off x="6334125" y="11668125"/>
              <a:ext cx="4276725" cy="2495550"/>
            </a:xfrm>
            <a:prstGeom prst="roundRect">
              <a:avLst>
                <a:gd name="adj" fmla="val 6870"/>
              </a:avLst>
            </a:prstGeom>
            <a:solidFill>
              <a:srgbClr val="FDFEFD"/>
            </a:solidFill>
            <a:ln w="28575">
              <a:solidFill>
                <a:srgbClr val="4D895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kpi2-l1-L"/>
            <p:cNvSpPr txBox="1"/>
            <p:nvPr/>
          </p:nvSpPr>
          <p:spPr>
            <a:xfrm>
              <a:off x="6391275" y="11868150"/>
              <a:ext cx="4162425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2025年度整体</a:t>
              </a:r>
            </a:p>
          </p:txBody>
        </p:sp>
        <p:sp>
          <p:nvSpPr>
            <p:cNvPr id="34" name="kpi2-l2-L"/>
            <p:cNvSpPr txBox="1"/>
            <p:nvPr/>
          </p:nvSpPr>
          <p:spPr>
            <a:xfrm>
              <a:off x="6391275" y="12344400"/>
              <a:ext cx="4162425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销量提升</a:t>
              </a:r>
            </a:p>
          </p:txBody>
        </p:sp>
        <p:sp>
          <p:nvSpPr>
            <p:cNvPr id="35" name="kpi2-big-L"/>
            <p:cNvSpPr txBox="1"/>
            <p:nvPr/>
          </p:nvSpPr>
          <p:spPr>
            <a:xfrm>
              <a:off x="6391275" y="12954000"/>
              <a:ext cx="4162425" cy="1009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75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23%</a:t>
              </a:r>
            </a:p>
          </p:txBody>
        </p:sp>
        <p:sp>
          <p:nvSpPr>
            <p:cNvPr id="36" name="caption-L"/>
            <p:cNvSpPr txBox="1"/>
            <p:nvPr/>
          </p:nvSpPr>
          <p:spPr>
            <a:xfrm>
              <a:off x="1628775" y="14859000"/>
              <a:ext cx="762000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2025年度，电商经营呈现出新的趋势</a:t>
              </a:r>
            </a:p>
          </p:txBody>
        </p:sp>
      </p:grpSp>
      <p:grpSp>
        <p:nvGrpSpPr>
          <p:cNvPr id="64" name="col-right"/>
          <p:cNvGrpSpPr/>
          <p:nvPr/>
        </p:nvGrpSpPr>
        <p:grpSpPr>
          <a:xfrm>
            <a:off x="17897475" y="3333750"/>
            <a:ext cx="11398773" cy="12192000"/>
            <a:chOff x="17897475" y="3333750"/>
            <a:chExt cx="11398773" cy="12192000"/>
          </a:xfrm>
        </p:grpSpPr>
        <p:sp>
          <p:nvSpPr>
            <p:cNvPr id="37" name="bubble-R"/>
            <p:cNvSpPr/>
            <p:nvPr/>
          </p:nvSpPr>
          <p:spPr>
            <a:xfrm>
              <a:off x="19716750" y="3333750"/>
              <a:ext cx="7962900" cy="2533650"/>
            </a:xfrm>
            <a:prstGeom prst="roundRect">
              <a:avLst>
                <a:gd name="adj" fmla="val 18045"/>
              </a:avLst>
            </a:prstGeom>
            <a:solidFill>
              <a:srgbClr val="4D895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ubble-tail-R"/>
            <p:cNvSpPr/>
            <p:nvPr/>
          </p:nvSpPr>
          <p:spPr>
            <a:xfrm>
              <a:off x="20783550" y="5772150"/>
              <a:ext cx="552450" cy="609600"/>
            </a:xfrm>
            <a:custGeom>
              <a:avLst/>
              <a:gdLst/>
              <a:ahLst/>
              <a:cxnLst/>
              <a:rect l="l" t="t" r="r" b="b"/>
              <a:pathLst>
                <a:path w="552450" h="609600">
                  <a:moveTo>
                    <a:pt x="0" y="0"/>
                  </a:moveTo>
                  <a:lnTo>
                    <a:pt x="57150" y="228600"/>
                  </a:lnTo>
                  <a:lnTo>
                    <a:pt x="95250" y="323850"/>
                  </a:lnTo>
                  <a:lnTo>
                    <a:pt x="152400" y="419100"/>
                  </a:lnTo>
                  <a:lnTo>
                    <a:pt x="228600" y="514350"/>
                  </a:lnTo>
                  <a:lnTo>
                    <a:pt x="304800" y="609600"/>
                  </a:lnTo>
                  <a:lnTo>
                    <a:pt x="381000" y="514350"/>
                  </a:lnTo>
                  <a:lnTo>
                    <a:pt x="400050" y="419100"/>
                  </a:lnTo>
                  <a:lnTo>
                    <a:pt x="390525" y="323850"/>
                  </a:lnTo>
                  <a:lnTo>
                    <a:pt x="419100" y="228600"/>
                  </a:lnTo>
                  <a:lnTo>
                    <a:pt x="552450" y="0"/>
                  </a:lnTo>
                  <a:close/>
                </a:path>
              </a:pathLst>
            </a:custGeom>
            <a:solidFill>
              <a:srgbClr val="4D895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bubble-2025-R"/>
            <p:cNvSpPr txBox="1"/>
            <p:nvPr/>
          </p:nvSpPr>
          <p:spPr>
            <a:xfrm>
              <a:off x="21412200" y="3733800"/>
              <a:ext cx="3143250" cy="1009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2025年</a:t>
              </a:r>
            </a:p>
          </p:txBody>
        </p:sp>
        <p:sp>
          <p:nvSpPr>
            <p:cNvPr id="40" name="bubble-sub-R"/>
            <p:cNvSpPr txBox="1"/>
            <p:nvPr/>
          </p:nvSpPr>
          <p:spPr>
            <a:xfrm>
              <a:off x="21155025" y="4781550"/>
              <a:ext cx="533400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平台各项业务数据表现</a:t>
              </a:r>
            </a:p>
          </p:txBody>
        </p:sp>
        <p:sp>
          <p:nvSpPr>
            <p:cNvPr id="41" name="card-R"/>
            <p:cNvSpPr/>
            <p:nvPr/>
          </p:nvSpPr>
          <p:spPr>
            <a:xfrm>
              <a:off x="17897475" y="7096125"/>
              <a:ext cx="10953750" cy="3857625"/>
            </a:xfrm>
            <a:prstGeom prst="roundRect">
              <a:avLst>
                <a:gd name="adj" fmla="val 5432"/>
              </a:avLst>
            </a:prstGeom>
            <a:solidFill>
              <a:srgbClr val="EDF4ED"/>
            </a:solidFill>
            <a:ln w="28575">
              <a:solidFill>
                <a:srgbClr val="4D895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2" name="card-R-dash"/>
            <p:cNvCxnSpPr/>
            <p:nvPr/>
          </p:nvCxnSpPr>
          <p:spPr>
            <a:xfrm>
              <a:off x="18659475" y="7553325"/>
              <a:ext cx="9915525" cy="0"/>
            </a:xfrm>
            <a:prstGeom prst="line">
              <a:avLst/>
            </a:prstGeom>
            <a:ln w="28575">
              <a:solidFill>
                <a:srgbClr val="4D8956"/>
              </a:solidFill>
              <a:prstDash val="dash"/>
            </a:ln>
            <a:effectLst/>
          </p:spPr>
        </p:cxnSp>
        <p:sp>
          <p:nvSpPr>
            <p:cNvPr id="43" name="para-R1"/>
            <p:cNvSpPr txBox="1"/>
            <p:nvPr/>
          </p:nvSpPr>
          <p:spPr>
            <a:xfrm>
              <a:off x="18649950" y="7924800"/>
              <a:ext cx="10096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2025年，在公司营收、销量方面来看，日常出行以及阅读</a:t>
              </a:r>
            </a:p>
          </p:txBody>
        </p:sp>
        <p:sp>
          <p:nvSpPr>
            <p:cNvPr id="44" name="para-R2"/>
            <p:cNvSpPr txBox="1"/>
            <p:nvPr/>
          </p:nvSpPr>
          <p:spPr>
            <a:xfrm>
              <a:off x="18649950" y="8515350"/>
              <a:ext cx="76200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学习成为本年度销量的有力增长点。</a:t>
              </a:r>
            </a:p>
          </p:txBody>
        </p:sp>
        <p:sp>
          <p:nvSpPr>
            <p:cNvPr id="45" name="prog-panel-R"/>
            <p:cNvSpPr/>
            <p:nvPr/>
          </p:nvSpPr>
          <p:spPr>
            <a:xfrm>
              <a:off x="18364200" y="9429750"/>
              <a:ext cx="9934575" cy="1104900"/>
            </a:xfrm>
            <a:prstGeom prst="roundRect">
              <a:avLst>
                <a:gd name="adj" fmla="val 12068"/>
              </a:avLst>
            </a:prstGeom>
            <a:solidFill>
              <a:srgbClr val="BBCB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prog-label-R"/>
            <p:cNvSpPr txBox="1"/>
            <p:nvPr/>
          </p:nvSpPr>
          <p:spPr>
            <a:xfrm>
              <a:off x="18907125" y="9753600"/>
              <a:ext cx="257175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明确销售目标</a:t>
              </a:r>
            </a:p>
          </p:txBody>
        </p:sp>
        <p:sp>
          <p:nvSpPr>
            <p:cNvPr id="47" name="prog-track-R"/>
            <p:cNvSpPr/>
            <p:nvPr/>
          </p:nvSpPr>
          <p:spPr>
            <a:xfrm>
              <a:off x="22212300" y="9858375"/>
              <a:ext cx="4562475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prog-fill-R"/>
            <p:cNvSpPr/>
            <p:nvPr/>
          </p:nvSpPr>
          <p:spPr>
            <a:xfrm>
              <a:off x="22212300" y="9858375"/>
              <a:ext cx="2486025" cy="228600"/>
            </a:xfrm>
            <a:prstGeom prst="roundRect">
              <a:avLst>
                <a:gd name="adj" fmla="val 50000"/>
              </a:avLst>
            </a:prstGeom>
            <a:solidFill>
              <a:srgbClr val="4D895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prog-pct-R"/>
            <p:cNvSpPr txBox="1"/>
            <p:nvPr/>
          </p:nvSpPr>
          <p:spPr>
            <a:xfrm>
              <a:off x="27155775" y="9753600"/>
              <a:ext cx="95250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>
                  <a:solidFill>
                    <a:srgbClr val="1E3046"/>
                  </a:solidFill>
                  <a:latin typeface="Microsoft YaHei"/>
                  <a:ea typeface="Microsoft YaHei"/>
                  <a:cs typeface="Microsoft YaHei"/>
                </a:rPr>
                <a:t>35%</a:t>
              </a:r>
            </a:p>
          </p:txBody>
        </p:sp>
        <p:sp>
          <p:nvSpPr>
            <p:cNvPr id="50" name="kpi1-R"/>
            <p:cNvSpPr/>
            <p:nvPr/>
          </p:nvSpPr>
          <p:spPr>
            <a:xfrm>
              <a:off x="19831050" y="11668125"/>
              <a:ext cx="4305300" cy="2495550"/>
            </a:xfrm>
            <a:prstGeom prst="roundRect">
              <a:avLst>
                <a:gd name="adj" fmla="val 6870"/>
              </a:avLst>
            </a:prstGeom>
            <a:solidFill>
              <a:srgbClr val="FDFEFD"/>
            </a:solidFill>
            <a:ln w="28575">
              <a:solidFill>
                <a:srgbClr val="4D895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kpi1-l1-R"/>
            <p:cNvSpPr txBox="1"/>
            <p:nvPr/>
          </p:nvSpPr>
          <p:spPr>
            <a:xfrm>
              <a:off x="19888200" y="11868150"/>
              <a:ext cx="4191000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2025年度整体</a:t>
              </a:r>
            </a:p>
          </p:txBody>
        </p:sp>
        <p:sp>
          <p:nvSpPr>
            <p:cNvPr id="52" name="kpi1-l2-R"/>
            <p:cNvSpPr txBox="1"/>
            <p:nvPr/>
          </p:nvSpPr>
          <p:spPr>
            <a:xfrm>
              <a:off x="19888200" y="12344400"/>
              <a:ext cx="4191000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销量提升</a:t>
              </a:r>
            </a:p>
          </p:txBody>
        </p:sp>
        <p:sp>
          <p:nvSpPr>
            <p:cNvPr id="53" name="kpi1-num-R"/>
            <p:cNvSpPr txBox="1"/>
            <p:nvPr/>
          </p:nvSpPr>
          <p:spPr>
            <a:xfrm>
              <a:off x="21334887" y="12992100"/>
              <a:ext cx="1286988" cy="1009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84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86</a:t>
              </a:r>
            </a:p>
          </p:txBody>
        </p:sp>
        <p:sp>
          <p:nvSpPr>
            <p:cNvPr id="54" name="kpi1-pct-R"/>
            <p:cNvSpPr txBox="1"/>
            <p:nvPr/>
          </p:nvSpPr>
          <p:spPr>
            <a:xfrm>
              <a:off x="22650450" y="12782550"/>
              <a:ext cx="438150" cy="1009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%</a:t>
              </a:r>
            </a:p>
          </p:txBody>
        </p:sp>
        <p:sp>
          <p:nvSpPr>
            <p:cNvPr id="55" name="kpi2-R"/>
            <p:cNvSpPr/>
            <p:nvPr/>
          </p:nvSpPr>
          <p:spPr>
            <a:xfrm>
              <a:off x="24545925" y="11668125"/>
              <a:ext cx="4257675" cy="2495550"/>
            </a:xfrm>
            <a:prstGeom prst="roundRect">
              <a:avLst>
                <a:gd name="adj" fmla="val 6870"/>
              </a:avLst>
            </a:prstGeom>
            <a:solidFill>
              <a:srgbClr val="FDFEFD"/>
            </a:solidFill>
            <a:ln w="28575">
              <a:solidFill>
                <a:srgbClr val="4D895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kpi2-l1-R"/>
            <p:cNvSpPr txBox="1"/>
            <p:nvPr/>
          </p:nvSpPr>
          <p:spPr>
            <a:xfrm>
              <a:off x="24603075" y="11868150"/>
              <a:ext cx="4143375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2025年度整体</a:t>
              </a:r>
            </a:p>
          </p:txBody>
        </p:sp>
        <p:sp>
          <p:nvSpPr>
            <p:cNvPr id="57" name="kpi2-l2-R"/>
            <p:cNvSpPr txBox="1"/>
            <p:nvPr/>
          </p:nvSpPr>
          <p:spPr>
            <a:xfrm>
              <a:off x="24603075" y="12344400"/>
              <a:ext cx="4143375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销量提升</a:t>
              </a:r>
            </a:p>
          </p:txBody>
        </p:sp>
        <p:sp>
          <p:nvSpPr>
            <p:cNvPr id="58" name="kpi2-num-R"/>
            <p:cNvSpPr txBox="1"/>
            <p:nvPr/>
          </p:nvSpPr>
          <p:spPr>
            <a:xfrm>
              <a:off x="26021187" y="12992100"/>
              <a:ext cx="1286988" cy="1009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84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23</a:t>
              </a:r>
            </a:p>
          </p:txBody>
        </p:sp>
        <p:sp>
          <p:nvSpPr>
            <p:cNvPr id="59" name="kpi2-pct-R"/>
            <p:cNvSpPr txBox="1"/>
            <p:nvPr/>
          </p:nvSpPr>
          <p:spPr>
            <a:xfrm>
              <a:off x="27336750" y="12782550"/>
              <a:ext cx="438150" cy="1009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%</a:t>
              </a:r>
            </a:p>
          </p:txBody>
        </p:sp>
        <p:sp>
          <p:nvSpPr>
            <p:cNvPr id="60" name="caption-R"/>
            <p:cNvSpPr txBox="1"/>
            <p:nvPr/>
          </p:nvSpPr>
          <p:spPr>
            <a:xfrm>
              <a:off x="21697950" y="14859000"/>
              <a:ext cx="7598298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4D8956"/>
                  </a:solidFill>
                  <a:latin typeface="Microsoft YaHei"/>
                  <a:ea typeface="Microsoft YaHei"/>
                  <a:cs typeface="Microsoft YaHei"/>
                </a:rPr>
                <a:t>2025年度，电商经营呈现出新的趋势</a:t>
              </a:r>
            </a:p>
          </p:txBody>
        </p:sp>
      </p:grpSp>
      <p:sp>
        <p:nvSpPr>
          <p:cNvPr id="61" name="footer-rule"/>
          <p:cNvSpPr/>
          <p:nvPr/>
        </p:nvSpPr>
        <p:spPr>
          <a:xfrm>
            <a:off x="1362075" y="16497300"/>
            <a:ext cx="27908250" cy="28575"/>
          </a:xfrm>
          <a:prstGeom prst="rect">
            <a:avLst/>
          </a:prstGeom>
          <a:solidFill>
            <a:srgbClr val="CFE0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