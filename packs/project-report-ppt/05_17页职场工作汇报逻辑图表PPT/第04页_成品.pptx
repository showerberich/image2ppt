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4" name="hdr-icon"/>
          <p:cNvGrpSpPr/>
          <p:nvPr/>
        </p:nvGrpSpPr>
        <p:grpSpPr>
          <a:xfrm>
            <a:off x="1251585" y="565785"/>
            <a:ext cx="963930" cy="963930"/>
            <a:chOff x="1251585" y="565785"/>
            <a:chExt cx="963930" cy="963930"/>
          </a:xfrm>
        </p:grpSpPr>
        <p:sp>
          <p:nvSpPr>
            <p:cNvPr id="3" name="Oval 2"/>
            <p:cNvSpPr/>
            <p:nvPr/>
          </p:nvSpPr>
          <p:spPr>
            <a:xfrm>
              <a:off x="1251585" y="565785"/>
              <a:ext cx="963930" cy="963930"/>
            </a:xfrm>
            <a:prstGeom prst="ellipse">
              <a:avLst/>
            </a:prstGeom>
            <a:noFill/>
            <a:ln w="15240">
              <a:solidFill>
                <a:srgbClr val="518A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1503521" y="1069658"/>
              <a:ext cx="164307" cy="175260"/>
            </a:xfrm>
            <a:prstGeom prst="line">
              <a:avLst/>
            </a:prstGeom>
            <a:ln w="113919">
              <a:solidFill>
                <a:srgbClr val="518A5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V="1">
              <a:off x="1667828" y="883444"/>
              <a:ext cx="306704" cy="361474"/>
            </a:xfrm>
            <a:prstGeom prst="line">
              <a:avLst/>
            </a:prstGeom>
            <a:ln w="113919">
              <a:solidFill>
                <a:srgbClr val="518A5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hdr-title"/>
          <p:cNvSpPr txBox="1"/>
          <p:nvPr/>
        </p:nvSpPr>
        <p:spPr>
          <a:xfrm>
            <a:off x="2419350" y="540306"/>
            <a:ext cx="9525000" cy="10910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925" b="1" i="0">
                <a:solidFill>
                  <a:srgbClr val="2E5C36"/>
                </a:solidFill>
                <a:latin typeface="Microsoft YaHei"/>
                <a:ea typeface="Microsoft YaHei"/>
                <a:cs typeface="Microsoft YaHei"/>
              </a:rPr>
              <a:t>职场工作汇报逻辑图表PPT</a:t>
            </a:r>
          </a:p>
        </p:txBody>
      </p:sp>
      <p:sp>
        <p:nvSpPr>
          <p:cNvPr id="7" name="hdr-tag"/>
          <p:cNvSpPr/>
          <p:nvPr/>
        </p:nvSpPr>
        <p:spPr>
          <a:xfrm>
            <a:off x="25298400" y="619125"/>
            <a:ext cx="4314825" cy="876300"/>
          </a:xfrm>
          <a:prstGeom prst="rect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tag-text"/>
          <p:cNvSpPr txBox="1"/>
          <p:nvPr/>
        </p:nvSpPr>
        <p:spPr>
          <a:xfrm>
            <a:off x="25298400" y="601504"/>
            <a:ext cx="4314825" cy="91154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9" name="hdr-rule"/>
          <p:cNvSpPr/>
          <p:nvPr/>
        </p:nvSpPr>
        <p:spPr>
          <a:xfrm>
            <a:off x="1133475" y="1771650"/>
            <a:ext cx="28489275" cy="104775"/>
          </a:xfrm>
          <a:prstGeom prst="rect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-frame"/>
          <p:cNvSpPr/>
          <p:nvPr/>
        </p:nvSpPr>
        <p:spPr>
          <a:xfrm>
            <a:off x="1266825" y="2495550"/>
            <a:ext cx="28089225" cy="28575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A5C5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pi-accent"/>
          <p:cNvSpPr/>
          <p:nvPr/>
        </p:nvSpPr>
        <p:spPr>
          <a:xfrm>
            <a:off x="1590675" y="2743200"/>
            <a:ext cx="66675" cy="2362200"/>
          </a:xfrm>
          <a:prstGeom prst="rect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pi-year"/>
          <p:cNvSpPr txBox="1"/>
          <p:nvPr/>
        </p:nvSpPr>
        <p:spPr>
          <a:xfrm>
            <a:off x="2247900" y="3037761"/>
            <a:ext cx="3238500" cy="120157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525" b="1" i="0">
                <a:solidFill>
                  <a:srgbClr val="518A57"/>
                </a:solidFill>
                <a:latin typeface="Microsoft YaHei"/>
                <a:ea typeface="Microsoft YaHei"/>
                <a:cs typeface="Microsoft YaHei"/>
              </a:rPr>
              <a:t>2024年</a:t>
            </a:r>
          </a:p>
        </p:txBody>
      </p:sp>
      <p:sp>
        <p:nvSpPr>
          <p:cNvPr id="13" name="kpi-year-sub"/>
          <p:cNvSpPr txBox="1"/>
          <p:nvPr/>
        </p:nvSpPr>
        <p:spPr>
          <a:xfrm>
            <a:off x="2247900" y="4121944"/>
            <a:ext cx="5334000" cy="69056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50" b="0" i="0">
                <a:solidFill>
                  <a:srgbClr val="518A57"/>
                </a:solidFill>
                <a:latin typeface="Microsoft YaHei"/>
                <a:ea typeface="Microsoft YaHei"/>
                <a:cs typeface="Microsoft YaHei"/>
              </a:rPr>
              <a:t>平台各项业务数据表现</a:t>
            </a:r>
          </a:p>
        </p:txBody>
      </p:sp>
      <p:sp>
        <p:nvSpPr>
          <p:cNvPr id="14" name="kpi-blkA"/>
          <p:cNvSpPr/>
          <p:nvPr/>
        </p:nvSpPr>
        <p:spPr>
          <a:xfrm>
            <a:off x="8648700" y="2743200"/>
            <a:ext cx="6562725" cy="2362200"/>
          </a:xfrm>
          <a:prstGeom prst="rect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kpi-blkA-l1"/>
          <p:cNvSpPr txBox="1"/>
          <p:nvPr/>
        </p:nvSpPr>
        <p:spPr>
          <a:xfrm>
            <a:off x="9086850" y="3346132"/>
            <a:ext cx="3255508" cy="7181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2024年消费人</a:t>
            </a:r>
          </a:p>
        </p:txBody>
      </p:sp>
      <p:sp>
        <p:nvSpPr>
          <p:cNvPr id="16" name="kpi-blkA-l2"/>
          <p:cNvSpPr txBox="1"/>
          <p:nvPr/>
        </p:nvSpPr>
        <p:spPr>
          <a:xfrm>
            <a:off x="9077325" y="3946208"/>
            <a:ext cx="2857500" cy="7181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数同比增长</a:t>
            </a:r>
          </a:p>
        </p:txBody>
      </p:sp>
      <p:sp>
        <p:nvSpPr>
          <p:cNvPr id="17" name="kpi-blkA-num"/>
          <p:cNvSpPr txBox="1"/>
          <p:nvPr/>
        </p:nvSpPr>
        <p:spPr>
          <a:xfrm>
            <a:off x="12620625" y="2917031"/>
            <a:ext cx="1809750" cy="20716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96</a:t>
            </a:r>
          </a:p>
        </p:txBody>
      </p:sp>
      <p:sp>
        <p:nvSpPr>
          <p:cNvPr id="18" name="kpi-blkA-pct"/>
          <p:cNvSpPr txBox="1"/>
          <p:nvPr/>
        </p:nvSpPr>
        <p:spPr>
          <a:xfrm>
            <a:off x="14211300" y="3475434"/>
            <a:ext cx="904875" cy="145018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19" name="kpi-mid-l1"/>
          <p:cNvSpPr txBox="1"/>
          <p:nvPr/>
        </p:nvSpPr>
        <p:spPr>
          <a:xfrm>
            <a:off x="16363950" y="3298508"/>
            <a:ext cx="4095750" cy="7181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0" i="0">
                <a:solidFill>
                  <a:srgbClr val="518A57"/>
                </a:solidFill>
                <a:latin typeface="Microsoft YaHei"/>
                <a:ea typeface="Microsoft YaHei"/>
                <a:cs typeface="Microsoft YaHei"/>
              </a:rPr>
              <a:t>电商平台累计开通</a:t>
            </a:r>
          </a:p>
        </p:txBody>
      </p:sp>
      <p:sp>
        <p:nvSpPr>
          <p:cNvPr id="20" name="kpi-mid-l2"/>
          <p:cNvSpPr txBox="1"/>
          <p:nvPr/>
        </p:nvSpPr>
        <p:spPr>
          <a:xfrm>
            <a:off x="16354425" y="3898582"/>
            <a:ext cx="2857500" cy="7181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0" i="0">
                <a:solidFill>
                  <a:srgbClr val="518A57"/>
                </a:solidFill>
                <a:latin typeface="Microsoft YaHei"/>
                <a:ea typeface="Microsoft YaHei"/>
                <a:cs typeface="Microsoft YaHei"/>
              </a:rPr>
              <a:t>橱窗用户数</a:t>
            </a:r>
          </a:p>
        </p:txBody>
      </p:sp>
      <p:sp>
        <p:nvSpPr>
          <p:cNvPr id="21" name="kpi-mid-num"/>
          <p:cNvSpPr txBox="1"/>
          <p:nvPr/>
        </p:nvSpPr>
        <p:spPr>
          <a:xfrm>
            <a:off x="20669250" y="2878931"/>
            <a:ext cx="2857500" cy="20716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250" b="1" i="0">
                <a:solidFill>
                  <a:srgbClr val="2E5C36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22" name="kpi-mid-unit"/>
          <p:cNvSpPr txBox="1"/>
          <p:nvPr/>
        </p:nvSpPr>
        <p:spPr>
          <a:xfrm>
            <a:off x="23412450" y="3845719"/>
            <a:ext cx="1047750" cy="69056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50" b="1" i="0">
                <a:solidFill>
                  <a:srgbClr val="2E5C36"/>
                </a:solidFill>
                <a:latin typeface="Microsoft YaHei"/>
                <a:ea typeface="Microsoft YaHei"/>
                <a:cs typeface="Microsoft YaHei"/>
              </a:rPr>
              <a:t>万人</a:t>
            </a:r>
          </a:p>
        </p:txBody>
      </p:sp>
      <p:sp>
        <p:nvSpPr>
          <p:cNvPr id="23" name="kpi-blkB"/>
          <p:cNvSpPr/>
          <p:nvPr/>
        </p:nvSpPr>
        <p:spPr>
          <a:xfrm>
            <a:off x="24736425" y="2743200"/>
            <a:ext cx="4552950" cy="2343150"/>
          </a:xfrm>
          <a:prstGeom prst="rect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kpi-blkB-l1"/>
          <p:cNvSpPr txBox="1"/>
          <p:nvPr/>
        </p:nvSpPr>
        <p:spPr>
          <a:xfrm>
            <a:off x="25269825" y="3288030"/>
            <a:ext cx="1666875" cy="6629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25" name="kpi-blkB-l2"/>
          <p:cNvSpPr txBox="1"/>
          <p:nvPr/>
        </p:nvSpPr>
        <p:spPr>
          <a:xfrm>
            <a:off x="25260300" y="3879532"/>
            <a:ext cx="1619250" cy="7181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增长率</a:t>
            </a:r>
          </a:p>
        </p:txBody>
      </p:sp>
      <p:sp>
        <p:nvSpPr>
          <p:cNvPr id="26" name="kpi-blkB-num"/>
          <p:cNvSpPr txBox="1"/>
          <p:nvPr/>
        </p:nvSpPr>
        <p:spPr>
          <a:xfrm>
            <a:off x="26784300" y="2963466"/>
            <a:ext cx="1905000" cy="186451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27" name="kpi-blkB-pct"/>
          <p:cNvSpPr txBox="1"/>
          <p:nvPr/>
        </p:nvSpPr>
        <p:spPr>
          <a:xfrm>
            <a:off x="28689300" y="3378994"/>
            <a:ext cx="666750" cy="12430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28" name="main-frame"/>
          <p:cNvSpPr/>
          <p:nvPr/>
        </p:nvSpPr>
        <p:spPr>
          <a:xfrm>
            <a:off x="1257300" y="5857875"/>
            <a:ext cx="20554950" cy="983932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A5C5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ain-title"/>
          <p:cNvSpPr txBox="1"/>
          <p:nvPr/>
        </p:nvSpPr>
        <p:spPr>
          <a:xfrm>
            <a:off x="6134100" y="6576298"/>
            <a:ext cx="10167915" cy="92535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025" b="1" i="0">
                <a:solidFill>
                  <a:srgbClr val="2E5C36"/>
                </a:solidFill>
                <a:latin typeface="Microsoft YaHei"/>
                <a:ea typeface="Microsoft YaHei"/>
                <a:cs typeface="Microsoft YaHei"/>
              </a:rPr>
              <a:t>2024年度平台销量主要增长点汇总</a:t>
            </a:r>
          </a:p>
        </p:txBody>
      </p:sp>
      <p:sp>
        <p:nvSpPr>
          <p:cNvPr id="30" name="chev-01"/>
          <p:cNvSpPr/>
          <p:nvPr/>
        </p:nvSpPr>
        <p:spPr>
          <a:xfrm>
            <a:off x="2381250" y="7905750"/>
            <a:ext cx="18573750" cy="1362075"/>
          </a:xfrm>
          <a:custGeom>
            <a:avLst/>
            <a:gdLst/>
            <a:ahLst/>
            <a:cxnLst/>
            <a:rect l="l" t="t" r="r" b="b"/>
            <a:pathLst>
              <a:path w="18573750" h="1362075">
                <a:moveTo>
                  <a:pt x="0" y="0"/>
                </a:moveTo>
                <a:lnTo>
                  <a:pt x="17954625" y="0"/>
                </a:lnTo>
                <a:lnTo>
                  <a:pt x="18573750" y="681038"/>
                </a:lnTo>
                <a:lnTo>
                  <a:pt x="17954625" y="1362075"/>
                </a:lnTo>
                <a:lnTo>
                  <a:pt x="0" y="1362075"/>
                </a:lnTo>
                <a:close/>
              </a:path>
            </a:pathLst>
          </a:custGeom>
          <a:solidFill>
            <a:srgbClr val="284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ev-01-label"/>
          <p:cNvSpPr txBox="1"/>
          <p:nvPr/>
        </p:nvSpPr>
        <p:spPr>
          <a:xfrm>
            <a:off x="2790825" y="8052673"/>
            <a:ext cx="4953000" cy="92535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销量增长面一</a:t>
            </a:r>
          </a:p>
        </p:txBody>
      </p:sp>
      <p:sp>
        <p:nvSpPr>
          <p:cNvPr id="32" name="chev-02"/>
          <p:cNvSpPr/>
          <p:nvPr/>
        </p:nvSpPr>
        <p:spPr>
          <a:xfrm>
            <a:off x="5838825" y="9296400"/>
            <a:ext cx="15116175" cy="1362075"/>
          </a:xfrm>
          <a:custGeom>
            <a:avLst/>
            <a:gdLst/>
            <a:ahLst/>
            <a:cxnLst/>
            <a:rect l="l" t="t" r="r" b="b"/>
            <a:pathLst>
              <a:path w="15116175" h="1362075">
                <a:moveTo>
                  <a:pt x="0" y="0"/>
                </a:moveTo>
                <a:lnTo>
                  <a:pt x="14497050" y="0"/>
                </a:lnTo>
                <a:lnTo>
                  <a:pt x="15116175" y="681038"/>
                </a:lnTo>
                <a:lnTo>
                  <a:pt x="14497050" y="1362075"/>
                </a:lnTo>
                <a:lnTo>
                  <a:pt x="0" y="1362075"/>
                </a:lnTo>
                <a:close/>
              </a:path>
            </a:pathLst>
          </a:cu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ev-02-label"/>
          <p:cNvSpPr txBox="1"/>
          <p:nvPr/>
        </p:nvSpPr>
        <p:spPr>
          <a:xfrm>
            <a:off x="6315075" y="9443323"/>
            <a:ext cx="4953000" cy="92535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销量增长面二</a:t>
            </a:r>
          </a:p>
        </p:txBody>
      </p:sp>
      <p:sp>
        <p:nvSpPr>
          <p:cNvPr id="34" name="chev-03"/>
          <p:cNvSpPr/>
          <p:nvPr/>
        </p:nvSpPr>
        <p:spPr>
          <a:xfrm>
            <a:off x="9277350" y="10610850"/>
            <a:ext cx="11677650" cy="1362075"/>
          </a:xfrm>
          <a:custGeom>
            <a:avLst/>
            <a:gdLst/>
            <a:ahLst/>
            <a:cxnLst/>
            <a:rect l="l" t="t" r="r" b="b"/>
            <a:pathLst>
              <a:path w="11677650" h="1362075">
                <a:moveTo>
                  <a:pt x="0" y="0"/>
                </a:moveTo>
                <a:lnTo>
                  <a:pt x="11058525" y="0"/>
                </a:lnTo>
                <a:lnTo>
                  <a:pt x="11677650" y="681038"/>
                </a:lnTo>
                <a:lnTo>
                  <a:pt x="11058525" y="1362075"/>
                </a:lnTo>
                <a:lnTo>
                  <a:pt x="0" y="1362075"/>
                </a:lnTo>
                <a:close/>
              </a:path>
            </a:pathLst>
          </a:custGeom>
          <a:solidFill>
            <a:srgbClr val="B6D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ev-03-label"/>
          <p:cNvSpPr txBox="1"/>
          <p:nvPr/>
        </p:nvSpPr>
        <p:spPr>
          <a:xfrm>
            <a:off x="9810750" y="10757773"/>
            <a:ext cx="4953000" cy="92535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销量增长面三</a:t>
            </a:r>
          </a:p>
        </p:txBody>
      </p:sp>
      <p:sp>
        <p:nvSpPr>
          <p:cNvPr id="36" name="chev-04"/>
          <p:cNvSpPr/>
          <p:nvPr/>
        </p:nvSpPr>
        <p:spPr>
          <a:xfrm>
            <a:off x="12668250" y="11925300"/>
            <a:ext cx="8286750" cy="1362075"/>
          </a:xfrm>
          <a:custGeom>
            <a:avLst/>
            <a:gdLst/>
            <a:ahLst/>
            <a:cxnLst/>
            <a:rect l="l" t="t" r="r" b="b"/>
            <a:pathLst>
              <a:path w="8286750" h="1362075">
                <a:moveTo>
                  <a:pt x="0" y="0"/>
                </a:moveTo>
                <a:lnTo>
                  <a:pt x="7667625" y="0"/>
                </a:lnTo>
                <a:lnTo>
                  <a:pt x="8286750" y="681038"/>
                </a:lnTo>
                <a:lnTo>
                  <a:pt x="7667625" y="1362075"/>
                </a:lnTo>
                <a:lnTo>
                  <a:pt x="0" y="1362075"/>
                </a:lnTo>
                <a:close/>
              </a:path>
            </a:pathLst>
          </a:custGeom>
          <a:solidFill>
            <a:srgbClr val="4BA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ev-04-label"/>
          <p:cNvSpPr txBox="1"/>
          <p:nvPr/>
        </p:nvSpPr>
        <p:spPr>
          <a:xfrm>
            <a:off x="13287375" y="12072223"/>
            <a:ext cx="4953000" cy="92535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销量增长面四</a:t>
            </a:r>
          </a:p>
        </p:txBody>
      </p:sp>
      <p:sp>
        <p:nvSpPr>
          <p:cNvPr id="38" name="chev-05"/>
          <p:cNvSpPr/>
          <p:nvPr/>
        </p:nvSpPr>
        <p:spPr>
          <a:xfrm>
            <a:off x="16106775" y="13239750"/>
            <a:ext cx="4848225" cy="1362075"/>
          </a:xfrm>
          <a:custGeom>
            <a:avLst/>
            <a:gdLst/>
            <a:ahLst/>
            <a:cxnLst/>
            <a:rect l="l" t="t" r="r" b="b"/>
            <a:pathLst>
              <a:path w="4848225" h="1362075">
                <a:moveTo>
                  <a:pt x="0" y="0"/>
                </a:moveTo>
                <a:lnTo>
                  <a:pt x="4229100" y="0"/>
                </a:lnTo>
                <a:lnTo>
                  <a:pt x="4848225" y="681038"/>
                </a:lnTo>
                <a:lnTo>
                  <a:pt x="4229100" y="1362075"/>
                </a:lnTo>
                <a:lnTo>
                  <a:pt x="0" y="1362075"/>
                </a:lnTo>
                <a:close/>
              </a:path>
            </a:pathLst>
          </a:custGeom>
          <a:solidFill>
            <a:srgbClr val="7FB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ev-05-label"/>
          <p:cNvSpPr txBox="1"/>
          <p:nvPr/>
        </p:nvSpPr>
        <p:spPr>
          <a:xfrm>
            <a:off x="16554450" y="13386673"/>
            <a:ext cx="4953000" cy="92535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 其他</a:t>
            </a:r>
          </a:p>
        </p:txBody>
      </p:sp>
      <p:sp>
        <p:nvSpPr>
          <p:cNvPr id="40" name="bubble-tail"/>
          <p:cNvSpPr/>
          <p:nvPr/>
        </p:nvSpPr>
        <p:spPr>
          <a:xfrm>
            <a:off x="3714750" y="11639550"/>
            <a:ext cx="2305050" cy="1295400"/>
          </a:xfrm>
          <a:custGeom>
            <a:avLst/>
            <a:gdLst/>
            <a:ahLst/>
            <a:cxnLst/>
            <a:rect l="l" t="t" r="r" b="b"/>
            <a:pathLst>
              <a:path w="2305050" h="1295400">
                <a:moveTo>
                  <a:pt x="0" y="1295400"/>
                </a:moveTo>
                <a:lnTo>
                  <a:pt x="2305050" y="0"/>
                </a:lnTo>
                <a:lnTo>
                  <a:pt x="2305050" y="1295400"/>
                </a:lnTo>
                <a:close/>
              </a:path>
            </a:pathLst>
          </a:custGeom>
          <a:solidFill>
            <a:srgbClr val="FFFFFF"/>
          </a:solidFill>
          <a:ln w="95250">
            <a:solidFill>
              <a:srgbClr val="51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ubble-body"/>
          <p:cNvSpPr/>
          <p:nvPr/>
        </p:nvSpPr>
        <p:spPr>
          <a:xfrm>
            <a:off x="3409950" y="12954000"/>
            <a:ext cx="5353050" cy="20955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4775">
            <a:solidFill>
              <a:srgbClr val="51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ubble-tail-gap"/>
          <p:cNvSpPr/>
          <p:nvPr/>
        </p:nvSpPr>
        <p:spPr>
          <a:xfrm>
            <a:off x="3771900" y="12877800"/>
            <a:ext cx="2209800" cy="161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ubble-tail-l"/>
          <p:cNvSpPr/>
          <p:nvPr/>
        </p:nvSpPr>
        <p:spPr>
          <a:xfrm>
            <a:off x="3714750" y="11639550"/>
            <a:ext cx="2305050" cy="1295400"/>
          </a:xfrm>
          <a:custGeom>
            <a:avLst/>
            <a:gdLst/>
            <a:ahLst/>
            <a:cxnLst/>
            <a:rect l="l" t="t" r="r" b="b"/>
            <a:pathLst>
              <a:path w="2305050" h="1295400">
                <a:moveTo>
                  <a:pt x="0" y="1295400"/>
                </a:moveTo>
                <a:lnTo>
                  <a:pt x="2305050" y="0"/>
                </a:lnTo>
              </a:path>
            </a:pathLst>
          </a:custGeom>
          <a:noFill/>
          <a:ln w="95250">
            <a:solidFill>
              <a:srgbClr val="51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ubble-tail-r"/>
          <p:cNvSpPr/>
          <p:nvPr/>
        </p:nvSpPr>
        <p:spPr>
          <a:xfrm>
            <a:off x="6019800" y="11639550"/>
            <a:ext cx="0" cy="1295400"/>
          </a:xfrm>
          <a:custGeom>
            <a:avLst/>
            <a:gdLst/>
            <a:ahLst/>
            <a:cxnLst/>
            <a:rect l="l" t="t" r="r" b="b"/>
            <a:pathLst>
              <a:path w="0" h="1295400">
                <a:moveTo>
                  <a:pt x="0" y="0"/>
                </a:moveTo>
                <a:lnTo>
                  <a:pt x="0" y="1295400"/>
                </a:lnTo>
              </a:path>
            </a:pathLst>
          </a:custGeom>
          <a:noFill/>
          <a:ln w="95250">
            <a:solidFill>
              <a:srgbClr val="51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ubble-l1"/>
          <p:cNvSpPr txBox="1"/>
          <p:nvPr/>
        </p:nvSpPr>
        <p:spPr>
          <a:xfrm>
            <a:off x="4029075" y="13432155"/>
            <a:ext cx="4476750" cy="6629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2E5C36"/>
                </a:solidFill>
                <a:latin typeface="Microsoft YaHei"/>
                <a:ea typeface="Microsoft YaHei"/>
                <a:cs typeface="Microsoft YaHei"/>
              </a:rPr>
              <a:t>2025年度，电商经营</a:t>
            </a:r>
          </a:p>
        </p:txBody>
      </p:sp>
      <p:sp>
        <p:nvSpPr>
          <p:cNvPr id="46" name="bubble-l2"/>
          <p:cNvSpPr txBox="1"/>
          <p:nvPr/>
        </p:nvSpPr>
        <p:spPr>
          <a:xfrm>
            <a:off x="4143375" y="13984605"/>
            <a:ext cx="3810000" cy="6629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2E5C36"/>
                </a:solidFill>
                <a:latin typeface="Microsoft YaHei"/>
                <a:ea typeface="Microsoft YaHei"/>
                <a:cs typeface="Microsoft YaHei"/>
              </a:rPr>
              <a:t>呈现出新的趋势</a:t>
            </a:r>
          </a:p>
        </p:txBody>
      </p:sp>
      <p:sp>
        <p:nvSpPr>
          <p:cNvPr id="47" name="card1-body"/>
          <p:cNvSpPr/>
          <p:nvPr/>
        </p:nvSpPr>
        <p:spPr>
          <a:xfrm>
            <a:off x="22383750" y="6905625"/>
            <a:ext cx="6981825" cy="360045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ard1-hdr"/>
          <p:cNvSpPr/>
          <p:nvPr/>
        </p:nvSpPr>
        <p:spPr>
          <a:xfrm>
            <a:off x="22383750" y="5915025"/>
            <a:ext cx="6981825" cy="990600"/>
          </a:xfrm>
          <a:prstGeom prst="rect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ard1-title"/>
          <p:cNvSpPr txBox="1"/>
          <p:nvPr/>
        </p:nvSpPr>
        <p:spPr>
          <a:xfrm>
            <a:off x="22383750" y="6182439"/>
            <a:ext cx="6981825" cy="4557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XXX品牌商品质量</a:t>
            </a:r>
          </a:p>
        </p:txBody>
      </p:sp>
      <p:cxnSp>
        <p:nvCxnSpPr>
          <p:cNvPr id="50" name="card1-v2600"/>
          <p:cNvCxnSpPr/>
          <p:nvPr/>
        </p:nvCxnSpPr>
        <p:spPr>
          <a:xfrm>
            <a:off x="24765000" y="6905625"/>
            <a:ext cx="0" cy="3600450"/>
          </a:xfrm>
          <a:prstGeom prst="line">
            <a:avLst/>
          </a:prstGeom>
          <a:ln w="33337">
            <a:solidFill>
              <a:srgbClr val="5C84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ard1-v2845"/>
          <p:cNvCxnSpPr/>
          <p:nvPr/>
        </p:nvCxnSpPr>
        <p:spPr>
          <a:xfrm>
            <a:off x="27098625" y="6905625"/>
            <a:ext cx="0" cy="3600450"/>
          </a:xfrm>
          <a:prstGeom prst="line">
            <a:avLst/>
          </a:prstGeom>
          <a:ln w="33337">
            <a:solidFill>
              <a:srgbClr val="5C84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ard1-h"/>
          <p:cNvCxnSpPr/>
          <p:nvPr/>
        </p:nvCxnSpPr>
        <p:spPr>
          <a:xfrm>
            <a:off x="22383750" y="8696325"/>
            <a:ext cx="6981825" cy="0"/>
          </a:xfrm>
          <a:prstGeom prst="line">
            <a:avLst/>
          </a:prstGeom>
          <a:ln w="33337">
            <a:solidFill>
              <a:srgbClr val="5C84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ard1-lab0"/>
          <p:cNvSpPr txBox="1"/>
          <p:nvPr/>
        </p:nvSpPr>
        <p:spPr>
          <a:xfrm>
            <a:off x="22326600" y="7450931"/>
            <a:ext cx="2381250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用料材质</a:t>
            </a:r>
          </a:p>
        </p:txBody>
      </p:sp>
      <p:sp>
        <p:nvSpPr>
          <p:cNvPr id="54" name="card1-val0"/>
          <p:cNvSpPr txBox="1"/>
          <p:nvPr/>
        </p:nvSpPr>
        <p:spPr>
          <a:xfrm>
            <a:off x="22326600" y="7974806"/>
            <a:ext cx="2381250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纯棉</a:t>
            </a:r>
          </a:p>
        </p:txBody>
      </p:sp>
      <p:sp>
        <p:nvSpPr>
          <p:cNvPr id="55" name="card1-lab1"/>
          <p:cNvSpPr txBox="1"/>
          <p:nvPr/>
        </p:nvSpPr>
        <p:spPr>
          <a:xfrm>
            <a:off x="24707850" y="7450931"/>
            <a:ext cx="2333625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防风性能</a:t>
            </a:r>
          </a:p>
        </p:txBody>
      </p:sp>
      <p:sp>
        <p:nvSpPr>
          <p:cNvPr id="56" name="card1-val1"/>
          <p:cNvSpPr txBox="1"/>
          <p:nvPr/>
        </p:nvSpPr>
        <p:spPr>
          <a:xfrm>
            <a:off x="24707850" y="7974806"/>
            <a:ext cx="2333625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S级别</a:t>
            </a:r>
          </a:p>
        </p:txBody>
      </p:sp>
      <p:sp>
        <p:nvSpPr>
          <p:cNvPr id="57" name="card1-lab2"/>
          <p:cNvSpPr txBox="1"/>
          <p:nvPr/>
        </p:nvSpPr>
        <p:spPr>
          <a:xfrm>
            <a:off x="27041475" y="7450931"/>
            <a:ext cx="2266950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含棉量</a:t>
            </a:r>
          </a:p>
        </p:txBody>
      </p:sp>
      <p:sp>
        <p:nvSpPr>
          <p:cNvPr id="58" name="card1-val2"/>
          <p:cNvSpPr txBox="1"/>
          <p:nvPr/>
        </p:nvSpPr>
        <p:spPr>
          <a:xfrm>
            <a:off x="27041475" y="7974806"/>
            <a:ext cx="2266950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59" name="card1-lab3"/>
          <p:cNvSpPr txBox="1"/>
          <p:nvPr/>
        </p:nvSpPr>
        <p:spPr>
          <a:xfrm>
            <a:off x="22326600" y="9127331"/>
            <a:ext cx="2381250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尺码参数</a:t>
            </a:r>
          </a:p>
        </p:txBody>
      </p:sp>
      <p:sp>
        <p:nvSpPr>
          <p:cNvPr id="60" name="card1-val3"/>
          <p:cNvSpPr txBox="1"/>
          <p:nvPr/>
        </p:nvSpPr>
        <p:spPr>
          <a:xfrm>
            <a:off x="22326600" y="9651206"/>
            <a:ext cx="2381250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M码</a:t>
            </a:r>
          </a:p>
        </p:txBody>
      </p:sp>
      <p:sp>
        <p:nvSpPr>
          <p:cNvPr id="61" name="card1-lab4"/>
          <p:cNvSpPr txBox="1"/>
          <p:nvPr/>
        </p:nvSpPr>
        <p:spPr>
          <a:xfrm>
            <a:off x="24707850" y="9127331"/>
            <a:ext cx="2333625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长度</a:t>
            </a:r>
          </a:p>
        </p:txBody>
      </p:sp>
      <p:sp>
        <p:nvSpPr>
          <p:cNvPr id="62" name="card1-val4"/>
          <p:cNvSpPr txBox="1"/>
          <p:nvPr/>
        </p:nvSpPr>
        <p:spPr>
          <a:xfrm>
            <a:off x="24707850" y="9651206"/>
            <a:ext cx="2333625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2.00m</a:t>
            </a:r>
          </a:p>
        </p:txBody>
      </p:sp>
      <p:sp>
        <p:nvSpPr>
          <p:cNvPr id="63" name="card1-lab5"/>
          <p:cNvSpPr txBox="1"/>
          <p:nvPr/>
        </p:nvSpPr>
        <p:spPr>
          <a:xfrm>
            <a:off x="27041475" y="9127331"/>
            <a:ext cx="2266950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重量</a:t>
            </a:r>
          </a:p>
        </p:txBody>
      </p:sp>
      <p:sp>
        <p:nvSpPr>
          <p:cNvPr id="64" name="card1-val5"/>
          <p:cNvSpPr txBox="1"/>
          <p:nvPr/>
        </p:nvSpPr>
        <p:spPr>
          <a:xfrm>
            <a:off x="27041475" y="9651206"/>
            <a:ext cx="2266950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10千克</a:t>
            </a:r>
          </a:p>
        </p:txBody>
      </p:sp>
      <p:sp>
        <p:nvSpPr>
          <p:cNvPr id="65" name="card2-body"/>
          <p:cNvSpPr/>
          <p:nvPr/>
        </p:nvSpPr>
        <p:spPr>
          <a:xfrm>
            <a:off x="22383750" y="12096750"/>
            <a:ext cx="6981825" cy="360045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ard2-hdr"/>
          <p:cNvSpPr/>
          <p:nvPr/>
        </p:nvSpPr>
        <p:spPr>
          <a:xfrm>
            <a:off x="22383750" y="11106150"/>
            <a:ext cx="6981825" cy="990600"/>
          </a:xfrm>
          <a:prstGeom prst="rect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ard2-title"/>
          <p:cNvSpPr txBox="1"/>
          <p:nvPr/>
        </p:nvSpPr>
        <p:spPr>
          <a:xfrm>
            <a:off x="22383750" y="11373564"/>
            <a:ext cx="6981825" cy="4557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XXX品牌商品质量</a:t>
            </a:r>
          </a:p>
        </p:txBody>
      </p:sp>
      <p:cxnSp>
        <p:nvCxnSpPr>
          <p:cNvPr id="68" name="card2-v2600"/>
          <p:cNvCxnSpPr/>
          <p:nvPr/>
        </p:nvCxnSpPr>
        <p:spPr>
          <a:xfrm>
            <a:off x="24765000" y="12096750"/>
            <a:ext cx="0" cy="3600450"/>
          </a:xfrm>
          <a:prstGeom prst="line">
            <a:avLst/>
          </a:prstGeom>
          <a:ln w="33337">
            <a:solidFill>
              <a:srgbClr val="5C84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ard2-v2845"/>
          <p:cNvCxnSpPr/>
          <p:nvPr/>
        </p:nvCxnSpPr>
        <p:spPr>
          <a:xfrm>
            <a:off x="27098625" y="12096750"/>
            <a:ext cx="0" cy="3600450"/>
          </a:xfrm>
          <a:prstGeom prst="line">
            <a:avLst/>
          </a:prstGeom>
          <a:ln w="33337">
            <a:solidFill>
              <a:srgbClr val="5C84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ard2-h"/>
          <p:cNvCxnSpPr/>
          <p:nvPr/>
        </p:nvCxnSpPr>
        <p:spPr>
          <a:xfrm>
            <a:off x="22383750" y="13887450"/>
            <a:ext cx="6981825" cy="0"/>
          </a:xfrm>
          <a:prstGeom prst="line">
            <a:avLst/>
          </a:prstGeom>
          <a:ln w="33337">
            <a:solidFill>
              <a:srgbClr val="5C84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card2-lab0"/>
          <p:cNvSpPr txBox="1"/>
          <p:nvPr/>
        </p:nvSpPr>
        <p:spPr>
          <a:xfrm>
            <a:off x="22326600" y="12642056"/>
            <a:ext cx="2381250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用料材质</a:t>
            </a:r>
          </a:p>
        </p:txBody>
      </p:sp>
      <p:sp>
        <p:nvSpPr>
          <p:cNvPr id="72" name="card2-val0"/>
          <p:cNvSpPr txBox="1"/>
          <p:nvPr/>
        </p:nvSpPr>
        <p:spPr>
          <a:xfrm>
            <a:off x="22326600" y="13165931"/>
            <a:ext cx="2381250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纯棉</a:t>
            </a:r>
          </a:p>
        </p:txBody>
      </p:sp>
      <p:sp>
        <p:nvSpPr>
          <p:cNvPr id="73" name="card2-lab1"/>
          <p:cNvSpPr txBox="1"/>
          <p:nvPr/>
        </p:nvSpPr>
        <p:spPr>
          <a:xfrm>
            <a:off x="24707850" y="12642056"/>
            <a:ext cx="2333625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防风性能</a:t>
            </a:r>
          </a:p>
        </p:txBody>
      </p:sp>
      <p:sp>
        <p:nvSpPr>
          <p:cNvPr id="74" name="card2-val1"/>
          <p:cNvSpPr txBox="1"/>
          <p:nvPr/>
        </p:nvSpPr>
        <p:spPr>
          <a:xfrm>
            <a:off x="24707850" y="13165931"/>
            <a:ext cx="2333625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S级别</a:t>
            </a:r>
          </a:p>
        </p:txBody>
      </p:sp>
      <p:sp>
        <p:nvSpPr>
          <p:cNvPr id="75" name="card2-lab2"/>
          <p:cNvSpPr txBox="1"/>
          <p:nvPr/>
        </p:nvSpPr>
        <p:spPr>
          <a:xfrm>
            <a:off x="27041475" y="12642056"/>
            <a:ext cx="2266950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含棉量</a:t>
            </a:r>
          </a:p>
        </p:txBody>
      </p:sp>
      <p:sp>
        <p:nvSpPr>
          <p:cNvPr id="76" name="card2-val2"/>
          <p:cNvSpPr txBox="1"/>
          <p:nvPr/>
        </p:nvSpPr>
        <p:spPr>
          <a:xfrm>
            <a:off x="27041475" y="13165931"/>
            <a:ext cx="2266950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77" name="card2-lab3"/>
          <p:cNvSpPr txBox="1"/>
          <p:nvPr/>
        </p:nvSpPr>
        <p:spPr>
          <a:xfrm>
            <a:off x="22326600" y="14318456"/>
            <a:ext cx="2381250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尺码参数</a:t>
            </a:r>
          </a:p>
        </p:txBody>
      </p:sp>
      <p:sp>
        <p:nvSpPr>
          <p:cNvPr id="78" name="card2-val3"/>
          <p:cNvSpPr txBox="1"/>
          <p:nvPr/>
        </p:nvSpPr>
        <p:spPr>
          <a:xfrm>
            <a:off x="22326600" y="14842331"/>
            <a:ext cx="2381250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M码</a:t>
            </a:r>
          </a:p>
        </p:txBody>
      </p:sp>
      <p:sp>
        <p:nvSpPr>
          <p:cNvPr id="79" name="card2-lab4"/>
          <p:cNvSpPr txBox="1"/>
          <p:nvPr/>
        </p:nvSpPr>
        <p:spPr>
          <a:xfrm>
            <a:off x="24707850" y="14318456"/>
            <a:ext cx="2333625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长度</a:t>
            </a:r>
          </a:p>
        </p:txBody>
      </p:sp>
      <p:sp>
        <p:nvSpPr>
          <p:cNvPr id="80" name="card2-val4"/>
          <p:cNvSpPr txBox="1"/>
          <p:nvPr/>
        </p:nvSpPr>
        <p:spPr>
          <a:xfrm>
            <a:off x="24707850" y="14842331"/>
            <a:ext cx="2333625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2.00m</a:t>
            </a:r>
          </a:p>
        </p:txBody>
      </p:sp>
      <p:sp>
        <p:nvSpPr>
          <p:cNvPr id="81" name="card2-lab5"/>
          <p:cNvSpPr txBox="1"/>
          <p:nvPr/>
        </p:nvSpPr>
        <p:spPr>
          <a:xfrm>
            <a:off x="27041475" y="14318456"/>
            <a:ext cx="2266950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重量</a:t>
            </a:r>
          </a:p>
        </p:txBody>
      </p:sp>
      <p:sp>
        <p:nvSpPr>
          <p:cNvPr id="82" name="card2-val5"/>
          <p:cNvSpPr txBox="1"/>
          <p:nvPr/>
        </p:nvSpPr>
        <p:spPr>
          <a:xfrm>
            <a:off x="27041475" y="14842331"/>
            <a:ext cx="2266950" cy="414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10千克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