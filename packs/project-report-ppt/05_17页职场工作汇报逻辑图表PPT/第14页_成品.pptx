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44" name="bg-frame"/>
          <p:cNvGrpSpPr/>
          <p:nvPr/>
        </p:nvGrpSpPr>
        <p:grpSpPr>
          <a:xfrm>
            <a:off x="1514475" y="3190875"/>
            <a:ext cx="27432000" cy="11820525"/>
            <a:chOff x="1514475" y="3190875"/>
            <a:chExt cx="27432000" cy="11820525"/>
          </a:xfrm>
        </p:grpSpPr>
        <p:sp>
          <p:nvSpPr>
            <p:cNvPr id="3" name="frame-dashed"/>
            <p:cNvSpPr/>
            <p:nvPr/>
          </p:nvSpPr>
          <p:spPr>
            <a:xfrm>
              <a:off x="1514475" y="3190875"/>
              <a:ext cx="27432000" cy="11820525"/>
            </a:xfrm>
            <a:prstGeom prst="roundRect">
              <a:avLst>
                <a:gd name="adj" fmla="val 1772"/>
              </a:avLst>
            </a:prstGeom>
            <a:solidFill>
              <a:srgbClr val="FFFFFF"/>
            </a:solidFill>
            <a:ln w="47625">
              <a:solidFill>
                <a:srgbClr val="518A57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panel-main"/>
            <p:cNvSpPr/>
            <p:nvPr/>
          </p:nvSpPr>
          <p:spPr>
            <a:xfrm>
              <a:off x="1552575" y="3457575"/>
              <a:ext cx="27355800" cy="11401425"/>
            </a:xfrm>
            <a:prstGeom prst="roundRect">
              <a:avLst>
                <a:gd name="adj" fmla="val 1336"/>
              </a:avLst>
            </a:prstGeom>
            <a:solidFill>
              <a:srgbClr val="D9E9D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" name="bg-seps"/>
          <p:cNvGrpSpPr/>
          <p:nvPr/>
        </p:nvGrpSpPr>
        <p:grpSpPr>
          <a:xfrm>
            <a:off x="1809750" y="5467350"/>
            <a:ext cx="26841450" cy="8286750"/>
            <a:chOff x="1809750" y="5467350"/>
            <a:chExt cx="26841450" cy="8286750"/>
          </a:xfrm>
        </p:grpSpPr>
        <p:cxnSp>
          <p:nvCxnSpPr>
            <p:cNvPr id="5" name="sep-L1"/>
            <p:cNvCxnSpPr/>
            <p:nvPr/>
          </p:nvCxnSpPr>
          <p:spPr>
            <a:xfrm>
              <a:off x="1809750" y="5467350"/>
              <a:ext cx="10591800" cy="0"/>
            </a:xfrm>
            <a:prstGeom prst="line">
              <a:avLst/>
            </a:prstGeom>
            <a:ln w="23812">
              <a:solidFill>
                <a:srgbClr val="9BAD9F"/>
              </a:solidFill>
              <a:prstDash val="dash"/>
            </a:ln>
            <a:effectLst/>
          </p:spPr>
        </p:cxnSp>
        <p:cxnSp>
          <p:nvCxnSpPr>
            <p:cNvPr id="6" name="sep-R1"/>
            <p:cNvCxnSpPr/>
            <p:nvPr/>
          </p:nvCxnSpPr>
          <p:spPr>
            <a:xfrm>
              <a:off x="18116550" y="5467350"/>
              <a:ext cx="10534650" cy="0"/>
            </a:xfrm>
            <a:prstGeom prst="line">
              <a:avLst/>
            </a:prstGeom>
            <a:ln w="23812">
              <a:solidFill>
                <a:srgbClr val="9BAD9F"/>
              </a:solidFill>
              <a:prstDash val="dash"/>
            </a:ln>
            <a:effectLst/>
          </p:spPr>
        </p:cxnSp>
        <p:cxnSp>
          <p:nvCxnSpPr>
            <p:cNvPr id="7" name="sep-L2"/>
            <p:cNvCxnSpPr/>
            <p:nvPr/>
          </p:nvCxnSpPr>
          <p:spPr>
            <a:xfrm>
              <a:off x="1809750" y="7534275"/>
              <a:ext cx="10591800" cy="0"/>
            </a:xfrm>
            <a:prstGeom prst="line">
              <a:avLst/>
            </a:prstGeom>
            <a:ln w="23812">
              <a:solidFill>
                <a:srgbClr val="9BAD9F"/>
              </a:solidFill>
              <a:prstDash val="dash"/>
            </a:ln>
            <a:effectLst/>
          </p:spPr>
        </p:cxnSp>
        <p:cxnSp>
          <p:nvCxnSpPr>
            <p:cNvPr id="8" name="sep-R2"/>
            <p:cNvCxnSpPr/>
            <p:nvPr/>
          </p:nvCxnSpPr>
          <p:spPr>
            <a:xfrm>
              <a:off x="18116550" y="7534275"/>
              <a:ext cx="10534650" cy="0"/>
            </a:xfrm>
            <a:prstGeom prst="line">
              <a:avLst/>
            </a:prstGeom>
            <a:ln w="23812">
              <a:solidFill>
                <a:srgbClr val="9BAD9F"/>
              </a:solidFill>
              <a:prstDash val="dash"/>
            </a:ln>
            <a:effectLst/>
          </p:spPr>
        </p:cxnSp>
        <p:cxnSp>
          <p:nvCxnSpPr>
            <p:cNvPr id="9" name="sep-L3"/>
            <p:cNvCxnSpPr/>
            <p:nvPr/>
          </p:nvCxnSpPr>
          <p:spPr>
            <a:xfrm>
              <a:off x="1809750" y="9610725"/>
              <a:ext cx="10591800" cy="0"/>
            </a:xfrm>
            <a:prstGeom prst="line">
              <a:avLst/>
            </a:prstGeom>
            <a:ln w="23812">
              <a:solidFill>
                <a:srgbClr val="9BAD9F"/>
              </a:solidFill>
              <a:prstDash val="dash"/>
            </a:ln>
            <a:effectLst/>
          </p:spPr>
        </p:cxnSp>
        <p:cxnSp>
          <p:nvCxnSpPr>
            <p:cNvPr id="10" name="sep-R3"/>
            <p:cNvCxnSpPr/>
            <p:nvPr/>
          </p:nvCxnSpPr>
          <p:spPr>
            <a:xfrm>
              <a:off x="18116550" y="9610725"/>
              <a:ext cx="10534650" cy="0"/>
            </a:xfrm>
            <a:prstGeom prst="line">
              <a:avLst/>
            </a:prstGeom>
            <a:ln w="23812">
              <a:solidFill>
                <a:srgbClr val="9BAD9F"/>
              </a:solidFill>
              <a:prstDash val="dash"/>
            </a:ln>
            <a:effectLst/>
          </p:spPr>
        </p:cxnSp>
        <p:cxnSp>
          <p:nvCxnSpPr>
            <p:cNvPr id="11" name="sep-L4"/>
            <p:cNvCxnSpPr/>
            <p:nvPr/>
          </p:nvCxnSpPr>
          <p:spPr>
            <a:xfrm>
              <a:off x="1809750" y="11677650"/>
              <a:ext cx="10591800" cy="0"/>
            </a:xfrm>
            <a:prstGeom prst="line">
              <a:avLst/>
            </a:prstGeom>
            <a:ln w="23812">
              <a:solidFill>
                <a:srgbClr val="9BAD9F"/>
              </a:solidFill>
              <a:prstDash val="dash"/>
            </a:ln>
            <a:effectLst/>
          </p:spPr>
        </p:cxnSp>
        <p:cxnSp>
          <p:nvCxnSpPr>
            <p:cNvPr id="12" name="sep-R4"/>
            <p:cNvCxnSpPr/>
            <p:nvPr/>
          </p:nvCxnSpPr>
          <p:spPr>
            <a:xfrm>
              <a:off x="18116550" y="11677650"/>
              <a:ext cx="10534650" cy="0"/>
            </a:xfrm>
            <a:prstGeom prst="line">
              <a:avLst/>
            </a:prstGeom>
            <a:ln w="23812">
              <a:solidFill>
                <a:srgbClr val="9BAD9F"/>
              </a:solidFill>
              <a:prstDash val="dash"/>
            </a:ln>
            <a:effectLst/>
          </p:spPr>
        </p:cxnSp>
        <p:cxnSp>
          <p:nvCxnSpPr>
            <p:cNvPr id="13" name="sep-L5"/>
            <p:cNvCxnSpPr/>
            <p:nvPr/>
          </p:nvCxnSpPr>
          <p:spPr>
            <a:xfrm>
              <a:off x="1809750" y="13754100"/>
              <a:ext cx="10591800" cy="0"/>
            </a:xfrm>
            <a:prstGeom prst="line">
              <a:avLst/>
            </a:prstGeom>
            <a:ln w="23812">
              <a:solidFill>
                <a:srgbClr val="9BAD9F"/>
              </a:solidFill>
              <a:prstDash val="dash"/>
            </a:ln>
            <a:effectLst/>
          </p:spPr>
        </p:cxnSp>
        <p:cxnSp>
          <p:nvCxnSpPr>
            <p:cNvPr id="14" name="sep-R5"/>
            <p:cNvCxnSpPr/>
            <p:nvPr/>
          </p:nvCxnSpPr>
          <p:spPr>
            <a:xfrm>
              <a:off x="18116550" y="13754100"/>
              <a:ext cx="10534650" cy="0"/>
            </a:xfrm>
            <a:prstGeom prst="line">
              <a:avLst/>
            </a:prstGeom>
            <a:ln w="23812">
              <a:solidFill>
                <a:srgbClr val="9BAD9F"/>
              </a:solidFill>
              <a:prstDash val="dash"/>
            </a:ln>
            <a:effectLst/>
          </p:spPr>
        </p:cxnSp>
      </p:grpSp>
      <p:grpSp>
        <p:nvGrpSpPr>
          <p:cNvPr id="45" name="col-center-grp"/>
          <p:cNvGrpSpPr/>
          <p:nvPr/>
        </p:nvGrpSpPr>
        <p:grpSpPr>
          <a:xfrm>
            <a:off x="12525375" y="2505075"/>
            <a:ext cx="5476875" cy="13373100"/>
            <a:chOff x="12525375" y="2505075"/>
            <a:chExt cx="5476875" cy="13373100"/>
          </a:xfrm>
        </p:grpSpPr>
        <p:sp>
          <p:nvSpPr>
            <p:cNvPr id="15" name="col-center"/>
            <p:cNvSpPr/>
            <p:nvPr/>
          </p:nvSpPr>
          <p:spPr>
            <a:xfrm>
              <a:off x="12525375" y="2505075"/>
              <a:ext cx="5476875" cy="13373100"/>
            </a:xfrm>
            <a:prstGeom prst="roundRect">
              <a:avLst>
                <a:gd name="adj" fmla="val 9043"/>
              </a:avLst>
            </a:prstGeom>
            <a:solidFill>
              <a:srgbClr val="518A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ill-diff"/>
            <p:cNvSpPr/>
            <p:nvPr/>
          </p:nvSpPr>
          <p:spPr>
            <a:xfrm>
              <a:off x="13573125" y="3743325"/>
              <a:ext cx="3343275" cy="1047750"/>
            </a:xfrm>
            <a:prstGeom prst="roundRect">
              <a:avLst>
                <a:gd name="adj" fmla="val 50000"/>
              </a:avLst>
            </a:prstGeom>
            <a:solidFill>
              <a:srgbClr val="FAFD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-diff"/>
            <p:cNvSpPr txBox="1"/>
            <p:nvPr/>
          </p:nvSpPr>
          <p:spPr>
            <a:xfrm>
              <a:off x="13573125" y="3895725"/>
              <a:ext cx="3343275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ctr">
                <a:lnSpc>
                  <a:spcPct val="100000"/>
                </a:lnSpc>
              </a:pPr>
              <a:r>
                <a:rPr sz="4650" b="1" i="0">
                  <a:solidFill>
                    <a:srgbClr val="52895A"/>
                  </a:solidFill>
                  <a:latin typeface="Microsoft YaHei"/>
                  <a:ea typeface="Microsoft YaHei"/>
                  <a:cs typeface="Microsoft YaHei"/>
                </a:rPr>
                <a:t>差异情况</a:t>
              </a:r>
            </a:p>
          </p:txBody>
        </p:sp>
        <p:sp>
          <p:nvSpPr>
            <p:cNvPr id="18" name="lbl-c1"/>
            <p:cNvSpPr txBox="1"/>
            <p:nvPr/>
          </p:nvSpPr>
          <p:spPr>
            <a:xfrm>
              <a:off x="12525375" y="6096000"/>
              <a:ext cx="5476875" cy="8858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ctr">
                <a:lnSpc>
                  <a:spcPct val="100000"/>
                </a:lnSpc>
              </a:pPr>
              <a:r>
                <a:rPr sz="51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销量情况</a:t>
              </a:r>
            </a:p>
          </p:txBody>
        </p:sp>
        <p:sp>
          <p:nvSpPr>
            <p:cNvPr id="19" name="lbl-c2"/>
            <p:cNvSpPr txBox="1"/>
            <p:nvPr/>
          </p:nvSpPr>
          <p:spPr>
            <a:xfrm>
              <a:off x="12525375" y="8039100"/>
              <a:ext cx="5476875" cy="8858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ctr">
                <a:lnSpc>
                  <a:spcPct val="100000"/>
                </a:lnSpc>
              </a:pPr>
              <a:r>
                <a:rPr sz="51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利润增长</a:t>
              </a:r>
            </a:p>
          </p:txBody>
        </p:sp>
        <p:sp>
          <p:nvSpPr>
            <p:cNvPr id="20" name="lbl-c3"/>
            <p:cNvSpPr txBox="1"/>
            <p:nvPr/>
          </p:nvSpPr>
          <p:spPr>
            <a:xfrm>
              <a:off x="12525375" y="10229850"/>
              <a:ext cx="5476875" cy="8858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ctr">
                <a:lnSpc>
                  <a:spcPct val="100000"/>
                </a:lnSpc>
              </a:pPr>
              <a:r>
                <a:rPr sz="51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关键领域</a:t>
              </a:r>
            </a:p>
          </p:txBody>
        </p:sp>
        <p:sp>
          <p:nvSpPr>
            <p:cNvPr id="21" name="lbl-c4"/>
            <p:cNvSpPr txBox="1"/>
            <p:nvPr/>
          </p:nvSpPr>
          <p:spPr>
            <a:xfrm>
              <a:off x="12525375" y="12401550"/>
              <a:ext cx="5476875" cy="8858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ctr">
                <a:lnSpc>
                  <a:spcPct val="100000"/>
                </a:lnSpc>
              </a:pPr>
              <a:r>
                <a:rPr sz="51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计划目标</a:t>
              </a:r>
            </a:p>
          </p:txBody>
        </p:sp>
      </p:grpSp>
      <p:grpSp>
        <p:nvGrpSpPr>
          <p:cNvPr id="46" name="col-left"/>
          <p:cNvGrpSpPr/>
          <p:nvPr/>
        </p:nvGrpSpPr>
        <p:grpSpPr>
          <a:xfrm>
            <a:off x="2457450" y="4048125"/>
            <a:ext cx="10363200" cy="9001125"/>
            <a:chOff x="2457450" y="4048125"/>
            <a:chExt cx="10363200" cy="9001125"/>
          </a:xfrm>
        </p:grpSpPr>
        <p:sp>
          <p:nvSpPr>
            <p:cNvPr id="22" name="pill-2024"/>
            <p:cNvSpPr/>
            <p:nvPr/>
          </p:nvSpPr>
          <p:spPr>
            <a:xfrm>
              <a:off x="2457450" y="4048125"/>
              <a:ext cx="4457700" cy="1133475"/>
            </a:xfrm>
            <a:prstGeom prst="roundRect">
              <a:avLst>
                <a:gd name="adj" fmla="val 49579"/>
              </a:avLst>
            </a:prstGeom>
            <a:solidFill>
              <a:srgbClr val="518A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-2024"/>
            <p:cNvSpPr txBox="1"/>
            <p:nvPr/>
          </p:nvSpPr>
          <p:spPr>
            <a:xfrm>
              <a:off x="2457450" y="4133850"/>
              <a:ext cx="4457700" cy="962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ctr">
                <a:lnSpc>
                  <a:spcPct val="100000"/>
                </a:lnSpc>
              </a:pPr>
              <a:r>
                <a:rPr sz="56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2024年</a:t>
              </a:r>
            </a:p>
          </p:txBody>
        </p:sp>
        <p:sp>
          <p:nvSpPr>
            <p:cNvPr id="24" name="body-L1"/>
            <p:cNvSpPr txBox="1"/>
            <p:nvPr/>
          </p:nvSpPr>
          <p:spPr>
            <a:xfrm>
              <a:off x="2695575" y="6286500"/>
              <a:ext cx="10125075" cy="6572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3847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2025年销量为100万，相比去年增长120%</a:t>
              </a:r>
            </a:p>
          </p:txBody>
        </p:sp>
        <p:sp>
          <p:nvSpPr>
            <p:cNvPr id="25" name="body-L2"/>
            <p:cNvSpPr txBox="1"/>
            <p:nvPr/>
          </p:nvSpPr>
          <p:spPr>
            <a:xfrm>
              <a:off x="2695575" y="8191500"/>
              <a:ext cx="9591675" cy="6572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3825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2025年利润100万，相比去年增长110%</a:t>
              </a:r>
            </a:p>
          </p:txBody>
        </p:sp>
        <p:sp>
          <p:nvSpPr>
            <p:cNvPr id="26" name="body-L3"/>
            <p:cNvSpPr txBox="1"/>
            <p:nvPr/>
          </p:nvSpPr>
          <p:spPr>
            <a:xfrm>
              <a:off x="2695575" y="10325100"/>
              <a:ext cx="8458200" cy="6762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3952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主要增长领域为户外运动，增长显著</a:t>
              </a:r>
            </a:p>
          </p:txBody>
        </p:sp>
        <p:sp>
          <p:nvSpPr>
            <p:cNvPr id="27" name="body-L4"/>
            <p:cNvSpPr txBox="1"/>
            <p:nvPr/>
          </p:nvSpPr>
          <p:spPr>
            <a:xfrm>
              <a:off x="2695575" y="12382500"/>
              <a:ext cx="76009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3892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2024年度超额完成年度计划目标</a:t>
              </a:r>
            </a:p>
          </p:txBody>
        </p:sp>
      </p:grpSp>
      <p:grpSp>
        <p:nvGrpSpPr>
          <p:cNvPr id="47" name="col-right"/>
          <p:cNvGrpSpPr/>
          <p:nvPr/>
        </p:nvGrpSpPr>
        <p:grpSpPr>
          <a:xfrm>
            <a:off x="18669000" y="4019550"/>
            <a:ext cx="10125075" cy="9029700"/>
            <a:chOff x="18669000" y="4019550"/>
            <a:chExt cx="10125075" cy="9029700"/>
          </a:xfrm>
        </p:grpSpPr>
        <p:sp>
          <p:nvSpPr>
            <p:cNvPr id="28" name="pill-2025"/>
            <p:cNvSpPr/>
            <p:nvPr/>
          </p:nvSpPr>
          <p:spPr>
            <a:xfrm>
              <a:off x="23412450" y="4019550"/>
              <a:ext cx="4457700" cy="1123950"/>
            </a:xfrm>
            <a:prstGeom prst="roundRect">
              <a:avLst>
                <a:gd name="adj" fmla="val 50000"/>
              </a:avLst>
            </a:prstGeom>
            <a:solidFill>
              <a:srgbClr val="518A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-2025"/>
            <p:cNvSpPr txBox="1"/>
            <p:nvPr/>
          </p:nvSpPr>
          <p:spPr>
            <a:xfrm>
              <a:off x="23412450" y="4095750"/>
              <a:ext cx="4457700" cy="962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ctr">
                <a:lnSpc>
                  <a:spcPct val="100000"/>
                </a:lnSpc>
              </a:pPr>
              <a:r>
                <a:rPr sz="56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2025年</a:t>
              </a:r>
            </a:p>
          </p:txBody>
        </p:sp>
        <p:sp>
          <p:nvSpPr>
            <p:cNvPr id="30" name="body-R1"/>
            <p:cNvSpPr txBox="1"/>
            <p:nvPr/>
          </p:nvSpPr>
          <p:spPr>
            <a:xfrm>
              <a:off x="18669000" y="6286500"/>
              <a:ext cx="10125075" cy="6572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3847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2025年销量为120万，相比去年增长120%</a:t>
              </a:r>
            </a:p>
          </p:txBody>
        </p:sp>
        <p:sp>
          <p:nvSpPr>
            <p:cNvPr id="31" name="body-R2"/>
            <p:cNvSpPr txBox="1"/>
            <p:nvPr/>
          </p:nvSpPr>
          <p:spPr>
            <a:xfrm>
              <a:off x="18669000" y="8191500"/>
              <a:ext cx="10125075" cy="6572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3847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2025年利润为120万，相比去年增长120%</a:t>
              </a:r>
            </a:p>
          </p:txBody>
        </p:sp>
        <p:sp>
          <p:nvSpPr>
            <p:cNvPr id="32" name="body-R3"/>
            <p:cNvSpPr txBox="1"/>
            <p:nvPr/>
          </p:nvSpPr>
          <p:spPr>
            <a:xfrm>
              <a:off x="18669000" y="10325100"/>
              <a:ext cx="10048875" cy="6762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3937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主要增长领域为健康生活，以年轻群体为主</a:t>
              </a:r>
            </a:p>
          </p:txBody>
        </p:sp>
        <p:sp>
          <p:nvSpPr>
            <p:cNvPr id="33" name="body-R4"/>
            <p:cNvSpPr txBox="1"/>
            <p:nvPr/>
          </p:nvSpPr>
          <p:spPr>
            <a:xfrm>
              <a:off x="18669000" y="12382500"/>
              <a:ext cx="8658225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3907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2025年度距离年度计划目标差距较大</a:t>
              </a:r>
            </a:p>
          </p:txBody>
        </p:sp>
      </p:grpSp>
      <p:grpSp>
        <p:nvGrpSpPr>
          <p:cNvPr id="43" name="hdr-brand"/>
          <p:cNvGrpSpPr/>
          <p:nvPr/>
        </p:nvGrpSpPr>
        <p:grpSpPr>
          <a:xfrm>
            <a:off x="1314450" y="495300"/>
            <a:ext cx="28298775" cy="1028700"/>
            <a:chOff x="1314450" y="495300"/>
            <a:chExt cx="28298775" cy="1028700"/>
          </a:xfrm>
        </p:grpSpPr>
        <p:sp>
          <p:nvSpPr>
            <p:cNvPr id="34" name="ic-ring"/>
            <p:cNvSpPr/>
            <p:nvPr/>
          </p:nvSpPr>
          <p:spPr>
            <a:xfrm>
              <a:off x="1314450" y="638175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847725" y="339090"/>
                  </a:moveTo>
                  <a:lnTo>
                    <a:pt x="854392" y="376237"/>
                  </a:lnTo>
                  <a:lnTo>
                    <a:pt x="857250" y="413385"/>
                  </a:lnTo>
                  <a:lnTo>
                    <a:pt x="856298" y="451485"/>
                  </a:lnTo>
                  <a:lnTo>
                    <a:pt x="853440" y="488633"/>
                  </a:lnTo>
                  <a:lnTo>
                    <a:pt x="845820" y="524827"/>
                  </a:lnTo>
                  <a:lnTo>
                    <a:pt x="836295" y="561023"/>
                  </a:lnTo>
                  <a:lnTo>
                    <a:pt x="822960" y="596265"/>
                  </a:lnTo>
                  <a:lnTo>
                    <a:pt x="806768" y="629603"/>
                  </a:lnTo>
                  <a:lnTo>
                    <a:pt x="787718" y="661987"/>
                  </a:lnTo>
                  <a:lnTo>
                    <a:pt x="766762" y="692467"/>
                  </a:lnTo>
                  <a:lnTo>
                    <a:pt x="741998" y="721043"/>
                  </a:lnTo>
                  <a:lnTo>
                    <a:pt x="715328" y="746760"/>
                  </a:lnTo>
                  <a:lnTo>
                    <a:pt x="686752" y="770573"/>
                  </a:lnTo>
                  <a:lnTo>
                    <a:pt x="655320" y="792480"/>
                  </a:lnTo>
                  <a:lnTo>
                    <a:pt x="622935" y="810577"/>
                  </a:lnTo>
                  <a:lnTo>
                    <a:pt x="589598" y="825817"/>
                  </a:lnTo>
                  <a:lnTo>
                    <a:pt x="554355" y="838200"/>
                  </a:lnTo>
                  <a:lnTo>
                    <a:pt x="518160" y="847725"/>
                  </a:lnTo>
                  <a:lnTo>
                    <a:pt x="481012" y="854393"/>
                  </a:lnTo>
                  <a:lnTo>
                    <a:pt x="443865" y="857250"/>
                  </a:lnTo>
                  <a:lnTo>
                    <a:pt x="405765" y="856297"/>
                  </a:lnTo>
                  <a:lnTo>
                    <a:pt x="368618" y="853440"/>
                  </a:lnTo>
                  <a:lnTo>
                    <a:pt x="332422" y="845820"/>
                  </a:lnTo>
                  <a:lnTo>
                    <a:pt x="296228" y="836295"/>
                  </a:lnTo>
                  <a:lnTo>
                    <a:pt x="260985" y="822960"/>
                  </a:lnTo>
                  <a:lnTo>
                    <a:pt x="227648" y="806767"/>
                  </a:lnTo>
                  <a:lnTo>
                    <a:pt x="195262" y="787717"/>
                  </a:lnTo>
                  <a:lnTo>
                    <a:pt x="164782" y="766763"/>
                  </a:lnTo>
                  <a:lnTo>
                    <a:pt x="136208" y="741997"/>
                  </a:lnTo>
                  <a:lnTo>
                    <a:pt x="110490" y="715327"/>
                  </a:lnTo>
                  <a:lnTo>
                    <a:pt x="86678" y="686753"/>
                  </a:lnTo>
                  <a:lnTo>
                    <a:pt x="64770" y="655320"/>
                  </a:lnTo>
                  <a:lnTo>
                    <a:pt x="46672" y="622935"/>
                  </a:lnTo>
                  <a:lnTo>
                    <a:pt x="31432" y="589597"/>
                  </a:lnTo>
                  <a:lnTo>
                    <a:pt x="19050" y="554355"/>
                  </a:lnTo>
                  <a:lnTo>
                    <a:pt x="9525" y="518160"/>
                  </a:lnTo>
                  <a:lnTo>
                    <a:pt x="2858" y="481013"/>
                  </a:lnTo>
                  <a:lnTo>
                    <a:pt x="0" y="443865"/>
                  </a:lnTo>
                  <a:lnTo>
                    <a:pt x="952" y="405765"/>
                  </a:lnTo>
                  <a:lnTo>
                    <a:pt x="3810" y="368617"/>
                  </a:lnTo>
                  <a:lnTo>
                    <a:pt x="11430" y="332423"/>
                  </a:lnTo>
                  <a:lnTo>
                    <a:pt x="20955" y="296227"/>
                  </a:lnTo>
                  <a:lnTo>
                    <a:pt x="34290" y="260985"/>
                  </a:lnTo>
                  <a:lnTo>
                    <a:pt x="50482" y="227647"/>
                  </a:lnTo>
                  <a:lnTo>
                    <a:pt x="69532" y="195263"/>
                  </a:lnTo>
                  <a:lnTo>
                    <a:pt x="90488" y="164783"/>
                  </a:lnTo>
                  <a:lnTo>
                    <a:pt x="115252" y="136207"/>
                  </a:lnTo>
                  <a:lnTo>
                    <a:pt x="141922" y="110490"/>
                  </a:lnTo>
                  <a:lnTo>
                    <a:pt x="170498" y="86677"/>
                  </a:lnTo>
                  <a:lnTo>
                    <a:pt x="201930" y="64770"/>
                  </a:lnTo>
                  <a:lnTo>
                    <a:pt x="234315" y="46673"/>
                  </a:lnTo>
                  <a:lnTo>
                    <a:pt x="267652" y="31433"/>
                  </a:lnTo>
                  <a:lnTo>
                    <a:pt x="302895" y="19050"/>
                  </a:lnTo>
                  <a:lnTo>
                    <a:pt x="339090" y="9525"/>
                  </a:lnTo>
                  <a:lnTo>
                    <a:pt x="376238" y="2857"/>
                  </a:lnTo>
                  <a:lnTo>
                    <a:pt x="413385" y="0"/>
                  </a:lnTo>
                  <a:lnTo>
                    <a:pt x="451485" y="953"/>
                  </a:lnTo>
                  <a:lnTo>
                    <a:pt x="488632" y="3810"/>
                  </a:lnTo>
                  <a:lnTo>
                    <a:pt x="524828" y="11430"/>
                  </a:lnTo>
                </a:path>
              </a:pathLst>
            </a:custGeom>
            <a:noFill/>
            <a:ln w="66675">
              <a:solidFill>
                <a:srgbClr val="518A5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ic-check"/>
            <p:cNvSpPr/>
            <p:nvPr/>
          </p:nvSpPr>
          <p:spPr>
            <a:xfrm>
              <a:off x="1457325" y="742950"/>
              <a:ext cx="638175" cy="523875"/>
            </a:xfrm>
            <a:custGeom>
              <a:avLst/>
              <a:gdLst/>
              <a:ahLst/>
              <a:cxnLst/>
              <a:rect l="l" t="t" r="r" b="b"/>
              <a:pathLst>
                <a:path w="638175" h="523875">
                  <a:moveTo>
                    <a:pt x="0" y="247650"/>
                  </a:moveTo>
                  <a:lnTo>
                    <a:pt x="228600" y="523875"/>
                  </a:lnTo>
                  <a:lnTo>
                    <a:pt x="638175" y="0"/>
                  </a:lnTo>
                </a:path>
              </a:pathLst>
            </a:custGeom>
            <a:noFill/>
            <a:ln w="85725">
              <a:solidFill>
                <a:srgbClr val="518A5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t-title"/>
            <p:cNvSpPr txBox="1"/>
            <p:nvPr/>
          </p:nvSpPr>
          <p:spPr>
            <a:xfrm>
              <a:off x="2686050" y="495300"/>
              <a:ext cx="9906000" cy="1028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职场工作汇报逻辑图表PPT</a:t>
              </a:r>
            </a:p>
          </p:txBody>
        </p:sp>
        <p:sp>
          <p:nvSpPr>
            <p:cNvPr id="37" name="badge-vis"/>
            <p:cNvSpPr/>
            <p:nvPr/>
          </p:nvSpPr>
          <p:spPr>
            <a:xfrm>
              <a:off x="25307925" y="619125"/>
              <a:ext cx="4305300" cy="86677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-badge"/>
            <p:cNvSpPr txBox="1"/>
            <p:nvPr/>
          </p:nvSpPr>
          <p:spPr>
            <a:xfrm>
              <a:off x="25307925" y="609600"/>
              <a:ext cx="43053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/>
            <a:lstStyle/>
            <a:p>
              <a:pPr algn="ctr">
                <a:lnSpc>
                  <a:spcPct val="100000"/>
                </a:lnSpc>
              </a:pPr>
              <a:r>
                <a:rPr sz="51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数据可视化</a:t>
              </a:r>
            </a:p>
          </p:txBody>
        </p:sp>
      </p:grpSp>
      <p:cxnSp>
        <p:nvCxnSpPr>
          <p:cNvPr id="39" name="rule-head"/>
          <p:cNvCxnSpPr/>
          <p:nvPr/>
        </p:nvCxnSpPr>
        <p:spPr>
          <a:xfrm>
            <a:off x="1143000" y="1819275"/>
            <a:ext cx="28470225" cy="0"/>
          </a:xfrm>
          <a:prstGeom prst="line">
            <a:avLst/>
          </a:prstGeom>
          <a:ln w="114300">
            <a:solidFill>
              <a:srgbClr val="518A57"/>
            </a:solidFill>
          </a:ln>
          <a:effectLst/>
        </p:spPr>
      </p:cxnSp>
      <p:cxnSp>
        <p:nvCxnSpPr>
          <p:cNvPr id="40" name="rule-foot"/>
          <p:cNvCxnSpPr/>
          <p:nvPr/>
        </p:nvCxnSpPr>
        <p:spPr>
          <a:xfrm>
            <a:off x="1323975" y="16506825"/>
            <a:ext cx="28460700" cy="0"/>
          </a:xfrm>
          <a:prstGeom prst="line">
            <a:avLst/>
          </a:prstGeom>
          <a:ln w="28575">
            <a:solidFill>
              <a:srgbClr val="7FA98A"/>
            </a:solidFill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