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icon-ring"/>
          <p:cNvSpPr/>
          <p:nvPr/>
        </p:nvSpPr>
        <p:spPr>
          <a:xfrm>
            <a:off x="1028700" y="523875"/>
            <a:ext cx="838200" cy="83820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51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icon-check"/>
          <p:cNvSpPr/>
          <p:nvPr/>
        </p:nvSpPr>
        <p:spPr>
          <a:xfrm>
            <a:off x="1181100" y="590550"/>
            <a:ext cx="685800" cy="552450"/>
          </a:xfrm>
          <a:custGeom>
            <a:avLst/>
            <a:gdLst/>
            <a:ahLst/>
            <a:cxnLst/>
            <a:rect l="l" t="t" r="r" b="b"/>
            <a:pathLst>
              <a:path w="685800" h="552450">
                <a:moveTo>
                  <a:pt x="0" y="323850"/>
                </a:moveTo>
                <a:lnTo>
                  <a:pt x="209550" y="552450"/>
                </a:lnTo>
                <a:lnTo>
                  <a:pt x="685800" y="0"/>
                </a:lnTo>
              </a:path>
            </a:pathLst>
          </a:custGeom>
          <a:noFill/>
          <a:ln w="76200">
            <a:solidFill>
              <a:srgbClr val="51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dr-title"/>
          <p:cNvSpPr txBox="1"/>
          <p:nvPr/>
        </p:nvSpPr>
        <p:spPr>
          <a:xfrm>
            <a:off x="2533650" y="495300"/>
            <a:ext cx="9429750" cy="1009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925" b="1" i="0">
                <a:solidFill>
                  <a:srgbClr val="42814C"/>
                </a:solidFill>
                <a:latin typeface="Microsoft YaHei"/>
                <a:ea typeface="Microsoft YaHei"/>
                <a:cs typeface="Microsoft YaHei"/>
              </a:rPr>
              <a:t>职场工作汇报逻辑图表PPT</a:t>
            </a:r>
          </a:p>
        </p:txBody>
      </p:sp>
      <p:sp>
        <p:nvSpPr>
          <p:cNvPr id="6" name="hdr-banner"/>
          <p:cNvSpPr/>
          <p:nvPr/>
        </p:nvSpPr>
        <p:spPr>
          <a:xfrm>
            <a:off x="24936450" y="495300"/>
            <a:ext cx="4648200" cy="838200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dr-banner-text"/>
          <p:cNvSpPr txBox="1"/>
          <p:nvPr/>
        </p:nvSpPr>
        <p:spPr>
          <a:xfrm>
            <a:off x="24936450" y="495300"/>
            <a:ext cx="4648200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8" name="hdr-rule"/>
          <p:cNvSpPr/>
          <p:nvPr/>
        </p:nvSpPr>
        <p:spPr>
          <a:xfrm>
            <a:off x="1028700" y="1771650"/>
            <a:ext cx="28594050" cy="114300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n-panel"/>
          <p:cNvSpPr/>
          <p:nvPr/>
        </p:nvSpPr>
        <p:spPr>
          <a:xfrm>
            <a:off x="1162050" y="3524250"/>
            <a:ext cx="5724525" cy="11334750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 w="38100">
            <a:solidFill>
              <a:srgbClr val="518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n-summary-block"/>
          <p:cNvSpPr/>
          <p:nvPr/>
        </p:nvSpPr>
        <p:spPr>
          <a:xfrm>
            <a:off x="1619250" y="3857625"/>
            <a:ext cx="4933950" cy="4343400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n-summary"/>
          <p:cNvSpPr txBox="1"/>
          <p:nvPr/>
        </p:nvSpPr>
        <p:spPr>
          <a:xfrm>
            <a:off x="2019300" y="3981450"/>
            <a:ext cx="4398264" cy="409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75" b="1" i="0" spc="129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2025年，在公司营收、</a:t>
            </a:r>
          </a:p>
          <a:p>
            <a:pPr algn="l">
              <a:lnSpc>
                <a:spcPct val="100000"/>
              </a:lnSpc>
            </a:pPr>
            <a:r>
              <a:rPr sz="2775" b="1" i="0" spc="129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销量方面来看，服饰、生</a:t>
            </a:r>
          </a:p>
          <a:p>
            <a:pPr algn="l">
              <a:lnSpc>
                <a:spcPct val="100000"/>
              </a:lnSpc>
            </a:pPr>
            <a:r>
              <a:rPr sz="2775" b="1" i="0" spc="129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活用品、娱乐设施、美食、</a:t>
            </a:r>
          </a:p>
          <a:p>
            <a:pPr algn="l">
              <a:lnSpc>
                <a:spcPct val="100000"/>
              </a:lnSpc>
            </a:pPr>
            <a:r>
              <a:rPr sz="2775" b="1" i="0" spc="129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日常出行以及阅读学习成</a:t>
            </a:r>
          </a:p>
          <a:p>
            <a:pPr algn="l">
              <a:lnSpc>
                <a:spcPct val="100000"/>
              </a:lnSpc>
            </a:pPr>
            <a:r>
              <a:rPr sz="2775" b="1" i="0" spc="129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为本年度销量的有力增长</a:t>
            </a:r>
          </a:p>
          <a:p>
            <a:pPr algn="l">
              <a:lnSpc>
                <a:spcPct val="100000"/>
              </a:lnSpc>
            </a:pPr>
            <a:r>
              <a:rPr sz="2775" b="1" i="0" spc="129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点。</a:t>
            </a:r>
          </a:p>
        </p:txBody>
      </p:sp>
      <p:sp>
        <p:nvSpPr>
          <p:cNvPr id="12" name="ln-goal-1-box"/>
          <p:cNvSpPr/>
          <p:nvPr/>
        </p:nvSpPr>
        <p:spPr>
          <a:xfrm>
            <a:off x="1543050" y="8763000"/>
            <a:ext cx="4886325" cy="1343025"/>
          </a:xfrm>
          <a:prstGeom prst="rect">
            <a:avLst/>
          </a:prstGeom>
          <a:solidFill>
            <a:srgbClr val="FFFFFF"/>
          </a:solidFill>
          <a:ln w="47625">
            <a:solidFill>
              <a:srgbClr val="51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n-goal-1-text"/>
          <p:cNvSpPr txBox="1"/>
          <p:nvPr/>
        </p:nvSpPr>
        <p:spPr>
          <a:xfrm>
            <a:off x="1733550" y="8763000"/>
            <a:ext cx="4619625" cy="1343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518A57"/>
                </a:solidFill>
                <a:latin typeface="Microsoft YaHei"/>
                <a:ea typeface="Microsoft YaHei"/>
                <a:cs typeface="Microsoft YaHei"/>
              </a:rPr>
              <a:t>销量目标01</a:t>
            </a:r>
          </a:p>
        </p:txBody>
      </p:sp>
      <p:sp>
        <p:nvSpPr>
          <p:cNvPr id="14" name="ln-goal-2-box"/>
          <p:cNvSpPr/>
          <p:nvPr/>
        </p:nvSpPr>
        <p:spPr>
          <a:xfrm>
            <a:off x="1543050" y="10353675"/>
            <a:ext cx="4886325" cy="1343025"/>
          </a:xfrm>
          <a:prstGeom prst="rect">
            <a:avLst/>
          </a:prstGeom>
          <a:solidFill>
            <a:srgbClr val="FFFFFF"/>
          </a:solidFill>
          <a:ln w="47625">
            <a:solidFill>
              <a:srgbClr val="51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n-goal-2-text"/>
          <p:cNvSpPr txBox="1"/>
          <p:nvPr/>
        </p:nvSpPr>
        <p:spPr>
          <a:xfrm>
            <a:off x="1733550" y="10353675"/>
            <a:ext cx="4619625" cy="1343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518A57"/>
                </a:solidFill>
                <a:latin typeface="Microsoft YaHei"/>
                <a:ea typeface="Microsoft YaHei"/>
                <a:cs typeface="Microsoft YaHei"/>
              </a:rPr>
              <a:t>销量目标02</a:t>
            </a:r>
          </a:p>
        </p:txBody>
      </p:sp>
      <p:sp>
        <p:nvSpPr>
          <p:cNvPr id="16" name="ln-goal-3-box"/>
          <p:cNvSpPr/>
          <p:nvPr/>
        </p:nvSpPr>
        <p:spPr>
          <a:xfrm>
            <a:off x="1543050" y="11925300"/>
            <a:ext cx="4886325" cy="1343025"/>
          </a:xfrm>
          <a:prstGeom prst="rect">
            <a:avLst/>
          </a:prstGeom>
          <a:solidFill>
            <a:srgbClr val="FFFFFF"/>
          </a:solidFill>
          <a:ln w="47625">
            <a:solidFill>
              <a:srgbClr val="51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n-goal-3-text"/>
          <p:cNvSpPr txBox="1"/>
          <p:nvPr/>
        </p:nvSpPr>
        <p:spPr>
          <a:xfrm>
            <a:off x="1733550" y="11925300"/>
            <a:ext cx="4619625" cy="1343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518A57"/>
                </a:solidFill>
                <a:latin typeface="Microsoft YaHei"/>
                <a:ea typeface="Microsoft YaHei"/>
                <a:cs typeface="Microsoft YaHei"/>
              </a:rPr>
              <a:t>销量目标03</a:t>
            </a:r>
          </a:p>
        </p:txBody>
      </p:sp>
      <p:sp>
        <p:nvSpPr>
          <p:cNvPr id="18" name="ln-goal-4-box"/>
          <p:cNvSpPr/>
          <p:nvPr/>
        </p:nvSpPr>
        <p:spPr>
          <a:xfrm>
            <a:off x="1543050" y="13525500"/>
            <a:ext cx="4886325" cy="1343025"/>
          </a:xfrm>
          <a:prstGeom prst="rect">
            <a:avLst/>
          </a:prstGeom>
          <a:solidFill>
            <a:srgbClr val="FFFFFF"/>
          </a:solidFill>
          <a:ln w="47625">
            <a:solidFill>
              <a:srgbClr val="51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n-goal-4-text"/>
          <p:cNvSpPr txBox="1"/>
          <p:nvPr/>
        </p:nvSpPr>
        <p:spPr>
          <a:xfrm>
            <a:off x="1733550" y="13525500"/>
            <a:ext cx="4619625" cy="1343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518A57"/>
                </a:solidFill>
                <a:latin typeface="Microsoft YaHei"/>
                <a:ea typeface="Microsoft YaHei"/>
                <a:cs typeface="Microsoft YaHei"/>
              </a:rPr>
              <a:t>销量目标04</a:t>
            </a:r>
          </a:p>
        </p:txBody>
      </p:sp>
      <p:sp>
        <p:nvSpPr>
          <p:cNvPr id="20" name="pr-bar-1"/>
          <p:cNvSpPr/>
          <p:nvPr/>
        </p:nvSpPr>
        <p:spPr>
          <a:xfrm>
            <a:off x="7829550" y="4572000"/>
            <a:ext cx="3057525" cy="1409700"/>
          </a:xfrm>
          <a:prstGeom prst="roundRect">
            <a:avLst>
              <a:gd name="adj" fmla="val 13513"/>
            </a:avLst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-bar-1-text"/>
          <p:cNvSpPr txBox="1"/>
          <p:nvPr/>
        </p:nvSpPr>
        <p:spPr>
          <a:xfrm>
            <a:off x="7829550" y="4572000"/>
            <a:ext cx="3057525" cy="140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利润点01</a:t>
            </a:r>
          </a:p>
        </p:txBody>
      </p:sp>
      <p:sp>
        <p:nvSpPr>
          <p:cNvPr id="22" name="pr-bar-2"/>
          <p:cNvSpPr/>
          <p:nvPr/>
        </p:nvSpPr>
        <p:spPr>
          <a:xfrm>
            <a:off x="7829550" y="6457950"/>
            <a:ext cx="3057525" cy="1409700"/>
          </a:xfrm>
          <a:prstGeom prst="roundRect">
            <a:avLst>
              <a:gd name="adj" fmla="val 13513"/>
            </a:avLst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r-bar-2-text"/>
          <p:cNvSpPr txBox="1"/>
          <p:nvPr/>
        </p:nvSpPr>
        <p:spPr>
          <a:xfrm>
            <a:off x="7829550" y="6457950"/>
            <a:ext cx="3057525" cy="140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利润点02</a:t>
            </a:r>
          </a:p>
        </p:txBody>
      </p:sp>
      <p:sp>
        <p:nvSpPr>
          <p:cNvPr id="24" name="pr-bar-3"/>
          <p:cNvSpPr/>
          <p:nvPr/>
        </p:nvSpPr>
        <p:spPr>
          <a:xfrm>
            <a:off x="7829550" y="8715375"/>
            <a:ext cx="3057525" cy="1409700"/>
          </a:xfrm>
          <a:prstGeom prst="roundRect">
            <a:avLst>
              <a:gd name="adj" fmla="val 13513"/>
            </a:avLst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-bar-3-text"/>
          <p:cNvSpPr txBox="1"/>
          <p:nvPr/>
        </p:nvSpPr>
        <p:spPr>
          <a:xfrm>
            <a:off x="7829550" y="8715375"/>
            <a:ext cx="3057525" cy="140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利润点03</a:t>
            </a:r>
          </a:p>
        </p:txBody>
      </p:sp>
      <p:sp>
        <p:nvSpPr>
          <p:cNvPr id="26" name="pr-bar-4"/>
          <p:cNvSpPr/>
          <p:nvPr/>
        </p:nvSpPr>
        <p:spPr>
          <a:xfrm>
            <a:off x="7829550" y="10725150"/>
            <a:ext cx="3057525" cy="1409700"/>
          </a:xfrm>
          <a:prstGeom prst="roundRect">
            <a:avLst>
              <a:gd name="adj" fmla="val 13513"/>
            </a:avLst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-bar-4-text"/>
          <p:cNvSpPr txBox="1"/>
          <p:nvPr/>
        </p:nvSpPr>
        <p:spPr>
          <a:xfrm>
            <a:off x="7829550" y="10725150"/>
            <a:ext cx="3057525" cy="140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利润点04</a:t>
            </a:r>
          </a:p>
        </p:txBody>
      </p:sp>
      <p:sp>
        <p:nvSpPr>
          <p:cNvPr id="28" name="pr-bar-5"/>
          <p:cNvSpPr/>
          <p:nvPr/>
        </p:nvSpPr>
        <p:spPr>
          <a:xfrm>
            <a:off x="7829550" y="12687300"/>
            <a:ext cx="3057525" cy="1409700"/>
          </a:xfrm>
          <a:prstGeom prst="roundRect">
            <a:avLst>
              <a:gd name="adj" fmla="val 13513"/>
            </a:avLst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-bar-5-text"/>
          <p:cNvSpPr txBox="1"/>
          <p:nvPr/>
        </p:nvSpPr>
        <p:spPr>
          <a:xfrm>
            <a:off x="7829550" y="12687300"/>
            <a:ext cx="3057525" cy="140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利润点05</a:t>
            </a:r>
          </a:p>
        </p:txBody>
      </p:sp>
      <p:sp>
        <p:nvSpPr>
          <p:cNvPr id="30" name="pr-dot-1"/>
          <p:cNvSpPr/>
          <p:nvPr/>
        </p:nvSpPr>
        <p:spPr>
          <a:xfrm>
            <a:off x="11391900" y="5114925"/>
            <a:ext cx="266700" cy="266700"/>
          </a:xfrm>
          <a:prstGeom prst="ellipse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r-dot-2"/>
          <p:cNvSpPr/>
          <p:nvPr/>
        </p:nvSpPr>
        <p:spPr>
          <a:xfrm>
            <a:off x="11391900" y="7191375"/>
            <a:ext cx="266700" cy="266700"/>
          </a:xfrm>
          <a:prstGeom prst="ellipse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r-dot-3"/>
          <p:cNvSpPr/>
          <p:nvPr/>
        </p:nvSpPr>
        <p:spPr>
          <a:xfrm>
            <a:off x="11391900" y="9382125"/>
            <a:ext cx="266700" cy="266700"/>
          </a:xfrm>
          <a:prstGeom prst="ellipse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r-dot-4"/>
          <p:cNvSpPr/>
          <p:nvPr/>
        </p:nvSpPr>
        <p:spPr>
          <a:xfrm>
            <a:off x="11391900" y="11306175"/>
            <a:ext cx="266700" cy="266700"/>
          </a:xfrm>
          <a:prstGeom prst="ellipse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r-dot-5"/>
          <p:cNvSpPr/>
          <p:nvPr/>
        </p:nvSpPr>
        <p:spPr>
          <a:xfrm>
            <a:off x="11391900" y="13277850"/>
            <a:ext cx="266700" cy="266700"/>
          </a:xfrm>
          <a:prstGeom prst="ellipse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1-frame"/>
          <p:cNvSpPr/>
          <p:nvPr/>
        </p:nvSpPr>
        <p:spPr>
          <a:xfrm>
            <a:off x="13354050" y="3181350"/>
            <a:ext cx="6562725" cy="3924300"/>
          </a:xfrm>
          <a:prstGeom prst="roundRect">
            <a:avLst>
              <a:gd name="adj" fmla="val 4368"/>
            </a:avLst>
          </a:prstGeom>
          <a:solidFill>
            <a:srgbClr val="FFFFFF"/>
          </a:solidFill>
          <a:ln w="38100">
            <a:solidFill>
              <a:srgbClr val="518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kpi1-card"/>
          <p:cNvSpPr/>
          <p:nvPr/>
        </p:nvSpPr>
        <p:spPr>
          <a:xfrm>
            <a:off x="13735050" y="3724275"/>
            <a:ext cx="5800725" cy="2181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kpi1-accent"/>
          <p:cNvSpPr/>
          <p:nvPr/>
        </p:nvSpPr>
        <p:spPr>
          <a:xfrm>
            <a:off x="13735050" y="3724275"/>
            <a:ext cx="200025" cy="2181225"/>
          </a:xfrm>
          <a:prstGeom prst="rect">
            <a:avLst/>
          </a:prstGeom>
          <a:solidFill>
            <a:srgbClr val="4A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kpi1-label"/>
          <p:cNvSpPr txBox="1"/>
          <p:nvPr/>
        </p:nvSpPr>
        <p:spPr>
          <a:xfrm>
            <a:off x="14639925" y="4048125"/>
            <a:ext cx="1905000" cy="142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950" b="1" i="0" spc="101">
                <a:solidFill>
                  <a:srgbClr val="518A57"/>
                </a:solidFill>
                <a:latin typeface="Microsoft YaHei"/>
                <a:ea typeface="Microsoft YaHei"/>
                <a:cs typeface="Microsoft YaHei"/>
              </a:rPr>
              <a:t>销量</a:t>
            </a:r>
          </a:p>
          <a:p>
            <a:pPr algn="l">
              <a:lnSpc>
                <a:spcPct val="100000"/>
              </a:lnSpc>
            </a:pPr>
            <a:r>
              <a:rPr sz="4950" b="1" i="0" spc="101">
                <a:solidFill>
                  <a:srgbClr val="518A57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39" name="kpi1-value"/>
          <p:cNvSpPr txBox="1"/>
          <p:nvPr/>
        </p:nvSpPr>
        <p:spPr>
          <a:xfrm>
            <a:off x="16249650" y="3810000"/>
            <a:ext cx="3238500" cy="2000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450" b="1" i="0">
                <a:solidFill>
                  <a:srgbClr val="518A5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40" name="kpi1-caption"/>
          <p:cNvSpPr txBox="1"/>
          <p:nvPr/>
        </p:nvSpPr>
        <p:spPr>
          <a:xfrm>
            <a:off x="13392150" y="6153150"/>
            <a:ext cx="62865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销量实现逆势增长</a:t>
            </a:r>
          </a:p>
        </p:txBody>
      </p:sp>
      <p:sp>
        <p:nvSpPr>
          <p:cNvPr id="41" name="kpi2-frame"/>
          <p:cNvSpPr/>
          <p:nvPr/>
        </p:nvSpPr>
        <p:spPr>
          <a:xfrm>
            <a:off x="13354050" y="7515225"/>
            <a:ext cx="6562725" cy="3895725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38100">
            <a:solidFill>
              <a:srgbClr val="518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2-card"/>
          <p:cNvSpPr/>
          <p:nvPr/>
        </p:nvSpPr>
        <p:spPr>
          <a:xfrm>
            <a:off x="13658850" y="7972425"/>
            <a:ext cx="6000750" cy="2057400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2-label"/>
          <p:cNvSpPr txBox="1"/>
          <p:nvPr/>
        </p:nvSpPr>
        <p:spPr>
          <a:xfrm>
            <a:off x="14097000" y="8191500"/>
            <a:ext cx="2060448" cy="1619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利润增长</a:t>
            </a:r>
          </a:p>
        </p:txBody>
      </p:sp>
      <p:sp>
        <p:nvSpPr>
          <p:cNvPr id="44" name="kpi2-value"/>
          <p:cNvSpPr txBox="1"/>
          <p:nvPr/>
        </p:nvSpPr>
        <p:spPr>
          <a:xfrm>
            <a:off x="16192500" y="7981950"/>
            <a:ext cx="3048000" cy="1905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66%</a:t>
            </a:r>
          </a:p>
        </p:txBody>
      </p:sp>
      <p:sp>
        <p:nvSpPr>
          <p:cNvPr id="45" name="kpi2-caption"/>
          <p:cNvSpPr txBox="1"/>
          <p:nvPr/>
        </p:nvSpPr>
        <p:spPr>
          <a:xfrm>
            <a:off x="13392150" y="10363200"/>
            <a:ext cx="62865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利润首次实现增长</a:t>
            </a:r>
          </a:p>
        </p:txBody>
      </p:sp>
      <p:sp>
        <p:nvSpPr>
          <p:cNvPr id="46" name="kpi3-frame"/>
          <p:cNvSpPr/>
          <p:nvPr/>
        </p:nvSpPr>
        <p:spPr>
          <a:xfrm>
            <a:off x="13354050" y="11849100"/>
            <a:ext cx="6562725" cy="35433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38100">
            <a:solidFill>
              <a:srgbClr val="518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3-card"/>
          <p:cNvSpPr/>
          <p:nvPr/>
        </p:nvSpPr>
        <p:spPr>
          <a:xfrm>
            <a:off x="13658850" y="12144375"/>
            <a:ext cx="6000750" cy="2028825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3-label"/>
          <p:cNvSpPr txBox="1"/>
          <p:nvPr/>
        </p:nvSpPr>
        <p:spPr>
          <a:xfrm>
            <a:off x="14097000" y="12382500"/>
            <a:ext cx="2060448" cy="1571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成本控制</a:t>
            </a:r>
          </a:p>
        </p:txBody>
      </p:sp>
      <p:sp>
        <p:nvSpPr>
          <p:cNvPr id="49" name="kpi3-value"/>
          <p:cNvSpPr txBox="1"/>
          <p:nvPr/>
        </p:nvSpPr>
        <p:spPr>
          <a:xfrm>
            <a:off x="16192500" y="12172950"/>
            <a:ext cx="3048000" cy="1905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50" name="kpi3-caption"/>
          <p:cNvSpPr txBox="1"/>
          <p:nvPr/>
        </p:nvSpPr>
        <p:spPr>
          <a:xfrm>
            <a:off x="13392150" y="14401800"/>
            <a:ext cx="62865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成本效益显著提升</a:t>
            </a:r>
          </a:p>
        </p:txBody>
      </p:sp>
      <p:sp>
        <p:nvSpPr>
          <p:cNvPr id="51" name="sm-backing"/>
          <p:cNvSpPr/>
          <p:nvPr/>
        </p:nvSpPr>
        <p:spPr>
          <a:xfrm>
            <a:off x="22669500" y="3964305"/>
            <a:ext cx="6057900" cy="9911715"/>
          </a:xfrm>
          <a:custGeom>
            <a:avLst/>
            <a:gdLst/>
            <a:ahLst/>
            <a:cxnLst/>
            <a:rect l="l" t="t" r="r" b="b"/>
            <a:pathLst>
              <a:path w="6057900" h="9911715">
                <a:moveTo>
                  <a:pt x="0" y="121920"/>
                </a:moveTo>
                <a:lnTo>
                  <a:pt x="29528" y="124777"/>
                </a:lnTo>
                <a:lnTo>
                  <a:pt x="60008" y="120967"/>
                </a:lnTo>
                <a:lnTo>
                  <a:pt x="87630" y="112395"/>
                </a:lnTo>
                <a:lnTo>
                  <a:pt x="114300" y="97155"/>
                </a:lnTo>
                <a:lnTo>
                  <a:pt x="137160" y="78105"/>
                </a:lnTo>
                <a:lnTo>
                  <a:pt x="156210" y="55245"/>
                </a:lnTo>
                <a:lnTo>
                  <a:pt x="169545" y="28575"/>
                </a:lnTo>
                <a:lnTo>
                  <a:pt x="178118" y="0"/>
                </a:lnTo>
                <a:lnTo>
                  <a:pt x="5879782" y="2186940"/>
                </a:lnTo>
                <a:lnTo>
                  <a:pt x="5875972" y="2230755"/>
                </a:lnTo>
                <a:lnTo>
                  <a:pt x="5880735" y="2273617"/>
                </a:lnTo>
                <a:lnTo>
                  <a:pt x="5894070" y="2315527"/>
                </a:lnTo>
                <a:lnTo>
                  <a:pt x="5915025" y="2353627"/>
                </a:lnTo>
                <a:lnTo>
                  <a:pt x="5943600" y="2386965"/>
                </a:lnTo>
                <a:lnTo>
                  <a:pt x="5977890" y="2413635"/>
                </a:lnTo>
                <a:lnTo>
                  <a:pt x="6015990" y="2433637"/>
                </a:lnTo>
                <a:lnTo>
                  <a:pt x="6057900" y="2446020"/>
                </a:lnTo>
                <a:lnTo>
                  <a:pt x="6057900" y="9723120"/>
                </a:lnTo>
                <a:lnTo>
                  <a:pt x="6020752" y="9726930"/>
                </a:lnTo>
                <a:lnTo>
                  <a:pt x="5985510" y="9737407"/>
                </a:lnTo>
                <a:lnTo>
                  <a:pt x="5952172" y="9754553"/>
                </a:lnTo>
                <a:lnTo>
                  <a:pt x="5923598" y="9778365"/>
                </a:lnTo>
                <a:lnTo>
                  <a:pt x="5899785" y="9806940"/>
                </a:lnTo>
                <a:lnTo>
                  <a:pt x="5881688" y="9839325"/>
                </a:lnTo>
                <a:lnTo>
                  <a:pt x="5871210" y="9875520"/>
                </a:lnTo>
                <a:lnTo>
                  <a:pt x="5867400" y="9911715"/>
                </a:lnTo>
                <a:lnTo>
                  <a:pt x="190500" y="9867900"/>
                </a:lnTo>
                <a:lnTo>
                  <a:pt x="186690" y="9829800"/>
                </a:lnTo>
                <a:lnTo>
                  <a:pt x="176212" y="9794557"/>
                </a:lnTo>
                <a:lnTo>
                  <a:pt x="159068" y="9761220"/>
                </a:lnTo>
                <a:lnTo>
                  <a:pt x="135255" y="9731693"/>
                </a:lnTo>
                <a:lnTo>
                  <a:pt x="105728" y="9707880"/>
                </a:lnTo>
                <a:lnTo>
                  <a:pt x="73342" y="9690735"/>
                </a:lnTo>
                <a:lnTo>
                  <a:pt x="37148" y="9679305"/>
                </a:lnTo>
                <a:lnTo>
                  <a:pt x="0" y="9675495"/>
                </a:lnTo>
                <a:close/>
              </a:path>
            </a:pathLst>
          </a:cu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m-card1-shadow"/>
          <p:cNvSpPr/>
          <p:nvPr/>
        </p:nvSpPr>
        <p:spPr>
          <a:xfrm>
            <a:off x="23060025" y="4633912"/>
            <a:ext cx="3800475" cy="3396616"/>
          </a:xfrm>
          <a:custGeom>
            <a:avLst/>
            <a:gdLst/>
            <a:ahLst/>
            <a:cxnLst/>
            <a:rect l="l" t="t" r="r" b="b"/>
            <a:pathLst>
              <a:path w="3800475" h="3396616">
                <a:moveTo>
                  <a:pt x="0" y="109538"/>
                </a:moveTo>
                <a:lnTo>
                  <a:pt x="26670" y="111443"/>
                </a:lnTo>
                <a:lnTo>
                  <a:pt x="53340" y="108586"/>
                </a:lnTo>
                <a:lnTo>
                  <a:pt x="79057" y="100966"/>
                </a:lnTo>
                <a:lnTo>
                  <a:pt x="102870" y="87630"/>
                </a:lnTo>
                <a:lnTo>
                  <a:pt x="122873" y="70486"/>
                </a:lnTo>
                <a:lnTo>
                  <a:pt x="140017" y="49530"/>
                </a:lnTo>
                <a:lnTo>
                  <a:pt x="152400" y="25718"/>
                </a:lnTo>
                <a:lnTo>
                  <a:pt x="160020" y="0"/>
                </a:lnTo>
                <a:lnTo>
                  <a:pt x="3640455" y="1358266"/>
                </a:lnTo>
                <a:lnTo>
                  <a:pt x="3637597" y="1397318"/>
                </a:lnTo>
                <a:lnTo>
                  <a:pt x="3641407" y="1436370"/>
                </a:lnTo>
                <a:lnTo>
                  <a:pt x="3653790" y="1473518"/>
                </a:lnTo>
                <a:lnTo>
                  <a:pt x="3671887" y="1507808"/>
                </a:lnTo>
                <a:lnTo>
                  <a:pt x="3697605" y="1538288"/>
                </a:lnTo>
                <a:lnTo>
                  <a:pt x="3728085" y="1563053"/>
                </a:lnTo>
                <a:lnTo>
                  <a:pt x="3762375" y="1581150"/>
                </a:lnTo>
                <a:lnTo>
                  <a:pt x="3800475" y="1591628"/>
                </a:lnTo>
                <a:lnTo>
                  <a:pt x="3800475" y="3287078"/>
                </a:lnTo>
                <a:lnTo>
                  <a:pt x="3773805" y="3285173"/>
                </a:lnTo>
                <a:lnTo>
                  <a:pt x="3747135" y="3288030"/>
                </a:lnTo>
                <a:lnTo>
                  <a:pt x="3721417" y="3295650"/>
                </a:lnTo>
                <a:lnTo>
                  <a:pt x="3697605" y="3308986"/>
                </a:lnTo>
                <a:lnTo>
                  <a:pt x="3677603" y="3326130"/>
                </a:lnTo>
                <a:lnTo>
                  <a:pt x="3660457" y="3347086"/>
                </a:lnTo>
                <a:lnTo>
                  <a:pt x="3648075" y="3370898"/>
                </a:lnTo>
                <a:lnTo>
                  <a:pt x="3640455" y="3396616"/>
                </a:lnTo>
                <a:lnTo>
                  <a:pt x="160020" y="2038350"/>
                </a:lnTo>
                <a:lnTo>
                  <a:pt x="162877" y="1999298"/>
                </a:lnTo>
                <a:lnTo>
                  <a:pt x="159067" y="1960246"/>
                </a:lnTo>
                <a:lnTo>
                  <a:pt x="146685" y="1923098"/>
                </a:lnTo>
                <a:lnTo>
                  <a:pt x="128587" y="1888808"/>
                </a:lnTo>
                <a:lnTo>
                  <a:pt x="102870" y="1858328"/>
                </a:lnTo>
                <a:lnTo>
                  <a:pt x="72390" y="1834516"/>
                </a:lnTo>
                <a:lnTo>
                  <a:pt x="38100" y="1816418"/>
                </a:lnTo>
                <a:lnTo>
                  <a:pt x="0" y="1804988"/>
                </a:lnTo>
                <a:close/>
              </a:path>
            </a:pathLst>
          </a:custGeom>
          <a:solidFill>
            <a:srgbClr val="3E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m-card1"/>
          <p:cNvSpPr/>
          <p:nvPr/>
        </p:nvSpPr>
        <p:spPr>
          <a:xfrm>
            <a:off x="22907625" y="4519612"/>
            <a:ext cx="3800475" cy="3396616"/>
          </a:xfrm>
          <a:custGeom>
            <a:avLst/>
            <a:gdLst/>
            <a:ahLst/>
            <a:cxnLst/>
            <a:rect l="l" t="t" r="r" b="b"/>
            <a:pathLst>
              <a:path w="3800475" h="3396616">
                <a:moveTo>
                  <a:pt x="0" y="109538"/>
                </a:moveTo>
                <a:lnTo>
                  <a:pt x="26670" y="111443"/>
                </a:lnTo>
                <a:lnTo>
                  <a:pt x="53340" y="108586"/>
                </a:lnTo>
                <a:lnTo>
                  <a:pt x="79057" y="100966"/>
                </a:lnTo>
                <a:lnTo>
                  <a:pt x="102870" y="87630"/>
                </a:lnTo>
                <a:lnTo>
                  <a:pt x="122873" y="70486"/>
                </a:lnTo>
                <a:lnTo>
                  <a:pt x="140017" y="49530"/>
                </a:lnTo>
                <a:lnTo>
                  <a:pt x="152400" y="25718"/>
                </a:lnTo>
                <a:lnTo>
                  <a:pt x="160020" y="0"/>
                </a:lnTo>
                <a:lnTo>
                  <a:pt x="3640455" y="1358266"/>
                </a:lnTo>
                <a:lnTo>
                  <a:pt x="3637597" y="1397318"/>
                </a:lnTo>
                <a:lnTo>
                  <a:pt x="3641407" y="1436370"/>
                </a:lnTo>
                <a:lnTo>
                  <a:pt x="3653790" y="1473518"/>
                </a:lnTo>
                <a:lnTo>
                  <a:pt x="3671887" y="1507808"/>
                </a:lnTo>
                <a:lnTo>
                  <a:pt x="3697605" y="1538288"/>
                </a:lnTo>
                <a:lnTo>
                  <a:pt x="3728085" y="1563053"/>
                </a:lnTo>
                <a:lnTo>
                  <a:pt x="3762375" y="1581150"/>
                </a:lnTo>
                <a:lnTo>
                  <a:pt x="3800475" y="1591628"/>
                </a:lnTo>
                <a:lnTo>
                  <a:pt x="3800475" y="3287078"/>
                </a:lnTo>
                <a:lnTo>
                  <a:pt x="3773805" y="3285173"/>
                </a:lnTo>
                <a:lnTo>
                  <a:pt x="3747135" y="3288030"/>
                </a:lnTo>
                <a:lnTo>
                  <a:pt x="3721417" y="3295650"/>
                </a:lnTo>
                <a:lnTo>
                  <a:pt x="3697605" y="3308986"/>
                </a:lnTo>
                <a:lnTo>
                  <a:pt x="3677603" y="3326130"/>
                </a:lnTo>
                <a:lnTo>
                  <a:pt x="3660457" y="3347086"/>
                </a:lnTo>
                <a:lnTo>
                  <a:pt x="3648075" y="3370898"/>
                </a:lnTo>
                <a:lnTo>
                  <a:pt x="3640455" y="3396616"/>
                </a:lnTo>
                <a:lnTo>
                  <a:pt x="160020" y="2038350"/>
                </a:lnTo>
                <a:lnTo>
                  <a:pt x="162877" y="1999298"/>
                </a:lnTo>
                <a:lnTo>
                  <a:pt x="159067" y="1960246"/>
                </a:lnTo>
                <a:lnTo>
                  <a:pt x="146685" y="1923098"/>
                </a:lnTo>
                <a:lnTo>
                  <a:pt x="128587" y="1888808"/>
                </a:lnTo>
                <a:lnTo>
                  <a:pt x="102870" y="1858328"/>
                </a:lnTo>
                <a:lnTo>
                  <a:pt x="72390" y="1834516"/>
                </a:lnTo>
                <a:lnTo>
                  <a:pt x="38100" y="1816418"/>
                </a:lnTo>
                <a:lnTo>
                  <a:pt x="0" y="1804988"/>
                </a:lnTo>
                <a:close/>
              </a:path>
            </a:pathLst>
          </a:cu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m-card2"/>
          <p:cNvSpPr/>
          <p:nvPr/>
        </p:nvSpPr>
        <p:spPr>
          <a:xfrm>
            <a:off x="23479125" y="7091362"/>
            <a:ext cx="3219450" cy="4141470"/>
          </a:xfrm>
          <a:custGeom>
            <a:avLst/>
            <a:gdLst/>
            <a:ahLst/>
            <a:cxnLst/>
            <a:rect l="l" t="t" r="r" b="b"/>
            <a:pathLst>
              <a:path w="3219450" h="4141470">
                <a:moveTo>
                  <a:pt x="0" y="109538"/>
                </a:moveTo>
                <a:lnTo>
                  <a:pt x="26670" y="111443"/>
                </a:lnTo>
                <a:lnTo>
                  <a:pt x="53340" y="108586"/>
                </a:lnTo>
                <a:lnTo>
                  <a:pt x="79057" y="100966"/>
                </a:lnTo>
                <a:lnTo>
                  <a:pt x="102870" y="87630"/>
                </a:lnTo>
                <a:lnTo>
                  <a:pt x="122873" y="70486"/>
                </a:lnTo>
                <a:lnTo>
                  <a:pt x="140017" y="49530"/>
                </a:lnTo>
                <a:lnTo>
                  <a:pt x="152400" y="25718"/>
                </a:lnTo>
                <a:lnTo>
                  <a:pt x="160020" y="0"/>
                </a:lnTo>
                <a:lnTo>
                  <a:pt x="3059430" y="1131570"/>
                </a:lnTo>
                <a:lnTo>
                  <a:pt x="3056573" y="1170623"/>
                </a:lnTo>
                <a:lnTo>
                  <a:pt x="3060383" y="1209676"/>
                </a:lnTo>
                <a:lnTo>
                  <a:pt x="3072765" y="1246823"/>
                </a:lnTo>
                <a:lnTo>
                  <a:pt x="3090863" y="1281113"/>
                </a:lnTo>
                <a:lnTo>
                  <a:pt x="3116580" y="1311593"/>
                </a:lnTo>
                <a:lnTo>
                  <a:pt x="3147060" y="1336358"/>
                </a:lnTo>
                <a:lnTo>
                  <a:pt x="3181350" y="1354456"/>
                </a:lnTo>
                <a:lnTo>
                  <a:pt x="3219450" y="1364933"/>
                </a:lnTo>
                <a:lnTo>
                  <a:pt x="3219450" y="4031933"/>
                </a:lnTo>
                <a:lnTo>
                  <a:pt x="3192780" y="4030028"/>
                </a:lnTo>
                <a:lnTo>
                  <a:pt x="3166110" y="4032886"/>
                </a:lnTo>
                <a:lnTo>
                  <a:pt x="3140393" y="4040506"/>
                </a:lnTo>
                <a:lnTo>
                  <a:pt x="3116580" y="4053840"/>
                </a:lnTo>
                <a:lnTo>
                  <a:pt x="3096577" y="4070986"/>
                </a:lnTo>
                <a:lnTo>
                  <a:pt x="3079433" y="4091940"/>
                </a:lnTo>
                <a:lnTo>
                  <a:pt x="3067050" y="4115753"/>
                </a:lnTo>
                <a:lnTo>
                  <a:pt x="3059430" y="4141470"/>
                </a:lnTo>
                <a:lnTo>
                  <a:pt x="160020" y="3009900"/>
                </a:lnTo>
                <a:lnTo>
                  <a:pt x="162877" y="2970848"/>
                </a:lnTo>
                <a:lnTo>
                  <a:pt x="159067" y="2931796"/>
                </a:lnTo>
                <a:lnTo>
                  <a:pt x="146685" y="2894648"/>
                </a:lnTo>
                <a:lnTo>
                  <a:pt x="128587" y="2860358"/>
                </a:lnTo>
                <a:lnTo>
                  <a:pt x="102870" y="2829878"/>
                </a:lnTo>
                <a:lnTo>
                  <a:pt x="72390" y="2806066"/>
                </a:lnTo>
                <a:lnTo>
                  <a:pt x="38100" y="2787968"/>
                </a:lnTo>
                <a:lnTo>
                  <a:pt x="0" y="2776538"/>
                </a:lnTo>
                <a:close/>
              </a:path>
            </a:pathLst>
          </a:custGeom>
          <a:solidFill>
            <a:srgbClr val="8CB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m-card3"/>
          <p:cNvSpPr/>
          <p:nvPr/>
        </p:nvSpPr>
        <p:spPr>
          <a:xfrm>
            <a:off x="23479125" y="10729912"/>
            <a:ext cx="3219450" cy="4160520"/>
          </a:xfrm>
          <a:custGeom>
            <a:avLst/>
            <a:gdLst/>
            <a:ahLst/>
            <a:cxnLst/>
            <a:rect l="l" t="t" r="r" b="b"/>
            <a:pathLst>
              <a:path w="3219450" h="4160520">
                <a:moveTo>
                  <a:pt x="0" y="109538"/>
                </a:moveTo>
                <a:lnTo>
                  <a:pt x="26670" y="111443"/>
                </a:lnTo>
                <a:lnTo>
                  <a:pt x="53340" y="108586"/>
                </a:lnTo>
                <a:lnTo>
                  <a:pt x="79057" y="100966"/>
                </a:lnTo>
                <a:lnTo>
                  <a:pt x="102870" y="87630"/>
                </a:lnTo>
                <a:lnTo>
                  <a:pt x="122873" y="70486"/>
                </a:lnTo>
                <a:lnTo>
                  <a:pt x="140017" y="49530"/>
                </a:lnTo>
                <a:lnTo>
                  <a:pt x="152400" y="25718"/>
                </a:lnTo>
                <a:lnTo>
                  <a:pt x="160020" y="0"/>
                </a:lnTo>
                <a:lnTo>
                  <a:pt x="3059430" y="1131570"/>
                </a:lnTo>
                <a:lnTo>
                  <a:pt x="3056573" y="1170623"/>
                </a:lnTo>
                <a:lnTo>
                  <a:pt x="3060383" y="1209676"/>
                </a:lnTo>
                <a:lnTo>
                  <a:pt x="3072765" y="1246823"/>
                </a:lnTo>
                <a:lnTo>
                  <a:pt x="3090863" y="1281113"/>
                </a:lnTo>
                <a:lnTo>
                  <a:pt x="3116580" y="1311593"/>
                </a:lnTo>
                <a:lnTo>
                  <a:pt x="3147060" y="1336358"/>
                </a:lnTo>
                <a:lnTo>
                  <a:pt x="3181350" y="1354456"/>
                </a:lnTo>
                <a:lnTo>
                  <a:pt x="3219450" y="1364933"/>
                </a:lnTo>
                <a:lnTo>
                  <a:pt x="3219450" y="4050983"/>
                </a:lnTo>
                <a:lnTo>
                  <a:pt x="3192780" y="4049078"/>
                </a:lnTo>
                <a:lnTo>
                  <a:pt x="3166110" y="4051936"/>
                </a:lnTo>
                <a:lnTo>
                  <a:pt x="3140393" y="4059556"/>
                </a:lnTo>
                <a:lnTo>
                  <a:pt x="3116580" y="4072890"/>
                </a:lnTo>
                <a:lnTo>
                  <a:pt x="3096577" y="4090036"/>
                </a:lnTo>
                <a:lnTo>
                  <a:pt x="3079433" y="4110990"/>
                </a:lnTo>
                <a:lnTo>
                  <a:pt x="3067050" y="4134803"/>
                </a:lnTo>
                <a:lnTo>
                  <a:pt x="3059430" y="4160520"/>
                </a:lnTo>
                <a:lnTo>
                  <a:pt x="160020" y="3028950"/>
                </a:lnTo>
                <a:lnTo>
                  <a:pt x="162877" y="2989898"/>
                </a:lnTo>
                <a:lnTo>
                  <a:pt x="159067" y="2950846"/>
                </a:lnTo>
                <a:lnTo>
                  <a:pt x="146685" y="2913698"/>
                </a:lnTo>
                <a:lnTo>
                  <a:pt x="128587" y="2879408"/>
                </a:lnTo>
                <a:lnTo>
                  <a:pt x="102870" y="2848928"/>
                </a:lnTo>
                <a:lnTo>
                  <a:pt x="72390" y="2825116"/>
                </a:lnTo>
                <a:lnTo>
                  <a:pt x="38100" y="2807018"/>
                </a:lnTo>
                <a:lnTo>
                  <a:pt x="0" y="2795588"/>
                </a:lnTo>
                <a:close/>
              </a:path>
            </a:pathLst>
          </a:custGeom>
          <a:solidFill>
            <a:srgbClr val="8CB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m-card1-text"/>
          <p:cNvSpPr txBox="1"/>
          <p:nvPr/>
        </p:nvSpPr>
        <p:spPr>
          <a:xfrm rot="1260000">
            <a:off x="23081437" y="5391150"/>
            <a:ext cx="3443326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2024销量目标</a:t>
            </a:r>
          </a:p>
        </p:txBody>
      </p:sp>
      <p:sp>
        <p:nvSpPr>
          <p:cNvPr id="57" name="sm-card2-text"/>
          <p:cNvSpPr txBox="1"/>
          <p:nvPr/>
        </p:nvSpPr>
        <p:spPr>
          <a:xfrm rot="1260000">
            <a:off x="23469600" y="7658100"/>
            <a:ext cx="32385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850" b="1" i="0">
                <a:solidFill>
                  <a:srgbClr val="2F5B39"/>
                </a:solidFill>
                <a:latin typeface="Microsoft YaHei"/>
                <a:ea typeface="Microsoft YaHei"/>
                <a:cs typeface="Microsoft YaHei"/>
              </a:rPr>
              <a:t>2024年</a:t>
            </a:r>
          </a:p>
        </p:txBody>
      </p:sp>
      <p:sp>
        <p:nvSpPr>
          <p:cNvPr id="58" name="sm-card2-text2"/>
          <p:cNvSpPr txBox="1"/>
          <p:nvPr/>
        </p:nvSpPr>
        <p:spPr>
          <a:xfrm rot="1260000">
            <a:off x="23469600" y="8991600"/>
            <a:ext cx="32385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850" b="1" i="0">
                <a:solidFill>
                  <a:srgbClr val="2F5B39"/>
                </a:solidFill>
                <a:latin typeface="Microsoft YaHei"/>
                <a:ea typeface="Microsoft YaHei"/>
                <a:cs typeface="Microsoft YaHei"/>
              </a:rPr>
              <a:t>回顾总结</a:t>
            </a:r>
          </a:p>
        </p:txBody>
      </p:sp>
      <p:sp>
        <p:nvSpPr>
          <p:cNvPr id="59" name="sm-card3-text"/>
          <p:cNvSpPr txBox="1"/>
          <p:nvPr/>
        </p:nvSpPr>
        <p:spPr>
          <a:xfrm rot="1260000">
            <a:off x="23127462" y="11887200"/>
            <a:ext cx="3922776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950" b="1" i="0">
                <a:solidFill>
                  <a:srgbClr val="2F5B39"/>
                </a:solidFill>
                <a:latin typeface="Microsoft YaHei"/>
                <a:ea typeface="Microsoft YaHei"/>
                <a:cs typeface="Microsoft YaHei"/>
              </a:rPr>
              <a:t>年度工作复盘</a:t>
            </a:r>
          </a:p>
        </p:txBody>
      </p:sp>
      <p:sp>
        <p:nvSpPr>
          <p:cNvPr id="60" name="sm-card3-text2"/>
          <p:cNvSpPr txBox="1"/>
          <p:nvPr/>
        </p:nvSpPr>
        <p:spPr>
          <a:xfrm rot="1260000">
            <a:off x="23469600" y="13220700"/>
            <a:ext cx="32385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950" b="1" i="0">
                <a:solidFill>
                  <a:srgbClr val="2F5B39"/>
                </a:solidFill>
                <a:latin typeface="Microsoft YaHei"/>
                <a:ea typeface="Microsoft YaHei"/>
                <a:cs typeface="Microsoft YaHei"/>
              </a:rPr>
              <a:t>其他方面</a:t>
            </a:r>
          </a:p>
        </p:txBody>
      </p:sp>
      <p:sp>
        <p:nvSpPr>
          <p:cNvPr id="61" name="cn-1"/>
          <p:cNvSpPr/>
          <p:nvPr/>
        </p:nvSpPr>
        <p:spPr>
          <a:xfrm>
            <a:off x="19916775" y="5343525"/>
            <a:ext cx="2867025" cy="685800"/>
          </a:xfrm>
          <a:custGeom>
            <a:avLst/>
            <a:gdLst/>
            <a:ahLst/>
            <a:cxnLst/>
            <a:rect l="l" t="t" r="r" b="b"/>
            <a:pathLst>
              <a:path w="2867025" h="685800">
                <a:moveTo>
                  <a:pt x="0" y="0"/>
                </a:moveTo>
                <a:lnTo>
                  <a:pt x="1409700" y="0"/>
                </a:lnTo>
                <a:lnTo>
                  <a:pt x="1409700" y="685800"/>
                </a:lnTo>
                <a:lnTo>
                  <a:pt x="2867025" y="685800"/>
                </a:lnTo>
              </a:path>
            </a:pathLst>
          </a:cu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n-2"/>
          <p:cNvSpPr/>
          <p:nvPr/>
        </p:nvSpPr>
        <p:spPr>
          <a:xfrm>
            <a:off x="19916775" y="7943850"/>
            <a:ext cx="2867025" cy="1781175"/>
          </a:xfrm>
          <a:custGeom>
            <a:avLst/>
            <a:gdLst/>
            <a:ahLst/>
            <a:cxnLst/>
            <a:rect l="l" t="t" r="r" b="b"/>
            <a:pathLst>
              <a:path w="2867025" h="1781175">
                <a:moveTo>
                  <a:pt x="0" y="1781175"/>
                </a:moveTo>
                <a:lnTo>
                  <a:pt x="1533525" y="1781175"/>
                </a:lnTo>
                <a:lnTo>
                  <a:pt x="1533525" y="0"/>
                </a:lnTo>
                <a:lnTo>
                  <a:pt x="2867025" y="0"/>
                </a:lnTo>
              </a:path>
            </a:pathLst>
          </a:cu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n-3"/>
          <p:cNvSpPr/>
          <p:nvPr/>
        </p:nvSpPr>
        <p:spPr>
          <a:xfrm>
            <a:off x="19916775" y="11820525"/>
            <a:ext cx="2867025" cy="2038350"/>
          </a:xfrm>
          <a:custGeom>
            <a:avLst/>
            <a:gdLst/>
            <a:ahLst/>
            <a:cxnLst/>
            <a:rect l="l" t="t" r="r" b="b"/>
            <a:pathLst>
              <a:path w="2867025" h="2038350">
                <a:moveTo>
                  <a:pt x="0" y="2038350"/>
                </a:moveTo>
                <a:lnTo>
                  <a:pt x="1590675" y="2038350"/>
                </a:lnTo>
                <a:lnTo>
                  <a:pt x="1590675" y="0"/>
                </a:lnTo>
                <a:lnTo>
                  <a:pt x="2867025" y="0"/>
                </a:lnTo>
              </a:path>
            </a:pathLst>
          </a:cu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n-bus-h-1"/>
          <p:cNvCxnSpPr/>
          <p:nvPr/>
        </p:nvCxnSpPr>
        <p:spPr>
          <a:xfrm>
            <a:off x="11658600" y="5248275"/>
            <a:ext cx="876300" cy="0"/>
          </a:xfrm>
          <a:prstGeom prst="line">
            <a:avLst/>
          </a:prstGeom>
          <a:ln w="38100">
            <a:solidFill>
              <a:srgbClr val="518A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n-bus-h-2"/>
          <p:cNvCxnSpPr/>
          <p:nvPr/>
        </p:nvCxnSpPr>
        <p:spPr>
          <a:xfrm>
            <a:off x="11658600" y="7324725"/>
            <a:ext cx="876300" cy="0"/>
          </a:xfrm>
          <a:prstGeom prst="line">
            <a:avLst/>
          </a:prstGeom>
          <a:ln w="38100">
            <a:solidFill>
              <a:srgbClr val="518A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n-bus-h-3"/>
          <p:cNvCxnSpPr/>
          <p:nvPr/>
        </p:nvCxnSpPr>
        <p:spPr>
          <a:xfrm>
            <a:off x="11658600" y="9515475"/>
            <a:ext cx="876300" cy="0"/>
          </a:xfrm>
          <a:prstGeom prst="line">
            <a:avLst/>
          </a:prstGeom>
          <a:ln w="38100">
            <a:solidFill>
              <a:srgbClr val="518A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n-bus-h-4"/>
          <p:cNvCxnSpPr/>
          <p:nvPr/>
        </p:nvCxnSpPr>
        <p:spPr>
          <a:xfrm>
            <a:off x="11658600" y="11439525"/>
            <a:ext cx="876300" cy="0"/>
          </a:xfrm>
          <a:prstGeom prst="line">
            <a:avLst/>
          </a:prstGeom>
          <a:ln w="38100">
            <a:solidFill>
              <a:srgbClr val="518A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n-bus-h-5"/>
          <p:cNvCxnSpPr/>
          <p:nvPr/>
        </p:nvCxnSpPr>
        <p:spPr>
          <a:xfrm>
            <a:off x="11658600" y="13411200"/>
            <a:ext cx="876300" cy="0"/>
          </a:xfrm>
          <a:prstGeom prst="line">
            <a:avLst/>
          </a:prstGeom>
          <a:ln w="38100">
            <a:solidFill>
              <a:srgbClr val="518A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n-bus-v"/>
          <p:cNvCxnSpPr/>
          <p:nvPr/>
        </p:nvCxnSpPr>
        <p:spPr>
          <a:xfrm>
            <a:off x="12534900" y="5248275"/>
            <a:ext cx="0" cy="8162925"/>
          </a:xfrm>
          <a:prstGeom prst="line">
            <a:avLst/>
          </a:prstGeom>
          <a:ln w="38100">
            <a:solidFill>
              <a:srgbClr val="518A5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n-bus-in"/>
          <p:cNvCxnSpPr/>
          <p:nvPr/>
        </p:nvCxnSpPr>
        <p:spPr>
          <a:xfrm>
            <a:off x="12534900" y="9515475"/>
            <a:ext cx="819150" cy="0"/>
          </a:xfrm>
          <a:prstGeom prst="line">
            <a:avLst/>
          </a:prstGeom>
          <a:ln w="38100">
            <a:solidFill>
              <a:srgbClr val="518A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t-rule"/>
          <p:cNvSpPr/>
          <p:nvPr/>
        </p:nvSpPr>
        <p:spPr>
          <a:xfrm>
            <a:off x="1028700" y="16287750"/>
            <a:ext cx="28594050" cy="114300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