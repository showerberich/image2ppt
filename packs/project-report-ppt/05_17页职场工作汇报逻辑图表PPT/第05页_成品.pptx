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icon-ring"/>
          <p:cNvSpPr/>
          <p:nvPr/>
        </p:nvSpPr>
        <p:spPr>
          <a:xfrm>
            <a:off x="1238250" y="447675"/>
            <a:ext cx="1085850" cy="1085850"/>
          </a:xfrm>
          <a:prstGeom prst="ellipse">
            <a:avLst/>
          </a:prstGeom>
          <a:noFill/>
          <a:ln w="95250">
            <a:solidFill>
              <a:srgbClr val="4E8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hdr-icon-gap"/>
          <p:cNvCxnSpPr/>
          <p:nvPr/>
        </p:nvCxnSpPr>
        <p:spPr>
          <a:xfrm>
            <a:off x="2000250" y="523875"/>
            <a:ext cx="352425" cy="333375"/>
          </a:xfrm>
          <a:prstGeom prst="line">
            <a:avLst/>
          </a:prstGeom>
          <a:ln w="1714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hdr-icon-check"/>
          <p:cNvSpPr/>
          <p:nvPr/>
        </p:nvSpPr>
        <p:spPr>
          <a:xfrm>
            <a:off x="1419225" y="581025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609600"/>
                </a:moveTo>
                <a:lnTo>
                  <a:pt x="266700" y="857250"/>
                </a:lnTo>
                <a:lnTo>
                  <a:pt x="885825" y="0"/>
                </a:lnTo>
              </a:path>
            </a:pathLst>
          </a:custGeom>
          <a:noFill/>
          <a:ln w="123825">
            <a:solidFill>
              <a:srgbClr val="4E8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dr-title"/>
          <p:cNvSpPr txBox="1"/>
          <p:nvPr/>
        </p:nvSpPr>
        <p:spPr>
          <a:xfrm>
            <a:off x="2857500" y="514350"/>
            <a:ext cx="952500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850" b="1" i="0">
                <a:solidFill>
                  <a:srgbClr val="4E8858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7" name="hdr-tag"/>
          <p:cNvSpPr/>
          <p:nvPr/>
        </p:nvSpPr>
        <p:spPr>
          <a:xfrm>
            <a:off x="25317450" y="552450"/>
            <a:ext cx="4286250" cy="1028700"/>
          </a:xfrm>
          <a:prstGeom prst="roundRect">
            <a:avLst>
              <a:gd name="adj" fmla="val 3703"/>
            </a:avLst>
          </a:pr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tag-text"/>
          <p:cNvSpPr txBox="1"/>
          <p:nvPr/>
        </p:nvSpPr>
        <p:spPr>
          <a:xfrm>
            <a:off x="25317450" y="552450"/>
            <a:ext cx="4286250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9" name="hdr-rule"/>
          <p:cNvSpPr/>
          <p:nvPr/>
        </p:nvSpPr>
        <p:spPr>
          <a:xfrm>
            <a:off x="1143000" y="1771650"/>
            <a:ext cx="28460700" cy="104775"/>
          </a:xfrm>
          <a:prstGeom prst="rect">
            <a:avLst/>
          </a:pr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ame-left"/>
          <p:cNvSpPr/>
          <p:nvPr/>
        </p:nvSpPr>
        <p:spPr>
          <a:xfrm>
            <a:off x="1447800" y="2686050"/>
            <a:ext cx="18535650" cy="13830300"/>
          </a:xfrm>
          <a:prstGeom prst="rect">
            <a:avLst/>
          </a:prstGeom>
          <a:noFill/>
          <a:ln w="28575">
            <a:solidFill>
              <a:srgbClr val="6FA77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rt-title"/>
          <p:cNvSpPr txBox="1"/>
          <p:nvPr/>
        </p:nvSpPr>
        <p:spPr>
          <a:xfrm>
            <a:off x="5143500" y="3162300"/>
            <a:ext cx="109537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2020 -2025年销量增长情况</a:t>
            </a:r>
          </a:p>
        </p:txBody>
      </p:sp>
      <p:sp>
        <p:nvSpPr>
          <p:cNvPr id="12" name="yax-160"/>
          <p:cNvSpPr txBox="1"/>
          <p:nvPr/>
        </p:nvSpPr>
        <p:spPr>
          <a:xfrm>
            <a:off x="1847850" y="5173980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160</a:t>
            </a:r>
          </a:p>
        </p:txBody>
      </p:sp>
      <p:sp>
        <p:nvSpPr>
          <p:cNvPr id="13" name="yax-140"/>
          <p:cNvSpPr txBox="1"/>
          <p:nvPr/>
        </p:nvSpPr>
        <p:spPr>
          <a:xfrm>
            <a:off x="1847850" y="6208395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140</a:t>
            </a:r>
          </a:p>
        </p:txBody>
      </p:sp>
      <p:sp>
        <p:nvSpPr>
          <p:cNvPr id="14" name="yax-120"/>
          <p:cNvSpPr txBox="1"/>
          <p:nvPr/>
        </p:nvSpPr>
        <p:spPr>
          <a:xfrm>
            <a:off x="1847850" y="7242810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15" name="yax-100"/>
          <p:cNvSpPr txBox="1"/>
          <p:nvPr/>
        </p:nvSpPr>
        <p:spPr>
          <a:xfrm>
            <a:off x="1847850" y="8277225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6" name="yax-80"/>
          <p:cNvSpPr txBox="1"/>
          <p:nvPr/>
        </p:nvSpPr>
        <p:spPr>
          <a:xfrm>
            <a:off x="1847850" y="9311640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17" name="yax-60"/>
          <p:cNvSpPr txBox="1"/>
          <p:nvPr/>
        </p:nvSpPr>
        <p:spPr>
          <a:xfrm>
            <a:off x="1847850" y="10346055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8" name="yax-40"/>
          <p:cNvSpPr txBox="1"/>
          <p:nvPr/>
        </p:nvSpPr>
        <p:spPr>
          <a:xfrm>
            <a:off x="1847850" y="11380470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9" name="yax-20"/>
          <p:cNvSpPr txBox="1"/>
          <p:nvPr/>
        </p:nvSpPr>
        <p:spPr>
          <a:xfrm>
            <a:off x="1847850" y="12414885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0" name="yax-0"/>
          <p:cNvSpPr txBox="1"/>
          <p:nvPr/>
        </p:nvSpPr>
        <p:spPr>
          <a:xfrm>
            <a:off x="1847850" y="13449300"/>
            <a:ext cx="123825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3075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1" name="band-1"/>
          <p:cNvSpPr/>
          <p:nvPr/>
        </p:nvSpPr>
        <p:spPr>
          <a:xfrm>
            <a:off x="3667125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nd-2"/>
          <p:cNvSpPr/>
          <p:nvPr/>
        </p:nvSpPr>
        <p:spPr>
          <a:xfrm>
            <a:off x="4600004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nd-3"/>
          <p:cNvSpPr/>
          <p:nvPr/>
        </p:nvSpPr>
        <p:spPr>
          <a:xfrm>
            <a:off x="5532882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nd-4"/>
          <p:cNvSpPr/>
          <p:nvPr/>
        </p:nvSpPr>
        <p:spPr>
          <a:xfrm>
            <a:off x="6465760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nd-5"/>
          <p:cNvSpPr/>
          <p:nvPr/>
        </p:nvSpPr>
        <p:spPr>
          <a:xfrm>
            <a:off x="7398639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nd-6"/>
          <p:cNvSpPr/>
          <p:nvPr/>
        </p:nvSpPr>
        <p:spPr>
          <a:xfrm>
            <a:off x="8331518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nd-7"/>
          <p:cNvSpPr/>
          <p:nvPr/>
        </p:nvSpPr>
        <p:spPr>
          <a:xfrm>
            <a:off x="9264396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nd-8"/>
          <p:cNvSpPr/>
          <p:nvPr/>
        </p:nvSpPr>
        <p:spPr>
          <a:xfrm>
            <a:off x="10197274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nd-9"/>
          <p:cNvSpPr/>
          <p:nvPr/>
        </p:nvSpPr>
        <p:spPr>
          <a:xfrm>
            <a:off x="11130153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nd-10"/>
          <p:cNvSpPr/>
          <p:nvPr/>
        </p:nvSpPr>
        <p:spPr>
          <a:xfrm>
            <a:off x="12063032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and-11"/>
          <p:cNvSpPr/>
          <p:nvPr/>
        </p:nvSpPr>
        <p:spPr>
          <a:xfrm>
            <a:off x="12995910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and-12"/>
          <p:cNvSpPr/>
          <p:nvPr/>
        </p:nvSpPr>
        <p:spPr>
          <a:xfrm>
            <a:off x="13928788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and-13"/>
          <p:cNvSpPr/>
          <p:nvPr/>
        </p:nvSpPr>
        <p:spPr>
          <a:xfrm>
            <a:off x="14861667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and-14"/>
          <p:cNvSpPr/>
          <p:nvPr/>
        </p:nvSpPr>
        <p:spPr>
          <a:xfrm>
            <a:off x="15794546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and-15"/>
          <p:cNvSpPr/>
          <p:nvPr/>
        </p:nvSpPr>
        <p:spPr>
          <a:xfrm>
            <a:off x="16727424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nd-16"/>
          <p:cNvSpPr/>
          <p:nvPr/>
        </p:nvSpPr>
        <p:spPr>
          <a:xfrm>
            <a:off x="17660302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nd-17"/>
          <p:cNvSpPr/>
          <p:nvPr/>
        </p:nvSpPr>
        <p:spPr>
          <a:xfrm>
            <a:off x="18593181" y="5572125"/>
            <a:ext cx="628650" cy="80581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-1"/>
          <p:cNvSpPr/>
          <p:nvPr/>
        </p:nvSpPr>
        <p:spPr>
          <a:xfrm>
            <a:off x="3552825" y="13371671"/>
            <a:ext cx="628650" cy="258604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val-1"/>
          <p:cNvSpPr txBox="1"/>
          <p:nvPr/>
        </p:nvSpPr>
        <p:spPr>
          <a:xfrm>
            <a:off x="3295650" y="12800171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0" name="xlab-1"/>
          <p:cNvSpPr txBox="1"/>
          <p:nvPr/>
        </p:nvSpPr>
        <p:spPr>
          <a:xfrm rot="18120000">
            <a:off x="2438400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</a:t>
            </a:r>
          </a:p>
        </p:txBody>
      </p:sp>
      <p:sp>
        <p:nvSpPr>
          <p:cNvPr id="41" name="bar-2"/>
          <p:cNvSpPr/>
          <p:nvPr/>
        </p:nvSpPr>
        <p:spPr>
          <a:xfrm>
            <a:off x="4485704" y="13164788"/>
            <a:ext cx="628650" cy="465487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arval-2"/>
          <p:cNvSpPr txBox="1"/>
          <p:nvPr/>
        </p:nvSpPr>
        <p:spPr>
          <a:xfrm>
            <a:off x="4228528" y="12593288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3" name="xlab-2"/>
          <p:cNvSpPr txBox="1"/>
          <p:nvPr/>
        </p:nvSpPr>
        <p:spPr>
          <a:xfrm rot="18120000">
            <a:off x="3371278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类别2</a:t>
            </a:r>
          </a:p>
        </p:txBody>
      </p:sp>
      <p:sp>
        <p:nvSpPr>
          <p:cNvPr id="44" name="bar-3"/>
          <p:cNvSpPr/>
          <p:nvPr/>
        </p:nvSpPr>
        <p:spPr>
          <a:xfrm>
            <a:off x="5418582" y="13009626"/>
            <a:ext cx="628650" cy="620649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arval-3"/>
          <p:cNvSpPr txBox="1"/>
          <p:nvPr/>
        </p:nvSpPr>
        <p:spPr>
          <a:xfrm>
            <a:off x="5161407" y="12438126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6" name="xlab-3"/>
          <p:cNvSpPr txBox="1"/>
          <p:nvPr/>
        </p:nvSpPr>
        <p:spPr>
          <a:xfrm rot="18120000">
            <a:off x="4304157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类别3</a:t>
            </a:r>
          </a:p>
        </p:txBody>
      </p:sp>
      <p:sp>
        <p:nvSpPr>
          <p:cNvPr id="47" name="bar-4"/>
          <p:cNvSpPr/>
          <p:nvPr/>
        </p:nvSpPr>
        <p:spPr>
          <a:xfrm>
            <a:off x="6351460" y="12957905"/>
            <a:ext cx="628650" cy="672370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arval-4"/>
          <p:cNvSpPr txBox="1"/>
          <p:nvPr/>
        </p:nvSpPr>
        <p:spPr>
          <a:xfrm>
            <a:off x="6094285" y="12386405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9" name="xlab-4"/>
          <p:cNvSpPr txBox="1"/>
          <p:nvPr/>
        </p:nvSpPr>
        <p:spPr>
          <a:xfrm rot="18120000">
            <a:off x="5237035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类别4</a:t>
            </a:r>
          </a:p>
        </p:txBody>
      </p:sp>
      <p:sp>
        <p:nvSpPr>
          <p:cNvPr id="50" name="bar-5"/>
          <p:cNvSpPr/>
          <p:nvPr/>
        </p:nvSpPr>
        <p:spPr>
          <a:xfrm>
            <a:off x="7284339" y="12957905"/>
            <a:ext cx="628650" cy="672370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arval-5"/>
          <p:cNvSpPr txBox="1"/>
          <p:nvPr/>
        </p:nvSpPr>
        <p:spPr>
          <a:xfrm>
            <a:off x="7027164" y="12386405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2" name="xlab-5"/>
          <p:cNvSpPr txBox="1"/>
          <p:nvPr/>
        </p:nvSpPr>
        <p:spPr>
          <a:xfrm rot="18120000">
            <a:off x="6169914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类别5</a:t>
            </a:r>
          </a:p>
        </p:txBody>
      </p:sp>
      <p:sp>
        <p:nvSpPr>
          <p:cNvPr id="53" name="bar-6"/>
          <p:cNvSpPr/>
          <p:nvPr/>
        </p:nvSpPr>
        <p:spPr>
          <a:xfrm>
            <a:off x="8217218" y="12854464"/>
            <a:ext cx="628650" cy="775811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arval-6"/>
          <p:cNvSpPr txBox="1"/>
          <p:nvPr/>
        </p:nvSpPr>
        <p:spPr>
          <a:xfrm>
            <a:off x="7960042" y="12282964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5" name="xlab-6"/>
          <p:cNvSpPr txBox="1"/>
          <p:nvPr/>
        </p:nvSpPr>
        <p:spPr>
          <a:xfrm rot="18120000">
            <a:off x="7102792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类别6</a:t>
            </a:r>
          </a:p>
        </p:txBody>
      </p:sp>
      <p:sp>
        <p:nvSpPr>
          <p:cNvPr id="56" name="bar-7"/>
          <p:cNvSpPr/>
          <p:nvPr/>
        </p:nvSpPr>
        <p:spPr>
          <a:xfrm>
            <a:off x="9150096" y="12595860"/>
            <a:ext cx="628650" cy="1034415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rval-7"/>
          <p:cNvSpPr txBox="1"/>
          <p:nvPr/>
        </p:nvSpPr>
        <p:spPr>
          <a:xfrm>
            <a:off x="8892921" y="12024360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8" name="xlab-7"/>
          <p:cNvSpPr txBox="1"/>
          <p:nvPr/>
        </p:nvSpPr>
        <p:spPr>
          <a:xfrm rot="18120000">
            <a:off x="8035671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类别7</a:t>
            </a:r>
          </a:p>
        </p:txBody>
      </p:sp>
      <p:sp>
        <p:nvSpPr>
          <p:cNvPr id="59" name="bar-8"/>
          <p:cNvSpPr/>
          <p:nvPr/>
        </p:nvSpPr>
        <p:spPr>
          <a:xfrm>
            <a:off x="10082974" y="12285536"/>
            <a:ext cx="628650" cy="1344740"/>
          </a:xfrm>
          <a:prstGeom prst="rect">
            <a:avLst/>
          </a:pr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arval-8"/>
          <p:cNvSpPr txBox="1"/>
          <p:nvPr/>
        </p:nvSpPr>
        <p:spPr>
          <a:xfrm>
            <a:off x="9825800" y="11714036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1" name="xlab-8"/>
          <p:cNvSpPr txBox="1"/>
          <p:nvPr/>
        </p:nvSpPr>
        <p:spPr>
          <a:xfrm rot="18120000">
            <a:off x="8968550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类别8</a:t>
            </a:r>
          </a:p>
        </p:txBody>
      </p:sp>
      <p:sp>
        <p:nvSpPr>
          <p:cNvPr id="62" name="bar-9"/>
          <p:cNvSpPr/>
          <p:nvPr/>
        </p:nvSpPr>
        <p:spPr>
          <a:xfrm>
            <a:off x="11015853" y="12078652"/>
            <a:ext cx="628650" cy="1551623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arval-9"/>
          <p:cNvSpPr txBox="1"/>
          <p:nvPr/>
        </p:nvSpPr>
        <p:spPr>
          <a:xfrm>
            <a:off x="10758678" y="11507152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4" name="xlab-9"/>
          <p:cNvSpPr txBox="1"/>
          <p:nvPr/>
        </p:nvSpPr>
        <p:spPr>
          <a:xfrm rot="18120000">
            <a:off x="9901428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类别9</a:t>
            </a:r>
          </a:p>
        </p:txBody>
      </p:sp>
      <p:sp>
        <p:nvSpPr>
          <p:cNvPr id="65" name="bar-10"/>
          <p:cNvSpPr/>
          <p:nvPr/>
        </p:nvSpPr>
        <p:spPr>
          <a:xfrm>
            <a:off x="11948732" y="11561445"/>
            <a:ext cx="628650" cy="2068830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arval-10"/>
          <p:cNvSpPr txBox="1"/>
          <p:nvPr/>
        </p:nvSpPr>
        <p:spPr>
          <a:xfrm>
            <a:off x="11691556" y="10989945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7" name="xlab-10"/>
          <p:cNvSpPr txBox="1"/>
          <p:nvPr/>
        </p:nvSpPr>
        <p:spPr>
          <a:xfrm rot="18120000">
            <a:off x="10834306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类别10</a:t>
            </a:r>
          </a:p>
        </p:txBody>
      </p:sp>
      <p:sp>
        <p:nvSpPr>
          <p:cNvPr id="68" name="bar-11"/>
          <p:cNvSpPr/>
          <p:nvPr/>
        </p:nvSpPr>
        <p:spPr>
          <a:xfrm>
            <a:off x="12881610" y="11095958"/>
            <a:ext cx="628650" cy="2534317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arval-11"/>
          <p:cNvSpPr txBox="1"/>
          <p:nvPr/>
        </p:nvSpPr>
        <p:spPr>
          <a:xfrm>
            <a:off x="12624435" y="10524458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70" name="xlab-11"/>
          <p:cNvSpPr txBox="1"/>
          <p:nvPr/>
        </p:nvSpPr>
        <p:spPr>
          <a:xfrm rot="18120000">
            <a:off x="11767185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类别11</a:t>
            </a:r>
          </a:p>
        </p:txBody>
      </p:sp>
      <p:sp>
        <p:nvSpPr>
          <p:cNvPr id="71" name="bar-12"/>
          <p:cNvSpPr/>
          <p:nvPr/>
        </p:nvSpPr>
        <p:spPr>
          <a:xfrm>
            <a:off x="13814488" y="10268426"/>
            <a:ext cx="628650" cy="3361849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arval-12"/>
          <p:cNvSpPr txBox="1"/>
          <p:nvPr/>
        </p:nvSpPr>
        <p:spPr>
          <a:xfrm>
            <a:off x="13557314" y="9696926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73" name="xlab-12"/>
          <p:cNvSpPr txBox="1"/>
          <p:nvPr/>
        </p:nvSpPr>
        <p:spPr>
          <a:xfrm rot="18120000">
            <a:off x="12700064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类别12</a:t>
            </a:r>
          </a:p>
        </p:txBody>
      </p:sp>
      <p:sp>
        <p:nvSpPr>
          <p:cNvPr id="74" name="bar-13"/>
          <p:cNvSpPr/>
          <p:nvPr/>
        </p:nvSpPr>
        <p:spPr>
          <a:xfrm>
            <a:off x="14747367" y="9906381"/>
            <a:ext cx="628650" cy="3723894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barval-13"/>
          <p:cNvSpPr txBox="1"/>
          <p:nvPr/>
        </p:nvSpPr>
        <p:spPr>
          <a:xfrm>
            <a:off x="14490192" y="9334881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76" name="xlab-13"/>
          <p:cNvSpPr txBox="1"/>
          <p:nvPr/>
        </p:nvSpPr>
        <p:spPr>
          <a:xfrm rot="18120000">
            <a:off x="13632942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类别13</a:t>
            </a:r>
          </a:p>
        </p:txBody>
      </p:sp>
      <p:sp>
        <p:nvSpPr>
          <p:cNvPr id="77" name="bar-14"/>
          <p:cNvSpPr/>
          <p:nvPr/>
        </p:nvSpPr>
        <p:spPr>
          <a:xfrm>
            <a:off x="15680246" y="9389174"/>
            <a:ext cx="628650" cy="4241102"/>
          </a:xfrm>
          <a:prstGeom prst="rect">
            <a:avLst/>
          </a:pr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barval-14"/>
          <p:cNvSpPr txBox="1"/>
          <p:nvPr/>
        </p:nvSpPr>
        <p:spPr>
          <a:xfrm>
            <a:off x="15423070" y="8817674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79" name="xlab-14"/>
          <p:cNvSpPr txBox="1"/>
          <p:nvPr/>
        </p:nvSpPr>
        <p:spPr>
          <a:xfrm rot="18120000">
            <a:off x="14565820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类别14</a:t>
            </a:r>
          </a:p>
        </p:txBody>
      </p:sp>
      <p:sp>
        <p:nvSpPr>
          <p:cNvPr id="80" name="bar-15"/>
          <p:cNvSpPr/>
          <p:nvPr/>
        </p:nvSpPr>
        <p:spPr>
          <a:xfrm>
            <a:off x="16613124" y="8975408"/>
            <a:ext cx="628650" cy="4654868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arval-15"/>
          <p:cNvSpPr txBox="1"/>
          <p:nvPr/>
        </p:nvSpPr>
        <p:spPr>
          <a:xfrm>
            <a:off x="16355949" y="8403908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82" name="xlab-15"/>
          <p:cNvSpPr txBox="1"/>
          <p:nvPr/>
        </p:nvSpPr>
        <p:spPr>
          <a:xfrm rot="18120000">
            <a:off x="15498699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类别15</a:t>
            </a:r>
          </a:p>
        </p:txBody>
      </p:sp>
      <p:sp>
        <p:nvSpPr>
          <p:cNvPr id="83" name="bar-16"/>
          <p:cNvSpPr/>
          <p:nvPr/>
        </p:nvSpPr>
        <p:spPr>
          <a:xfrm>
            <a:off x="17546002" y="7940992"/>
            <a:ext cx="628650" cy="5689282"/>
          </a:xfrm>
          <a:prstGeom prst="rect">
            <a:avLst/>
          </a:prstGeom>
          <a:solidFill>
            <a:srgbClr val="D9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arval-16"/>
          <p:cNvSpPr txBox="1"/>
          <p:nvPr/>
        </p:nvSpPr>
        <p:spPr>
          <a:xfrm>
            <a:off x="17288828" y="7369492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85" name="xlab-16"/>
          <p:cNvSpPr txBox="1"/>
          <p:nvPr/>
        </p:nvSpPr>
        <p:spPr>
          <a:xfrm rot="18120000">
            <a:off x="16431578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类别16</a:t>
            </a:r>
          </a:p>
        </p:txBody>
      </p:sp>
      <p:sp>
        <p:nvSpPr>
          <p:cNvPr id="86" name="bar-17"/>
          <p:cNvSpPr/>
          <p:nvPr/>
        </p:nvSpPr>
        <p:spPr>
          <a:xfrm>
            <a:off x="18478881" y="6699694"/>
            <a:ext cx="628650" cy="6930580"/>
          </a:xfrm>
          <a:prstGeom prst="rect">
            <a:avLst/>
          </a:pr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arval-17"/>
          <p:cNvSpPr txBox="1"/>
          <p:nvPr/>
        </p:nvSpPr>
        <p:spPr>
          <a:xfrm>
            <a:off x="18221706" y="6128194"/>
            <a:ext cx="1143000" cy="495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134</a:t>
            </a:r>
          </a:p>
        </p:txBody>
      </p:sp>
      <p:sp>
        <p:nvSpPr>
          <p:cNvPr id="88" name="xlab-17"/>
          <p:cNvSpPr txBox="1"/>
          <p:nvPr/>
        </p:nvSpPr>
        <p:spPr>
          <a:xfrm rot="18120000">
            <a:off x="17364456" y="14554200"/>
            <a:ext cx="2571750" cy="704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4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类别17</a:t>
            </a:r>
          </a:p>
        </p:txBody>
      </p:sp>
      <p:sp>
        <p:nvSpPr>
          <p:cNvPr id="89" name="goal-bubble"/>
          <p:cNvSpPr/>
          <p:nvPr/>
        </p:nvSpPr>
        <p:spPr>
          <a:xfrm>
            <a:off x="5619750" y="5334000"/>
            <a:ext cx="3714750" cy="3924300"/>
          </a:xfrm>
          <a:prstGeom prst="ellipse">
            <a:avLst/>
          </a:pr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goal-num"/>
          <p:cNvSpPr txBox="1"/>
          <p:nvPr/>
        </p:nvSpPr>
        <p:spPr>
          <a:xfrm>
            <a:off x="6143625" y="5867400"/>
            <a:ext cx="266700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91" name="goal-cap"/>
          <p:cNvSpPr txBox="1"/>
          <p:nvPr/>
        </p:nvSpPr>
        <p:spPr>
          <a:xfrm>
            <a:off x="5953125" y="6915150"/>
            <a:ext cx="30480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实现目标</a:t>
            </a:r>
          </a:p>
        </p:txBody>
      </p:sp>
      <p:sp>
        <p:nvSpPr>
          <p:cNvPr id="92" name="arrow-shaft"/>
          <p:cNvSpPr/>
          <p:nvPr/>
        </p:nvSpPr>
        <p:spPr>
          <a:xfrm>
            <a:off x="6057900" y="8382000"/>
            <a:ext cx="8086725" cy="3714750"/>
          </a:xfrm>
          <a:custGeom>
            <a:avLst/>
            <a:gdLst/>
            <a:ahLst/>
            <a:cxnLst/>
            <a:rect l="l" t="t" r="r" b="b"/>
            <a:pathLst>
              <a:path w="8086725" h="3714750">
                <a:moveTo>
                  <a:pt x="0" y="3714750"/>
                </a:moveTo>
                <a:lnTo>
                  <a:pt x="828675" y="3429000"/>
                </a:lnTo>
                <a:lnTo>
                  <a:pt x="1400175" y="3286125"/>
                </a:lnTo>
                <a:lnTo>
                  <a:pt x="1828800" y="3143250"/>
                </a:lnTo>
                <a:lnTo>
                  <a:pt x="2200275" y="3000375"/>
                </a:lnTo>
                <a:lnTo>
                  <a:pt x="2543175" y="2857500"/>
                </a:lnTo>
                <a:lnTo>
                  <a:pt x="2857500" y="2714625"/>
                </a:lnTo>
                <a:lnTo>
                  <a:pt x="3114675" y="2571750"/>
                </a:lnTo>
                <a:lnTo>
                  <a:pt x="3400425" y="2428875"/>
                </a:lnTo>
                <a:lnTo>
                  <a:pt x="3629025" y="2286000"/>
                </a:lnTo>
                <a:lnTo>
                  <a:pt x="3886200" y="2143125"/>
                </a:lnTo>
                <a:lnTo>
                  <a:pt x="4086225" y="2000250"/>
                </a:lnTo>
                <a:lnTo>
                  <a:pt x="4314825" y="1857375"/>
                </a:lnTo>
                <a:lnTo>
                  <a:pt x="4514850" y="1714500"/>
                </a:lnTo>
                <a:lnTo>
                  <a:pt x="4714875" y="1571625"/>
                </a:lnTo>
                <a:lnTo>
                  <a:pt x="4914900" y="1428750"/>
                </a:lnTo>
                <a:lnTo>
                  <a:pt x="5086350" y="1285875"/>
                </a:lnTo>
                <a:lnTo>
                  <a:pt x="5286375" y="1143000"/>
                </a:lnTo>
                <a:lnTo>
                  <a:pt x="5457825" y="1000125"/>
                </a:lnTo>
                <a:lnTo>
                  <a:pt x="5629275" y="857250"/>
                </a:lnTo>
                <a:lnTo>
                  <a:pt x="5800725" y="714375"/>
                </a:lnTo>
                <a:lnTo>
                  <a:pt x="5943600" y="571500"/>
                </a:lnTo>
                <a:lnTo>
                  <a:pt x="6115050" y="428625"/>
                </a:lnTo>
                <a:lnTo>
                  <a:pt x="6257925" y="285750"/>
                </a:lnTo>
                <a:lnTo>
                  <a:pt x="6429375" y="142875"/>
                </a:lnTo>
                <a:lnTo>
                  <a:pt x="6572250" y="0"/>
                </a:lnTo>
                <a:lnTo>
                  <a:pt x="8086725" y="0"/>
                </a:lnTo>
                <a:lnTo>
                  <a:pt x="7915275" y="142875"/>
                </a:lnTo>
                <a:lnTo>
                  <a:pt x="7772400" y="285750"/>
                </a:lnTo>
                <a:lnTo>
                  <a:pt x="7600950" y="428625"/>
                </a:lnTo>
                <a:lnTo>
                  <a:pt x="7429500" y="571500"/>
                </a:lnTo>
                <a:lnTo>
                  <a:pt x="7286625" y="714375"/>
                </a:lnTo>
                <a:lnTo>
                  <a:pt x="7115175" y="857250"/>
                </a:lnTo>
                <a:lnTo>
                  <a:pt x="6943725" y="1000125"/>
                </a:lnTo>
                <a:lnTo>
                  <a:pt x="6743700" y="1143000"/>
                </a:lnTo>
                <a:lnTo>
                  <a:pt x="6572250" y="1285875"/>
                </a:lnTo>
                <a:lnTo>
                  <a:pt x="6400800" y="1428750"/>
                </a:lnTo>
                <a:lnTo>
                  <a:pt x="6200775" y="1571625"/>
                </a:lnTo>
                <a:lnTo>
                  <a:pt x="6029325" y="1714500"/>
                </a:lnTo>
                <a:lnTo>
                  <a:pt x="5829300" y="1857375"/>
                </a:lnTo>
                <a:lnTo>
                  <a:pt x="5600700" y="2000250"/>
                </a:lnTo>
                <a:lnTo>
                  <a:pt x="5400675" y="2143125"/>
                </a:lnTo>
                <a:lnTo>
                  <a:pt x="5172075" y="2286000"/>
                </a:lnTo>
                <a:lnTo>
                  <a:pt x="4943475" y="2428875"/>
                </a:lnTo>
                <a:lnTo>
                  <a:pt x="4714875" y="2571750"/>
                </a:lnTo>
                <a:lnTo>
                  <a:pt x="4457700" y="2714625"/>
                </a:lnTo>
                <a:lnTo>
                  <a:pt x="4200525" y="2857500"/>
                </a:lnTo>
                <a:lnTo>
                  <a:pt x="3914775" y="3000375"/>
                </a:lnTo>
                <a:lnTo>
                  <a:pt x="3600450" y="3143250"/>
                </a:lnTo>
                <a:lnTo>
                  <a:pt x="3257550" y="3286125"/>
                </a:lnTo>
                <a:lnTo>
                  <a:pt x="2886075" y="3429000"/>
                </a:lnTo>
                <a:lnTo>
                  <a:pt x="2428875" y="3571875"/>
                </a:lnTo>
                <a:lnTo>
                  <a:pt x="1828800" y="3714750"/>
                </a:lnTo>
                <a:close/>
              </a:path>
            </a:pathLst>
          </a:cu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arrow-head"/>
          <p:cNvSpPr/>
          <p:nvPr/>
        </p:nvSpPr>
        <p:spPr>
          <a:xfrm>
            <a:off x="13525500" y="6248400"/>
            <a:ext cx="2057400" cy="1943100"/>
          </a:xfrm>
          <a:custGeom>
            <a:avLst/>
            <a:gdLst/>
            <a:ahLst/>
            <a:cxnLst/>
            <a:rect l="l" t="t" r="r" b="b"/>
            <a:pathLst>
              <a:path w="2057400" h="1943100">
                <a:moveTo>
                  <a:pt x="133350" y="0"/>
                </a:moveTo>
                <a:lnTo>
                  <a:pt x="2057400" y="0"/>
                </a:lnTo>
                <a:lnTo>
                  <a:pt x="1962150" y="1466850"/>
                </a:lnTo>
                <a:lnTo>
                  <a:pt x="1619250" y="1943100"/>
                </a:lnTo>
                <a:lnTo>
                  <a:pt x="1257300" y="1371600"/>
                </a:lnTo>
                <a:lnTo>
                  <a:pt x="0" y="533400"/>
                </a:lnTo>
                <a:lnTo>
                  <a:pt x="495300" y="438150"/>
                </a:lnTo>
                <a:close/>
              </a:path>
            </a:pathLst>
          </a:cu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ame-right"/>
          <p:cNvSpPr/>
          <p:nvPr/>
        </p:nvSpPr>
        <p:spPr>
          <a:xfrm>
            <a:off x="20916900" y="6438900"/>
            <a:ext cx="8591550" cy="9486900"/>
          </a:xfrm>
          <a:prstGeom prst="rect">
            <a:avLst/>
          </a:prstGeom>
          <a:noFill/>
          <a:ln w="28575">
            <a:solidFill>
              <a:srgbClr val="6FA77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bubble-tail"/>
          <p:cNvSpPr/>
          <p:nvPr/>
        </p:nvSpPr>
        <p:spPr>
          <a:xfrm>
            <a:off x="22040850" y="5105400"/>
            <a:ext cx="438150" cy="838200"/>
          </a:xfrm>
          <a:prstGeom prst="rect">
            <a:avLst/>
          </a:pr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bubble"/>
          <p:cNvSpPr/>
          <p:nvPr/>
        </p:nvSpPr>
        <p:spPr>
          <a:xfrm>
            <a:off x="20916900" y="2781300"/>
            <a:ext cx="8305800" cy="2667000"/>
          </a:xfrm>
          <a:prstGeom prst="roundRect">
            <a:avLst>
              <a:gd name="adj" fmla="val 21428"/>
            </a:avLst>
          </a:prstGeom>
          <a:solidFill>
            <a:srgbClr val="4E8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b-year"/>
          <p:cNvSpPr txBox="1"/>
          <p:nvPr/>
        </p:nvSpPr>
        <p:spPr>
          <a:xfrm>
            <a:off x="22288500" y="3028950"/>
            <a:ext cx="4000500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2025年</a:t>
            </a:r>
          </a:p>
        </p:txBody>
      </p:sp>
      <p:sp>
        <p:nvSpPr>
          <p:cNvPr id="98" name="rb-line2"/>
          <p:cNvSpPr txBox="1"/>
          <p:nvPr/>
        </p:nvSpPr>
        <p:spPr>
          <a:xfrm>
            <a:off x="22288500" y="4076700"/>
            <a:ext cx="66675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平台各项业务数据表</a:t>
            </a:r>
          </a:p>
        </p:txBody>
      </p:sp>
      <p:sp>
        <p:nvSpPr>
          <p:cNvPr id="99" name="rb-line3"/>
          <p:cNvSpPr txBox="1"/>
          <p:nvPr/>
        </p:nvSpPr>
        <p:spPr>
          <a:xfrm>
            <a:off x="22288500" y="4686300"/>
            <a:ext cx="1143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</a:t>
            </a:r>
          </a:p>
        </p:txBody>
      </p:sp>
      <p:sp>
        <p:nvSpPr>
          <p:cNvPr id="100" name="rtitle"/>
          <p:cNvSpPr txBox="1"/>
          <p:nvPr/>
        </p:nvSpPr>
        <p:spPr>
          <a:xfrm>
            <a:off x="21655248" y="6553200"/>
            <a:ext cx="8124505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4E8858"/>
                </a:solidFill>
                <a:latin typeface="Microsoft YaHei"/>
                <a:ea typeface="Microsoft YaHei"/>
                <a:cs typeface="Microsoft YaHei"/>
              </a:rPr>
              <a:t>2025年销量构成情况</a:t>
            </a:r>
          </a:p>
        </p:txBody>
      </p:sp>
      <p:sp>
        <p:nvSpPr>
          <p:cNvPr id="101" name="donut-navy"/>
          <p:cNvSpPr/>
          <p:nvPr/>
        </p:nvSpPr>
        <p:spPr>
          <a:xfrm>
            <a:off x="21422018" y="8525890"/>
            <a:ext cx="1863958" cy="3832873"/>
          </a:xfrm>
          <a:custGeom>
            <a:avLst/>
            <a:gdLst/>
            <a:ahLst/>
            <a:cxnLst/>
            <a:rect l="l" t="t" r="r" b="b"/>
            <a:pathLst>
              <a:path w="1863958" h="3832873">
                <a:moveTo>
                  <a:pt x="1789542" y="3832873"/>
                </a:moveTo>
                <a:lnTo>
                  <a:pt x="1694830" y="3823892"/>
                </a:lnTo>
                <a:lnTo>
                  <a:pt x="1600678" y="3810241"/>
                </a:lnTo>
                <a:lnTo>
                  <a:pt x="1507316" y="3791952"/>
                </a:lnTo>
                <a:lnTo>
                  <a:pt x="1414972" y="3769071"/>
                </a:lnTo>
                <a:lnTo>
                  <a:pt x="1323872" y="3741653"/>
                </a:lnTo>
                <a:lnTo>
                  <a:pt x="1234239" y="3709765"/>
                </a:lnTo>
                <a:lnTo>
                  <a:pt x="1146292" y="3673486"/>
                </a:lnTo>
                <a:lnTo>
                  <a:pt x="1060245" y="3632904"/>
                </a:lnTo>
                <a:lnTo>
                  <a:pt x="976309" y="3588118"/>
                </a:lnTo>
                <a:lnTo>
                  <a:pt x="894690" y="3539238"/>
                </a:lnTo>
                <a:lnTo>
                  <a:pt x="815587" y="3486383"/>
                </a:lnTo>
                <a:lnTo>
                  <a:pt x="739194" y="3429682"/>
                </a:lnTo>
                <a:lnTo>
                  <a:pt x="665696" y="3369275"/>
                </a:lnTo>
                <a:lnTo>
                  <a:pt x="595274" y="3305308"/>
                </a:lnTo>
                <a:lnTo>
                  <a:pt x="528100" y="3237939"/>
                </a:lnTo>
                <a:lnTo>
                  <a:pt x="464339" y="3167331"/>
                </a:lnTo>
                <a:lnTo>
                  <a:pt x="404146" y="3093658"/>
                </a:lnTo>
                <a:lnTo>
                  <a:pt x="347668" y="3017100"/>
                </a:lnTo>
                <a:lnTo>
                  <a:pt x="295043" y="2937843"/>
                </a:lnTo>
                <a:lnTo>
                  <a:pt x="246400" y="2856082"/>
                </a:lnTo>
                <a:lnTo>
                  <a:pt x="201859" y="2772017"/>
                </a:lnTo>
                <a:lnTo>
                  <a:pt x="161527" y="2685853"/>
                </a:lnTo>
                <a:lnTo>
                  <a:pt x="125503" y="2597800"/>
                </a:lnTo>
                <a:lnTo>
                  <a:pt x="93877" y="2508074"/>
                </a:lnTo>
                <a:lnTo>
                  <a:pt x="66724" y="2416895"/>
                </a:lnTo>
                <a:lnTo>
                  <a:pt x="44111" y="2324485"/>
                </a:lnTo>
                <a:lnTo>
                  <a:pt x="26094" y="2231070"/>
                </a:lnTo>
                <a:lnTo>
                  <a:pt x="12717" y="2136879"/>
                </a:lnTo>
                <a:lnTo>
                  <a:pt x="4012" y="2042141"/>
                </a:lnTo>
                <a:lnTo>
                  <a:pt x="0" y="1947089"/>
                </a:lnTo>
                <a:lnTo>
                  <a:pt x="692" y="1851955"/>
                </a:lnTo>
                <a:lnTo>
                  <a:pt x="6085" y="1756972"/>
                </a:lnTo>
                <a:lnTo>
                  <a:pt x="16168" y="1662371"/>
                </a:lnTo>
                <a:lnTo>
                  <a:pt x="30913" y="1568384"/>
                </a:lnTo>
                <a:lnTo>
                  <a:pt x="50287" y="1475241"/>
                </a:lnTo>
                <a:lnTo>
                  <a:pt x="74241" y="1383170"/>
                </a:lnTo>
                <a:lnTo>
                  <a:pt x="102718" y="1292395"/>
                </a:lnTo>
                <a:lnTo>
                  <a:pt x="135646" y="1203139"/>
                </a:lnTo>
                <a:lnTo>
                  <a:pt x="172946" y="1115619"/>
                </a:lnTo>
                <a:lnTo>
                  <a:pt x="214527" y="1030051"/>
                </a:lnTo>
                <a:lnTo>
                  <a:pt x="260286" y="946642"/>
                </a:lnTo>
                <a:lnTo>
                  <a:pt x="310113" y="865597"/>
                </a:lnTo>
                <a:lnTo>
                  <a:pt x="363885" y="787114"/>
                </a:lnTo>
                <a:lnTo>
                  <a:pt x="421470" y="711386"/>
                </a:lnTo>
                <a:lnTo>
                  <a:pt x="482729" y="638596"/>
                </a:lnTo>
                <a:lnTo>
                  <a:pt x="547510" y="568923"/>
                </a:lnTo>
                <a:lnTo>
                  <a:pt x="615657" y="502538"/>
                </a:lnTo>
                <a:lnTo>
                  <a:pt x="687001" y="439602"/>
                </a:lnTo>
                <a:lnTo>
                  <a:pt x="761370" y="380270"/>
                </a:lnTo>
                <a:lnTo>
                  <a:pt x="838580" y="324687"/>
                </a:lnTo>
                <a:lnTo>
                  <a:pt x="918444" y="272988"/>
                </a:lnTo>
                <a:lnTo>
                  <a:pt x="1000765" y="225300"/>
                </a:lnTo>
                <a:lnTo>
                  <a:pt x="1085343" y="181739"/>
                </a:lnTo>
                <a:lnTo>
                  <a:pt x="1171971" y="142413"/>
                </a:lnTo>
                <a:lnTo>
                  <a:pt x="1260437" y="107416"/>
                </a:lnTo>
                <a:lnTo>
                  <a:pt x="1350524" y="76836"/>
                </a:lnTo>
                <a:lnTo>
                  <a:pt x="1442013" y="50746"/>
                </a:lnTo>
                <a:lnTo>
                  <a:pt x="1534680" y="29210"/>
                </a:lnTo>
                <a:lnTo>
                  <a:pt x="1628298" y="12281"/>
                </a:lnTo>
                <a:lnTo>
                  <a:pt x="1722639" y="0"/>
                </a:lnTo>
                <a:lnTo>
                  <a:pt x="1834150" y="1060956"/>
                </a:lnTo>
                <a:lnTo>
                  <a:pt x="1792117" y="1066428"/>
                </a:lnTo>
                <a:lnTo>
                  <a:pt x="1750406" y="1073970"/>
                </a:lnTo>
                <a:lnTo>
                  <a:pt x="1709119" y="1083565"/>
                </a:lnTo>
                <a:lnTo>
                  <a:pt x="1668356" y="1095190"/>
                </a:lnTo>
                <a:lnTo>
                  <a:pt x="1628218" y="1108815"/>
                </a:lnTo>
                <a:lnTo>
                  <a:pt x="1588803" y="1124407"/>
                </a:lnTo>
                <a:lnTo>
                  <a:pt x="1550206" y="1141929"/>
                </a:lnTo>
                <a:lnTo>
                  <a:pt x="1512523" y="1161337"/>
                </a:lnTo>
                <a:lnTo>
                  <a:pt x="1475845" y="1182584"/>
                </a:lnTo>
                <a:lnTo>
                  <a:pt x="1440262" y="1205618"/>
                </a:lnTo>
                <a:lnTo>
                  <a:pt x="1405862" y="1230383"/>
                </a:lnTo>
                <a:lnTo>
                  <a:pt x="1372727" y="1256818"/>
                </a:lnTo>
                <a:lnTo>
                  <a:pt x="1340940" y="1284859"/>
                </a:lnTo>
                <a:lnTo>
                  <a:pt x="1310578" y="1314437"/>
                </a:lnTo>
                <a:lnTo>
                  <a:pt x="1281715" y="1345479"/>
                </a:lnTo>
                <a:lnTo>
                  <a:pt x="1254421" y="1377910"/>
                </a:lnTo>
                <a:lnTo>
                  <a:pt x="1228764" y="1411651"/>
                </a:lnTo>
                <a:lnTo>
                  <a:pt x="1204807" y="1446618"/>
                </a:lnTo>
                <a:lnTo>
                  <a:pt x="1182607" y="1482727"/>
                </a:lnTo>
                <a:lnTo>
                  <a:pt x="1162219" y="1519890"/>
                </a:lnTo>
                <a:lnTo>
                  <a:pt x="1143693" y="1558014"/>
                </a:lnTo>
                <a:lnTo>
                  <a:pt x="1127074" y="1597008"/>
                </a:lnTo>
                <a:lnTo>
                  <a:pt x="1112403" y="1636776"/>
                </a:lnTo>
                <a:lnTo>
                  <a:pt x="1099715" y="1677220"/>
                </a:lnTo>
                <a:lnTo>
                  <a:pt x="1089043" y="1718242"/>
                </a:lnTo>
                <a:lnTo>
                  <a:pt x="1080411" y="1759741"/>
                </a:lnTo>
                <a:lnTo>
                  <a:pt x="1073841" y="1801616"/>
                </a:lnTo>
                <a:lnTo>
                  <a:pt x="1069349" y="1843765"/>
                </a:lnTo>
                <a:lnTo>
                  <a:pt x="1066946" y="1886085"/>
                </a:lnTo>
                <a:lnTo>
                  <a:pt x="1066638" y="1928471"/>
                </a:lnTo>
                <a:lnTo>
                  <a:pt x="1068425" y="1970821"/>
                </a:lnTo>
                <a:lnTo>
                  <a:pt x="1072303" y="2013031"/>
                </a:lnTo>
                <a:lnTo>
                  <a:pt x="1078264" y="2054997"/>
                </a:lnTo>
                <a:lnTo>
                  <a:pt x="1086291" y="2096618"/>
                </a:lnTo>
                <a:lnTo>
                  <a:pt x="1096366" y="2137790"/>
                </a:lnTo>
                <a:lnTo>
                  <a:pt x="1108464" y="2178415"/>
                </a:lnTo>
                <a:lnTo>
                  <a:pt x="1122555" y="2218392"/>
                </a:lnTo>
                <a:lnTo>
                  <a:pt x="1138605" y="2257623"/>
                </a:lnTo>
                <a:lnTo>
                  <a:pt x="1156575" y="2296013"/>
                </a:lnTo>
                <a:lnTo>
                  <a:pt x="1176420" y="2333468"/>
                </a:lnTo>
                <a:lnTo>
                  <a:pt x="1198092" y="2369896"/>
                </a:lnTo>
                <a:lnTo>
                  <a:pt x="1221539" y="2405208"/>
                </a:lnTo>
                <a:lnTo>
                  <a:pt x="1246702" y="2439319"/>
                </a:lnTo>
                <a:lnTo>
                  <a:pt x="1273521" y="2472143"/>
                </a:lnTo>
                <a:lnTo>
                  <a:pt x="1301930" y="2503602"/>
                </a:lnTo>
                <a:lnTo>
                  <a:pt x="1331859" y="2533618"/>
                </a:lnTo>
                <a:lnTo>
                  <a:pt x="1363235" y="2562118"/>
                </a:lnTo>
                <a:lnTo>
                  <a:pt x="1395981" y="2589032"/>
                </a:lnTo>
                <a:lnTo>
                  <a:pt x="1430018" y="2614295"/>
                </a:lnTo>
                <a:lnTo>
                  <a:pt x="1465262" y="2637844"/>
                </a:lnTo>
                <a:lnTo>
                  <a:pt x="1501627" y="2659622"/>
                </a:lnTo>
                <a:lnTo>
                  <a:pt x="1539024" y="2679577"/>
                </a:lnTo>
                <a:lnTo>
                  <a:pt x="1577362" y="2697658"/>
                </a:lnTo>
                <a:lnTo>
                  <a:pt x="1616546" y="2713822"/>
                </a:lnTo>
                <a:lnTo>
                  <a:pt x="1656482" y="2728029"/>
                </a:lnTo>
                <a:lnTo>
                  <a:pt x="1697071" y="2740245"/>
                </a:lnTo>
                <a:lnTo>
                  <a:pt x="1738214" y="2750440"/>
                </a:lnTo>
                <a:lnTo>
                  <a:pt x="1779811" y="2758588"/>
                </a:lnTo>
                <a:lnTo>
                  <a:pt x="1821760" y="2764670"/>
                </a:lnTo>
                <a:lnTo>
                  <a:pt x="1863958" y="2768672"/>
                </a:lnTo>
                <a:close/>
              </a:path>
            </a:pathLst>
          </a:custGeom>
          <a:solidFill>
            <a:srgbClr val="444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onut-gray"/>
          <p:cNvSpPr/>
          <p:nvPr/>
        </p:nvSpPr>
        <p:spPr>
          <a:xfrm>
            <a:off x="23345775" y="8515350"/>
            <a:ext cx="1666276" cy="1495425"/>
          </a:xfrm>
          <a:custGeom>
            <a:avLst/>
            <a:gdLst/>
            <a:ahLst/>
            <a:cxnLst/>
            <a:rect l="l" t="t" r="r" b="b"/>
            <a:pathLst>
              <a:path w="1666276" h="1495425">
                <a:moveTo>
                  <a:pt x="0" y="0"/>
                </a:moveTo>
                <a:lnTo>
                  <a:pt x="33579" y="293"/>
                </a:lnTo>
                <a:lnTo>
                  <a:pt x="67148" y="1172"/>
                </a:lnTo>
                <a:lnTo>
                  <a:pt x="100697" y="2637"/>
                </a:lnTo>
                <a:lnTo>
                  <a:pt x="134215" y="4687"/>
                </a:lnTo>
                <a:lnTo>
                  <a:pt x="167692" y="7322"/>
                </a:lnTo>
                <a:lnTo>
                  <a:pt x="201118" y="10540"/>
                </a:lnTo>
                <a:lnTo>
                  <a:pt x="234483" y="14342"/>
                </a:lnTo>
                <a:lnTo>
                  <a:pt x="267776" y="18725"/>
                </a:lnTo>
                <a:lnTo>
                  <a:pt x="300988" y="23688"/>
                </a:lnTo>
                <a:lnTo>
                  <a:pt x="334108" y="29231"/>
                </a:lnTo>
                <a:lnTo>
                  <a:pt x="367126" y="35350"/>
                </a:lnTo>
                <a:lnTo>
                  <a:pt x="400032" y="42045"/>
                </a:lnTo>
                <a:lnTo>
                  <a:pt x="432817" y="49313"/>
                </a:lnTo>
                <a:lnTo>
                  <a:pt x="465470" y="57153"/>
                </a:lnTo>
                <a:lnTo>
                  <a:pt x="497981" y="65560"/>
                </a:lnTo>
                <a:lnTo>
                  <a:pt x="530340" y="74534"/>
                </a:lnTo>
                <a:lnTo>
                  <a:pt x="562538" y="84072"/>
                </a:lnTo>
                <a:lnTo>
                  <a:pt x="594564" y="94170"/>
                </a:lnTo>
                <a:lnTo>
                  <a:pt x="626409" y="104825"/>
                </a:lnTo>
                <a:lnTo>
                  <a:pt x="658064" y="116034"/>
                </a:lnTo>
                <a:lnTo>
                  <a:pt x="689518" y="127795"/>
                </a:lnTo>
                <a:lnTo>
                  <a:pt x="720762" y="140102"/>
                </a:lnTo>
                <a:lnTo>
                  <a:pt x="751786" y="152953"/>
                </a:lnTo>
                <a:lnTo>
                  <a:pt x="782582" y="166343"/>
                </a:lnTo>
                <a:lnTo>
                  <a:pt x="813139" y="180269"/>
                </a:lnTo>
                <a:lnTo>
                  <a:pt x="843448" y="194725"/>
                </a:lnTo>
                <a:lnTo>
                  <a:pt x="873500" y="209709"/>
                </a:lnTo>
                <a:lnTo>
                  <a:pt x="903287" y="225215"/>
                </a:lnTo>
                <a:lnTo>
                  <a:pt x="932798" y="241238"/>
                </a:lnTo>
                <a:lnTo>
                  <a:pt x="962025" y="257774"/>
                </a:lnTo>
                <a:lnTo>
                  <a:pt x="990959" y="274817"/>
                </a:lnTo>
                <a:lnTo>
                  <a:pt x="1019591" y="292363"/>
                </a:lnTo>
                <a:lnTo>
                  <a:pt x="1047913" y="310406"/>
                </a:lnTo>
                <a:lnTo>
                  <a:pt x="1075915" y="328940"/>
                </a:lnTo>
                <a:lnTo>
                  <a:pt x="1103590" y="347961"/>
                </a:lnTo>
                <a:lnTo>
                  <a:pt x="1130928" y="367461"/>
                </a:lnTo>
                <a:lnTo>
                  <a:pt x="1157922" y="387435"/>
                </a:lnTo>
                <a:lnTo>
                  <a:pt x="1184563" y="407878"/>
                </a:lnTo>
                <a:lnTo>
                  <a:pt x="1210844" y="428782"/>
                </a:lnTo>
                <a:lnTo>
                  <a:pt x="1236756" y="450142"/>
                </a:lnTo>
                <a:lnTo>
                  <a:pt x="1262290" y="471951"/>
                </a:lnTo>
                <a:lnTo>
                  <a:pt x="1287441" y="494202"/>
                </a:lnTo>
                <a:lnTo>
                  <a:pt x="1312199" y="516889"/>
                </a:lnTo>
                <a:lnTo>
                  <a:pt x="1336557" y="540004"/>
                </a:lnTo>
                <a:lnTo>
                  <a:pt x="1360509" y="563541"/>
                </a:lnTo>
                <a:lnTo>
                  <a:pt x="1384046" y="587493"/>
                </a:lnTo>
                <a:lnTo>
                  <a:pt x="1407161" y="611851"/>
                </a:lnTo>
                <a:lnTo>
                  <a:pt x="1429848" y="636609"/>
                </a:lnTo>
                <a:lnTo>
                  <a:pt x="1452099" y="661760"/>
                </a:lnTo>
                <a:lnTo>
                  <a:pt x="1473908" y="687294"/>
                </a:lnTo>
                <a:lnTo>
                  <a:pt x="1495268" y="713206"/>
                </a:lnTo>
                <a:lnTo>
                  <a:pt x="1516172" y="739487"/>
                </a:lnTo>
                <a:lnTo>
                  <a:pt x="1536615" y="766128"/>
                </a:lnTo>
                <a:lnTo>
                  <a:pt x="1556589" y="793122"/>
                </a:lnTo>
                <a:lnTo>
                  <a:pt x="1576089" y="820460"/>
                </a:lnTo>
                <a:lnTo>
                  <a:pt x="1595110" y="848135"/>
                </a:lnTo>
                <a:lnTo>
                  <a:pt x="1613644" y="876137"/>
                </a:lnTo>
                <a:lnTo>
                  <a:pt x="1631687" y="904459"/>
                </a:lnTo>
                <a:lnTo>
                  <a:pt x="1649233" y="933091"/>
                </a:lnTo>
                <a:lnTo>
                  <a:pt x="1666276" y="962025"/>
                </a:lnTo>
                <a:lnTo>
                  <a:pt x="742400" y="1495425"/>
                </a:lnTo>
                <a:lnTo>
                  <a:pt x="734807" y="1482534"/>
                </a:lnTo>
                <a:lnTo>
                  <a:pt x="726989" y="1469777"/>
                </a:lnTo>
                <a:lnTo>
                  <a:pt x="718950" y="1457158"/>
                </a:lnTo>
                <a:lnTo>
                  <a:pt x="710692" y="1444682"/>
                </a:lnTo>
                <a:lnTo>
                  <a:pt x="702218" y="1432352"/>
                </a:lnTo>
                <a:lnTo>
                  <a:pt x="693530" y="1420171"/>
                </a:lnTo>
                <a:lnTo>
                  <a:pt x="684630" y="1408144"/>
                </a:lnTo>
                <a:lnTo>
                  <a:pt x="675522" y="1396274"/>
                </a:lnTo>
                <a:lnTo>
                  <a:pt x="666208" y="1384565"/>
                </a:lnTo>
                <a:lnTo>
                  <a:pt x="656692" y="1373020"/>
                </a:lnTo>
                <a:lnTo>
                  <a:pt x="646975" y="1361643"/>
                </a:lnTo>
                <a:lnTo>
                  <a:pt x="637061" y="1350438"/>
                </a:lnTo>
                <a:lnTo>
                  <a:pt x="626953" y="1339407"/>
                </a:lnTo>
                <a:lnTo>
                  <a:pt x="616654" y="1328554"/>
                </a:lnTo>
                <a:lnTo>
                  <a:pt x="606167" y="1317883"/>
                </a:lnTo>
                <a:lnTo>
                  <a:pt x="595496" y="1307396"/>
                </a:lnTo>
                <a:lnTo>
                  <a:pt x="584643" y="1297097"/>
                </a:lnTo>
                <a:lnTo>
                  <a:pt x="573612" y="1286989"/>
                </a:lnTo>
                <a:lnTo>
                  <a:pt x="562407" y="1277075"/>
                </a:lnTo>
                <a:lnTo>
                  <a:pt x="551030" y="1267358"/>
                </a:lnTo>
                <a:lnTo>
                  <a:pt x="539485" y="1257842"/>
                </a:lnTo>
                <a:lnTo>
                  <a:pt x="527776" y="1248528"/>
                </a:lnTo>
                <a:lnTo>
                  <a:pt x="515906" y="1239420"/>
                </a:lnTo>
                <a:lnTo>
                  <a:pt x="503879" y="1230520"/>
                </a:lnTo>
                <a:lnTo>
                  <a:pt x="491698" y="1221832"/>
                </a:lnTo>
                <a:lnTo>
                  <a:pt x="479368" y="1213358"/>
                </a:lnTo>
                <a:lnTo>
                  <a:pt x="466892" y="1205100"/>
                </a:lnTo>
                <a:lnTo>
                  <a:pt x="454273" y="1197061"/>
                </a:lnTo>
                <a:lnTo>
                  <a:pt x="441516" y="1189243"/>
                </a:lnTo>
                <a:lnTo>
                  <a:pt x="428625" y="1181650"/>
                </a:lnTo>
                <a:lnTo>
                  <a:pt x="415603" y="1174282"/>
                </a:lnTo>
                <a:lnTo>
                  <a:pt x="402454" y="1167143"/>
                </a:lnTo>
                <a:lnTo>
                  <a:pt x="389183" y="1160235"/>
                </a:lnTo>
                <a:lnTo>
                  <a:pt x="375794" y="1153559"/>
                </a:lnTo>
                <a:lnTo>
                  <a:pt x="362290" y="1147118"/>
                </a:lnTo>
                <a:lnTo>
                  <a:pt x="348675" y="1140913"/>
                </a:lnTo>
                <a:lnTo>
                  <a:pt x="334954" y="1134947"/>
                </a:lnTo>
                <a:lnTo>
                  <a:pt x="321132" y="1129222"/>
                </a:lnTo>
                <a:lnTo>
                  <a:pt x="307211" y="1123738"/>
                </a:lnTo>
                <a:lnTo>
                  <a:pt x="293197" y="1118499"/>
                </a:lnTo>
                <a:lnTo>
                  <a:pt x="279093" y="1113504"/>
                </a:lnTo>
                <a:lnTo>
                  <a:pt x="264905" y="1108757"/>
                </a:lnTo>
                <a:lnTo>
                  <a:pt x="250636" y="1104258"/>
                </a:lnTo>
                <a:lnTo>
                  <a:pt x="236290" y="1100008"/>
                </a:lnTo>
                <a:lnTo>
                  <a:pt x="221873" y="1096010"/>
                </a:lnTo>
                <a:lnTo>
                  <a:pt x="207388" y="1092264"/>
                </a:lnTo>
                <a:lnTo>
                  <a:pt x="192839" y="1088771"/>
                </a:lnTo>
                <a:lnTo>
                  <a:pt x="178232" y="1085533"/>
                </a:lnTo>
                <a:lnTo>
                  <a:pt x="163571" y="1082550"/>
                </a:lnTo>
                <a:lnTo>
                  <a:pt x="148860" y="1079824"/>
                </a:lnTo>
                <a:lnTo>
                  <a:pt x="134103" y="1077354"/>
                </a:lnTo>
                <a:lnTo>
                  <a:pt x="119306" y="1075143"/>
                </a:lnTo>
                <a:lnTo>
                  <a:pt x="104472" y="1073190"/>
                </a:lnTo>
                <a:lnTo>
                  <a:pt x="89607" y="1071496"/>
                </a:lnTo>
                <a:lnTo>
                  <a:pt x="74714" y="1070062"/>
                </a:lnTo>
                <a:lnTo>
                  <a:pt x="59799" y="1068888"/>
                </a:lnTo>
                <a:lnTo>
                  <a:pt x="44865" y="1067975"/>
                </a:lnTo>
                <a:lnTo>
                  <a:pt x="29918" y="1067322"/>
                </a:lnTo>
                <a:lnTo>
                  <a:pt x="14961" y="1066931"/>
                </a:lnTo>
                <a:lnTo>
                  <a:pt x="0" y="10668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onut-blue"/>
          <p:cNvSpPr/>
          <p:nvPr/>
        </p:nvSpPr>
        <p:spPr>
          <a:xfrm>
            <a:off x="23375693" y="9595952"/>
            <a:ext cx="1894027" cy="2766326"/>
          </a:xfrm>
          <a:custGeom>
            <a:avLst/>
            <a:gdLst/>
            <a:ahLst/>
            <a:cxnLst/>
            <a:rect l="l" t="t" r="r" b="b"/>
            <a:pathLst>
              <a:path w="1894027" h="2766326">
                <a:moveTo>
                  <a:pt x="1699407" y="0"/>
                </a:moveTo>
                <a:lnTo>
                  <a:pt x="1726421" y="57800"/>
                </a:lnTo>
                <a:lnTo>
                  <a:pt x="1751503" y="116463"/>
                </a:lnTo>
                <a:lnTo>
                  <a:pt x="1774627" y="175926"/>
                </a:lnTo>
                <a:lnTo>
                  <a:pt x="1795767" y="236123"/>
                </a:lnTo>
                <a:lnTo>
                  <a:pt x="1814899" y="296988"/>
                </a:lnTo>
                <a:lnTo>
                  <a:pt x="1832003" y="358454"/>
                </a:lnTo>
                <a:lnTo>
                  <a:pt x="1847059" y="420453"/>
                </a:lnTo>
                <a:lnTo>
                  <a:pt x="1860052" y="482917"/>
                </a:lnTo>
                <a:lnTo>
                  <a:pt x="1870966" y="545777"/>
                </a:lnTo>
                <a:lnTo>
                  <a:pt x="1879790" y="608965"/>
                </a:lnTo>
                <a:lnTo>
                  <a:pt x="1886515" y="672411"/>
                </a:lnTo>
                <a:lnTo>
                  <a:pt x="1891132" y="736045"/>
                </a:lnTo>
                <a:lnTo>
                  <a:pt x="1893637" y="799796"/>
                </a:lnTo>
                <a:lnTo>
                  <a:pt x="1894027" y="863596"/>
                </a:lnTo>
                <a:lnTo>
                  <a:pt x="1892301" y="927374"/>
                </a:lnTo>
                <a:lnTo>
                  <a:pt x="1888461" y="991059"/>
                </a:lnTo>
                <a:lnTo>
                  <a:pt x="1882513" y="1054582"/>
                </a:lnTo>
                <a:lnTo>
                  <a:pt x="1874461" y="1117873"/>
                </a:lnTo>
                <a:lnTo>
                  <a:pt x="1864315" y="1180862"/>
                </a:lnTo>
                <a:lnTo>
                  <a:pt x="1852087" y="1243480"/>
                </a:lnTo>
                <a:lnTo>
                  <a:pt x="1837789" y="1305659"/>
                </a:lnTo>
                <a:lnTo>
                  <a:pt x="1821438" y="1367329"/>
                </a:lnTo>
                <a:lnTo>
                  <a:pt x="1803050" y="1428423"/>
                </a:lnTo>
                <a:lnTo>
                  <a:pt x="1782648" y="1488874"/>
                </a:lnTo>
                <a:lnTo>
                  <a:pt x="1760252" y="1548615"/>
                </a:lnTo>
                <a:lnTo>
                  <a:pt x="1735888" y="1607580"/>
                </a:lnTo>
                <a:lnTo>
                  <a:pt x="1709582" y="1665706"/>
                </a:lnTo>
                <a:lnTo>
                  <a:pt x="1681364" y="1722927"/>
                </a:lnTo>
                <a:lnTo>
                  <a:pt x="1651263" y="1779182"/>
                </a:lnTo>
                <a:lnTo>
                  <a:pt x="1619315" y="1834407"/>
                </a:lnTo>
                <a:lnTo>
                  <a:pt x="1585553" y="1888543"/>
                </a:lnTo>
                <a:lnTo>
                  <a:pt x="1550014" y="1941529"/>
                </a:lnTo>
                <a:lnTo>
                  <a:pt x="1512738" y="1993309"/>
                </a:lnTo>
                <a:lnTo>
                  <a:pt x="1473766" y="2043824"/>
                </a:lnTo>
                <a:lnTo>
                  <a:pt x="1433141" y="2093019"/>
                </a:lnTo>
                <a:lnTo>
                  <a:pt x="1390907" y="2140840"/>
                </a:lnTo>
                <a:lnTo>
                  <a:pt x="1347111" y="2187234"/>
                </a:lnTo>
                <a:lnTo>
                  <a:pt x="1301800" y="2232151"/>
                </a:lnTo>
                <a:lnTo>
                  <a:pt x="1255025" y="2275541"/>
                </a:lnTo>
                <a:lnTo>
                  <a:pt x="1206838" y="2317356"/>
                </a:lnTo>
                <a:lnTo>
                  <a:pt x="1157290" y="2357550"/>
                </a:lnTo>
                <a:lnTo>
                  <a:pt x="1106437" y="2396080"/>
                </a:lnTo>
                <a:lnTo>
                  <a:pt x="1054334" y="2432902"/>
                </a:lnTo>
                <a:lnTo>
                  <a:pt x="1001040" y="2467977"/>
                </a:lnTo>
                <a:lnTo>
                  <a:pt x="946611" y="2501266"/>
                </a:lnTo>
                <a:lnTo>
                  <a:pt x="891109" y="2532731"/>
                </a:lnTo>
                <a:lnTo>
                  <a:pt x="834594" y="2562339"/>
                </a:lnTo>
                <a:lnTo>
                  <a:pt x="777129" y="2590057"/>
                </a:lnTo>
                <a:lnTo>
                  <a:pt x="718776" y="2615855"/>
                </a:lnTo>
                <a:lnTo>
                  <a:pt x="659600" y="2639703"/>
                </a:lnTo>
                <a:lnTo>
                  <a:pt x="599666" y="2661577"/>
                </a:lnTo>
                <a:lnTo>
                  <a:pt x="539039" y="2681451"/>
                </a:lnTo>
                <a:lnTo>
                  <a:pt x="477787" y="2699305"/>
                </a:lnTo>
                <a:lnTo>
                  <a:pt x="415977" y="2715117"/>
                </a:lnTo>
                <a:lnTo>
                  <a:pt x="353676" y="2728872"/>
                </a:lnTo>
                <a:lnTo>
                  <a:pt x="290953" y="2740554"/>
                </a:lnTo>
                <a:lnTo>
                  <a:pt x="227878" y="2750149"/>
                </a:lnTo>
                <a:lnTo>
                  <a:pt x="164519" y="2757648"/>
                </a:lnTo>
                <a:lnTo>
                  <a:pt x="100947" y="2763042"/>
                </a:lnTo>
                <a:lnTo>
                  <a:pt x="37230" y="2766326"/>
                </a:lnTo>
                <a:lnTo>
                  <a:pt x="0" y="1700176"/>
                </a:lnTo>
                <a:lnTo>
                  <a:pt x="28388" y="1698713"/>
                </a:lnTo>
                <a:lnTo>
                  <a:pt x="56713" y="1696309"/>
                </a:lnTo>
                <a:lnTo>
                  <a:pt x="84942" y="1692968"/>
                </a:lnTo>
                <a:lnTo>
                  <a:pt x="113045" y="1688693"/>
                </a:lnTo>
                <a:lnTo>
                  <a:pt x="140990" y="1683488"/>
                </a:lnTo>
                <a:lnTo>
                  <a:pt x="168748" y="1677360"/>
                </a:lnTo>
                <a:lnTo>
                  <a:pt x="196287" y="1670315"/>
                </a:lnTo>
                <a:lnTo>
                  <a:pt x="223578" y="1662360"/>
                </a:lnTo>
                <a:lnTo>
                  <a:pt x="250590" y="1653505"/>
                </a:lnTo>
                <a:lnTo>
                  <a:pt x="277293" y="1643760"/>
                </a:lnTo>
                <a:lnTo>
                  <a:pt x="303659" y="1633134"/>
                </a:lnTo>
                <a:lnTo>
                  <a:pt x="329657" y="1621640"/>
                </a:lnTo>
                <a:lnTo>
                  <a:pt x="355261" y="1609291"/>
                </a:lnTo>
                <a:lnTo>
                  <a:pt x="380441" y="1596099"/>
                </a:lnTo>
                <a:lnTo>
                  <a:pt x="405169" y="1582080"/>
                </a:lnTo>
                <a:lnTo>
                  <a:pt x="429420" y="1567248"/>
                </a:lnTo>
                <a:lnTo>
                  <a:pt x="453165" y="1551621"/>
                </a:lnTo>
                <a:lnTo>
                  <a:pt x="476379" y="1535215"/>
                </a:lnTo>
                <a:lnTo>
                  <a:pt x="499036" y="1518048"/>
                </a:lnTo>
                <a:lnTo>
                  <a:pt x="521112" y="1500140"/>
                </a:lnTo>
                <a:lnTo>
                  <a:pt x="542581" y="1481509"/>
                </a:lnTo>
                <a:lnTo>
                  <a:pt x="563422" y="1462177"/>
                </a:lnTo>
                <a:lnTo>
                  <a:pt x="583610" y="1442165"/>
                </a:lnTo>
                <a:lnTo>
                  <a:pt x="603123" y="1421494"/>
                </a:lnTo>
                <a:lnTo>
                  <a:pt x="621940" y="1400187"/>
                </a:lnTo>
                <a:lnTo>
                  <a:pt x="640040" y="1378269"/>
                </a:lnTo>
                <a:lnTo>
                  <a:pt x="657404" y="1355762"/>
                </a:lnTo>
                <a:lnTo>
                  <a:pt x="674012" y="1332692"/>
                </a:lnTo>
                <a:lnTo>
                  <a:pt x="689846" y="1309084"/>
                </a:lnTo>
                <a:lnTo>
                  <a:pt x="704889" y="1284964"/>
                </a:lnTo>
                <a:lnTo>
                  <a:pt x="719123" y="1260359"/>
                </a:lnTo>
                <a:lnTo>
                  <a:pt x="732534" y="1235295"/>
                </a:lnTo>
                <a:lnTo>
                  <a:pt x="745107" y="1209801"/>
                </a:lnTo>
                <a:lnTo>
                  <a:pt x="756827" y="1183903"/>
                </a:lnTo>
                <a:lnTo>
                  <a:pt x="767682" y="1157631"/>
                </a:lnTo>
                <a:lnTo>
                  <a:pt x="777661" y="1131014"/>
                </a:lnTo>
                <a:lnTo>
                  <a:pt x="786751" y="1104080"/>
                </a:lnTo>
                <a:lnTo>
                  <a:pt x="794943" y="1076860"/>
                </a:lnTo>
                <a:lnTo>
                  <a:pt x="802229" y="1049383"/>
                </a:lnTo>
                <a:lnTo>
                  <a:pt x="808599" y="1021680"/>
                </a:lnTo>
                <a:lnTo>
                  <a:pt x="814047" y="993781"/>
                </a:lnTo>
                <a:lnTo>
                  <a:pt x="818568" y="965717"/>
                </a:lnTo>
                <a:lnTo>
                  <a:pt x="822155" y="937518"/>
                </a:lnTo>
                <a:lnTo>
                  <a:pt x="824805" y="909215"/>
                </a:lnTo>
                <a:lnTo>
                  <a:pt x="826516" y="880841"/>
                </a:lnTo>
                <a:lnTo>
                  <a:pt x="827285" y="852425"/>
                </a:lnTo>
                <a:lnTo>
                  <a:pt x="827111" y="823999"/>
                </a:lnTo>
                <a:lnTo>
                  <a:pt x="825995" y="795595"/>
                </a:lnTo>
                <a:lnTo>
                  <a:pt x="823938" y="767243"/>
                </a:lnTo>
                <a:lnTo>
                  <a:pt x="820942" y="738976"/>
                </a:lnTo>
                <a:lnTo>
                  <a:pt x="817011" y="710823"/>
                </a:lnTo>
                <a:lnTo>
                  <a:pt x="812148" y="682815"/>
                </a:lnTo>
                <a:lnTo>
                  <a:pt x="806359" y="654985"/>
                </a:lnTo>
                <a:lnTo>
                  <a:pt x="799651" y="627362"/>
                </a:lnTo>
                <a:lnTo>
                  <a:pt x="792030" y="599976"/>
                </a:lnTo>
                <a:lnTo>
                  <a:pt x="783506" y="572858"/>
                </a:lnTo>
                <a:lnTo>
                  <a:pt x="774087" y="546037"/>
                </a:lnTo>
                <a:lnTo>
                  <a:pt x="763785" y="519544"/>
                </a:lnTo>
                <a:lnTo>
                  <a:pt x="752609" y="493407"/>
                </a:lnTo>
                <a:lnTo>
                  <a:pt x="740573" y="467654"/>
                </a:lnTo>
                <a:close/>
              </a:path>
            </a:pathLst>
          </a:custGeom>
          <a:solidFill>
            <a:srgbClr val="1A8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onut-40"/>
          <p:cNvSpPr txBox="1"/>
          <p:nvPr/>
        </p:nvSpPr>
        <p:spPr>
          <a:xfrm>
            <a:off x="21393150" y="10001250"/>
            <a:ext cx="1524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40.09%</a:t>
            </a:r>
          </a:p>
        </p:txBody>
      </p:sp>
      <p:sp>
        <p:nvSpPr>
          <p:cNvPr id="105" name="donut-29"/>
          <p:cNvSpPr txBox="1"/>
          <p:nvPr/>
        </p:nvSpPr>
        <p:spPr>
          <a:xfrm>
            <a:off x="23717250" y="11049000"/>
            <a:ext cx="1524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0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29.86%</a:t>
            </a:r>
          </a:p>
        </p:txBody>
      </p:sp>
      <p:sp>
        <p:nvSpPr>
          <p:cNvPr id="106" name="donut-117"/>
          <p:cNvSpPr txBox="1"/>
          <p:nvPr/>
        </p:nvSpPr>
        <p:spPr>
          <a:xfrm>
            <a:off x="23202900" y="8382000"/>
            <a:ext cx="161925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11.7</a:t>
            </a:r>
          </a:p>
        </p:txBody>
      </p:sp>
      <p:sp>
        <p:nvSpPr>
          <p:cNvPr id="107" name="donut-6"/>
          <p:cNvSpPr txBox="1"/>
          <p:nvPr/>
        </p:nvSpPr>
        <p:spPr>
          <a:xfrm>
            <a:off x="23202900" y="8858250"/>
            <a:ext cx="161925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50" b="0" i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6%</a:t>
            </a:r>
          </a:p>
        </p:txBody>
      </p:sp>
      <p:sp>
        <p:nvSpPr>
          <p:cNvPr id="108" name="big-96"/>
          <p:cNvSpPr txBox="1"/>
          <p:nvPr/>
        </p:nvSpPr>
        <p:spPr>
          <a:xfrm>
            <a:off x="26269950" y="9096375"/>
            <a:ext cx="2298192" cy="1638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4E8858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09" name="big-pct"/>
          <p:cNvSpPr txBox="1"/>
          <p:nvPr/>
        </p:nvSpPr>
        <p:spPr>
          <a:xfrm>
            <a:off x="28270200" y="9696450"/>
            <a:ext cx="857250" cy="1047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400" b="1" i="0">
                <a:solidFill>
                  <a:srgbClr val="4E8858"/>
                </a:solidFill>
                <a:latin typeface="Microsoft YaHei"/>
                <a:ea typeface="Microsoft YaHei"/>
                <a:cs typeface="Microsoft YaHei"/>
              </a:rPr>
              <a:t>%</a:t>
            </a:r>
          </a:p>
        </p:txBody>
      </p:sp>
      <p:sp>
        <p:nvSpPr>
          <p:cNvPr id="110" name="big-cap"/>
          <p:cNvSpPr txBox="1"/>
          <p:nvPr/>
        </p:nvSpPr>
        <p:spPr>
          <a:xfrm>
            <a:off x="25669875" y="10744200"/>
            <a:ext cx="371475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销量增长</a:t>
            </a:r>
          </a:p>
        </p:txBody>
      </p:sp>
      <p:sp>
        <p:nvSpPr>
          <p:cNvPr id="111" name="para-1"/>
          <p:cNvSpPr txBox="1"/>
          <p:nvPr/>
        </p:nvSpPr>
        <p:spPr>
          <a:xfrm>
            <a:off x="21431250" y="12925425"/>
            <a:ext cx="7620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2025年，在公司营收、销量方面来看，服饰、</a:t>
            </a:r>
          </a:p>
        </p:txBody>
      </p:sp>
      <p:sp>
        <p:nvSpPr>
          <p:cNvPr id="112" name="para-2"/>
          <p:cNvSpPr txBox="1"/>
          <p:nvPr/>
        </p:nvSpPr>
        <p:spPr>
          <a:xfrm>
            <a:off x="21431250" y="13592175"/>
            <a:ext cx="7620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生活用品、娱乐设施、美食、日常出行以及阅</a:t>
            </a:r>
          </a:p>
        </p:txBody>
      </p:sp>
      <p:sp>
        <p:nvSpPr>
          <p:cNvPr id="113" name="para-3"/>
          <p:cNvSpPr txBox="1"/>
          <p:nvPr/>
        </p:nvSpPr>
        <p:spPr>
          <a:xfrm>
            <a:off x="21431250" y="14258925"/>
            <a:ext cx="7620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读学习成为本年度销量的有力增长点，增长幅</a:t>
            </a:r>
          </a:p>
        </p:txBody>
      </p:sp>
      <p:sp>
        <p:nvSpPr>
          <p:cNvPr id="114" name="para-4"/>
          <p:cNvSpPr txBox="1"/>
          <p:nvPr/>
        </p:nvSpPr>
        <p:spPr>
          <a:xfrm>
            <a:off x="21431250" y="14925675"/>
            <a:ext cx="762000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度最高可达到69%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