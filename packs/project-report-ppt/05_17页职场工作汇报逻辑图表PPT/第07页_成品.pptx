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icon-ring"/>
          <p:cNvSpPr/>
          <p:nvPr/>
        </p:nvSpPr>
        <p:spPr>
          <a:xfrm>
            <a:off x="1219200" y="447675"/>
            <a:ext cx="1047750" cy="104775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D89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dr-icon-check"/>
          <p:cNvSpPr/>
          <p:nvPr/>
        </p:nvSpPr>
        <p:spPr>
          <a:xfrm>
            <a:off x="1438275" y="733425"/>
            <a:ext cx="657225" cy="495300"/>
          </a:xfrm>
          <a:custGeom>
            <a:avLst/>
            <a:gdLst/>
            <a:ahLst/>
            <a:cxnLst/>
            <a:rect l="l" t="t" r="r" b="b"/>
            <a:pathLst>
              <a:path w="657225" h="495300">
                <a:moveTo>
                  <a:pt x="0" y="247650"/>
                </a:moveTo>
                <a:lnTo>
                  <a:pt x="238125" y="495300"/>
                </a:lnTo>
                <a:lnTo>
                  <a:pt x="657225" y="0"/>
                </a:lnTo>
              </a:path>
            </a:pathLst>
          </a:custGeom>
          <a:noFill/>
          <a:ln w="85725">
            <a:solidFill>
              <a:srgbClr val="4D89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dr-title"/>
          <p:cNvSpPr txBox="1"/>
          <p:nvPr/>
        </p:nvSpPr>
        <p:spPr>
          <a:xfrm>
            <a:off x="2905125" y="447675"/>
            <a:ext cx="10191750" cy="1219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职场工作汇报逻辑图表PPT</a:t>
            </a:r>
          </a:p>
        </p:txBody>
      </p:sp>
      <p:sp>
        <p:nvSpPr>
          <p:cNvPr id="7" name="hdr-tag"/>
          <p:cNvSpPr/>
          <p:nvPr/>
        </p:nvSpPr>
        <p:spPr>
          <a:xfrm>
            <a:off x="25307925" y="600075"/>
            <a:ext cx="4305300" cy="838200"/>
          </a:xfrm>
          <a:prstGeom prst="rect">
            <a:avLst/>
          </a:pr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tag-txt"/>
          <p:cNvSpPr txBox="1"/>
          <p:nvPr/>
        </p:nvSpPr>
        <p:spPr>
          <a:xfrm>
            <a:off x="25279350" y="504825"/>
            <a:ext cx="4391025" cy="1028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05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9" name="hdr-divider"/>
          <p:cNvSpPr/>
          <p:nvPr/>
        </p:nvSpPr>
        <p:spPr>
          <a:xfrm>
            <a:off x="1123950" y="1762125"/>
            <a:ext cx="28232100" cy="114300"/>
          </a:xfrm>
          <a:prstGeom prst="rect">
            <a:avLst/>
          </a:pr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ft-bubble"/>
          <p:cNvSpPr/>
          <p:nvPr/>
        </p:nvSpPr>
        <p:spPr>
          <a:xfrm>
            <a:off x="2971800" y="2514600"/>
            <a:ext cx="3733800" cy="3733800"/>
          </a:xfrm>
          <a:prstGeom prst="ellipse">
            <a:avLst/>
          </a:pr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ft-bubble-tail"/>
          <p:cNvSpPr/>
          <p:nvPr/>
        </p:nvSpPr>
        <p:spPr>
          <a:xfrm>
            <a:off x="4686300" y="6172200"/>
            <a:ext cx="1714500" cy="1028700"/>
          </a:xfrm>
          <a:custGeom>
            <a:avLst/>
            <a:gdLst/>
            <a:ahLst/>
            <a:cxnLst/>
            <a:rect l="l" t="t" r="r" b="b"/>
            <a:pathLst>
              <a:path w="1714500" h="1028700">
                <a:moveTo>
                  <a:pt x="0" y="0"/>
                </a:moveTo>
                <a:lnTo>
                  <a:pt x="1714500" y="0"/>
                </a:lnTo>
                <a:lnTo>
                  <a:pt x="1638300" y="1028700"/>
                </a:lnTo>
                <a:lnTo>
                  <a:pt x="228600" y="438150"/>
                </a:lnTo>
                <a:close/>
              </a:path>
            </a:pathLst>
          </a:cu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ft-bubble-num"/>
          <p:cNvSpPr txBox="1"/>
          <p:nvPr/>
        </p:nvSpPr>
        <p:spPr>
          <a:xfrm>
            <a:off x="2152650" y="3057525"/>
            <a:ext cx="5619750" cy="1676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3" name="left-bubble-cap"/>
          <p:cNvSpPr txBox="1"/>
          <p:nvPr/>
        </p:nvSpPr>
        <p:spPr>
          <a:xfrm>
            <a:off x="3133725" y="4514850"/>
            <a:ext cx="3600450" cy="1028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06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实现目标</a:t>
            </a:r>
          </a:p>
        </p:txBody>
      </p:sp>
      <p:sp>
        <p:nvSpPr>
          <p:cNvPr id="14" name="left-panel"/>
          <p:cNvSpPr/>
          <p:nvPr/>
        </p:nvSpPr>
        <p:spPr>
          <a:xfrm>
            <a:off x="1362075" y="6667500"/>
            <a:ext cx="6543675" cy="5334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8575">
            <a:solidFill>
              <a:srgbClr val="4D89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-card-white"/>
          <p:cNvSpPr/>
          <p:nvPr/>
        </p:nvSpPr>
        <p:spPr>
          <a:xfrm>
            <a:off x="1638300" y="7058025"/>
            <a:ext cx="5962650" cy="2105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-card-bar"/>
          <p:cNvSpPr/>
          <p:nvPr/>
        </p:nvSpPr>
        <p:spPr>
          <a:xfrm>
            <a:off x="1771650" y="7258050"/>
            <a:ext cx="152400" cy="1771650"/>
          </a:xfrm>
          <a:prstGeom prst="rect">
            <a:avLst/>
          </a:pr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ft-card-l1"/>
          <p:cNvSpPr txBox="1"/>
          <p:nvPr/>
        </p:nvSpPr>
        <p:spPr>
          <a:xfrm>
            <a:off x="2352675" y="7124700"/>
            <a:ext cx="1581150" cy="10096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987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职工</a:t>
            </a:r>
          </a:p>
        </p:txBody>
      </p:sp>
      <p:sp>
        <p:nvSpPr>
          <p:cNvPr id="18" name="left-card-l2"/>
          <p:cNvSpPr txBox="1"/>
          <p:nvPr/>
        </p:nvSpPr>
        <p:spPr>
          <a:xfrm>
            <a:off x="2352675" y="7762875"/>
            <a:ext cx="2257425" cy="1028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62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满意度</a:t>
            </a:r>
          </a:p>
        </p:txBody>
      </p:sp>
      <p:sp>
        <p:nvSpPr>
          <p:cNvPr id="19" name="left-card-num"/>
          <p:cNvSpPr txBox="1"/>
          <p:nvPr/>
        </p:nvSpPr>
        <p:spPr>
          <a:xfrm>
            <a:off x="3152775" y="6819900"/>
            <a:ext cx="4152900" cy="20097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900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0" name="left-row2"/>
          <p:cNvSpPr/>
          <p:nvPr/>
        </p:nvSpPr>
        <p:spPr>
          <a:xfrm>
            <a:off x="1638300" y="9734550"/>
            <a:ext cx="5962650" cy="2019300"/>
          </a:xfrm>
          <a:prstGeom prst="rect">
            <a:avLst/>
          </a:pr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-row2-lbl"/>
          <p:cNvSpPr txBox="1"/>
          <p:nvPr/>
        </p:nvSpPr>
        <p:spPr>
          <a:xfrm>
            <a:off x="2295525" y="10287000"/>
            <a:ext cx="2695575" cy="9429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培训成本</a:t>
            </a:r>
          </a:p>
        </p:txBody>
      </p:sp>
      <p:sp>
        <p:nvSpPr>
          <p:cNvPr id="22" name="left-row2-num"/>
          <p:cNvSpPr txBox="1"/>
          <p:nvPr/>
        </p:nvSpPr>
        <p:spPr>
          <a:xfrm>
            <a:off x="4029075" y="9505950"/>
            <a:ext cx="2638425" cy="24098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66</a:t>
            </a:r>
          </a:p>
        </p:txBody>
      </p:sp>
      <p:sp>
        <p:nvSpPr>
          <p:cNvPr id="23" name="left-row2-pct"/>
          <p:cNvSpPr txBox="1"/>
          <p:nvPr/>
        </p:nvSpPr>
        <p:spPr>
          <a:xfrm>
            <a:off x="6705600" y="10506075"/>
            <a:ext cx="800100" cy="819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24" name="ctr-halo-0"/>
          <p:cNvSpPr/>
          <p:nvPr/>
        </p:nvSpPr>
        <p:spPr>
          <a:xfrm>
            <a:off x="8620125" y="4286250"/>
            <a:ext cx="6286500" cy="628650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tr-halo-1"/>
          <p:cNvSpPr/>
          <p:nvPr/>
        </p:nvSpPr>
        <p:spPr>
          <a:xfrm>
            <a:off x="12192000" y="4286250"/>
            <a:ext cx="6286500" cy="628650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tr-halo-2"/>
          <p:cNvSpPr/>
          <p:nvPr/>
        </p:nvSpPr>
        <p:spPr>
          <a:xfrm>
            <a:off x="15906750" y="4286250"/>
            <a:ext cx="6286500" cy="628650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tr-circle-fund"/>
          <p:cNvSpPr/>
          <p:nvPr/>
        </p:nvSpPr>
        <p:spPr>
          <a:xfrm>
            <a:off x="9048750" y="4714875"/>
            <a:ext cx="5429250" cy="5429250"/>
          </a:xfrm>
          <a:prstGeom prst="ellipse">
            <a:avLst/>
          </a:prstGeom>
          <a:solidFill>
            <a:srgbClr val="91B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tr-circle-team"/>
          <p:cNvSpPr/>
          <p:nvPr/>
        </p:nvSpPr>
        <p:spPr>
          <a:xfrm>
            <a:off x="12620625" y="4714875"/>
            <a:ext cx="5429250" cy="5429250"/>
          </a:xfrm>
          <a:prstGeom prst="ellipse">
            <a:avLst/>
          </a:pr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tr-circle-market"/>
          <p:cNvSpPr/>
          <p:nvPr/>
        </p:nvSpPr>
        <p:spPr>
          <a:xfrm>
            <a:off x="16335375" y="4714875"/>
            <a:ext cx="5429250" cy="5429250"/>
          </a:xfrm>
          <a:prstGeom prst="ellipse">
            <a:avLst/>
          </a:prstGeom>
          <a:solidFill>
            <a:srgbClr val="518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tr-icon-hex"/>
          <p:cNvSpPr/>
          <p:nvPr/>
        </p:nvSpPr>
        <p:spPr>
          <a:xfrm>
            <a:off x="10839450" y="6153150"/>
            <a:ext cx="952500" cy="1104900"/>
          </a:xfrm>
          <a:custGeom>
            <a:avLst/>
            <a:gdLst/>
            <a:ahLst/>
            <a:cxnLst/>
            <a:rect l="l" t="t" r="r" b="b"/>
            <a:pathLst>
              <a:path w="952500" h="1104900">
                <a:moveTo>
                  <a:pt x="476250" y="1104900"/>
                </a:moveTo>
                <a:lnTo>
                  <a:pt x="0" y="828675"/>
                </a:lnTo>
                <a:lnTo>
                  <a:pt x="0" y="276225"/>
                </a:lnTo>
                <a:lnTo>
                  <a:pt x="476250" y="0"/>
                </a:lnTo>
                <a:lnTo>
                  <a:pt x="952500" y="276225"/>
                </a:lnTo>
                <a:lnTo>
                  <a:pt x="952500" y="828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tr-icon-yen"/>
          <p:cNvSpPr txBox="1"/>
          <p:nvPr/>
        </p:nvSpPr>
        <p:spPr>
          <a:xfrm>
            <a:off x="10801350" y="6334125"/>
            <a:ext cx="1028700" cy="819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50" b="1" i="0">
                <a:solidFill>
                  <a:srgbClr val="91BE97"/>
                </a:solidFill>
                <a:latin typeface="Microsoft YaHei"/>
                <a:ea typeface="Microsoft YaHei"/>
                <a:cs typeface="Microsoft YaHei"/>
              </a:rPr>
              <a:t>¥</a:t>
            </a:r>
          </a:p>
        </p:txBody>
      </p:sp>
      <p:sp>
        <p:nvSpPr>
          <p:cNvPr id="32" name="ctr-lbl-fund"/>
          <p:cNvSpPr txBox="1"/>
          <p:nvPr/>
        </p:nvSpPr>
        <p:spPr>
          <a:xfrm>
            <a:off x="10048875" y="8153400"/>
            <a:ext cx="2381250" cy="1276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资金</a:t>
            </a:r>
          </a:p>
        </p:txBody>
      </p:sp>
      <p:grpSp>
        <p:nvGrpSpPr>
          <p:cNvPr id="75" name="ctr-icon-team"/>
          <p:cNvGrpSpPr/>
          <p:nvPr/>
        </p:nvGrpSpPr>
        <p:grpSpPr>
          <a:xfrm>
            <a:off x="14823186" y="6361938"/>
            <a:ext cx="1024128" cy="832104"/>
            <a:chOff x="14823186" y="6361938"/>
            <a:chExt cx="1024128" cy="832104"/>
          </a:xfrm>
        </p:grpSpPr>
        <p:sp>
          <p:nvSpPr>
            <p:cNvPr id="33" name="Oval 32"/>
            <p:cNvSpPr/>
            <p:nvPr/>
          </p:nvSpPr>
          <p:spPr>
            <a:xfrm>
              <a:off x="14892528" y="6361938"/>
              <a:ext cx="352044" cy="3520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4823186" y="6767322"/>
              <a:ext cx="490728" cy="426720"/>
            </a:xfrm>
            <a:custGeom>
              <a:avLst/>
              <a:gdLst/>
              <a:ahLst/>
              <a:cxnLst/>
              <a:rect l="l" t="t" r="r" b="b"/>
              <a:pathLst>
                <a:path w="490728" h="426720">
                  <a:moveTo>
                    <a:pt x="0" y="426720"/>
                  </a:moveTo>
                  <a:lnTo>
                    <a:pt x="245364" y="0"/>
                  </a:lnTo>
                  <a:lnTo>
                    <a:pt x="490728" y="4267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15425928" y="6361938"/>
              <a:ext cx="352044" cy="3520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15356586" y="6767322"/>
              <a:ext cx="490728" cy="426720"/>
            </a:xfrm>
            <a:custGeom>
              <a:avLst/>
              <a:gdLst/>
              <a:ahLst/>
              <a:cxnLst/>
              <a:rect l="l" t="t" r="r" b="b"/>
              <a:pathLst>
                <a:path w="490728" h="426720">
                  <a:moveTo>
                    <a:pt x="0" y="426720"/>
                  </a:moveTo>
                  <a:lnTo>
                    <a:pt x="245364" y="0"/>
                  </a:lnTo>
                  <a:lnTo>
                    <a:pt x="490728" y="4267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7" name="ctr-lbl-team"/>
          <p:cNvSpPr txBox="1"/>
          <p:nvPr/>
        </p:nvSpPr>
        <p:spPr>
          <a:xfrm>
            <a:off x="14430375" y="8220075"/>
            <a:ext cx="2381250" cy="1276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队伍</a:t>
            </a:r>
          </a:p>
        </p:txBody>
      </p:sp>
      <p:cxnSp>
        <p:nvCxnSpPr>
          <p:cNvPr id="38" name="ctr-cart-handle"/>
          <p:cNvCxnSpPr/>
          <p:nvPr/>
        </p:nvCxnSpPr>
        <p:spPr>
          <a:xfrm>
            <a:off x="18459450" y="6362700"/>
            <a:ext cx="228600" cy="0"/>
          </a:xfrm>
          <a:prstGeom prst="line">
            <a:avLst/>
          </a:prstGeom>
          <a:ln w="857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tr-cart-pole"/>
          <p:cNvCxnSpPr/>
          <p:nvPr/>
        </p:nvCxnSpPr>
        <p:spPr>
          <a:xfrm>
            <a:off x="18688050" y="6362700"/>
            <a:ext cx="228600" cy="666750"/>
          </a:xfrm>
          <a:prstGeom prst="line">
            <a:avLst/>
          </a:prstGeom>
          <a:ln w="857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tr-cart-body"/>
          <p:cNvSpPr/>
          <p:nvPr/>
        </p:nvSpPr>
        <p:spPr>
          <a:xfrm>
            <a:off x="18783300" y="6419850"/>
            <a:ext cx="781050" cy="590550"/>
          </a:xfrm>
          <a:custGeom>
            <a:avLst/>
            <a:gdLst/>
            <a:ahLst/>
            <a:cxnLst/>
            <a:rect l="l" t="t" r="r" b="b"/>
            <a:pathLst>
              <a:path w="781050" h="590550">
                <a:moveTo>
                  <a:pt x="0" y="0"/>
                </a:moveTo>
                <a:lnTo>
                  <a:pt x="781050" y="0"/>
                </a:lnTo>
                <a:lnTo>
                  <a:pt x="628650" y="590550"/>
                </a:lnTo>
                <a:lnTo>
                  <a:pt x="57150" y="590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tr-cart-w1"/>
          <p:cNvSpPr/>
          <p:nvPr/>
        </p:nvSpPr>
        <p:spPr>
          <a:xfrm>
            <a:off x="18869025" y="7115175"/>
            <a:ext cx="285750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tr-cart-w2"/>
          <p:cNvSpPr/>
          <p:nvPr/>
        </p:nvSpPr>
        <p:spPr>
          <a:xfrm>
            <a:off x="19269075" y="7115175"/>
            <a:ext cx="285750" cy="285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tr-lbl-market"/>
          <p:cNvSpPr txBox="1"/>
          <p:nvPr/>
        </p:nvSpPr>
        <p:spPr>
          <a:xfrm>
            <a:off x="18830925" y="8105775"/>
            <a:ext cx="2381250" cy="1276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44" name="arr-top"/>
          <p:cNvSpPr/>
          <p:nvPr/>
        </p:nvSpPr>
        <p:spPr>
          <a:xfrm>
            <a:off x="13030200" y="3324225"/>
            <a:ext cx="4953000" cy="1047750"/>
          </a:xfrm>
          <a:custGeom>
            <a:avLst/>
            <a:gdLst/>
            <a:ahLst/>
            <a:cxnLst/>
            <a:rect l="l" t="t" r="r" b="b"/>
            <a:pathLst>
              <a:path w="4953000" h="1047750">
                <a:moveTo>
                  <a:pt x="0" y="1047750"/>
                </a:moveTo>
                <a:lnTo>
                  <a:pt x="95250" y="981075"/>
                </a:lnTo>
                <a:lnTo>
                  <a:pt x="190500" y="904875"/>
                </a:lnTo>
                <a:lnTo>
                  <a:pt x="285750" y="838200"/>
                </a:lnTo>
                <a:lnTo>
                  <a:pt x="381000" y="781050"/>
                </a:lnTo>
                <a:lnTo>
                  <a:pt x="476250" y="714375"/>
                </a:lnTo>
                <a:lnTo>
                  <a:pt x="571500" y="657225"/>
                </a:lnTo>
                <a:lnTo>
                  <a:pt x="666750" y="609600"/>
                </a:lnTo>
                <a:lnTo>
                  <a:pt x="762000" y="552450"/>
                </a:lnTo>
                <a:lnTo>
                  <a:pt x="857250" y="504825"/>
                </a:lnTo>
                <a:lnTo>
                  <a:pt x="962025" y="457200"/>
                </a:lnTo>
                <a:lnTo>
                  <a:pt x="1057275" y="419100"/>
                </a:lnTo>
                <a:lnTo>
                  <a:pt x="1152525" y="381000"/>
                </a:lnTo>
                <a:lnTo>
                  <a:pt x="1247775" y="342900"/>
                </a:lnTo>
                <a:lnTo>
                  <a:pt x="1352550" y="304800"/>
                </a:lnTo>
                <a:lnTo>
                  <a:pt x="1447800" y="276225"/>
                </a:lnTo>
                <a:lnTo>
                  <a:pt x="1552575" y="247650"/>
                </a:lnTo>
                <a:lnTo>
                  <a:pt x="1647825" y="228600"/>
                </a:lnTo>
                <a:lnTo>
                  <a:pt x="1752600" y="200025"/>
                </a:lnTo>
                <a:lnTo>
                  <a:pt x="1847850" y="180975"/>
                </a:lnTo>
                <a:lnTo>
                  <a:pt x="1952625" y="171450"/>
                </a:lnTo>
                <a:lnTo>
                  <a:pt x="2057400" y="152400"/>
                </a:lnTo>
                <a:lnTo>
                  <a:pt x="2152650" y="142875"/>
                </a:lnTo>
                <a:lnTo>
                  <a:pt x="2257425" y="142875"/>
                </a:lnTo>
                <a:lnTo>
                  <a:pt x="2362200" y="133350"/>
                </a:lnTo>
                <a:lnTo>
                  <a:pt x="2457450" y="133350"/>
                </a:lnTo>
                <a:lnTo>
                  <a:pt x="2562225" y="133350"/>
                </a:lnTo>
                <a:lnTo>
                  <a:pt x="2667000" y="142875"/>
                </a:lnTo>
                <a:lnTo>
                  <a:pt x="2771775" y="152400"/>
                </a:lnTo>
                <a:lnTo>
                  <a:pt x="2876550" y="161925"/>
                </a:lnTo>
                <a:lnTo>
                  <a:pt x="2981325" y="171450"/>
                </a:lnTo>
                <a:lnTo>
                  <a:pt x="3086100" y="190500"/>
                </a:lnTo>
                <a:lnTo>
                  <a:pt x="3190875" y="209550"/>
                </a:lnTo>
                <a:lnTo>
                  <a:pt x="3295650" y="238125"/>
                </a:lnTo>
                <a:lnTo>
                  <a:pt x="3400425" y="257175"/>
                </a:lnTo>
                <a:lnTo>
                  <a:pt x="3505200" y="285750"/>
                </a:lnTo>
                <a:lnTo>
                  <a:pt x="3609975" y="323850"/>
                </a:lnTo>
                <a:lnTo>
                  <a:pt x="3714750" y="352425"/>
                </a:lnTo>
                <a:lnTo>
                  <a:pt x="3829050" y="390525"/>
                </a:lnTo>
                <a:lnTo>
                  <a:pt x="3933825" y="438150"/>
                </a:lnTo>
                <a:lnTo>
                  <a:pt x="4038600" y="476250"/>
                </a:lnTo>
                <a:lnTo>
                  <a:pt x="4143375" y="523875"/>
                </a:lnTo>
                <a:lnTo>
                  <a:pt x="4257675" y="571500"/>
                </a:lnTo>
                <a:lnTo>
                  <a:pt x="4362450" y="628650"/>
                </a:lnTo>
                <a:lnTo>
                  <a:pt x="4476750" y="685800"/>
                </a:lnTo>
                <a:lnTo>
                  <a:pt x="4581525" y="742950"/>
                </a:lnTo>
                <a:lnTo>
                  <a:pt x="4695825" y="800100"/>
                </a:lnTo>
                <a:lnTo>
                  <a:pt x="4610100" y="942975"/>
                </a:lnTo>
                <a:lnTo>
                  <a:pt x="4953000" y="866775"/>
                </a:lnTo>
                <a:lnTo>
                  <a:pt x="4857750" y="523875"/>
                </a:lnTo>
                <a:lnTo>
                  <a:pt x="4772025" y="666750"/>
                </a:lnTo>
                <a:lnTo>
                  <a:pt x="4667250" y="600075"/>
                </a:lnTo>
                <a:lnTo>
                  <a:pt x="4552950" y="542925"/>
                </a:lnTo>
                <a:lnTo>
                  <a:pt x="4448175" y="485775"/>
                </a:lnTo>
                <a:lnTo>
                  <a:pt x="4343400" y="438150"/>
                </a:lnTo>
                <a:lnTo>
                  <a:pt x="4229100" y="390525"/>
                </a:lnTo>
                <a:lnTo>
                  <a:pt x="4124325" y="342900"/>
                </a:lnTo>
                <a:lnTo>
                  <a:pt x="4019550" y="295275"/>
                </a:lnTo>
                <a:lnTo>
                  <a:pt x="3905250" y="257175"/>
                </a:lnTo>
                <a:lnTo>
                  <a:pt x="3800475" y="219075"/>
                </a:lnTo>
                <a:lnTo>
                  <a:pt x="3695700" y="180975"/>
                </a:lnTo>
                <a:lnTo>
                  <a:pt x="3590925" y="152400"/>
                </a:lnTo>
                <a:lnTo>
                  <a:pt x="3486150" y="123825"/>
                </a:lnTo>
                <a:lnTo>
                  <a:pt x="3381375" y="95250"/>
                </a:lnTo>
                <a:lnTo>
                  <a:pt x="3267075" y="76200"/>
                </a:lnTo>
                <a:lnTo>
                  <a:pt x="3162300" y="57150"/>
                </a:lnTo>
                <a:lnTo>
                  <a:pt x="3067050" y="38100"/>
                </a:lnTo>
                <a:lnTo>
                  <a:pt x="2962275" y="19050"/>
                </a:lnTo>
                <a:lnTo>
                  <a:pt x="2857500" y="9525"/>
                </a:lnTo>
                <a:lnTo>
                  <a:pt x="2752725" y="0"/>
                </a:lnTo>
                <a:lnTo>
                  <a:pt x="2647950" y="0"/>
                </a:lnTo>
                <a:lnTo>
                  <a:pt x="2543175" y="0"/>
                </a:lnTo>
                <a:lnTo>
                  <a:pt x="2438400" y="0"/>
                </a:lnTo>
                <a:lnTo>
                  <a:pt x="2343150" y="0"/>
                </a:lnTo>
                <a:lnTo>
                  <a:pt x="2238375" y="9525"/>
                </a:lnTo>
                <a:lnTo>
                  <a:pt x="2133600" y="19050"/>
                </a:lnTo>
                <a:lnTo>
                  <a:pt x="2038350" y="28575"/>
                </a:lnTo>
                <a:lnTo>
                  <a:pt x="1933575" y="47625"/>
                </a:lnTo>
                <a:lnTo>
                  <a:pt x="1838325" y="66675"/>
                </a:lnTo>
                <a:lnTo>
                  <a:pt x="1733550" y="85725"/>
                </a:lnTo>
                <a:lnTo>
                  <a:pt x="1628775" y="114300"/>
                </a:lnTo>
                <a:lnTo>
                  <a:pt x="1533525" y="142875"/>
                </a:lnTo>
                <a:lnTo>
                  <a:pt x="1438275" y="171450"/>
                </a:lnTo>
                <a:lnTo>
                  <a:pt x="1333500" y="200025"/>
                </a:lnTo>
                <a:lnTo>
                  <a:pt x="1238250" y="238125"/>
                </a:lnTo>
                <a:lnTo>
                  <a:pt x="1143000" y="276225"/>
                </a:lnTo>
                <a:lnTo>
                  <a:pt x="1038225" y="323850"/>
                </a:lnTo>
                <a:lnTo>
                  <a:pt x="942975" y="371475"/>
                </a:lnTo>
                <a:lnTo>
                  <a:pt x="847725" y="419100"/>
                </a:lnTo>
                <a:lnTo>
                  <a:pt x="752475" y="466725"/>
                </a:lnTo>
                <a:lnTo>
                  <a:pt x="657225" y="523875"/>
                </a:lnTo>
                <a:lnTo>
                  <a:pt x="552450" y="581025"/>
                </a:lnTo>
                <a:lnTo>
                  <a:pt x="457200" y="638175"/>
                </a:lnTo>
                <a:lnTo>
                  <a:pt x="361950" y="704850"/>
                </a:lnTo>
                <a:lnTo>
                  <a:pt x="266700" y="771525"/>
                </a:lnTo>
                <a:lnTo>
                  <a:pt x="171450" y="838200"/>
                </a:lnTo>
                <a:lnTo>
                  <a:pt x="76200" y="914400"/>
                </a:lnTo>
                <a:close/>
              </a:path>
            </a:pathLst>
          </a:cu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rr-bl"/>
          <p:cNvSpPr/>
          <p:nvPr/>
        </p:nvSpPr>
        <p:spPr>
          <a:xfrm>
            <a:off x="9124950" y="10896600"/>
            <a:ext cx="5038725" cy="1295400"/>
          </a:xfrm>
          <a:custGeom>
            <a:avLst/>
            <a:gdLst/>
            <a:ahLst/>
            <a:cxnLst/>
            <a:rect l="l" t="t" r="r" b="b"/>
            <a:pathLst>
              <a:path w="5038725" h="1295400">
                <a:moveTo>
                  <a:pt x="5038725" y="390525"/>
                </a:moveTo>
                <a:lnTo>
                  <a:pt x="4943475" y="466725"/>
                </a:lnTo>
                <a:lnTo>
                  <a:pt x="4838700" y="533400"/>
                </a:lnTo>
                <a:lnTo>
                  <a:pt x="4733925" y="600075"/>
                </a:lnTo>
                <a:lnTo>
                  <a:pt x="4629150" y="657225"/>
                </a:lnTo>
                <a:lnTo>
                  <a:pt x="4524375" y="714375"/>
                </a:lnTo>
                <a:lnTo>
                  <a:pt x="4419600" y="771525"/>
                </a:lnTo>
                <a:lnTo>
                  <a:pt x="4314825" y="819150"/>
                </a:lnTo>
                <a:lnTo>
                  <a:pt x="4210050" y="866775"/>
                </a:lnTo>
                <a:lnTo>
                  <a:pt x="4105275" y="914400"/>
                </a:lnTo>
                <a:lnTo>
                  <a:pt x="4000500" y="952500"/>
                </a:lnTo>
                <a:lnTo>
                  <a:pt x="3895725" y="990600"/>
                </a:lnTo>
                <a:lnTo>
                  <a:pt x="3790950" y="1019175"/>
                </a:lnTo>
                <a:lnTo>
                  <a:pt x="3695700" y="1047750"/>
                </a:lnTo>
                <a:lnTo>
                  <a:pt x="3590925" y="1076325"/>
                </a:lnTo>
                <a:lnTo>
                  <a:pt x="3486150" y="1104900"/>
                </a:lnTo>
                <a:lnTo>
                  <a:pt x="3381375" y="1123950"/>
                </a:lnTo>
                <a:lnTo>
                  <a:pt x="3276600" y="1133475"/>
                </a:lnTo>
                <a:lnTo>
                  <a:pt x="3171825" y="1152525"/>
                </a:lnTo>
                <a:lnTo>
                  <a:pt x="3067050" y="1162050"/>
                </a:lnTo>
                <a:lnTo>
                  <a:pt x="2962275" y="1162050"/>
                </a:lnTo>
                <a:lnTo>
                  <a:pt x="2857500" y="1171575"/>
                </a:lnTo>
                <a:lnTo>
                  <a:pt x="2752725" y="1171575"/>
                </a:lnTo>
                <a:lnTo>
                  <a:pt x="2647950" y="1162050"/>
                </a:lnTo>
                <a:lnTo>
                  <a:pt x="2543175" y="1152525"/>
                </a:lnTo>
                <a:lnTo>
                  <a:pt x="2447925" y="1143000"/>
                </a:lnTo>
                <a:lnTo>
                  <a:pt x="2343150" y="1133475"/>
                </a:lnTo>
                <a:lnTo>
                  <a:pt x="2238375" y="1114425"/>
                </a:lnTo>
                <a:lnTo>
                  <a:pt x="2133600" y="1095375"/>
                </a:lnTo>
                <a:lnTo>
                  <a:pt x="2028825" y="1066800"/>
                </a:lnTo>
                <a:lnTo>
                  <a:pt x="1924050" y="1038225"/>
                </a:lnTo>
                <a:lnTo>
                  <a:pt x="1819275" y="1009650"/>
                </a:lnTo>
                <a:lnTo>
                  <a:pt x="1714500" y="971550"/>
                </a:lnTo>
                <a:lnTo>
                  <a:pt x="1609725" y="933450"/>
                </a:lnTo>
                <a:lnTo>
                  <a:pt x="1504950" y="895350"/>
                </a:lnTo>
                <a:lnTo>
                  <a:pt x="1400175" y="847725"/>
                </a:lnTo>
                <a:lnTo>
                  <a:pt x="1295400" y="800100"/>
                </a:lnTo>
                <a:lnTo>
                  <a:pt x="1200150" y="752475"/>
                </a:lnTo>
                <a:lnTo>
                  <a:pt x="1095375" y="695325"/>
                </a:lnTo>
                <a:lnTo>
                  <a:pt x="990600" y="638175"/>
                </a:lnTo>
                <a:lnTo>
                  <a:pt x="885825" y="571500"/>
                </a:lnTo>
                <a:lnTo>
                  <a:pt x="781050" y="514350"/>
                </a:lnTo>
                <a:lnTo>
                  <a:pt x="676275" y="438150"/>
                </a:lnTo>
                <a:lnTo>
                  <a:pt x="571500" y="371475"/>
                </a:lnTo>
                <a:lnTo>
                  <a:pt x="466725" y="295275"/>
                </a:lnTo>
                <a:lnTo>
                  <a:pt x="361950" y="219075"/>
                </a:lnTo>
                <a:lnTo>
                  <a:pt x="257175" y="133350"/>
                </a:lnTo>
                <a:lnTo>
                  <a:pt x="371475" y="0"/>
                </a:lnTo>
                <a:lnTo>
                  <a:pt x="0" y="19050"/>
                </a:lnTo>
                <a:lnTo>
                  <a:pt x="47625" y="381000"/>
                </a:lnTo>
                <a:lnTo>
                  <a:pt x="152400" y="257175"/>
                </a:lnTo>
                <a:lnTo>
                  <a:pt x="257175" y="342900"/>
                </a:lnTo>
                <a:lnTo>
                  <a:pt x="361950" y="419100"/>
                </a:lnTo>
                <a:lnTo>
                  <a:pt x="466725" y="495300"/>
                </a:lnTo>
                <a:lnTo>
                  <a:pt x="571500" y="561975"/>
                </a:lnTo>
                <a:lnTo>
                  <a:pt x="676275" y="638175"/>
                </a:lnTo>
                <a:lnTo>
                  <a:pt x="781050" y="695325"/>
                </a:lnTo>
                <a:lnTo>
                  <a:pt x="885825" y="762000"/>
                </a:lnTo>
                <a:lnTo>
                  <a:pt x="990600" y="819150"/>
                </a:lnTo>
                <a:lnTo>
                  <a:pt x="1095375" y="876300"/>
                </a:lnTo>
                <a:lnTo>
                  <a:pt x="1200150" y="923925"/>
                </a:lnTo>
                <a:lnTo>
                  <a:pt x="1295400" y="971550"/>
                </a:lnTo>
                <a:lnTo>
                  <a:pt x="1400175" y="1019175"/>
                </a:lnTo>
                <a:lnTo>
                  <a:pt x="1504950" y="1057275"/>
                </a:lnTo>
                <a:lnTo>
                  <a:pt x="1609725" y="1095375"/>
                </a:lnTo>
                <a:lnTo>
                  <a:pt x="1714500" y="1133475"/>
                </a:lnTo>
                <a:lnTo>
                  <a:pt x="1819275" y="1162050"/>
                </a:lnTo>
                <a:lnTo>
                  <a:pt x="1924050" y="1190625"/>
                </a:lnTo>
                <a:lnTo>
                  <a:pt x="2028825" y="1219200"/>
                </a:lnTo>
                <a:lnTo>
                  <a:pt x="2133600" y="1238250"/>
                </a:lnTo>
                <a:lnTo>
                  <a:pt x="2238375" y="1257300"/>
                </a:lnTo>
                <a:lnTo>
                  <a:pt x="2343150" y="1266825"/>
                </a:lnTo>
                <a:lnTo>
                  <a:pt x="2447925" y="1285875"/>
                </a:lnTo>
                <a:lnTo>
                  <a:pt x="2543175" y="1285875"/>
                </a:lnTo>
                <a:lnTo>
                  <a:pt x="2647950" y="1295400"/>
                </a:lnTo>
                <a:lnTo>
                  <a:pt x="2752725" y="1295400"/>
                </a:lnTo>
                <a:lnTo>
                  <a:pt x="2857500" y="1285875"/>
                </a:lnTo>
                <a:lnTo>
                  <a:pt x="2962275" y="1285875"/>
                </a:lnTo>
                <a:lnTo>
                  <a:pt x="3067050" y="1276350"/>
                </a:lnTo>
                <a:lnTo>
                  <a:pt x="3171825" y="1257300"/>
                </a:lnTo>
                <a:lnTo>
                  <a:pt x="3276600" y="1247775"/>
                </a:lnTo>
                <a:lnTo>
                  <a:pt x="3381375" y="1228725"/>
                </a:lnTo>
                <a:lnTo>
                  <a:pt x="3486150" y="1200150"/>
                </a:lnTo>
                <a:lnTo>
                  <a:pt x="3590925" y="1171575"/>
                </a:lnTo>
                <a:lnTo>
                  <a:pt x="3695700" y="1143000"/>
                </a:lnTo>
                <a:lnTo>
                  <a:pt x="3790950" y="1114425"/>
                </a:lnTo>
                <a:lnTo>
                  <a:pt x="3895725" y="1076325"/>
                </a:lnTo>
                <a:lnTo>
                  <a:pt x="4000500" y="1038225"/>
                </a:lnTo>
                <a:lnTo>
                  <a:pt x="4105275" y="990600"/>
                </a:lnTo>
                <a:lnTo>
                  <a:pt x="4210050" y="942975"/>
                </a:lnTo>
                <a:lnTo>
                  <a:pt x="4314825" y="895350"/>
                </a:lnTo>
                <a:lnTo>
                  <a:pt x="4419600" y="838200"/>
                </a:lnTo>
                <a:lnTo>
                  <a:pt x="4524375" y="781050"/>
                </a:lnTo>
                <a:lnTo>
                  <a:pt x="4629150" y="723900"/>
                </a:lnTo>
                <a:lnTo>
                  <a:pt x="4733925" y="657225"/>
                </a:lnTo>
                <a:lnTo>
                  <a:pt x="4838700" y="590550"/>
                </a:lnTo>
                <a:lnTo>
                  <a:pt x="4943475" y="523875"/>
                </a:lnTo>
                <a:close/>
              </a:path>
            </a:pathLst>
          </a:cu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r-br"/>
          <p:cNvSpPr/>
          <p:nvPr/>
        </p:nvSpPr>
        <p:spPr>
          <a:xfrm>
            <a:off x="17287875" y="10896600"/>
            <a:ext cx="5124450" cy="1295400"/>
          </a:xfrm>
          <a:custGeom>
            <a:avLst/>
            <a:gdLst/>
            <a:ahLst/>
            <a:cxnLst/>
            <a:rect l="l" t="t" r="r" b="b"/>
            <a:pathLst>
              <a:path w="5124450" h="1295400">
                <a:moveTo>
                  <a:pt x="5124450" y="390525"/>
                </a:moveTo>
                <a:lnTo>
                  <a:pt x="5019675" y="466725"/>
                </a:lnTo>
                <a:lnTo>
                  <a:pt x="4914900" y="533400"/>
                </a:lnTo>
                <a:lnTo>
                  <a:pt x="4810125" y="600075"/>
                </a:lnTo>
                <a:lnTo>
                  <a:pt x="4705350" y="657225"/>
                </a:lnTo>
                <a:lnTo>
                  <a:pt x="4591050" y="714375"/>
                </a:lnTo>
                <a:lnTo>
                  <a:pt x="4486275" y="771525"/>
                </a:lnTo>
                <a:lnTo>
                  <a:pt x="4381500" y="819150"/>
                </a:lnTo>
                <a:lnTo>
                  <a:pt x="4276725" y="866775"/>
                </a:lnTo>
                <a:lnTo>
                  <a:pt x="4171950" y="914400"/>
                </a:lnTo>
                <a:lnTo>
                  <a:pt x="4057650" y="952500"/>
                </a:lnTo>
                <a:lnTo>
                  <a:pt x="3952875" y="990600"/>
                </a:lnTo>
                <a:lnTo>
                  <a:pt x="3848100" y="1019175"/>
                </a:lnTo>
                <a:lnTo>
                  <a:pt x="3743325" y="1047750"/>
                </a:lnTo>
                <a:lnTo>
                  <a:pt x="3638550" y="1076325"/>
                </a:lnTo>
                <a:lnTo>
                  <a:pt x="3533775" y="1104900"/>
                </a:lnTo>
                <a:lnTo>
                  <a:pt x="3419475" y="1123950"/>
                </a:lnTo>
                <a:lnTo>
                  <a:pt x="3314700" y="1133475"/>
                </a:lnTo>
                <a:lnTo>
                  <a:pt x="3209925" y="1152525"/>
                </a:lnTo>
                <a:lnTo>
                  <a:pt x="3105150" y="1162050"/>
                </a:lnTo>
                <a:lnTo>
                  <a:pt x="3000375" y="1162050"/>
                </a:lnTo>
                <a:lnTo>
                  <a:pt x="2895600" y="1171575"/>
                </a:lnTo>
                <a:lnTo>
                  <a:pt x="2790825" y="1171575"/>
                </a:lnTo>
                <a:lnTo>
                  <a:pt x="2686050" y="1162050"/>
                </a:lnTo>
                <a:lnTo>
                  <a:pt x="2571750" y="1152525"/>
                </a:lnTo>
                <a:lnTo>
                  <a:pt x="2466975" y="1143000"/>
                </a:lnTo>
                <a:lnTo>
                  <a:pt x="2362200" y="1133475"/>
                </a:lnTo>
                <a:lnTo>
                  <a:pt x="2257425" y="1114425"/>
                </a:lnTo>
                <a:lnTo>
                  <a:pt x="2152650" y="1095375"/>
                </a:lnTo>
                <a:lnTo>
                  <a:pt x="2047875" y="1066800"/>
                </a:lnTo>
                <a:lnTo>
                  <a:pt x="1943100" y="1038225"/>
                </a:lnTo>
                <a:lnTo>
                  <a:pt x="1838325" y="1009650"/>
                </a:lnTo>
                <a:lnTo>
                  <a:pt x="1733550" y="971550"/>
                </a:lnTo>
                <a:lnTo>
                  <a:pt x="1628775" y="933450"/>
                </a:lnTo>
                <a:lnTo>
                  <a:pt x="1524000" y="895350"/>
                </a:lnTo>
                <a:lnTo>
                  <a:pt x="1419225" y="847725"/>
                </a:lnTo>
                <a:lnTo>
                  <a:pt x="1314450" y="800100"/>
                </a:lnTo>
                <a:lnTo>
                  <a:pt x="1209675" y="752475"/>
                </a:lnTo>
                <a:lnTo>
                  <a:pt x="1104900" y="695325"/>
                </a:lnTo>
                <a:lnTo>
                  <a:pt x="990600" y="638175"/>
                </a:lnTo>
                <a:lnTo>
                  <a:pt x="885825" y="571500"/>
                </a:lnTo>
                <a:lnTo>
                  <a:pt x="781050" y="514350"/>
                </a:lnTo>
                <a:lnTo>
                  <a:pt x="676275" y="438150"/>
                </a:lnTo>
                <a:lnTo>
                  <a:pt x="571500" y="371475"/>
                </a:lnTo>
                <a:lnTo>
                  <a:pt x="466725" y="295275"/>
                </a:lnTo>
                <a:lnTo>
                  <a:pt x="361950" y="209550"/>
                </a:lnTo>
                <a:lnTo>
                  <a:pt x="257175" y="133350"/>
                </a:lnTo>
                <a:lnTo>
                  <a:pt x="371475" y="0"/>
                </a:lnTo>
                <a:lnTo>
                  <a:pt x="0" y="19050"/>
                </a:lnTo>
                <a:lnTo>
                  <a:pt x="47625" y="381000"/>
                </a:lnTo>
                <a:lnTo>
                  <a:pt x="161925" y="257175"/>
                </a:lnTo>
                <a:lnTo>
                  <a:pt x="266700" y="342900"/>
                </a:lnTo>
                <a:lnTo>
                  <a:pt x="371475" y="419100"/>
                </a:lnTo>
                <a:lnTo>
                  <a:pt x="476250" y="495300"/>
                </a:lnTo>
                <a:lnTo>
                  <a:pt x="581025" y="561975"/>
                </a:lnTo>
                <a:lnTo>
                  <a:pt x="685800" y="638175"/>
                </a:lnTo>
                <a:lnTo>
                  <a:pt x="790575" y="695325"/>
                </a:lnTo>
                <a:lnTo>
                  <a:pt x="895350" y="762000"/>
                </a:lnTo>
                <a:lnTo>
                  <a:pt x="1000125" y="819150"/>
                </a:lnTo>
                <a:lnTo>
                  <a:pt x="1104900" y="876300"/>
                </a:lnTo>
                <a:lnTo>
                  <a:pt x="1209675" y="923925"/>
                </a:lnTo>
                <a:lnTo>
                  <a:pt x="1314450" y="971550"/>
                </a:lnTo>
                <a:lnTo>
                  <a:pt x="1419225" y="1019175"/>
                </a:lnTo>
                <a:lnTo>
                  <a:pt x="1524000" y="1057275"/>
                </a:lnTo>
                <a:lnTo>
                  <a:pt x="1628775" y="1095375"/>
                </a:lnTo>
                <a:lnTo>
                  <a:pt x="1733550" y="1133475"/>
                </a:lnTo>
                <a:lnTo>
                  <a:pt x="1838325" y="1162050"/>
                </a:lnTo>
                <a:lnTo>
                  <a:pt x="1943100" y="1190625"/>
                </a:lnTo>
                <a:lnTo>
                  <a:pt x="2047875" y="1219200"/>
                </a:lnTo>
                <a:lnTo>
                  <a:pt x="2152650" y="1238250"/>
                </a:lnTo>
                <a:lnTo>
                  <a:pt x="2257425" y="1257300"/>
                </a:lnTo>
                <a:lnTo>
                  <a:pt x="2362200" y="1266825"/>
                </a:lnTo>
                <a:lnTo>
                  <a:pt x="2476500" y="1285875"/>
                </a:lnTo>
                <a:lnTo>
                  <a:pt x="2581275" y="1285875"/>
                </a:lnTo>
                <a:lnTo>
                  <a:pt x="2686050" y="1295400"/>
                </a:lnTo>
                <a:lnTo>
                  <a:pt x="2790825" y="1295400"/>
                </a:lnTo>
                <a:lnTo>
                  <a:pt x="2895600" y="1285875"/>
                </a:lnTo>
                <a:lnTo>
                  <a:pt x="3000375" y="1285875"/>
                </a:lnTo>
                <a:lnTo>
                  <a:pt x="3105150" y="1276350"/>
                </a:lnTo>
                <a:lnTo>
                  <a:pt x="3209925" y="1257300"/>
                </a:lnTo>
                <a:lnTo>
                  <a:pt x="3324225" y="1247775"/>
                </a:lnTo>
                <a:lnTo>
                  <a:pt x="3429000" y="1228725"/>
                </a:lnTo>
                <a:lnTo>
                  <a:pt x="3533775" y="1200150"/>
                </a:lnTo>
                <a:lnTo>
                  <a:pt x="3638550" y="1171575"/>
                </a:lnTo>
                <a:lnTo>
                  <a:pt x="3743325" y="1143000"/>
                </a:lnTo>
                <a:lnTo>
                  <a:pt x="3848100" y="1114425"/>
                </a:lnTo>
                <a:lnTo>
                  <a:pt x="3962400" y="1076325"/>
                </a:lnTo>
                <a:lnTo>
                  <a:pt x="4067175" y="1038225"/>
                </a:lnTo>
                <a:lnTo>
                  <a:pt x="4171950" y="990600"/>
                </a:lnTo>
                <a:lnTo>
                  <a:pt x="4276725" y="942975"/>
                </a:lnTo>
                <a:lnTo>
                  <a:pt x="4381500" y="895350"/>
                </a:lnTo>
                <a:lnTo>
                  <a:pt x="4486275" y="838200"/>
                </a:lnTo>
                <a:lnTo>
                  <a:pt x="4600575" y="781050"/>
                </a:lnTo>
                <a:lnTo>
                  <a:pt x="4705350" y="723900"/>
                </a:lnTo>
                <a:lnTo>
                  <a:pt x="4810125" y="657225"/>
                </a:lnTo>
                <a:lnTo>
                  <a:pt x="4914900" y="590550"/>
                </a:lnTo>
                <a:lnTo>
                  <a:pt x="5029200" y="523875"/>
                </a:lnTo>
                <a:close/>
              </a:path>
            </a:pathLst>
          </a:cu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-bubble"/>
          <p:cNvSpPr/>
          <p:nvPr/>
        </p:nvSpPr>
        <p:spPr>
          <a:xfrm>
            <a:off x="22421850" y="2428875"/>
            <a:ext cx="6943725" cy="2190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6675">
            <a:solidFill>
              <a:srgbClr val="4D89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-bubble-tail"/>
          <p:cNvSpPr/>
          <p:nvPr/>
        </p:nvSpPr>
        <p:spPr>
          <a:xfrm>
            <a:off x="23269575" y="4552950"/>
            <a:ext cx="428625" cy="390525"/>
          </a:xfrm>
          <a:custGeom>
            <a:avLst/>
            <a:gdLst/>
            <a:ahLst/>
            <a:cxnLst/>
            <a:rect l="l" t="t" r="r" b="b"/>
            <a:pathLst>
              <a:path w="428625" h="390525">
                <a:moveTo>
                  <a:pt x="0" y="0"/>
                </a:moveTo>
                <a:lnTo>
                  <a:pt x="428625" y="0"/>
                </a:lnTo>
                <a:lnTo>
                  <a:pt x="180975" y="390525"/>
                </a:lnTo>
                <a:close/>
              </a:path>
            </a:pathLst>
          </a:cu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ight-bubble-hole"/>
          <p:cNvSpPr/>
          <p:nvPr/>
        </p:nvSpPr>
        <p:spPr>
          <a:xfrm>
            <a:off x="23317200" y="4476750"/>
            <a:ext cx="333375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ight-bubble-t1"/>
          <p:cNvSpPr txBox="1"/>
          <p:nvPr/>
        </p:nvSpPr>
        <p:spPr>
          <a:xfrm>
            <a:off x="23374350" y="2552700"/>
            <a:ext cx="4733925" cy="13906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62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2025年</a:t>
            </a:r>
          </a:p>
        </p:txBody>
      </p:sp>
      <p:sp>
        <p:nvSpPr>
          <p:cNvPr id="51" name="right-bubble-t2"/>
          <p:cNvSpPr txBox="1"/>
          <p:nvPr/>
        </p:nvSpPr>
        <p:spPr>
          <a:xfrm>
            <a:off x="23107650" y="3714750"/>
            <a:ext cx="5391150" cy="800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37" b="0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平台各项业务数据表现</a:t>
            </a:r>
          </a:p>
        </p:txBody>
      </p:sp>
      <p:sp>
        <p:nvSpPr>
          <p:cNvPr id="52" name="right-card1"/>
          <p:cNvSpPr/>
          <p:nvPr/>
        </p:nvSpPr>
        <p:spPr>
          <a:xfrm>
            <a:off x="23317200" y="6096000"/>
            <a:ext cx="5972175" cy="1714500"/>
          </a:xfrm>
          <a:prstGeom prst="rect">
            <a:avLst/>
          </a:prstGeom>
          <a:solidFill>
            <a:srgbClr val="FFFFFF"/>
          </a:solidFill>
          <a:ln w="28575">
            <a:solidFill>
              <a:srgbClr val="4D89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ight-card1-lbl"/>
          <p:cNvSpPr txBox="1"/>
          <p:nvPr/>
        </p:nvSpPr>
        <p:spPr>
          <a:xfrm>
            <a:off x="23955375" y="6515100"/>
            <a:ext cx="2600325" cy="904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62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销量增长</a:t>
            </a:r>
          </a:p>
        </p:txBody>
      </p:sp>
      <p:sp>
        <p:nvSpPr>
          <p:cNvPr id="54" name="right-card1-num"/>
          <p:cNvSpPr txBox="1"/>
          <p:nvPr/>
        </p:nvSpPr>
        <p:spPr>
          <a:xfrm>
            <a:off x="26136600" y="5981700"/>
            <a:ext cx="2952750" cy="182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0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68%</a:t>
            </a:r>
          </a:p>
        </p:txBody>
      </p:sp>
      <p:sp>
        <p:nvSpPr>
          <p:cNvPr id="55" name="right-card2"/>
          <p:cNvSpPr/>
          <p:nvPr/>
        </p:nvSpPr>
        <p:spPr>
          <a:xfrm>
            <a:off x="23317200" y="8305800"/>
            <a:ext cx="5972175" cy="1714500"/>
          </a:xfrm>
          <a:prstGeom prst="rect">
            <a:avLst/>
          </a:prstGeom>
          <a:solidFill>
            <a:srgbClr val="FFFFFF"/>
          </a:solidFill>
          <a:ln w="28575">
            <a:solidFill>
              <a:srgbClr val="4D89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ight-card2-lbl"/>
          <p:cNvSpPr txBox="1"/>
          <p:nvPr/>
        </p:nvSpPr>
        <p:spPr>
          <a:xfrm>
            <a:off x="23955375" y="8724900"/>
            <a:ext cx="2600325" cy="904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62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金额增长</a:t>
            </a:r>
          </a:p>
        </p:txBody>
      </p:sp>
      <p:sp>
        <p:nvSpPr>
          <p:cNvPr id="57" name="right-card2-num"/>
          <p:cNvSpPr txBox="1"/>
          <p:nvPr/>
        </p:nvSpPr>
        <p:spPr>
          <a:xfrm>
            <a:off x="26136600" y="8191500"/>
            <a:ext cx="2952750" cy="182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0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48%</a:t>
            </a:r>
          </a:p>
        </p:txBody>
      </p:sp>
      <p:sp>
        <p:nvSpPr>
          <p:cNvPr id="58" name="right-card3"/>
          <p:cNvSpPr/>
          <p:nvPr/>
        </p:nvSpPr>
        <p:spPr>
          <a:xfrm>
            <a:off x="23317200" y="10515600"/>
            <a:ext cx="5972175" cy="1714500"/>
          </a:xfrm>
          <a:prstGeom prst="rect">
            <a:avLst/>
          </a:prstGeom>
          <a:solidFill>
            <a:srgbClr val="FFFFFF"/>
          </a:solidFill>
          <a:ln w="28575">
            <a:solidFill>
              <a:srgbClr val="4D89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ight-card3-lbl"/>
          <p:cNvSpPr txBox="1"/>
          <p:nvPr/>
        </p:nvSpPr>
        <p:spPr>
          <a:xfrm>
            <a:off x="23955375" y="10934700"/>
            <a:ext cx="2600325" cy="904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62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利润增长</a:t>
            </a:r>
          </a:p>
        </p:txBody>
      </p:sp>
      <p:sp>
        <p:nvSpPr>
          <p:cNvPr id="60" name="right-card3-num"/>
          <p:cNvSpPr txBox="1"/>
          <p:nvPr/>
        </p:nvSpPr>
        <p:spPr>
          <a:xfrm>
            <a:off x="26136600" y="10401300"/>
            <a:ext cx="2952750" cy="182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0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38%</a:t>
            </a:r>
          </a:p>
        </p:txBody>
      </p:sp>
      <p:sp>
        <p:nvSpPr>
          <p:cNvPr id="61" name="bot-pill"/>
          <p:cNvSpPr/>
          <p:nvPr/>
        </p:nvSpPr>
        <p:spPr>
          <a:xfrm>
            <a:off x="2305050" y="12811125"/>
            <a:ext cx="5000625" cy="742950"/>
          </a:xfrm>
          <a:prstGeom prst="roundRect">
            <a:avLst>
              <a:gd name="adj" fmla="val 50000"/>
            </a:avLst>
          </a:pr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ot-pill-txt"/>
          <p:cNvSpPr txBox="1"/>
          <p:nvPr/>
        </p:nvSpPr>
        <p:spPr>
          <a:xfrm>
            <a:off x="2914650" y="12830175"/>
            <a:ext cx="3771900" cy="7239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56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目标实现步骤</a:t>
            </a:r>
          </a:p>
        </p:txBody>
      </p:sp>
      <p:sp>
        <p:nvSpPr>
          <p:cNvPr id="63" name="bot-panel"/>
          <p:cNvSpPr/>
          <p:nvPr/>
        </p:nvSpPr>
        <p:spPr>
          <a:xfrm>
            <a:off x="1066800" y="13716000"/>
            <a:ext cx="28241625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8575">
            <a:solidFill>
              <a:srgbClr val="4D89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ot-step1"/>
          <p:cNvSpPr txBox="1"/>
          <p:nvPr/>
        </p:nvSpPr>
        <p:spPr>
          <a:xfrm>
            <a:off x="3562350" y="14392275"/>
            <a:ext cx="2905125" cy="809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75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步骤01</a:t>
            </a:r>
          </a:p>
        </p:txBody>
      </p:sp>
      <p:sp>
        <p:nvSpPr>
          <p:cNvPr id="65" name="bot-step2"/>
          <p:cNvSpPr txBox="1"/>
          <p:nvPr/>
        </p:nvSpPr>
        <p:spPr>
          <a:xfrm>
            <a:off x="9144000" y="14392275"/>
            <a:ext cx="2905125" cy="809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75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步骤02</a:t>
            </a:r>
          </a:p>
        </p:txBody>
      </p:sp>
      <p:sp>
        <p:nvSpPr>
          <p:cNvPr id="66" name="bot-step3"/>
          <p:cNvSpPr txBox="1"/>
          <p:nvPr/>
        </p:nvSpPr>
        <p:spPr>
          <a:xfrm>
            <a:off x="14192250" y="14392275"/>
            <a:ext cx="2905125" cy="809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75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步骤03</a:t>
            </a:r>
          </a:p>
        </p:txBody>
      </p:sp>
      <p:sp>
        <p:nvSpPr>
          <p:cNvPr id="67" name="bot-step4"/>
          <p:cNvSpPr txBox="1"/>
          <p:nvPr/>
        </p:nvSpPr>
        <p:spPr>
          <a:xfrm>
            <a:off x="18954750" y="14392275"/>
            <a:ext cx="2905125" cy="809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75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步骤04</a:t>
            </a:r>
          </a:p>
        </p:txBody>
      </p:sp>
      <p:sp>
        <p:nvSpPr>
          <p:cNvPr id="68" name="bot-step5"/>
          <p:cNvSpPr txBox="1"/>
          <p:nvPr/>
        </p:nvSpPr>
        <p:spPr>
          <a:xfrm>
            <a:off x="23945850" y="14392275"/>
            <a:ext cx="2905125" cy="809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75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步骤05</a:t>
            </a:r>
          </a:p>
        </p:txBody>
      </p:sp>
      <p:sp>
        <p:nvSpPr>
          <p:cNvPr id="69" name="bot-arrow1"/>
          <p:cNvSpPr/>
          <p:nvPr/>
        </p:nvSpPr>
        <p:spPr>
          <a:xfrm>
            <a:off x="7839075" y="14687550"/>
            <a:ext cx="552450" cy="209550"/>
          </a:xfrm>
          <a:prstGeom prst="rightArrow">
            <a:avLst/>
          </a:pr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bot-arrow2"/>
          <p:cNvSpPr/>
          <p:nvPr/>
        </p:nvSpPr>
        <p:spPr>
          <a:xfrm>
            <a:off x="12915900" y="14687550"/>
            <a:ext cx="552450" cy="209550"/>
          </a:xfrm>
          <a:prstGeom prst="rightArrow">
            <a:avLst/>
          </a:pr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bot-arrow3"/>
          <p:cNvSpPr/>
          <p:nvPr/>
        </p:nvSpPr>
        <p:spPr>
          <a:xfrm>
            <a:off x="17887950" y="14687550"/>
            <a:ext cx="552450" cy="209550"/>
          </a:xfrm>
          <a:prstGeom prst="rightArrow">
            <a:avLst/>
          </a:pr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bot-arrow4"/>
          <p:cNvSpPr/>
          <p:nvPr/>
        </p:nvSpPr>
        <p:spPr>
          <a:xfrm>
            <a:off x="23060025" y="14687550"/>
            <a:ext cx="552450" cy="209550"/>
          </a:xfrm>
          <a:prstGeom prst="rightArrow">
            <a:avLst/>
          </a:prstGeom>
          <a:solidFill>
            <a:srgbClr val="4D8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bot-bar"/>
          <p:cNvSpPr/>
          <p:nvPr/>
        </p:nvSpPr>
        <p:spPr>
          <a:xfrm>
            <a:off x="1333500" y="16487775"/>
            <a:ext cx="28451175" cy="38100"/>
          </a:xfrm>
          <a:prstGeom prst="rect">
            <a:avLst/>
          </a:prstGeom>
          <a:solidFill>
            <a:srgbClr val="588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