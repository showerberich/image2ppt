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3259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325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-tl-block"/>
          <p:cNvSpPr/>
          <p:nvPr/>
        </p:nvSpPr>
        <p:spPr>
          <a:xfrm>
            <a:off x="885825" y="914400"/>
            <a:ext cx="2590800" cy="2009775"/>
          </a:xfrm>
          <a:custGeom>
            <a:avLst/>
            <a:gdLst/>
            <a:ahLst/>
            <a:cxnLst/>
            <a:rect l="l" t="t" r="r" b="b"/>
            <a:pathLst>
              <a:path w="2590800" h="2009775">
                <a:moveTo>
                  <a:pt x="0" y="0"/>
                </a:moveTo>
                <a:lnTo>
                  <a:pt x="2590800" y="0"/>
                </a:lnTo>
                <a:lnTo>
                  <a:pt x="2409825" y="457200"/>
                </a:lnTo>
                <a:lnTo>
                  <a:pt x="1514475" y="504825"/>
                </a:lnTo>
                <a:lnTo>
                  <a:pt x="1066800" y="1295400"/>
                </a:lnTo>
                <a:lnTo>
                  <a:pt x="1428750" y="1962150"/>
                </a:lnTo>
                <a:lnTo>
                  <a:pt x="0" y="2009775"/>
                </a:lnTo>
                <a:close/>
              </a:path>
            </a:pathLst>
          </a:custGeom>
          <a:solidFill>
            <a:srgbClr val="407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tl-hex"/>
          <p:cNvSpPr/>
          <p:nvPr/>
        </p:nvSpPr>
        <p:spPr>
          <a:xfrm>
            <a:off x="1933575" y="1419225"/>
            <a:ext cx="1924050" cy="1581150"/>
          </a:xfrm>
          <a:custGeom>
            <a:avLst/>
            <a:gdLst/>
            <a:ahLst/>
            <a:cxnLst/>
            <a:rect l="l" t="t" r="r" b="b"/>
            <a:pathLst>
              <a:path w="1924050" h="1581150">
                <a:moveTo>
                  <a:pt x="466725" y="0"/>
                </a:moveTo>
                <a:lnTo>
                  <a:pt x="1419225" y="0"/>
                </a:lnTo>
                <a:lnTo>
                  <a:pt x="1924050" y="790575"/>
                </a:lnTo>
                <a:lnTo>
                  <a:pt x="1419225" y="1581150"/>
                </a:lnTo>
                <a:lnTo>
                  <a:pt x="466725" y="1581150"/>
                </a:lnTo>
                <a:lnTo>
                  <a:pt x="0" y="790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tr"/>
          <p:cNvSpPr/>
          <p:nvPr/>
        </p:nvSpPr>
        <p:spPr>
          <a:xfrm>
            <a:off x="26650950" y="952500"/>
            <a:ext cx="2933700" cy="1295400"/>
          </a:xfrm>
          <a:custGeom>
            <a:avLst/>
            <a:gdLst/>
            <a:ahLst/>
            <a:cxnLst/>
            <a:rect l="l" t="t" r="r" b="b"/>
            <a:pathLst>
              <a:path w="2933700" h="1295400">
                <a:moveTo>
                  <a:pt x="0" y="0"/>
                </a:moveTo>
                <a:lnTo>
                  <a:pt x="2933700" y="0"/>
                </a:lnTo>
                <a:lnTo>
                  <a:pt x="2933700" y="523875"/>
                </a:lnTo>
                <a:lnTo>
                  <a:pt x="2457450" y="1295400"/>
                </a:lnTo>
                <a:lnTo>
                  <a:pt x="762000" y="1295400"/>
                </a:lnTo>
                <a:close/>
              </a:path>
            </a:pathLst>
          </a:custGeom>
          <a:solidFill>
            <a:srgbClr val="407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b1"/>
          <p:cNvSpPr/>
          <p:nvPr/>
        </p:nvSpPr>
        <p:spPr>
          <a:xfrm>
            <a:off x="20078700" y="15430500"/>
            <a:ext cx="2247900" cy="1009650"/>
          </a:xfrm>
          <a:custGeom>
            <a:avLst/>
            <a:gdLst/>
            <a:ahLst/>
            <a:cxnLst/>
            <a:rect l="l" t="t" r="r" b="b"/>
            <a:pathLst>
              <a:path w="2247900" h="1009650">
                <a:moveTo>
                  <a:pt x="571500" y="0"/>
                </a:moveTo>
                <a:lnTo>
                  <a:pt x="1581150" y="0"/>
                </a:lnTo>
                <a:lnTo>
                  <a:pt x="2247900" y="1009650"/>
                </a:lnTo>
                <a:lnTo>
                  <a:pt x="0" y="1009650"/>
                </a:lnTo>
                <a:close/>
              </a:path>
            </a:pathLst>
          </a:custGeom>
          <a:solidFill>
            <a:srgbClr val="407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b2"/>
          <p:cNvSpPr/>
          <p:nvPr/>
        </p:nvSpPr>
        <p:spPr>
          <a:xfrm>
            <a:off x="26631900" y="14077950"/>
            <a:ext cx="2952750" cy="2390775"/>
          </a:xfrm>
          <a:custGeom>
            <a:avLst/>
            <a:gdLst/>
            <a:ahLst/>
            <a:cxnLst/>
            <a:rect l="l" t="t" r="r" b="b"/>
            <a:pathLst>
              <a:path w="2952750" h="2390775">
                <a:moveTo>
                  <a:pt x="1838325" y="0"/>
                </a:moveTo>
                <a:lnTo>
                  <a:pt x="2952750" y="0"/>
                </a:lnTo>
                <a:lnTo>
                  <a:pt x="2952750" y="2390775"/>
                </a:lnTo>
                <a:lnTo>
                  <a:pt x="0" y="2390775"/>
                </a:lnTo>
                <a:lnTo>
                  <a:pt x="866775" y="704850"/>
                </a:lnTo>
                <a:lnTo>
                  <a:pt x="1828800" y="476250"/>
                </a:lnTo>
                <a:close/>
              </a:path>
            </a:pathLst>
          </a:custGeom>
          <a:solidFill>
            <a:srgbClr val="407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2933700" y="1428750"/>
            <a:ext cx="9539478" cy="1628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25" b="1" i="0">
                <a:solidFill>
                  <a:srgbClr val="325ABA"/>
                </a:solidFill>
                <a:latin typeface="Microsoft YaHei"/>
                <a:ea typeface="Microsoft YaHei"/>
                <a:cs typeface="Microsoft YaHei"/>
              </a:rPr>
              <a:t>风险分析与应对策略</a:t>
            </a:r>
          </a:p>
        </p:txBody>
      </p:sp>
      <p:sp>
        <p:nvSpPr>
          <p:cNvPr id="9" name="card"/>
          <p:cNvSpPr/>
          <p:nvPr/>
        </p:nvSpPr>
        <p:spPr>
          <a:xfrm>
            <a:off x="1962150" y="3810000"/>
            <a:ext cx="26422350" cy="10934700"/>
          </a:xfrm>
          <a:prstGeom prst="rect">
            <a:avLst/>
          </a:prstGeom>
          <a:solidFill>
            <a:srgbClr val="FFFFFF"/>
          </a:solidFill>
          <a:ln w="19050">
            <a:solidFill>
              <a:srgbClr val="EE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-shadow"/>
          <p:cNvSpPr/>
          <p:nvPr/>
        </p:nvSpPr>
        <p:spPr>
          <a:xfrm>
            <a:off x="2019300" y="14744700"/>
            <a:ext cx="26308050" cy="323850"/>
          </a:xfrm>
          <a:prstGeom prst="rect">
            <a:avLst/>
          </a:prstGeom>
          <a:gradFill rotWithShape="1">
            <a:gsLst>
              <a:gs pos="0">
                <a:srgbClr val="E9E9E9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9" name="header"/>
          <p:cNvGrpSpPr/>
          <p:nvPr/>
        </p:nvGrpSpPr>
        <p:grpSpPr>
          <a:xfrm>
            <a:off x="3200400" y="4362450"/>
            <a:ext cx="21202650" cy="952500"/>
            <a:chOff x="3200400" y="4362450"/>
            <a:chExt cx="21202650" cy="952500"/>
          </a:xfrm>
        </p:grpSpPr>
        <p:sp>
          <p:nvSpPr>
            <p:cNvPr id="11" name="pill-1"/>
            <p:cNvSpPr/>
            <p:nvPr/>
          </p:nvSpPr>
          <p:spPr>
            <a:xfrm>
              <a:off x="3200400" y="4362450"/>
              <a:ext cx="3505200" cy="952500"/>
            </a:xfrm>
            <a:prstGeom prst="roundRect">
              <a:avLst>
                <a:gd name="adj" fmla="val 26000"/>
              </a:avLst>
            </a:prstGeom>
            <a:solidFill>
              <a:srgbClr val="4073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pill-1-t"/>
            <p:cNvSpPr txBox="1"/>
            <p:nvPr/>
          </p:nvSpPr>
          <p:spPr>
            <a:xfrm>
              <a:off x="3200400" y="4362450"/>
              <a:ext cx="35052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风险描述</a:t>
              </a:r>
            </a:p>
          </p:txBody>
        </p:sp>
        <p:sp>
          <p:nvSpPr>
            <p:cNvPr id="13" name="pill-2"/>
            <p:cNvSpPr/>
            <p:nvPr/>
          </p:nvSpPr>
          <p:spPr>
            <a:xfrm>
              <a:off x="8420100" y="4362450"/>
              <a:ext cx="3505200" cy="952500"/>
            </a:xfrm>
            <a:prstGeom prst="roundRect">
              <a:avLst>
                <a:gd name="adj" fmla="val 26000"/>
              </a:avLst>
            </a:prstGeom>
            <a:solidFill>
              <a:srgbClr val="4073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pill-2-t"/>
            <p:cNvSpPr txBox="1"/>
            <p:nvPr/>
          </p:nvSpPr>
          <p:spPr>
            <a:xfrm>
              <a:off x="8420100" y="4362450"/>
              <a:ext cx="35052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可能性</a:t>
              </a:r>
            </a:p>
          </p:txBody>
        </p:sp>
        <p:sp>
          <p:nvSpPr>
            <p:cNvPr id="15" name="pill-3"/>
            <p:cNvSpPr/>
            <p:nvPr/>
          </p:nvSpPr>
          <p:spPr>
            <a:xfrm>
              <a:off x="12858750" y="4362450"/>
              <a:ext cx="3505200" cy="952500"/>
            </a:xfrm>
            <a:prstGeom prst="roundRect">
              <a:avLst>
                <a:gd name="adj" fmla="val 26000"/>
              </a:avLst>
            </a:prstGeom>
            <a:solidFill>
              <a:srgbClr val="4073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pill-3-t"/>
            <p:cNvSpPr txBox="1"/>
            <p:nvPr/>
          </p:nvSpPr>
          <p:spPr>
            <a:xfrm>
              <a:off x="12858750" y="4362450"/>
              <a:ext cx="35052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影响程度</a:t>
              </a:r>
            </a:p>
          </p:txBody>
        </p:sp>
        <p:sp>
          <p:nvSpPr>
            <p:cNvPr id="17" name="pill-4"/>
            <p:cNvSpPr/>
            <p:nvPr/>
          </p:nvSpPr>
          <p:spPr>
            <a:xfrm>
              <a:off x="20897850" y="4362450"/>
              <a:ext cx="3505200" cy="952500"/>
            </a:xfrm>
            <a:prstGeom prst="roundRect">
              <a:avLst>
                <a:gd name="adj" fmla="val 26000"/>
              </a:avLst>
            </a:prstGeom>
            <a:solidFill>
              <a:srgbClr val="4073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pill-4-t"/>
            <p:cNvSpPr txBox="1"/>
            <p:nvPr/>
          </p:nvSpPr>
          <p:spPr>
            <a:xfrm>
              <a:off x="20897850" y="4362450"/>
              <a:ext cx="35052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应对措施</a:t>
              </a:r>
            </a:p>
          </p:txBody>
        </p:sp>
      </p:grpSp>
      <p:sp>
        <p:nvSpPr>
          <p:cNvPr id="19" name="chev-1"/>
          <p:cNvSpPr/>
          <p:nvPr/>
        </p:nvSpPr>
        <p:spPr>
          <a:xfrm>
            <a:off x="7648575" y="5305425"/>
            <a:ext cx="571500" cy="552450"/>
          </a:xfrm>
          <a:prstGeom prst="ellipse">
            <a:avLst/>
          </a:prstGeom>
          <a:solidFill>
            <a:srgbClr val="407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-1-arrow"/>
          <p:cNvSpPr/>
          <p:nvPr/>
        </p:nvSpPr>
        <p:spPr>
          <a:xfrm>
            <a:off x="7867650" y="5457825"/>
            <a:ext cx="142875" cy="247650"/>
          </a:xfrm>
          <a:custGeom>
            <a:avLst/>
            <a:gdLst/>
            <a:ahLst/>
            <a:cxnLst/>
            <a:rect l="l" t="t" r="r" b="b"/>
            <a:pathLst>
              <a:path w="142875" h="247650">
                <a:moveTo>
                  <a:pt x="0" y="0"/>
                </a:moveTo>
                <a:lnTo>
                  <a:pt x="142875" y="123825"/>
                </a:lnTo>
                <a:lnTo>
                  <a:pt x="0" y="247650"/>
                </a:lnTo>
              </a:path>
            </a:pathLst>
          </a:cu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-2"/>
          <p:cNvSpPr/>
          <p:nvPr/>
        </p:nvSpPr>
        <p:spPr>
          <a:xfrm>
            <a:off x="12087225" y="5305425"/>
            <a:ext cx="571500" cy="552450"/>
          </a:xfrm>
          <a:prstGeom prst="ellipse">
            <a:avLst/>
          </a:prstGeom>
          <a:solidFill>
            <a:srgbClr val="407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-2-arrow"/>
          <p:cNvSpPr/>
          <p:nvPr/>
        </p:nvSpPr>
        <p:spPr>
          <a:xfrm>
            <a:off x="12306300" y="5457825"/>
            <a:ext cx="142875" cy="247650"/>
          </a:xfrm>
          <a:custGeom>
            <a:avLst/>
            <a:gdLst/>
            <a:ahLst/>
            <a:cxnLst/>
            <a:rect l="l" t="t" r="r" b="b"/>
            <a:pathLst>
              <a:path w="142875" h="247650">
                <a:moveTo>
                  <a:pt x="0" y="0"/>
                </a:moveTo>
                <a:lnTo>
                  <a:pt x="142875" y="123825"/>
                </a:lnTo>
                <a:lnTo>
                  <a:pt x="0" y="247650"/>
                </a:lnTo>
              </a:path>
            </a:pathLst>
          </a:cu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-3"/>
          <p:cNvSpPr/>
          <p:nvPr/>
        </p:nvSpPr>
        <p:spPr>
          <a:xfrm>
            <a:off x="16440150" y="5305425"/>
            <a:ext cx="571500" cy="552450"/>
          </a:xfrm>
          <a:prstGeom prst="ellipse">
            <a:avLst/>
          </a:prstGeom>
          <a:solidFill>
            <a:srgbClr val="407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-3-arrow"/>
          <p:cNvSpPr/>
          <p:nvPr/>
        </p:nvSpPr>
        <p:spPr>
          <a:xfrm>
            <a:off x="16659225" y="5457825"/>
            <a:ext cx="142875" cy="247650"/>
          </a:xfrm>
          <a:custGeom>
            <a:avLst/>
            <a:gdLst/>
            <a:ahLst/>
            <a:cxnLst/>
            <a:rect l="l" t="t" r="r" b="b"/>
            <a:pathLst>
              <a:path w="142875" h="247650">
                <a:moveTo>
                  <a:pt x="0" y="0"/>
                </a:moveTo>
                <a:lnTo>
                  <a:pt x="142875" y="123825"/>
                </a:lnTo>
                <a:lnTo>
                  <a:pt x="0" y="247650"/>
                </a:lnTo>
              </a:path>
            </a:pathLst>
          </a:cu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sep-1"/>
          <p:cNvCxnSpPr/>
          <p:nvPr/>
        </p:nvCxnSpPr>
        <p:spPr>
          <a:xfrm>
            <a:off x="1962150" y="5572125"/>
            <a:ext cx="26422350" cy="0"/>
          </a:xfrm>
          <a:prstGeom prst="line">
            <a:avLst/>
          </a:prstGeom>
          <a:ln w="28575">
            <a:solidFill>
              <a:srgbClr val="E4E8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6" name="sep-2"/>
          <p:cNvCxnSpPr/>
          <p:nvPr/>
        </p:nvCxnSpPr>
        <p:spPr>
          <a:xfrm>
            <a:off x="1962150" y="7029450"/>
            <a:ext cx="26422350" cy="0"/>
          </a:xfrm>
          <a:prstGeom prst="line">
            <a:avLst/>
          </a:prstGeom>
          <a:ln w="28575">
            <a:solidFill>
              <a:srgbClr val="E4E8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7" name="sep-3"/>
          <p:cNvCxnSpPr/>
          <p:nvPr/>
        </p:nvCxnSpPr>
        <p:spPr>
          <a:xfrm>
            <a:off x="1962150" y="8496300"/>
            <a:ext cx="26422350" cy="0"/>
          </a:xfrm>
          <a:prstGeom prst="line">
            <a:avLst/>
          </a:prstGeom>
          <a:ln w="28575">
            <a:solidFill>
              <a:srgbClr val="E4E8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8" name="sep-4"/>
          <p:cNvCxnSpPr/>
          <p:nvPr/>
        </p:nvCxnSpPr>
        <p:spPr>
          <a:xfrm>
            <a:off x="1962150" y="9972675"/>
            <a:ext cx="26422350" cy="0"/>
          </a:xfrm>
          <a:prstGeom prst="line">
            <a:avLst/>
          </a:prstGeom>
          <a:ln w="28575">
            <a:solidFill>
              <a:srgbClr val="E4E8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9" name="sep-5"/>
          <p:cNvCxnSpPr/>
          <p:nvPr/>
        </p:nvCxnSpPr>
        <p:spPr>
          <a:xfrm>
            <a:off x="1962150" y="11430000"/>
            <a:ext cx="26422350" cy="0"/>
          </a:xfrm>
          <a:prstGeom prst="line">
            <a:avLst/>
          </a:prstGeom>
          <a:ln w="28575">
            <a:solidFill>
              <a:srgbClr val="E4E8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0" name="sep-6"/>
          <p:cNvCxnSpPr/>
          <p:nvPr/>
        </p:nvCxnSpPr>
        <p:spPr>
          <a:xfrm>
            <a:off x="1962150" y="12906375"/>
            <a:ext cx="26422350" cy="0"/>
          </a:xfrm>
          <a:prstGeom prst="line">
            <a:avLst/>
          </a:prstGeom>
          <a:ln w="28575">
            <a:solidFill>
              <a:srgbClr val="E4E8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31" name="r1-risk"/>
          <p:cNvSpPr txBox="1"/>
          <p:nvPr/>
        </p:nvSpPr>
        <p:spPr>
          <a:xfrm>
            <a:off x="2847975" y="5981700"/>
            <a:ext cx="41910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需求变更频繁</a:t>
            </a:r>
          </a:p>
        </p:txBody>
      </p:sp>
      <p:sp>
        <p:nvSpPr>
          <p:cNvPr id="32" name="r1-lik"/>
          <p:cNvSpPr txBox="1"/>
          <p:nvPr/>
        </p:nvSpPr>
        <p:spPr>
          <a:xfrm>
            <a:off x="9486900" y="598170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33" name="r1-imp"/>
          <p:cNvSpPr txBox="1"/>
          <p:nvPr/>
        </p:nvSpPr>
        <p:spPr>
          <a:xfrm>
            <a:off x="13935075" y="598170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34" name="r1-resp"/>
          <p:cNvSpPr txBox="1"/>
          <p:nvPr/>
        </p:nvSpPr>
        <p:spPr>
          <a:xfrm>
            <a:off x="16973550" y="5981700"/>
            <a:ext cx="113347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建立严格的需求变更管理流程，变更需评估影响并获得审批</a:t>
            </a:r>
          </a:p>
        </p:txBody>
      </p:sp>
      <p:sp>
        <p:nvSpPr>
          <p:cNvPr id="35" name="r2-risk"/>
          <p:cNvSpPr txBox="1"/>
          <p:nvPr/>
        </p:nvSpPr>
        <p:spPr>
          <a:xfrm>
            <a:off x="2847975" y="7448550"/>
            <a:ext cx="41910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供应商交付延期</a:t>
            </a:r>
          </a:p>
        </p:txBody>
      </p:sp>
      <p:sp>
        <p:nvSpPr>
          <p:cNvPr id="36" name="r2-lik"/>
          <p:cNvSpPr txBox="1"/>
          <p:nvPr/>
        </p:nvSpPr>
        <p:spPr>
          <a:xfrm>
            <a:off x="9486900" y="744855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37" name="r2-imp"/>
          <p:cNvSpPr txBox="1"/>
          <p:nvPr/>
        </p:nvSpPr>
        <p:spPr>
          <a:xfrm>
            <a:off x="13935075" y="744855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38" name="r2-resp"/>
          <p:cNvSpPr txBox="1"/>
          <p:nvPr/>
        </p:nvSpPr>
        <p:spPr>
          <a:xfrm>
            <a:off x="16973550" y="7448550"/>
            <a:ext cx="113347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在合同中明确交付时间和违约责任，定期跟进开发进度</a:t>
            </a:r>
          </a:p>
        </p:txBody>
      </p:sp>
      <p:sp>
        <p:nvSpPr>
          <p:cNvPr id="39" name="r3-risk"/>
          <p:cNvSpPr txBox="1"/>
          <p:nvPr/>
        </p:nvSpPr>
        <p:spPr>
          <a:xfrm>
            <a:off x="2847975" y="8915400"/>
            <a:ext cx="41910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数据迁移失败</a:t>
            </a:r>
          </a:p>
        </p:txBody>
      </p:sp>
      <p:sp>
        <p:nvSpPr>
          <p:cNvPr id="40" name="r3-lik"/>
          <p:cNvSpPr txBox="1"/>
          <p:nvPr/>
        </p:nvSpPr>
        <p:spPr>
          <a:xfrm>
            <a:off x="9486900" y="891540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41" name="r3-imp"/>
          <p:cNvSpPr txBox="1"/>
          <p:nvPr/>
        </p:nvSpPr>
        <p:spPr>
          <a:xfrm>
            <a:off x="13935075" y="891540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42" name="r3-resp"/>
          <p:cNvSpPr txBox="1"/>
          <p:nvPr/>
        </p:nvSpPr>
        <p:spPr>
          <a:xfrm>
            <a:off x="16973550" y="8915400"/>
            <a:ext cx="113347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制定详细的数据迁移方案，进行充分的测试和验证</a:t>
            </a:r>
          </a:p>
        </p:txBody>
      </p:sp>
      <p:sp>
        <p:nvSpPr>
          <p:cNvPr id="43" name="r4-risk"/>
          <p:cNvSpPr txBox="1"/>
          <p:nvPr/>
        </p:nvSpPr>
        <p:spPr>
          <a:xfrm>
            <a:off x="2847975" y="10382250"/>
            <a:ext cx="41910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技术方案兼容性差</a:t>
            </a:r>
          </a:p>
        </p:txBody>
      </p:sp>
      <p:sp>
        <p:nvSpPr>
          <p:cNvPr id="44" name="r4-lik"/>
          <p:cNvSpPr txBox="1"/>
          <p:nvPr/>
        </p:nvSpPr>
        <p:spPr>
          <a:xfrm>
            <a:off x="9486900" y="1038225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45" name="r4-imp"/>
          <p:cNvSpPr txBox="1"/>
          <p:nvPr/>
        </p:nvSpPr>
        <p:spPr>
          <a:xfrm>
            <a:off x="13935075" y="1038225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46" name="r4-resp1"/>
          <p:cNvSpPr txBox="1"/>
          <p:nvPr/>
        </p:nvSpPr>
        <p:spPr>
          <a:xfrm>
            <a:off x="16973550" y="10106025"/>
            <a:ext cx="113347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在需求阶段开展技术选型评估，选择成熟稳定的技术方案；在</a:t>
            </a:r>
          </a:p>
        </p:txBody>
      </p:sp>
      <p:sp>
        <p:nvSpPr>
          <p:cNvPr id="47" name="r4-resp2"/>
          <p:cNvSpPr txBox="1"/>
          <p:nvPr/>
        </p:nvSpPr>
        <p:spPr>
          <a:xfrm>
            <a:off x="16973550" y="10648950"/>
            <a:ext cx="113347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开发前进行原型验证，确保各模块间兼容</a:t>
            </a:r>
          </a:p>
        </p:txBody>
      </p:sp>
      <p:sp>
        <p:nvSpPr>
          <p:cNvPr id="48" name="r5-risk"/>
          <p:cNvSpPr txBox="1"/>
          <p:nvPr/>
        </p:nvSpPr>
        <p:spPr>
          <a:xfrm>
            <a:off x="2847975" y="11849100"/>
            <a:ext cx="41910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团队关键成员离职</a:t>
            </a:r>
          </a:p>
        </p:txBody>
      </p:sp>
      <p:sp>
        <p:nvSpPr>
          <p:cNvPr id="49" name="r5-lik"/>
          <p:cNvSpPr txBox="1"/>
          <p:nvPr/>
        </p:nvSpPr>
        <p:spPr>
          <a:xfrm>
            <a:off x="9486900" y="1184910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50" name="r5-imp"/>
          <p:cNvSpPr txBox="1"/>
          <p:nvPr/>
        </p:nvSpPr>
        <p:spPr>
          <a:xfrm>
            <a:off x="13935075" y="1184910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51" name="r5-resp1"/>
          <p:cNvSpPr txBox="1"/>
          <p:nvPr/>
        </p:nvSpPr>
        <p:spPr>
          <a:xfrm>
            <a:off x="16973550" y="11572875"/>
            <a:ext cx="113347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建立核心人才备份机制，关键岗位配备AB角；签订竞业协议与</a:t>
            </a:r>
          </a:p>
        </p:txBody>
      </p:sp>
      <p:sp>
        <p:nvSpPr>
          <p:cNvPr id="52" name="r5-resp2"/>
          <p:cNvSpPr txBox="1"/>
          <p:nvPr/>
        </p:nvSpPr>
        <p:spPr>
          <a:xfrm>
            <a:off x="16973550" y="12115800"/>
            <a:ext cx="113347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激励绑定，减少人才流失风险</a:t>
            </a:r>
          </a:p>
        </p:txBody>
      </p:sp>
      <p:sp>
        <p:nvSpPr>
          <p:cNvPr id="53" name="r6-risk"/>
          <p:cNvSpPr txBox="1"/>
          <p:nvPr/>
        </p:nvSpPr>
        <p:spPr>
          <a:xfrm>
            <a:off x="2847975" y="13315950"/>
            <a:ext cx="41910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上线后系统性能瓶颈</a:t>
            </a:r>
          </a:p>
        </p:txBody>
      </p:sp>
      <p:sp>
        <p:nvSpPr>
          <p:cNvPr id="54" name="r6-lik"/>
          <p:cNvSpPr txBox="1"/>
          <p:nvPr/>
        </p:nvSpPr>
        <p:spPr>
          <a:xfrm>
            <a:off x="9486900" y="1331595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55" name="r6-imp"/>
          <p:cNvSpPr txBox="1"/>
          <p:nvPr/>
        </p:nvSpPr>
        <p:spPr>
          <a:xfrm>
            <a:off x="13935075" y="13315950"/>
            <a:ext cx="1333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56" name="r6-resp1"/>
          <p:cNvSpPr txBox="1"/>
          <p:nvPr/>
        </p:nvSpPr>
        <p:spPr>
          <a:xfrm>
            <a:off x="16973550" y="13039725"/>
            <a:ext cx="113347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制定详细的性能测试计划，模拟真实业务场景进行压测；预留</a:t>
            </a:r>
          </a:p>
        </p:txBody>
      </p:sp>
      <p:sp>
        <p:nvSpPr>
          <p:cNvPr id="57" name="r6-resp2"/>
          <p:cNvSpPr txBox="1"/>
          <p:nvPr/>
        </p:nvSpPr>
        <p:spPr>
          <a:xfrm>
            <a:off x="16973550" y="13582650"/>
            <a:ext cx="113347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87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性能优化预算，上线后持续监控系统指标并快速迭代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