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3259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32597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badge"/>
          <p:cNvSpPr/>
          <p:nvPr/>
        </p:nvSpPr>
        <p:spPr>
          <a:xfrm>
            <a:off x="885825" y="923925"/>
            <a:ext cx="2505075" cy="2105025"/>
          </a:xfrm>
          <a:custGeom>
            <a:avLst/>
            <a:gdLst/>
            <a:ahLst/>
            <a:cxnLst/>
            <a:rect l="l" t="t" r="r" b="b"/>
            <a:pathLst>
              <a:path w="2505075" h="2105025">
                <a:moveTo>
                  <a:pt x="0" y="0"/>
                </a:moveTo>
                <a:lnTo>
                  <a:pt x="2505075" y="0"/>
                </a:lnTo>
                <a:lnTo>
                  <a:pt x="2390775" y="504825"/>
                </a:lnTo>
                <a:lnTo>
                  <a:pt x="1323975" y="504825"/>
                </a:lnTo>
                <a:lnTo>
                  <a:pt x="1323975" y="2105025"/>
                </a:lnTo>
                <a:lnTo>
                  <a:pt x="0" y="2105025"/>
                </a:lnTo>
                <a:close/>
              </a:path>
            </a:pathLst>
          </a:custGeom>
          <a:solidFill>
            <a:srgbClr val="3F7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badge-hex"/>
          <p:cNvSpPr/>
          <p:nvPr/>
        </p:nvSpPr>
        <p:spPr>
          <a:xfrm>
            <a:off x="1952625" y="1409700"/>
            <a:ext cx="1628775" cy="1466850"/>
          </a:xfrm>
          <a:custGeom>
            <a:avLst/>
            <a:gdLst/>
            <a:ahLst/>
            <a:cxnLst/>
            <a:rect l="l" t="t" r="r" b="b"/>
            <a:pathLst>
              <a:path w="1628775" h="1466850">
                <a:moveTo>
                  <a:pt x="371475" y="0"/>
                </a:moveTo>
                <a:lnTo>
                  <a:pt x="1228725" y="0"/>
                </a:lnTo>
                <a:lnTo>
                  <a:pt x="1628775" y="762000"/>
                </a:lnTo>
                <a:lnTo>
                  <a:pt x="1228725" y="1466850"/>
                </a:lnTo>
                <a:lnTo>
                  <a:pt x="333375" y="1466850"/>
                </a:ln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-text"/>
          <p:cNvSpPr txBox="1"/>
          <p:nvPr/>
        </p:nvSpPr>
        <p:spPr>
          <a:xfrm>
            <a:off x="3676650" y="1371600"/>
            <a:ext cx="7429500" cy="1676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250" b="1" i="0" spc="-1425">
                <a:solidFill>
                  <a:srgbClr val="2E58A8"/>
                </a:solidFill>
                <a:latin typeface="Microsoft YaHei"/>
                <a:ea typeface="Microsoft YaHei"/>
                <a:cs typeface="Microsoft YaHei"/>
              </a:rPr>
              <a:t>关键痛点分析</a:t>
            </a:r>
          </a:p>
        </p:txBody>
      </p:sp>
      <p:grpSp>
        <p:nvGrpSpPr>
          <p:cNvPr id="27" name="card-1"/>
          <p:cNvGrpSpPr/>
          <p:nvPr/>
        </p:nvGrpSpPr>
        <p:grpSpPr>
          <a:xfrm>
            <a:off x="1790700" y="4057650"/>
            <a:ext cx="15525750" cy="3143250"/>
            <a:chOff x="1790700" y="4057650"/>
            <a:chExt cx="15525750" cy="3143250"/>
          </a:xfrm>
        </p:grpSpPr>
        <p:pic>
          <p:nvPicPr>
            <p:cNvPr id="6" name="icon-1" descr="_photo_icon_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0700" y="4057650"/>
              <a:ext cx="3448050" cy="3143250"/>
            </a:xfrm>
            <a:prstGeom prst="rect">
              <a:avLst/>
            </a:prstGeom>
            <a:effectLst/>
          </p:spPr>
        </p:pic>
        <p:sp>
          <p:nvSpPr>
            <p:cNvPr id="7" name="card-1-title"/>
            <p:cNvSpPr txBox="1"/>
            <p:nvPr/>
          </p:nvSpPr>
          <p:spPr>
            <a:xfrm>
              <a:off x="5867400" y="4529138"/>
              <a:ext cx="2857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2F6FD8"/>
                  </a:solidFill>
                  <a:latin typeface="Microsoft YaHei"/>
                  <a:ea typeface="Microsoft YaHei"/>
                  <a:cs typeface="Microsoft YaHei"/>
                </a:rPr>
                <a:t>效率低下</a:t>
              </a:r>
            </a:p>
          </p:txBody>
        </p:sp>
        <p:sp>
          <p:nvSpPr>
            <p:cNvPr id="8" name="card-1-body1"/>
            <p:cNvSpPr txBox="1"/>
            <p:nvPr/>
          </p:nvSpPr>
          <p:spPr>
            <a:xfrm>
              <a:off x="5886450" y="5447348"/>
              <a:ext cx="11430000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 spc="-37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员工平均每天花费2小时在不同系统间切换和查找信息，</a:t>
              </a:r>
            </a:p>
          </p:txBody>
        </p:sp>
        <p:sp>
          <p:nvSpPr>
            <p:cNvPr id="9" name="card-1-body2"/>
            <p:cNvSpPr txBox="1"/>
            <p:nvPr/>
          </p:nvSpPr>
          <p:spPr>
            <a:xfrm>
              <a:off x="5886450" y="6037898"/>
              <a:ext cx="8572500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 spc="-37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重复录入数据占比高达30%</a:t>
              </a:r>
            </a:p>
          </p:txBody>
        </p:sp>
      </p:grpSp>
      <p:grpSp>
        <p:nvGrpSpPr>
          <p:cNvPr id="28" name="card-2"/>
          <p:cNvGrpSpPr/>
          <p:nvPr/>
        </p:nvGrpSpPr>
        <p:grpSpPr>
          <a:xfrm>
            <a:off x="1790700" y="7772400"/>
            <a:ext cx="15525750" cy="3143250"/>
            <a:chOff x="1790700" y="7772400"/>
            <a:chExt cx="15525750" cy="3143250"/>
          </a:xfrm>
        </p:grpSpPr>
        <p:pic>
          <p:nvPicPr>
            <p:cNvPr id="10" name="icon-2" descr="_photo_icon_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0700" y="7772400"/>
              <a:ext cx="3448050" cy="3143250"/>
            </a:xfrm>
            <a:prstGeom prst="rect">
              <a:avLst/>
            </a:prstGeom>
            <a:effectLst/>
          </p:spPr>
        </p:pic>
        <p:sp>
          <p:nvSpPr>
            <p:cNvPr id="11" name="card-2-title"/>
            <p:cNvSpPr txBox="1"/>
            <p:nvPr/>
          </p:nvSpPr>
          <p:spPr>
            <a:xfrm>
              <a:off x="5867400" y="8267700"/>
              <a:ext cx="2857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2F6FD8"/>
                  </a:solidFill>
                  <a:latin typeface="Microsoft YaHei"/>
                  <a:ea typeface="Microsoft YaHei"/>
                  <a:cs typeface="Microsoft YaHei"/>
                </a:rPr>
                <a:t>数据孤岛</a:t>
              </a:r>
            </a:p>
          </p:txBody>
        </p:sp>
        <p:sp>
          <p:nvSpPr>
            <p:cNvPr id="12" name="card-2-body1"/>
            <p:cNvSpPr txBox="1"/>
            <p:nvPr/>
          </p:nvSpPr>
          <p:spPr>
            <a:xfrm>
              <a:off x="5886450" y="9181148"/>
              <a:ext cx="11430000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 spc="-37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各业务系统数据不通，无法形成统一的数据视图，管理</a:t>
              </a:r>
            </a:p>
          </p:txBody>
        </p:sp>
        <p:sp>
          <p:nvSpPr>
            <p:cNvPr id="13" name="card-2-body2"/>
            <p:cNvSpPr txBox="1"/>
            <p:nvPr/>
          </p:nvSpPr>
          <p:spPr>
            <a:xfrm>
              <a:off x="5886450" y="9771698"/>
              <a:ext cx="8572500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 spc="-37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层难以获取实时、准确的决策依据</a:t>
              </a:r>
            </a:p>
          </p:txBody>
        </p:sp>
      </p:grpSp>
      <p:grpSp>
        <p:nvGrpSpPr>
          <p:cNvPr id="29" name="card-3"/>
          <p:cNvGrpSpPr/>
          <p:nvPr/>
        </p:nvGrpSpPr>
        <p:grpSpPr>
          <a:xfrm>
            <a:off x="1790700" y="11515725"/>
            <a:ext cx="15525750" cy="3143250"/>
            <a:chOff x="1790700" y="11515725"/>
            <a:chExt cx="15525750" cy="3143250"/>
          </a:xfrm>
        </p:grpSpPr>
        <p:pic>
          <p:nvPicPr>
            <p:cNvPr id="14" name="icon-3" descr="_photo_icon_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90700" y="11515725"/>
              <a:ext cx="3448050" cy="3143250"/>
            </a:xfrm>
            <a:prstGeom prst="rect">
              <a:avLst/>
            </a:prstGeom>
            <a:effectLst/>
          </p:spPr>
        </p:pic>
        <p:sp>
          <p:nvSpPr>
            <p:cNvPr id="15" name="card-3-title"/>
            <p:cNvSpPr txBox="1"/>
            <p:nvPr/>
          </p:nvSpPr>
          <p:spPr>
            <a:xfrm>
              <a:off x="5867400" y="11996738"/>
              <a:ext cx="28575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2F6FD8"/>
                  </a:solidFill>
                  <a:latin typeface="Microsoft YaHei"/>
                  <a:ea typeface="Microsoft YaHei"/>
                  <a:cs typeface="Microsoft YaHei"/>
                </a:rPr>
                <a:t>移动性差</a:t>
              </a:r>
            </a:p>
          </p:txBody>
        </p:sp>
        <p:sp>
          <p:nvSpPr>
            <p:cNvPr id="16" name="card-3-body1"/>
            <p:cNvSpPr txBox="1"/>
            <p:nvPr/>
          </p:nvSpPr>
          <p:spPr>
            <a:xfrm>
              <a:off x="5886450" y="12914948"/>
              <a:ext cx="11430000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 spc="-37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现有系统不支持移动端访问，员工外出办公时无法及时</a:t>
              </a:r>
            </a:p>
          </p:txBody>
        </p:sp>
        <p:sp>
          <p:nvSpPr>
            <p:cNvPr id="17" name="card-3-body2"/>
            <p:cNvSpPr txBox="1"/>
            <p:nvPr/>
          </p:nvSpPr>
          <p:spPr>
            <a:xfrm>
              <a:off x="5886450" y="13505498"/>
              <a:ext cx="8572500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0" i="0" spc="-37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处理审批和查看信息</a:t>
              </a:r>
            </a:p>
          </p:txBody>
        </p:sp>
      </p:grpSp>
      <p:sp>
        <p:nvSpPr>
          <p:cNvPr id="18" name="pyr-tier-1"/>
          <p:cNvSpPr/>
          <p:nvPr/>
        </p:nvSpPr>
        <p:spPr>
          <a:xfrm>
            <a:off x="21031200" y="3952875"/>
            <a:ext cx="3981450" cy="3895725"/>
          </a:xfrm>
          <a:custGeom>
            <a:avLst/>
            <a:gdLst/>
            <a:ahLst/>
            <a:cxnLst/>
            <a:rect l="l" t="t" r="r" b="b"/>
            <a:pathLst>
              <a:path w="3981450" h="3895725">
                <a:moveTo>
                  <a:pt x="1990725" y="0"/>
                </a:moveTo>
                <a:lnTo>
                  <a:pt x="3981450" y="3400425"/>
                </a:lnTo>
                <a:lnTo>
                  <a:pt x="1990725" y="3895725"/>
                </a:lnTo>
                <a:lnTo>
                  <a:pt x="0" y="3400425"/>
                </a:lnTo>
                <a:close/>
              </a:path>
            </a:pathLst>
          </a:custGeom>
          <a:solidFill>
            <a:srgbClr val="467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yr-tier-2"/>
          <p:cNvSpPr/>
          <p:nvPr/>
        </p:nvSpPr>
        <p:spPr>
          <a:xfrm>
            <a:off x="19088100" y="7353300"/>
            <a:ext cx="7867650" cy="4076700"/>
          </a:xfrm>
          <a:custGeom>
            <a:avLst/>
            <a:gdLst/>
            <a:ahLst/>
            <a:cxnLst/>
            <a:rect l="l" t="t" r="r" b="b"/>
            <a:pathLst>
              <a:path w="7867650" h="4076700">
                <a:moveTo>
                  <a:pt x="1943100" y="0"/>
                </a:moveTo>
                <a:lnTo>
                  <a:pt x="0" y="3333750"/>
                </a:lnTo>
                <a:lnTo>
                  <a:pt x="3933825" y="4076700"/>
                </a:lnTo>
                <a:lnTo>
                  <a:pt x="7867650" y="3333750"/>
                </a:lnTo>
                <a:lnTo>
                  <a:pt x="5924550" y="0"/>
                </a:lnTo>
                <a:lnTo>
                  <a:pt x="3933825" y="495300"/>
                </a:lnTo>
                <a:close/>
              </a:path>
            </a:pathLst>
          </a:custGeom>
          <a:solidFill>
            <a:srgbClr val="467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yr-tier-3"/>
          <p:cNvSpPr/>
          <p:nvPr/>
        </p:nvSpPr>
        <p:spPr>
          <a:xfrm>
            <a:off x="17306925" y="10687050"/>
            <a:ext cx="11458575" cy="4095750"/>
          </a:xfrm>
          <a:custGeom>
            <a:avLst/>
            <a:gdLst/>
            <a:ahLst/>
            <a:cxnLst/>
            <a:rect l="l" t="t" r="r" b="b"/>
            <a:pathLst>
              <a:path w="11458575" h="4095750">
                <a:moveTo>
                  <a:pt x="1781175" y="0"/>
                </a:moveTo>
                <a:lnTo>
                  <a:pt x="0" y="2952750"/>
                </a:lnTo>
                <a:lnTo>
                  <a:pt x="5715000" y="4095750"/>
                </a:lnTo>
                <a:lnTo>
                  <a:pt x="11458575" y="2952750"/>
                </a:lnTo>
                <a:lnTo>
                  <a:pt x="9648825" y="0"/>
                </a:lnTo>
                <a:lnTo>
                  <a:pt x="5715000" y="742950"/>
                </a:lnTo>
                <a:close/>
              </a:path>
            </a:pathLst>
          </a:custGeom>
          <a:solidFill>
            <a:srgbClr val="467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yr-band-1"/>
          <p:cNvSpPr/>
          <p:nvPr/>
        </p:nvSpPr>
        <p:spPr>
          <a:xfrm>
            <a:off x="21031200" y="7353300"/>
            <a:ext cx="3981450" cy="742950"/>
          </a:xfrm>
          <a:custGeom>
            <a:avLst/>
            <a:gdLst/>
            <a:ahLst/>
            <a:cxnLst/>
            <a:rect l="l" t="t" r="r" b="b"/>
            <a:pathLst>
              <a:path w="3981450" h="742950">
                <a:moveTo>
                  <a:pt x="0" y="0"/>
                </a:moveTo>
                <a:lnTo>
                  <a:pt x="1990725" y="495300"/>
                </a:lnTo>
                <a:lnTo>
                  <a:pt x="3981450" y="0"/>
                </a:lnTo>
                <a:lnTo>
                  <a:pt x="3981450" y="247650"/>
                </a:lnTo>
                <a:lnTo>
                  <a:pt x="1990725" y="742950"/>
                </a:lnTo>
                <a:lnTo>
                  <a:pt x="0" y="247650"/>
                </a:lnTo>
                <a:close/>
              </a:path>
            </a:pathLst>
          </a:custGeom>
          <a:solidFill>
            <a:srgbClr val="325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yr-band-2"/>
          <p:cNvSpPr/>
          <p:nvPr/>
        </p:nvSpPr>
        <p:spPr>
          <a:xfrm>
            <a:off x="19088100" y="10687050"/>
            <a:ext cx="7867650" cy="990600"/>
          </a:xfrm>
          <a:custGeom>
            <a:avLst/>
            <a:gdLst/>
            <a:ahLst/>
            <a:cxnLst/>
            <a:rect l="l" t="t" r="r" b="b"/>
            <a:pathLst>
              <a:path w="7867650" h="990600">
                <a:moveTo>
                  <a:pt x="0" y="0"/>
                </a:moveTo>
                <a:lnTo>
                  <a:pt x="3933825" y="742950"/>
                </a:lnTo>
                <a:lnTo>
                  <a:pt x="7867650" y="0"/>
                </a:lnTo>
                <a:lnTo>
                  <a:pt x="7867650" y="247650"/>
                </a:lnTo>
                <a:lnTo>
                  <a:pt x="3933825" y="990600"/>
                </a:lnTo>
                <a:lnTo>
                  <a:pt x="0" y="247650"/>
                </a:lnTo>
                <a:close/>
              </a:path>
            </a:pathLst>
          </a:custGeom>
          <a:solidFill>
            <a:srgbClr val="325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yr-t1"/>
          <p:cNvSpPr txBox="1"/>
          <p:nvPr/>
        </p:nvSpPr>
        <p:spPr>
          <a:xfrm>
            <a:off x="21777960" y="6328410"/>
            <a:ext cx="2468880" cy="10972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 spc="-33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耗时高</a:t>
            </a:r>
          </a:p>
        </p:txBody>
      </p:sp>
      <p:sp>
        <p:nvSpPr>
          <p:cNvPr id="24" name="pyr-t2"/>
          <p:cNvSpPr txBox="1"/>
          <p:nvPr/>
        </p:nvSpPr>
        <p:spPr>
          <a:xfrm>
            <a:off x="21572220" y="9132570"/>
            <a:ext cx="2880360" cy="1280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300" b="1" i="0" spc="-33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数据堵</a:t>
            </a:r>
          </a:p>
        </p:txBody>
      </p:sp>
      <p:sp>
        <p:nvSpPr>
          <p:cNvPr id="25" name="pyr-t3"/>
          <p:cNvSpPr txBox="1"/>
          <p:nvPr/>
        </p:nvSpPr>
        <p:spPr>
          <a:xfrm>
            <a:off x="21467445" y="12361545"/>
            <a:ext cx="3051810" cy="1356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75" b="1" i="0" spc="-337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移动弱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