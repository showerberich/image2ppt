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25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9525" y="9525"/>
            <a:ext cx="30451425" cy="17297400"/>
          </a:xfrm>
          <a:prstGeom prst="rect">
            <a:avLst/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topleft"/>
          <p:cNvSpPr/>
          <p:nvPr/>
        </p:nvSpPr>
        <p:spPr>
          <a:xfrm>
            <a:off x="895350" y="923925"/>
            <a:ext cx="2562225" cy="2047875"/>
          </a:xfrm>
          <a:custGeom>
            <a:avLst/>
            <a:gdLst/>
            <a:ahLst/>
            <a:cxnLst/>
            <a:rect l="l" t="t" r="r" b="b"/>
            <a:pathLst>
              <a:path w="2562225" h="2047875">
                <a:moveTo>
                  <a:pt x="0" y="0"/>
                </a:moveTo>
                <a:lnTo>
                  <a:pt x="2562225" y="0"/>
                </a:lnTo>
                <a:lnTo>
                  <a:pt x="2333625" y="495300"/>
                </a:lnTo>
                <a:lnTo>
                  <a:pt x="1466850" y="504825"/>
                </a:lnTo>
                <a:lnTo>
                  <a:pt x="1362075" y="600075"/>
                </a:lnTo>
                <a:lnTo>
                  <a:pt x="1266825" y="695325"/>
                </a:lnTo>
                <a:lnTo>
                  <a:pt x="1190625" y="790575"/>
                </a:lnTo>
                <a:lnTo>
                  <a:pt x="1123950" y="895350"/>
                </a:lnTo>
                <a:lnTo>
                  <a:pt x="1085850" y="1000125"/>
                </a:lnTo>
                <a:lnTo>
                  <a:pt x="1057275" y="1104900"/>
                </a:lnTo>
                <a:lnTo>
                  <a:pt x="1038225" y="1209675"/>
                </a:lnTo>
                <a:lnTo>
                  <a:pt x="1038225" y="1314450"/>
                </a:lnTo>
                <a:lnTo>
                  <a:pt x="1057275" y="1428750"/>
                </a:lnTo>
                <a:lnTo>
                  <a:pt x="1085850" y="1543050"/>
                </a:lnTo>
                <a:lnTo>
                  <a:pt x="1133475" y="1657350"/>
                </a:lnTo>
                <a:lnTo>
                  <a:pt x="1200150" y="1771650"/>
                </a:lnTo>
                <a:lnTo>
                  <a:pt x="1276350" y="1885950"/>
                </a:lnTo>
                <a:lnTo>
                  <a:pt x="1371600" y="2009775"/>
                </a:lnTo>
                <a:lnTo>
                  <a:pt x="1371600" y="2047875"/>
                </a:lnTo>
                <a:lnTo>
                  <a:pt x="0" y="2047875"/>
                </a:lnTo>
                <a:close/>
              </a:path>
            </a:pathLst>
          </a:custGeom>
          <a:gradFill rotWithShape="1">
            <a:gsLst>
              <a:gs pos="0">
                <a:srgbClr val="3E6DE1"/>
              </a:gs>
              <a:gs pos="100000">
                <a:srgbClr val="467DF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topright"/>
          <p:cNvSpPr/>
          <p:nvPr/>
        </p:nvSpPr>
        <p:spPr>
          <a:xfrm>
            <a:off x="24212550" y="904875"/>
            <a:ext cx="5334000" cy="2524125"/>
          </a:xfrm>
          <a:custGeom>
            <a:avLst/>
            <a:gdLst/>
            <a:ahLst/>
            <a:cxnLst/>
            <a:rect l="l" t="t" r="r" b="b"/>
            <a:pathLst>
              <a:path w="5334000" h="2524125">
                <a:moveTo>
                  <a:pt x="0" y="0"/>
                </a:moveTo>
                <a:lnTo>
                  <a:pt x="5334000" y="0"/>
                </a:lnTo>
                <a:lnTo>
                  <a:pt x="5334000" y="733425"/>
                </a:lnTo>
                <a:lnTo>
                  <a:pt x="4238625" y="2524125"/>
                </a:lnTo>
                <a:lnTo>
                  <a:pt x="1371600" y="2524125"/>
                </a:lnTo>
                <a:close/>
              </a:path>
            </a:pathLst>
          </a:custGeom>
          <a:gradFill rotWithShape="1">
            <a:gsLst>
              <a:gs pos="0">
                <a:srgbClr val="467DFC"/>
              </a:gs>
              <a:gs pos="100000">
                <a:srgbClr val="4172E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hex"/>
          <p:cNvSpPr/>
          <p:nvPr/>
        </p:nvSpPr>
        <p:spPr>
          <a:xfrm>
            <a:off x="23612475" y="15125700"/>
            <a:ext cx="2190750" cy="1314450"/>
          </a:xfrm>
          <a:custGeom>
            <a:avLst/>
            <a:gdLst/>
            <a:ahLst/>
            <a:cxnLst/>
            <a:rect l="l" t="t" r="r" b="b"/>
            <a:pathLst>
              <a:path w="2190750" h="1314450">
                <a:moveTo>
                  <a:pt x="523875" y="0"/>
                </a:moveTo>
                <a:lnTo>
                  <a:pt x="1666875" y="0"/>
                </a:lnTo>
                <a:lnTo>
                  <a:pt x="2190750" y="971550"/>
                </a:lnTo>
                <a:lnTo>
                  <a:pt x="2028825" y="1314450"/>
                </a:lnTo>
                <a:lnTo>
                  <a:pt x="152400" y="1314450"/>
                </a:lnTo>
                <a:lnTo>
                  <a:pt x="0" y="971550"/>
                </a:lnTo>
                <a:close/>
              </a:path>
            </a:pathLst>
          </a:custGeom>
          <a:gradFill rotWithShape="1">
            <a:gsLst>
              <a:gs pos="0">
                <a:srgbClr val="467BFB"/>
              </a:gs>
              <a:gs pos="100000">
                <a:srgbClr val="3E6FE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tle-main"/>
          <p:cNvSpPr txBox="1"/>
          <p:nvPr/>
        </p:nvSpPr>
        <p:spPr>
          <a:xfrm>
            <a:off x="2971800" y="1571625"/>
            <a:ext cx="12573000" cy="13239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25" b="1" i="0">
                <a:solidFill>
                  <a:srgbClr val="2F55A4"/>
                </a:solidFill>
                <a:latin typeface="Microsoft YaHei"/>
                <a:ea typeface="Microsoft YaHei"/>
                <a:cs typeface="Microsoft YaHei"/>
              </a:rPr>
              <a:t>打造一体化智能办公平台</a:t>
            </a:r>
          </a:p>
        </p:txBody>
      </p:sp>
      <p:pic>
        <p:nvPicPr>
          <p:cNvPr id="8" name="illus-hero" descr="_photo_illus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829300"/>
            <a:ext cx="12668250" cy="7391400"/>
          </a:xfrm>
          <a:prstGeom prst="rect">
            <a:avLst/>
          </a:prstGeom>
          <a:effectLst/>
        </p:spPr>
      </p:pic>
      <p:grpSp>
        <p:nvGrpSpPr>
          <p:cNvPr id="39" name="L1-block"/>
          <p:cNvGrpSpPr/>
          <p:nvPr/>
        </p:nvGrpSpPr>
        <p:grpSpPr>
          <a:xfrm>
            <a:off x="1562100" y="4048125"/>
            <a:ext cx="6372225" cy="1914525"/>
            <a:chOff x="1562100" y="4048125"/>
            <a:chExt cx="6372225" cy="1914525"/>
          </a:xfrm>
        </p:grpSpPr>
        <p:sp>
          <p:nvSpPr>
            <p:cNvPr id="9" name="L1-semi"/>
            <p:cNvSpPr/>
            <p:nvPr/>
          </p:nvSpPr>
          <p:spPr>
            <a:xfrm>
              <a:off x="7458075" y="4838700"/>
              <a:ext cx="285750" cy="476250"/>
            </a:xfrm>
            <a:custGeom>
              <a:avLst/>
              <a:gdLst/>
              <a:ahLst/>
              <a:cxnLst/>
              <a:rect l="l" t="t" r="r" b="b"/>
              <a:pathLst>
                <a:path w="285750" h="476250">
                  <a:moveTo>
                    <a:pt x="285750" y="0"/>
                  </a:moveTo>
                  <a:lnTo>
                    <a:pt x="285750" y="0"/>
                  </a:lnTo>
                  <a:lnTo>
                    <a:pt x="228600" y="0"/>
                  </a:lnTo>
                  <a:lnTo>
                    <a:pt x="171450" y="9525"/>
                  </a:lnTo>
                  <a:lnTo>
                    <a:pt x="123825" y="38100"/>
                  </a:lnTo>
                  <a:lnTo>
                    <a:pt x="76200" y="66675"/>
                  </a:lnTo>
                  <a:lnTo>
                    <a:pt x="47625" y="104775"/>
                  </a:lnTo>
                  <a:lnTo>
                    <a:pt x="19050" y="142875"/>
                  </a:lnTo>
                  <a:lnTo>
                    <a:pt x="0" y="190500"/>
                  </a:lnTo>
                  <a:lnTo>
                    <a:pt x="0" y="238125"/>
                  </a:lnTo>
                  <a:lnTo>
                    <a:pt x="0" y="276225"/>
                  </a:lnTo>
                  <a:lnTo>
                    <a:pt x="19050" y="323850"/>
                  </a:lnTo>
                  <a:lnTo>
                    <a:pt x="47625" y="361950"/>
                  </a:lnTo>
                  <a:lnTo>
                    <a:pt x="76200" y="400050"/>
                  </a:lnTo>
                  <a:lnTo>
                    <a:pt x="123825" y="428625"/>
                  </a:lnTo>
                  <a:lnTo>
                    <a:pt x="171450" y="457200"/>
                  </a:lnTo>
                  <a:lnTo>
                    <a:pt x="228600" y="466725"/>
                  </a:lnTo>
                  <a:lnTo>
                    <a:pt x="285750" y="476250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1-bar"/>
            <p:cNvSpPr/>
            <p:nvPr/>
          </p:nvSpPr>
          <p:spPr>
            <a:xfrm>
              <a:off x="7743825" y="4210050"/>
              <a:ext cx="190500" cy="1628775"/>
            </a:xfrm>
            <a:prstGeom prst="roundRect">
              <a:avLst>
                <a:gd name="adj" fmla="val 10000"/>
              </a:avLst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1-title"/>
            <p:cNvSpPr txBox="1"/>
            <p:nvPr/>
          </p:nvSpPr>
          <p:spPr>
            <a:xfrm>
              <a:off x="4333875" y="4048125"/>
              <a:ext cx="288607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45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效率提升</a:t>
              </a:r>
            </a:p>
          </p:txBody>
        </p:sp>
        <p:sp>
          <p:nvSpPr>
            <p:cNvPr id="12" name="L1-body1"/>
            <p:cNvSpPr txBox="1"/>
            <p:nvPr/>
          </p:nvSpPr>
          <p:spPr>
            <a:xfrm>
              <a:off x="1562100" y="4914900"/>
              <a:ext cx="5648325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优化流程，将员工日常办公</a:t>
              </a:r>
            </a:p>
          </p:txBody>
        </p:sp>
        <p:sp>
          <p:nvSpPr>
            <p:cNvPr id="13" name="L1-body2"/>
            <p:cNvSpPr txBox="1"/>
            <p:nvPr/>
          </p:nvSpPr>
          <p:spPr>
            <a:xfrm>
              <a:off x="3286125" y="5467350"/>
              <a:ext cx="3924300" cy="4953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037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效率提升30%以上</a:t>
              </a:r>
            </a:p>
          </p:txBody>
        </p:sp>
      </p:grpSp>
      <p:grpSp>
        <p:nvGrpSpPr>
          <p:cNvPr id="36" name="L2-block"/>
          <p:cNvGrpSpPr/>
          <p:nvPr/>
        </p:nvGrpSpPr>
        <p:grpSpPr>
          <a:xfrm>
            <a:off x="1123950" y="8505825"/>
            <a:ext cx="6810375" cy="1933575"/>
            <a:chOff x="1123950" y="8505825"/>
            <a:chExt cx="6810375" cy="1933575"/>
          </a:xfrm>
        </p:grpSpPr>
        <p:sp>
          <p:nvSpPr>
            <p:cNvPr id="14" name="L2-semi"/>
            <p:cNvSpPr/>
            <p:nvPr/>
          </p:nvSpPr>
          <p:spPr>
            <a:xfrm>
              <a:off x="7458075" y="9239250"/>
              <a:ext cx="285750" cy="476250"/>
            </a:xfrm>
            <a:custGeom>
              <a:avLst/>
              <a:gdLst/>
              <a:ahLst/>
              <a:cxnLst/>
              <a:rect l="l" t="t" r="r" b="b"/>
              <a:pathLst>
                <a:path w="285750" h="476250">
                  <a:moveTo>
                    <a:pt x="285750" y="0"/>
                  </a:moveTo>
                  <a:lnTo>
                    <a:pt x="285750" y="0"/>
                  </a:lnTo>
                  <a:lnTo>
                    <a:pt x="228600" y="0"/>
                  </a:lnTo>
                  <a:lnTo>
                    <a:pt x="171450" y="9525"/>
                  </a:lnTo>
                  <a:lnTo>
                    <a:pt x="123825" y="38100"/>
                  </a:lnTo>
                  <a:lnTo>
                    <a:pt x="76200" y="66675"/>
                  </a:lnTo>
                  <a:lnTo>
                    <a:pt x="47625" y="104775"/>
                  </a:lnTo>
                  <a:lnTo>
                    <a:pt x="19050" y="142875"/>
                  </a:lnTo>
                  <a:lnTo>
                    <a:pt x="0" y="190500"/>
                  </a:lnTo>
                  <a:lnTo>
                    <a:pt x="0" y="238125"/>
                  </a:lnTo>
                  <a:lnTo>
                    <a:pt x="0" y="276225"/>
                  </a:lnTo>
                  <a:lnTo>
                    <a:pt x="19050" y="323850"/>
                  </a:lnTo>
                  <a:lnTo>
                    <a:pt x="47625" y="361950"/>
                  </a:lnTo>
                  <a:lnTo>
                    <a:pt x="76200" y="400050"/>
                  </a:lnTo>
                  <a:lnTo>
                    <a:pt x="123825" y="428625"/>
                  </a:lnTo>
                  <a:lnTo>
                    <a:pt x="171450" y="457200"/>
                  </a:lnTo>
                  <a:lnTo>
                    <a:pt x="228600" y="466725"/>
                  </a:lnTo>
                  <a:lnTo>
                    <a:pt x="285750" y="476250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2-bar"/>
            <p:cNvSpPr/>
            <p:nvPr/>
          </p:nvSpPr>
          <p:spPr>
            <a:xfrm>
              <a:off x="7743825" y="8658225"/>
              <a:ext cx="190500" cy="1647825"/>
            </a:xfrm>
            <a:prstGeom prst="roundRect">
              <a:avLst>
                <a:gd name="adj" fmla="val 10000"/>
              </a:avLst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L2-title"/>
            <p:cNvSpPr txBox="1"/>
            <p:nvPr/>
          </p:nvSpPr>
          <p:spPr>
            <a:xfrm>
              <a:off x="4333875" y="8505825"/>
              <a:ext cx="288607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45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数据整合</a:t>
              </a:r>
            </a:p>
          </p:txBody>
        </p:sp>
        <p:sp>
          <p:nvSpPr>
            <p:cNvPr id="17" name="L2-body1"/>
            <p:cNvSpPr txBox="1"/>
            <p:nvPr/>
          </p:nvSpPr>
          <p:spPr>
            <a:xfrm>
              <a:off x="1123950" y="9363075"/>
              <a:ext cx="6086475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打通各业务系统数据壁垒，实</a:t>
              </a:r>
            </a:p>
          </p:txBody>
        </p:sp>
        <p:sp>
          <p:nvSpPr>
            <p:cNvPr id="18" name="L2-body2"/>
            <p:cNvSpPr txBox="1"/>
            <p:nvPr/>
          </p:nvSpPr>
          <p:spPr>
            <a:xfrm>
              <a:off x="1562100" y="9915525"/>
              <a:ext cx="5648325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现数据统一管理和深度分析</a:t>
              </a:r>
            </a:p>
          </p:txBody>
        </p:sp>
      </p:grpSp>
      <p:grpSp>
        <p:nvGrpSpPr>
          <p:cNvPr id="35" name="L3-block"/>
          <p:cNvGrpSpPr/>
          <p:nvPr/>
        </p:nvGrpSpPr>
        <p:grpSpPr>
          <a:xfrm>
            <a:off x="1571625" y="12954000"/>
            <a:ext cx="6362700" cy="1924050"/>
            <a:chOff x="1571625" y="12954000"/>
            <a:chExt cx="6362700" cy="1924050"/>
          </a:xfrm>
        </p:grpSpPr>
        <p:sp>
          <p:nvSpPr>
            <p:cNvPr id="19" name="L3-semi"/>
            <p:cNvSpPr/>
            <p:nvPr/>
          </p:nvSpPr>
          <p:spPr>
            <a:xfrm>
              <a:off x="7458075" y="13687425"/>
              <a:ext cx="285750" cy="476250"/>
            </a:xfrm>
            <a:custGeom>
              <a:avLst/>
              <a:gdLst/>
              <a:ahLst/>
              <a:cxnLst/>
              <a:rect l="l" t="t" r="r" b="b"/>
              <a:pathLst>
                <a:path w="285750" h="476250">
                  <a:moveTo>
                    <a:pt x="285750" y="0"/>
                  </a:moveTo>
                  <a:lnTo>
                    <a:pt x="285750" y="0"/>
                  </a:lnTo>
                  <a:lnTo>
                    <a:pt x="228600" y="0"/>
                  </a:lnTo>
                  <a:lnTo>
                    <a:pt x="171450" y="9525"/>
                  </a:lnTo>
                  <a:lnTo>
                    <a:pt x="123825" y="38100"/>
                  </a:lnTo>
                  <a:lnTo>
                    <a:pt x="76200" y="66675"/>
                  </a:lnTo>
                  <a:lnTo>
                    <a:pt x="47625" y="104775"/>
                  </a:lnTo>
                  <a:lnTo>
                    <a:pt x="19050" y="142875"/>
                  </a:lnTo>
                  <a:lnTo>
                    <a:pt x="0" y="190500"/>
                  </a:lnTo>
                  <a:lnTo>
                    <a:pt x="0" y="238125"/>
                  </a:lnTo>
                  <a:lnTo>
                    <a:pt x="0" y="276225"/>
                  </a:lnTo>
                  <a:lnTo>
                    <a:pt x="19050" y="323850"/>
                  </a:lnTo>
                  <a:lnTo>
                    <a:pt x="47625" y="361950"/>
                  </a:lnTo>
                  <a:lnTo>
                    <a:pt x="76200" y="400050"/>
                  </a:lnTo>
                  <a:lnTo>
                    <a:pt x="123825" y="428625"/>
                  </a:lnTo>
                  <a:lnTo>
                    <a:pt x="171450" y="457200"/>
                  </a:lnTo>
                  <a:lnTo>
                    <a:pt x="228600" y="466725"/>
                  </a:lnTo>
                  <a:lnTo>
                    <a:pt x="285750" y="476250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L3-bar"/>
            <p:cNvSpPr/>
            <p:nvPr/>
          </p:nvSpPr>
          <p:spPr>
            <a:xfrm>
              <a:off x="7743825" y="13106400"/>
              <a:ext cx="190500" cy="1647825"/>
            </a:xfrm>
            <a:prstGeom prst="roundRect">
              <a:avLst>
                <a:gd name="adj" fmla="val 10000"/>
              </a:avLst>
            </a:pr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3-title"/>
            <p:cNvSpPr txBox="1"/>
            <p:nvPr/>
          </p:nvSpPr>
          <p:spPr>
            <a:xfrm>
              <a:off x="4333875" y="12954000"/>
              <a:ext cx="288607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45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移动办公</a:t>
              </a:r>
            </a:p>
          </p:txBody>
        </p:sp>
        <p:sp>
          <p:nvSpPr>
            <p:cNvPr id="22" name="L3-body1"/>
            <p:cNvSpPr txBox="1"/>
            <p:nvPr/>
          </p:nvSpPr>
          <p:spPr>
            <a:xfrm>
              <a:off x="1571625" y="13820775"/>
              <a:ext cx="5638800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实现全流程移动化办公，支</a:t>
              </a:r>
            </a:p>
          </p:txBody>
        </p:sp>
        <p:sp>
          <p:nvSpPr>
            <p:cNvPr id="23" name="L3-body2"/>
            <p:cNvSpPr txBox="1"/>
            <p:nvPr/>
          </p:nvSpPr>
          <p:spPr>
            <a:xfrm>
              <a:off x="2000250" y="14354175"/>
              <a:ext cx="5210175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持随时随地高效处理工作</a:t>
              </a:r>
            </a:p>
          </p:txBody>
        </p:sp>
      </p:grpSp>
      <p:grpSp>
        <p:nvGrpSpPr>
          <p:cNvPr id="37" name="R1-block"/>
          <p:cNvGrpSpPr/>
          <p:nvPr/>
        </p:nvGrpSpPr>
        <p:grpSpPr>
          <a:xfrm>
            <a:off x="22736175" y="5410200"/>
            <a:ext cx="6372225" cy="1933575"/>
            <a:chOff x="22736175" y="5410200"/>
            <a:chExt cx="6372225" cy="1933575"/>
          </a:xfrm>
        </p:grpSpPr>
        <p:sp>
          <p:nvSpPr>
            <p:cNvPr id="24" name="R1-semi"/>
            <p:cNvSpPr/>
            <p:nvPr/>
          </p:nvSpPr>
          <p:spPr>
            <a:xfrm>
              <a:off x="22926675" y="6143625"/>
              <a:ext cx="276225" cy="476250"/>
            </a:xfrm>
            <a:custGeom>
              <a:avLst/>
              <a:gdLst/>
              <a:ahLst/>
              <a:cxnLst/>
              <a:rect l="l" t="t" r="r" b="b"/>
              <a:pathLst>
                <a:path w="276225" h="476250">
                  <a:moveTo>
                    <a:pt x="0" y="0"/>
                  </a:moveTo>
                  <a:lnTo>
                    <a:pt x="0" y="0"/>
                  </a:lnTo>
                  <a:lnTo>
                    <a:pt x="47625" y="0"/>
                  </a:lnTo>
                  <a:lnTo>
                    <a:pt x="104775" y="9525"/>
                  </a:lnTo>
                  <a:lnTo>
                    <a:pt x="152400" y="38100"/>
                  </a:lnTo>
                  <a:lnTo>
                    <a:pt x="190500" y="66675"/>
                  </a:lnTo>
                  <a:lnTo>
                    <a:pt x="228600" y="104775"/>
                  </a:lnTo>
                  <a:lnTo>
                    <a:pt x="247650" y="142875"/>
                  </a:lnTo>
                  <a:lnTo>
                    <a:pt x="266700" y="190500"/>
                  </a:lnTo>
                  <a:lnTo>
                    <a:pt x="276225" y="238125"/>
                  </a:lnTo>
                  <a:lnTo>
                    <a:pt x="266700" y="276225"/>
                  </a:lnTo>
                  <a:lnTo>
                    <a:pt x="247650" y="323850"/>
                  </a:lnTo>
                  <a:lnTo>
                    <a:pt x="228600" y="361950"/>
                  </a:lnTo>
                  <a:lnTo>
                    <a:pt x="190500" y="400050"/>
                  </a:lnTo>
                  <a:lnTo>
                    <a:pt x="152400" y="428625"/>
                  </a:lnTo>
                  <a:lnTo>
                    <a:pt x="104775" y="457200"/>
                  </a:lnTo>
                  <a:lnTo>
                    <a:pt x="47625" y="466725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354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1-bar"/>
            <p:cNvSpPr/>
            <p:nvPr/>
          </p:nvSpPr>
          <p:spPr>
            <a:xfrm>
              <a:off x="22736175" y="5572125"/>
              <a:ext cx="190500" cy="1638300"/>
            </a:xfrm>
            <a:prstGeom prst="roundRect">
              <a:avLst>
                <a:gd name="adj" fmla="val 10000"/>
              </a:avLst>
            </a:prstGeom>
            <a:solidFill>
              <a:srgbClr val="4354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1-title"/>
            <p:cNvSpPr txBox="1"/>
            <p:nvPr/>
          </p:nvSpPr>
          <p:spPr>
            <a:xfrm>
              <a:off x="23450550" y="5410200"/>
              <a:ext cx="282892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智能协同</a:t>
              </a:r>
            </a:p>
          </p:txBody>
        </p:sp>
        <p:sp>
          <p:nvSpPr>
            <p:cNvPr id="27" name="R1-body1"/>
            <p:cNvSpPr txBox="1"/>
            <p:nvPr/>
          </p:nvSpPr>
          <p:spPr>
            <a:xfrm>
              <a:off x="23450550" y="6267450"/>
              <a:ext cx="5657850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构建跨部门、跨层级、跨地</a:t>
              </a:r>
            </a:p>
          </p:txBody>
        </p:sp>
        <p:sp>
          <p:nvSpPr>
            <p:cNvPr id="28" name="R1-body2"/>
            <p:cNvSpPr txBox="1"/>
            <p:nvPr/>
          </p:nvSpPr>
          <p:spPr>
            <a:xfrm>
              <a:off x="23450550" y="6819900"/>
              <a:ext cx="3876675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域的智能协作机制</a:t>
              </a:r>
            </a:p>
          </p:txBody>
        </p:sp>
      </p:grpSp>
      <p:grpSp>
        <p:nvGrpSpPr>
          <p:cNvPr id="38" name="R2-block"/>
          <p:cNvGrpSpPr/>
          <p:nvPr/>
        </p:nvGrpSpPr>
        <p:grpSpPr>
          <a:xfrm>
            <a:off x="22736175" y="11601450"/>
            <a:ext cx="6372225" cy="1924050"/>
            <a:chOff x="22736175" y="11601450"/>
            <a:chExt cx="6372225" cy="1924050"/>
          </a:xfrm>
        </p:grpSpPr>
        <p:sp>
          <p:nvSpPr>
            <p:cNvPr id="29" name="R2-semi"/>
            <p:cNvSpPr/>
            <p:nvPr/>
          </p:nvSpPr>
          <p:spPr>
            <a:xfrm>
              <a:off x="22926675" y="12325350"/>
              <a:ext cx="276225" cy="476250"/>
            </a:xfrm>
            <a:custGeom>
              <a:avLst/>
              <a:gdLst/>
              <a:ahLst/>
              <a:cxnLst/>
              <a:rect l="l" t="t" r="r" b="b"/>
              <a:pathLst>
                <a:path w="276225" h="476250">
                  <a:moveTo>
                    <a:pt x="0" y="0"/>
                  </a:moveTo>
                  <a:lnTo>
                    <a:pt x="0" y="0"/>
                  </a:lnTo>
                  <a:lnTo>
                    <a:pt x="47625" y="0"/>
                  </a:lnTo>
                  <a:lnTo>
                    <a:pt x="104775" y="9525"/>
                  </a:lnTo>
                  <a:lnTo>
                    <a:pt x="152400" y="38100"/>
                  </a:lnTo>
                  <a:lnTo>
                    <a:pt x="190500" y="66675"/>
                  </a:lnTo>
                  <a:lnTo>
                    <a:pt x="228600" y="104775"/>
                  </a:lnTo>
                  <a:lnTo>
                    <a:pt x="247650" y="142875"/>
                  </a:lnTo>
                  <a:lnTo>
                    <a:pt x="266700" y="190500"/>
                  </a:lnTo>
                  <a:lnTo>
                    <a:pt x="276225" y="238125"/>
                  </a:lnTo>
                  <a:lnTo>
                    <a:pt x="266700" y="276225"/>
                  </a:lnTo>
                  <a:lnTo>
                    <a:pt x="247650" y="323850"/>
                  </a:lnTo>
                  <a:lnTo>
                    <a:pt x="228600" y="361950"/>
                  </a:lnTo>
                  <a:lnTo>
                    <a:pt x="190500" y="400050"/>
                  </a:lnTo>
                  <a:lnTo>
                    <a:pt x="152400" y="428625"/>
                  </a:lnTo>
                  <a:lnTo>
                    <a:pt x="104775" y="457200"/>
                  </a:lnTo>
                  <a:lnTo>
                    <a:pt x="47625" y="466725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354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2-bar"/>
            <p:cNvSpPr/>
            <p:nvPr/>
          </p:nvSpPr>
          <p:spPr>
            <a:xfrm>
              <a:off x="22736175" y="11744325"/>
              <a:ext cx="190500" cy="1647825"/>
            </a:xfrm>
            <a:prstGeom prst="roundRect">
              <a:avLst>
                <a:gd name="adj" fmla="val 10000"/>
              </a:avLst>
            </a:prstGeom>
            <a:solidFill>
              <a:srgbClr val="4354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2-title"/>
            <p:cNvSpPr txBox="1"/>
            <p:nvPr/>
          </p:nvSpPr>
          <p:spPr>
            <a:xfrm>
              <a:off x="23450550" y="11601450"/>
              <a:ext cx="288607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安全合规</a:t>
              </a:r>
            </a:p>
          </p:txBody>
        </p:sp>
        <p:sp>
          <p:nvSpPr>
            <p:cNvPr id="32" name="R2-body1"/>
            <p:cNvSpPr txBox="1"/>
            <p:nvPr/>
          </p:nvSpPr>
          <p:spPr>
            <a:xfrm>
              <a:off x="23450550" y="12458700"/>
              <a:ext cx="5657850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在智能化进程中同步强化数</a:t>
              </a:r>
            </a:p>
          </p:txBody>
        </p:sp>
        <p:sp>
          <p:nvSpPr>
            <p:cNvPr id="33" name="R2-body2"/>
            <p:cNvSpPr txBox="1"/>
            <p:nvPr/>
          </p:nvSpPr>
          <p:spPr>
            <a:xfrm>
              <a:off x="23450550" y="13001625"/>
              <a:ext cx="3914775" cy="5238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19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据安全与合规管理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