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0470475" cy="17325975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30470475" cy="17325975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g"/>
          <p:cNvSpPr/>
          <p:nvPr/>
        </p:nvSpPr>
        <p:spPr>
          <a:xfrm>
            <a:off x="0" y="0"/>
            <a:ext cx="30470475" cy="17325975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hoto-left" descr="_photo_photo_lef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09625"/>
            <a:ext cx="10096500" cy="12525375"/>
          </a:xfrm>
          <a:prstGeom prst="rect">
            <a:avLst/>
          </a:prstGeom>
          <a:effectLst/>
        </p:spPr>
      </p:pic>
      <p:pic>
        <p:nvPicPr>
          <p:cNvPr id="5" name="photo-lobe" descr="_photo_photo_lob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0" y="809625"/>
            <a:ext cx="7067550" cy="13144500"/>
          </a:xfrm>
          <a:prstGeom prst="rect">
            <a:avLst/>
          </a:prstGeom>
          <a:effectLst/>
        </p:spPr>
      </p:pic>
      <p:sp>
        <p:nvSpPr>
          <p:cNvPr id="6" name="deco-bottom-center"/>
          <p:cNvSpPr/>
          <p:nvPr/>
        </p:nvSpPr>
        <p:spPr>
          <a:xfrm>
            <a:off x="12249150" y="14668500"/>
            <a:ext cx="4010025" cy="1771650"/>
          </a:xfrm>
          <a:custGeom>
            <a:avLst/>
            <a:gdLst/>
            <a:ahLst/>
            <a:cxnLst/>
            <a:rect l="l" t="t" r="r" b="b"/>
            <a:pathLst>
              <a:path w="4010025" h="1771650">
                <a:moveTo>
                  <a:pt x="904875" y="0"/>
                </a:moveTo>
                <a:lnTo>
                  <a:pt x="2943225" y="0"/>
                </a:lnTo>
                <a:lnTo>
                  <a:pt x="4010025" y="1771650"/>
                </a:lnTo>
                <a:lnTo>
                  <a:pt x="0" y="1771650"/>
                </a:lnTo>
                <a:close/>
              </a:path>
            </a:pathLst>
          </a:custGeom>
          <a:solidFill>
            <a:srgbClr val="427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eco-bottom-right"/>
          <p:cNvSpPr/>
          <p:nvPr/>
        </p:nvSpPr>
        <p:spPr>
          <a:xfrm>
            <a:off x="23726775" y="11772900"/>
            <a:ext cx="5895975" cy="4667250"/>
          </a:xfrm>
          <a:custGeom>
            <a:avLst/>
            <a:gdLst/>
            <a:ahLst/>
            <a:cxnLst/>
            <a:rect l="l" t="t" r="r" b="b"/>
            <a:pathLst>
              <a:path w="5895975" h="4667250">
                <a:moveTo>
                  <a:pt x="3133725" y="0"/>
                </a:moveTo>
                <a:lnTo>
                  <a:pt x="5895975" y="0"/>
                </a:lnTo>
                <a:lnTo>
                  <a:pt x="5895975" y="4667250"/>
                </a:lnTo>
                <a:lnTo>
                  <a:pt x="0" y="4667250"/>
                </a:lnTo>
                <a:lnTo>
                  <a:pt x="123825" y="4229100"/>
                </a:lnTo>
                <a:lnTo>
                  <a:pt x="276225" y="3943350"/>
                </a:lnTo>
                <a:lnTo>
                  <a:pt x="523875" y="3514725"/>
                </a:lnTo>
                <a:lnTo>
                  <a:pt x="771525" y="3086100"/>
                </a:lnTo>
                <a:lnTo>
                  <a:pt x="1104900" y="2514600"/>
                </a:lnTo>
                <a:lnTo>
                  <a:pt x="1352550" y="2085975"/>
                </a:lnTo>
                <a:lnTo>
                  <a:pt x="1600200" y="1657350"/>
                </a:lnTo>
                <a:lnTo>
                  <a:pt x="1762125" y="1371600"/>
                </a:lnTo>
                <a:lnTo>
                  <a:pt x="1981200" y="990600"/>
                </a:lnTo>
                <a:lnTo>
                  <a:pt x="2095500" y="800100"/>
                </a:lnTo>
                <a:lnTo>
                  <a:pt x="2228850" y="609600"/>
                </a:lnTo>
                <a:lnTo>
                  <a:pt x="2409825" y="419100"/>
                </a:lnTo>
                <a:lnTo>
                  <a:pt x="2667000" y="228600"/>
                </a:lnTo>
                <a:lnTo>
                  <a:pt x="3133725" y="38100"/>
                </a:lnTo>
                <a:close/>
              </a:path>
            </a:pathLst>
          </a:custGeom>
          <a:solidFill>
            <a:srgbClr val="427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banner"/>
          <p:cNvSpPr/>
          <p:nvPr/>
        </p:nvSpPr>
        <p:spPr>
          <a:xfrm>
            <a:off x="17849850" y="904875"/>
            <a:ext cx="11410950" cy="5457825"/>
          </a:xfrm>
          <a:custGeom>
            <a:avLst/>
            <a:gdLst/>
            <a:ahLst/>
            <a:cxnLst/>
            <a:rect l="l" t="t" r="r" b="b"/>
            <a:pathLst>
              <a:path w="11410950" h="5457825">
                <a:moveTo>
                  <a:pt x="0" y="0"/>
                </a:moveTo>
                <a:lnTo>
                  <a:pt x="11410950" y="0"/>
                </a:lnTo>
                <a:lnTo>
                  <a:pt x="11410950" y="1362075"/>
                </a:lnTo>
                <a:lnTo>
                  <a:pt x="9410700" y="4810125"/>
                </a:lnTo>
                <a:lnTo>
                  <a:pt x="9324975" y="5000625"/>
                </a:lnTo>
                <a:lnTo>
                  <a:pt x="9182100" y="5191125"/>
                </a:lnTo>
                <a:lnTo>
                  <a:pt x="8877300" y="5381625"/>
                </a:lnTo>
                <a:lnTo>
                  <a:pt x="8439150" y="5457825"/>
                </a:lnTo>
                <a:lnTo>
                  <a:pt x="3390900" y="5457825"/>
                </a:lnTo>
                <a:lnTo>
                  <a:pt x="3105150" y="5381625"/>
                </a:lnTo>
                <a:lnTo>
                  <a:pt x="2895600" y="5191125"/>
                </a:lnTo>
                <a:lnTo>
                  <a:pt x="2705100" y="5000625"/>
                </a:lnTo>
                <a:lnTo>
                  <a:pt x="2028825" y="3857625"/>
                </a:lnTo>
                <a:lnTo>
                  <a:pt x="1371600" y="2714625"/>
                </a:lnTo>
                <a:lnTo>
                  <a:pt x="933450" y="1952625"/>
                </a:lnTo>
                <a:lnTo>
                  <a:pt x="495300" y="1190625"/>
                </a:lnTo>
                <a:lnTo>
                  <a:pt x="266700" y="809625"/>
                </a:lnTo>
                <a:lnTo>
                  <a:pt x="104775" y="504825"/>
                </a:lnTo>
                <a:lnTo>
                  <a:pt x="19050" y="238125"/>
                </a:lnTo>
                <a:close/>
              </a:path>
            </a:pathLst>
          </a:custGeom>
          <a:solidFill>
            <a:srgbClr val="427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xt-part"/>
          <p:cNvSpPr txBox="1"/>
          <p:nvPr/>
        </p:nvSpPr>
        <p:spPr>
          <a:xfrm>
            <a:off x="19631025" y="2171700"/>
            <a:ext cx="8572500" cy="28575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3575" b="1" i="0" spc="6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PART 02</a:t>
            </a:r>
          </a:p>
        </p:txBody>
      </p:sp>
      <p:sp>
        <p:nvSpPr>
          <p:cNvPr id="10" name="txt-title"/>
          <p:cNvSpPr txBox="1"/>
          <p:nvPr/>
        </p:nvSpPr>
        <p:spPr>
          <a:xfrm>
            <a:off x="15487650" y="7334250"/>
            <a:ext cx="11334750" cy="253365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450" b="1" i="0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>项目目标与范围</a:t>
            </a:r>
          </a:p>
        </p:txBody>
      </p:sp>
      <p:sp>
        <p:nvSpPr>
          <p:cNvPr id="11" name="txt-sub"/>
          <p:cNvSpPr txBox="1"/>
          <p:nvPr/>
        </p:nvSpPr>
        <p:spPr>
          <a:xfrm>
            <a:off x="15506700" y="9772650"/>
            <a:ext cx="12573000" cy="109537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0" i="0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>划定核心指标，明确落地范围与预期价值</a:t>
            </a:r>
          </a:p>
        </p:txBody>
      </p:sp>
      <p:sp>
        <p:nvSpPr>
          <p:cNvPr id="12" name="chip-circle-1"/>
          <p:cNvSpPr/>
          <p:nvPr/>
        </p:nvSpPr>
        <p:spPr>
          <a:xfrm>
            <a:off x="2333625" y="13382625"/>
            <a:ext cx="1162050" cy="1162050"/>
          </a:xfrm>
          <a:prstGeom prst="ellipse">
            <a:avLst/>
          </a:prstGeom>
          <a:solidFill>
            <a:srgbClr val="427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ic1-diamond"/>
          <p:cNvSpPr/>
          <p:nvPr/>
        </p:nvSpPr>
        <p:spPr>
          <a:xfrm>
            <a:off x="2657475" y="13668375"/>
            <a:ext cx="514350" cy="285750"/>
          </a:xfrm>
          <a:custGeom>
            <a:avLst/>
            <a:gdLst/>
            <a:ahLst/>
            <a:cxnLst/>
            <a:rect l="l" t="t" r="r" b="b"/>
            <a:pathLst>
              <a:path w="514350" h="285750">
                <a:moveTo>
                  <a:pt x="257175" y="0"/>
                </a:moveTo>
                <a:lnTo>
                  <a:pt x="514350" y="142875"/>
                </a:lnTo>
                <a:lnTo>
                  <a:pt x="257175" y="285750"/>
                </a:lnTo>
                <a:lnTo>
                  <a:pt x="0" y="142875"/>
                </a:lnTo>
                <a:close/>
              </a:path>
            </a:pathLst>
          </a:custGeom>
          <a:solidFill>
            <a:srgbClr val="4276F0"/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ic1-chev-mid"/>
          <p:cNvSpPr/>
          <p:nvPr/>
        </p:nvSpPr>
        <p:spPr>
          <a:xfrm>
            <a:off x="2657475" y="13954125"/>
            <a:ext cx="514350" cy="142875"/>
          </a:xfrm>
          <a:custGeom>
            <a:avLst/>
            <a:gdLst/>
            <a:ahLst/>
            <a:cxnLst/>
            <a:rect l="l" t="t" r="r" b="b"/>
            <a:pathLst>
              <a:path w="514350" h="142875">
                <a:moveTo>
                  <a:pt x="0" y="0"/>
                </a:moveTo>
                <a:lnTo>
                  <a:pt x="257175" y="142875"/>
                </a:lnTo>
                <a:lnTo>
                  <a:pt x="514350" y="0"/>
                </a:lnTo>
              </a:path>
            </a:pathLst>
          </a:custGeom>
          <a:noFill/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ic1-chev-bot"/>
          <p:cNvSpPr/>
          <p:nvPr/>
        </p:nvSpPr>
        <p:spPr>
          <a:xfrm>
            <a:off x="2657475" y="14097000"/>
            <a:ext cx="514350" cy="142875"/>
          </a:xfrm>
          <a:custGeom>
            <a:avLst/>
            <a:gdLst/>
            <a:ahLst/>
            <a:cxnLst/>
            <a:rect l="l" t="t" r="r" b="b"/>
            <a:pathLst>
              <a:path w="514350" h="142875">
                <a:moveTo>
                  <a:pt x="0" y="0"/>
                </a:moveTo>
                <a:lnTo>
                  <a:pt x="257175" y="142875"/>
                </a:lnTo>
                <a:lnTo>
                  <a:pt x="514350" y="0"/>
                </a:lnTo>
              </a:path>
            </a:pathLst>
          </a:custGeom>
          <a:noFill/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hip-circle-2"/>
          <p:cNvSpPr/>
          <p:nvPr/>
        </p:nvSpPr>
        <p:spPr>
          <a:xfrm>
            <a:off x="3981450" y="13382625"/>
            <a:ext cx="1162050" cy="1162050"/>
          </a:xfrm>
          <a:prstGeom prst="ellipse">
            <a:avLst/>
          </a:prstGeom>
          <a:solidFill>
            <a:srgbClr val="427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ic2-bar-16"/>
          <p:cNvSpPr/>
          <p:nvPr/>
        </p:nvSpPr>
        <p:spPr>
          <a:xfrm>
            <a:off x="4305300" y="13687425"/>
            <a:ext cx="514350" cy="133350"/>
          </a:xfrm>
          <a:prstGeom prst="roundRect">
            <a:avLst>
              <a:gd name="adj" fmla="val 28571"/>
            </a:avLst>
          </a:prstGeom>
          <a:solidFill>
            <a:srgbClr val="4276F0"/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ic2-bar-38"/>
          <p:cNvSpPr/>
          <p:nvPr/>
        </p:nvSpPr>
        <p:spPr>
          <a:xfrm>
            <a:off x="4305300" y="13896975"/>
            <a:ext cx="514350" cy="133350"/>
          </a:xfrm>
          <a:prstGeom prst="roundRect">
            <a:avLst>
              <a:gd name="adj" fmla="val 28571"/>
            </a:avLst>
          </a:prstGeom>
          <a:solidFill>
            <a:srgbClr val="4276F0"/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ic2-bar-60"/>
          <p:cNvSpPr/>
          <p:nvPr/>
        </p:nvSpPr>
        <p:spPr>
          <a:xfrm>
            <a:off x="4305300" y="14106525"/>
            <a:ext cx="514350" cy="133350"/>
          </a:xfrm>
          <a:prstGeom prst="roundRect">
            <a:avLst>
              <a:gd name="adj" fmla="val 28571"/>
            </a:avLst>
          </a:prstGeom>
          <a:solidFill>
            <a:srgbClr val="4276F0"/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ic2-dot-23"/>
          <p:cNvSpPr/>
          <p:nvPr/>
        </p:nvSpPr>
        <p:spPr>
          <a:xfrm>
            <a:off x="4333875" y="13725525"/>
            <a:ext cx="57150" cy="571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ic2-dot-45"/>
          <p:cNvSpPr/>
          <p:nvPr/>
        </p:nvSpPr>
        <p:spPr>
          <a:xfrm>
            <a:off x="4333875" y="13935075"/>
            <a:ext cx="57150" cy="571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ic2-pill"/>
          <p:cNvSpPr/>
          <p:nvPr/>
        </p:nvSpPr>
        <p:spPr>
          <a:xfrm>
            <a:off x="4343400" y="14149388"/>
            <a:ext cx="95250" cy="476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hip-circle-3"/>
          <p:cNvSpPr/>
          <p:nvPr/>
        </p:nvSpPr>
        <p:spPr>
          <a:xfrm>
            <a:off x="5638800" y="13382625"/>
            <a:ext cx="1162050" cy="1162050"/>
          </a:xfrm>
          <a:prstGeom prst="ellipse">
            <a:avLst/>
          </a:prstGeom>
          <a:solidFill>
            <a:srgbClr val="427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ic3-back"/>
          <p:cNvSpPr/>
          <p:nvPr/>
        </p:nvSpPr>
        <p:spPr>
          <a:xfrm>
            <a:off x="6057900" y="13658850"/>
            <a:ext cx="390525" cy="428625"/>
          </a:xfrm>
          <a:custGeom>
            <a:avLst/>
            <a:gdLst/>
            <a:ahLst/>
            <a:cxnLst/>
            <a:rect l="l" t="t" r="r" b="b"/>
            <a:pathLst>
              <a:path w="390525" h="428625">
                <a:moveTo>
                  <a:pt x="0" y="0"/>
                </a:moveTo>
                <a:lnTo>
                  <a:pt x="361950" y="0"/>
                </a:lnTo>
                <a:lnTo>
                  <a:pt x="390525" y="28575"/>
                </a:lnTo>
                <a:lnTo>
                  <a:pt x="390525" y="428625"/>
                </a:lnTo>
              </a:path>
            </a:pathLst>
          </a:custGeom>
          <a:noFill/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ic3-front"/>
          <p:cNvSpPr/>
          <p:nvPr/>
        </p:nvSpPr>
        <p:spPr>
          <a:xfrm>
            <a:off x="6019800" y="13782675"/>
            <a:ext cx="342900" cy="457200"/>
          </a:xfrm>
          <a:prstGeom prst="roundRect">
            <a:avLst>
              <a:gd name="adj" fmla="val 5555"/>
            </a:avLst>
          </a:prstGeom>
          <a:solidFill>
            <a:srgbClr val="4276F0"/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" name="ic3-head"/>
          <p:cNvCxnSpPr/>
          <p:nvPr/>
        </p:nvCxnSpPr>
        <p:spPr>
          <a:xfrm>
            <a:off x="6057900" y="13858875"/>
            <a:ext cx="276225" cy="0"/>
          </a:xfrm>
          <a:prstGeom prst="line">
            <a:avLst/>
          </a:prstGeom>
          <a:ln w="3810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ic3-b1"/>
          <p:cNvSpPr/>
          <p:nvPr/>
        </p:nvSpPr>
        <p:spPr>
          <a:xfrm>
            <a:off x="6086475" y="13982700"/>
            <a:ext cx="76200" cy="66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ic3-b2"/>
          <p:cNvSpPr/>
          <p:nvPr/>
        </p:nvSpPr>
        <p:spPr>
          <a:xfrm>
            <a:off x="6200775" y="13982700"/>
            <a:ext cx="123825" cy="66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chip-circle-4"/>
          <p:cNvSpPr/>
          <p:nvPr/>
        </p:nvSpPr>
        <p:spPr>
          <a:xfrm>
            <a:off x="7286625" y="13382625"/>
            <a:ext cx="1162050" cy="1162050"/>
          </a:xfrm>
          <a:prstGeom prst="ellipse">
            <a:avLst/>
          </a:prstGeom>
          <a:solidFill>
            <a:srgbClr val="427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ic4-back"/>
          <p:cNvSpPr/>
          <p:nvPr/>
        </p:nvSpPr>
        <p:spPr>
          <a:xfrm>
            <a:off x="7724775" y="13658850"/>
            <a:ext cx="400050" cy="447675"/>
          </a:xfrm>
          <a:custGeom>
            <a:avLst/>
            <a:gdLst/>
            <a:ahLst/>
            <a:cxnLst/>
            <a:rect l="l" t="t" r="r" b="b"/>
            <a:pathLst>
              <a:path w="400050" h="447675">
                <a:moveTo>
                  <a:pt x="0" y="0"/>
                </a:moveTo>
                <a:lnTo>
                  <a:pt x="371475" y="0"/>
                </a:lnTo>
                <a:lnTo>
                  <a:pt x="400050" y="28575"/>
                </a:lnTo>
                <a:lnTo>
                  <a:pt x="400050" y="447675"/>
                </a:lnTo>
              </a:path>
            </a:pathLst>
          </a:custGeom>
          <a:noFill/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ic4-front"/>
          <p:cNvSpPr/>
          <p:nvPr/>
        </p:nvSpPr>
        <p:spPr>
          <a:xfrm>
            <a:off x="7600950" y="13735050"/>
            <a:ext cx="400050" cy="514350"/>
          </a:xfrm>
          <a:prstGeom prst="roundRect">
            <a:avLst>
              <a:gd name="adj" fmla="val 4761"/>
            </a:avLst>
          </a:prstGeom>
          <a:solidFill>
            <a:srgbClr val="4276F0"/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2" name="ic4-l1"/>
          <p:cNvCxnSpPr/>
          <p:nvPr/>
        </p:nvCxnSpPr>
        <p:spPr>
          <a:xfrm>
            <a:off x="7715250" y="13877925"/>
            <a:ext cx="200025" cy="0"/>
          </a:xfrm>
          <a:prstGeom prst="line">
            <a:avLst/>
          </a:prstGeom>
          <a:ln w="3810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ic4-l2"/>
          <p:cNvCxnSpPr/>
          <p:nvPr/>
        </p:nvCxnSpPr>
        <p:spPr>
          <a:xfrm>
            <a:off x="7715250" y="14030325"/>
            <a:ext cx="200025" cy="0"/>
          </a:xfrm>
          <a:prstGeom prst="line">
            <a:avLst/>
          </a:prstGeom>
          <a:ln w="3810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