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335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33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3355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eco-curve-1"/>
          <p:cNvSpPr/>
          <p:nvPr/>
        </p:nvSpPr>
        <p:spPr>
          <a:xfrm>
            <a:off x="0" y="2000250"/>
            <a:ext cx="14287500" cy="4667250"/>
          </a:xfrm>
          <a:custGeom>
            <a:avLst/>
            <a:gdLst/>
            <a:ahLst/>
            <a:cxnLst/>
            <a:rect l="l" t="t" r="r" b="b"/>
            <a:pathLst>
              <a:path w="14287500" h="4667250">
                <a:moveTo>
                  <a:pt x="0" y="0"/>
                </a:moveTo>
                <a:lnTo>
                  <a:pt x="4000500" y="857250"/>
                </a:lnTo>
                <a:lnTo>
                  <a:pt x="8572500" y="2952750"/>
                </a:lnTo>
                <a:lnTo>
                  <a:pt x="14287500" y="4667250"/>
                </a:lnTo>
              </a:path>
            </a:pathLst>
          </a:custGeom>
          <a:noFill/>
          <a:ln w="857250">
            <a:solidFill>
              <a:srgbClr val="F2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deco-curve-2"/>
          <p:cNvSpPr/>
          <p:nvPr/>
        </p:nvSpPr>
        <p:spPr>
          <a:xfrm>
            <a:off x="0" y="3143250"/>
            <a:ext cx="12382500" cy="5048250"/>
          </a:xfrm>
          <a:custGeom>
            <a:avLst/>
            <a:gdLst/>
            <a:ahLst/>
            <a:cxnLst/>
            <a:rect l="l" t="t" r="r" b="b"/>
            <a:pathLst>
              <a:path w="12382500" h="5048250">
                <a:moveTo>
                  <a:pt x="0" y="0"/>
                </a:moveTo>
                <a:lnTo>
                  <a:pt x="3619500" y="857250"/>
                </a:lnTo>
                <a:lnTo>
                  <a:pt x="7810500" y="2952750"/>
                </a:lnTo>
                <a:lnTo>
                  <a:pt x="12382500" y="5048250"/>
                </a:lnTo>
              </a:path>
            </a:pathLst>
          </a:custGeom>
          <a:noFill/>
          <a:ln w="571500">
            <a:solidFill>
              <a:srgbClr val="F2F4F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hape-topright"/>
          <p:cNvSpPr/>
          <p:nvPr/>
        </p:nvSpPr>
        <p:spPr>
          <a:xfrm>
            <a:off x="17402175" y="914400"/>
            <a:ext cx="12144375" cy="4114800"/>
          </a:xfrm>
          <a:custGeom>
            <a:avLst/>
            <a:gdLst/>
            <a:ahLst/>
            <a:cxnLst/>
            <a:rect l="l" t="t" r="r" b="b"/>
            <a:pathLst>
              <a:path w="12144375" h="4114800">
                <a:moveTo>
                  <a:pt x="0" y="0"/>
                </a:moveTo>
                <a:lnTo>
                  <a:pt x="12144375" y="0"/>
                </a:lnTo>
                <a:lnTo>
                  <a:pt x="9572625" y="3829050"/>
                </a:lnTo>
                <a:lnTo>
                  <a:pt x="9569107" y="3873751"/>
                </a:lnTo>
                <a:lnTo>
                  <a:pt x="9558639" y="3917352"/>
                </a:lnTo>
                <a:lnTo>
                  <a:pt x="9541480" y="3958778"/>
                </a:lnTo>
                <a:lnTo>
                  <a:pt x="9518052" y="3997010"/>
                </a:lnTo>
                <a:lnTo>
                  <a:pt x="9488931" y="4031106"/>
                </a:lnTo>
                <a:lnTo>
                  <a:pt x="9454835" y="4060227"/>
                </a:lnTo>
                <a:lnTo>
                  <a:pt x="9416603" y="4083655"/>
                </a:lnTo>
                <a:lnTo>
                  <a:pt x="9375177" y="4100814"/>
                </a:lnTo>
                <a:lnTo>
                  <a:pt x="9331576" y="4111282"/>
                </a:lnTo>
                <a:lnTo>
                  <a:pt x="9286875" y="4114800"/>
                </a:lnTo>
                <a:lnTo>
                  <a:pt x="2838450" y="4114800"/>
                </a:lnTo>
                <a:lnTo>
                  <a:pt x="2838450" y="4114800"/>
                </a:lnTo>
                <a:lnTo>
                  <a:pt x="2793749" y="4111282"/>
                </a:lnTo>
                <a:lnTo>
                  <a:pt x="2750148" y="4100814"/>
                </a:lnTo>
                <a:lnTo>
                  <a:pt x="2708722" y="4083655"/>
                </a:lnTo>
                <a:lnTo>
                  <a:pt x="2670490" y="4060227"/>
                </a:lnTo>
                <a:lnTo>
                  <a:pt x="2636394" y="4031106"/>
                </a:lnTo>
                <a:lnTo>
                  <a:pt x="2607273" y="3997010"/>
                </a:lnTo>
                <a:lnTo>
                  <a:pt x="2583845" y="3958778"/>
                </a:lnTo>
                <a:lnTo>
                  <a:pt x="2566686" y="3917352"/>
                </a:lnTo>
                <a:lnTo>
                  <a:pt x="2556218" y="3873751"/>
                </a:lnTo>
                <a:lnTo>
                  <a:pt x="2552700" y="3829050"/>
                </a:lnTo>
                <a:close/>
              </a:path>
            </a:pathLst>
          </a:custGeom>
          <a:solidFill>
            <a:srgbClr val="4478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itle-mulu"/>
          <p:cNvSpPr txBox="1"/>
          <p:nvPr/>
        </p:nvSpPr>
        <p:spPr>
          <a:xfrm>
            <a:off x="21202650" y="2105025"/>
            <a:ext cx="4572000" cy="17145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6275" b="1" i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8" name="shape-topcenter"/>
          <p:cNvSpPr/>
          <p:nvPr/>
        </p:nvSpPr>
        <p:spPr>
          <a:xfrm>
            <a:off x="12058650" y="914400"/>
            <a:ext cx="4314825" cy="1895475"/>
          </a:xfrm>
          <a:custGeom>
            <a:avLst/>
            <a:gdLst/>
            <a:ahLst/>
            <a:cxnLst/>
            <a:rect l="l" t="t" r="r" b="b"/>
            <a:pathLst>
              <a:path w="4314825" h="1895475">
                <a:moveTo>
                  <a:pt x="0" y="0"/>
                </a:moveTo>
                <a:lnTo>
                  <a:pt x="4314825" y="0"/>
                </a:lnTo>
                <a:lnTo>
                  <a:pt x="3219450" y="1704975"/>
                </a:lnTo>
                <a:lnTo>
                  <a:pt x="3217105" y="1734776"/>
                </a:lnTo>
                <a:lnTo>
                  <a:pt x="3210126" y="1763843"/>
                </a:lnTo>
                <a:lnTo>
                  <a:pt x="3198687" y="1791460"/>
                </a:lnTo>
                <a:lnTo>
                  <a:pt x="3183068" y="1816948"/>
                </a:lnTo>
                <a:lnTo>
                  <a:pt x="3163654" y="1839679"/>
                </a:lnTo>
                <a:lnTo>
                  <a:pt x="3140923" y="1859093"/>
                </a:lnTo>
                <a:lnTo>
                  <a:pt x="3115435" y="1874712"/>
                </a:lnTo>
                <a:lnTo>
                  <a:pt x="3087818" y="1886151"/>
                </a:lnTo>
                <a:lnTo>
                  <a:pt x="3058751" y="1893130"/>
                </a:lnTo>
                <a:lnTo>
                  <a:pt x="3028950" y="1895475"/>
                </a:lnTo>
                <a:lnTo>
                  <a:pt x="1285875" y="1895475"/>
                </a:lnTo>
                <a:lnTo>
                  <a:pt x="1285875" y="1895475"/>
                </a:lnTo>
                <a:lnTo>
                  <a:pt x="1256074" y="1893130"/>
                </a:lnTo>
                <a:lnTo>
                  <a:pt x="1227007" y="1886151"/>
                </a:lnTo>
                <a:lnTo>
                  <a:pt x="1199390" y="1874712"/>
                </a:lnTo>
                <a:lnTo>
                  <a:pt x="1173902" y="1859093"/>
                </a:lnTo>
                <a:lnTo>
                  <a:pt x="1151171" y="1839679"/>
                </a:lnTo>
                <a:lnTo>
                  <a:pt x="1131757" y="1816948"/>
                </a:lnTo>
                <a:lnTo>
                  <a:pt x="1116138" y="1791460"/>
                </a:lnTo>
                <a:lnTo>
                  <a:pt x="1104699" y="1763843"/>
                </a:lnTo>
                <a:lnTo>
                  <a:pt x="1097720" y="1734776"/>
                </a:lnTo>
                <a:lnTo>
                  <a:pt x="1095375" y="1704975"/>
                </a:lnTo>
                <a:close/>
              </a:path>
            </a:pathLst>
          </a:custGeom>
          <a:solidFill>
            <a:srgbClr val="4478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hape-bottomleft"/>
          <p:cNvSpPr/>
          <p:nvPr/>
        </p:nvSpPr>
        <p:spPr>
          <a:xfrm>
            <a:off x="866775" y="13420725"/>
            <a:ext cx="3705225" cy="2800350"/>
          </a:xfrm>
          <a:custGeom>
            <a:avLst/>
            <a:gdLst/>
            <a:ahLst/>
            <a:cxnLst/>
            <a:rect l="l" t="t" r="r" b="b"/>
            <a:pathLst>
              <a:path w="3705225" h="2800350">
                <a:moveTo>
                  <a:pt x="0" y="0"/>
                </a:moveTo>
                <a:lnTo>
                  <a:pt x="2228850" y="0"/>
                </a:lnTo>
                <a:lnTo>
                  <a:pt x="3705225" y="2590800"/>
                </a:lnTo>
                <a:lnTo>
                  <a:pt x="3702645" y="2623581"/>
                </a:lnTo>
                <a:lnTo>
                  <a:pt x="3694969" y="2655555"/>
                </a:lnTo>
                <a:lnTo>
                  <a:pt x="3682385" y="2685934"/>
                </a:lnTo>
                <a:lnTo>
                  <a:pt x="3665205" y="2713970"/>
                </a:lnTo>
                <a:lnTo>
                  <a:pt x="3643849" y="2738974"/>
                </a:lnTo>
                <a:lnTo>
                  <a:pt x="3618845" y="2760330"/>
                </a:lnTo>
                <a:lnTo>
                  <a:pt x="3590809" y="2777510"/>
                </a:lnTo>
                <a:lnTo>
                  <a:pt x="3560430" y="2790094"/>
                </a:lnTo>
                <a:lnTo>
                  <a:pt x="3528456" y="2797770"/>
                </a:lnTo>
                <a:lnTo>
                  <a:pt x="3495675" y="2800350"/>
                </a:lnTo>
                <a:lnTo>
                  <a:pt x="0" y="2800350"/>
                </a:lnTo>
                <a:close/>
              </a:path>
            </a:pathLst>
          </a:custGeom>
          <a:solidFill>
            <a:srgbClr val="4478F7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49" name="row-1"/>
          <p:cNvGrpSpPr/>
          <p:nvPr/>
        </p:nvGrpSpPr>
        <p:grpSpPr>
          <a:xfrm>
            <a:off x="7829550" y="3571875"/>
            <a:ext cx="12765024" cy="2676525"/>
            <a:chOff x="7829550" y="3571875"/>
            <a:chExt cx="12765024" cy="2676525"/>
          </a:xfrm>
        </p:grpSpPr>
        <p:sp>
          <p:nvSpPr>
            <p:cNvPr id="10" name="banner-1"/>
            <p:cNvSpPr/>
            <p:nvPr/>
          </p:nvSpPr>
          <p:spPr>
            <a:xfrm>
              <a:off x="9906000" y="4019550"/>
              <a:ext cx="7048500" cy="1362075"/>
            </a:xfrm>
            <a:custGeom>
              <a:avLst/>
              <a:gdLst/>
              <a:ahLst/>
              <a:cxnLst/>
              <a:rect l="l" t="t" r="r" b="b"/>
              <a:pathLst>
                <a:path w="7048500" h="1362075">
                  <a:moveTo>
                    <a:pt x="0" y="0"/>
                  </a:moveTo>
                  <a:lnTo>
                    <a:pt x="6677025" y="0"/>
                  </a:lnTo>
                  <a:lnTo>
                    <a:pt x="7048500" y="676275"/>
                  </a:lnTo>
                  <a:lnTo>
                    <a:pt x="6677025" y="1362075"/>
                  </a:lnTo>
                  <a:lnTo>
                    <a:pt x="0" y="1362075"/>
                  </a:lnTo>
                  <a:close/>
                </a:path>
              </a:pathLst>
            </a:custGeom>
            <a:solidFill>
              <a:srgbClr val="EFF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hex-1"/>
            <p:cNvSpPr/>
            <p:nvPr/>
          </p:nvSpPr>
          <p:spPr>
            <a:xfrm>
              <a:off x="7829550" y="3571875"/>
              <a:ext cx="2552700" cy="2247900"/>
            </a:xfrm>
            <a:custGeom>
              <a:avLst/>
              <a:gdLst/>
              <a:ahLst/>
              <a:cxnLst/>
              <a:rect l="l" t="t" r="r" b="b"/>
              <a:pathLst>
                <a:path w="2552700" h="2247900">
                  <a:moveTo>
                    <a:pt x="0" y="1123950"/>
                  </a:moveTo>
                  <a:lnTo>
                    <a:pt x="638175" y="0"/>
                  </a:lnTo>
                  <a:lnTo>
                    <a:pt x="1914525" y="0"/>
                  </a:lnTo>
                  <a:lnTo>
                    <a:pt x="2552700" y="1123950"/>
                  </a:lnTo>
                  <a:lnTo>
                    <a:pt x="1914525" y="2247900"/>
                  </a:lnTo>
                  <a:lnTo>
                    <a:pt x="638175" y="2247900"/>
                  </a:lnTo>
                  <a:close/>
                </a:path>
              </a:pathLst>
            </a:custGeom>
            <a:solidFill>
              <a:srgbClr val="447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i-diamond"/>
            <p:cNvSpPr/>
            <p:nvPr/>
          </p:nvSpPr>
          <p:spPr>
            <a:xfrm>
              <a:off x="8488299" y="4144994"/>
              <a:ext cx="1181405" cy="575501"/>
            </a:xfrm>
            <a:custGeom>
              <a:avLst/>
              <a:gdLst/>
              <a:ahLst/>
              <a:cxnLst/>
              <a:rect l="l" t="t" r="r" b="b"/>
              <a:pathLst>
                <a:path w="1181405" h="575501">
                  <a:moveTo>
                    <a:pt x="590702" y="0"/>
                  </a:moveTo>
                  <a:lnTo>
                    <a:pt x="1181405" y="292799"/>
                  </a:lnTo>
                  <a:lnTo>
                    <a:pt x="590702" y="575501"/>
                  </a:lnTo>
                  <a:lnTo>
                    <a:pt x="0" y="292799"/>
                  </a:lnTo>
                  <a:close/>
                </a:path>
              </a:pathLst>
            </a:custGeom>
            <a:solidFill>
              <a:srgbClr val="4478F7"/>
            </a:solidFill>
            <a:ln w="9525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cxnSp>
          <p:nvCxnSpPr>
            <p:cNvPr id="13" name="i-chev1"/>
            <p:cNvCxnSpPr/>
            <p:nvPr/>
          </p:nvCxnSpPr>
          <p:spPr>
            <a:xfrm>
              <a:off x="8488299" y="4720495"/>
              <a:ext cx="590702" cy="282702"/>
            </a:xfrm>
            <a:prstGeom prst="line">
              <a:avLst/>
            </a:prstGeom>
            <a:ln w="952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i-chev1b"/>
            <p:cNvCxnSpPr/>
            <p:nvPr/>
          </p:nvCxnSpPr>
          <p:spPr>
            <a:xfrm flipV="1">
              <a:off x="9079001" y="4720495"/>
              <a:ext cx="590703" cy="282702"/>
            </a:xfrm>
            <a:prstGeom prst="line">
              <a:avLst/>
            </a:prstGeom>
            <a:ln w="952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i-chev2"/>
            <p:cNvCxnSpPr/>
            <p:nvPr/>
          </p:nvCxnSpPr>
          <p:spPr>
            <a:xfrm>
              <a:off x="8488299" y="5003197"/>
              <a:ext cx="590702" cy="292798"/>
            </a:xfrm>
            <a:prstGeom prst="line">
              <a:avLst/>
            </a:prstGeom>
            <a:ln w="952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i-chev2b"/>
            <p:cNvCxnSpPr/>
            <p:nvPr/>
          </p:nvCxnSpPr>
          <p:spPr>
            <a:xfrm flipV="1">
              <a:off x="9079001" y="5003197"/>
              <a:ext cx="590703" cy="292798"/>
            </a:xfrm>
            <a:prstGeom prst="line">
              <a:avLst/>
            </a:prstGeom>
            <a:ln w="95250">
              <a:solidFill>
                <a:srgbClr val="FFFFFF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owtitle-1"/>
            <p:cNvSpPr txBox="1"/>
            <p:nvPr/>
          </p:nvSpPr>
          <p:spPr>
            <a:xfrm>
              <a:off x="10839450" y="4352925"/>
              <a:ext cx="464591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25" b="1" i="0">
                  <a:solidFill>
                    <a:srgbClr val="2E3033"/>
                  </a:solidFill>
                  <a:latin typeface="Microsoft YaHei"/>
                  <a:ea typeface="Microsoft YaHei"/>
                  <a:cs typeface="Microsoft YaHei"/>
                </a:rPr>
                <a:t>项目背景与挑战</a:t>
              </a:r>
            </a:p>
          </p:txBody>
        </p:sp>
        <p:sp>
          <p:nvSpPr>
            <p:cNvPr id="18" name="rowsub-1"/>
            <p:cNvSpPr txBox="1"/>
            <p:nvPr/>
          </p:nvSpPr>
          <p:spPr>
            <a:xfrm>
              <a:off x="10801350" y="5638800"/>
              <a:ext cx="9793224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725" b="0" i="0" spc="-225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</a:rPr>
                <a:t>说明升级动因，明确项目启动必要性</a:t>
              </a:r>
            </a:p>
          </p:txBody>
        </p:sp>
      </p:grpSp>
      <p:grpSp>
        <p:nvGrpSpPr>
          <p:cNvPr id="51" name="row-2"/>
          <p:cNvGrpSpPr/>
          <p:nvPr/>
        </p:nvGrpSpPr>
        <p:grpSpPr>
          <a:xfrm>
            <a:off x="7829550" y="6610350"/>
            <a:ext cx="13989177" cy="2628900"/>
            <a:chOff x="7829550" y="6610350"/>
            <a:chExt cx="13989177" cy="2628900"/>
          </a:xfrm>
        </p:grpSpPr>
        <p:sp>
          <p:nvSpPr>
            <p:cNvPr id="19" name="banner-2"/>
            <p:cNvSpPr/>
            <p:nvPr/>
          </p:nvSpPr>
          <p:spPr>
            <a:xfrm>
              <a:off x="9906000" y="7058025"/>
              <a:ext cx="7048500" cy="1362075"/>
            </a:xfrm>
            <a:custGeom>
              <a:avLst/>
              <a:gdLst/>
              <a:ahLst/>
              <a:cxnLst/>
              <a:rect l="l" t="t" r="r" b="b"/>
              <a:pathLst>
                <a:path w="7048500" h="1362075">
                  <a:moveTo>
                    <a:pt x="0" y="0"/>
                  </a:moveTo>
                  <a:lnTo>
                    <a:pt x="6677025" y="0"/>
                  </a:lnTo>
                  <a:lnTo>
                    <a:pt x="7048500" y="676275"/>
                  </a:lnTo>
                  <a:lnTo>
                    <a:pt x="6677025" y="1362075"/>
                  </a:lnTo>
                  <a:lnTo>
                    <a:pt x="0" y="1362075"/>
                  </a:lnTo>
                  <a:close/>
                </a:path>
              </a:pathLst>
            </a:custGeom>
            <a:solidFill>
              <a:srgbClr val="EFF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hex-2"/>
            <p:cNvSpPr/>
            <p:nvPr/>
          </p:nvSpPr>
          <p:spPr>
            <a:xfrm>
              <a:off x="7829550" y="6610350"/>
              <a:ext cx="2552700" cy="2247900"/>
            </a:xfrm>
            <a:custGeom>
              <a:avLst/>
              <a:gdLst/>
              <a:ahLst/>
              <a:cxnLst/>
              <a:rect l="l" t="t" r="r" b="b"/>
              <a:pathLst>
                <a:path w="2552700" h="2247900">
                  <a:moveTo>
                    <a:pt x="0" y="1123950"/>
                  </a:moveTo>
                  <a:lnTo>
                    <a:pt x="638175" y="0"/>
                  </a:lnTo>
                  <a:lnTo>
                    <a:pt x="1914525" y="0"/>
                  </a:lnTo>
                  <a:lnTo>
                    <a:pt x="2552700" y="1123950"/>
                  </a:lnTo>
                  <a:lnTo>
                    <a:pt x="1914525" y="2247900"/>
                  </a:lnTo>
                  <a:lnTo>
                    <a:pt x="638175" y="2247900"/>
                  </a:lnTo>
                  <a:close/>
                </a:path>
              </a:pathLst>
            </a:custGeom>
            <a:solidFill>
              <a:srgbClr val="447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i-bay1"/>
            <p:cNvSpPr/>
            <p:nvPr/>
          </p:nvSpPr>
          <p:spPr>
            <a:xfrm>
              <a:off x="8505111" y="7167448"/>
              <a:ext cx="1182529" cy="340157"/>
            </a:xfrm>
            <a:prstGeom prst="roundRect">
              <a:avLst>
                <a:gd name="adj" fmla="val 25201"/>
              </a:avLst>
            </a:prstGeom>
            <a:solidFill>
              <a:srgbClr val="4478F7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i-led1"/>
            <p:cNvSpPr/>
            <p:nvPr/>
          </p:nvSpPr>
          <p:spPr>
            <a:xfrm>
              <a:off x="8677942" y="7290283"/>
              <a:ext cx="90964" cy="944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i-bay2"/>
            <p:cNvSpPr/>
            <p:nvPr/>
          </p:nvSpPr>
          <p:spPr>
            <a:xfrm>
              <a:off x="8505111" y="7583195"/>
              <a:ext cx="1182529" cy="340157"/>
            </a:xfrm>
            <a:prstGeom prst="roundRect">
              <a:avLst>
                <a:gd name="adj" fmla="val 25201"/>
              </a:avLst>
            </a:prstGeom>
            <a:solidFill>
              <a:srgbClr val="4478F7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i-led2"/>
            <p:cNvSpPr/>
            <p:nvPr/>
          </p:nvSpPr>
          <p:spPr>
            <a:xfrm>
              <a:off x="8677942" y="7706030"/>
              <a:ext cx="90964" cy="9448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i-bay3"/>
            <p:cNvSpPr/>
            <p:nvPr/>
          </p:nvSpPr>
          <p:spPr>
            <a:xfrm>
              <a:off x="8505111" y="7998943"/>
              <a:ext cx="1182529" cy="340157"/>
            </a:xfrm>
            <a:prstGeom prst="roundRect">
              <a:avLst>
                <a:gd name="adj" fmla="val 25201"/>
              </a:avLst>
            </a:prstGeom>
            <a:solidFill>
              <a:srgbClr val="4478F7"/>
            </a:solidFill>
            <a:ln w="66675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i-led3"/>
            <p:cNvSpPr/>
            <p:nvPr/>
          </p:nvSpPr>
          <p:spPr>
            <a:xfrm>
              <a:off x="8659749" y="8121777"/>
              <a:ext cx="236506" cy="85039"/>
            </a:xfrm>
            <a:prstGeom prst="roundRect">
              <a:avLst>
                <a:gd name="adj" fmla="val 44802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rowtitle-2"/>
            <p:cNvSpPr txBox="1"/>
            <p:nvPr/>
          </p:nvSpPr>
          <p:spPr>
            <a:xfrm>
              <a:off x="10839450" y="7391400"/>
              <a:ext cx="464591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25" b="1" i="0">
                  <a:solidFill>
                    <a:srgbClr val="2E3033"/>
                  </a:solidFill>
                  <a:latin typeface="Microsoft YaHei"/>
                  <a:ea typeface="Microsoft YaHei"/>
                  <a:cs typeface="Microsoft YaHei"/>
                </a:rPr>
                <a:t>项目目标与范围</a:t>
              </a:r>
            </a:p>
          </p:txBody>
        </p:sp>
        <p:sp>
          <p:nvSpPr>
            <p:cNvPr id="28" name="rowsub-2"/>
            <p:cNvSpPr txBox="1"/>
            <p:nvPr/>
          </p:nvSpPr>
          <p:spPr>
            <a:xfrm>
              <a:off x="10801350" y="8629650"/>
              <a:ext cx="11017377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725" b="0" i="0" spc="-225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</a:rPr>
                <a:t>划定核心指标，明确落地范围与预期价值</a:t>
              </a:r>
            </a:p>
          </p:txBody>
        </p:sp>
      </p:grpSp>
      <p:grpSp>
        <p:nvGrpSpPr>
          <p:cNvPr id="50" name="row-3"/>
          <p:cNvGrpSpPr/>
          <p:nvPr/>
        </p:nvGrpSpPr>
        <p:grpSpPr>
          <a:xfrm>
            <a:off x="7829550" y="9648825"/>
            <a:ext cx="13377100" cy="2609850"/>
            <a:chOff x="7829550" y="9648825"/>
            <a:chExt cx="13377100" cy="2609850"/>
          </a:xfrm>
        </p:grpSpPr>
        <p:sp>
          <p:nvSpPr>
            <p:cNvPr id="29" name="banner-3"/>
            <p:cNvSpPr/>
            <p:nvPr/>
          </p:nvSpPr>
          <p:spPr>
            <a:xfrm>
              <a:off x="9906000" y="10096500"/>
              <a:ext cx="7048500" cy="1362075"/>
            </a:xfrm>
            <a:custGeom>
              <a:avLst/>
              <a:gdLst/>
              <a:ahLst/>
              <a:cxnLst/>
              <a:rect l="l" t="t" r="r" b="b"/>
              <a:pathLst>
                <a:path w="7048500" h="1362075">
                  <a:moveTo>
                    <a:pt x="0" y="0"/>
                  </a:moveTo>
                  <a:lnTo>
                    <a:pt x="6677025" y="0"/>
                  </a:lnTo>
                  <a:lnTo>
                    <a:pt x="7048500" y="676275"/>
                  </a:lnTo>
                  <a:lnTo>
                    <a:pt x="6677025" y="1362075"/>
                  </a:lnTo>
                  <a:lnTo>
                    <a:pt x="0" y="1362075"/>
                  </a:lnTo>
                  <a:close/>
                </a:path>
              </a:pathLst>
            </a:custGeom>
            <a:solidFill>
              <a:srgbClr val="EFF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hex-3"/>
            <p:cNvSpPr/>
            <p:nvPr/>
          </p:nvSpPr>
          <p:spPr>
            <a:xfrm>
              <a:off x="7829550" y="9648825"/>
              <a:ext cx="2552700" cy="2247900"/>
            </a:xfrm>
            <a:custGeom>
              <a:avLst/>
              <a:gdLst/>
              <a:ahLst/>
              <a:cxnLst/>
              <a:rect l="l" t="t" r="r" b="b"/>
              <a:pathLst>
                <a:path w="2552700" h="2247900">
                  <a:moveTo>
                    <a:pt x="0" y="1123950"/>
                  </a:moveTo>
                  <a:lnTo>
                    <a:pt x="638175" y="0"/>
                  </a:lnTo>
                  <a:lnTo>
                    <a:pt x="1914525" y="0"/>
                  </a:lnTo>
                  <a:lnTo>
                    <a:pt x="2552700" y="1123950"/>
                  </a:lnTo>
                  <a:lnTo>
                    <a:pt x="1914525" y="2247900"/>
                  </a:lnTo>
                  <a:lnTo>
                    <a:pt x="638175" y="2247900"/>
                  </a:lnTo>
                  <a:close/>
                </a:path>
              </a:pathLst>
            </a:custGeom>
            <a:solidFill>
              <a:srgbClr val="447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i-back-top"/>
            <p:cNvSpPr/>
            <p:nvPr/>
          </p:nvSpPr>
          <p:spPr>
            <a:xfrm>
              <a:off x="8702802" y="10172262"/>
              <a:ext cx="1013450" cy="88554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i-back-right"/>
            <p:cNvSpPr/>
            <p:nvPr/>
          </p:nvSpPr>
          <p:spPr>
            <a:xfrm>
              <a:off x="9637538" y="10172262"/>
              <a:ext cx="88554" cy="97409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i-front"/>
            <p:cNvSpPr/>
            <p:nvPr/>
          </p:nvSpPr>
          <p:spPr>
            <a:xfrm>
              <a:off x="8515855" y="10398566"/>
              <a:ext cx="1013450" cy="964254"/>
            </a:xfrm>
            <a:prstGeom prst="roundRect">
              <a:avLst>
                <a:gd name="adj" fmla="val 3951"/>
              </a:avLst>
            </a:prstGeom>
            <a:solidFill>
              <a:srgbClr val="4478F7"/>
            </a:solidFill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i-header"/>
            <p:cNvSpPr/>
            <p:nvPr/>
          </p:nvSpPr>
          <p:spPr>
            <a:xfrm>
              <a:off x="8594569" y="10605192"/>
              <a:ext cx="856021" cy="7871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i-blk1"/>
            <p:cNvSpPr/>
            <p:nvPr/>
          </p:nvSpPr>
          <p:spPr>
            <a:xfrm>
              <a:off x="8751999" y="10762621"/>
              <a:ext cx="127911" cy="1082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i-blk2"/>
            <p:cNvSpPr/>
            <p:nvPr/>
          </p:nvSpPr>
          <p:spPr>
            <a:xfrm>
              <a:off x="8948785" y="10762621"/>
              <a:ext cx="226304" cy="10823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rowtitle-3"/>
            <p:cNvSpPr txBox="1"/>
            <p:nvPr/>
          </p:nvSpPr>
          <p:spPr>
            <a:xfrm>
              <a:off x="10839450" y="10429875"/>
              <a:ext cx="464591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25" b="1" i="0">
                  <a:solidFill>
                    <a:srgbClr val="2E3033"/>
                  </a:solidFill>
                  <a:latin typeface="Microsoft YaHei"/>
                  <a:ea typeface="Microsoft YaHei"/>
                  <a:cs typeface="Microsoft YaHei"/>
                </a:rPr>
                <a:t>项目规划与路径</a:t>
              </a:r>
            </a:p>
          </p:txBody>
        </p:sp>
        <p:sp>
          <p:nvSpPr>
            <p:cNvPr id="38" name="rowsub-3"/>
            <p:cNvSpPr txBox="1"/>
            <p:nvPr/>
          </p:nvSpPr>
          <p:spPr>
            <a:xfrm>
              <a:off x="10801350" y="11649075"/>
              <a:ext cx="10405300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725" b="0" i="0" spc="-225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</a:rPr>
                <a:t>明确项目全周期节点与各阶段核心任务</a:t>
              </a:r>
            </a:p>
          </p:txBody>
        </p:sp>
      </p:grpSp>
      <p:grpSp>
        <p:nvGrpSpPr>
          <p:cNvPr id="48" name="row-4"/>
          <p:cNvGrpSpPr/>
          <p:nvPr/>
        </p:nvGrpSpPr>
        <p:grpSpPr>
          <a:xfrm>
            <a:off x="7829550" y="12687300"/>
            <a:ext cx="14601254" cy="2619375"/>
            <a:chOff x="7829550" y="12687300"/>
            <a:chExt cx="14601254" cy="2619375"/>
          </a:xfrm>
        </p:grpSpPr>
        <p:sp>
          <p:nvSpPr>
            <p:cNvPr id="39" name="banner-4"/>
            <p:cNvSpPr/>
            <p:nvPr/>
          </p:nvSpPr>
          <p:spPr>
            <a:xfrm>
              <a:off x="9906000" y="13134975"/>
              <a:ext cx="7048500" cy="1362075"/>
            </a:xfrm>
            <a:custGeom>
              <a:avLst/>
              <a:gdLst/>
              <a:ahLst/>
              <a:cxnLst/>
              <a:rect l="l" t="t" r="r" b="b"/>
              <a:pathLst>
                <a:path w="7048500" h="1362075">
                  <a:moveTo>
                    <a:pt x="0" y="0"/>
                  </a:moveTo>
                  <a:lnTo>
                    <a:pt x="6677025" y="0"/>
                  </a:lnTo>
                  <a:lnTo>
                    <a:pt x="7048500" y="676275"/>
                  </a:lnTo>
                  <a:lnTo>
                    <a:pt x="6677025" y="1362075"/>
                  </a:lnTo>
                  <a:lnTo>
                    <a:pt x="0" y="1362075"/>
                  </a:lnTo>
                  <a:close/>
                </a:path>
              </a:pathLst>
            </a:custGeom>
            <a:solidFill>
              <a:srgbClr val="EFF1F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hex-4"/>
            <p:cNvSpPr/>
            <p:nvPr/>
          </p:nvSpPr>
          <p:spPr>
            <a:xfrm>
              <a:off x="7829550" y="12687300"/>
              <a:ext cx="2552700" cy="2247900"/>
            </a:xfrm>
            <a:custGeom>
              <a:avLst/>
              <a:gdLst/>
              <a:ahLst/>
              <a:cxnLst/>
              <a:rect l="l" t="t" r="r" b="b"/>
              <a:pathLst>
                <a:path w="2552700" h="2247900">
                  <a:moveTo>
                    <a:pt x="0" y="1123950"/>
                  </a:moveTo>
                  <a:lnTo>
                    <a:pt x="638175" y="0"/>
                  </a:lnTo>
                  <a:lnTo>
                    <a:pt x="1914525" y="0"/>
                  </a:lnTo>
                  <a:lnTo>
                    <a:pt x="2552700" y="1123950"/>
                  </a:lnTo>
                  <a:lnTo>
                    <a:pt x="1914525" y="2247900"/>
                  </a:lnTo>
                  <a:lnTo>
                    <a:pt x="638175" y="2247900"/>
                  </a:lnTo>
                  <a:close/>
                </a:path>
              </a:pathLst>
            </a:custGeom>
            <a:solidFill>
              <a:srgbClr val="4478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i-doc-back"/>
            <p:cNvSpPr/>
            <p:nvPr/>
          </p:nvSpPr>
          <p:spPr>
            <a:xfrm>
              <a:off x="8784669" y="13220014"/>
              <a:ext cx="846058" cy="1012241"/>
            </a:xfrm>
            <a:prstGeom prst="roundRect">
              <a:avLst>
                <a:gd name="adj" fmla="val 5629"/>
              </a:avLst>
            </a:prstGeom>
            <a:solidFill>
              <a:srgbClr val="4478F7"/>
            </a:solidFill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i-doc-front"/>
            <p:cNvSpPr/>
            <p:nvPr/>
          </p:nvSpPr>
          <p:spPr>
            <a:xfrm>
              <a:off x="8579834" y="13384606"/>
              <a:ext cx="801529" cy="1028700"/>
            </a:xfrm>
            <a:prstGeom prst="roundRect">
              <a:avLst>
                <a:gd name="adj" fmla="val 5941"/>
              </a:avLst>
            </a:prstGeom>
            <a:solidFill>
              <a:srgbClr val="4478F7"/>
            </a:solidFill>
            <a:ln w="76200">
              <a:solidFill>
                <a:srgbClr val="FFFFF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i-doc-l1"/>
            <p:cNvSpPr/>
            <p:nvPr/>
          </p:nvSpPr>
          <p:spPr>
            <a:xfrm>
              <a:off x="8713422" y="13722020"/>
              <a:ext cx="489823" cy="57607"/>
            </a:xfrm>
            <a:prstGeom prst="roundRect">
              <a:avLst>
                <a:gd name="adj" fmla="val 4960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i-doc-l2"/>
            <p:cNvSpPr/>
            <p:nvPr/>
          </p:nvSpPr>
          <p:spPr>
            <a:xfrm>
              <a:off x="8713422" y="13952449"/>
              <a:ext cx="489823" cy="57607"/>
            </a:xfrm>
            <a:prstGeom prst="roundRect">
              <a:avLst>
                <a:gd name="adj" fmla="val 49603"/>
              </a:avLst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rowtitle-4"/>
            <p:cNvSpPr txBox="1"/>
            <p:nvPr/>
          </p:nvSpPr>
          <p:spPr>
            <a:xfrm>
              <a:off x="10839450" y="13468350"/>
              <a:ext cx="4645914" cy="7239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5025" b="1" i="0">
                  <a:solidFill>
                    <a:srgbClr val="2E3033"/>
                  </a:solidFill>
                  <a:latin typeface="Microsoft YaHei"/>
                  <a:ea typeface="Microsoft YaHei"/>
                  <a:cs typeface="Microsoft YaHei"/>
                </a:rPr>
                <a:t>成果总结与展望</a:t>
              </a:r>
            </a:p>
          </p:txBody>
        </p:sp>
        <p:sp>
          <p:nvSpPr>
            <p:cNvPr id="46" name="rowsub-4"/>
            <p:cNvSpPr txBox="1"/>
            <p:nvPr/>
          </p:nvSpPr>
          <p:spPr>
            <a:xfrm>
              <a:off x="10801350" y="14697075"/>
              <a:ext cx="11629454" cy="6096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725" b="0" i="0" spc="-225">
                  <a:solidFill>
                    <a:srgbClr val="595959"/>
                  </a:solidFill>
                  <a:latin typeface="Microsoft YaHei"/>
                  <a:ea typeface="Microsoft YaHei"/>
                  <a:cs typeface="Microsoft YaHei"/>
                </a:rPr>
                <a:t>汇总成果、经验与问题，明确后续优化方向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