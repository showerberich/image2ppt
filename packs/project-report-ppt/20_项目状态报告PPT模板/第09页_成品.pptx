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-square-light"/>
          <p:cNvSpPr/>
          <p:nvPr/>
        </p:nvSpPr>
        <p:spPr>
          <a:xfrm>
            <a:off x="1638300" y="1485900"/>
            <a:ext cx="1133475" cy="114300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ogo-square-navy"/>
          <p:cNvSpPr/>
          <p:nvPr/>
        </p:nvSpPr>
        <p:spPr>
          <a:xfrm>
            <a:off x="2390775" y="2152650"/>
            <a:ext cx="600075" cy="609600"/>
          </a:xfrm>
          <a:prstGeom prst="rect">
            <a:avLst/>
          </a:prstGeom>
          <a:solidFill>
            <a:srgbClr val="173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3495675" y="1600352"/>
            <a:ext cx="6858000" cy="14897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900" b="1" i="0">
                <a:solidFill>
                  <a:srgbClr val="0D2E73"/>
                </a:solidFill>
                <a:latin typeface="Microsoft YaHei"/>
                <a:ea typeface="Microsoft YaHei"/>
                <a:cs typeface="Microsoft YaHei"/>
              </a:rPr>
              <a:t>当前问题与阻碍</a:t>
            </a:r>
          </a:p>
        </p:txBody>
      </p:sp>
      <p:sp>
        <p:nvSpPr>
          <p:cNvPr id="6" name="card-center-panel"/>
          <p:cNvSpPr/>
          <p:nvPr/>
        </p:nvSpPr>
        <p:spPr>
          <a:xfrm>
            <a:off x="10706100" y="3905250"/>
            <a:ext cx="9039225" cy="11468100"/>
          </a:xfrm>
          <a:prstGeom prst="roundRect">
            <a:avLst>
              <a:gd name="adj" fmla="val 3582"/>
            </a:avLst>
          </a:prstGeom>
          <a:solidFill>
            <a:srgbClr val="173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vs-watermark-v"/>
          <p:cNvSpPr txBox="1"/>
          <p:nvPr/>
        </p:nvSpPr>
        <p:spPr>
          <a:xfrm>
            <a:off x="11163300" y="7086600"/>
            <a:ext cx="4476750" cy="6858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8925" b="1" i="0">
                <a:solidFill>
                  <a:srgbClr val="224080"/>
                </a:solidFill>
                <a:latin typeface="Microsoft YaHei"/>
                <a:ea typeface="Microsoft YaHei"/>
                <a:cs typeface="Microsoft YaHei"/>
              </a:rPr>
              <a:t>V</a:t>
            </a:r>
          </a:p>
        </p:txBody>
      </p:sp>
      <p:sp>
        <p:nvSpPr>
          <p:cNvPr id="8" name="vs-watermark-s"/>
          <p:cNvSpPr txBox="1"/>
          <p:nvPr/>
        </p:nvSpPr>
        <p:spPr>
          <a:xfrm>
            <a:off x="15716250" y="7010400"/>
            <a:ext cx="4095750" cy="6858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8925" b="1" i="0">
                <a:solidFill>
                  <a:srgbClr val="224080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9" name="card-text-r1a"/>
          <p:cNvSpPr txBox="1"/>
          <p:nvPr/>
        </p:nvSpPr>
        <p:spPr>
          <a:xfrm>
            <a:off x="10944225" y="5845874"/>
            <a:ext cx="8572500" cy="10929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5062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第三方支付网关沙箱环</a:t>
            </a:r>
          </a:p>
        </p:txBody>
      </p:sp>
      <p:sp>
        <p:nvSpPr>
          <p:cNvPr id="10" name="card-text-r1b"/>
          <p:cNvSpPr txBox="1"/>
          <p:nvPr/>
        </p:nvSpPr>
        <p:spPr>
          <a:xfrm>
            <a:off x="10944225" y="6703124"/>
            <a:ext cx="8572500" cy="10929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5062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境故障</a:t>
            </a:r>
          </a:p>
        </p:txBody>
      </p:sp>
      <p:sp>
        <p:nvSpPr>
          <p:cNvPr id="11" name="card-text-r2a"/>
          <p:cNvSpPr txBox="1"/>
          <p:nvPr/>
        </p:nvSpPr>
        <p:spPr>
          <a:xfrm>
            <a:off x="10944225" y="9493948"/>
            <a:ext cx="8572500" cy="10929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5062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UI设计稿评审反馈周期</a:t>
            </a:r>
          </a:p>
        </p:txBody>
      </p:sp>
      <p:sp>
        <p:nvSpPr>
          <p:cNvPr id="12" name="card-text-r2b"/>
          <p:cNvSpPr txBox="1"/>
          <p:nvPr/>
        </p:nvSpPr>
        <p:spPr>
          <a:xfrm>
            <a:off x="10944225" y="10351198"/>
            <a:ext cx="8572500" cy="10929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5062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过长</a:t>
            </a:r>
          </a:p>
        </p:txBody>
      </p:sp>
      <p:sp>
        <p:nvSpPr>
          <p:cNvPr id="13" name="card-text-r3a"/>
          <p:cNvSpPr txBox="1"/>
          <p:nvPr/>
        </p:nvSpPr>
        <p:spPr>
          <a:xfrm>
            <a:off x="10944225" y="13084874"/>
            <a:ext cx="8572500" cy="10929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5062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合同审批流程协调</a:t>
            </a:r>
          </a:p>
        </p:txBody>
      </p:sp>
      <p:sp>
        <p:nvSpPr>
          <p:cNvPr id="14" name="card-text-r3b"/>
          <p:cNvSpPr txBox="1"/>
          <p:nvPr/>
        </p:nvSpPr>
        <p:spPr>
          <a:xfrm>
            <a:off x="10944225" y="13951648"/>
            <a:ext cx="8572500" cy="10929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5062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周期长</a:t>
            </a:r>
          </a:p>
        </p:txBody>
      </p:sp>
      <p:grpSp>
        <p:nvGrpSpPr>
          <p:cNvPr id="72" name="icon-doc-warning"/>
          <p:cNvGrpSpPr/>
          <p:nvPr/>
        </p:nvGrpSpPr>
        <p:grpSpPr>
          <a:xfrm>
            <a:off x="14678025" y="4562475"/>
            <a:ext cx="1104900" cy="1123950"/>
            <a:chOff x="14678025" y="4562475"/>
            <a:chExt cx="1104900" cy="1123950"/>
          </a:xfrm>
        </p:grpSpPr>
        <p:sp>
          <p:nvSpPr>
            <p:cNvPr id="15" name="ic1-page"/>
            <p:cNvSpPr/>
            <p:nvPr/>
          </p:nvSpPr>
          <p:spPr>
            <a:xfrm>
              <a:off x="14678025" y="4562475"/>
              <a:ext cx="990600" cy="1123950"/>
            </a:xfrm>
            <a:prstGeom prst="roundRect">
              <a:avLst>
                <a:gd name="adj" fmla="val 8653"/>
              </a:avLst>
            </a:prstGeom>
            <a:noFill/>
            <a:ln w="666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ic1-line1"/>
            <p:cNvSpPr/>
            <p:nvPr/>
          </p:nvSpPr>
          <p:spPr>
            <a:xfrm>
              <a:off x="14878050" y="4772025"/>
              <a:ext cx="590550" cy="762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ic1-line2"/>
            <p:cNvSpPr/>
            <p:nvPr/>
          </p:nvSpPr>
          <p:spPr>
            <a:xfrm>
              <a:off x="14868525" y="5057775"/>
              <a:ext cx="361950" cy="762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ic1-triangle"/>
            <p:cNvSpPr/>
            <p:nvPr/>
          </p:nvSpPr>
          <p:spPr>
            <a:xfrm>
              <a:off x="15144750" y="5105400"/>
              <a:ext cx="638175" cy="552450"/>
            </a:xfrm>
            <a:custGeom>
              <a:avLst/>
              <a:gdLst/>
              <a:ahLst/>
              <a:cxnLst/>
              <a:rect l="l" t="t" r="r" b="b"/>
              <a:pathLst>
                <a:path w="638175" h="552450">
                  <a:moveTo>
                    <a:pt x="0" y="552450"/>
                  </a:moveTo>
                  <a:lnTo>
                    <a:pt x="638175" y="552450"/>
                  </a:lnTo>
                  <a:lnTo>
                    <a:pt x="323850" y="0"/>
                  </a:lnTo>
                  <a:close/>
                </a:path>
              </a:pathLst>
            </a:custGeom>
            <a:solidFill>
              <a:srgbClr val="173679"/>
            </a:solidFill>
            <a:ln w="666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ic1-bang"/>
            <p:cNvSpPr/>
            <p:nvPr/>
          </p:nvSpPr>
          <p:spPr>
            <a:xfrm>
              <a:off x="15440025" y="5200650"/>
              <a:ext cx="76200" cy="2286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ic1-dot"/>
            <p:cNvSpPr/>
            <p:nvPr/>
          </p:nvSpPr>
          <p:spPr>
            <a:xfrm>
              <a:off x="15435262" y="5510212"/>
              <a:ext cx="85725" cy="857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1" name="icon-server-warning"/>
          <p:cNvGrpSpPr/>
          <p:nvPr/>
        </p:nvGrpSpPr>
        <p:grpSpPr>
          <a:xfrm>
            <a:off x="14678025" y="8248650"/>
            <a:ext cx="1104900" cy="1104900"/>
            <a:chOff x="14678025" y="8248650"/>
            <a:chExt cx="1104900" cy="1104900"/>
          </a:xfrm>
        </p:grpSpPr>
        <p:sp>
          <p:nvSpPr>
            <p:cNvPr id="21" name="ic2-row1"/>
            <p:cNvSpPr/>
            <p:nvPr/>
          </p:nvSpPr>
          <p:spPr>
            <a:xfrm>
              <a:off x="14678025" y="8248650"/>
              <a:ext cx="1104900" cy="342900"/>
            </a:xfrm>
            <a:prstGeom prst="roundRect">
              <a:avLst>
                <a:gd name="adj" fmla="val 25000"/>
              </a:avLst>
            </a:prstGeom>
            <a:noFill/>
            <a:ln w="666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ic2-row2"/>
            <p:cNvSpPr/>
            <p:nvPr/>
          </p:nvSpPr>
          <p:spPr>
            <a:xfrm>
              <a:off x="14678025" y="8591550"/>
              <a:ext cx="1104900" cy="342900"/>
            </a:xfrm>
            <a:prstGeom prst="roundRect">
              <a:avLst>
                <a:gd name="adj" fmla="val 25000"/>
              </a:avLst>
            </a:prstGeom>
            <a:noFill/>
            <a:ln w="666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ic2-row3"/>
            <p:cNvSpPr/>
            <p:nvPr/>
          </p:nvSpPr>
          <p:spPr>
            <a:xfrm>
              <a:off x="14678025" y="8934450"/>
              <a:ext cx="1104900" cy="342900"/>
            </a:xfrm>
            <a:prstGeom prst="roundRect">
              <a:avLst>
                <a:gd name="adj" fmla="val 25000"/>
              </a:avLst>
            </a:prstGeom>
            <a:noFill/>
            <a:ln w="666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ic2-d1"/>
            <p:cNvSpPr/>
            <p:nvPr/>
          </p:nvSpPr>
          <p:spPr>
            <a:xfrm>
              <a:off x="14901862" y="8377238"/>
              <a:ext cx="85725" cy="857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ic2-d2"/>
            <p:cNvSpPr/>
            <p:nvPr/>
          </p:nvSpPr>
          <p:spPr>
            <a:xfrm>
              <a:off x="14901862" y="8720138"/>
              <a:ext cx="85725" cy="857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ic2-d3"/>
            <p:cNvSpPr/>
            <p:nvPr/>
          </p:nvSpPr>
          <p:spPr>
            <a:xfrm>
              <a:off x="14901862" y="9063038"/>
              <a:ext cx="85725" cy="857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ic2-slot1"/>
            <p:cNvSpPr/>
            <p:nvPr/>
          </p:nvSpPr>
          <p:spPr>
            <a:xfrm>
              <a:off x="15087600" y="8382000"/>
              <a:ext cx="438150" cy="762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ic2-slot2"/>
            <p:cNvSpPr/>
            <p:nvPr/>
          </p:nvSpPr>
          <p:spPr>
            <a:xfrm>
              <a:off x="15087600" y="8724900"/>
              <a:ext cx="266700" cy="762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ic2-slot3"/>
            <p:cNvSpPr/>
            <p:nvPr/>
          </p:nvSpPr>
          <p:spPr>
            <a:xfrm>
              <a:off x="15087600" y="9067800"/>
              <a:ext cx="266700" cy="762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ic2-mask"/>
            <p:cNvSpPr/>
            <p:nvPr/>
          </p:nvSpPr>
          <p:spPr>
            <a:xfrm>
              <a:off x="15344775" y="8886825"/>
              <a:ext cx="266700" cy="95250"/>
            </a:xfrm>
            <a:prstGeom prst="rect">
              <a:avLst/>
            </a:prstGeom>
            <a:solidFill>
              <a:srgbClr val="1736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ic2-bang"/>
            <p:cNvSpPr/>
            <p:nvPr/>
          </p:nvSpPr>
          <p:spPr>
            <a:xfrm>
              <a:off x="15440025" y="8677275"/>
              <a:ext cx="76200" cy="48577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ic2-dot"/>
            <p:cNvSpPr/>
            <p:nvPr/>
          </p:nvSpPr>
          <p:spPr>
            <a:xfrm>
              <a:off x="15430500" y="9258300"/>
              <a:ext cx="95250" cy="952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7" name="icon-clipboard-search"/>
          <p:cNvGrpSpPr/>
          <p:nvPr/>
        </p:nvGrpSpPr>
        <p:grpSpPr>
          <a:xfrm>
            <a:off x="14687550" y="11830050"/>
            <a:ext cx="1066800" cy="1085850"/>
            <a:chOff x="14687550" y="11830050"/>
            <a:chExt cx="1066800" cy="1085850"/>
          </a:xfrm>
        </p:grpSpPr>
        <p:sp>
          <p:nvSpPr>
            <p:cNvPr id="33" name="ic3-board"/>
            <p:cNvSpPr/>
            <p:nvPr/>
          </p:nvSpPr>
          <p:spPr>
            <a:xfrm>
              <a:off x="14687550" y="11972925"/>
              <a:ext cx="1066800" cy="942975"/>
            </a:xfrm>
            <a:prstGeom prst="roundRect">
              <a:avLst>
                <a:gd name="adj" fmla="val 9090"/>
              </a:avLst>
            </a:prstGeom>
            <a:noFill/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ic3-clip"/>
            <p:cNvSpPr/>
            <p:nvPr/>
          </p:nvSpPr>
          <p:spPr>
            <a:xfrm>
              <a:off x="15097125" y="11830050"/>
              <a:ext cx="247650" cy="285750"/>
            </a:xfrm>
            <a:prstGeom prst="roundRect">
              <a:avLst>
                <a:gd name="adj" fmla="val 30769"/>
              </a:avLst>
            </a:prstGeom>
            <a:noFill/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ic3-line1"/>
            <p:cNvSpPr/>
            <p:nvPr/>
          </p:nvSpPr>
          <p:spPr>
            <a:xfrm>
              <a:off x="14897100" y="12182475"/>
              <a:ext cx="590550" cy="6667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ic3-line2"/>
            <p:cNvSpPr/>
            <p:nvPr/>
          </p:nvSpPr>
          <p:spPr>
            <a:xfrm>
              <a:off x="14897100" y="12353925"/>
              <a:ext cx="419100" cy="6667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ic3-line3"/>
            <p:cNvSpPr/>
            <p:nvPr/>
          </p:nvSpPr>
          <p:spPr>
            <a:xfrm>
              <a:off x="14897100" y="12525375"/>
              <a:ext cx="285750" cy="6667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ic3-line4"/>
            <p:cNvSpPr/>
            <p:nvPr/>
          </p:nvSpPr>
          <p:spPr>
            <a:xfrm>
              <a:off x="14897100" y="12696825"/>
              <a:ext cx="285750" cy="6667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ic3-lens"/>
            <p:cNvSpPr/>
            <p:nvPr/>
          </p:nvSpPr>
          <p:spPr>
            <a:xfrm>
              <a:off x="15259050" y="12372975"/>
              <a:ext cx="342900" cy="342900"/>
            </a:xfrm>
            <a:prstGeom prst="ellipse">
              <a:avLst/>
            </a:prstGeom>
            <a:noFill/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ic3-char"/>
            <p:cNvSpPr txBox="1"/>
            <p:nvPr/>
          </p:nvSpPr>
          <p:spPr>
            <a:xfrm>
              <a:off x="15268575" y="12420600"/>
              <a:ext cx="323850" cy="2476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575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查</a:t>
              </a:r>
            </a:p>
          </p:txBody>
        </p:sp>
        <p:cxnSp>
          <p:nvCxnSpPr>
            <p:cNvPr id="41" name="ic3-handle"/>
            <p:cNvCxnSpPr/>
            <p:nvPr/>
          </p:nvCxnSpPr>
          <p:spPr>
            <a:xfrm>
              <a:off x="15554325" y="12668250"/>
              <a:ext cx="180975" cy="180975"/>
            </a:xfrm>
            <a:prstGeom prst="line">
              <a:avLst/>
            </a:prstGeom>
            <a:ln w="66675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pill-left-p1"/>
          <p:cNvGrpSpPr/>
          <p:nvPr/>
        </p:nvGrpSpPr>
        <p:grpSpPr>
          <a:xfrm>
            <a:off x="1800225" y="5143500"/>
            <a:ext cx="8886825" cy="1628775"/>
            <a:chOff x="1800225" y="5143500"/>
            <a:chExt cx="8886825" cy="1628775"/>
          </a:xfrm>
        </p:grpSpPr>
        <p:sp>
          <p:nvSpPr>
            <p:cNvPr id="42" name="pl-p1-bg"/>
            <p:cNvSpPr/>
            <p:nvPr/>
          </p:nvSpPr>
          <p:spPr>
            <a:xfrm>
              <a:off x="1800225" y="5143500"/>
              <a:ext cx="8886825" cy="1628775"/>
            </a:xfrm>
            <a:prstGeom prst="roundRect">
              <a:avLst>
                <a:gd name="adj" fmla="val 49707"/>
              </a:avLst>
            </a:prstGeom>
            <a:solidFill>
              <a:srgbClr val="53A2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pl-p1-label"/>
            <p:cNvSpPr txBox="1"/>
            <p:nvPr/>
          </p:nvSpPr>
          <p:spPr>
            <a:xfrm>
              <a:off x="1800225" y="5143500"/>
              <a:ext cx="8162925" cy="16287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57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01 不良影响</a:t>
              </a:r>
            </a:p>
          </p:txBody>
        </p:sp>
      </p:grpSp>
      <p:grpSp>
        <p:nvGrpSpPr>
          <p:cNvPr id="70" name="pill-left-p2"/>
          <p:cNvGrpSpPr/>
          <p:nvPr/>
        </p:nvGrpSpPr>
        <p:grpSpPr>
          <a:xfrm>
            <a:off x="1800225" y="8791575"/>
            <a:ext cx="8886825" cy="1628775"/>
            <a:chOff x="1800225" y="8791575"/>
            <a:chExt cx="8886825" cy="1628775"/>
          </a:xfrm>
        </p:grpSpPr>
        <p:sp>
          <p:nvSpPr>
            <p:cNvPr id="44" name="pl-p2-bg"/>
            <p:cNvSpPr/>
            <p:nvPr/>
          </p:nvSpPr>
          <p:spPr>
            <a:xfrm>
              <a:off x="1800225" y="8791575"/>
              <a:ext cx="8886825" cy="1628775"/>
            </a:xfrm>
            <a:prstGeom prst="roundRect">
              <a:avLst>
                <a:gd name="adj" fmla="val 49707"/>
              </a:avLst>
            </a:prstGeom>
            <a:solidFill>
              <a:srgbClr val="53A2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pl-p2-label"/>
            <p:cNvSpPr txBox="1"/>
            <p:nvPr/>
          </p:nvSpPr>
          <p:spPr>
            <a:xfrm>
              <a:off x="1800225" y="8791575"/>
              <a:ext cx="8162925" cy="16287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57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02 不良根因</a:t>
              </a:r>
            </a:p>
          </p:txBody>
        </p:sp>
      </p:grpSp>
      <p:grpSp>
        <p:nvGrpSpPr>
          <p:cNvPr id="68" name="pill-left-p3"/>
          <p:cNvGrpSpPr/>
          <p:nvPr/>
        </p:nvGrpSpPr>
        <p:grpSpPr>
          <a:xfrm>
            <a:off x="1800225" y="12392025"/>
            <a:ext cx="8886825" cy="1628775"/>
            <a:chOff x="1800225" y="12392025"/>
            <a:chExt cx="8886825" cy="1628775"/>
          </a:xfrm>
        </p:grpSpPr>
        <p:sp>
          <p:nvSpPr>
            <p:cNvPr id="46" name="pl-p3-bg"/>
            <p:cNvSpPr/>
            <p:nvPr/>
          </p:nvSpPr>
          <p:spPr>
            <a:xfrm>
              <a:off x="1800225" y="12392025"/>
              <a:ext cx="8886825" cy="1628775"/>
            </a:xfrm>
            <a:prstGeom prst="roundRect">
              <a:avLst>
                <a:gd name="adj" fmla="val 49707"/>
              </a:avLst>
            </a:prstGeom>
            <a:solidFill>
              <a:srgbClr val="53A2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pl-p3-label"/>
            <p:cNvSpPr txBox="1"/>
            <p:nvPr/>
          </p:nvSpPr>
          <p:spPr>
            <a:xfrm>
              <a:off x="1800225" y="12392025"/>
              <a:ext cx="8162925" cy="16287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57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03 核心痛点</a:t>
              </a:r>
            </a:p>
          </p:txBody>
        </p:sp>
      </p:grpSp>
      <p:sp>
        <p:nvSpPr>
          <p:cNvPr id="48" name="left-body-b1-1"/>
          <p:cNvSpPr txBox="1"/>
          <p:nvPr/>
        </p:nvSpPr>
        <p:spPr>
          <a:xfrm>
            <a:off x="1714500" y="7134416"/>
            <a:ext cx="8286750" cy="850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3937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支付模块测试停滞，可能直接延误</a:t>
            </a:r>
          </a:p>
        </p:txBody>
      </p:sp>
      <p:sp>
        <p:nvSpPr>
          <p:cNvPr id="49" name="left-body-b1-2"/>
          <p:cNvSpPr txBox="1"/>
          <p:nvPr/>
        </p:nvSpPr>
        <p:spPr>
          <a:xfrm>
            <a:off x="1714500" y="7801166"/>
            <a:ext cx="8286750" cy="850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3937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项目整体上线时间节点</a:t>
            </a:r>
          </a:p>
        </p:txBody>
      </p:sp>
      <p:sp>
        <p:nvSpPr>
          <p:cNvPr id="50" name="left-body-b2-1"/>
          <p:cNvSpPr txBox="1"/>
          <p:nvPr/>
        </p:nvSpPr>
        <p:spPr>
          <a:xfrm>
            <a:off x="1714500" y="10763440"/>
            <a:ext cx="8286750" cy="850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3937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提交紧急支持工单，并行启动备用</a:t>
            </a:r>
          </a:p>
        </p:txBody>
      </p:sp>
      <p:sp>
        <p:nvSpPr>
          <p:cNvPr id="51" name="left-body-b2-2"/>
          <p:cNvSpPr txBox="1"/>
          <p:nvPr/>
        </p:nvSpPr>
        <p:spPr>
          <a:xfrm>
            <a:off x="1714500" y="11430190"/>
            <a:ext cx="8286750" cy="850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3937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支付方案的可行性研究</a:t>
            </a:r>
          </a:p>
        </p:txBody>
      </p:sp>
      <p:sp>
        <p:nvSpPr>
          <p:cNvPr id="52" name="left-body-b3-1"/>
          <p:cNvSpPr txBox="1"/>
          <p:nvPr/>
        </p:nvSpPr>
        <p:spPr>
          <a:xfrm>
            <a:off x="1714500" y="14468666"/>
            <a:ext cx="8286750" cy="850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3937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合同未签署导致项目无法进入核心开</a:t>
            </a:r>
          </a:p>
        </p:txBody>
      </p:sp>
      <p:sp>
        <p:nvSpPr>
          <p:cNvPr id="53" name="left-body-b3-2"/>
          <p:cNvSpPr txBox="1"/>
          <p:nvPr/>
        </p:nvSpPr>
        <p:spPr>
          <a:xfrm>
            <a:off x="1714500" y="15135416"/>
            <a:ext cx="8286750" cy="850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3937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发阶段，直接阻断项目的关键路径</a:t>
            </a:r>
          </a:p>
        </p:txBody>
      </p:sp>
      <p:grpSp>
        <p:nvGrpSpPr>
          <p:cNvPr id="75" name="pill-right-p1"/>
          <p:cNvGrpSpPr/>
          <p:nvPr/>
        </p:nvGrpSpPr>
        <p:grpSpPr>
          <a:xfrm>
            <a:off x="19764375" y="5133975"/>
            <a:ext cx="8896350" cy="1628775"/>
            <a:chOff x="19764375" y="5133975"/>
            <a:chExt cx="8896350" cy="1628775"/>
          </a:xfrm>
        </p:grpSpPr>
        <p:sp>
          <p:nvSpPr>
            <p:cNvPr id="54" name="pr-p1-bg"/>
            <p:cNvSpPr/>
            <p:nvPr/>
          </p:nvSpPr>
          <p:spPr>
            <a:xfrm>
              <a:off x="19764375" y="5133975"/>
              <a:ext cx="8896350" cy="1628775"/>
            </a:xfrm>
            <a:prstGeom prst="roundRect">
              <a:avLst>
                <a:gd name="adj" fmla="val 49707"/>
              </a:avLst>
            </a:prstGeom>
            <a:solidFill>
              <a:srgbClr val="4EB0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pr-p1-label"/>
            <p:cNvSpPr txBox="1"/>
            <p:nvPr/>
          </p:nvSpPr>
          <p:spPr>
            <a:xfrm>
              <a:off x="20316825" y="5133975"/>
              <a:ext cx="7620000" cy="16287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7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01 行动</a:t>
              </a:r>
            </a:p>
          </p:txBody>
        </p:sp>
      </p:grpSp>
      <p:grpSp>
        <p:nvGrpSpPr>
          <p:cNvPr id="69" name="pill-right-p2"/>
          <p:cNvGrpSpPr/>
          <p:nvPr/>
        </p:nvGrpSpPr>
        <p:grpSpPr>
          <a:xfrm>
            <a:off x="19764375" y="8782050"/>
            <a:ext cx="8896350" cy="1628775"/>
            <a:chOff x="19764375" y="8782050"/>
            <a:chExt cx="8896350" cy="1628775"/>
          </a:xfrm>
        </p:grpSpPr>
        <p:sp>
          <p:nvSpPr>
            <p:cNvPr id="56" name="pr-p2-bg"/>
            <p:cNvSpPr/>
            <p:nvPr/>
          </p:nvSpPr>
          <p:spPr>
            <a:xfrm>
              <a:off x="19764375" y="8782050"/>
              <a:ext cx="8896350" cy="1628775"/>
            </a:xfrm>
            <a:prstGeom prst="roundRect">
              <a:avLst>
                <a:gd name="adj" fmla="val 49707"/>
              </a:avLst>
            </a:prstGeom>
            <a:solidFill>
              <a:srgbClr val="4EB0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pr-p2-label"/>
            <p:cNvSpPr txBox="1"/>
            <p:nvPr/>
          </p:nvSpPr>
          <p:spPr>
            <a:xfrm>
              <a:off x="20316825" y="8782050"/>
              <a:ext cx="7620000" cy="16287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7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02 规范</a:t>
              </a:r>
            </a:p>
          </p:txBody>
        </p:sp>
      </p:grpSp>
      <p:grpSp>
        <p:nvGrpSpPr>
          <p:cNvPr id="73" name="pill-right-p3"/>
          <p:cNvGrpSpPr/>
          <p:nvPr/>
        </p:nvGrpSpPr>
        <p:grpSpPr>
          <a:xfrm>
            <a:off x="19764375" y="12458700"/>
            <a:ext cx="8896350" cy="1628775"/>
            <a:chOff x="19764375" y="12458700"/>
            <a:chExt cx="8896350" cy="1628775"/>
          </a:xfrm>
        </p:grpSpPr>
        <p:sp>
          <p:nvSpPr>
            <p:cNvPr id="58" name="pr-p3-bg"/>
            <p:cNvSpPr/>
            <p:nvPr/>
          </p:nvSpPr>
          <p:spPr>
            <a:xfrm>
              <a:off x="19764375" y="12458700"/>
              <a:ext cx="8896350" cy="1628775"/>
            </a:xfrm>
            <a:prstGeom prst="roundRect">
              <a:avLst>
                <a:gd name="adj" fmla="val 49707"/>
              </a:avLst>
            </a:prstGeom>
            <a:solidFill>
              <a:srgbClr val="4EB0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pr-p3-label"/>
            <p:cNvSpPr txBox="1"/>
            <p:nvPr/>
          </p:nvSpPr>
          <p:spPr>
            <a:xfrm>
              <a:off x="20316825" y="12458700"/>
              <a:ext cx="7620000" cy="16287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7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03 对策</a:t>
              </a:r>
            </a:p>
          </p:txBody>
        </p:sp>
      </p:grpSp>
      <p:sp>
        <p:nvSpPr>
          <p:cNvPr id="60" name="right-body-b1-1"/>
          <p:cNvSpPr txBox="1"/>
          <p:nvPr/>
        </p:nvSpPr>
        <p:spPr>
          <a:xfrm>
            <a:off x="20316825" y="7134416"/>
            <a:ext cx="8286750" cy="850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937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提交紧急支持工单，并行启动备用</a:t>
            </a:r>
          </a:p>
        </p:txBody>
      </p:sp>
      <p:sp>
        <p:nvSpPr>
          <p:cNvPr id="61" name="right-body-b1-2"/>
          <p:cNvSpPr txBox="1"/>
          <p:nvPr/>
        </p:nvSpPr>
        <p:spPr>
          <a:xfrm>
            <a:off x="20316825" y="7801166"/>
            <a:ext cx="8286750" cy="850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937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支付方案的可行性研究</a:t>
            </a:r>
          </a:p>
        </p:txBody>
      </p:sp>
      <p:sp>
        <p:nvSpPr>
          <p:cNvPr id="62" name="right-body-b2-1"/>
          <p:cNvSpPr txBox="1"/>
          <p:nvPr/>
        </p:nvSpPr>
        <p:spPr>
          <a:xfrm>
            <a:off x="20373975" y="10763440"/>
            <a:ext cx="8286750" cy="850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937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已对齐设计负责人，优化评审SOP，</a:t>
            </a:r>
          </a:p>
        </p:txBody>
      </p:sp>
      <p:sp>
        <p:nvSpPr>
          <p:cNvPr id="63" name="right-body-b2-2"/>
          <p:cNvSpPr txBox="1"/>
          <p:nvPr/>
        </p:nvSpPr>
        <p:spPr>
          <a:xfrm>
            <a:off x="20373975" y="11430190"/>
            <a:ext cx="8286750" cy="850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937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设定4小时内的明确反馈时限</a:t>
            </a:r>
          </a:p>
        </p:txBody>
      </p:sp>
      <p:sp>
        <p:nvSpPr>
          <p:cNvPr id="64" name="right-body-b3-1"/>
          <p:cNvSpPr txBox="1"/>
          <p:nvPr/>
        </p:nvSpPr>
        <p:spPr>
          <a:xfrm>
            <a:off x="20393025" y="14468666"/>
            <a:ext cx="8286750" cy="850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937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请管理层协调法务部门资源，优先</a:t>
            </a:r>
          </a:p>
        </p:txBody>
      </p:sp>
      <p:sp>
        <p:nvSpPr>
          <p:cNvPr id="65" name="right-body-b3-2"/>
          <p:cNvSpPr txBox="1"/>
          <p:nvPr/>
        </p:nvSpPr>
        <p:spPr>
          <a:xfrm>
            <a:off x="20393025" y="15135416"/>
            <a:ext cx="8286750" cy="85010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937" b="0" i="0">
                <a:solidFill>
                  <a:srgbClr val="191919"/>
                </a:solidFill>
                <a:latin typeface="Microsoft YaHei"/>
                <a:ea typeface="Microsoft YaHei"/>
                <a:cs typeface="Microsoft YaHei"/>
              </a:rPr>
              <a:t>处理供应商B的合同审批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