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5" name="hdr"/>
          <p:cNvGrpSpPr/>
          <p:nvPr/>
        </p:nvGrpSpPr>
        <p:grpSpPr>
          <a:xfrm>
            <a:off x="1619250" y="1466850"/>
            <a:ext cx="7363587" cy="1323975"/>
            <a:chOff x="1619250" y="1466850"/>
            <a:chExt cx="7363587" cy="1323975"/>
          </a:xfrm>
        </p:grpSpPr>
        <p:sp>
          <p:nvSpPr>
            <p:cNvPr id="3" name="hdr-sq-light"/>
            <p:cNvSpPr/>
            <p:nvPr/>
          </p:nvSpPr>
          <p:spPr>
            <a:xfrm>
              <a:off x="1619250" y="1476375"/>
              <a:ext cx="1152525" cy="1152525"/>
            </a:xfrm>
            <a:prstGeom prst="rect">
              <a:avLst/>
            </a:prstGeom>
            <a:solidFill>
              <a:srgbClr val="E9EF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hdr-sq-navy"/>
            <p:cNvSpPr/>
            <p:nvPr/>
          </p:nvSpPr>
          <p:spPr>
            <a:xfrm>
              <a:off x="2390775" y="2152650"/>
              <a:ext cx="609600" cy="609600"/>
            </a:xfrm>
            <a:prstGeom prst="rect">
              <a:avLst/>
            </a:prstGeom>
            <a:solidFill>
              <a:srgbClr val="1736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hdr-title"/>
            <p:cNvSpPr txBox="1"/>
            <p:nvPr/>
          </p:nvSpPr>
          <p:spPr>
            <a:xfrm>
              <a:off x="3514725" y="1466850"/>
              <a:ext cx="5468112" cy="13239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900" b="1" i="0">
                  <a:solidFill>
                    <a:srgbClr val="1C3365"/>
                  </a:solidFill>
                  <a:latin typeface="Microsoft YaHei"/>
                  <a:ea typeface="Microsoft YaHei"/>
                  <a:cs typeface="Microsoft YaHei"/>
                </a:rPr>
                <a:t>预算执行情况</a:t>
              </a:r>
            </a:p>
          </p:txBody>
        </p:sp>
      </p:grpSp>
      <p:grpSp>
        <p:nvGrpSpPr>
          <p:cNvPr id="56" name="donut"/>
          <p:cNvGrpSpPr/>
          <p:nvPr/>
        </p:nvGrpSpPr>
        <p:grpSpPr>
          <a:xfrm>
            <a:off x="5972175" y="3943350"/>
            <a:ext cx="8210550" cy="8210550"/>
            <a:chOff x="5972175" y="3943350"/>
            <a:chExt cx="8210550" cy="8210550"/>
          </a:xfrm>
        </p:grpSpPr>
        <p:sp>
          <p:nvSpPr>
            <p:cNvPr id="6" name="donut-navy"/>
            <p:cNvSpPr/>
            <p:nvPr/>
          </p:nvSpPr>
          <p:spPr>
            <a:xfrm>
              <a:off x="8063865" y="3943350"/>
              <a:ext cx="6118860" cy="8210550"/>
            </a:xfrm>
            <a:custGeom>
              <a:avLst/>
              <a:gdLst/>
              <a:ahLst/>
              <a:cxnLst/>
              <a:rect l="l" t="t" r="r" b="b"/>
              <a:pathLst>
                <a:path w="6118860" h="8210550">
                  <a:moveTo>
                    <a:pt x="5715" y="7685722"/>
                  </a:moveTo>
                  <a:lnTo>
                    <a:pt x="80963" y="7727632"/>
                  </a:lnTo>
                  <a:lnTo>
                    <a:pt x="157163" y="7766685"/>
                  </a:lnTo>
                  <a:lnTo>
                    <a:pt x="234315" y="7804785"/>
                  </a:lnTo>
                  <a:lnTo>
                    <a:pt x="312420" y="7840980"/>
                  </a:lnTo>
                  <a:lnTo>
                    <a:pt x="390525" y="7876222"/>
                  </a:lnTo>
                  <a:lnTo>
                    <a:pt x="470535" y="7909560"/>
                  </a:lnTo>
                  <a:lnTo>
                    <a:pt x="550545" y="7940992"/>
                  </a:lnTo>
                  <a:lnTo>
                    <a:pt x="630555" y="7970520"/>
                  </a:lnTo>
                  <a:lnTo>
                    <a:pt x="711517" y="7999095"/>
                  </a:lnTo>
                  <a:lnTo>
                    <a:pt x="793433" y="8024812"/>
                  </a:lnTo>
                  <a:lnTo>
                    <a:pt x="876300" y="8049578"/>
                  </a:lnTo>
                  <a:lnTo>
                    <a:pt x="959167" y="8072438"/>
                  </a:lnTo>
                  <a:lnTo>
                    <a:pt x="1042035" y="8094345"/>
                  </a:lnTo>
                  <a:lnTo>
                    <a:pt x="1125855" y="8113395"/>
                  </a:lnTo>
                  <a:lnTo>
                    <a:pt x="1209675" y="8131492"/>
                  </a:lnTo>
                  <a:lnTo>
                    <a:pt x="1294447" y="8146732"/>
                  </a:lnTo>
                  <a:lnTo>
                    <a:pt x="1379220" y="8161020"/>
                  </a:lnTo>
                  <a:lnTo>
                    <a:pt x="1463993" y="8173402"/>
                  </a:lnTo>
                  <a:lnTo>
                    <a:pt x="1549717" y="8183880"/>
                  </a:lnTo>
                  <a:lnTo>
                    <a:pt x="1634490" y="8193405"/>
                  </a:lnTo>
                  <a:lnTo>
                    <a:pt x="1720215" y="8200072"/>
                  </a:lnTo>
                  <a:lnTo>
                    <a:pt x="1805940" y="8204835"/>
                  </a:lnTo>
                  <a:lnTo>
                    <a:pt x="1891665" y="8208645"/>
                  </a:lnTo>
                  <a:lnTo>
                    <a:pt x="1978343" y="8210550"/>
                  </a:lnTo>
                  <a:lnTo>
                    <a:pt x="2064067" y="8210550"/>
                  </a:lnTo>
                  <a:lnTo>
                    <a:pt x="2149793" y="8208645"/>
                  </a:lnTo>
                  <a:lnTo>
                    <a:pt x="2235517" y="8204835"/>
                  </a:lnTo>
                  <a:lnTo>
                    <a:pt x="2321243" y="8199120"/>
                  </a:lnTo>
                  <a:lnTo>
                    <a:pt x="2406967" y="8191500"/>
                  </a:lnTo>
                  <a:lnTo>
                    <a:pt x="2492693" y="8182928"/>
                  </a:lnTo>
                  <a:lnTo>
                    <a:pt x="2577465" y="8171498"/>
                  </a:lnTo>
                  <a:lnTo>
                    <a:pt x="2662237" y="8159115"/>
                  </a:lnTo>
                  <a:lnTo>
                    <a:pt x="2747010" y="8144828"/>
                  </a:lnTo>
                  <a:lnTo>
                    <a:pt x="2831783" y="8128635"/>
                  </a:lnTo>
                  <a:lnTo>
                    <a:pt x="2915603" y="8110538"/>
                  </a:lnTo>
                  <a:lnTo>
                    <a:pt x="2999423" y="8090535"/>
                  </a:lnTo>
                  <a:lnTo>
                    <a:pt x="3082290" y="8068628"/>
                  </a:lnTo>
                  <a:lnTo>
                    <a:pt x="3165157" y="8045768"/>
                  </a:lnTo>
                  <a:lnTo>
                    <a:pt x="3248025" y="8021002"/>
                  </a:lnTo>
                  <a:lnTo>
                    <a:pt x="3328987" y="7994332"/>
                  </a:lnTo>
                  <a:lnTo>
                    <a:pt x="3409950" y="7965758"/>
                  </a:lnTo>
                  <a:lnTo>
                    <a:pt x="3490913" y="7935278"/>
                  </a:lnTo>
                  <a:lnTo>
                    <a:pt x="3570923" y="7903845"/>
                  </a:lnTo>
                  <a:lnTo>
                    <a:pt x="3649980" y="7870508"/>
                  </a:lnTo>
                  <a:lnTo>
                    <a:pt x="3728085" y="7835265"/>
                  </a:lnTo>
                  <a:lnTo>
                    <a:pt x="3806190" y="7799070"/>
                  </a:lnTo>
                  <a:lnTo>
                    <a:pt x="3883343" y="7760018"/>
                  </a:lnTo>
                  <a:lnTo>
                    <a:pt x="3958590" y="7720012"/>
                  </a:lnTo>
                  <a:lnTo>
                    <a:pt x="4033837" y="7679055"/>
                  </a:lnTo>
                  <a:lnTo>
                    <a:pt x="4108133" y="7636192"/>
                  </a:lnTo>
                  <a:lnTo>
                    <a:pt x="4182427" y="7591425"/>
                  </a:lnTo>
                  <a:lnTo>
                    <a:pt x="4254817" y="7544752"/>
                  </a:lnTo>
                  <a:lnTo>
                    <a:pt x="4326255" y="7497128"/>
                  </a:lnTo>
                  <a:lnTo>
                    <a:pt x="4396740" y="7448550"/>
                  </a:lnTo>
                  <a:lnTo>
                    <a:pt x="4466273" y="7397115"/>
                  </a:lnTo>
                  <a:lnTo>
                    <a:pt x="4533900" y="7345680"/>
                  </a:lnTo>
                  <a:lnTo>
                    <a:pt x="4601527" y="7292340"/>
                  </a:lnTo>
                  <a:lnTo>
                    <a:pt x="4667250" y="7237095"/>
                  </a:lnTo>
                  <a:lnTo>
                    <a:pt x="4732973" y="7180898"/>
                  </a:lnTo>
                  <a:lnTo>
                    <a:pt x="4796790" y="7123748"/>
                  </a:lnTo>
                  <a:lnTo>
                    <a:pt x="4858703" y="7064692"/>
                  </a:lnTo>
                  <a:lnTo>
                    <a:pt x="4920615" y="7004685"/>
                  </a:lnTo>
                  <a:lnTo>
                    <a:pt x="4980623" y="6942772"/>
                  </a:lnTo>
                  <a:lnTo>
                    <a:pt x="5038725" y="6879908"/>
                  </a:lnTo>
                  <a:lnTo>
                    <a:pt x="5096827" y="6816090"/>
                  </a:lnTo>
                  <a:lnTo>
                    <a:pt x="5153025" y="6751320"/>
                  </a:lnTo>
                  <a:lnTo>
                    <a:pt x="5207317" y="6684645"/>
                  </a:lnTo>
                  <a:lnTo>
                    <a:pt x="5260657" y="6617018"/>
                  </a:lnTo>
                  <a:lnTo>
                    <a:pt x="5312093" y="6548438"/>
                  </a:lnTo>
                  <a:lnTo>
                    <a:pt x="5362575" y="6478905"/>
                  </a:lnTo>
                  <a:lnTo>
                    <a:pt x="5412105" y="6408420"/>
                  </a:lnTo>
                  <a:lnTo>
                    <a:pt x="5459730" y="6336982"/>
                  </a:lnTo>
                  <a:lnTo>
                    <a:pt x="5505450" y="6264592"/>
                  </a:lnTo>
                  <a:lnTo>
                    <a:pt x="5549265" y="6191250"/>
                  </a:lnTo>
                  <a:lnTo>
                    <a:pt x="5592127" y="6116002"/>
                  </a:lnTo>
                  <a:lnTo>
                    <a:pt x="5634037" y="6040755"/>
                  </a:lnTo>
                  <a:lnTo>
                    <a:pt x="5673090" y="5964555"/>
                  </a:lnTo>
                  <a:lnTo>
                    <a:pt x="5712143" y="5887402"/>
                  </a:lnTo>
                  <a:lnTo>
                    <a:pt x="5748337" y="5810250"/>
                  </a:lnTo>
                  <a:lnTo>
                    <a:pt x="5782627" y="5731192"/>
                  </a:lnTo>
                  <a:lnTo>
                    <a:pt x="5815965" y="5652135"/>
                  </a:lnTo>
                  <a:lnTo>
                    <a:pt x="5847397" y="5572125"/>
                  </a:lnTo>
                  <a:lnTo>
                    <a:pt x="5877877" y="5492115"/>
                  </a:lnTo>
                  <a:lnTo>
                    <a:pt x="5905500" y="5410200"/>
                  </a:lnTo>
                  <a:lnTo>
                    <a:pt x="5932170" y="5329238"/>
                  </a:lnTo>
                  <a:lnTo>
                    <a:pt x="5956935" y="5246370"/>
                  </a:lnTo>
                  <a:lnTo>
                    <a:pt x="5979795" y="5163502"/>
                  </a:lnTo>
                  <a:lnTo>
                    <a:pt x="6001703" y="5080635"/>
                  </a:lnTo>
                  <a:lnTo>
                    <a:pt x="6020753" y="4996815"/>
                  </a:lnTo>
                  <a:lnTo>
                    <a:pt x="6038850" y="4912995"/>
                  </a:lnTo>
                  <a:lnTo>
                    <a:pt x="6055043" y="4828222"/>
                  </a:lnTo>
                  <a:lnTo>
                    <a:pt x="6069330" y="4743450"/>
                  </a:lnTo>
                  <a:lnTo>
                    <a:pt x="6081713" y="4658678"/>
                  </a:lnTo>
                  <a:lnTo>
                    <a:pt x="6092190" y="4572952"/>
                  </a:lnTo>
                  <a:lnTo>
                    <a:pt x="6100763" y="4488180"/>
                  </a:lnTo>
                  <a:lnTo>
                    <a:pt x="6108383" y="4402455"/>
                  </a:lnTo>
                  <a:lnTo>
                    <a:pt x="6113145" y="4316730"/>
                  </a:lnTo>
                  <a:lnTo>
                    <a:pt x="6116955" y="4231005"/>
                  </a:lnTo>
                  <a:lnTo>
                    <a:pt x="6118860" y="4144328"/>
                  </a:lnTo>
                  <a:lnTo>
                    <a:pt x="6118860" y="4058602"/>
                  </a:lnTo>
                  <a:lnTo>
                    <a:pt x="6116955" y="3972878"/>
                  </a:lnTo>
                  <a:lnTo>
                    <a:pt x="6113145" y="3887152"/>
                  </a:lnTo>
                  <a:lnTo>
                    <a:pt x="6107430" y="3801428"/>
                  </a:lnTo>
                  <a:lnTo>
                    <a:pt x="6100763" y="3715702"/>
                  </a:lnTo>
                  <a:lnTo>
                    <a:pt x="6091237" y="3629978"/>
                  </a:lnTo>
                  <a:lnTo>
                    <a:pt x="6080760" y="3545205"/>
                  </a:lnTo>
                  <a:lnTo>
                    <a:pt x="6067425" y="3459480"/>
                  </a:lnTo>
                  <a:lnTo>
                    <a:pt x="6053137" y="3375660"/>
                  </a:lnTo>
                  <a:lnTo>
                    <a:pt x="6036945" y="3290888"/>
                  </a:lnTo>
                  <a:lnTo>
                    <a:pt x="6019800" y="3207068"/>
                  </a:lnTo>
                  <a:lnTo>
                    <a:pt x="5999797" y="3123248"/>
                  </a:lnTo>
                  <a:lnTo>
                    <a:pt x="5977890" y="3039428"/>
                  </a:lnTo>
                  <a:lnTo>
                    <a:pt x="5955030" y="2957512"/>
                  </a:lnTo>
                  <a:lnTo>
                    <a:pt x="5930265" y="2874645"/>
                  </a:lnTo>
                  <a:lnTo>
                    <a:pt x="5903595" y="2792730"/>
                  </a:lnTo>
                  <a:lnTo>
                    <a:pt x="5875020" y="2711768"/>
                  </a:lnTo>
                  <a:lnTo>
                    <a:pt x="5845493" y="2631758"/>
                  </a:lnTo>
                  <a:lnTo>
                    <a:pt x="5813107" y="2551748"/>
                  </a:lnTo>
                  <a:lnTo>
                    <a:pt x="5779770" y="2472690"/>
                  </a:lnTo>
                  <a:lnTo>
                    <a:pt x="5745480" y="2393632"/>
                  </a:lnTo>
                  <a:lnTo>
                    <a:pt x="5708333" y="2316480"/>
                  </a:lnTo>
                  <a:lnTo>
                    <a:pt x="5670233" y="2239328"/>
                  </a:lnTo>
                  <a:lnTo>
                    <a:pt x="5630227" y="2163128"/>
                  </a:lnTo>
                  <a:lnTo>
                    <a:pt x="5589270" y="2087880"/>
                  </a:lnTo>
                  <a:lnTo>
                    <a:pt x="5546407" y="2013585"/>
                  </a:lnTo>
                  <a:lnTo>
                    <a:pt x="5501640" y="1940242"/>
                  </a:lnTo>
                  <a:lnTo>
                    <a:pt x="5454967" y="1867852"/>
                  </a:lnTo>
                  <a:lnTo>
                    <a:pt x="5407343" y="1796415"/>
                  </a:lnTo>
                  <a:lnTo>
                    <a:pt x="5358765" y="1725930"/>
                  </a:lnTo>
                  <a:lnTo>
                    <a:pt x="5308283" y="1656398"/>
                  </a:lnTo>
                  <a:lnTo>
                    <a:pt x="5255895" y="1587818"/>
                  </a:lnTo>
                  <a:lnTo>
                    <a:pt x="5202555" y="1520190"/>
                  </a:lnTo>
                  <a:lnTo>
                    <a:pt x="5148263" y="1454468"/>
                  </a:lnTo>
                  <a:lnTo>
                    <a:pt x="5092065" y="1388745"/>
                  </a:lnTo>
                  <a:lnTo>
                    <a:pt x="5033963" y="1324928"/>
                  </a:lnTo>
                  <a:lnTo>
                    <a:pt x="4975860" y="1263015"/>
                  </a:lnTo>
                  <a:lnTo>
                    <a:pt x="4914900" y="1201102"/>
                  </a:lnTo>
                  <a:lnTo>
                    <a:pt x="4853940" y="1141095"/>
                  </a:lnTo>
                  <a:lnTo>
                    <a:pt x="4791075" y="1082040"/>
                  </a:lnTo>
                  <a:lnTo>
                    <a:pt x="4727257" y="1024890"/>
                  </a:lnTo>
                  <a:lnTo>
                    <a:pt x="4662487" y="968692"/>
                  </a:lnTo>
                  <a:lnTo>
                    <a:pt x="4595813" y="914400"/>
                  </a:lnTo>
                  <a:lnTo>
                    <a:pt x="4528185" y="861060"/>
                  </a:lnTo>
                  <a:lnTo>
                    <a:pt x="4460557" y="808672"/>
                  </a:lnTo>
                  <a:lnTo>
                    <a:pt x="4391025" y="758190"/>
                  </a:lnTo>
                  <a:lnTo>
                    <a:pt x="4320540" y="709612"/>
                  </a:lnTo>
                  <a:lnTo>
                    <a:pt x="4248150" y="661988"/>
                  </a:lnTo>
                  <a:lnTo>
                    <a:pt x="4175760" y="615315"/>
                  </a:lnTo>
                  <a:lnTo>
                    <a:pt x="4102417" y="571500"/>
                  </a:lnTo>
                  <a:lnTo>
                    <a:pt x="4028123" y="528638"/>
                  </a:lnTo>
                  <a:lnTo>
                    <a:pt x="3952875" y="486728"/>
                  </a:lnTo>
                  <a:lnTo>
                    <a:pt x="3876675" y="446722"/>
                  </a:lnTo>
                  <a:lnTo>
                    <a:pt x="3799523" y="408622"/>
                  </a:lnTo>
                  <a:lnTo>
                    <a:pt x="3721417" y="372428"/>
                  </a:lnTo>
                  <a:lnTo>
                    <a:pt x="3643313" y="337185"/>
                  </a:lnTo>
                  <a:lnTo>
                    <a:pt x="3564255" y="303848"/>
                  </a:lnTo>
                  <a:lnTo>
                    <a:pt x="3484245" y="272415"/>
                  </a:lnTo>
                  <a:lnTo>
                    <a:pt x="3403283" y="242888"/>
                  </a:lnTo>
                  <a:lnTo>
                    <a:pt x="3322320" y="214312"/>
                  </a:lnTo>
                  <a:lnTo>
                    <a:pt x="3240405" y="187642"/>
                  </a:lnTo>
                  <a:lnTo>
                    <a:pt x="3158490" y="162878"/>
                  </a:lnTo>
                  <a:lnTo>
                    <a:pt x="3075623" y="140018"/>
                  </a:lnTo>
                  <a:lnTo>
                    <a:pt x="2992755" y="118110"/>
                  </a:lnTo>
                  <a:lnTo>
                    <a:pt x="2908935" y="99060"/>
                  </a:lnTo>
                  <a:lnTo>
                    <a:pt x="2825115" y="80962"/>
                  </a:lnTo>
                  <a:lnTo>
                    <a:pt x="2740343" y="64770"/>
                  </a:lnTo>
                  <a:lnTo>
                    <a:pt x="2655570" y="50482"/>
                  </a:lnTo>
                  <a:lnTo>
                    <a:pt x="2570797" y="38100"/>
                  </a:lnTo>
                  <a:lnTo>
                    <a:pt x="2485073" y="27622"/>
                  </a:lnTo>
                  <a:lnTo>
                    <a:pt x="2400300" y="18098"/>
                  </a:lnTo>
                  <a:lnTo>
                    <a:pt x="2314575" y="11430"/>
                  </a:lnTo>
                  <a:lnTo>
                    <a:pt x="2228850" y="5715"/>
                  </a:lnTo>
                  <a:lnTo>
                    <a:pt x="2143125" y="1905"/>
                  </a:lnTo>
                  <a:lnTo>
                    <a:pt x="2056447" y="0"/>
                  </a:lnTo>
                  <a:lnTo>
                    <a:pt x="1970723" y="0"/>
                  </a:lnTo>
                  <a:lnTo>
                    <a:pt x="1884997" y="1905"/>
                  </a:lnTo>
                  <a:lnTo>
                    <a:pt x="1799273" y="5715"/>
                  </a:lnTo>
                  <a:lnTo>
                    <a:pt x="1713547" y="11430"/>
                  </a:lnTo>
                  <a:lnTo>
                    <a:pt x="1627823" y="18098"/>
                  </a:lnTo>
                  <a:lnTo>
                    <a:pt x="1542097" y="27622"/>
                  </a:lnTo>
                  <a:lnTo>
                    <a:pt x="1457325" y="38100"/>
                  </a:lnTo>
                  <a:lnTo>
                    <a:pt x="1371600" y="50482"/>
                  </a:lnTo>
                  <a:lnTo>
                    <a:pt x="1286827" y="64770"/>
                  </a:lnTo>
                  <a:lnTo>
                    <a:pt x="1203007" y="80962"/>
                  </a:lnTo>
                  <a:lnTo>
                    <a:pt x="1119187" y="99060"/>
                  </a:lnTo>
                  <a:lnTo>
                    <a:pt x="1035367" y="118110"/>
                  </a:lnTo>
                  <a:lnTo>
                    <a:pt x="951547" y="140018"/>
                  </a:lnTo>
                  <a:lnTo>
                    <a:pt x="868680" y="162878"/>
                  </a:lnTo>
                  <a:lnTo>
                    <a:pt x="786765" y="187642"/>
                  </a:lnTo>
                  <a:lnTo>
                    <a:pt x="704850" y="214312"/>
                  </a:lnTo>
                  <a:lnTo>
                    <a:pt x="623887" y="241935"/>
                  </a:lnTo>
                  <a:lnTo>
                    <a:pt x="542925" y="272415"/>
                  </a:lnTo>
                  <a:lnTo>
                    <a:pt x="463867" y="303848"/>
                  </a:lnTo>
                  <a:lnTo>
                    <a:pt x="383857" y="337185"/>
                  </a:lnTo>
                  <a:lnTo>
                    <a:pt x="305753" y="372428"/>
                  </a:lnTo>
                  <a:lnTo>
                    <a:pt x="227647" y="408622"/>
                  </a:lnTo>
                  <a:lnTo>
                    <a:pt x="151447" y="446722"/>
                  </a:lnTo>
                  <a:lnTo>
                    <a:pt x="75247" y="486728"/>
                  </a:lnTo>
                  <a:lnTo>
                    <a:pt x="0" y="527685"/>
                  </a:lnTo>
                  <a:lnTo>
                    <a:pt x="901065" y="2129790"/>
                  </a:lnTo>
                  <a:lnTo>
                    <a:pt x="942975" y="2106930"/>
                  </a:lnTo>
                  <a:lnTo>
                    <a:pt x="984885" y="2085022"/>
                  </a:lnTo>
                  <a:lnTo>
                    <a:pt x="1027747" y="2064068"/>
                  </a:lnTo>
                  <a:lnTo>
                    <a:pt x="1070610" y="2044065"/>
                  </a:lnTo>
                  <a:lnTo>
                    <a:pt x="1113473" y="2024062"/>
                  </a:lnTo>
                  <a:lnTo>
                    <a:pt x="1157287" y="2005965"/>
                  </a:lnTo>
                  <a:lnTo>
                    <a:pt x="1202055" y="1988820"/>
                  </a:lnTo>
                  <a:lnTo>
                    <a:pt x="1245870" y="1972628"/>
                  </a:lnTo>
                  <a:lnTo>
                    <a:pt x="1290637" y="1956435"/>
                  </a:lnTo>
                  <a:lnTo>
                    <a:pt x="1336357" y="1942148"/>
                  </a:lnTo>
                  <a:lnTo>
                    <a:pt x="1381125" y="1927860"/>
                  </a:lnTo>
                  <a:lnTo>
                    <a:pt x="1426845" y="1915478"/>
                  </a:lnTo>
                  <a:lnTo>
                    <a:pt x="1473517" y="1904048"/>
                  </a:lnTo>
                  <a:lnTo>
                    <a:pt x="1519237" y="1892618"/>
                  </a:lnTo>
                  <a:lnTo>
                    <a:pt x="1565910" y="1883092"/>
                  </a:lnTo>
                  <a:lnTo>
                    <a:pt x="1612583" y="1874520"/>
                  </a:lnTo>
                  <a:lnTo>
                    <a:pt x="1659255" y="1865948"/>
                  </a:lnTo>
                  <a:lnTo>
                    <a:pt x="1705927" y="1859280"/>
                  </a:lnTo>
                  <a:lnTo>
                    <a:pt x="1753553" y="1853565"/>
                  </a:lnTo>
                  <a:lnTo>
                    <a:pt x="1800225" y="1848802"/>
                  </a:lnTo>
                  <a:lnTo>
                    <a:pt x="1847850" y="1844040"/>
                  </a:lnTo>
                  <a:lnTo>
                    <a:pt x="1895475" y="1841182"/>
                  </a:lnTo>
                  <a:lnTo>
                    <a:pt x="1942147" y="1839278"/>
                  </a:lnTo>
                  <a:lnTo>
                    <a:pt x="1989773" y="1838325"/>
                  </a:lnTo>
                  <a:lnTo>
                    <a:pt x="2037397" y="1838325"/>
                  </a:lnTo>
                  <a:lnTo>
                    <a:pt x="2085023" y="1839278"/>
                  </a:lnTo>
                  <a:lnTo>
                    <a:pt x="2132647" y="1841182"/>
                  </a:lnTo>
                  <a:lnTo>
                    <a:pt x="2179320" y="1844040"/>
                  </a:lnTo>
                  <a:lnTo>
                    <a:pt x="2226945" y="1848802"/>
                  </a:lnTo>
                  <a:lnTo>
                    <a:pt x="2274570" y="1853565"/>
                  </a:lnTo>
                  <a:lnTo>
                    <a:pt x="2321243" y="1859280"/>
                  </a:lnTo>
                  <a:lnTo>
                    <a:pt x="2367915" y="1865948"/>
                  </a:lnTo>
                  <a:lnTo>
                    <a:pt x="2414587" y="1874520"/>
                  </a:lnTo>
                  <a:lnTo>
                    <a:pt x="2461260" y="1883092"/>
                  </a:lnTo>
                  <a:lnTo>
                    <a:pt x="2507933" y="1892618"/>
                  </a:lnTo>
                  <a:lnTo>
                    <a:pt x="2553653" y="1904048"/>
                  </a:lnTo>
                  <a:lnTo>
                    <a:pt x="2600325" y="1915478"/>
                  </a:lnTo>
                  <a:lnTo>
                    <a:pt x="2646045" y="1927860"/>
                  </a:lnTo>
                  <a:lnTo>
                    <a:pt x="2690813" y="1942148"/>
                  </a:lnTo>
                  <a:lnTo>
                    <a:pt x="2736533" y="1956435"/>
                  </a:lnTo>
                  <a:lnTo>
                    <a:pt x="2781300" y="1972628"/>
                  </a:lnTo>
                  <a:lnTo>
                    <a:pt x="2826067" y="1988820"/>
                  </a:lnTo>
                  <a:lnTo>
                    <a:pt x="2869883" y="2005965"/>
                  </a:lnTo>
                  <a:lnTo>
                    <a:pt x="2913697" y="2025015"/>
                  </a:lnTo>
                  <a:lnTo>
                    <a:pt x="2956560" y="2044065"/>
                  </a:lnTo>
                  <a:lnTo>
                    <a:pt x="2999423" y="2064068"/>
                  </a:lnTo>
                  <a:lnTo>
                    <a:pt x="3042285" y="2085022"/>
                  </a:lnTo>
                  <a:lnTo>
                    <a:pt x="3084195" y="2106930"/>
                  </a:lnTo>
                  <a:lnTo>
                    <a:pt x="3126105" y="2129790"/>
                  </a:lnTo>
                  <a:lnTo>
                    <a:pt x="3167063" y="2153602"/>
                  </a:lnTo>
                  <a:lnTo>
                    <a:pt x="3208020" y="2178368"/>
                  </a:lnTo>
                  <a:lnTo>
                    <a:pt x="3248025" y="2204085"/>
                  </a:lnTo>
                  <a:lnTo>
                    <a:pt x="3287077" y="2229802"/>
                  </a:lnTo>
                  <a:lnTo>
                    <a:pt x="3326130" y="2257425"/>
                  </a:lnTo>
                  <a:lnTo>
                    <a:pt x="3364230" y="2285048"/>
                  </a:lnTo>
                  <a:lnTo>
                    <a:pt x="3402330" y="2313622"/>
                  </a:lnTo>
                  <a:lnTo>
                    <a:pt x="3439477" y="2343150"/>
                  </a:lnTo>
                  <a:lnTo>
                    <a:pt x="3476625" y="2373630"/>
                  </a:lnTo>
                  <a:lnTo>
                    <a:pt x="3511867" y="2404110"/>
                  </a:lnTo>
                  <a:lnTo>
                    <a:pt x="3547110" y="2435542"/>
                  </a:lnTo>
                  <a:lnTo>
                    <a:pt x="3582353" y="2468880"/>
                  </a:lnTo>
                  <a:lnTo>
                    <a:pt x="3615690" y="2501265"/>
                  </a:lnTo>
                  <a:lnTo>
                    <a:pt x="3649027" y="2535555"/>
                  </a:lnTo>
                  <a:lnTo>
                    <a:pt x="3681413" y="2569845"/>
                  </a:lnTo>
                  <a:lnTo>
                    <a:pt x="3713797" y="2605088"/>
                  </a:lnTo>
                  <a:lnTo>
                    <a:pt x="3744277" y="2641282"/>
                  </a:lnTo>
                  <a:lnTo>
                    <a:pt x="3774757" y="2677478"/>
                  </a:lnTo>
                  <a:lnTo>
                    <a:pt x="3804285" y="2714625"/>
                  </a:lnTo>
                  <a:lnTo>
                    <a:pt x="3832860" y="2752725"/>
                  </a:lnTo>
                  <a:lnTo>
                    <a:pt x="3860483" y="2790825"/>
                  </a:lnTo>
                  <a:lnTo>
                    <a:pt x="3888105" y="2829878"/>
                  </a:lnTo>
                  <a:lnTo>
                    <a:pt x="3913823" y="2869882"/>
                  </a:lnTo>
                  <a:lnTo>
                    <a:pt x="3939540" y="2909888"/>
                  </a:lnTo>
                  <a:lnTo>
                    <a:pt x="3964305" y="2949892"/>
                  </a:lnTo>
                  <a:lnTo>
                    <a:pt x="3988117" y="2990850"/>
                  </a:lnTo>
                  <a:lnTo>
                    <a:pt x="4010977" y="3032760"/>
                  </a:lnTo>
                  <a:lnTo>
                    <a:pt x="4032885" y="3074670"/>
                  </a:lnTo>
                  <a:lnTo>
                    <a:pt x="4053840" y="3117532"/>
                  </a:lnTo>
                  <a:lnTo>
                    <a:pt x="4073843" y="3160395"/>
                  </a:lnTo>
                  <a:lnTo>
                    <a:pt x="4093845" y="3203258"/>
                  </a:lnTo>
                  <a:lnTo>
                    <a:pt x="4111943" y="3247072"/>
                  </a:lnTo>
                  <a:lnTo>
                    <a:pt x="4129087" y="3291840"/>
                  </a:lnTo>
                  <a:lnTo>
                    <a:pt x="4146233" y="3335655"/>
                  </a:lnTo>
                  <a:lnTo>
                    <a:pt x="4161473" y="3380422"/>
                  </a:lnTo>
                  <a:lnTo>
                    <a:pt x="4176713" y="3426142"/>
                  </a:lnTo>
                  <a:lnTo>
                    <a:pt x="4190047" y="3470910"/>
                  </a:lnTo>
                  <a:lnTo>
                    <a:pt x="4202430" y="3516630"/>
                  </a:lnTo>
                  <a:lnTo>
                    <a:pt x="4214813" y="3563302"/>
                  </a:lnTo>
                  <a:lnTo>
                    <a:pt x="4225290" y="3609022"/>
                  </a:lnTo>
                  <a:lnTo>
                    <a:pt x="4235767" y="3655695"/>
                  </a:lnTo>
                  <a:lnTo>
                    <a:pt x="4244340" y="3702368"/>
                  </a:lnTo>
                  <a:lnTo>
                    <a:pt x="4251960" y="3749040"/>
                  </a:lnTo>
                  <a:lnTo>
                    <a:pt x="4259580" y="3795712"/>
                  </a:lnTo>
                  <a:lnTo>
                    <a:pt x="4265295" y="3843338"/>
                  </a:lnTo>
                  <a:lnTo>
                    <a:pt x="4270057" y="3890010"/>
                  </a:lnTo>
                  <a:lnTo>
                    <a:pt x="4273867" y="3937635"/>
                  </a:lnTo>
                  <a:lnTo>
                    <a:pt x="4277677" y="3984308"/>
                  </a:lnTo>
                  <a:lnTo>
                    <a:pt x="4279583" y="4031932"/>
                  </a:lnTo>
                  <a:lnTo>
                    <a:pt x="4280535" y="4079558"/>
                  </a:lnTo>
                  <a:lnTo>
                    <a:pt x="4280535" y="4127182"/>
                  </a:lnTo>
                  <a:lnTo>
                    <a:pt x="4279583" y="4174808"/>
                  </a:lnTo>
                  <a:lnTo>
                    <a:pt x="4277677" y="4221480"/>
                  </a:lnTo>
                  <a:lnTo>
                    <a:pt x="4274820" y="4269105"/>
                  </a:lnTo>
                  <a:lnTo>
                    <a:pt x="4271010" y="4316730"/>
                  </a:lnTo>
                  <a:lnTo>
                    <a:pt x="4265295" y="4363402"/>
                  </a:lnTo>
                  <a:lnTo>
                    <a:pt x="4259580" y="4411028"/>
                  </a:lnTo>
                  <a:lnTo>
                    <a:pt x="4252913" y="4457700"/>
                  </a:lnTo>
                  <a:lnTo>
                    <a:pt x="4245293" y="4504372"/>
                  </a:lnTo>
                  <a:lnTo>
                    <a:pt x="4236720" y="4551045"/>
                  </a:lnTo>
                  <a:lnTo>
                    <a:pt x="4226243" y="4597718"/>
                  </a:lnTo>
                  <a:lnTo>
                    <a:pt x="4215765" y="4643438"/>
                  </a:lnTo>
                  <a:lnTo>
                    <a:pt x="4204335" y="4690110"/>
                  </a:lnTo>
                  <a:lnTo>
                    <a:pt x="4191000" y="4735830"/>
                  </a:lnTo>
                  <a:lnTo>
                    <a:pt x="4177665" y="4780598"/>
                  </a:lnTo>
                  <a:lnTo>
                    <a:pt x="4162425" y="4826318"/>
                  </a:lnTo>
                  <a:lnTo>
                    <a:pt x="4147185" y="4871085"/>
                  </a:lnTo>
                  <a:lnTo>
                    <a:pt x="4130993" y="4914900"/>
                  </a:lnTo>
                  <a:lnTo>
                    <a:pt x="4113847" y="4959668"/>
                  </a:lnTo>
                  <a:lnTo>
                    <a:pt x="4094797" y="5003482"/>
                  </a:lnTo>
                  <a:lnTo>
                    <a:pt x="4075747" y="5046345"/>
                  </a:lnTo>
                  <a:lnTo>
                    <a:pt x="4055745" y="5089208"/>
                  </a:lnTo>
                  <a:lnTo>
                    <a:pt x="4034790" y="5132070"/>
                  </a:lnTo>
                  <a:lnTo>
                    <a:pt x="4012883" y="5173980"/>
                  </a:lnTo>
                  <a:lnTo>
                    <a:pt x="3990023" y="5215890"/>
                  </a:lnTo>
                  <a:lnTo>
                    <a:pt x="3966210" y="5256848"/>
                  </a:lnTo>
                  <a:lnTo>
                    <a:pt x="3941445" y="5297805"/>
                  </a:lnTo>
                  <a:lnTo>
                    <a:pt x="3916680" y="5337810"/>
                  </a:lnTo>
                  <a:lnTo>
                    <a:pt x="3890010" y="5376862"/>
                  </a:lnTo>
                  <a:lnTo>
                    <a:pt x="3863340" y="5415915"/>
                  </a:lnTo>
                  <a:lnTo>
                    <a:pt x="3834765" y="5454968"/>
                  </a:lnTo>
                  <a:lnTo>
                    <a:pt x="3806190" y="5492115"/>
                  </a:lnTo>
                  <a:lnTo>
                    <a:pt x="3777615" y="5529262"/>
                  </a:lnTo>
                  <a:lnTo>
                    <a:pt x="3747135" y="5566410"/>
                  </a:lnTo>
                  <a:lnTo>
                    <a:pt x="3715703" y="5602605"/>
                  </a:lnTo>
                  <a:lnTo>
                    <a:pt x="3684270" y="5637848"/>
                  </a:lnTo>
                  <a:lnTo>
                    <a:pt x="3651885" y="5672138"/>
                  </a:lnTo>
                  <a:lnTo>
                    <a:pt x="3618547" y="5706428"/>
                  </a:lnTo>
                  <a:lnTo>
                    <a:pt x="3585210" y="5739765"/>
                  </a:lnTo>
                  <a:lnTo>
                    <a:pt x="3549967" y="5772150"/>
                  </a:lnTo>
                  <a:lnTo>
                    <a:pt x="3514725" y="5803582"/>
                  </a:lnTo>
                  <a:lnTo>
                    <a:pt x="3479483" y="5835015"/>
                  </a:lnTo>
                  <a:lnTo>
                    <a:pt x="3442335" y="5865495"/>
                  </a:lnTo>
                  <a:lnTo>
                    <a:pt x="3405187" y="5895022"/>
                  </a:lnTo>
                  <a:lnTo>
                    <a:pt x="3368040" y="5923598"/>
                  </a:lnTo>
                  <a:lnTo>
                    <a:pt x="3328987" y="5951220"/>
                  </a:lnTo>
                  <a:lnTo>
                    <a:pt x="3290887" y="5978842"/>
                  </a:lnTo>
                  <a:lnTo>
                    <a:pt x="3250883" y="6004560"/>
                  </a:lnTo>
                  <a:lnTo>
                    <a:pt x="3210877" y="6030278"/>
                  </a:lnTo>
                  <a:lnTo>
                    <a:pt x="3170873" y="6055042"/>
                  </a:lnTo>
                  <a:lnTo>
                    <a:pt x="3128963" y="6078855"/>
                  </a:lnTo>
                  <a:lnTo>
                    <a:pt x="3088005" y="6101715"/>
                  </a:lnTo>
                  <a:lnTo>
                    <a:pt x="3046095" y="6123622"/>
                  </a:lnTo>
                  <a:lnTo>
                    <a:pt x="3003233" y="6144578"/>
                  </a:lnTo>
                  <a:lnTo>
                    <a:pt x="2960370" y="6164580"/>
                  </a:lnTo>
                  <a:lnTo>
                    <a:pt x="2917507" y="6184582"/>
                  </a:lnTo>
                  <a:lnTo>
                    <a:pt x="2873693" y="6202680"/>
                  </a:lnTo>
                  <a:lnTo>
                    <a:pt x="2828925" y="6220778"/>
                  </a:lnTo>
                  <a:lnTo>
                    <a:pt x="2785110" y="6236970"/>
                  </a:lnTo>
                  <a:lnTo>
                    <a:pt x="2740343" y="6252210"/>
                  </a:lnTo>
                  <a:lnTo>
                    <a:pt x="2694623" y="6267450"/>
                  </a:lnTo>
                  <a:lnTo>
                    <a:pt x="2649855" y="6280785"/>
                  </a:lnTo>
                  <a:lnTo>
                    <a:pt x="2604135" y="6294120"/>
                  </a:lnTo>
                  <a:lnTo>
                    <a:pt x="2558415" y="6305550"/>
                  </a:lnTo>
                  <a:lnTo>
                    <a:pt x="2511743" y="6316980"/>
                  </a:lnTo>
                  <a:lnTo>
                    <a:pt x="2465070" y="6326505"/>
                  </a:lnTo>
                  <a:lnTo>
                    <a:pt x="2418397" y="6336030"/>
                  </a:lnTo>
                  <a:lnTo>
                    <a:pt x="2371725" y="6343650"/>
                  </a:lnTo>
                  <a:lnTo>
                    <a:pt x="2325053" y="6350318"/>
                  </a:lnTo>
                  <a:lnTo>
                    <a:pt x="2278380" y="6356985"/>
                  </a:lnTo>
                  <a:lnTo>
                    <a:pt x="2230755" y="6361748"/>
                  </a:lnTo>
                  <a:lnTo>
                    <a:pt x="2183130" y="6365558"/>
                  </a:lnTo>
                  <a:lnTo>
                    <a:pt x="2136457" y="6369368"/>
                  </a:lnTo>
                  <a:lnTo>
                    <a:pt x="2088833" y="6371272"/>
                  </a:lnTo>
                  <a:lnTo>
                    <a:pt x="2041207" y="6372225"/>
                  </a:lnTo>
                  <a:lnTo>
                    <a:pt x="1993583" y="6372225"/>
                  </a:lnTo>
                  <a:lnTo>
                    <a:pt x="1946910" y="6371272"/>
                  </a:lnTo>
                  <a:lnTo>
                    <a:pt x="1899285" y="6369368"/>
                  </a:lnTo>
                  <a:lnTo>
                    <a:pt x="1851660" y="6366510"/>
                  </a:lnTo>
                  <a:lnTo>
                    <a:pt x="1804035" y="6362700"/>
                  </a:lnTo>
                  <a:lnTo>
                    <a:pt x="1757363" y="6357938"/>
                  </a:lnTo>
                  <a:lnTo>
                    <a:pt x="1709737" y="6352222"/>
                  </a:lnTo>
                  <a:lnTo>
                    <a:pt x="1663065" y="6344602"/>
                  </a:lnTo>
                  <a:lnTo>
                    <a:pt x="1616393" y="6336982"/>
                  </a:lnTo>
                  <a:lnTo>
                    <a:pt x="1569720" y="6328410"/>
                  </a:lnTo>
                  <a:lnTo>
                    <a:pt x="1523047" y="6318885"/>
                  </a:lnTo>
                  <a:lnTo>
                    <a:pt x="1477327" y="6307455"/>
                  </a:lnTo>
                  <a:lnTo>
                    <a:pt x="1430655" y="6296025"/>
                  </a:lnTo>
                  <a:lnTo>
                    <a:pt x="1384935" y="6283642"/>
                  </a:lnTo>
                  <a:lnTo>
                    <a:pt x="1340167" y="6269355"/>
                  </a:lnTo>
                  <a:lnTo>
                    <a:pt x="1294447" y="6255068"/>
                  </a:lnTo>
                  <a:lnTo>
                    <a:pt x="1249680" y="6239828"/>
                  </a:lnTo>
                  <a:lnTo>
                    <a:pt x="1205865" y="6223635"/>
                  </a:lnTo>
                  <a:lnTo>
                    <a:pt x="1161097" y="6205538"/>
                  </a:lnTo>
                  <a:lnTo>
                    <a:pt x="1117283" y="6187440"/>
                  </a:lnTo>
                  <a:lnTo>
                    <a:pt x="1074420" y="6168390"/>
                  </a:lnTo>
                  <a:lnTo>
                    <a:pt x="1031557" y="6148388"/>
                  </a:lnTo>
                  <a:lnTo>
                    <a:pt x="988695" y="6127432"/>
                  </a:lnTo>
                  <a:lnTo>
                    <a:pt x="946785" y="6105525"/>
                  </a:lnTo>
                  <a:lnTo>
                    <a:pt x="904875" y="6082665"/>
                  </a:lnTo>
                  <a:close/>
                </a:path>
              </a:pathLst>
            </a:custGeom>
            <a:solidFill>
              <a:srgbClr val="173679"/>
            </a:solidFill>
            <a:ln w="4762">
              <a:solidFill>
                <a:srgbClr val="1736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donut-blue"/>
            <p:cNvSpPr/>
            <p:nvPr/>
          </p:nvSpPr>
          <p:spPr>
            <a:xfrm>
              <a:off x="5972175" y="6699885"/>
              <a:ext cx="2967990" cy="4899660"/>
            </a:xfrm>
            <a:custGeom>
              <a:avLst/>
              <a:gdLst/>
              <a:ahLst/>
              <a:cxnLst/>
              <a:rect l="l" t="t" r="r" b="b"/>
              <a:pathLst>
                <a:path w="2967990" h="4899660">
                  <a:moveTo>
                    <a:pt x="227647" y="0"/>
                  </a:moveTo>
                  <a:lnTo>
                    <a:pt x="200977" y="80963"/>
                  </a:lnTo>
                  <a:lnTo>
                    <a:pt x="175260" y="162877"/>
                  </a:lnTo>
                  <a:lnTo>
                    <a:pt x="150495" y="245745"/>
                  </a:lnTo>
                  <a:lnTo>
                    <a:pt x="128587" y="328613"/>
                  </a:lnTo>
                  <a:lnTo>
                    <a:pt x="108585" y="411480"/>
                  </a:lnTo>
                  <a:lnTo>
                    <a:pt x="89535" y="495300"/>
                  </a:lnTo>
                  <a:lnTo>
                    <a:pt x="72390" y="580073"/>
                  </a:lnTo>
                  <a:lnTo>
                    <a:pt x="57150" y="663893"/>
                  </a:lnTo>
                  <a:lnTo>
                    <a:pt x="43815" y="748665"/>
                  </a:lnTo>
                  <a:lnTo>
                    <a:pt x="32385" y="834390"/>
                  </a:lnTo>
                  <a:lnTo>
                    <a:pt x="22860" y="919163"/>
                  </a:lnTo>
                  <a:lnTo>
                    <a:pt x="14287" y="1004887"/>
                  </a:lnTo>
                  <a:lnTo>
                    <a:pt x="8573" y="1090613"/>
                  </a:lnTo>
                  <a:lnTo>
                    <a:pt x="3810" y="1176337"/>
                  </a:lnTo>
                  <a:lnTo>
                    <a:pt x="953" y="1262063"/>
                  </a:lnTo>
                  <a:lnTo>
                    <a:pt x="0" y="1347787"/>
                  </a:lnTo>
                  <a:lnTo>
                    <a:pt x="953" y="1433513"/>
                  </a:lnTo>
                  <a:lnTo>
                    <a:pt x="3810" y="1519237"/>
                  </a:lnTo>
                  <a:lnTo>
                    <a:pt x="7620" y="1604963"/>
                  </a:lnTo>
                  <a:lnTo>
                    <a:pt x="14287" y="1690687"/>
                  </a:lnTo>
                  <a:lnTo>
                    <a:pt x="21907" y="1776413"/>
                  </a:lnTo>
                  <a:lnTo>
                    <a:pt x="32385" y="1861185"/>
                  </a:lnTo>
                  <a:lnTo>
                    <a:pt x="43815" y="1945957"/>
                  </a:lnTo>
                  <a:lnTo>
                    <a:pt x="57150" y="2030730"/>
                  </a:lnTo>
                  <a:lnTo>
                    <a:pt x="72390" y="2115503"/>
                  </a:lnTo>
                  <a:lnTo>
                    <a:pt x="89535" y="2200275"/>
                  </a:lnTo>
                  <a:lnTo>
                    <a:pt x="107633" y="2283143"/>
                  </a:lnTo>
                  <a:lnTo>
                    <a:pt x="128587" y="2366963"/>
                  </a:lnTo>
                  <a:lnTo>
                    <a:pt x="150495" y="2449830"/>
                  </a:lnTo>
                  <a:lnTo>
                    <a:pt x="174307" y="2532697"/>
                  </a:lnTo>
                  <a:lnTo>
                    <a:pt x="200025" y="2614613"/>
                  </a:lnTo>
                  <a:lnTo>
                    <a:pt x="227647" y="2695575"/>
                  </a:lnTo>
                  <a:lnTo>
                    <a:pt x="256223" y="2776537"/>
                  </a:lnTo>
                  <a:lnTo>
                    <a:pt x="286703" y="2856547"/>
                  </a:lnTo>
                  <a:lnTo>
                    <a:pt x="319087" y="2935605"/>
                  </a:lnTo>
                  <a:lnTo>
                    <a:pt x="353377" y="3014663"/>
                  </a:lnTo>
                  <a:lnTo>
                    <a:pt x="388620" y="3092767"/>
                  </a:lnTo>
                  <a:lnTo>
                    <a:pt x="425767" y="3169920"/>
                  </a:lnTo>
                  <a:lnTo>
                    <a:pt x="464820" y="3247073"/>
                  </a:lnTo>
                  <a:lnTo>
                    <a:pt x="505777" y="3322320"/>
                  </a:lnTo>
                  <a:lnTo>
                    <a:pt x="547687" y="3397567"/>
                  </a:lnTo>
                  <a:lnTo>
                    <a:pt x="591503" y="3470910"/>
                  </a:lnTo>
                  <a:lnTo>
                    <a:pt x="636270" y="3544253"/>
                  </a:lnTo>
                  <a:lnTo>
                    <a:pt x="682943" y="3616643"/>
                  </a:lnTo>
                  <a:lnTo>
                    <a:pt x="731520" y="3687127"/>
                  </a:lnTo>
                  <a:lnTo>
                    <a:pt x="781050" y="3757613"/>
                  </a:lnTo>
                  <a:lnTo>
                    <a:pt x="831533" y="3826193"/>
                  </a:lnTo>
                  <a:lnTo>
                    <a:pt x="883920" y="3893820"/>
                  </a:lnTo>
                  <a:lnTo>
                    <a:pt x="938213" y="3960495"/>
                  </a:lnTo>
                  <a:lnTo>
                    <a:pt x="993457" y="4026217"/>
                  </a:lnTo>
                  <a:lnTo>
                    <a:pt x="1050607" y="4090987"/>
                  </a:lnTo>
                  <a:lnTo>
                    <a:pt x="1107757" y="4153853"/>
                  </a:lnTo>
                  <a:lnTo>
                    <a:pt x="1167765" y="4216717"/>
                  </a:lnTo>
                  <a:lnTo>
                    <a:pt x="1227773" y="4276725"/>
                  </a:lnTo>
                  <a:lnTo>
                    <a:pt x="1289685" y="4336733"/>
                  </a:lnTo>
                  <a:lnTo>
                    <a:pt x="1353503" y="4394835"/>
                  </a:lnTo>
                  <a:lnTo>
                    <a:pt x="1417320" y="4451985"/>
                  </a:lnTo>
                  <a:lnTo>
                    <a:pt x="1483043" y="4507230"/>
                  </a:lnTo>
                  <a:lnTo>
                    <a:pt x="1549717" y="4561523"/>
                  </a:lnTo>
                  <a:lnTo>
                    <a:pt x="1617345" y="4613910"/>
                  </a:lnTo>
                  <a:lnTo>
                    <a:pt x="1685925" y="4665345"/>
                  </a:lnTo>
                  <a:lnTo>
                    <a:pt x="1755457" y="4714875"/>
                  </a:lnTo>
                  <a:lnTo>
                    <a:pt x="1826895" y="4763453"/>
                  </a:lnTo>
                  <a:lnTo>
                    <a:pt x="1898333" y="4810125"/>
                  </a:lnTo>
                  <a:lnTo>
                    <a:pt x="1971675" y="4855845"/>
                  </a:lnTo>
                  <a:lnTo>
                    <a:pt x="2045017" y="4899660"/>
                  </a:lnTo>
                  <a:lnTo>
                    <a:pt x="2967990" y="3309937"/>
                  </a:lnTo>
                  <a:lnTo>
                    <a:pt x="2927033" y="3285173"/>
                  </a:lnTo>
                  <a:lnTo>
                    <a:pt x="2887027" y="3260407"/>
                  </a:lnTo>
                  <a:lnTo>
                    <a:pt x="2847023" y="3234690"/>
                  </a:lnTo>
                  <a:lnTo>
                    <a:pt x="2807970" y="3208020"/>
                  </a:lnTo>
                  <a:lnTo>
                    <a:pt x="2768917" y="3180397"/>
                  </a:lnTo>
                  <a:lnTo>
                    <a:pt x="2731770" y="3151823"/>
                  </a:lnTo>
                  <a:lnTo>
                    <a:pt x="2693670" y="3122295"/>
                  </a:lnTo>
                  <a:lnTo>
                    <a:pt x="2657475" y="3092767"/>
                  </a:lnTo>
                  <a:lnTo>
                    <a:pt x="2621280" y="3062287"/>
                  </a:lnTo>
                  <a:lnTo>
                    <a:pt x="2585085" y="3030855"/>
                  </a:lnTo>
                  <a:lnTo>
                    <a:pt x="2550795" y="2998470"/>
                  </a:lnTo>
                  <a:lnTo>
                    <a:pt x="2516505" y="2966085"/>
                  </a:lnTo>
                  <a:lnTo>
                    <a:pt x="2483167" y="2931795"/>
                  </a:lnTo>
                  <a:lnTo>
                    <a:pt x="2449830" y="2897505"/>
                  </a:lnTo>
                  <a:lnTo>
                    <a:pt x="2418397" y="2863215"/>
                  </a:lnTo>
                  <a:lnTo>
                    <a:pt x="2386965" y="2827020"/>
                  </a:lnTo>
                  <a:lnTo>
                    <a:pt x="2356485" y="2790825"/>
                  </a:lnTo>
                  <a:lnTo>
                    <a:pt x="2326957" y="2754630"/>
                  </a:lnTo>
                  <a:lnTo>
                    <a:pt x="2297430" y="2716530"/>
                  </a:lnTo>
                  <a:lnTo>
                    <a:pt x="2269807" y="2678430"/>
                  </a:lnTo>
                  <a:lnTo>
                    <a:pt x="2242185" y="2640330"/>
                  </a:lnTo>
                  <a:lnTo>
                    <a:pt x="2215515" y="2601277"/>
                  </a:lnTo>
                  <a:lnTo>
                    <a:pt x="2189797" y="2561273"/>
                  </a:lnTo>
                  <a:lnTo>
                    <a:pt x="2165033" y="2520315"/>
                  </a:lnTo>
                  <a:lnTo>
                    <a:pt x="2140267" y="2480310"/>
                  </a:lnTo>
                  <a:lnTo>
                    <a:pt x="2117407" y="2438400"/>
                  </a:lnTo>
                  <a:lnTo>
                    <a:pt x="2095500" y="2396490"/>
                  </a:lnTo>
                  <a:lnTo>
                    <a:pt x="2073593" y="2354580"/>
                  </a:lnTo>
                  <a:lnTo>
                    <a:pt x="2052637" y="2311717"/>
                  </a:lnTo>
                  <a:lnTo>
                    <a:pt x="2033587" y="2268855"/>
                  </a:lnTo>
                  <a:lnTo>
                    <a:pt x="2014537" y="2225040"/>
                  </a:lnTo>
                  <a:lnTo>
                    <a:pt x="1996440" y="2181225"/>
                  </a:lnTo>
                  <a:lnTo>
                    <a:pt x="1980247" y="2137410"/>
                  </a:lnTo>
                  <a:lnTo>
                    <a:pt x="1964055" y="2092643"/>
                  </a:lnTo>
                  <a:lnTo>
                    <a:pt x="1948815" y="2047875"/>
                  </a:lnTo>
                  <a:lnTo>
                    <a:pt x="1934527" y="2002155"/>
                  </a:lnTo>
                  <a:lnTo>
                    <a:pt x="1921193" y="1956435"/>
                  </a:lnTo>
                  <a:lnTo>
                    <a:pt x="1908810" y="1910715"/>
                  </a:lnTo>
                  <a:lnTo>
                    <a:pt x="1898333" y="1864995"/>
                  </a:lnTo>
                  <a:lnTo>
                    <a:pt x="1887855" y="1818323"/>
                  </a:lnTo>
                  <a:lnTo>
                    <a:pt x="1878330" y="1772603"/>
                  </a:lnTo>
                  <a:lnTo>
                    <a:pt x="1869757" y="1725930"/>
                  </a:lnTo>
                  <a:lnTo>
                    <a:pt x="1862137" y="1678305"/>
                  </a:lnTo>
                  <a:lnTo>
                    <a:pt x="1856423" y="1631633"/>
                  </a:lnTo>
                  <a:lnTo>
                    <a:pt x="1850707" y="1584960"/>
                  </a:lnTo>
                  <a:lnTo>
                    <a:pt x="1845945" y="1537335"/>
                  </a:lnTo>
                  <a:lnTo>
                    <a:pt x="1843087" y="1490663"/>
                  </a:lnTo>
                  <a:lnTo>
                    <a:pt x="1840230" y="1443037"/>
                  </a:lnTo>
                  <a:lnTo>
                    <a:pt x="1839277" y="1395413"/>
                  </a:lnTo>
                  <a:lnTo>
                    <a:pt x="1838325" y="1347787"/>
                  </a:lnTo>
                  <a:lnTo>
                    <a:pt x="1839277" y="1301115"/>
                  </a:lnTo>
                  <a:lnTo>
                    <a:pt x="1840230" y="1253490"/>
                  </a:lnTo>
                  <a:lnTo>
                    <a:pt x="1843087" y="1205865"/>
                  </a:lnTo>
                  <a:lnTo>
                    <a:pt x="1845945" y="1159193"/>
                  </a:lnTo>
                  <a:lnTo>
                    <a:pt x="1850707" y="1111567"/>
                  </a:lnTo>
                  <a:lnTo>
                    <a:pt x="1856423" y="1064895"/>
                  </a:lnTo>
                  <a:lnTo>
                    <a:pt x="1863090" y="1017270"/>
                  </a:lnTo>
                  <a:lnTo>
                    <a:pt x="1869757" y="970597"/>
                  </a:lnTo>
                  <a:lnTo>
                    <a:pt x="1878330" y="923925"/>
                  </a:lnTo>
                  <a:lnTo>
                    <a:pt x="1887855" y="877253"/>
                  </a:lnTo>
                  <a:lnTo>
                    <a:pt x="1898333" y="831533"/>
                  </a:lnTo>
                  <a:lnTo>
                    <a:pt x="1909763" y="785813"/>
                  </a:lnTo>
                  <a:lnTo>
                    <a:pt x="1922145" y="740093"/>
                  </a:lnTo>
                  <a:lnTo>
                    <a:pt x="1934527" y="694373"/>
                  </a:lnTo>
                  <a:lnTo>
                    <a:pt x="1948815" y="648653"/>
                  </a:lnTo>
                  <a:lnTo>
                    <a:pt x="1964055" y="603885"/>
                  </a:lnTo>
                  <a:close/>
                </a:path>
              </a:pathLst>
            </a:custGeom>
            <a:solidFill>
              <a:srgbClr val="559FE6"/>
            </a:solidFill>
            <a:ln w="4762">
              <a:solidFill>
                <a:srgbClr val="559FE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donut-cyan"/>
            <p:cNvSpPr/>
            <p:nvPr/>
          </p:nvSpPr>
          <p:spPr>
            <a:xfrm>
              <a:off x="6219825" y="4501515"/>
              <a:ext cx="2716530" cy="2770823"/>
            </a:xfrm>
            <a:custGeom>
              <a:avLst/>
              <a:gdLst/>
              <a:ahLst/>
              <a:cxnLst/>
              <a:rect l="l" t="t" r="r" b="b"/>
              <a:pathLst>
                <a:path w="2716530" h="2770823">
                  <a:moveTo>
                    <a:pt x="1791653" y="0"/>
                  </a:moveTo>
                  <a:lnTo>
                    <a:pt x="1717357" y="43815"/>
                  </a:lnTo>
                  <a:lnTo>
                    <a:pt x="1644015" y="89535"/>
                  </a:lnTo>
                  <a:lnTo>
                    <a:pt x="1571625" y="137160"/>
                  </a:lnTo>
                  <a:lnTo>
                    <a:pt x="1500187" y="185737"/>
                  </a:lnTo>
                  <a:lnTo>
                    <a:pt x="1430655" y="236220"/>
                  </a:lnTo>
                  <a:lnTo>
                    <a:pt x="1361123" y="287655"/>
                  </a:lnTo>
                  <a:lnTo>
                    <a:pt x="1293495" y="340995"/>
                  </a:lnTo>
                  <a:lnTo>
                    <a:pt x="1226820" y="396240"/>
                  </a:lnTo>
                  <a:lnTo>
                    <a:pt x="1161097" y="451485"/>
                  </a:lnTo>
                  <a:lnTo>
                    <a:pt x="1096327" y="509587"/>
                  </a:lnTo>
                  <a:lnTo>
                    <a:pt x="1033463" y="567690"/>
                  </a:lnTo>
                  <a:lnTo>
                    <a:pt x="971550" y="627697"/>
                  </a:lnTo>
                  <a:lnTo>
                    <a:pt x="910590" y="689610"/>
                  </a:lnTo>
                  <a:lnTo>
                    <a:pt x="850583" y="751523"/>
                  </a:lnTo>
                  <a:lnTo>
                    <a:pt x="792480" y="815340"/>
                  </a:lnTo>
                  <a:lnTo>
                    <a:pt x="736283" y="881063"/>
                  </a:lnTo>
                  <a:lnTo>
                    <a:pt x="681037" y="946785"/>
                  </a:lnTo>
                  <a:lnTo>
                    <a:pt x="626745" y="1014413"/>
                  </a:lnTo>
                  <a:lnTo>
                    <a:pt x="574357" y="1082993"/>
                  </a:lnTo>
                  <a:lnTo>
                    <a:pt x="522923" y="1152525"/>
                  </a:lnTo>
                  <a:lnTo>
                    <a:pt x="473393" y="1223010"/>
                  </a:lnTo>
                  <a:lnTo>
                    <a:pt x="425767" y="1294447"/>
                  </a:lnTo>
                  <a:lnTo>
                    <a:pt x="379095" y="1367790"/>
                  </a:lnTo>
                  <a:lnTo>
                    <a:pt x="333375" y="1441133"/>
                  </a:lnTo>
                  <a:lnTo>
                    <a:pt x="290513" y="1515427"/>
                  </a:lnTo>
                  <a:lnTo>
                    <a:pt x="248603" y="1590675"/>
                  </a:lnTo>
                  <a:lnTo>
                    <a:pt x="207645" y="1667827"/>
                  </a:lnTo>
                  <a:lnTo>
                    <a:pt x="169545" y="1744980"/>
                  </a:lnTo>
                  <a:lnTo>
                    <a:pt x="132397" y="1822133"/>
                  </a:lnTo>
                  <a:lnTo>
                    <a:pt x="97155" y="1901190"/>
                  </a:lnTo>
                  <a:lnTo>
                    <a:pt x="62865" y="1981200"/>
                  </a:lnTo>
                  <a:lnTo>
                    <a:pt x="30480" y="2061210"/>
                  </a:lnTo>
                  <a:lnTo>
                    <a:pt x="0" y="2141220"/>
                  </a:lnTo>
                  <a:lnTo>
                    <a:pt x="1727835" y="2770823"/>
                  </a:lnTo>
                  <a:lnTo>
                    <a:pt x="1744027" y="2726055"/>
                  </a:lnTo>
                  <a:lnTo>
                    <a:pt x="1762125" y="2682240"/>
                  </a:lnTo>
                  <a:lnTo>
                    <a:pt x="1781175" y="2638425"/>
                  </a:lnTo>
                  <a:lnTo>
                    <a:pt x="1800225" y="2594610"/>
                  </a:lnTo>
                  <a:lnTo>
                    <a:pt x="1821180" y="2551747"/>
                  </a:lnTo>
                  <a:lnTo>
                    <a:pt x="1842135" y="2508885"/>
                  </a:lnTo>
                  <a:lnTo>
                    <a:pt x="1864995" y="2466975"/>
                  </a:lnTo>
                  <a:lnTo>
                    <a:pt x="1887855" y="2425065"/>
                  </a:lnTo>
                  <a:lnTo>
                    <a:pt x="1911667" y="2384107"/>
                  </a:lnTo>
                  <a:lnTo>
                    <a:pt x="1936433" y="2343150"/>
                  </a:lnTo>
                  <a:lnTo>
                    <a:pt x="1962150" y="2303145"/>
                  </a:lnTo>
                  <a:lnTo>
                    <a:pt x="1988820" y="2264093"/>
                  </a:lnTo>
                  <a:lnTo>
                    <a:pt x="2016443" y="2225040"/>
                  </a:lnTo>
                  <a:lnTo>
                    <a:pt x="2044065" y="2185987"/>
                  </a:lnTo>
                  <a:lnTo>
                    <a:pt x="2073593" y="2148840"/>
                  </a:lnTo>
                  <a:lnTo>
                    <a:pt x="2103120" y="2111693"/>
                  </a:lnTo>
                  <a:lnTo>
                    <a:pt x="2133600" y="2074545"/>
                  </a:lnTo>
                  <a:lnTo>
                    <a:pt x="2165033" y="2039303"/>
                  </a:lnTo>
                  <a:lnTo>
                    <a:pt x="2197417" y="2004060"/>
                  </a:lnTo>
                  <a:lnTo>
                    <a:pt x="2229803" y="1968817"/>
                  </a:lnTo>
                  <a:lnTo>
                    <a:pt x="2264093" y="1935480"/>
                  </a:lnTo>
                  <a:lnTo>
                    <a:pt x="2298383" y="1902143"/>
                  </a:lnTo>
                  <a:lnTo>
                    <a:pt x="2332673" y="1869757"/>
                  </a:lnTo>
                  <a:lnTo>
                    <a:pt x="2368867" y="1838325"/>
                  </a:lnTo>
                  <a:lnTo>
                    <a:pt x="2405063" y="1806893"/>
                  </a:lnTo>
                  <a:lnTo>
                    <a:pt x="2441257" y="1776413"/>
                  </a:lnTo>
                  <a:lnTo>
                    <a:pt x="2479357" y="1747837"/>
                  </a:lnTo>
                  <a:lnTo>
                    <a:pt x="2517457" y="1719263"/>
                  </a:lnTo>
                  <a:lnTo>
                    <a:pt x="2556510" y="1690687"/>
                  </a:lnTo>
                  <a:lnTo>
                    <a:pt x="2595563" y="1664017"/>
                  </a:lnTo>
                  <a:lnTo>
                    <a:pt x="2635567" y="1638300"/>
                  </a:lnTo>
                  <a:lnTo>
                    <a:pt x="2675573" y="1612583"/>
                  </a:lnTo>
                  <a:lnTo>
                    <a:pt x="2716530" y="1587817"/>
                  </a:lnTo>
                  <a:close/>
                </a:path>
              </a:pathLst>
            </a:custGeom>
            <a:solidFill>
              <a:srgbClr val="42B4D9"/>
            </a:solidFill>
            <a:ln w="4762">
              <a:solidFill>
                <a:srgbClr val="42B4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onut-center-1"/>
            <p:cNvSpPr txBox="1"/>
            <p:nvPr/>
          </p:nvSpPr>
          <p:spPr>
            <a:xfrm>
              <a:off x="8296656" y="6896100"/>
              <a:ext cx="3447288" cy="1257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525" b="1" i="0">
                  <a:solidFill>
                    <a:srgbClr val="171717"/>
                  </a:solidFill>
                  <a:latin typeface="Microsoft YaHei"/>
                  <a:ea typeface="Microsoft YaHei"/>
                  <a:cs typeface="Microsoft YaHei"/>
                </a:rPr>
                <a:t>支出构成</a:t>
              </a:r>
            </a:p>
          </p:txBody>
        </p:sp>
        <p:sp>
          <p:nvSpPr>
            <p:cNvPr id="10" name="donut-center-2"/>
            <p:cNvSpPr txBox="1"/>
            <p:nvPr/>
          </p:nvSpPr>
          <p:spPr>
            <a:xfrm>
              <a:off x="8287131" y="7991475"/>
              <a:ext cx="3447288" cy="1257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525" b="1" i="0">
                  <a:solidFill>
                    <a:srgbClr val="171717"/>
                  </a:solidFill>
                  <a:latin typeface="Microsoft YaHei"/>
                  <a:ea typeface="Microsoft YaHei"/>
                  <a:cs typeface="Microsoft YaHei"/>
                </a:rPr>
                <a:t>分布明细</a:t>
              </a:r>
            </a:p>
          </p:txBody>
        </p:sp>
      </p:grpSp>
      <p:grpSp>
        <p:nvGrpSpPr>
          <p:cNvPr id="57" name="callouts"/>
          <p:cNvGrpSpPr/>
          <p:nvPr/>
        </p:nvGrpSpPr>
        <p:grpSpPr>
          <a:xfrm>
            <a:off x="1428750" y="4610100"/>
            <a:ext cx="17868900" cy="6276975"/>
            <a:chOff x="1428750" y="4610100"/>
            <a:chExt cx="17868900" cy="6276975"/>
          </a:xfrm>
        </p:grpSpPr>
        <p:cxnSp>
          <p:nvCxnSpPr>
            <p:cNvPr id="11" name="callout-1-line"/>
            <p:cNvCxnSpPr/>
            <p:nvPr/>
          </p:nvCxnSpPr>
          <p:spPr>
            <a:xfrm>
              <a:off x="1571625" y="5638800"/>
              <a:ext cx="5191125" cy="0"/>
            </a:xfrm>
            <a:prstGeom prst="line">
              <a:avLst/>
            </a:prstGeom>
            <a:ln w="19050">
              <a:solidFill>
                <a:srgbClr val="19191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callout-1-num"/>
            <p:cNvSpPr txBox="1"/>
            <p:nvPr/>
          </p:nvSpPr>
          <p:spPr>
            <a:xfrm>
              <a:off x="3114675" y="4610100"/>
              <a:ext cx="2114550" cy="1066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475" b="0" i="0">
                  <a:solidFill>
                    <a:srgbClr val="171717"/>
                  </a:solidFill>
                  <a:latin typeface="Microsoft YaHei"/>
                  <a:ea typeface="Microsoft YaHei"/>
                  <a:cs typeface="Microsoft YaHei"/>
                </a:rPr>
                <a:t>50000</a:t>
              </a:r>
            </a:p>
          </p:txBody>
        </p:sp>
        <p:sp>
          <p:nvSpPr>
            <p:cNvPr id="13" name="callout-1-label"/>
            <p:cNvSpPr txBox="1"/>
            <p:nvPr/>
          </p:nvSpPr>
          <p:spPr>
            <a:xfrm>
              <a:off x="2114550" y="5619750"/>
              <a:ext cx="4486275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425" b="0" i="0">
                  <a:solidFill>
                    <a:srgbClr val="171717"/>
                  </a:solidFill>
                  <a:latin typeface="Microsoft YaHei"/>
                  <a:ea typeface="Microsoft YaHei"/>
                  <a:cs typeface="Microsoft YaHei"/>
                </a:rPr>
                <a:t>外部服务 (11.1%)</a:t>
              </a:r>
            </a:p>
          </p:txBody>
        </p:sp>
        <p:cxnSp>
          <p:nvCxnSpPr>
            <p:cNvPr id="14" name="callout-2-line"/>
            <p:cNvCxnSpPr/>
            <p:nvPr/>
          </p:nvCxnSpPr>
          <p:spPr>
            <a:xfrm>
              <a:off x="1428750" y="10096500"/>
              <a:ext cx="5124450" cy="0"/>
            </a:xfrm>
            <a:prstGeom prst="line">
              <a:avLst/>
            </a:prstGeom>
            <a:ln w="19050">
              <a:solidFill>
                <a:srgbClr val="19191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callout-2-num"/>
            <p:cNvSpPr txBox="1"/>
            <p:nvPr/>
          </p:nvSpPr>
          <p:spPr>
            <a:xfrm>
              <a:off x="2609850" y="8943975"/>
              <a:ext cx="2524125" cy="1066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475" b="0" i="0">
                  <a:solidFill>
                    <a:srgbClr val="171717"/>
                  </a:solidFill>
                  <a:latin typeface="Microsoft YaHei"/>
                  <a:ea typeface="Microsoft YaHei"/>
                  <a:cs typeface="Microsoft YaHei"/>
                </a:rPr>
                <a:t>100000</a:t>
              </a:r>
            </a:p>
          </p:txBody>
        </p:sp>
        <p:sp>
          <p:nvSpPr>
            <p:cNvPr id="16" name="callout-2-label"/>
            <p:cNvSpPr txBox="1"/>
            <p:nvPr/>
          </p:nvSpPr>
          <p:spPr>
            <a:xfrm>
              <a:off x="1581150" y="10001250"/>
              <a:ext cx="5133975" cy="8858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500" b="0" i="0">
                  <a:solidFill>
                    <a:srgbClr val="171717"/>
                  </a:solidFill>
                  <a:latin typeface="Microsoft YaHei"/>
                  <a:ea typeface="Microsoft YaHei"/>
                  <a:cs typeface="Microsoft YaHei"/>
                </a:rPr>
                <a:t>软硬件采购 (22.2%)</a:t>
              </a:r>
            </a:p>
          </p:txBody>
        </p:sp>
        <p:cxnSp>
          <p:nvCxnSpPr>
            <p:cNvPr id="17" name="callout-3-line"/>
            <p:cNvCxnSpPr/>
            <p:nvPr/>
          </p:nvCxnSpPr>
          <p:spPr>
            <a:xfrm>
              <a:off x="14201775" y="8077200"/>
              <a:ext cx="5095875" cy="0"/>
            </a:xfrm>
            <a:prstGeom prst="line">
              <a:avLst/>
            </a:prstGeom>
            <a:ln w="19050">
              <a:solidFill>
                <a:srgbClr val="19191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callout-3-num"/>
            <p:cNvSpPr txBox="1"/>
            <p:nvPr/>
          </p:nvSpPr>
          <p:spPr>
            <a:xfrm>
              <a:off x="15430500" y="6924675"/>
              <a:ext cx="2657475" cy="11239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775" b="0" i="0">
                  <a:solidFill>
                    <a:srgbClr val="171717"/>
                  </a:solidFill>
                  <a:latin typeface="Microsoft YaHei"/>
                  <a:ea typeface="Microsoft YaHei"/>
                  <a:cs typeface="Microsoft YaHei"/>
                </a:rPr>
                <a:t>300000</a:t>
              </a:r>
            </a:p>
          </p:txBody>
        </p:sp>
        <p:sp>
          <p:nvSpPr>
            <p:cNvPr id="19" name="callout-3-label"/>
            <p:cNvSpPr txBox="1"/>
            <p:nvPr/>
          </p:nvSpPr>
          <p:spPr>
            <a:xfrm>
              <a:off x="14716125" y="8086725"/>
              <a:ext cx="403860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75" b="0" i="0">
                  <a:solidFill>
                    <a:srgbClr val="171717"/>
                  </a:solidFill>
                  <a:latin typeface="Microsoft YaHei"/>
                  <a:ea typeface="Microsoft YaHei"/>
                  <a:cs typeface="Microsoft YaHei"/>
                </a:rPr>
                <a:t>人力成本 (66.7%)</a:t>
              </a:r>
            </a:p>
          </p:txBody>
        </p:sp>
      </p:grpSp>
      <p:grpSp>
        <p:nvGrpSpPr>
          <p:cNvPr id="58" name="banner-1"/>
          <p:cNvGrpSpPr/>
          <p:nvPr/>
        </p:nvGrpSpPr>
        <p:grpSpPr>
          <a:xfrm>
            <a:off x="19859625" y="3771900"/>
            <a:ext cx="9172575" cy="2781300"/>
            <a:chOff x="19859625" y="3771900"/>
            <a:chExt cx="9172575" cy="2781300"/>
          </a:xfrm>
        </p:grpSpPr>
        <p:sp>
          <p:nvSpPr>
            <p:cNvPr id="20" name="banner-1-panel"/>
            <p:cNvSpPr/>
            <p:nvPr/>
          </p:nvSpPr>
          <p:spPr>
            <a:xfrm>
              <a:off x="21974175" y="3771900"/>
              <a:ext cx="7058025" cy="2781300"/>
            </a:xfrm>
            <a:custGeom>
              <a:avLst/>
              <a:gdLst/>
              <a:ahLst/>
              <a:cxnLst/>
              <a:rect l="l" t="t" r="r" b="b"/>
              <a:pathLst>
                <a:path w="7058025" h="2781300">
                  <a:moveTo>
                    <a:pt x="495300" y="0"/>
                  </a:moveTo>
                  <a:lnTo>
                    <a:pt x="7058025" y="0"/>
                  </a:lnTo>
                  <a:lnTo>
                    <a:pt x="7058025" y="2781300"/>
                  </a:lnTo>
                  <a:lnTo>
                    <a:pt x="495300" y="2781300"/>
                  </a:lnTo>
                  <a:lnTo>
                    <a:pt x="425767" y="2688908"/>
                  </a:lnTo>
                  <a:lnTo>
                    <a:pt x="360997" y="2595562"/>
                  </a:lnTo>
                  <a:lnTo>
                    <a:pt x="303847" y="2503170"/>
                  </a:lnTo>
                  <a:lnTo>
                    <a:pt x="251460" y="2410778"/>
                  </a:lnTo>
                  <a:lnTo>
                    <a:pt x="205740" y="2317432"/>
                  </a:lnTo>
                  <a:lnTo>
                    <a:pt x="164783" y="2225040"/>
                  </a:lnTo>
                  <a:lnTo>
                    <a:pt x="129540" y="2132648"/>
                  </a:lnTo>
                  <a:lnTo>
                    <a:pt x="98107" y="2039302"/>
                  </a:lnTo>
                  <a:lnTo>
                    <a:pt x="71437" y="1946910"/>
                  </a:lnTo>
                  <a:lnTo>
                    <a:pt x="49530" y="1854518"/>
                  </a:lnTo>
                  <a:lnTo>
                    <a:pt x="31433" y="1761172"/>
                  </a:lnTo>
                  <a:lnTo>
                    <a:pt x="18097" y="1668780"/>
                  </a:lnTo>
                  <a:lnTo>
                    <a:pt x="7620" y="1576388"/>
                  </a:lnTo>
                  <a:lnTo>
                    <a:pt x="1905" y="1483042"/>
                  </a:lnTo>
                  <a:lnTo>
                    <a:pt x="0" y="1390650"/>
                  </a:lnTo>
                  <a:lnTo>
                    <a:pt x="1905" y="1298258"/>
                  </a:lnTo>
                  <a:lnTo>
                    <a:pt x="7620" y="1204912"/>
                  </a:lnTo>
                  <a:lnTo>
                    <a:pt x="18097" y="1112520"/>
                  </a:lnTo>
                  <a:lnTo>
                    <a:pt x="31433" y="1020128"/>
                  </a:lnTo>
                  <a:lnTo>
                    <a:pt x="49530" y="926782"/>
                  </a:lnTo>
                  <a:lnTo>
                    <a:pt x="71437" y="834390"/>
                  </a:lnTo>
                  <a:lnTo>
                    <a:pt x="98107" y="741998"/>
                  </a:lnTo>
                  <a:lnTo>
                    <a:pt x="129540" y="648652"/>
                  </a:lnTo>
                  <a:lnTo>
                    <a:pt x="164783" y="556260"/>
                  </a:lnTo>
                  <a:lnTo>
                    <a:pt x="205740" y="463868"/>
                  </a:lnTo>
                  <a:lnTo>
                    <a:pt x="251460" y="370522"/>
                  </a:lnTo>
                  <a:lnTo>
                    <a:pt x="303847" y="278130"/>
                  </a:lnTo>
                  <a:lnTo>
                    <a:pt x="360997" y="185738"/>
                  </a:lnTo>
                  <a:lnTo>
                    <a:pt x="425767" y="92392"/>
                  </a:lnTo>
                  <a:close/>
                </a:path>
              </a:pathLst>
            </a:custGeom>
            <a:solidFill>
              <a:srgbClr val="F6F6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banner-1-navy"/>
            <p:cNvSpPr/>
            <p:nvPr/>
          </p:nvSpPr>
          <p:spPr>
            <a:xfrm>
              <a:off x="19859625" y="3771900"/>
              <a:ext cx="2609850" cy="2781300"/>
            </a:xfrm>
            <a:custGeom>
              <a:avLst/>
              <a:gdLst/>
              <a:ahLst/>
              <a:cxnLst/>
              <a:rect l="l" t="t" r="r" b="b"/>
              <a:pathLst>
                <a:path w="2609850" h="2781300">
                  <a:moveTo>
                    <a:pt x="0" y="0"/>
                  </a:moveTo>
                  <a:lnTo>
                    <a:pt x="2609850" y="0"/>
                  </a:lnTo>
                  <a:lnTo>
                    <a:pt x="2540317" y="92392"/>
                  </a:lnTo>
                  <a:lnTo>
                    <a:pt x="2475547" y="185738"/>
                  </a:lnTo>
                  <a:lnTo>
                    <a:pt x="2418397" y="278130"/>
                  </a:lnTo>
                  <a:lnTo>
                    <a:pt x="2366010" y="370522"/>
                  </a:lnTo>
                  <a:lnTo>
                    <a:pt x="2320290" y="463868"/>
                  </a:lnTo>
                  <a:lnTo>
                    <a:pt x="2279333" y="556260"/>
                  </a:lnTo>
                  <a:lnTo>
                    <a:pt x="2244090" y="648652"/>
                  </a:lnTo>
                  <a:lnTo>
                    <a:pt x="2212657" y="741998"/>
                  </a:lnTo>
                  <a:lnTo>
                    <a:pt x="2185987" y="834390"/>
                  </a:lnTo>
                  <a:lnTo>
                    <a:pt x="2164080" y="926782"/>
                  </a:lnTo>
                  <a:lnTo>
                    <a:pt x="2145983" y="1020128"/>
                  </a:lnTo>
                  <a:lnTo>
                    <a:pt x="2132647" y="1112520"/>
                  </a:lnTo>
                  <a:lnTo>
                    <a:pt x="2122170" y="1204912"/>
                  </a:lnTo>
                  <a:lnTo>
                    <a:pt x="2116455" y="1298258"/>
                  </a:lnTo>
                  <a:lnTo>
                    <a:pt x="2114550" y="1390650"/>
                  </a:lnTo>
                  <a:lnTo>
                    <a:pt x="2116455" y="1483042"/>
                  </a:lnTo>
                  <a:lnTo>
                    <a:pt x="2122170" y="1576388"/>
                  </a:lnTo>
                  <a:lnTo>
                    <a:pt x="2132647" y="1668780"/>
                  </a:lnTo>
                  <a:lnTo>
                    <a:pt x="2145983" y="1761172"/>
                  </a:lnTo>
                  <a:lnTo>
                    <a:pt x="2164080" y="1854518"/>
                  </a:lnTo>
                  <a:lnTo>
                    <a:pt x="2185987" y="1946910"/>
                  </a:lnTo>
                  <a:lnTo>
                    <a:pt x="2212657" y="2039302"/>
                  </a:lnTo>
                  <a:lnTo>
                    <a:pt x="2244090" y="2132648"/>
                  </a:lnTo>
                  <a:lnTo>
                    <a:pt x="2279333" y="2225040"/>
                  </a:lnTo>
                  <a:lnTo>
                    <a:pt x="2320290" y="2317432"/>
                  </a:lnTo>
                  <a:lnTo>
                    <a:pt x="2366010" y="2410778"/>
                  </a:lnTo>
                  <a:lnTo>
                    <a:pt x="2418397" y="2503170"/>
                  </a:lnTo>
                  <a:lnTo>
                    <a:pt x="2475547" y="2595562"/>
                  </a:lnTo>
                  <a:lnTo>
                    <a:pt x="2540317" y="2688908"/>
                  </a:lnTo>
                  <a:lnTo>
                    <a:pt x="2609850" y="2781300"/>
                  </a:lnTo>
                  <a:lnTo>
                    <a:pt x="0" y="2781300"/>
                  </a:lnTo>
                  <a:close/>
                </a:path>
              </a:pathLst>
            </a:custGeom>
            <a:solidFill>
              <a:srgbClr val="1736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banner-1-label-1"/>
            <p:cNvSpPr txBox="1"/>
            <p:nvPr/>
          </p:nvSpPr>
          <p:spPr>
            <a:xfrm>
              <a:off x="20250150" y="4181475"/>
              <a:ext cx="1447800" cy="1047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4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预测</a:t>
              </a:r>
            </a:p>
          </p:txBody>
        </p:sp>
        <p:sp>
          <p:nvSpPr>
            <p:cNvPr id="23" name="banner-1-label-2"/>
            <p:cNvSpPr txBox="1"/>
            <p:nvPr/>
          </p:nvSpPr>
          <p:spPr>
            <a:xfrm>
              <a:off x="20250150" y="5095875"/>
              <a:ext cx="1447800" cy="1047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4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趋势</a:t>
              </a:r>
            </a:p>
          </p:txBody>
        </p:sp>
        <p:sp>
          <p:nvSpPr>
            <p:cNvPr id="24" name="banner-1-num"/>
            <p:cNvSpPr txBox="1"/>
            <p:nvPr/>
          </p:nvSpPr>
          <p:spPr>
            <a:xfrm>
              <a:off x="23604093" y="4171950"/>
              <a:ext cx="3769614" cy="14382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7500" b="0" i="0">
                  <a:solidFill>
                    <a:srgbClr val="171717"/>
                  </a:solidFill>
                  <a:latin typeface="Microsoft YaHei"/>
                  <a:ea typeface="Microsoft YaHei"/>
                  <a:cs typeface="Microsoft YaHei"/>
                </a:rPr>
                <a:t>980,000</a:t>
              </a:r>
            </a:p>
          </p:txBody>
        </p:sp>
        <p:sp>
          <p:nvSpPr>
            <p:cNvPr id="25" name="banner-1-sub"/>
            <p:cNvSpPr txBox="1"/>
            <p:nvPr/>
          </p:nvSpPr>
          <p:spPr>
            <a:xfrm>
              <a:off x="24003000" y="5410200"/>
              <a:ext cx="2943225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225" b="0" i="0">
                  <a:solidFill>
                    <a:srgbClr val="171717"/>
                  </a:solidFill>
                  <a:latin typeface="Microsoft YaHei"/>
                  <a:ea typeface="Microsoft YaHei"/>
                  <a:cs typeface="Microsoft YaHei"/>
                </a:rPr>
                <a:t>预测最终总支出</a:t>
              </a:r>
            </a:p>
          </p:txBody>
        </p:sp>
      </p:grpSp>
      <p:grpSp>
        <p:nvGrpSpPr>
          <p:cNvPr id="54" name="banner-2"/>
          <p:cNvGrpSpPr/>
          <p:nvPr/>
        </p:nvGrpSpPr>
        <p:grpSpPr>
          <a:xfrm>
            <a:off x="19859625" y="7096125"/>
            <a:ext cx="9172575" cy="2771775"/>
            <a:chOff x="19859625" y="7096125"/>
            <a:chExt cx="9172575" cy="2771775"/>
          </a:xfrm>
        </p:grpSpPr>
        <p:sp>
          <p:nvSpPr>
            <p:cNvPr id="26" name="banner-2-panel"/>
            <p:cNvSpPr/>
            <p:nvPr/>
          </p:nvSpPr>
          <p:spPr>
            <a:xfrm>
              <a:off x="21974175" y="7096125"/>
              <a:ext cx="7058025" cy="2771775"/>
            </a:xfrm>
            <a:custGeom>
              <a:avLst/>
              <a:gdLst/>
              <a:ahLst/>
              <a:cxnLst/>
              <a:rect l="l" t="t" r="r" b="b"/>
              <a:pathLst>
                <a:path w="7058025" h="2771775">
                  <a:moveTo>
                    <a:pt x="495300" y="0"/>
                  </a:moveTo>
                  <a:lnTo>
                    <a:pt x="7058025" y="0"/>
                  </a:lnTo>
                  <a:lnTo>
                    <a:pt x="7058025" y="2771775"/>
                  </a:lnTo>
                  <a:lnTo>
                    <a:pt x="495300" y="2771775"/>
                  </a:lnTo>
                  <a:lnTo>
                    <a:pt x="422910" y="2679383"/>
                  </a:lnTo>
                  <a:lnTo>
                    <a:pt x="358140" y="2586990"/>
                  </a:lnTo>
                  <a:lnTo>
                    <a:pt x="300990" y="2494597"/>
                  </a:lnTo>
                  <a:lnTo>
                    <a:pt x="249555" y="2402205"/>
                  </a:lnTo>
                  <a:lnTo>
                    <a:pt x="204787" y="2309813"/>
                  </a:lnTo>
                  <a:lnTo>
                    <a:pt x="163830" y="2217420"/>
                  </a:lnTo>
                  <a:lnTo>
                    <a:pt x="128587" y="2125027"/>
                  </a:lnTo>
                  <a:lnTo>
                    <a:pt x="98107" y="2032635"/>
                  </a:lnTo>
                  <a:lnTo>
                    <a:pt x="71437" y="1940243"/>
                  </a:lnTo>
                  <a:lnTo>
                    <a:pt x="49530" y="1847850"/>
                  </a:lnTo>
                  <a:lnTo>
                    <a:pt x="31433" y="1755457"/>
                  </a:lnTo>
                  <a:lnTo>
                    <a:pt x="17145" y="1663065"/>
                  </a:lnTo>
                  <a:lnTo>
                    <a:pt x="7620" y="1570673"/>
                  </a:lnTo>
                  <a:lnTo>
                    <a:pt x="1905" y="1478280"/>
                  </a:lnTo>
                  <a:lnTo>
                    <a:pt x="0" y="1385887"/>
                  </a:lnTo>
                  <a:lnTo>
                    <a:pt x="1905" y="1293495"/>
                  </a:lnTo>
                  <a:lnTo>
                    <a:pt x="7620" y="1201103"/>
                  </a:lnTo>
                  <a:lnTo>
                    <a:pt x="17145" y="1108710"/>
                  </a:lnTo>
                  <a:lnTo>
                    <a:pt x="31433" y="1016317"/>
                  </a:lnTo>
                  <a:lnTo>
                    <a:pt x="49530" y="923925"/>
                  </a:lnTo>
                  <a:lnTo>
                    <a:pt x="71437" y="831533"/>
                  </a:lnTo>
                  <a:lnTo>
                    <a:pt x="98107" y="739140"/>
                  </a:lnTo>
                  <a:lnTo>
                    <a:pt x="128587" y="646747"/>
                  </a:lnTo>
                  <a:lnTo>
                    <a:pt x="163830" y="554355"/>
                  </a:lnTo>
                  <a:lnTo>
                    <a:pt x="204787" y="461963"/>
                  </a:lnTo>
                  <a:lnTo>
                    <a:pt x="249555" y="369570"/>
                  </a:lnTo>
                  <a:lnTo>
                    <a:pt x="300990" y="277177"/>
                  </a:lnTo>
                  <a:lnTo>
                    <a:pt x="358140" y="184785"/>
                  </a:lnTo>
                  <a:lnTo>
                    <a:pt x="422910" y="92393"/>
                  </a:lnTo>
                  <a:close/>
                </a:path>
              </a:pathLst>
            </a:custGeom>
            <a:solidFill>
              <a:srgbClr val="F6F6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banner-2-navy"/>
            <p:cNvSpPr/>
            <p:nvPr/>
          </p:nvSpPr>
          <p:spPr>
            <a:xfrm>
              <a:off x="19859625" y="7096125"/>
              <a:ext cx="2609850" cy="2771775"/>
            </a:xfrm>
            <a:custGeom>
              <a:avLst/>
              <a:gdLst/>
              <a:ahLst/>
              <a:cxnLst/>
              <a:rect l="l" t="t" r="r" b="b"/>
              <a:pathLst>
                <a:path w="2609850" h="2771775">
                  <a:moveTo>
                    <a:pt x="0" y="0"/>
                  </a:moveTo>
                  <a:lnTo>
                    <a:pt x="2609850" y="0"/>
                  </a:lnTo>
                  <a:lnTo>
                    <a:pt x="2537460" y="92393"/>
                  </a:lnTo>
                  <a:lnTo>
                    <a:pt x="2472690" y="184785"/>
                  </a:lnTo>
                  <a:lnTo>
                    <a:pt x="2415540" y="277177"/>
                  </a:lnTo>
                  <a:lnTo>
                    <a:pt x="2364105" y="369570"/>
                  </a:lnTo>
                  <a:lnTo>
                    <a:pt x="2319337" y="461963"/>
                  </a:lnTo>
                  <a:lnTo>
                    <a:pt x="2278380" y="554355"/>
                  </a:lnTo>
                  <a:lnTo>
                    <a:pt x="2243137" y="646747"/>
                  </a:lnTo>
                  <a:lnTo>
                    <a:pt x="2212657" y="739140"/>
                  </a:lnTo>
                  <a:lnTo>
                    <a:pt x="2185987" y="831533"/>
                  </a:lnTo>
                  <a:lnTo>
                    <a:pt x="2164080" y="923925"/>
                  </a:lnTo>
                  <a:lnTo>
                    <a:pt x="2145983" y="1016317"/>
                  </a:lnTo>
                  <a:lnTo>
                    <a:pt x="2131695" y="1108710"/>
                  </a:lnTo>
                  <a:lnTo>
                    <a:pt x="2122170" y="1201103"/>
                  </a:lnTo>
                  <a:lnTo>
                    <a:pt x="2116455" y="1293495"/>
                  </a:lnTo>
                  <a:lnTo>
                    <a:pt x="2114550" y="1385887"/>
                  </a:lnTo>
                  <a:lnTo>
                    <a:pt x="2116455" y="1478280"/>
                  </a:lnTo>
                  <a:lnTo>
                    <a:pt x="2122170" y="1570673"/>
                  </a:lnTo>
                  <a:lnTo>
                    <a:pt x="2131695" y="1663065"/>
                  </a:lnTo>
                  <a:lnTo>
                    <a:pt x="2145983" y="1755457"/>
                  </a:lnTo>
                  <a:lnTo>
                    <a:pt x="2164080" y="1847850"/>
                  </a:lnTo>
                  <a:lnTo>
                    <a:pt x="2185987" y="1940243"/>
                  </a:lnTo>
                  <a:lnTo>
                    <a:pt x="2212657" y="2032635"/>
                  </a:lnTo>
                  <a:lnTo>
                    <a:pt x="2243137" y="2125027"/>
                  </a:lnTo>
                  <a:lnTo>
                    <a:pt x="2278380" y="2217420"/>
                  </a:lnTo>
                  <a:lnTo>
                    <a:pt x="2319337" y="2309813"/>
                  </a:lnTo>
                  <a:lnTo>
                    <a:pt x="2364105" y="2402205"/>
                  </a:lnTo>
                  <a:lnTo>
                    <a:pt x="2415540" y="2494597"/>
                  </a:lnTo>
                  <a:lnTo>
                    <a:pt x="2472690" y="2586990"/>
                  </a:lnTo>
                  <a:lnTo>
                    <a:pt x="2537460" y="2679383"/>
                  </a:lnTo>
                  <a:lnTo>
                    <a:pt x="2609850" y="2771775"/>
                  </a:lnTo>
                  <a:lnTo>
                    <a:pt x="0" y="2771775"/>
                  </a:lnTo>
                  <a:close/>
                </a:path>
              </a:pathLst>
            </a:custGeom>
            <a:solidFill>
              <a:srgbClr val="1736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banner-2-label-1"/>
            <p:cNvSpPr txBox="1"/>
            <p:nvPr/>
          </p:nvSpPr>
          <p:spPr>
            <a:xfrm>
              <a:off x="20250150" y="7496175"/>
              <a:ext cx="1447800" cy="1047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4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财务</a:t>
              </a:r>
            </a:p>
          </p:txBody>
        </p:sp>
        <p:sp>
          <p:nvSpPr>
            <p:cNvPr id="29" name="banner-2-label-2"/>
            <p:cNvSpPr txBox="1"/>
            <p:nvPr/>
          </p:nvSpPr>
          <p:spPr>
            <a:xfrm>
              <a:off x="20250150" y="8420100"/>
              <a:ext cx="1447800" cy="1047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4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状态</a:t>
              </a:r>
            </a:p>
          </p:txBody>
        </p:sp>
        <p:sp>
          <p:nvSpPr>
            <p:cNvPr id="30" name="banner-2-title"/>
            <p:cNvSpPr txBox="1"/>
            <p:nvPr/>
          </p:nvSpPr>
          <p:spPr>
            <a:xfrm>
              <a:off x="23656671" y="7324725"/>
              <a:ext cx="3645408" cy="13239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900" b="1" i="0">
                  <a:solidFill>
                    <a:srgbClr val="171717"/>
                  </a:solidFill>
                  <a:latin typeface="Microsoft YaHei"/>
                  <a:ea typeface="Microsoft YaHei"/>
                  <a:cs typeface="Microsoft YaHei"/>
                </a:rPr>
                <a:t>财务健康</a:t>
              </a:r>
            </a:p>
          </p:txBody>
        </p:sp>
        <p:sp>
          <p:nvSpPr>
            <p:cNvPr id="31" name="banner-2-desc1"/>
            <p:cNvSpPr txBox="1"/>
            <p:nvPr/>
          </p:nvSpPr>
          <p:spPr>
            <a:xfrm>
              <a:off x="23336250" y="8448675"/>
              <a:ext cx="4286250" cy="6191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75" b="0" i="0">
                  <a:solidFill>
                    <a:srgbClr val="171717"/>
                  </a:solidFill>
                  <a:latin typeface="Microsoft YaHei"/>
                  <a:ea typeface="Microsoft YaHei"/>
                  <a:cs typeface="Microsoft YaHei"/>
                </a:rPr>
                <a:t>预测偏差低于预算 2%资</a:t>
              </a:r>
            </a:p>
          </p:txBody>
        </p:sp>
        <p:sp>
          <p:nvSpPr>
            <p:cNvPr id="32" name="banner-2-desc2"/>
            <p:cNvSpPr txBox="1"/>
            <p:nvPr/>
          </p:nvSpPr>
          <p:spPr>
            <a:xfrm>
              <a:off x="23631525" y="9001125"/>
              <a:ext cx="3676650" cy="6381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150" b="0" i="0">
                  <a:solidFill>
                    <a:srgbClr val="171717"/>
                  </a:solidFill>
                  <a:latin typeface="Microsoft YaHei"/>
                  <a:ea typeface="Microsoft YaHei"/>
                  <a:cs typeface="Microsoft YaHei"/>
                </a:rPr>
                <a:t>金使用符合预期计划</a:t>
              </a:r>
            </a:p>
          </p:txBody>
        </p:sp>
      </p:grpSp>
      <p:grpSp>
        <p:nvGrpSpPr>
          <p:cNvPr id="52" name="kpi-tiles"/>
          <p:cNvGrpSpPr/>
          <p:nvPr/>
        </p:nvGrpSpPr>
        <p:grpSpPr>
          <a:xfrm>
            <a:off x="19850100" y="10401300"/>
            <a:ext cx="9163050" cy="4867275"/>
            <a:chOff x="19850100" y="10401300"/>
            <a:chExt cx="9163050" cy="4867275"/>
          </a:xfrm>
        </p:grpSpPr>
        <p:sp>
          <p:nvSpPr>
            <p:cNvPr id="33" name="tile-1-bg"/>
            <p:cNvSpPr/>
            <p:nvPr/>
          </p:nvSpPr>
          <p:spPr>
            <a:xfrm>
              <a:off x="19850100" y="10401300"/>
              <a:ext cx="4324350" cy="2171700"/>
            </a:xfrm>
            <a:prstGeom prst="rect">
              <a:avLst/>
            </a:prstGeom>
            <a:solidFill>
              <a:srgbClr val="E9EFFB"/>
            </a:solidFill>
            <a:ln w="19050">
              <a:solidFill>
                <a:srgbClr val="7FA7D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ile-1-num"/>
            <p:cNvSpPr txBox="1"/>
            <p:nvPr/>
          </p:nvSpPr>
          <p:spPr>
            <a:xfrm>
              <a:off x="20574000" y="10668000"/>
              <a:ext cx="2933700" cy="1066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47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1000000</a:t>
              </a:r>
            </a:p>
          </p:txBody>
        </p:sp>
        <p:sp>
          <p:nvSpPr>
            <p:cNvPr id="35" name="tile-1-cap"/>
            <p:cNvSpPr txBox="1"/>
            <p:nvPr/>
          </p:nvSpPr>
          <p:spPr>
            <a:xfrm>
              <a:off x="20574000" y="11649075"/>
              <a:ext cx="2943225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2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项目总预算金额</a:t>
              </a:r>
            </a:p>
          </p:txBody>
        </p:sp>
        <p:sp>
          <p:nvSpPr>
            <p:cNvPr id="36" name="tile-2-bg"/>
            <p:cNvSpPr/>
            <p:nvPr/>
          </p:nvSpPr>
          <p:spPr>
            <a:xfrm>
              <a:off x="24688800" y="10401300"/>
              <a:ext cx="4324350" cy="2171700"/>
            </a:xfrm>
            <a:prstGeom prst="rect">
              <a:avLst/>
            </a:prstGeom>
            <a:solidFill>
              <a:srgbClr val="E9EFFB"/>
            </a:solidFill>
            <a:ln w="19050">
              <a:solidFill>
                <a:srgbClr val="7FA7D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ile-2-num"/>
            <p:cNvSpPr txBox="1"/>
            <p:nvPr/>
          </p:nvSpPr>
          <p:spPr>
            <a:xfrm>
              <a:off x="25622250" y="10668000"/>
              <a:ext cx="2524125" cy="1066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47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450000</a:t>
              </a:r>
            </a:p>
          </p:txBody>
        </p:sp>
        <p:sp>
          <p:nvSpPr>
            <p:cNvPr id="38" name="tile-2-cap"/>
            <p:cNvSpPr txBox="1"/>
            <p:nvPr/>
          </p:nvSpPr>
          <p:spPr>
            <a:xfrm>
              <a:off x="25612725" y="11649075"/>
              <a:ext cx="253365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2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当前累计支出</a:t>
              </a:r>
            </a:p>
          </p:txBody>
        </p:sp>
        <p:sp>
          <p:nvSpPr>
            <p:cNvPr id="39" name="tile-3-bg"/>
            <p:cNvSpPr/>
            <p:nvPr/>
          </p:nvSpPr>
          <p:spPr>
            <a:xfrm>
              <a:off x="19850100" y="13096875"/>
              <a:ext cx="4324350" cy="2171700"/>
            </a:xfrm>
            <a:prstGeom prst="rect">
              <a:avLst/>
            </a:prstGeom>
            <a:solidFill>
              <a:srgbClr val="E9EFFB"/>
            </a:solidFill>
            <a:ln w="19050">
              <a:solidFill>
                <a:srgbClr val="7FA7D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ile-3-num"/>
            <p:cNvSpPr txBox="1"/>
            <p:nvPr/>
          </p:nvSpPr>
          <p:spPr>
            <a:xfrm>
              <a:off x="21297900" y="13373100"/>
              <a:ext cx="1485900" cy="1047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4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45%</a:t>
              </a:r>
            </a:p>
          </p:txBody>
        </p:sp>
        <p:sp>
          <p:nvSpPr>
            <p:cNvPr id="41" name="tile-3-cap"/>
            <p:cNvSpPr txBox="1"/>
            <p:nvPr/>
          </p:nvSpPr>
          <p:spPr>
            <a:xfrm>
              <a:off x="20574000" y="14344650"/>
              <a:ext cx="2943225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2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预算执行完成率</a:t>
              </a:r>
            </a:p>
          </p:txBody>
        </p:sp>
        <p:sp>
          <p:nvSpPr>
            <p:cNvPr id="42" name="tile-4-bg"/>
            <p:cNvSpPr/>
            <p:nvPr/>
          </p:nvSpPr>
          <p:spPr>
            <a:xfrm>
              <a:off x="24688800" y="13096875"/>
              <a:ext cx="4324350" cy="2171700"/>
            </a:xfrm>
            <a:prstGeom prst="rect">
              <a:avLst/>
            </a:prstGeom>
            <a:solidFill>
              <a:srgbClr val="E9EFFB"/>
            </a:solidFill>
            <a:ln w="19050">
              <a:solidFill>
                <a:srgbClr val="7FA7D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ile-4-num"/>
            <p:cNvSpPr txBox="1"/>
            <p:nvPr/>
          </p:nvSpPr>
          <p:spPr>
            <a:xfrm>
              <a:off x="26136600" y="13373100"/>
              <a:ext cx="1485900" cy="1047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4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40%</a:t>
              </a:r>
            </a:p>
          </p:txBody>
        </p:sp>
        <p:sp>
          <p:nvSpPr>
            <p:cNvPr id="44" name="tile-4-cap"/>
            <p:cNvSpPr txBox="1"/>
            <p:nvPr/>
          </p:nvSpPr>
          <p:spPr>
            <a:xfrm>
              <a:off x="25203150" y="14344650"/>
              <a:ext cx="3352800" cy="647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2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项目整体时间进度</a:t>
              </a:r>
            </a:p>
          </p:txBody>
        </p:sp>
      </p:grpSp>
      <p:grpSp>
        <p:nvGrpSpPr>
          <p:cNvPr id="53" name="insight"/>
          <p:cNvGrpSpPr/>
          <p:nvPr/>
        </p:nvGrpSpPr>
        <p:grpSpPr>
          <a:xfrm>
            <a:off x="1609725" y="13277850"/>
            <a:ext cx="17735550" cy="1990725"/>
            <a:chOff x="1609725" y="13277850"/>
            <a:chExt cx="17735550" cy="1990725"/>
          </a:xfrm>
        </p:grpSpPr>
        <p:sp>
          <p:nvSpPr>
            <p:cNvPr id="45" name="insight-bg"/>
            <p:cNvSpPr/>
            <p:nvPr/>
          </p:nvSpPr>
          <p:spPr>
            <a:xfrm>
              <a:off x="1609725" y="13277850"/>
              <a:ext cx="17735550" cy="1990725"/>
            </a:xfrm>
            <a:prstGeom prst="rect">
              <a:avLst/>
            </a:prstGeom>
            <a:solidFill>
              <a:srgbClr val="E9EFFB"/>
            </a:solidFill>
            <a:ln w="19050">
              <a:solidFill>
                <a:srgbClr val="3A76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insight-icon-body"/>
            <p:cNvSpPr/>
            <p:nvPr/>
          </p:nvSpPr>
          <p:spPr>
            <a:xfrm>
              <a:off x="2171700" y="13754100"/>
              <a:ext cx="704850" cy="742950"/>
            </a:xfrm>
            <a:prstGeom prst="roundRect">
              <a:avLst>
                <a:gd name="adj" fmla="val 12162"/>
              </a:avLst>
            </a:prstGeom>
            <a:noFill/>
            <a:ln w="28575">
              <a:solidFill>
                <a:srgbClr val="1E3A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2370296" y="13935075"/>
              <a:ext cx="307658" cy="294703"/>
            </a:xfrm>
            <a:custGeom>
              <a:avLst/>
              <a:gdLst/>
              <a:ahLst/>
              <a:cxnLst/>
              <a:rect l="l" t="t" r="r" b="b"/>
              <a:pathLst>
                <a:path w="307658" h="294703">
                  <a:moveTo>
                    <a:pt x="153829" y="0"/>
                  </a:moveTo>
                  <a:lnTo>
                    <a:pt x="192691" y="110109"/>
                  </a:lnTo>
                  <a:lnTo>
                    <a:pt x="307658" y="110109"/>
                  </a:lnTo>
                  <a:lnTo>
                    <a:pt x="215360" y="181356"/>
                  </a:lnTo>
                  <a:lnTo>
                    <a:pt x="247746" y="294703"/>
                  </a:lnTo>
                  <a:lnTo>
                    <a:pt x="153829" y="223457"/>
                  </a:lnTo>
                  <a:lnTo>
                    <a:pt x="59912" y="294703"/>
                  </a:lnTo>
                  <a:lnTo>
                    <a:pt x="92298" y="181356"/>
                  </a:lnTo>
                  <a:lnTo>
                    <a:pt x="0" y="110109"/>
                  </a:lnTo>
                  <a:lnTo>
                    <a:pt x="114967" y="110109"/>
                  </a:lnTo>
                  <a:close/>
                </a:path>
              </a:pathLst>
            </a:custGeom>
            <a:solidFill>
              <a:srgbClr val="1E3A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8" name="insight-icon-bar"/>
            <p:cNvCxnSpPr/>
            <p:nvPr/>
          </p:nvCxnSpPr>
          <p:spPr>
            <a:xfrm>
              <a:off x="2371725" y="14363700"/>
              <a:ext cx="304800" cy="0"/>
            </a:xfrm>
            <a:prstGeom prst="line">
              <a:avLst/>
            </a:prstGeom>
            <a:ln w="38100">
              <a:solidFill>
                <a:srgbClr val="1E3A6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insight-line-1"/>
            <p:cNvSpPr txBox="1"/>
            <p:nvPr/>
          </p:nvSpPr>
          <p:spPr>
            <a:xfrm>
              <a:off x="3514725" y="13535025"/>
              <a:ext cx="15301912" cy="7810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37" b="0" i="0">
                  <a:solidFill>
                    <a:srgbClr val="171717"/>
                  </a:solidFill>
                  <a:latin typeface="Microsoft YaHei"/>
                  <a:ea typeface="Microsoft YaHei"/>
                  <a:cs typeface="Microsoft YaHei"/>
                </a:rPr>
                <a:t>核心洞察：人力成本占比最高，需重点关注后续外包服务的预算审批</a:t>
              </a:r>
            </a:p>
          </p:txBody>
        </p:sp>
        <p:sp>
          <p:nvSpPr>
            <p:cNvPr id="50" name="insight-line-2"/>
            <p:cNvSpPr txBox="1"/>
            <p:nvPr/>
          </p:nvSpPr>
          <p:spPr>
            <a:xfrm>
              <a:off x="3514725" y="14211300"/>
              <a:ext cx="8671084" cy="7810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37" b="0" i="0">
                  <a:solidFill>
                    <a:srgbClr val="171717"/>
                  </a:solidFill>
                  <a:latin typeface="Microsoft YaHei"/>
                  <a:ea typeface="Microsoft YaHei"/>
                  <a:cs typeface="Microsoft YaHei"/>
                </a:rPr>
                <a:t>流程，确保项目整体资金使用安全可控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