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-ico-back"/>
          <p:cNvSpPr/>
          <p:nvPr/>
        </p:nvSpPr>
        <p:spPr>
          <a:xfrm>
            <a:off x="1619250" y="1476375"/>
            <a:ext cx="1143000" cy="114300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-ico-front"/>
          <p:cNvSpPr/>
          <p:nvPr/>
        </p:nvSpPr>
        <p:spPr>
          <a:xfrm>
            <a:off x="2381250" y="2095500"/>
            <a:ext cx="666750" cy="666750"/>
          </a:xfrm>
          <a:prstGeom prst="rect">
            <a:avLst/>
          </a:pr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3514725" y="1552575"/>
            <a:ext cx="7429500" cy="1238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900" b="1" i="0">
                <a:solidFill>
                  <a:srgbClr val="173679"/>
                </a:solidFill>
                <a:latin typeface="Microsoft YaHei"/>
                <a:ea typeface="Microsoft YaHei"/>
                <a:cs typeface="Microsoft YaHei"/>
              </a:rPr>
              <a:t>关键任务完成情况</a:t>
            </a:r>
          </a:p>
        </p:txBody>
      </p:sp>
      <p:grpSp>
        <p:nvGrpSpPr>
          <p:cNvPr id="56" name="node-tl"/>
          <p:cNvGrpSpPr/>
          <p:nvPr/>
        </p:nvGrpSpPr>
        <p:grpSpPr>
          <a:xfrm>
            <a:off x="2057400" y="4305300"/>
            <a:ext cx="9229725" cy="3448050"/>
            <a:chOff x="2057400" y="4305300"/>
            <a:chExt cx="9229725" cy="3448050"/>
          </a:xfrm>
        </p:grpSpPr>
        <p:sp>
          <p:nvSpPr>
            <p:cNvPr id="6" name="node-tl-pill"/>
            <p:cNvSpPr/>
            <p:nvPr/>
          </p:nvSpPr>
          <p:spPr>
            <a:xfrm>
              <a:off x="2057400" y="4305300"/>
              <a:ext cx="9229725" cy="3448050"/>
            </a:xfrm>
            <a:prstGeom prst="roundRect">
              <a:avLst>
                <a:gd name="adj" fmla="val 50000"/>
              </a:avLst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node-tl-ring"/>
            <p:cNvSpPr/>
            <p:nvPr/>
          </p:nvSpPr>
          <p:spPr>
            <a:xfrm>
              <a:off x="7981950" y="4457700"/>
              <a:ext cx="3143250" cy="3143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node-tl-core"/>
            <p:cNvSpPr/>
            <p:nvPr/>
          </p:nvSpPr>
          <p:spPr>
            <a:xfrm>
              <a:off x="8477250" y="4953000"/>
              <a:ext cx="2152650" cy="2152650"/>
            </a:xfrm>
            <a:prstGeom prst="ellipse">
              <a:avLst/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node-tl-pct"/>
            <p:cNvSpPr txBox="1"/>
            <p:nvPr/>
          </p:nvSpPr>
          <p:spPr>
            <a:xfrm>
              <a:off x="8553450" y="5534025"/>
              <a:ext cx="2000250" cy="990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100%</a:t>
              </a:r>
            </a:p>
          </p:txBody>
        </p:sp>
        <p:sp>
          <p:nvSpPr>
            <p:cNvPr id="10" name="node-tl-status"/>
            <p:cNvSpPr txBox="1"/>
            <p:nvPr/>
          </p:nvSpPr>
          <p:spPr>
            <a:xfrm>
              <a:off x="6067425" y="4533900"/>
              <a:ext cx="180975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已完成</a:t>
              </a:r>
            </a:p>
          </p:txBody>
        </p:sp>
        <p:sp>
          <p:nvSpPr>
            <p:cNvPr id="11" name="node-tl-body-1"/>
            <p:cNvSpPr txBox="1"/>
            <p:nvPr/>
          </p:nvSpPr>
          <p:spPr>
            <a:xfrm>
              <a:off x="2857500" y="5534025"/>
              <a:ext cx="5129784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完成了用户个人中心页面</a:t>
              </a:r>
            </a:p>
          </p:txBody>
        </p:sp>
        <p:sp>
          <p:nvSpPr>
            <p:cNvPr id="12" name="node-tl-body-2"/>
            <p:cNvSpPr txBox="1"/>
            <p:nvPr/>
          </p:nvSpPr>
          <p:spPr>
            <a:xfrm>
              <a:off x="2857500" y="6124575"/>
              <a:ext cx="5297668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的 UI/UX 设计稿 V2.0 版</a:t>
              </a:r>
            </a:p>
          </p:txBody>
        </p:sp>
        <p:sp>
          <p:nvSpPr>
            <p:cNvPr id="13" name="node-tl-body-3"/>
            <p:cNvSpPr txBox="1"/>
            <p:nvPr/>
          </p:nvSpPr>
          <p:spPr>
            <a:xfrm>
              <a:off x="2857500" y="6705600"/>
              <a:ext cx="5129784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本，并顺利通过内部评审</a:t>
              </a:r>
            </a:p>
          </p:txBody>
        </p:sp>
      </p:grpSp>
      <p:grpSp>
        <p:nvGrpSpPr>
          <p:cNvPr id="57" name="node-tr"/>
          <p:cNvGrpSpPr/>
          <p:nvPr/>
        </p:nvGrpSpPr>
        <p:grpSpPr>
          <a:xfrm>
            <a:off x="19173825" y="4333875"/>
            <a:ext cx="9191625" cy="3448050"/>
            <a:chOff x="19173825" y="4333875"/>
            <a:chExt cx="9191625" cy="3448050"/>
          </a:xfrm>
        </p:grpSpPr>
        <p:sp>
          <p:nvSpPr>
            <p:cNvPr id="14" name="node-tr-pill"/>
            <p:cNvSpPr/>
            <p:nvPr/>
          </p:nvSpPr>
          <p:spPr>
            <a:xfrm>
              <a:off x="19173825" y="4333875"/>
              <a:ext cx="9191625" cy="3448050"/>
            </a:xfrm>
            <a:prstGeom prst="roundRect">
              <a:avLst>
                <a:gd name="adj" fmla="val 50000"/>
              </a:avLst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node-tr-ring"/>
            <p:cNvSpPr/>
            <p:nvPr/>
          </p:nvSpPr>
          <p:spPr>
            <a:xfrm>
              <a:off x="19373850" y="4486275"/>
              <a:ext cx="3143250" cy="3143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node-tr-core"/>
            <p:cNvSpPr/>
            <p:nvPr/>
          </p:nvSpPr>
          <p:spPr>
            <a:xfrm>
              <a:off x="19869150" y="4981575"/>
              <a:ext cx="2152650" cy="2152650"/>
            </a:xfrm>
            <a:prstGeom prst="ellipse">
              <a:avLst/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node-tr-pct"/>
            <p:cNvSpPr txBox="1"/>
            <p:nvPr/>
          </p:nvSpPr>
          <p:spPr>
            <a:xfrm>
              <a:off x="19945350" y="5562600"/>
              <a:ext cx="2000250" cy="990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100%</a:t>
              </a:r>
            </a:p>
          </p:txBody>
        </p:sp>
        <p:sp>
          <p:nvSpPr>
            <p:cNvPr id="18" name="node-tr-status"/>
            <p:cNvSpPr txBox="1"/>
            <p:nvPr/>
          </p:nvSpPr>
          <p:spPr>
            <a:xfrm>
              <a:off x="22688550" y="4533900"/>
              <a:ext cx="180975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已完成</a:t>
              </a:r>
            </a:p>
          </p:txBody>
        </p:sp>
        <p:sp>
          <p:nvSpPr>
            <p:cNvPr id="19" name="node-tr-body-1"/>
            <p:cNvSpPr txBox="1"/>
            <p:nvPr/>
          </p:nvSpPr>
          <p:spPr>
            <a:xfrm>
              <a:off x="22707600" y="5486400"/>
              <a:ext cx="5476875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完成了用户认证服务模块</a:t>
              </a:r>
            </a:p>
          </p:txBody>
        </p:sp>
        <p:sp>
          <p:nvSpPr>
            <p:cNvPr id="20" name="node-tr-body-2"/>
            <p:cNvSpPr txBox="1"/>
            <p:nvPr/>
          </p:nvSpPr>
          <p:spPr>
            <a:xfrm>
              <a:off x="22707600" y="6086475"/>
              <a:ext cx="5476875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的核心开发和单元测试</a:t>
              </a:r>
            </a:p>
          </p:txBody>
        </p:sp>
      </p:grpSp>
      <p:grpSp>
        <p:nvGrpSpPr>
          <p:cNvPr id="55" name="node-bl"/>
          <p:cNvGrpSpPr/>
          <p:nvPr/>
        </p:nvGrpSpPr>
        <p:grpSpPr>
          <a:xfrm>
            <a:off x="2057400" y="9772650"/>
            <a:ext cx="9239250" cy="3448050"/>
            <a:chOff x="2057400" y="9772650"/>
            <a:chExt cx="9239250" cy="3448050"/>
          </a:xfrm>
        </p:grpSpPr>
        <p:sp>
          <p:nvSpPr>
            <p:cNvPr id="21" name="node-bl-pill"/>
            <p:cNvSpPr/>
            <p:nvPr/>
          </p:nvSpPr>
          <p:spPr>
            <a:xfrm>
              <a:off x="2057400" y="9772650"/>
              <a:ext cx="9239250" cy="3448050"/>
            </a:xfrm>
            <a:prstGeom prst="roundRect">
              <a:avLst>
                <a:gd name="adj" fmla="val 50000"/>
              </a:avLst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node-bl-ring"/>
            <p:cNvSpPr/>
            <p:nvPr/>
          </p:nvSpPr>
          <p:spPr>
            <a:xfrm>
              <a:off x="7981950" y="9925050"/>
              <a:ext cx="3143250" cy="3143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node-bl-core"/>
            <p:cNvSpPr/>
            <p:nvPr/>
          </p:nvSpPr>
          <p:spPr>
            <a:xfrm>
              <a:off x="8477250" y="10420350"/>
              <a:ext cx="2152650" cy="2152650"/>
            </a:xfrm>
            <a:prstGeom prst="ellipse">
              <a:avLst/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node-bl-arc"/>
            <p:cNvSpPr/>
            <p:nvPr/>
          </p:nvSpPr>
          <p:spPr>
            <a:xfrm>
              <a:off x="7981950" y="9926002"/>
              <a:ext cx="3143250" cy="3141346"/>
            </a:xfrm>
            <a:custGeom>
              <a:avLst/>
              <a:gdLst/>
              <a:ahLst/>
              <a:cxnLst/>
              <a:rect l="l" t="t" r="r" b="b"/>
              <a:pathLst>
                <a:path w="3143250" h="3141346">
                  <a:moveTo>
                    <a:pt x="0" y="1570673"/>
                  </a:moveTo>
                  <a:lnTo>
                    <a:pt x="3810" y="1461136"/>
                  </a:lnTo>
                  <a:lnTo>
                    <a:pt x="15240" y="1351598"/>
                  </a:lnTo>
                  <a:lnTo>
                    <a:pt x="34290" y="1243966"/>
                  </a:lnTo>
                  <a:lnTo>
                    <a:pt x="60960" y="1137286"/>
                  </a:lnTo>
                  <a:lnTo>
                    <a:pt x="95250" y="1033463"/>
                  </a:lnTo>
                  <a:lnTo>
                    <a:pt x="136208" y="931546"/>
                  </a:lnTo>
                  <a:lnTo>
                    <a:pt x="183832" y="832486"/>
                  </a:lnTo>
                  <a:lnTo>
                    <a:pt x="239078" y="738188"/>
                  </a:lnTo>
                  <a:lnTo>
                    <a:pt x="300038" y="646748"/>
                  </a:lnTo>
                  <a:lnTo>
                    <a:pt x="367665" y="560070"/>
                  </a:lnTo>
                  <a:lnTo>
                    <a:pt x="441008" y="479108"/>
                  </a:lnTo>
                  <a:lnTo>
                    <a:pt x="520065" y="402908"/>
                  </a:lnTo>
                  <a:lnTo>
                    <a:pt x="603885" y="332423"/>
                  </a:lnTo>
                  <a:lnTo>
                    <a:pt x="692468" y="267653"/>
                  </a:lnTo>
                  <a:lnTo>
                    <a:pt x="785812" y="209550"/>
                  </a:lnTo>
                  <a:lnTo>
                    <a:pt x="882968" y="158116"/>
                  </a:lnTo>
                  <a:lnTo>
                    <a:pt x="982980" y="113348"/>
                  </a:lnTo>
                  <a:lnTo>
                    <a:pt x="1085850" y="76200"/>
                  </a:lnTo>
                  <a:lnTo>
                    <a:pt x="1191578" y="45720"/>
                  </a:lnTo>
                  <a:lnTo>
                    <a:pt x="1298258" y="22860"/>
                  </a:lnTo>
                  <a:lnTo>
                    <a:pt x="1407795" y="7620"/>
                  </a:lnTo>
                  <a:lnTo>
                    <a:pt x="1516380" y="0"/>
                  </a:lnTo>
                  <a:lnTo>
                    <a:pt x="1626870" y="0"/>
                  </a:lnTo>
                  <a:lnTo>
                    <a:pt x="1735455" y="7620"/>
                  </a:lnTo>
                  <a:lnTo>
                    <a:pt x="1844992" y="22860"/>
                  </a:lnTo>
                  <a:lnTo>
                    <a:pt x="1951672" y="45720"/>
                  </a:lnTo>
                  <a:lnTo>
                    <a:pt x="2057400" y="76200"/>
                  </a:lnTo>
                  <a:lnTo>
                    <a:pt x="2160270" y="113348"/>
                  </a:lnTo>
                  <a:lnTo>
                    <a:pt x="2260282" y="158116"/>
                  </a:lnTo>
                  <a:lnTo>
                    <a:pt x="2357438" y="209550"/>
                  </a:lnTo>
                  <a:lnTo>
                    <a:pt x="2450782" y="267653"/>
                  </a:lnTo>
                  <a:lnTo>
                    <a:pt x="2539365" y="332423"/>
                  </a:lnTo>
                  <a:lnTo>
                    <a:pt x="2623185" y="402908"/>
                  </a:lnTo>
                  <a:lnTo>
                    <a:pt x="2702242" y="479108"/>
                  </a:lnTo>
                  <a:lnTo>
                    <a:pt x="2775585" y="560070"/>
                  </a:lnTo>
                  <a:lnTo>
                    <a:pt x="2843212" y="646748"/>
                  </a:lnTo>
                  <a:lnTo>
                    <a:pt x="2904172" y="738188"/>
                  </a:lnTo>
                  <a:lnTo>
                    <a:pt x="2959418" y="832486"/>
                  </a:lnTo>
                  <a:lnTo>
                    <a:pt x="3007042" y="931546"/>
                  </a:lnTo>
                  <a:lnTo>
                    <a:pt x="3048000" y="1033463"/>
                  </a:lnTo>
                  <a:lnTo>
                    <a:pt x="3082290" y="1137286"/>
                  </a:lnTo>
                  <a:lnTo>
                    <a:pt x="3108960" y="1243966"/>
                  </a:lnTo>
                  <a:lnTo>
                    <a:pt x="3128010" y="1351598"/>
                  </a:lnTo>
                  <a:lnTo>
                    <a:pt x="3139440" y="1461136"/>
                  </a:lnTo>
                  <a:lnTo>
                    <a:pt x="3143250" y="1570673"/>
                  </a:lnTo>
                  <a:lnTo>
                    <a:pt x="3139440" y="1680210"/>
                  </a:lnTo>
                  <a:lnTo>
                    <a:pt x="3128010" y="1789748"/>
                  </a:lnTo>
                  <a:lnTo>
                    <a:pt x="3108960" y="1897380"/>
                  </a:lnTo>
                  <a:lnTo>
                    <a:pt x="3082290" y="2004060"/>
                  </a:lnTo>
                  <a:lnTo>
                    <a:pt x="3048000" y="2107883"/>
                  </a:lnTo>
                  <a:lnTo>
                    <a:pt x="3007042" y="2209800"/>
                  </a:lnTo>
                  <a:lnTo>
                    <a:pt x="2959418" y="2308860"/>
                  </a:lnTo>
                  <a:lnTo>
                    <a:pt x="2904172" y="2403158"/>
                  </a:lnTo>
                  <a:lnTo>
                    <a:pt x="2843212" y="2494598"/>
                  </a:lnTo>
                  <a:lnTo>
                    <a:pt x="2775585" y="2581276"/>
                  </a:lnTo>
                  <a:lnTo>
                    <a:pt x="2702242" y="2662238"/>
                  </a:lnTo>
                  <a:lnTo>
                    <a:pt x="2623185" y="2738438"/>
                  </a:lnTo>
                  <a:lnTo>
                    <a:pt x="2539365" y="2808923"/>
                  </a:lnTo>
                  <a:lnTo>
                    <a:pt x="2450782" y="2873693"/>
                  </a:lnTo>
                  <a:lnTo>
                    <a:pt x="2357438" y="2931796"/>
                  </a:lnTo>
                  <a:lnTo>
                    <a:pt x="2260282" y="2983230"/>
                  </a:lnTo>
                  <a:lnTo>
                    <a:pt x="2160270" y="3027998"/>
                  </a:lnTo>
                  <a:lnTo>
                    <a:pt x="2057400" y="3065146"/>
                  </a:lnTo>
                  <a:lnTo>
                    <a:pt x="1951672" y="3095626"/>
                  </a:lnTo>
                  <a:lnTo>
                    <a:pt x="1844992" y="3118486"/>
                  </a:lnTo>
                  <a:lnTo>
                    <a:pt x="1735455" y="3133726"/>
                  </a:lnTo>
                  <a:lnTo>
                    <a:pt x="1626870" y="3141346"/>
                  </a:lnTo>
                  <a:lnTo>
                    <a:pt x="1516380" y="3141346"/>
                  </a:lnTo>
                  <a:lnTo>
                    <a:pt x="1407795" y="3133726"/>
                  </a:lnTo>
                  <a:lnTo>
                    <a:pt x="1298258" y="3118486"/>
                  </a:lnTo>
                  <a:lnTo>
                    <a:pt x="1191578" y="3095626"/>
                  </a:lnTo>
                  <a:lnTo>
                    <a:pt x="1085850" y="3065146"/>
                  </a:lnTo>
                  <a:lnTo>
                    <a:pt x="1239202" y="2594610"/>
                  </a:lnTo>
                  <a:lnTo>
                    <a:pt x="1311592" y="2614613"/>
                  </a:lnTo>
                  <a:lnTo>
                    <a:pt x="1384935" y="2630806"/>
                  </a:lnTo>
                  <a:lnTo>
                    <a:pt x="1459230" y="2641283"/>
                  </a:lnTo>
                  <a:lnTo>
                    <a:pt x="1534478" y="2646046"/>
                  </a:lnTo>
                  <a:lnTo>
                    <a:pt x="1608772" y="2646046"/>
                  </a:lnTo>
                  <a:lnTo>
                    <a:pt x="1684020" y="2641283"/>
                  </a:lnTo>
                  <a:lnTo>
                    <a:pt x="1758315" y="2630806"/>
                  </a:lnTo>
                  <a:lnTo>
                    <a:pt x="1831658" y="2614613"/>
                  </a:lnTo>
                  <a:lnTo>
                    <a:pt x="1904048" y="2594610"/>
                  </a:lnTo>
                  <a:lnTo>
                    <a:pt x="1974532" y="2568893"/>
                  </a:lnTo>
                  <a:lnTo>
                    <a:pt x="2043112" y="2538413"/>
                  </a:lnTo>
                  <a:lnTo>
                    <a:pt x="2109788" y="2503170"/>
                  </a:lnTo>
                  <a:lnTo>
                    <a:pt x="2173605" y="2463166"/>
                  </a:lnTo>
                  <a:lnTo>
                    <a:pt x="2234565" y="2418398"/>
                  </a:lnTo>
                  <a:lnTo>
                    <a:pt x="2291715" y="2370773"/>
                  </a:lnTo>
                  <a:lnTo>
                    <a:pt x="2346008" y="2318386"/>
                  </a:lnTo>
                  <a:lnTo>
                    <a:pt x="2396490" y="2262188"/>
                  </a:lnTo>
                  <a:lnTo>
                    <a:pt x="2442210" y="2203133"/>
                  </a:lnTo>
                  <a:lnTo>
                    <a:pt x="2484120" y="2141220"/>
                  </a:lnTo>
                  <a:lnTo>
                    <a:pt x="2522220" y="2076450"/>
                  </a:lnTo>
                  <a:lnTo>
                    <a:pt x="2554605" y="2008823"/>
                  </a:lnTo>
                  <a:lnTo>
                    <a:pt x="2583180" y="1938338"/>
                  </a:lnTo>
                  <a:lnTo>
                    <a:pt x="2606040" y="1866900"/>
                  </a:lnTo>
                  <a:lnTo>
                    <a:pt x="2624138" y="1794510"/>
                  </a:lnTo>
                  <a:lnTo>
                    <a:pt x="2637472" y="1720216"/>
                  </a:lnTo>
                  <a:lnTo>
                    <a:pt x="2645092" y="1645920"/>
                  </a:lnTo>
                  <a:lnTo>
                    <a:pt x="2647950" y="1570673"/>
                  </a:lnTo>
                  <a:lnTo>
                    <a:pt x="2645092" y="1495426"/>
                  </a:lnTo>
                  <a:lnTo>
                    <a:pt x="2637472" y="1421130"/>
                  </a:lnTo>
                  <a:lnTo>
                    <a:pt x="2624138" y="1346836"/>
                  </a:lnTo>
                  <a:lnTo>
                    <a:pt x="2606040" y="1274446"/>
                  </a:lnTo>
                  <a:lnTo>
                    <a:pt x="2583180" y="1203008"/>
                  </a:lnTo>
                  <a:lnTo>
                    <a:pt x="2554605" y="1132523"/>
                  </a:lnTo>
                  <a:lnTo>
                    <a:pt x="2522220" y="1064896"/>
                  </a:lnTo>
                  <a:lnTo>
                    <a:pt x="2484120" y="1000126"/>
                  </a:lnTo>
                  <a:lnTo>
                    <a:pt x="2442210" y="938213"/>
                  </a:lnTo>
                  <a:lnTo>
                    <a:pt x="2396490" y="879158"/>
                  </a:lnTo>
                  <a:lnTo>
                    <a:pt x="2346008" y="822960"/>
                  </a:lnTo>
                  <a:lnTo>
                    <a:pt x="2291715" y="770573"/>
                  </a:lnTo>
                  <a:lnTo>
                    <a:pt x="2234565" y="722948"/>
                  </a:lnTo>
                  <a:lnTo>
                    <a:pt x="2173605" y="678180"/>
                  </a:lnTo>
                  <a:lnTo>
                    <a:pt x="2109788" y="638176"/>
                  </a:lnTo>
                  <a:lnTo>
                    <a:pt x="2043112" y="602933"/>
                  </a:lnTo>
                  <a:lnTo>
                    <a:pt x="1974532" y="572453"/>
                  </a:lnTo>
                  <a:lnTo>
                    <a:pt x="1904048" y="546736"/>
                  </a:lnTo>
                  <a:lnTo>
                    <a:pt x="1831658" y="526733"/>
                  </a:lnTo>
                  <a:lnTo>
                    <a:pt x="1758315" y="510540"/>
                  </a:lnTo>
                  <a:lnTo>
                    <a:pt x="1684020" y="500063"/>
                  </a:lnTo>
                  <a:lnTo>
                    <a:pt x="1608772" y="495300"/>
                  </a:lnTo>
                  <a:lnTo>
                    <a:pt x="1534478" y="495300"/>
                  </a:lnTo>
                  <a:lnTo>
                    <a:pt x="1459230" y="500063"/>
                  </a:lnTo>
                  <a:lnTo>
                    <a:pt x="1384935" y="510540"/>
                  </a:lnTo>
                  <a:lnTo>
                    <a:pt x="1311592" y="526733"/>
                  </a:lnTo>
                  <a:lnTo>
                    <a:pt x="1239202" y="546736"/>
                  </a:lnTo>
                  <a:lnTo>
                    <a:pt x="1168718" y="572453"/>
                  </a:lnTo>
                  <a:lnTo>
                    <a:pt x="1100138" y="602933"/>
                  </a:lnTo>
                  <a:lnTo>
                    <a:pt x="1033462" y="638176"/>
                  </a:lnTo>
                  <a:lnTo>
                    <a:pt x="969645" y="678180"/>
                  </a:lnTo>
                  <a:lnTo>
                    <a:pt x="908685" y="722948"/>
                  </a:lnTo>
                  <a:lnTo>
                    <a:pt x="851535" y="770573"/>
                  </a:lnTo>
                  <a:lnTo>
                    <a:pt x="797242" y="822960"/>
                  </a:lnTo>
                  <a:lnTo>
                    <a:pt x="746760" y="879158"/>
                  </a:lnTo>
                  <a:lnTo>
                    <a:pt x="701040" y="938213"/>
                  </a:lnTo>
                  <a:lnTo>
                    <a:pt x="659130" y="1000126"/>
                  </a:lnTo>
                  <a:lnTo>
                    <a:pt x="621030" y="1064896"/>
                  </a:lnTo>
                  <a:lnTo>
                    <a:pt x="588645" y="1132523"/>
                  </a:lnTo>
                  <a:lnTo>
                    <a:pt x="560070" y="1203008"/>
                  </a:lnTo>
                  <a:lnTo>
                    <a:pt x="537210" y="1274446"/>
                  </a:lnTo>
                  <a:lnTo>
                    <a:pt x="519112" y="1346836"/>
                  </a:lnTo>
                  <a:lnTo>
                    <a:pt x="505778" y="1421130"/>
                  </a:lnTo>
                  <a:lnTo>
                    <a:pt x="498158" y="1495426"/>
                  </a:lnTo>
                  <a:lnTo>
                    <a:pt x="495300" y="1570673"/>
                  </a:lnTo>
                  <a:close/>
                </a:path>
              </a:pathLst>
            </a:custGeom>
            <a:solidFill>
              <a:srgbClr val="53A2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node-bl-core2"/>
            <p:cNvSpPr/>
            <p:nvPr/>
          </p:nvSpPr>
          <p:spPr>
            <a:xfrm>
              <a:off x="8496300" y="10439400"/>
              <a:ext cx="2114550" cy="2114550"/>
            </a:xfrm>
            <a:prstGeom prst="ellipse">
              <a:avLst/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node-bl-pct"/>
            <p:cNvSpPr txBox="1"/>
            <p:nvPr/>
          </p:nvSpPr>
          <p:spPr>
            <a:xfrm>
              <a:off x="8553450" y="11001375"/>
              <a:ext cx="2000250" cy="990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80%</a:t>
              </a:r>
            </a:p>
          </p:txBody>
        </p:sp>
        <p:sp>
          <p:nvSpPr>
            <p:cNvPr id="27" name="node-bl-status"/>
            <p:cNvSpPr txBox="1"/>
            <p:nvPr/>
          </p:nvSpPr>
          <p:spPr>
            <a:xfrm>
              <a:off x="6038850" y="10077450"/>
              <a:ext cx="180975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未完成</a:t>
              </a:r>
            </a:p>
          </p:txBody>
        </p:sp>
        <p:sp>
          <p:nvSpPr>
            <p:cNvPr id="28" name="node-bl-body-1"/>
            <p:cNvSpPr txBox="1"/>
            <p:nvPr/>
          </p:nvSpPr>
          <p:spPr>
            <a:xfrm>
              <a:off x="2857500" y="11058525"/>
              <a:ext cx="5129784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正在进行支付全流程用户</a:t>
              </a:r>
            </a:p>
          </p:txBody>
        </p:sp>
        <p:sp>
          <p:nvSpPr>
            <p:cNvPr id="29" name="node-bl-body-2"/>
            <p:cNvSpPr txBox="1"/>
            <p:nvPr/>
          </p:nvSpPr>
          <p:spPr>
            <a:xfrm>
              <a:off x="2857500" y="11668125"/>
              <a:ext cx="5129784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体验优化方案设计，重点</a:t>
              </a:r>
            </a:p>
          </p:txBody>
        </p:sp>
        <p:sp>
          <p:nvSpPr>
            <p:cNvPr id="30" name="node-bl-body-3"/>
            <p:cNvSpPr txBox="1"/>
            <p:nvPr/>
          </p:nvSpPr>
          <p:spPr>
            <a:xfrm>
              <a:off x="2857500" y="12258675"/>
              <a:ext cx="5129784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解决支付成功率低的问题</a:t>
              </a:r>
            </a:p>
          </p:txBody>
        </p:sp>
      </p:grpSp>
      <p:grpSp>
        <p:nvGrpSpPr>
          <p:cNvPr id="54" name="node-br"/>
          <p:cNvGrpSpPr/>
          <p:nvPr/>
        </p:nvGrpSpPr>
        <p:grpSpPr>
          <a:xfrm>
            <a:off x="19173825" y="9810750"/>
            <a:ext cx="9248775" cy="3448050"/>
            <a:chOff x="19173825" y="9810750"/>
            <a:chExt cx="9248775" cy="3448050"/>
          </a:xfrm>
        </p:grpSpPr>
        <p:sp>
          <p:nvSpPr>
            <p:cNvPr id="31" name="node-br-pill"/>
            <p:cNvSpPr/>
            <p:nvPr/>
          </p:nvSpPr>
          <p:spPr>
            <a:xfrm>
              <a:off x="19173825" y="9810750"/>
              <a:ext cx="9248775" cy="3448050"/>
            </a:xfrm>
            <a:prstGeom prst="roundRect">
              <a:avLst>
                <a:gd name="adj" fmla="val 50000"/>
              </a:avLst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ode-br-ring"/>
            <p:cNvSpPr/>
            <p:nvPr/>
          </p:nvSpPr>
          <p:spPr>
            <a:xfrm>
              <a:off x="19373850" y="9963150"/>
              <a:ext cx="3143250" cy="31432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ode-br-core"/>
            <p:cNvSpPr/>
            <p:nvPr/>
          </p:nvSpPr>
          <p:spPr>
            <a:xfrm>
              <a:off x="19869150" y="10458450"/>
              <a:ext cx="2152650" cy="2152650"/>
            </a:xfrm>
            <a:prstGeom prst="ellipse">
              <a:avLst/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ode-br-arc"/>
            <p:cNvSpPr/>
            <p:nvPr/>
          </p:nvSpPr>
          <p:spPr>
            <a:xfrm>
              <a:off x="19373850" y="9963150"/>
              <a:ext cx="3142298" cy="3066098"/>
            </a:xfrm>
            <a:custGeom>
              <a:avLst/>
              <a:gdLst/>
              <a:ahLst/>
              <a:cxnLst/>
              <a:rect l="l" t="t" r="r" b="b"/>
              <a:pathLst>
                <a:path w="3142298" h="3066098">
                  <a:moveTo>
                    <a:pt x="0" y="1571625"/>
                  </a:moveTo>
                  <a:lnTo>
                    <a:pt x="2858" y="1475422"/>
                  </a:lnTo>
                  <a:lnTo>
                    <a:pt x="11430" y="1380172"/>
                  </a:lnTo>
                  <a:lnTo>
                    <a:pt x="26670" y="1284922"/>
                  </a:lnTo>
                  <a:lnTo>
                    <a:pt x="46672" y="1191578"/>
                  </a:lnTo>
                  <a:lnTo>
                    <a:pt x="72390" y="1099185"/>
                  </a:lnTo>
                  <a:lnTo>
                    <a:pt x="104775" y="1008698"/>
                  </a:lnTo>
                  <a:lnTo>
                    <a:pt x="141922" y="920115"/>
                  </a:lnTo>
                  <a:lnTo>
                    <a:pt x="183832" y="833438"/>
                  </a:lnTo>
                  <a:lnTo>
                    <a:pt x="231458" y="750570"/>
                  </a:lnTo>
                  <a:lnTo>
                    <a:pt x="283845" y="670560"/>
                  </a:lnTo>
                  <a:lnTo>
                    <a:pt x="341948" y="593408"/>
                  </a:lnTo>
                  <a:lnTo>
                    <a:pt x="403860" y="520065"/>
                  </a:lnTo>
                  <a:lnTo>
                    <a:pt x="469582" y="450532"/>
                  </a:lnTo>
                  <a:lnTo>
                    <a:pt x="541020" y="385762"/>
                  </a:lnTo>
                  <a:lnTo>
                    <a:pt x="615315" y="324802"/>
                  </a:lnTo>
                  <a:lnTo>
                    <a:pt x="692468" y="268605"/>
                  </a:lnTo>
                  <a:lnTo>
                    <a:pt x="774382" y="217170"/>
                  </a:lnTo>
                  <a:lnTo>
                    <a:pt x="858202" y="171450"/>
                  </a:lnTo>
                  <a:lnTo>
                    <a:pt x="944880" y="130492"/>
                  </a:lnTo>
                  <a:lnTo>
                    <a:pt x="1034415" y="95250"/>
                  </a:lnTo>
                  <a:lnTo>
                    <a:pt x="1124902" y="64770"/>
                  </a:lnTo>
                  <a:lnTo>
                    <a:pt x="1218248" y="40005"/>
                  </a:lnTo>
                  <a:lnTo>
                    <a:pt x="1312545" y="21908"/>
                  </a:lnTo>
                  <a:lnTo>
                    <a:pt x="1407795" y="8572"/>
                  </a:lnTo>
                  <a:lnTo>
                    <a:pt x="1503045" y="1905"/>
                  </a:lnTo>
                  <a:lnTo>
                    <a:pt x="1599248" y="0"/>
                  </a:lnTo>
                  <a:lnTo>
                    <a:pt x="1694498" y="4762"/>
                  </a:lnTo>
                  <a:lnTo>
                    <a:pt x="1790700" y="15240"/>
                  </a:lnTo>
                  <a:lnTo>
                    <a:pt x="1884998" y="31432"/>
                  </a:lnTo>
                  <a:lnTo>
                    <a:pt x="1978342" y="53340"/>
                  </a:lnTo>
                  <a:lnTo>
                    <a:pt x="2070735" y="80962"/>
                  </a:lnTo>
                  <a:lnTo>
                    <a:pt x="2160270" y="114300"/>
                  </a:lnTo>
                  <a:lnTo>
                    <a:pt x="2247900" y="153352"/>
                  </a:lnTo>
                  <a:lnTo>
                    <a:pt x="2333625" y="197168"/>
                  </a:lnTo>
                  <a:lnTo>
                    <a:pt x="2416492" y="245745"/>
                  </a:lnTo>
                  <a:lnTo>
                    <a:pt x="2495550" y="300038"/>
                  </a:lnTo>
                  <a:lnTo>
                    <a:pt x="2571750" y="359092"/>
                  </a:lnTo>
                  <a:lnTo>
                    <a:pt x="2643188" y="421958"/>
                  </a:lnTo>
                  <a:lnTo>
                    <a:pt x="2711768" y="489585"/>
                  </a:lnTo>
                  <a:lnTo>
                    <a:pt x="2775585" y="561022"/>
                  </a:lnTo>
                  <a:lnTo>
                    <a:pt x="2834640" y="637222"/>
                  </a:lnTo>
                  <a:lnTo>
                    <a:pt x="2889885" y="715328"/>
                  </a:lnTo>
                  <a:lnTo>
                    <a:pt x="2939415" y="798195"/>
                  </a:lnTo>
                  <a:lnTo>
                    <a:pt x="2984182" y="882968"/>
                  </a:lnTo>
                  <a:lnTo>
                    <a:pt x="3023235" y="970598"/>
                  </a:lnTo>
                  <a:lnTo>
                    <a:pt x="3057525" y="1060132"/>
                  </a:lnTo>
                  <a:lnTo>
                    <a:pt x="3086100" y="1151572"/>
                  </a:lnTo>
                  <a:lnTo>
                    <a:pt x="3108960" y="1244918"/>
                  </a:lnTo>
                  <a:lnTo>
                    <a:pt x="3126105" y="1339215"/>
                  </a:lnTo>
                  <a:lnTo>
                    <a:pt x="3137535" y="1434465"/>
                  </a:lnTo>
                  <a:lnTo>
                    <a:pt x="3142298" y="1530668"/>
                  </a:lnTo>
                  <a:lnTo>
                    <a:pt x="3142298" y="1626870"/>
                  </a:lnTo>
                  <a:lnTo>
                    <a:pt x="3135630" y="1722120"/>
                  </a:lnTo>
                  <a:lnTo>
                    <a:pt x="3124200" y="1817370"/>
                  </a:lnTo>
                  <a:lnTo>
                    <a:pt x="3106102" y="1911668"/>
                  </a:lnTo>
                  <a:lnTo>
                    <a:pt x="3082290" y="2005012"/>
                  </a:lnTo>
                  <a:lnTo>
                    <a:pt x="3052762" y="2096452"/>
                  </a:lnTo>
                  <a:lnTo>
                    <a:pt x="3018472" y="2185988"/>
                  </a:lnTo>
                  <a:lnTo>
                    <a:pt x="2978468" y="2272665"/>
                  </a:lnTo>
                  <a:lnTo>
                    <a:pt x="2932748" y="2357438"/>
                  </a:lnTo>
                  <a:lnTo>
                    <a:pt x="2882265" y="2439352"/>
                  </a:lnTo>
                  <a:lnTo>
                    <a:pt x="2827020" y="2517458"/>
                  </a:lnTo>
                  <a:lnTo>
                    <a:pt x="2767012" y="2592705"/>
                  </a:lnTo>
                  <a:lnTo>
                    <a:pt x="2702242" y="2663190"/>
                  </a:lnTo>
                  <a:lnTo>
                    <a:pt x="2633662" y="2730818"/>
                  </a:lnTo>
                  <a:lnTo>
                    <a:pt x="2560320" y="2792730"/>
                  </a:lnTo>
                  <a:lnTo>
                    <a:pt x="2484120" y="2850832"/>
                  </a:lnTo>
                  <a:lnTo>
                    <a:pt x="2404110" y="2904172"/>
                  </a:lnTo>
                  <a:lnTo>
                    <a:pt x="2321242" y="2952750"/>
                  </a:lnTo>
                  <a:lnTo>
                    <a:pt x="2235518" y="2995612"/>
                  </a:lnTo>
                  <a:lnTo>
                    <a:pt x="2147888" y="3033712"/>
                  </a:lnTo>
                  <a:lnTo>
                    <a:pt x="2057400" y="3066098"/>
                  </a:lnTo>
                  <a:lnTo>
                    <a:pt x="1904048" y="2595562"/>
                  </a:lnTo>
                  <a:lnTo>
                    <a:pt x="1965960" y="2572702"/>
                  </a:lnTo>
                  <a:lnTo>
                    <a:pt x="2026920" y="2546985"/>
                  </a:lnTo>
                  <a:lnTo>
                    <a:pt x="2085022" y="2517458"/>
                  </a:lnTo>
                  <a:lnTo>
                    <a:pt x="2142172" y="2484120"/>
                  </a:lnTo>
                  <a:lnTo>
                    <a:pt x="2196465" y="2447925"/>
                  </a:lnTo>
                  <a:lnTo>
                    <a:pt x="2248852" y="2407920"/>
                  </a:lnTo>
                  <a:lnTo>
                    <a:pt x="2298382" y="2365058"/>
                  </a:lnTo>
                  <a:lnTo>
                    <a:pt x="2346008" y="2319338"/>
                  </a:lnTo>
                  <a:lnTo>
                    <a:pt x="2389822" y="2270760"/>
                  </a:lnTo>
                  <a:lnTo>
                    <a:pt x="2430780" y="2219325"/>
                  </a:lnTo>
                  <a:lnTo>
                    <a:pt x="2468880" y="2165985"/>
                  </a:lnTo>
                  <a:lnTo>
                    <a:pt x="2504122" y="2109788"/>
                  </a:lnTo>
                  <a:lnTo>
                    <a:pt x="2534602" y="2051685"/>
                  </a:lnTo>
                  <a:lnTo>
                    <a:pt x="2562225" y="1992630"/>
                  </a:lnTo>
                  <a:lnTo>
                    <a:pt x="2586038" y="1930718"/>
                  </a:lnTo>
                  <a:lnTo>
                    <a:pt x="2606040" y="1867852"/>
                  </a:lnTo>
                  <a:lnTo>
                    <a:pt x="2622232" y="1804988"/>
                  </a:lnTo>
                  <a:lnTo>
                    <a:pt x="2634615" y="1740218"/>
                  </a:lnTo>
                  <a:lnTo>
                    <a:pt x="2643188" y="1674495"/>
                  </a:lnTo>
                  <a:lnTo>
                    <a:pt x="2646998" y="1608772"/>
                  </a:lnTo>
                  <a:lnTo>
                    <a:pt x="2647950" y="1543050"/>
                  </a:lnTo>
                  <a:lnTo>
                    <a:pt x="2644140" y="1478280"/>
                  </a:lnTo>
                  <a:lnTo>
                    <a:pt x="2636520" y="1412558"/>
                  </a:lnTo>
                  <a:lnTo>
                    <a:pt x="2624138" y="1347788"/>
                  </a:lnTo>
                  <a:lnTo>
                    <a:pt x="2608898" y="1283970"/>
                  </a:lnTo>
                  <a:lnTo>
                    <a:pt x="2588895" y="1221105"/>
                  </a:lnTo>
                  <a:lnTo>
                    <a:pt x="2566035" y="1160145"/>
                  </a:lnTo>
                  <a:lnTo>
                    <a:pt x="2539365" y="1100138"/>
                  </a:lnTo>
                  <a:lnTo>
                    <a:pt x="2508885" y="1042035"/>
                  </a:lnTo>
                  <a:lnTo>
                    <a:pt x="2474595" y="985838"/>
                  </a:lnTo>
                  <a:lnTo>
                    <a:pt x="2436495" y="931545"/>
                  </a:lnTo>
                  <a:lnTo>
                    <a:pt x="2396490" y="880110"/>
                  </a:lnTo>
                  <a:lnTo>
                    <a:pt x="2352675" y="830580"/>
                  </a:lnTo>
                  <a:lnTo>
                    <a:pt x="2306002" y="784860"/>
                  </a:lnTo>
                  <a:lnTo>
                    <a:pt x="2256472" y="741045"/>
                  </a:lnTo>
                  <a:lnTo>
                    <a:pt x="2204085" y="701040"/>
                  </a:lnTo>
                  <a:lnTo>
                    <a:pt x="2149792" y="663892"/>
                  </a:lnTo>
                  <a:lnTo>
                    <a:pt x="2093595" y="630555"/>
                  </a:lnTo>
                  <a:lnTo>
                    <a:pt x="2034540" y="600075"/>
                  </a:lnTo>
                  <a:lnTo>
                    <a:pt x="1974532" y="573405"/>
                  </a:lnTo>
                  <a:lnTo>
                    <a:pt x="1913572" y="550545"/>
                  </a:lnTo>
                  <a:lnTo>
                    <a:pt x="1849755" y="532448"/>
                  </a:lnTo>
                  <a:lnTo>
                    <a:pt x="1785938" y="517208"/>
                  </a:lnTo>
                  <a:lnTo>
                    <a:pt x="1721168" y="505778"/>
                  </a:lnTo>
                  <a:lnTo>
                    <a:pt x="1656398" y="498158"/>
                  </a:lnTo>
                  <a:lnTo>
                    <a:pt x="1590675" y="495300"/>
                  </a:lnTo>
                  <a:lnTo>
                    <a:pt x="1524952" y="496252"/>
                  </a:lnTo>
                  <a:lnTo>
                    <a:pt x="1459230" y="501015"/>
                  </a:lnTo>
                  <a:lnTo>
                    <a:pt x="1393508" y="509588"/>
                  </a:lnTo>
                  <a:lnTo>
                    <a:pt x="1329690" y="522922"/>
                  </a:lnTo>
                  <a:lnTo>
                    <a:pt x="1265872" y="540068"/>
                  </a:lnTo>
                  <a:lnTo>
                    <a:pt x="1203960" y="560070"/>
                  </a:lnTo>
                  <a:lnTo>
                    <a:pt x="1142048" y="584835"/>
                  </a:lnTo>
                  <a:lnTo>
                    <a:pt x="1082992" y="612458"/>
                  </a:lnTo>
                  <a:lnTo>
                    <a:pt x="1024890" y="643890"/>
                  </a:lnTo>
                  <a:lnTo>
                    <a:pt x="969645" y="679132"/>
                  </a:lnTo>
                  <a:lnTo>
                    <a:pt x="916305" y="718185"/>
                  </a:lnTo>
                  <a:lnTo>
                    <a:pt x="865822" y="759142"/>
                  </a:lnTo>
                  <a:lnTo>
                    <a:pt x="817245" y="803910"/>
                  </a:lnTo>
                  <a:lnTo>
                    <a:pt x="771525" y="851535"/>
                  </a:lnTo>
                  <a:lnTo>
                    <a:pt x="729615" y="902018"/>
                  </a:lnTo>
                  <a:lnTo>
                    <a:pt x="689610" y="954405"/>
                  </a:lnTo>
                  <a:lnTo>
                    <a:pt x="654368" y="1009650"/>
                  </a:lnTo>
                  <a:lnTo>
                    <a:pt x="621030" y="1065848"/>
                  </a:lnTo>
                  <a:lnTo>
                    <a:pt x="592455" y="1124902"/>
                  </a:lnTo>
                  <a:lnTo>
                    <a:pt x="566738" y="1185862"/>
                  </a:lnTo>
                  <a:lnTo>
                    <a:pt x="544830" y="1247775"/>
                  </a:lnTo>
                  <a:lnTo>
                    <a:pt x="527685" y="1311592"/>
                  </a:lnTo>
                  <a:lnTo>
                    <a:pt x="513398" y="1375410"/>
                  </a:lnTo>
                  <a:lnTo>
                    <a:pt x="502920" y="1440180"/>
                  </a:lnTo>
                  <a:lnTo>
                    <a:pt x="497205" y="1505902"/>
                  </a:lnTo>
                  <a:lnTo>
                    <a:pt x="495300" y="1571625"/>
                  </a:lnTo>
                  <a:close/>
                </a:path>
              </a:pathLst>
            </a:custGeom>
            <a:solidFill>
              <a:srgbClr val="53A2E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ode-br-core2"/>
            <p:cNvSpPr/>
            <p:nvPr/>
          </p:nvSpPr>
          <p:spPr>
            <a:xfrm>
              <a:off x="19888200" y="10477500"/>
              <a:ext cx="2114550" cy="2114550"/>
            </a:xfrm>
            <a:prstGeom prst="ellipse">
              <a:avLst/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node-br-pct"/>
            <p:cNvSpPr txBox="1"/>
            <p:nvPr/>
          </p:nvSpPr>
          <p:spPr>
            <a:xfrm>
              <a:off x="19945350" y="11039475"/>
              <a:ext cx="2000250" cy="990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7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70%</a:t>
              </a:r>
            </a:p>
          </p:txBody>
        </p:sp>
        <p:sp>
          <p:nvSpPr>
            <p:cNvPr id="37" name="node-br-status"/>
            <p:cNvSpPr txBox="1"/>
            <p:nvPr/>
          </p:nvSpPr>
          <p:spPr>
            <a:xfrm>
              <a:off x="22688550" y="10077450"/>
              <a:ext cx="1809750" cy="876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未完成</a:t>
              </a:r>
            </a:p>
          </p:txBody>
        </p:sp>
        <p:sp>
          <p:nvSpPr>
            <p:cNvPr id="38" name="node-br-body-1"/>
            <p:cNvSpPr txBox="1"/>
            <p:nvPr/>
          </p:nvSpPr>
          <p:spPr>
            <a:xfrm>
              <a:off x="22688550" y="11058525"/>
              <a:ext cx="5476875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正在开发订单管理模块的</a:t>
              </a:r>
            </a:p>
          </p:txBody>
        </p:sp>
        <p:sp>
          <p:nvSpPr>
            <p:cNvPr id="39" name="node-br-body-2"/>
            <p:cNvSpPr txBox="1"/>
            <p:nvPr/>
          </p:nvSpPr>
          <p:spPr>
            <a:xfrm>
              <a:off x="22688550" y="11649075"/>
              <a:ext cx="5476875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核心业务逻辑，进入接口</a:t>
              </a:r>
            </a:p>
          </p:txBody>
        </p:sp>
        <p:sp>
          <p:nvSpPr>
            <p:cNvPr id="40" name="node-br-body-3"/>
            <p:cNvSpPr txBox="1"/>
            <p:nvPr/>
          </p:nvSpPr>
          <p:spPr>
            <a:xfrm>
              <a:off x="22688550" y="12239625"/>
              <a:ext cx="5476875" cy="685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编写阶段</a:t>
              </a:r>
            </a:p>
          </p:txBody>
        </p:sp>
      </p:grpSp>
      <p:sp>
        <p:nvSpPr>
          <p:cNvPr id="41" name="hub-halo"/>
          <p:cNvSpPr/>
          <p:nvPr/>
        </p:nvSpPr>
        <p:spPr>
          <a:xfrm>
            <a:off x="12658725" y="6248400"/>
            <a:ext cx="5219700" cy="52197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hub-core"/>
          <p:cNvSpPr/>
          <p:nvPr/>
        </p:nvSpPr>
        <p:spPr>
          <a:xfrm>
            <a:off x="12925425" y="6515100"/>
            <a:ext cx="4686300" cy="4686300"/>
          </a:xfrm>
          <a:prstGeom prst="ellipse">
            <a:avLst/>
          </a:pr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hub-label"/>
          <p:cNvSpPr txBox="1"/>
          <p:nvPr/>
        </p:nvSpPr>
        <p:spPr>
          <a:xfrm>
            <a:off x="13525500" y="8248650"/>
            <a:ext cx="3486150" cy="1333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本周期</a:t>
            </a:r>
          </a:p>
        </p:txBody>
      </p:sp>
      <p:sp>
        <p:nvSpPr>
          <p:cNvPr id="44" name="leader-1"/>
          <p:cNvSpPr/>
          <p:nvPr/>
        </p:nvSpPr>
        <p:spPr>
          <a:xfrm>
            <a:off x="11239500" y="6667500"/>
            <a:ext cx="1143000" cy="2095500"/>
          </a:xfrm>
          <a:custGeom>
            <a:avLst/>
            <a:gdLst/>
            <a:ahLst/>
            <a:cxnLst/>
            <a:rect l="l" t="t" r="r" b="b"/>
            <a:pathLst>
              <a:path w="1143000" h="2095500">
                <a:moveTo>
                  <a:pt x="0" y="0"/>
                </a:moveTo>
                <a:lnTo>
                  <a:pt x="44768" y="156210"/>
                </a:lnTo>
                <a:lnTo>
                  <a:pt x="89535" y="305752"/>
                </a:lnTo>
                <a:lnTo>
                  <a:pt x="134302" y="449580"/>
                </a:lnTo>
                <a:lnTo>
                  <a:pt x="180022" y="587692"/>
                </a:lnTo>
                <a:lnTo>
                  <a:pt x="225742" y="719138"/>
                </a:lnTo>
                <a:lnTo>
                  <a:pt x="271462" y="845820"/>
                </a:lnTo>
                <a:lnTo>
                  <a:pt x="317182" y="965835"/>
                </a:lnTo>
                <a:lnTo>
                  <a:pt x="363855" y="1079182"/>
                </a:lnTo>
                <a:lnTo>
                  <a:pt x="410528" y="1187768"/>
                </a:lnTo>
                <a:lnTo>
                  <a:pt x="458152" y="1289685"/>
                </a:lnTo>
                <a:lnTo>
                  <a:pt x="504825" y="1385888"/>
                </a:lnTo>
                <a:lnTo>
                  <a:pt x="552450" y="1476375"/>
                </a:lnTo>
                <a:lnTo>
                  <a:pt x="600075" y="1561148"/>
                </a:lnTo>
                <a:lnTo>
                  <a:pt x="648652" y="1639252"/>
                </a:lnTo>
                <a:lnTo>
                  <a:pt x="696278" y="1711642"/>
                </a:lnTo>
                <a:lnTo>
                  <a:pt x="744855" y="1778318"/>
                </a:lnTo>
                <a:lnTo>
                  <a:pt x="793432" y="1838325"/>
                </a:lnTo>
                <a:lnTo>
                  <a:pt x="842962" y="1893570"/>
                </a:lnTo>
                <a:lnTo>
                  <a:pt x="892492" y="1942148"/>
                </a:lnTo>
                <a:lnTo>
                  <a:pt x="942022" y="1984058"/>
                </a:lnTo>
                <a:lnTo>
                  <a:pt x="991552" y="2021205"/>
                </a:lnTo>
                <a:lnTo>
                  <a:pt x="1042035" y="2051685"/>
                </a:lnTo>
                <a:lnTo>
                  <a:pt x="1092518" y="2076450"/>
                </a:lnTo>
                <a:lnTo>
                  <a:pt x="1143000" y="2095500"/>
                </a:lnTo>
              </a:path>
            </a:pathLst>
          </a:custGeom>
          <a:noFill/>
          <a:ln w="15240">
            <a:solidFill>
              <a:srgbClr val="4A5A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leader-2"/>
          <p:cNvSpPr/>
          <p:nvPr/>
        </p:nvSpPr>
        <p:spPr>
          <a:xfrm>
            <a:off x="11239500" y="8839200"/>
            <a:ext cx="1143000" cy="2019300"/>
          </a:xfrm>
          <a:custGeom>
            <a:avLst/>
            <a:gdLst/>
            <a:ahLst/>
            <a:cxnLst/>
            <a:rect l="l" t="t" r="r" b="b"/>
            <a:pathLst>
              <a:path w="1143000" h="2019300">
                <a:moveTo>
                  <a:pt x="0" y="2019300"/>
                </a:moveTo>
                <a:lnTo>
                  <a:pt x="44768" y="1871662"/>
                </a:lnTo>
                <a:lnTo>
                  <a:pt x="89535" y="1728788"/>
                </a:lnTo>
                <a:lnTo>
                  <a:pt x="134302" y="1591628"/>
                </a:lnTo>
                <a:lnTo>
                  <a:pt x="180022" y="1460182"/>
                </a:lnTo>
                <a:lnTo>
                  <a:pt x="225742" y="1334452"/>
                </a:lnTo>
                <a:lnTo>
                  <a:pt x="271462" y="1214438"/>
                </a:lnTo>
                <a:lnTo>
                  <a:pt x="317182" y="1100138"/>
                </a:lnTo>
                <a:lnTo>
                  <a:pt x="363855" y="990600"/>
                </a:lnTo>
                <a:lnTo>
                  <a:pt x="410528" y="886778"/>
                </a:lnTo>
                <a:lnTo>
                  <a:pt x="458152" y="788670"/>
                </a:lnTo>
                <a:lnTo>
                  <a:pt x="504825" y="696278"/>
                </a:lnTo>
                <a:lnTo>
                  <a:pt x="552450" y="609600"/>
                </a:lnTo>
                <a:lnTo>
                  <a:pt x="600075" y="528638"/>
                </a:lnTo>
                <a:lnTo>
                  <a:pt x="648652" y="452438"/>
                </a:lnTo>
                <a:lnTo>
                  <a:pt x="696278" y="381952"/>
                </a:lnTo>
                <a:lnTo>
                  <a:pt x="744855" y="317182"/>
                </a:lnTo>
                <a:lnTo>
                  <a:pt x="793432" y="258128"/>
                </a:lnTo>
                <a:lnTo>
                  <a:pt x="842962" y="204788"/>
                </a:lnTo>
                <a:lnTo>
                  <a:pt x="892492" y="157162"/>
                </a:lnTo>
                <a:lnTo>
                  <a:pt x="942022" y="114300"/>
                </a:lnTo>
                <a:lnTo>
                  <a:pt x="991552" y="77152"/>
                </a:lnTo>
                <a:lnTo>
                  <a:pt x="1042035" y="45720"/>
                </a:lnTo>
                <a:lnTo>
                  <a:pt x="1092518" y="20002"/>
                </a:lnTo>
                <a:lnTo>
                  <a:pt x="1143000" y="0"/>
                </a:lnTo>
              </a:path>
            </a:pathLst>
          </a:custGeom>
          <a:noFill/>
          <a:ln w="15240">
            <a:solidFill>
              <a:srgbClr val="4A5A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eader-3"/>
          <p:cNvSpPr/>
          <p:nvPr/>
        </p:nvSpPr>
        <p:spPr>
          <a:xfrm>
            <a:off x="27260550" y="6238875"/>
            <a:ext cx="1181100" cy="1647825"/>
          </a:xfrm>
          <a:custGeom>
            <a:avLst/>
            <a:gdLst/>
            <a:ahLst/>
            <a:cxnLst/>
            <a:rect l="l" t="t" r="r" b="b"/>
            <a:pathLst>
              <a:path w="1181100" h="1647825">
                <a:moveTo>
                  <a:pt x="1181100" y="0"/>
                </a:moveTo>
                <a:lnTo>
                  <a:pt x="1153478" y="82867"/>
                </a:lnTo>
                <a:lnTo>
                  <a:pt x="1122998" y="163830"/>
                </a:lnTo>
                <a:lnTo>
                  <a:pt x="1091565" y="244793"/>
                </a:lnTo>
                <a:lnTo>
                  <a:pt x="1058228" y="323850"/>
                </a:lnTo>
                <a:lnTo>
                  <a:pt x="1022985" y="401003"/>
                </a:lnTo>
                <a:lnTo>
                  <a:pt x="985838" y="478155"/>
                </a:lnTo>
                <a:lnTo>
                  <a:pt x="946785" y="553403"/>
                </a:lnTo>
                <a:lnTo>
                  <a:pt x="905828" y="627697"/>
                </a:lnTo>
                <a:lnTo>
                  <a:pt x="862965" y="700087"/>
                </a:lnTo>
                <a:lnTo>
                  <a:pt x="818198" y="772477"/>
                </a:lnTo>
                <a:lnTo>
                  <a:pt x="772478" y="842963"/>
                </a:lnTo>
                <a:lnTo>
                  <a:pt x="723900" y="912495"/>
                </a:lnTo>
                <a:lnTo>
                  <a:pt x="673418" y="980123"/>
                </a:lnTo>
                <a:lnTo>
                  <a:pt x="621982" y="1046797"/>
                </a:lnTo>
                <a:lnTo>
                  <a:pt x="567690" y="1112520"/>
                </a:lnTo>
                <a:lnTo>
                  <a:pt x="512445" y="1177290"/>
                </a:lnTo>
                <a:lnTo>
                  <a:pt x="454342" y="1240155"/>
                </a:lnTo>
                <a:lnTo>
                  <a:pt x="395288" y="1302067"/>
                </a:lnTo>
                <a:lnTo>
                  <a:pt x="334328" y="1363027"/>
                </a:lnTo>
                <a:lnTo>
                  <a:pt x="270510" y="1422083"/>
                </a:lnTo>
                <a:lnTo>
                  <a:pt x="205740" y="1480185"/>
                </a:lnTo>
                <a:lnTo>
                  <a:pt x="139065" y="1537335"/>
                </a:lnTo>
                <a:lnTo>
                  <a:pt x="70485" y="1593533"/>
                </a:lnTo>
                <a:lnTo>
                  <a:pt x="0" y="1647825"/>
                </a:lnTo>
              </a:path>
            </a:pathLst>
          </a:custGeom>
          <a:noFill/>
          <a:ln w="15240">
            <a:solidFill>
              <a:srgbClr val="4A5A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leader-4"/>
          <p:cNvSpPr/>
          <p:nvPr/>
        </p:nvSpPr>
        <p:spPr>
          <a:xfrm>
            <a:off x="27260550" y="9810750"/>
            <a:ext cx="1181100" cy="1143000"/>
          </a:xfrm>
          <a:custGeom>
            <a:avLst/>
            <a:gdLst/>
            <a:ahLst/>
            <a:cxnLst/>
            <a:rect l="l" t="t" r="r" b="b"/>
            <a:pathLst>
              <a:path w="1181100" h="1143000">
                <a:moveTo>
                  <a:pt x="1181100" y="1143000"/>
                </a:moveTo>
                <a:lnTo>
                  <a:pt x="1157288" y="1089660"/>
                </a:lnTo>
                <a:lnTo>
                  <a:pt x="1132522" y="1036320"/>
                </a:lnTo>
                <a:lnTo>
                  <a:pt x="1103948" y="982980"/>
                </a:lnTo>
                <a:lnTo>
                  <a:pt x="1074420" y="931545"/>
                </a:lnTo>
                <a:lnTo>
                  <a:pt x="1042035" y="880110"/>
                </a:lnTo>
                <a:lnTo>
                  <a:pt x="1007745" y="828675"/>
                </a:lnTo>
                <a:lnTo>
                  <a:pt x="970598" y="778192"/>
                </a:lnTo>
                <a:lnTo>
                  <a:pt x="931545" y="727710"/>
                </a:lnTo>
                <a:lnTo>
                  <a:pt x="889635" y="678180"/>
                </a:lnTo>
                <a:lnTo>
                  <a:pt x="846772" y="629602"/>
                </a:lnTo>
                <a:lnTo>
                  <a:pt x="800100" y="581025"/>
                </a:lnTo>
                <a:lnTo>
                  <a:pt x="752475" y="533400"/>
                </a:lnTo>
                <a:lnTo>
                  <a:pt x="701992" y="485775"/>
                </a:lnTo>
                <a:lnTo>
                  <a:pt x="649605" y="439102"/>
                </a:lnTo>
                <a:lnTo>
                  <a:pt x="594360" y="392430"/>
                </a:lnTo>
                <a:lnTo>
                  <a:pt x="537210" y="346710"/>
                </a:lnTo>
                <a:lnTo>
                  <a:pt x="478155" y="301942"/>
                </a:lnTo>
                <a:lnTo>
                  <a:pt x="417195" y="257175"/>
                </a:lnTo>
                <a:lnTo>
                  <a:pt x="352425" y="213360"/>
                </a:lnTo>
                <a:lnTo>
                  <a:pt x="286702" y="169545"/>
                </a:lnTo>
                <a:lnTo>
                  <a:pt x="218122" y="125730"/>
                </a:lnTo>
                <a:lnTo>
                  <a:pt x="147638" y="83820"/>
                </a:lnTo>
                <a:lnTo>
                  <a:pt x="75248" y="41910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4A5A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leader-5"/>
          <p:cNvSpPr/>
          <p:nvPr/>
        </p:nvSpPr>
        <p:spPr>
          <a:xfrm>
            <a:off x="18135600" y="6667500"/>
            <a:ext cx="819150" cy="2057400"/>
          </a:xfrm>
          <a:custGeom>
            <a:avLst/>
            <a:gdLst/>
            <a:ahLst/>
            <a:cxnLst/>
            <a:rect l="l" t="t" r="r" b="b"/>
            <a:pathLst>
              <a:path w="819150" h="2057400">
                <a:moveTo>
                  <a:pt x="819150" y="0"/>
                </a:moveTo>
                <a:lnTo>
                  <a:pt x="791528" y="147638"/>
                </a:lnTo>
                <a:lnTo>
                  <a:pt x="763905" y="290512"/>
                </a:lnTo>
                <a:lnTo>
                  <a:pt x="735330" y="427672"/>
                </a:lnTo>
                <a:lnTo>
                  <a:pt x="706755" y="560070"/>
                </a:lnTo>
                <a:lnTo>
                  <a:pt x="677228" y="685800"/>
                </a:lnTo>
                <a:lnTo>
                  <a:pt x="646748" y="807720"/>
                </a:lnTo>
                <a:lnTo>
                  <a:pt x="615315" y="922972"/>
                </a:lnTo>
                <a:lnTo>
                  <a:pt x="583882" y="1032510"/>
                </a:lnTo>
                <a:lnTo>
                  <a:pt x="552450" y="1137285"/>
                </a:lnTo>
                <a:lnTo>
                  <a:pt x="519112" y="1237298"/>
                </a:lnTo>
                <a:lnTo>
                  <a:pt x="486728" y="1330642"/>
                </a:lnTo>
                <a:lnTo>
                  <a:pt x="452438" y="1419225"/>
                </a:lnTo>
                <a:lnTo>
                  <a:pt x="418148" y="1502092"/>
                </a:lnTo>
                <a:lnTo>
                  <a:pt x="382905" y="1580198"/>
                </a:lnTo>
                <a:lnTo>
                  <a:pt x="347662" y="1651635"/>
                </a:lnTo>
                <a:lnTo>
                  <a:pt x="311468" y="1718310"/>
                </a:lnTo>
                <a:lnTo>
                  <a:pt x="274320" y="1780222"/>
                </a:lnTo>
                <a:lnTo>
                  <a:pt x="237172" y="1836420"/>
                </a:lnTo>
                <a:lnTo>
                  <a:pt x="199072" y="1885950"/>
                </a:lnTo>
                <a:lnTo>
                  <a:pt x="160020" y="1931670"/>
                </a:lnTo>
                <a:lnTo>
                  <a:pt x="120968" y="1970722"/>
                </a:lnTo>
                <a:lnTo>
                  <a:pt x="80962" y="2005012"/>
                </a:lnTo>
                <a:lnTo>
                  <a:pt x="40958" y="2033588"/>
                </a:lnTo>
                <a:lnTo>
                  <a:pt x="0" y="2057400"/>
                </a:lnTo>
              </a:path>
            </a:pathLst>
          </a:custGeom>
          <a:noFill/>
          <a:ln w="15240">
            <a:solidFill>
              <a:srgbClr val="4A5A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leader-6"/>
          <p:cNvSpPr/>
          <p:nvPr/>
        </p:nvSpPr>
        <p:spPr>
          <a:xfrm>
            <a:off x="18135600" y="8839200"/>
            <a:ext cx="819150" cy="2019300"/>
          </a:xfrm>
          <a:custGeom>
            <a:avLst/>
            <a:gdLst/>
            <a:ahLst/>
            <a:cxnLst/>
            <a:rect l="l" t="t" r="r" b="b"/>
            <a:pathLst>
              <a:path w="819150" h="2019300">
                <a:moveTo>
                  <a:pt x="819150" y="2019300"/>
                </a:moveTo>
                <a:lnTo>
                  <a:pt x="793432" y="1871662"/>
                </a:lnTo>
                <a:lnTo>
                  <a:pt x="766762" y="1728788"/>
                </a:lnTo>
                <a:lnTo>
                  <a:pt x="740092" y="1591628"/>
                </a:lnTo>
                <a:lnTo>
                  <a:pt x="711518" y="1460182"/>
                </a:lnTo>
                <a:lnTo>
                  <a:pt x="682942" y="1334452"/>
                </a:lnTo>
                <a:lnTo>
                  <a:pt x="653415" y="1214438"/>
                </a:lnTo>
                <a:lnTo>
                  <a:pt x="623888" y="1100138"/>
                </a:lnTo>
                <a:lnTo>
                  <a:pt x="592455" y="990600"/>
                </a:lnTo>
                <a:lnTo>
                  <a:pt x="561022" y="886778"/>
                </a:lnTo>
                <a:lnTo>
                  <a:pt x="528638" y="788670"/>
                </a:lnTo>
                <a:lnTo>
                  <a:pt x="495300" y="696278"/>
                </a:lnTo>
                <a:lnTo>
                  <a:pt x="461962" y="609600"/>
                </a:lnTo>
                <a:lnTo>
                  <a:pt x="427672" y="528638"/>
                </a:lnTo>
                <a:lnTo>
                  <a:pt x="392430" y="452438"/>
                </a:lnTo>
                <a:lnTo>
                  <a:pt x="356235" y="381952"/>
                </a:lnTo>
                <a:lnTo>
                  <a:pt x="320040" y="317182"/>
                </a:lnTo>
                <a:lnTo>
                  <a:pt x="281940" y="258128"/>
                </a:lnTo>
                <a:lnTo>
                  <a:pt x="243840" y="204788"/>
                </a:lnTo>
                <a:lnTo>
                  <a:pt x="204788" y="157162"/>
                </a:lnTo>
                <a:lnTo>
                  <a:pt x="165735" y="114300"/>
                </a:lnTo>
                <a:lnTo>
                  <a:pt x="125730" y="77152"/>
                </a:lnTo>
                <a:lnTo>
                  <a:pt x="83820" y="45720"/>
                </a:lnTo>
                <a:lnTo>
                  <a:pt x="42862" y="20002"/>
                </a:lnTo>
                <a:lnTo>
                  <a:pt x="0" y="0"/>
                </a:lnTo>
              </a:path>
            </a:pathLst>
          </a:custGeom>
          <a:noFill/>
          <a:ln w="15240">
            <a:solidFill>
              <a:srgbClr val="4A5A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anner"/>
          <p:cNvSpPr/>
          <p:nvPr/>
        </p:nvSpPr>
        <p:spPr>
          <a:xfrm>
            <a:off x="2476500" y="14173200"/>
            <a:ext cx="25460325" cy="1466850"/>
          </a:xfrm>
          <a:custGeom>
            <a:avLst/>
            <a:gdLst/>
            <a:ahLst/>
            <a:cxnLst/>
            <a:rect l="l" t="t" r="r" b="b"/>
            <a:pathLst>
              <a:path w="25460325" h="1466850">
                <a:moveTo>
                  <a:pt x="0" y="0"/>
                </a:moveTo>
                <a:lnTo>
                  <a:pt x="24993600" y="0"/>
                </a:lnTo>
                <a:lnTo>
                  <a:pt x="25460325" y="733425"/>
                </a:lnTo>
                <a:lnTo>
                  <a:pt x="24993600" y="1466850"/>
                </a:lnTo>
                <a:lnTo>
                  <a:pt x="0" y="1466850"/>
                </a:lnTo>
                <a:close/>
              </a:path>
            </a:pathLst>
          </a:custGeom>
          <a:solidFill>
            <a:srgbClr val="E9EFFB"/>
          </a:solidFill>
          <a:ln w="19050">
            <a:solidFill>
              <a:srgbClr val="7FA5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anner-l1"/>
          <p:cNvSpPr txBox="1"/>
          <p:nvPr/>
        </p:nvSpPr>
        <p:spPr>
          <a:xfrm>
            <a:off x="4866132" y="14201775"/>
            <a:ext cx="20519136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0" i="0">
                <a:solidFill>
                  <a:srgbClr val="1A1C20"/>
                </a:solidFill>
                <a:latin typeface="Microsoft YaHei"/>
                <a:ea typeface="Microsoft YaHei"/>
                <a:cs typeface="Microsoft YaHei"/>
              </a:rPr>
              <a:t>本周期产品与设计、开发与实现两大板块的关键任务均按计划顺利推进，其中两项核心工作已完成，</a:t>
            </a:r>
          </a:p>
        </p:txBody>
      </p:sp>
      <p:sp>
        <p:nvSpPr>
          <p:cNvPr id="52" name="banner-l2"/>
          <p:cNvSpPr txBox="1"/>
          <p:nvPr/>
        </p:nvSpPr>
        <p:spPr>
          <a:xfrm>
            <a:off x="4886325" y="14801850"/>
            <a:ext cx="20478750" cy="742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3600" b="0" i="0">
                <a:solidFill>
                  <a:srgbClr val="1A1C20"/>
                </a:solidFill>
                <a:latin typeface="Microsoft YaHei"/>
                <a:ea typeface="Microsoft YaHei"/>
                <a:cs typeface="Microsoft YaHei"/>
              </a:rPr>
              <a:t>两项优化与开发任务正有序进行中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