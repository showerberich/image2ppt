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hero-photo" descr="_photo_hero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71950"/>
            <a:ext cx="17068800" cy="10458450"/>
          </a:xfrm>
          <a:prstGeom prst="rect">
            <a:avLst/>
          </a:prstGeom>
          <a:effectLst/>
        </p:spPr>
      </p:pic>
      <p:sp>
        <p:nvSpPr>
          <p:cNvPr id="4" name="panel-blue"/>
          <p:cNvSpPr/>
          <p:nvPr/>
        </p:nvSpPr>
        <p:spPr>
          <a:xfrm>
            <a:off x="14839950" y="3543300"/>
            <a:ext cx="14706600" cy="6667500"/>
          </a:xfrm>
          <a:prstGeom prst="rect">
            <a:avLst/>
          </a:prstGeom>
          <a:solidFill>
            <a:srgbClr val="2D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nel-blue-veil"/>
          <p:cNvSpPr/>
          <p:nvPr/>
        </p:nvSpPr>
        <p:spPr>
          <a:xfrm>
            <a:off x="14839950" y="4171950"/>
            <a:ext cx="3143250" cy="6038850"/>
          </a:xfrm>
          <a:prstGeom prst="rect">
            <a:avLst/>
          </a:prstGeom>
          <a:solidFill>
            <a:srgbClr val="1E3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wedge-topright"/>
          <p:cNvSpPr/>
          <p:nvPr/>
        </p:nvSpPr>
        <p:spPr>
          <a:xfrm>
            <a:off x="25803225" y="933450"/>
            <a:ext cx="3743325" cy="2609850"/>
          </a:xfrm>
          <a:custGeom>
            <a:avLst/>
            <a:gdLst/>
            <a:ahLst/>
            <a:cxnLst/>
            <a:rect l="l" t="t" r="r" b="b"/>
            <a:pathLst>
              <a:path w="3743325" h="2609850">
                <a:moveTo>
                  <a:pt x="0" y="0"/>
                </a:moveTo>
                <a:lnTo>
                  <a:pt x="3743325" y="0"/>
                </a:lnTo>
                <a:lnTo>
                  <a:pt x="3743325" y="2609850"/>
                </a:lnTo>
                <a:lnTo>
                  <a:pt x="2590800" y="2609850"/>
                </a:lnTo>
                <a:close/>
              </a:path>
            </a:pathLst>
          </a:custGeom>
          <a:solidFill>
            <a:srgbClr val="17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 txBox="1"/>
          <p:nvPr/>
        </p:nvSpPr>
        <p:spPr>
          <a:xfrm>
            <a:off x="1752600" y="1571625"/>
            <a:ext cx="4953000" cy="1143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17367A"/>
                </a:solidFill>
                <a:latin typeface="Microsoft YaHei"/>
                <a:ea typeface="Microsoft YaHei"/>
                <a:cs typeface="Microsoft YaHei"/>
              </a:rPr>
              <a:t>项目状态报告</a:t>
            </a:r>
          </a:p>
        </p:txBody>
      </p:sp>
      <p:sp>
        <p:nvSpPr>
          <p:cNvPr id="8" name="nav-1"/>
          <p:cNvSpPr txBox="1"/>
          <p:nvPr/>
        </p:nvSpPr>
        <p:spPr>
          <a:xfrm>
            <a:off x="15725775" y="1733550"/>
            <a:ext cx="1409700" cy="7810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125" b="0" i="0">
                <a:solidFill>
                  <a:srgbClr val="17367A"/>
                </a:solidFill>
                <a:latin typeface="Microsoft YaHei"/>
                <a:ea typeface="Microsoft YaHei"/>
                <a:cs typeface="Microsoft YaHei"/>
              </a:rPr>
              <a:t>首页</a:t>
            </a:r>
          </a:p>
        </p:txBody>
      </p:sp>
      <p:sp>
        <p:nvSpPr>
          <p:cNvPr id="9" name="nav-2"/>
          <p:cNvSpPr txBox="1"/>
          <p:nvPr/>
        </p:nvSpPr>
        <p:spPr>
          <a:xfrm>
            <a:off x="18097500" y="1733550"/>
            <a:ext cx="1409700" cy="7810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125" b="0" i="0">
                <a:solidFill>
                  <a:srgbClr val="17367A"/>
                </a:solidFill>
                <a:latin typeface="Microsoft YaHei"/>
                <a:ea typeface="Microsoft YaHei"/>
                <a:cs typeface="Microsoft YaHei"/>
              </a:rPr>
              <a:t>关于</a:t>
            </a:r>
          </a:p>
        </p:txBody>
      </p:sp>
      <p:sp>
        <p:nvSpPr>
          <p:cNvPr id="10" name="nav-3"/>
          <p:cNvSpPr txBox="1"/>
          <p:nvPr/>
        </p:nvSpPr>
        <p:spPr>
          <a:xfrm>
            <a:off x="20469225" y="1733550"/>
            <a:ext cx="1409700" cy="7810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125" b="0" i="0">
                <a:solidFill>
                  <a:srgbClr val="17367A"/>
                </a:solidFill>
                <a:latin typeface="Microsoft YaHei"/>
                <a:ea typeface="Microsoft YaHei"/>
                <a:cs typeface="Microsoft YaHei"/>
              </a:rPr>
              <a:t>服务</a:t>
            </a:r>
          </a:p>
        </p:txBody>
      </p:sp>
      <p:sp>
        <p:nvSpPr>
          <p:cNvPr id="11" name="nav-4"/>
          <p:cNvSpPr txBox="1"/>
          <p:nvPr/>
        </p:nvSpPr>
        <p:spPr>
          <a:xfrm>
            <a:off x="22802850" y="1733550"/>
            <a:ext cx="1409700" cy="7810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125" b="0" i="0">
                <a:solidFill>
                  <a:srgbClr val="17367A"/>
                </a:solidFill>
                <a:latin typeface="Microsoft YaHei"/>
                <a:ea typeface="Microsoft YaHei"/>
                <a:cs typeface="Microsoft YaHei"/>
              </a:rPr>
              <a:t>链接</a:t>
            </a:r>
          </a:p>
        </p:txBody>
      </p:sp>
      <p:grpSp>
        <p:nvGrpSpPr>
          <p:cNvPr id="37" name="ic-search"/>
          <p:cNvGrpSpPr/>
          <p:nvPr/>
        </p:nvGrpSpPr>
        <p:grpSpPr>
          <a:xfrm>
            <a:off x="24593931" y="1886331"/>
            <a:ext cx="481584" cy="481584"/>
            <a:chOff x="24593931" y="1886331"/>
            <a:chExt cx="481584" cy="481584"/>
          </a:xfrm>
        </p:grpSpPr>
        <p:sp>
          <p:nvSpPr>
            <p:cNvPr id="12" name="Oval 11"/>
            <p:cNvSpPr/>
            <p:nvPr/>
          </p:nvSpPr>
          <p:spPr>
            <a:xfrm>
              <a:off x="24593931" y="1886331"/>
              <a:ext cx="377952" cy="377952"/>
            </a:xfrm>
            <a:prstGeom prst="ellipse">
              <a:avLst/>
            </a:prstGeom>
            <a:noFill/>
            <a:ln w="15240">
              <a:solidFill>
                <a:srgbClr val="1736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24904827" y="2197227"/>
              <a:ext cx="170688" cy="170688"/>
            </a:xfrm>
            <a:prstGeom prst="line">
              <a:avLst/>
            </a:prstGeom>
            <a:ln w="63398">
              <a:solidFill>
                <a:srgbClr val="17367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burger-1"/>
          <p:cNvSpPr/>
          <p:nvPr/>
        </p:nvSpPr>
        <p:spPr>
          <a:xfrm>
            <a:off x="28422600" y="1743075"/>
            <a:ext cx="485775" cy="76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urger-2"/>
          <p:cNvSpPr/>
          <p:nvPr/>
        </p:nvSpPr>
        <p:spPr>
          <a:xfrm>
            <a:off x="28422600" y="1924050"/>
            <a:ext cx="485775" cy="76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urger-3"/>
          <p:cNvSpPr/>
          <p:nvPr/>
        </p:nvSpPr>
        <p:spPr>
          <a:xfrm>
            <a:off x="28422600" y="2095500"/>
            <a:ext cx="485775" cy="76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line-1"/>
          <p:cNvSpPr txBox="1"/>
          <p:nvPr/>
        </p:nvSpPr>
        <p:spPr>
          <a:xfrm>
            <a:off x="15973425" y="4105275"/>
            <a:ext cx="12573000" cy="2743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科技赋能服务</a:t>
            </a:r>
          </a:p>
        </p:txBody>
      </p:sp>
      <p:sp>
        <p:nvSpPr>
          <p:cNvPr id="18" name="headline-2"/>
          <p:cNvSpPr txBox="1"/>
          <p:nvPr/>
        </p:nvSpPr>
        <p:spPr>
          <a:xfrm>
            <a:off x="15963900" y="6886575"/>
            <a:ext cx="12573000" cy="2743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智能创造价值</a:t>
            </a:r>
          </a:p>
        </p:txBody>
      </p:sp>
      <p:sp>
        <p:nvSpPr>
          <p:cNvPr id="19" name="subtitle"/>
          <p:cNvSpPr txBox="1"/>
          <p:nvPr/>
        </p:nvSpPr>
        <p:spPr>
          <a:xfrm>
            <a:off x="18507075" y="10477500"/>
            <a:ext cx="11811000" cy="12763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375" b="1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打造 AI 驱动的客户服务平台</a:t>
            </a:r>
          </a:p>
        </p:txBody>
      </p:sp>
      <p:sp>
        <p:nvSpPr>
          <p:cNvPr id="20" name="pill-person"/>
          <p:cNvSpPr/>
          <p:nvPr/>
        </p:nvSpPr>
        <p:spPr>
          <a:xfrm>
            <a:off x="18392775" y="12592050"/>
            <a:ext cx="7229475" cy="857250"/>
          </a:xfrm>
          <a:prstGeom prst="roundRect">
            <a:avLst>
              <a:gd name="adj" fmla="val 50000"/>
            </a:avLst>
          </a:prstGeom>
          <a:solidFill>
            <a:srgbClr val="17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ill-text"/>
          <p:cNvSpPr txBox="1"/>
          <p:nvPr/>
        </p:nvSpPr>
        <p:spPr>
          <a:xfrm>
            <a:off x="19202400" y="12725400"/>
            <a:ext cx="6953250" cy="6286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汇报人：XXX  时间：202X.XX</a:t>
            </a:r>
          </a:p>
        </p:txBody>
      </p:sp>
      <p:sp>
        <p:nvSpPr>
          <p:cNvPr id="22" name="footer-band"/>
          <p:cNvSpPr/>
          <p:nvPr/>
        </p:nvSpPr>
        <p:spPr>
          <a:xfrm>
            <a:off x="904875" y="14649450"/>
            <a:ext cx="10258425" cy="1609725"/>
          </a:xfrm>
          <a:custGeom>
            <a:avLst/>
            <a:gdLst/>
            <a:ahLst/>
            <a:cxnLst/>
            <a:rect l="l" t="t" r="r" b="b"/>
            <a:pathLst>
              <a:path w="10258425" h="1609725">
                <a:moveTo>
                  <a:pt x="0" y="0"/>
                </a:moveTo>
                <a:lnTo>
                  <a:pt x="8629650" y="0"/>
                </a:lnTo>
                <a:lnTo>
                  <a:pt x="10258425" y="1609725"/>
                </a:lnTo>
                <a:lnTo>
                  <a:pt x="0" y="1609725"/>
                </a:lnTo>
                <a:close/>
              </a:path>
            </a:pathLst>
          </a:custGeom>
          <a:solidFill>
            <a:srgbClr val="17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rrow-prev"/>
          <p:cNvSpPr/>
          <p:nvPr/>
        </p:nvSpPr>
        <p:spPr>
          <a:xfrm>
            <a:off x="1314450" y="15259050"/>
            <a:ext cx="228600" cy="428625"/>
          </a:xfrm>
          <a:custGeom>
            <a:avLst/>
            <a:gdLst/>
            <a:ahLst/>
            <a:cxnLst/>
            <a:rect l="l" t="t" r="r" b="b"/>
            <a:pathLst>
              <a:path w="228600" h="428625">
                <a:moveTo>
                  <a:pt x="228600" y="0"/>
                </a:moveTo>
                <a:lnTo>
                  <a:pt x="0" y="209550"/>
                </a:lnTo>
                <a:lnTo>
                  <a:pt x="228600" y="428625"/>
                </a:lnTo>
              </a:path>
            </a:pathLst>
          </a:custGeom>
          <a:noFill/>
          <a:ln w="666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rrow-next"/>
          <p:cNvSpPr/>
          <p:nvPr/>
        </p:nvSpPr>
        <p:spPr>
          <a:xfrm>
            <a:off x="2943225" y="15259050"/>
            <a:ext cx="228600" cy="428625"/>
          </a:xfrm>
          <a:custGeom>
            <a:avLst/>
            <a:gdLst/>
            <a:ahLst/>
            <a:cxnLst/>
            <a:rect l="l" t="t" r="r" b="b"/>
            <a:pathLst>
              <a:path w="228600" h="428625">
                <a:moveTo>
                  <a:pt x="0" y="0"/>
                </a:moveTo>
                <a:lnTo>
                  <a:pt x="228600" y="209550"/>
                </a:lnTo>
                <a:lnTo>
                  <a:pt x="0" y="428625"/>
                </a:lnTo>
              </a:path>
            </a:pathLst>
          </a:custGeom>
          <a:noFill/>
          <a:ln w="666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age-01"/>
          <p:cNvSpPr txBox="1"/>
          <p:nvPr/>
        </p:nvSpPr>
        <p:spPr>
          <a:xfrm>
            <a:off x="3905250" y="15125700"/>
            <a:ext cx="571500" cy="666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cxnSp>
        <p:nvCxnSpPr>
          <p:cNvPr id="26" name="page-line"/>
          <p:cNvCxnSpPr/>
          <p:nvPr/>
        </p:nvCxnSpPr>
        <p:spPr>
          <a:xfrm>
            <a:off x="4581525" y="15468600"/>
            <a:ext cx="3314700" cy="0"/>
          </a:xfrm>
          <a:prstGeom prst="line">
            <a:avLst/>
          </a:prstGeom>
          <a:ln w="381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age-04"/>
          <p:cNvSpPr txBox="1"/>
          <p:nvPr/>
        </p:nvSpPr>
        <p:spPr>
          <a:xfrm>
            <a:off x="8143875" y="15125700"/>
            <a:ext cx="571500" cy="666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dot-1"/>
          <p:cNvSpPr/>
          <p:nvPr/>
        </p:nvSpPr>
        <p:spPr>
          <a:xfrm>
            <a:off x="14792325" y="13906500"/>
            <a:ext cx="323850" cy="3238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t-2"/>
          <p:cNvSpPr/>
          <p:nvPr/>
        </p:nvSpPr>
        <p:spPr>
          <a:xfrm>
            <a:off x="15411450" y="13906500"/>
            <a:ext cx="323850" cy="323850"/>
          </a:xfrm>
          <a:prstGeom prst="ellipse">
            <a:avLst/>
          </a:prstGeom>
          <a:solidFill>
            <a:srgbClr val="FFFFFF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ot-3"/>
          <p:cNvSpPr/>
          <p:nvPr/>
        </p:nvSpPr>
        <p:spPr>
          <a:xfrm>
            <a:off x="16030575" y="13906500"/>
            <a:ext cx="323850" cy="323850"/>
          </a:xfrm>
          <a:prstGeom prst="ellipse">
            <a:avLst/>
          </a:prstGeom>
          <a:solidFill>
            <a:srgbClr val="FFFFFF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t-4"/>
          <p:cNvSpPr/>
          <p:nvPr/>
        </p:nvSpPr>
        <p:spPr>
          <a:xfrm>
            <a:off x="16697325" y="13906500"/>
            <a:ext cx="323850" cy="323850"/>
          </a:xfrm>
          <a:prstGeom prst="ellipse">
            <a:avLst/>
          </a:prstGeom>
          <a:solidFill>
            <a:srgbClr val="FFFFFF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oot-1"/>
          <p:cNvSpPr txBox="1"/>
          <p:nvPr/>
        </p:nvSpPr>
        <p:spPr>
          <a:xfrm>
            <a:off x="16144875" y="15268575"/>
            <a:ext cx="15240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75" b="0" i="0">
                <a:solidFill>
                  <a:srgbClr val="17367A"/>
                </a:solidFill>
                <a:latin typeface="Microsoft YaHei"/>
                <a:ea typeface="Microsoft YaHei"/>
                <a:cs typeface="Microsoft YaHei"/>
              </a:rPr>
              <a:t>执行效率</a:t>
            </a:r>
          </a:p>
        </p:txBody>
      </p:sp>
      <p:sp>
        <p:nvSpPr>
          <p:cNvPr id="33" name="foot-2"/>
          <p:cNvSpPr txBox="1"/>
          <p:nvPr/>
        </p:nvSpPr>
        <p:spPr>
          <a:xfrm>
            <a:off x="19211925" y="15268575"/>
            <a:ext cx="15240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75" b="0" i="0">
                <a:solidFill>
                  <a:srgbClr val="17367A"/>
                </a:solidFill>
                <a:latin typeface="Microsoft YaHei"/>
                <a:ea typeface="Microsoft YaHei"/>
                <a:cs typeface="Microsoft YaHei"/>
              </a:rPr>
              <a:t>需求变更</a:t>
            </a:r>
          </a:p>
        </p:txBody>
      </p:sp>
      <p:sp>
        <p:nvSpPr>
          <p:cNvPr id="34" name="foot-3"/>
          <p:cNvSpPr txBox="1"/>
          <p:nvPr/>
        </p:nvSpPr>
        <p:spPr>
          <a:xfrm>
            <a:off x="22269450" y="15268575"/>
            <a:ext cx="15240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75" b="0" i="0">
                <a:solidFill>
                  <a:srgbClr val="17367A"/>
                </a:solidFill>
                <a:latin typeface="Microsoft YaHei"/>
                <a:ea typeface="Microsoft YaHei"/>
                <a:cs typeface="Microsoft YaHei"/>
              </a:rPr>
              <a:t>交付标准</a:t>
            </a:r>
          </a:p>
        </p:txBody>
      </p:sp>
      <p:cxnSp>
        <p:nvCxnSpPr>
          <p:cNvPr id="35" name="foot-rule"/>
          <p:cNvCxnSpPr/>
          <p:nvPr/>
        </p:nvCxnSpPr>
        <p:spPr>
          <a:xfrm>
            <a:off x="24107775" y="15468600"/>
            <a:ext cx="5429250" cy="0"/>
          </a:xfrm>
          <a:prstGeom prst="line">
            <a:avLst/>
          </a:prstGeom>
          <a:ln w="47625">
            <a:solidFill>
              <a:srgbClr val="1736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