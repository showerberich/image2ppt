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i-topright"/>
          <p:cNvSpPr/>
          <p:nvPr/>
        </p:nvSpPr>
        <p:spPr>
          <a:xfrm>
            <a:off x="25803225" y="933450"/>
            <a:ext cx="3790950" cy="3790950"/>
          </a:xfrm>
          <a:custGeom>
            <a:avLst/>
            <a:gdLst/>
            <a:ahLst/>
            <a:cxnLst/>
            <a:rect l="l" t="t" r="r" b="b"/>
            <a:pathLst>
              <a:path w="3790950" h="3790950">
                <a:moveTo>
                  <a:pt x="0" y="0"/>
                </a:moveTo>
                <a:lnTo>
                  <a:pt x="3790950" y="0"/>
                </a:lnTo>
                <a:lnTo>
                  <a:pt x="3790950" y="3790950"/>
                </a:lnTo>
                <a:close/>
              </a:path>
            </a:pathLst>
          </a:cu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6" name="hamburger"/>
          <p:cNvGrpSpPr/>
          <p:nvPr/>
        </p:nvGrpSpPr>
        <p:grpSpPr>
          <a:xfrm>
            <a:off x="28422600" y="1743075"/>
            <a:ext cx="485775" cy="438150"/>
            <a:chOff x="28422600" y="1743075"/>
            <a:chExt cx="485775" cy="438150"/>
          </a:xfrm>
        </p:grpSpPr>
        <p:sp>
          <p:nvSpPr>
            <p:cNvPr id="5" name="ham-1"/>
            <p:cNvSpPr/>
            <p:nvPr/>
          </p:nvSpPr>
          <p:spPr>
            <a:xfrm>
              <a:off x="28422600" y="1743075"/>
              <a:ext cx="485775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ham-2"/>
            <p:cNvSpPr/>
            <p:nvPr/>
          </p:nvSpPr>
          <p:spPr>
            <a:xfrm>
              <a:off x="28422600" y="1924050"/>
              <a:ext cx="485775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ham-3"/>
            <p:cNvSpPr/>
            <p:nvPr/>
          </p:nvSpPr>
          <p:spPr>
            <a:xfrm>
              <a:off x="28422600" y="2095500"/>
              <a:ext cx="485775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banner"/>
          <p:cNvSpPr/>
          <p:nvPr/>
        </p:nvSpPr>
        <p:spPr>
          <a:xfrm>
            <a:off x="895350" y="5667375"/>
            <a:ext cx="28698825" cy="5867400"/>
          </a:xfrm>
          <a:prstGeom prst="rect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-shadow-soft"/>
          <p:cNvSpPr/>
          <p:nvPr/>
        </p:nvSpPr>
        <p:spPr>
          <a:xfrm>
            <a:off x="3648075" y="4572000"/>
            <a:ext cx="7886700" cy="8543925"/>
          </a:xfrm>
          <a:custGeom>
            <a:avLst/>
            <a:gdLst/>
            <a:ahLst/>
            <a:cxnLst/>
            <a:rect l="l" t="t" r="r" b="b"/>
            <a:pathLst>
              <a:path w="7886700" h="8543925">
                <a:moveTo>
                  <a:pt x="2171700" y="0"/>
                </a:moveTo>
                <a:lnTo>
                  <a:pt x="7886700" y="0"/>
                </a:lnTo>
                <a:lnTo>
                  <a:pt x="5715000" y="8543925"/>
                </a:lnTo>
                <a:lnTo>
                  <a:pt x="0" y="8543925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-shadow"/>
          <p:cNvSpPr/>
          <p:nvPr/>
        </p:nvSpPr>
        <p:spPr>
          <a:xfrm>
            <a:off x="3533775" y="4438650"/>
            <a:ext cx="7886700" cy="8543925"/>
          </a:xfrm>
          <a:custGeom>
            <a:avLst/>
            <a:gdLst/>
            <a:ahLst/>
            <a:cxnLst/>
            <a:rect l="l" t="t" r="r" b="b"/>
            <a:pathLst>
              <a:path w="7886700" h="8543925">
                <a:moveTo>
                  <a:pt x="2171700" y="0"/>
                </a:moveTo>
                <a:lnTo>
                  <a:pt x="7886700" y="0"/>
                </a:lnTo>
                <a:lnTo>
                  <a:pt x="5715000" y="8543925"/>
                </a:lnTo>
                <a:lnTo>
                  <a:pt x="0" y="8543925"/>
                </a:lnTo>
                <a:close/>
              </a:path>
            </a:pathLst>
          </a:custGeom>
          <a:solidFill>
            <a:srgbClr val="000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nel-slant"/>
          <p:cNvSpPr/>
          <p:nvPr/>
        </p:nvSpPr>
        <p:spPr>
          <a:xfrm>
            <a:off x="3438525" y="4324350"/>
            <a:ext cx="7886700" cy="8543925"/>
          </a:xfrm>
          <a:custGeom>
            <a:avLst/>
            <a:gdLst/>
            <a:ahLst/>
            <a:cxnLst/>
            <a:rect l="l" t="t" r="r" b="b"/>
            <a:pathLst>
              <a:path w="7886700" h="8543925">
                <a:moveTo>
                  <a:pt x="2171700" y="0"/>
                </a:moveTo>
                <a:lnTo>
                  <a:pt x="7886700" y="0"/>
                </a:lnTo>
                <a:lnTo>
                  <a:pt x="5715000" y="8543925"/>
                </a:lnTo>
                <a:lnTo>
                  <a:pt x="0" y="8543925"/>
                </a:lnTo>
                <a:close/>
              </a:path>
            </a:pathLst>
          </a:custGeom>
          <a:solidFill>
            <a:srgbClr val="14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m-2"/>
          <p:cNvSpPr txBox="1"/>
          <p:nvPr/>
        </p:nvSpPr>
        <p:spPr>
          <a:xfrm>
            <a:off x="6096000" y="5657850"/>
            <a:ext cx="2476500" cy="5867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9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dot-1"/>
          <p:cNvSpPr/>
          <p:nvPr/>
        </p:nvSpPr>
        <p:spPr>
          <a:xfrm>
            <a:off x="5386388" y="11839575"/>
            <a:ext cx="342900" cy="342900"/>
          </a:xfrm>
          <a:prstGeom prst="ellipse">
            <a:avLst/>
          </a:prstGeom>
          <a:solidFill>
            <a:srgbClr val="425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t-2"/>
          <p:cNvSpPr/>
          <p:nvPr/>
        </p:nvSpPr>
        <p:spPr>
          <a:xfrm>
            <a:off x="6019800" y="11839575"/>
            <a:ext cx="342900" cy="3429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t-3"/>
          <p:cNvSpPr/>
          <p:nvPr/>
        </p:nvSpPr>
        <p:spPr>
          <a:xfrm>
            <a:off x="6653212" y="11839575"/>
            <a:ext cx="342900" cy="342900"/>
          </a:xfrm>
          <a:prstGeom prst="ellipse">
            <a:avLst/>
          </a:prstGeom>
          <a:solidFill>
            <a:srgbClr val="425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-4"/>
          <p:cNvSpPr/>
          <p:nvPr/>
        </p:nvSpPr>
        <p:spPr>
          <a:xfrm>
            <a:off x="7281862" y="11839575"/>
            <a:ext cx="342900" cy="342900"/>
          </a:xfrm>
          <a:prstGeom prst="ellipse">
            <a:avLst/>
          </a:prstGeom>
          <a:solidFill>
            <a:srgbClr val="425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-main"/>
          <p:cNvSpPr txBox="1"/>
          <p:nvPr/>
        </p:nvSpPr>
        <p:spPr>
          <a:xfrm>
            <a:off x="10848975" y="6534150"/>
            <a:ext cx="18444972" cy="409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950" b="1" i="0" spc="112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项目进展与成果</a:t>
            </a:r>
          </a:p>
        </p:txBody>
      </p:sp>
      <p:sp>
        <p:nvSpPr>
          <p:cNvPr id="18" name="bottom-bar"/>
          <p:cNvSpPr/>
          <p:nvPr/>
        </p:nvSpPr>
        <p:spPr>
          <a:xfrm>
            <a:off x="895350" y="14658975"/>
            <a:ext cx="10258425" cy="1609725"/>
          </a:xfrm>
          <a:custGeom>
            <a:avLst/>
            <a:gdLst/>
            <a:ahLst/>
            <a:cxnLst/>
            <a:rect l="l" t="t" r="r" b="b"/>
            <a:pathLst>
              <a:path w="10258425" h="1609725">
                <a:moveTo>
                  <a:pt x="0" y="0"/>
                </a:moveTo>
                <a:lnTo>
                  <a:pt x="8667750" y="0"/>
                </a:lnTo>
                <a:lnTo>
                  <a:pt x="10258425" y="1609725"/>
                </a:lnTo>
                <a:lnTo>
                  <a:pt x="0" y="1609725"/>
                </a:lnTo>
                <a:close/>
              </a:path>
            </a:pathLst>
          </a:cu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-left"/>
          <p:cNvSpPr/>
          <p:nvPr/>
        </p:nvSpPr>
        <p:spPr>
          <a:xfrm>
            <a:off x="1333500" y="15278100"/>
            <a:ext cx="190500" cy="400050"/>
          </a:xfrm>
          <a:custGeom>
            <a:avLst/>
            <a:gdLst/>
            <a:ahLst/>
            <a:cxnLst/>
            <a:rect l="l" t="t" r="r" b="b"/>
            <a:pathLst>
              <a:path w="190500" h="400050">
                <a:moveTo>
                  <a:pt x="190500" y="0"/>
                </a:moveTo>
                <a:lnTo>
                  <a:pt x="0" y="200025"/>
                </a:lnTo>
                <a:lnTo>
                  <a:pt x="190500" y="400050"/>
                </a:lnTo>
              </a:path>
            </a:pathLst>
          </a:cu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-right"/>
          <p:cNvSpPr/>
          <p:nvPr/>
        </p:nvSpPr>
        <p:spPr>
          <a:xfrm>
            <a:off x="2962275" y="15278100"/>
            <a:ext cx="190500" cy="400050"/>
          </a:xfrm>
          <a:custGeom>
            <a:avLst/>
            <a:gdLst/>
            <a:ahLst/>
            <a:cxnLst/>
            <a:rect l="l" t="t" r="r" b="b"/>
            <a:pathLst>
              <a:path w="190500" h="400050">
                <a:moveTo>
                  <a:pt x="0" y="0"/>
                </a:moveTo>
                <a:lnTo>
                  <a:pt x="190500" y="200025"/>
                </a:lnTo>
                <a:lnTo>
                  <a:pt x="0" y="400050"/>
                </a:lnTo>
              </a:path>
            </a:pathLst>
          </a:cu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um-01"/>
          <p:cNvSpPr txBox="1"/>
          <p:nvPr/>
        </p:nvSpPr>
        <p:spPr>
          <a:xfrm>
            <a:off x="3886200" y="15230475"/>
            <a:ext cx="571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rogress-line"/>
          <p:cNvSpPr/>
          <p:nvPr/>
        </p:nvSpPr>
        <p:spPr>
          <a:xfrm>
            <a:off x="4581525" y="15459075"/>
            <a:ext cx="3324225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um-04"/>
          <p:cNvSpPr txBox="1"/>
          <p:nvPr/>
        </p:nvSpPr>
        <p:spPr>
          <a:xfrm>
            <a:off x="8124825" y="15230475"/>
            <a:ext cx="571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frame"/>
          <p:cNvSpPr/>
          <p:nvPr/>
        </p:nvSpPr>
        <p:spPr>
          <a:xfrm>
            <a:off x="9525" y="9525"/>
            <a:ext cx="30451425" cy="17125950"/>
          </a:xfrm>
          <a:prstGeom prst="rect">
            <a:avLst/>
          </a:prstGeom>
          <a:noFill/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