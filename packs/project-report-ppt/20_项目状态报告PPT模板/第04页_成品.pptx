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5" name="header"/>
          <p:cNvGrpSpPr/>
          <p:nvPr/>
        </p:nvGrpSpPr>
        <p:grpSpPr>
          <a:xfrm>
            <a:off x="1619250" y="1462088"/>
            <a:ext cx="8174355" cy="1409700"/>
            <a:chOff x="1619250" y="1462088"/>
            <a:chExt cx="8174355" cy="1409700"/>
          </a:xfrm>
        </p:grpSpPr>
        <p:sp>
          <p:nvSpPr>
            <p:cNvPr id="3" name="logo-light"/>
            <p:cNvSpPr/>
            <p:nvPr/>
          </p:nvSpPr>
          <p:spPr>
            <a:xfrm>
              <a:off x="1619250" y="1466850"/>
              <a:ext cx="1409700" cy="1323975"/>
            </a:xfrm>
            <a:prstGeom prst="rect">
              <a:avLst/>
            </a:prstGeom>
            <a:solidFill>
              <a:srgbClr val="E9EF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logo-dark"/>
            <p:cNvSpPr/>
            <p:nvPr/>
          </p:nvSpPr>
          <p:spPr>
            <a:xfrm>
              <a:off x="2381250" y="2143125"/>
              <a:ext cx="628650" cy="619125"/>
            </a:xfrm>
            <a:prstGeom prst="rect">
              <a:avLst/>
            </a:pr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itle"/>
            <p:cNvSpPr txBox="1"/>
            <p:nvPr/>
          </p:nvSpPr>
          <p:spPr>
            <a:xfrm>
              <a:off x="3379470" y="1462088"/>
              <a:ext cx="6414135" cy="14097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37" b="1" i="0">
                  <a:solidFill>
                    <a:srgbClr val="173679"/>
                  </a:solidFill>
                  <a:latin typeface="Microsoft YaHei"/>
                  <a:ea typeface="Microsoft YaHei"/>
                  <a:cs typeface="Microsoft YaHei"/>
                </a:rPr>
                <a:t>项目背景与目标</a:t>
              </a:r>
            </a:p>
          </p:txBody>
        </p:sp>
      </p:grpSp>
      <p:grpSp>
        <p:nvGrpSpPr>
          <p:cNvPr id="86" name="panel-1"/>
          <p:cNvGrpSpPr/>
          <p:nvPr/>
        </p:nvGrpSpPr>
        <p:grpSpPr>
          <a:xfrm>
            <a:off x="2047875" y="4429125"/>
            <a:ext cx="4981575" cy="9744075"/>
            <a:chOff x="2047875" y="4429125"/>
            <a:chExt cx="4981575" cy="9744075"/>
          </a:xfrm>
        </p:grpSpPr>
        <p:sp>
          <p:nvSpPr>
            <p:cNvPr id="6" name="p1-panel"/>
            <p:cNvSpPr/>
            <p:nvPr/>
          </p:nvSpPr>
          <p:spPr>
            <a:xfrm>
              <a:off x="2047875" y="4429125"/>
              <a:ext cx="4981575" cy="8791575"/>
            </a:xfrm>
            <a:custGeom>
              <a:avLst/>
              <a:gdLst/>
              <a:ahLst/>
              <a:cxnLst/>
              <a:rect l="l" t="t" r="r" b="b"/>
              <a:pathLst>
                <a:path w="4981575" h="8791575">
                  <a:moveTo>
                    <a:pt x="2490787" y="0"/>
                  </a:moveTo>
                  <a:lnTo>
                    <a:pt x="4981575" y="1076325"/>
                  </a:lnTo>
                  <a:lnTo>
                    <a:pt x="4981575" y="8791575"/>
                  </a:lnTo>
                  <a:lnTo>
                    <a:pt x="0" y="8791575"/>
                  </a:lnTo>
                  <a:lnTo>
                    <a:pt x="0" y="1076325"/>
                  </a:lnTo>
                  <a:close/>
                </a:path>
              </a:pathLst>
            </a:custGeom>
            <a:solidFill>
              <a:srgbClr val="E9EFFB"/>
            </a:solidFill>
            <a:ln w="19050">
              <a:solidFill>
                <a:srgbClr val="A9C4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82" name="p1-icon"/>
            <p:cNvGrpSpPr/>
            <p:nvPr/>
          </p:nvGrpSpPr>
          <p:grpSpPr>
            <a:xfrm>
              <a:off x="4105275" y="5262562"/>
              <a:ext cx="866775" cy="866775"/>
              <a:chOff x="4105275" y="5262562"/>
              <a:chExt cx="866775" cy="866775"/>
            </a:xfrm>
          </p:grpSpPr>
          <p:sp>
            <p:nvSpPr>
              <p:cNvPr id="7" name="p1-ic-ring-out"/>
              <p:cNvSpPr/>
              <p:nvPr/>
            </p:nvSpPr>
            <p:spPr>
              <a:xfrm>
                <a:off x="4105275" y="5262562"/>
                <a:ext cx="866775" cy="866775"/>
              </a:xfrm>
              <a:prstGeom prst="ellipse">
                <a:avLst/>
              </a:prstGeom>
              <a:noFill/>
              <a:ln w="85725">
                <a:solidFill>
                  <a:srgbClr val="53A2E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p1-ic-ring-in"/>
              <p:cNvSpPr/>
              <p:nvPr/>
            </p:nvSpPr>
            <p:spPr>
              <a:xfrm>
                <a:off x="4291012" y="5448300"/>
                <a:ext cx="495300" cy="495300"/>
              </a:xfrm>
              <a:prstGeom prst="ellipse">
                <a:avLst/>
              </a:prstGeom>
              <a:noFill/>
              <a:ln w="76200">
                <a:solidFill>
                  <a:srgbClr val="53A2E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p1-ic-dot"/>
              <p:cNvSpPr/>
              <p:nvPr/>
            </p:nvSpPr>
            <p:spPr>
              <a:xfrm>
                <a:off x="4448175" y="5605462"/>
                <a:ext cx="180975" cy="180975"/>
              </a:xfrm>
              <a:prstGeom prst="ellipse">
                <a:avLst/>
              </a:prstGeom>
              <a:solidFill>
                <a:srgbClr val="53A2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0" name="p1-head-1"/>
            <p:cNvSpPr txBox="1"/>
            <p:nvPr/>
          </p:nvSpPr>
          <p:spPr>
            <a:xfrm>
              <a:off x="2794254" y="6295072"/>
              <a:ext cx="3536442" cy="9067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462" b="1" i="0">
                  <a:solidFill>
                    <a:srgbClr val="173679"/>
                  </a:solidFill>
                  <a:latin typeface="Microsoft YaHei"/>
                  <a:ea typeface="Microsoft YaHei"/>
                  <a:cs typeface="Microsoft YaHei"/>
                </a:rPr>
                <a:t>明确目标细节</a:t>
              </a:r>
            </a:p>
          </p:txBody>
        </p:sp>
        <p:sp>
          <p:nvSpPr>
            <p:cNvPr id="11" name="p1-head-2"/>
            <p:cNvSpPr txBox="1"/>
            <p:nvPr/>
          </p:nvSpPr>
          <p:spPr>
            <a:xfrm>
              <a:off x="3359848" y="7028498"/>
              <a:ext cx="2357628" cy="9067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462" b="1" i="0">
                  <a:solidFill>
                    <a:srgbClr val="173679"/>
                  </a:solidFill>
                  <a:latin typeface="Microsoft YaHei"/>
                  <a:ea typeface="Microsoft YaHei"/>
                  <a:cs typeface="Microsoft YaHei"/>
                </a:rPr>
                <a:t>与交付物</a:t>
              </a:r>
            </a:p>
          </p:txBody>
        </p:sp>
        <p:sp>
          <p:nvSpPr>
            <p:cNvPr id="12" name="p1-body-1"/>
            <p:cNvSpPr txBox="1"/>
            <p:nvPr/>
          </p:nvSpPr>
          <p:spPr>
            <a:xfrm>
              <a:off x="2577494" y="8034338"/>
              <a:ext cx="3931863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核心 API 接口响应</a:t>
              </a:r>
            </a:p>
          </p:txBody>
        </p:sp>
        <p:sp>
          <p:nvSpPr>
            <p:cNvPr id="13" name="p1-body-2"/>
            <p:cNvSpPr txBox="1"/>
            <p:nvPr/>
          </p:nvSpPr>
          <p:spPr>
            <a:xfrm>
              <a:off x="2476262" y="8634412"/>
              <a:ext cx="4153376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时间作为系统流畅度</a:t>
              </a:r>
            </a:p>
          </p:txBody>
        </p:sp>
        <p:sp>
          <p:nvSpPr>
            <p:cNvPr id="14" name="p1-body-3"/>
            <p:cNvSpPr txBox="1"/>
            <p:nvPr/>
          </p:nvSpPr>
          <p:spPr>
            <a:xfrm>
              <a:off x="2476262" y="9229725"/>
              <a:ext cx="4153376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的唯一衡量标准，需</a:t>
              </a:r>
            </a:p>
          </p:txBody>
        </p:sp>
        <p:sp>
          <p:nvSpPr>
            <p:cNvPr id="15" name="p1-body-4"/>
            <p:cNvSpPr txBox="1"/>
            <p:nvPr/>
          </p:nvSpPr>
          <p:spPr>
            <a:xfrm>
              <a:off x="2552700" y="9829800"/>
              <a:ext cx="3962400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覆盖 95% 以上的用</a:t>
              </a:r>
            </a:p>
          </p:txBody>
        </p:sp>
        <p:sp>
          <p:nvSpPr>
            <p:cNvPr id="16" name="p1-body-5"/>
            <p:cNvSpPr txBox="1"/>
            <p:nvPr/>
          </p:nvSpPr>
          <p:spPr>
            <a:xfrm>
              <a:off x="3381375" y="10420350"/>
              <a:ext cx="2314575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户请求场景</a:t>
              </a:r>
            </a:p>
          </p:txBody>
        </p:sp>
        <p:sp>
          <p:nvSpPr>
            <p:cNvPr id="17" name="p1-banner"/>
            <p:cNvSpPr/>
            <p:nvPr/>
          </p:nvSpPr>
          <p:spPr>
            <a:xfrm>
              <a:off x="2581275" y="11601450"/>
              <a:ext cx="3914775" cy="2571750"/>
            </a:xfrm>
            <a:custGeom>
              <a:avLst/>
              <a:gdLst/>
              <a:ahLst/>
              <a:cxnLst/>
              <a:rect l="l" t="t" r="r" b="b"/>
              <a:pathLst>
                <a:path w="3914775" h="2571750">
                  <a:moveTo>
                    <a:pt x="0" y="828675"/>
                  </a:moveTo>
                  <a:lnTo>
                    <a:pt x="1957387" y="0"/>
                  </a:lnTo>
                  <a:lnTo>
                    <a:pt x="3914775" y="828675"/>
                  </a:lnTo>
                  <a:lnTo>
                    <a:pt x="3914775" y="2571750"/>
                  </a:lnTo>
                  <a:lnTo>
                    <a:pt x="1957387" y="1733550"/>
                  </a:lnTo>
                  <a:lnTo>
                    <a:pt x="0" y="2571750"/>
                  </a:lnTo>
                  <a:close/>
                </a:path>
              </a:pathLst>
            </a:cu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p1-banner-text"/>
            <p:cNvSpPr txBox="1"/>
            <p:nvPr/>
          </p:nvSpPr>
          <p:spPr>
            <a:xfrm>
              <a:off x="3314395" y="12340590"/>
              <a:ext cx="2467585" cy="8077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Specific</a:t>
              </a:r>
            </a:p>
          </p:txBody>
        </p:sp>
      </p:grpSp>
      <p:grpSp>
        <p:nvGrpSpPr>
          <p:cNvPr id="84" name="panel-2"/>
          <p:cNvGrpSpPr/>
          <p:nvPr/>
        </p:nvGrpSpPr>
        <p:grpSpPr>
          <a:xfrm>
            <a:off x="7410450" y="4429125"/>
            <a:ext cx="4981575" cy="9744075"/>
            <a:chOff x="7410450" y="4429125"/>
            <a:chExt cx="4981575" cy="9744075"/>
          </a:xfrm>
        </p:grpSpPr>
        <p:sp>
          <p:nvSpPr>
            <p:cNvPr id="19" name="p2-panel"/>
            <p:cNvSpPr/>
            <p:nvPr/>
          </p:nvSpPr>
          <p:spPr>
            <a:xfrm>
              <a:off x="7410450" y="4429125"/>
              <a:ext cx="4981575" cy="8791575"/>
            </a:xfrm>
            <a:custGeom>
              <a:avLst/>
              <a:gdLst/>
              <a:ahLst/>
              <a:cxnLst/>
              <a:rect l="l" t="t" r="r" b="b"/>
              <a:pathLst>
                <a:path w="4981575" h="8791575">
                  <a:moveTo>
                    <a:pt x="2490788" y="0"/>
                  </a:moveTo>
                  <a:lnTo>
                    <a:pt x="4981575" y="1076325"/>
                  </a:lnTo>
                  <a:lnTo>
                    <a:pt x="4981575" y="8791575"/>
                  </a:lnTo>
                  <a:lnTo>
                    <a:pt x="0" y="8791575"/>
                  </a:lnTo>
                  <a:lnTo>
                    <a:pt x="0" y="1076325"/>
                  </a:lnTo>
                  <a:close/>
                </a:path>
              </a:pathLst>
            </a:custGeom>
            <a:solidFill>
              <a:srgbClr val="E9EFFB"/>
            </a:solidFill>
            <a:ln w="19050">
              <a:solidFill>
                <a:srgbClr val="A9C4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79" name="p2-icon"/>
            <p:cNvGrpSpPr/>
            <p:nvPr/>
          </p:nvGrpSpPr>
          <p:grpSpPr>
            <a:xfrm>
              <a:off x="9424988" y="5219700"/>
              <a:ext cx="952500" cy="952500"/>
              <a:chOff x="9424988" y="5219700"/>
              <a:chExt cx="952500" cy="952500"/>
            </a:xfrm>
          </p:grpSpPr>
          <p:sp>
            <p:nvSpPr>
              <p:cNvPr id="20" name="p2-ic-ring-out"/>
              <p:cNvSpPr/>
              <p:nvPr/>
            </p:nvSpPr>
            <p:spPr>
              <a:xfrm>
                <a:off x="9467850" y="5262562"/>
                <a:ext cx="866775" cy="866775"/>
              </a:xfrm>
              <a:prstGeom prst="ellipse">
                <a:avLst/>
              </a:prstGeom>
              <a:noFill/>
              <a:ln w="85725">
                <a:solidFill>
                  <a:srgbClr val="53A2E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p2-ic-ring-in"/>
              <p:cNvSpPr/>
              <p:nvPr/>
            </p:nvSpPr>
            <p:spPr>
              <a:xfrm>
                <a:off x="9791700" y="5586412"/>
                <a:ext cx="219075" cy="219075"/>
              </a:xfrm>
              <a:prstGeom prst="ellipse">
                <a:avLst/>
              </a:prstGeom>
              <a:noFill/>
              <a:ln w="66675">
                <a:solidFill>
                  <a:srgbClr val="53A2E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p2-ic-tick-0"/>
              <p:cNvSpPr/>
              <p:nvPr/>
            </p:nvSpPr>
            <p:spPr>
              <a:xfrm>
                <a:off x="10186988" y="5653088"/>
                <a:ext cx="190500" cy="85724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85724">
                    <a:moveTo>
                      <a:pt x="0" y="85724"/>
                    </a:moveTo>
                    <a:lnTo>
                      <a:pt x="0" y="0"/>
                    </a:lnTo>
                    <a:lnTo>
                      <a:pt x="190500" y="0"/>
                    </a:lnTo>
                    <a:lnTo>
                      <a:pt x="190500" y="85724"/>
                    </a:lnTo>
                    <a:close/>
                  </a:path>
                </a:pathLst>
              </a:custGeom>
              <a:solidFill>
                <a:srgbClr val="53A2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p2-ic-tick-1"/>
              <p:cNvSpPr/>
              <p:nvPr/>
            </p:nvSpPr>
            <p:spPr>
              <a:xfrm>
                <a:off x="9858375" y="5981700"/>
                <a:ext cx="857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90500">
                    <a:moveTo>
                      <a:pt x="0" y="0"/>
                    </a:moveTo>
                    <a:lnTo>
                      <a:pt x="85725" y="0"/>
                    </a:lnTo>
                    <a:lnTo>
                      <a:pt x="85725" y="190500"/>
                    </a:lnTo>
                    <a:lnTo>
                      <a:pt x="0" y="190500"/>
                    </a:lnTo>
                    <a:close/>
                  </a:path>
                </a:pathLst>
              </a:custGeom>
              <a:solidFill>
                <a:srgbClr val="53A2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p2-ic-tick-2"/>
              <p:cNvSpPr/>
              <p:nvPr/>
            </p:nvSpPr>
            <p:spPr>
              <a:xfrm>
                <a:off x="9424988" y="5653088"/>
                <a:ext cx="190500" cy="85724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85724">
                    <a:moveTo>
                      <a:pt x="190500" y="0"/>
                    </a:moveTo>
                    <a:lnTo>
                      <a:pt x="190500" y="85724"/>
                    </a:lnTo>
                    <a:lnTo>
                      <a:pt x="0" y="857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3A2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p2-ic-tick-3"/>
              <p:cNvSpPr/>
              <p:nvPr/>
            </p:nvSpPr>
            <p:spPr>
              <a:xfrm>
                <a:off x="9858375" y="5219700"/>
                <a:ext cx="857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90500">
                    <a:moveTo>
                      <a:pt x="85725" y="190500"/>
                    </a:moveTo>
                    <a:lnTo>
                      <a:pt x="0" y="190500"/>
                    </a:lnTo>
                    <a:lnTo>
                      <a:pt x="0" y="0"/>
                    </a:lnTo>
                    <a:lnTo>
                      <a:pt x="85725" y="0"/>
                    </a:lnTo>
                    <a:close/>
                  </a:path>
                </a:pathLst>
              </a:custGeom>
              <a:solidFill>
                <a:srgbClr val="53A2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6" name="p2-head-1"/>
            <p:cNvSpPr txBox="1"/>
            <p:nvPr/>
          </p:nvSpPr>
          <p:spPr>
            <a:xfrm>
              <a:off x="8147304" y="6295072"/>
              <a:ext cx="3536442" cy="9067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462" b="1" i="0">
                  <a:solidFill>
                    <a:srgbClr val="173679"/>
                  </a:solidFill>
                  <a:latin typeface="Microsoft YaHei"/>
                  <a:ea typeface="Microsoft YaHei"/>
                  <a:cs typeface="Microsoft YaHei"/>
                </a:rPr>
                <a:t>设定量化指标</a:t>
              </a:r>
            </a:p>
          </p:txBody>
        </p:sp>
        <p:sp>
          <p:nvSpPr>
            <p:cNvPr id="27" name="p2-head-2"/>
            <p:cNvSpPr txBox="1"/>
            <p:nvPr/>
          </p:nvSpPr>
          <p:spPr>
            <a:xfrm>
              <a:off x="9020175" y="7028498"/>
              <a:ext cx="1781175" cy="9067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462" b="1" i="0">
                  <a:solidFill>
                    <a:srgbClr val="173679"/>
                  </a:solidFill>
                  <a:latin typeface="Microsoft YaHei"/>
                  <a:ea typeface="Microsoft YaHei"/>
                  <a:cs typeface="Microsoft YaHei"/>
                </a:rPr>
                <a:t>与基准</a:t>
              </a:r>
            </a:p>
          </p:txBody>
        </p:sp>
        <p:sp>
          <p:nvSpPr>
            <p:cNvPr id="28" name="p2-body-1"/>
            <p:cNvSpPr txBox="1"/>
            <p:nvPr/>
          </p:nvSpPr>
          <p:spPr>
            <a:xfrm>
              <a:off x="7884985" y="8034338"/>
              <a:ext cx="4061079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核心系统P95响应时</a:t>
              </a:r>
            </a:p>
          </p:txBody>
        </p:sp>
        <p:sp>
          <p:nvSpPr>
            <p:cNvPr id="29" name="p2-body-2"/>
            <p:cNvSpPr txBox="1"/>
            <p:nvPr/>
          </p:nvSpPr>
          <p:spPr>
            <a:xfrm>
              <a:off x="7915275" y="8634412"/>
              <a:ext cx="3981450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间降至 200ms 以内</a:t>
              </a:r>
            </a:p>
          </p:txBody>
        </p:sp>
        <p:sp>
          <p:nvSpPr>
            <p:cNvPr id="30" name="p2-body-3"/>
            <p:cNvSpPr txBox="1"/>
            <p:nvPr/>
          </p:nvSpPr>
          <p:spPr>
            <a:xfrm>
              <a:off x="7865935" y="9224962"/>
              <a:ext cx="4061079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P99响应时间不超过</a:t>
              </a:r>
            </a:p>
          </p:txBody>
        </p:sp>
        <p:sp>
          <p:nvSpPr>
            <p:cNvPr id="31" name="p2-body-4"/>
            <p:cNvSpPr txBox="1"/>
            <p:nvPr/>
          </p:nvSpPr>
          <p:spPr>
            <a:xfrm>
              <a:off x="8067675" y="9829800"/>
              <a:ext cx="3724275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500ms，页面完全</a:t>
              </a:r>
            </a:p>
          </p:txBody>
        </p:sp>
        <p:sp>
          <p:nvSpPr>
            <p:cNvPr id="32" name="p2-body-5"/>
            <p:cNvSpPr txBox="1"/>
            <p:nvPr/>
          </p:nvSpPr>
          <p:spPr>
            <a:xfrm>
              <a:off x="8020050" y="10415588"/>
              <a:ext cx="3781425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加载时间小于 3 秒</a:t>
              </a:r>
            </a:p>
          </p:txBody>
        </p:sp>
        <p:sp>
          <p:nvSpPr>
            <p:cNvPr id="33" name="p2-banner"/>
            <p:cNvSpPr/>
            <p:nvPr/>
          </p:nvSpPr>
          <p:spPr>
            <a:xfrm>
              <a:off x="7943850" y="11601450"/>
              <a:ext cx="3914775" cy="2571750"/>
            </a:xfrm>
            <a:custGeom>
              <a:avLst/>
              <a:gdLst/>
              <a:ahLst/>
              <a:cxnLst/>
              <a:rect l="l" t="t" r="r" b="b"/>
              <a:pathLst>
                <a:path w="3914775" h="2571750">
                  <a:moveTo>
                    <a:pt x="0" y="828675"/>
                  </a:moveTo>
                  <a:lnTo>
                    <a:pt x="1957388" y="0"/>
                  </a:lnTo>
                  <a:lnTo>
                    <a:pt x="3914775" y="828675"/>
                  </a:lnTo>
                  <a:lnTo>
                    <a:pt x="3914775" y="2571750"/>
                  </a:lnTo>
                  <a:lnTo>
                    <a:pt x="1957388" y="1733550"/>
                  </a:lnTo>
                  <a:lnTo>
                    <a:pt x="0" y="2571750"/>
                  </a:lnTo>
                  <a:close/>
                </a:path>
              </a:pathLst>
            </a:cu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p2-banner-text"/>
            <p:cNvSpPr txBox="1"/>
            <p:nvPr/>
          </p:nvSpPr>
          <p:spPr>
            <a:xfrm>
              <a:off x="8381985" y="12340590"/>
              <a:ext cx="3076605" cy="8077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Measurable</a:t>
              </a:r>
            </a:p>
          </p:txBody>
        </p:sp>
      </p:grpSp>
      <p:grpSp>
        <p:nvGrpSpPr>
          <p:cNvPr id="87" name="panel-3"/>
          <p:cNvGrpSpPr/>
          <p:nvPr/>
        </p:nvGrpSpPr>
        <p:grpSpPr>
          <a:xfrm>
            <a:off x="12734925" y="4429125"/>
            <a:ext cx="4981575" cy="9744075"/>
            <a:chOff x="12734925" y="4429125"/>
            <a:chExt cx="4981575" cy="9744075"/>
          </a:xfrm>
        </p:grpSpPr>
        <p:sp>
          <p:nvSpPr>
            <p:cNvPr id="35" name="p3-panel"/>
            <p:cNvSpPr/>
            <p:nvPr/>
          </p:nvSpPr>
          <p:spPr>
            <a:xfrm>
              <a:off x="12734925" y="4429125"/>
              <a:ext cx="4981575" cy="8791575"/>
            </a:xfrm>
            <a:custGeom>
              <a:avLst/>
              <a:gdLst/>
              <a:ahLst/>
              <a:cxnLst/>
              <a:rect l="l" t="t" r="r" b="b"/>
              <a:pathLst>
                <a:path w="4981575" h="8791575">
                  <a:moveTo>
                    <a:pt x="2490787" y="0"/>
                  </a:moveTo>
                  <a:lnTo>
                    <a:pt x="4981575" y="1076325"/>
                  </a:lnTo>
                  <a:lnTo>
                    <a:pt x="4981575" y="8791575"/>
                  </a:lnTo>
                  <a:lnTo>
                    <a:pt x="0" y="8791575"/>
                  </a:lnTo>
                  <a:lnTo>
                    <a:pt x="0" y="1076325"/>
                  </a:lnTo>
                  <a:close/>
                </a:path>
              </a:pathLst>
            </a:custGeom>
            <a:solidFill>
              <a:srgbClr val="E9EFFB"/>
            </a:solidFill>
            <a:ln w="19050">
              <a:solidFill>
                <a:srgbClr val="A9C4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80" name="p3-icon"/>
            <p:cNvGrpSpPr/>
            <p:nvPr/>
          </p:nvGrpSpPr>
          <p:grpSpPr>
            <a:xfrm>
              <a:off x="14787562" y="5257800"/>
              <a:ext cx="876300" cy="876300"/>
              <a:chOff x="14787562" y="5257800"/>
              <a:chExt cx="876300" cy="876300"/>
            </a:xfrm>
          </p:grpSpPr>
          <p:sp>
            <p:nvSpPr>
              <p:cNvPr id="36" name="p3-ic-ring-out"/>
              <p:cNvSpPr/>
              <p:nvPr/>
            </p:nvSpPr>
            <p:spPr>
              <a:xfrm>
                <a:off x="14787562" y="5257800"/>
                <a:ext cx="876300" cy="876300"/>
              </a:xfrm>
              <a:prstGeom prst="ellipse">
                <a:avLst/>
              </a:prstGeom>
              <a:noFill/>
              <a:ln w="85725">
                <a:solidFill>
                  <a:srgbClr val="53A2E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p3-ic-ring-in"/>
              <p:cNvSpPr/>
              <p:nvPr/>
            </p:nvSpPr>
            <p:spPr>
              <a:xfrm>
                <a:off x="15011400" y="5481638"/>
                <a:ext cx="428625" cy="428625"/>
              </a:xfrm>
              <a:prstGeom prst="ellipse">
                <a:avLst/>
              </a:prstGeom>
              <a:noFill/>
              <a:ln w="85725">
                <a:solidFill>
                  <a:srgbClr val="53A2E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p3-ic-dot"/>
              <p:cNvSpPr/>
              <p:nvPr/>
            </p:nvSpPr>
            <p:spPr>
              <a:xfrm>
                <a:off x="15178088" y="5648325"/>
                <a:ext cx="95250" cy="95250"/>
              </a:xfrm>
              <a:prstGeom prst="ellipse">
                <a:avLst/>
              </a:prstGeom>
              <a:solidFill>
                <a:srgbClr val="53A2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9" name="p3-ic-arrow"/>
              <p:cNvCxnSpPr/>
              <p:nvPr/>
            </p:nvCxnSpPr>
            <p:spPr>
              <a:xfrm flipV="1">
                <a:off x="15244762" y="5295900"/>
                <a:ext cx="361950" cy="381000"/>
              </a:xfrm>
              <a:prstGeom prst="line">
                <a:avLst/>
              </a:prstGeom>
              <a:ln w="104775">
                <a:solidFill>
                  <a:srgbClr val="53A2EF"/>
                </a:solidFill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p3-head-1"/>
            <p:cNvSpPr txBox="1"/>
            <p:nvPr/>
          </p:nvSpPr>
          <p:spPr>
            <a:xfrm>
              <a:off x="14056424" y="6295072"/>
              <a:ext cx="2357628" cy="9067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462" b="1" i="0">
                  <a:solidFill>
                    <a:srgbClr val="173679"/>
                  </a:solidFill>
                  <a:latin typeface="Microsoft YaHei"/>
                  <a:ea typeface="Microsoft YaHei"/>
                  <a:cs typeface="Microsoft YaHei"/>
                </a:rPr>
                <a:t>资源匹配</a:t>
              </a:r>
            </a:p>
          </p:txBody>
        </p:sp>
        <p:sp>
          <p:nvSpPr>
            <p:cNvPr id="41" name="p3-head-2"/>
            <p:cNvSpPr txBox="1"/>
            <p:nvPr/>
          </p:nvSpPr>
          <p:spPr>
            <a:xfrm>
              <a:off x="14056424" y="7028498"/>
              <a:ext cx="2357628" cy="9067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462" b="1" i="0">
                  <a:solidFill>
                    <a:srgbClr val="173679"/>
                  </a:solidFill>
                  <a:latin typeface="Microsoft YaHei"/>
                  <a:ea typeface="Microsoft YaHei"/>
                  <a:cs typeface="Microsoft YaHei"/>
                </a:rPr>
                <a:t>与可行性</a:t>
              </a:r>
            </a:p>
          </p:txBody>
        </p:sp>
        <p:sp>
          <p:nvSpPr>
            <p:cNvPr id="42" name="p3-body-1"/>
            <p:cNvSpPr txBox="1"/>
            <p:nvPr/>
          </p:nvSpPr>
          <p:spPr>
            <a:xfrm>
              <a:off x="13149024" y="8039100"/>
              <a:ext cx="4153376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项目团队拥有成熟的</a:t>
              </a:r>
            </a:p>
          </p:txBody>
        </p:sp>
        <p:sp>
          <p:nvSpPr>
            <p:cNvPr id="43" name="p3-body-2"/>
            <p:cNvSpPr txBox="1"/>
            <p:nvPr/>
          </p:nvSpPr>
          <p:spPr>
            <a:xfrm>
              <a:off x="13158549" y="8639175"/>
              <a:ext cx="4153376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底层架构组件，技术</a:t>
              </a:r>
            </a:p>
          </p:txBody>
        </p:sp>
        <p:sp>
          <p:nvSpPr>
            <p:cNvPr id="44" name="p3-body-3"/>
            <p:cNvSpPr txBox="1"/>
            <p:nvPr/>
          </p:nvSpPr>
          <p:spPr>
            <a:xfrm>
              <a:off x="13325475" y="9224962"/>
              <a:ext cx="3810000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架构 B 的搭建具备</a:t>
              </a:r>
            </a:p>
          </p:txBody>
        </p:sp>
        <p:sp>
          <p:nvSpPr>
            <p:cNvPr id="45" name="p3-body-4"/>
            <p:cNvSpPr txBox="1"/>
            <p:nvPr/>
          </p:nvSpPr>
          <p:spPr>
            <a:xfrm>
              <a:off x="13153787" y="9825038"/>
              <a:ext cx="4153376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技术储备，预计能在</a:t>
              </a:r>
            </a:p>
          </p:txBody>
        </p:sp>
        <p:sp>
          <p:nvSpPr>
            <p:cNvPr id="46" name="p3-body-5"/>
            <p:cNvSpPr txBox="1"/>
            <p:nvPr/>
          </p:nvSpPr>
          <p:spPr>
            <a:xfrm>
              <a:off x="13620036" y="10415588"/>
              <a:ext cx="3230404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规定时间内完成</a:t>
              </a:r>
            </a:p>
          </p:txBody>
        </p:sp>
        <p:sp>
          <p:nvSpPr>
            <p:cNvPr id="47" name="p3-banner"/>
            <p:cNvSpPr/>
            <p:nvPr/>
          </p:nvSpPr>
          <p:spPr>
            <a:xfrm>
              <a:off x="13268325" y="11601450"/>
              <a:ext cx="3914775" cy="2571750"/>
            </a:xfrm>
            <a:custGeom>
              <a:avLst/>
              <a:gdLst/>
              <a:ahLst/>
              <a:cxnLst/>
              <a:rect l="l" t="t" r="r" b="b"/>
              <a:pathLst>
                <a:path w="3914775" h="2571750">
                  <a:moveTo>
                    <a:pt x="0" y="828675"/>
                  </a:moveTo>
                  <a:lnTo>
                    <a:pt x="1957387" y="0"/>
                  </a:lnTo>
                  <a:lnTo>
                    <a:pt x="3914775" y="828675"/>
                  </a:lnTo>
                  <a:lnTo>
                    <a:pt x="3914775" y="2571750"/>
                  </a:lnTo>
                  <a:lnTo>
                    <a:pt x="1957387" y="1733550"/>
                  </a:lnTo>
                  <a:lnTo>
                    <a:pt x="0" y="2571750"/>
                  </a:lnTo>
                  <a:close/>
                </a:path>
              </a:pathLst>
            </a:cu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p3-banner-text"/>
            <p:cNvSpPr txBox="1"/>
            <p:nvPr/>
          </p:nvSpPr>
          <p:spPr>
            <a:xfrm>
              <a:off x="13706460" y="12340590"/>
              <a:ext cx="3076605" cy="8077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Achievable</a:t>
              </a:r>
            </a:p>
          </p:txBody>
        </p:sp>
      </p:grpSp>
      <p:grpSp>
        <p:nvGrpSpPr>
          <p:cNvPr id="89" name="panel-4"/>
          <p:cNvGrpSpPr/>
          <p:nvPr/>
        </p:nvGrpSpPr>
        <p:grpSpPr>
          <a:xfrm>
            <a:off x="18078450" y="4429125"/>
            <a:ext cx="4981575" cy="9744075"/>
            <a:chOff x="18078450" y="4429125"/>
            <a:chExt cx="4981575" cy="9744075"/>
          </a:xfrm>
        </p:grpSpPr>
        <p:sp>
          <p:nvSpPr>
            <p:cNvPr id="49" name="p4-panel"/>
            <p:cNvSpPr/>
            <p:nvPr/>
          </p:nvSpPr>
          <p:spPr>
            <a:xfrm>
              <a:off x="18078450" y="4429125"/>
              <a:ext cx="4981575" cy="8791575"/>
            </a:xfrm>
            <a:custGeom>
              <a:avLst/>
              <a:gdLst/>
              <a:ahLst/>
              <a:cxnLst/>
              <a:rect l="l" t="t" r="r" b="b"/>
              <a:pathLst>
                <a:path w="4981575" h="8791575">
                  <a:moveTo>
                    <a:pt x="2490788" y="0"/>
                  </a:moveTo>
                  <a:lnTo>
                    <a:pt x="4981575" y="1076325"/>
                  </a:lnTo>
                  <a:lnTo>
                    <a:pt x="4981575" y="8791575"/>
                  </a:lnTo>
                  <a:lnTo>
                    <a:pt x="0" y="8791575"/>
                  </a:lnTo>
                  <a:lnTo>
                    <a:pt x="0" y="1076325"/>
                  </a:lnTo>
                  <a:close/>
                </a:path>
              </a:pathLst>
            </a:custGeom>
            <a:solidFill>
              <a:srgbClr val="E9EFFB"/>
            </a:solidFill>
            <a:ln w="19050">
              <a:solidFill>
                <a:srgbClr val="A9C4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83" name="p4-icon"/>
            <p:cNvGrpSpPr/>
            <p:nvPr/>
          </p:nvGrpSpPr>
          <p:grpSpPr>
            <a:xfrm>
              <a:off x="20092988" y="5219700"/>
              <a:ext cx="952500" cy="952500"/>
              <a:chOff x="20092988" y="5219700"/>
              <a:chExt cx="952500" cy="952500"/>
            </a:xfrm>
          </p:grpSpPr>
          <p:sp>
            <p:nvSpPr>
              <p:cNvPr id="50" name="p4-ic-ring-out"/>
              <p:cNvSpPr/>
              <p:nvPr/>
            </p:nvSpPr>
            <p:spPr>
              <a:xfrm>
                <a:off x="20264438" y="5391150"/>
                <a:ext cx="609600" cy="609600"/>
              </a:xfrm>
              <a:prstGeom prst="ellipse">
                <a:avLst/>
              </a:prstGeom>
              <a:noFill/>
              <a:ln w="104775">
                <a:solidFill>
                  <a:srgbClr val="53A2E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p4-ic-dot"/>
              <p:cNvSpPr/>
              <p:nvPr/>
            </p:nvSpPr>
            <p:spPr>
              <a:xfrm>
                <a:off x="20493038" y="5619750"/>
                <a:ext cx="152400" cy="152400"/>
              </a:xfrm>
              <a:prstGeom prst="ellipse">
                <a:avLst/>
              </a:prstGeom>
              <a:solidFill>
                <a:srgbClr val="53A2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p4-ic-tick-0"/>
              <p:cNvSpPr/>
              <p:nvPr/>
            </p:nvSpPr>
            <p:spPr>
              <a:xfrm>
                <a:off x="20797838" y="5648325"/>
                <a:ext cx="2476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95250">
                    <a:moveTo>
                      <a:pt x="0" y="95250"/>
                    </a:moveTo>
                    <a:lnTo>
                      <a:pt x="0" y="0"/>
                    </a:lnTo>
                    <a:lnTo>
                      <a:pt x="247650" y="0"/>
                    </a:lnTo>
                    <a:lnTo>
                      <a:pt x="247650" y="95250"/>
                    </a:lnTo>
                    <a:close/>
                  </a:path>
                </a:pathLst>
              </a:custGeom>
              <a:solidFill>
                <a:srgbClr val="53A2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p4-ic-tick-1"/>
              <p:cNvSpPr/>
              <p:nvPr/>
            </p:nvSpPr>
            <p:spPr>
              <a:xfrm>
                <a:off x="20521612" y="5924550"/>
                <a:ext cx="952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47650">
                    <a:moveTo>
                      <a:pt x="0" y="0"/>
                    </a:moveTo>
                    <a:lnTo>
                      <a:pt x="95250" y="0"/>
                    </a:lnTo>
                    <a:lnTo>
                      <a:pt x="95250" y="247650"/>
                    </a:lnTo>
                    <a:lnTo>
                      <a:pt x="0" y="247650"/>
                    </a:lnTo>
                    <a:close/>
                  </a:path>
                </a:pathLst>
              </a:custGeom>
              <a:solidFill>
                <a:srgbClr val="53A2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p4-ic-tick-2"/>
              <p:cNvSpPr/>
              <p:nvPr/>
            </p:nvSpPr>
            <p:spPr>
              <a:xfrm>
                <a:off x="20092988" y="5648325"/>
                <a:ext cx="2476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95250">
                    <a:moveTo>
                      <a:pt x="247650" y="0"/>
                    </a:moveTo>
                    <a:lnTo>
                      <a:pt x="247650" y="95250"/>
                    </a:lnTo>
                    <a:lnTo>
                      <a:pt x="0" y="952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3A2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p4-ic-tick-3"/>
              <p:cNvSpPr/>
              <p:nvPr/>
            </p:nvSpPr>
            <p:spPr>
              <a:xfrm>
                <a:off x="20521612" y="5219700"/>
                <a:ext cx="952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47650">
                    <a:moveTo>
                      <a:pt x="95250" y="247650"/>
                    </a:moveTo>
                    <a:lnTo>
                      <a:pt x="0" y="247650"/>
                    </a:lnTo>
                    <a:lnTo>
                      <a:pt x="0" y="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rgbClr val="53A2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56" name="p4-head-1"/>
            <p:cNvSpPr txBox="1"/>
            <p:nvPr/>
          </p:nvSpPr>
          <p:spPr>
            <a:xfrm>
              <a:off x="18796254" y="6295072"/>
              <a:ext cx="3536442" cy="9067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462" b="1" i="0">
                  <a:solidFill>
                    <a:srgbClr val="173679"/>
                  </a:solidFill>
                  <a:latin typeface="Microsoft YaHei"/>
                  <a:ea typeface="Microsoft YaHei"/>
                  <a:cs typeface="Microsoft YaHei"/>
                </a:rPr>
                <a:t>对齐项目愿景</a:t>
              </a:r>
            </a:p>
          </p:txBody>
        </p:sp>
        <p:sp>
          <p:nvSpPr>
            <p:cNvPr id="57" name="p4-head-2"/>
            <p:cNvSpPr txBox="1"/>
            <p:nvPr/>
          </p:nvSpPr>
          <p:spPr>
            <a:xfrm>
              <a:off x="19688175" y="7028498"/>
              <a:ext cx="1781175" cy="9067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462" b="1" i="0">
                  <a:solidFill>
                    <a:srgbClr val="173679"/>
                  </a:solidFill>
                  <a:latin typeface="Microsoft YaHei"/>
                  <a:ea typeface="Microsoft YaHei"/>
                  <a:cs typeface="Microsoft YaHei"/>
                </a:rPr>
                <a:t>与战略</a:t>
              </a:r>
            </a:p>
          </p:txBody>
        </p:sp>
        <p:sp>
          <p:nvSpPr>
            <p:cNvPr id="58" name="p4-body-1"/>
            <p:cNvSpPr txBox="1"/>
            <p:nvPr/>
          </p:nvSpPr>
          <p:spPr>
            <a:xfrm>
              <a:off x="18497312" y="8034338"/>
              <a:ext cx="4153376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所有目标的设定紧密</a:t>
              </a:r>
            </a:p>
          </p:txBody>
        </p:sp>
        <p:sp>
          <p:nvSpPr>
            <p:cNvPr id="59" name="p4-body-2"/>
            <p:cNvSpPr txBox="1"/>
            <p:nvPr/>
          </p:nvSpPr>
          <p:spPr>
            <a:xfrm>
              <a:off x="18518910" y="8634412"/>
              <a:ext cx="4014930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围绕 “打造业界领先</a:t>
              </a:r>
            </a:p>
          </p:txBody>
        </p:sp>
        <p:sp>
          <p:nvSpPr>
            <p:cNvPr id="60" name="p4-body-3"/>
            <p:cNvSpPr txBox="1"/>
            <p:nvPr/>
          </p:nvSpPr>
          <p:spPr>
            <a:xfrm>
              <a:off x="18515476" y="9229725"/>
              <a:ext cx="4097998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的 AI 驱动客户服务</a:t>
              </a:r>
            </a:p>
          </p:txBody>
        </p:sp>
        <p:sp>
          <p:nvSpPr>
            <p:cNvPr id="61" name="p4-body-4"/>
            <p:cNvSpPr txBox="1"/>
            <p:nvPr/>
          </p:nvSpPr>
          <p:spPr>
            <a:xfrm>
              <a:off x="18414135" y="9825038"/>
              <a:ext cx="4014930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平台” 这一核心愿景</a:t>
              </a:r>
            </a:p>
          </p:txBody>
        </p:sp>
        <p:sp>
          <p:nvSpPr>
            <p:cNvPr id="62" name="p4-banner"/>
            <p:cNvSpPr/>
            <p:nvPr/>
          </p:nvSpPr>
          <p:spPr>
            <a:xfrm>
              <a:off x="18611850" y="11601450"/>
              <a:ext cx="3914775" cy="2571750"/>
            </a:xfrm>
            <a:custGeom>
              <a:avLst/>
              <a:gdLst/>
              <a:ahLst/>
              <a:cxnLst/>
              <a:rect l="l" t="t" r="r" b="b"/>
              <a:pathLst>
                <a:path w="3914775" h="2571750">
                  <a:moveTo>
                    <a:pt x="0" y="828675"/>
                  </a:moveTo>
                  <a:lnTo>
                    <a:pt x="1957388" y="0"/>
                  </a:lnTo>
                  <a:lnTo>
                    <a:pt x="3914775" y="828675"/>
                  </a:lnTo>
                  <a:lnTo>
                    <a:pt x="3914775" y="2571750"/>
                  </a:lnTo>
                  <a:lnTo>
                    <a:pt x="1957388" y="1733550"/>
                  </a:lnTo>
                  <a:lnTo>
                    <a:pt x="0" y="2571750"/>
                  </a:lnTo>
                  <a:close/>
                </a:path>
              </a:pathLst>
            </a:cu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p4-banner-text"/>
            <p:cNvSpPr txBox="1"/>
            <p:nvPr/>
          </p:nvSpPr>
          <p:spPr>
            <a:xfrm>
              <a:off x="19354495" y="12340590"/>
              <a:ext cx="2467585" cy="8077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Relevant</a:t>
              </a:r>
            </a:p>
          </p:txBody>
        </p:sp>
      </p:grpSp>
      <p:grpSp>
        <p:nvGrpSpPr>
          <p:cNvPr id="88" name="panel-5"/>
          <p:cNvGrpSpPr/>
          <p:nvPr/>
        </p:nvGrpSpPr>
        <p:grpSpPr>
          <a:xfrm>
            <a:off x="23421975" y="4429125"/>
            <a:ext cx="4981575" cy="9744075"/>
            <a:chOff x="23421975" y="4429125"/>
            <a:chExt cx="4981575" cy="9744075"/>
          </a:xfrm>
        </p:grpSpPr>
        <p:sp>
          <p:nvSpPr>
            <p:cNvPr id="64" name="p5-panel"/>
            <p:cNvSpPr/>
            <p:nvPr/>
          </p:nvSpPr>
          <p:spPr>
            <a:xfrm>
              <a:off x="23421975" y="4429125"/>
              <a:ext cx="4981575" cy="8791575"/>
            </a:xfrm>
            <a:custGeom>
              <a:avLst/>
              <a:gdLst/>
              <a:ahLst/>
              <a:cxnLst/>
              <a:rect l="l" t="t" r="r" b="b"/>
              <a:pathLst>
                <a:path w="4981575" h="8791575">
                  <a:moveTo>
                    <a:pt x="2490787" y="0"/>
                  </a:moveTo>
                  <a:lnTo>
                    <a:pt x="4981575" y="1076325"/>
                  </a:lnTo>
                  <a:lnTo>
                    <a:pt x="4981575" y="8791575"/>
                  </a:lnTo>
                  <a:lnTo>
                    <a:pt x="0" y="8791575"/>
                  </a:lnTo>
                  <a:lnTo>
                    <a:pt x="0" y="1076325"/>
                  </a:lnTo>
                  <a:close/>
                </a:path>
              </a:pathLst>
            </a:custGeom>
            <a:solidFill>
              <a:srgbClr val="E9EFFB"/>
            </a:solidFill>
            <a:ln w="19050">
              <a:solidFill>
                <a:srgbClr val="A9C4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81" name="p5-icon"/>
            <p:cNvGrpSpPr/>
            <p:nvPr/>
          </p:nvGrpSpPr>
          <p:grpSpPr>
            <a:xfrm>
              <a:off x="25474612" y="5257800"/>
              <a:ext cx="876300" cy="876300"/>
              <a:chOff x="25474612" y="5257800"/>
              <a:chExt cx="876300" cy="876300"/>
            </a:xfrm>
          </p:grpSpPr>
          <p:sp>
            <p:nvSpPr>
              <p:cNvPr id="65" name="p5-ic-ring-out"/>
              <p:cNvSpPr/>
              <p:nvPr/>
            </p:nvSpPr>
            <p:spPr>
              <a:xfrm>
                <a:off x="25474612" y="5257800"/>
                <a:ext cx="876300" cy="876300"/>
              </a:xfrm>
              <a:prstGeom prst="ellipse">
                <a:avLst/>
              </a:prstGeom>
              <a:noFill/>
              <a:ln w="57150">
                <a:solidFill>
                  <a:srgbClr val="53A2E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p5-ic-ring-in"/>
              <p:cNvSpPr/>
              <p:nvPr/>
            </p:nvSpPr>
            <p:spPr>
              <a:xfrm>
                <a:off x="25674638" y="5457825"/>
                <a:ext cx="476250" cy="476250"/>
              </a:xfrm>
              <a:prstGeom prst="ellipse">
                <a:avLst/>
              </a:prstGeom>
              <a:noFill/>
              <a:ln w="57150">
                <a:solidFill>
                  <a:srgbClr val="53A2E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p5-ic-dot"/>
              <p:cNvSpPr/>
              <p:nvPr/>
            </p:nvSpPr>
            <p:spPr>
              <a:xfrm>
                <a:off x="25865138" y="5648325"/>
                <a:ext cx="95250" cy="95250"/>
              </a:xfrm>
              <a:prstGeom prst="ellipse">
                <a:avLst/>
              </a:prstGeom>
              <a:solidFill>
                <a:srgbClr val="53A2E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68" name="p5-ic-arrow"/>
              <p:cNvCxnSpPr/>
              <p:nvPr/>
            </p:nvCxnSpPr>
            <p:spPr>
              <a:xfrm flipV="1">
                <a:off x="25931812" y="5314950"/>
                <a:ext cx="342900" cy="361950"/>
              </a:xfrm>
              <a:prstGeom prst="line">
                <a:avLst/>
              </a:prstGeom>
              <a:ln w="95250">
                <a:solidFill>
                  <a:srgbClr val="53A2EF"/>
                </a:solidFill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p5-head-1"/>
            <p:cNvSpPr txBox="1"/>
            <p:nvPr/>
          </p:nvSpPr>
          <p:spPr>
            <a:xfrm>
              <a:off x="24177879" y="6295072"/>
              <a:ext cx="3536442" cy="9067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462" b="1" i="0">
                  <a:solidFill>
                    <a:srgbClr val="173679"/>
                  </a:solidFill>
                  <a:latin typeface="Microsoft YaHei"/>
                  <a:ea typeface="Microsoft YaHei"/>
                  <a:cs typeface="Microsoft YaHei"/>
                </a:rPr>
                <a:t>明确里程碑与</a:t>
              </a:r>
            </a:p>
          </p:txBody>
        </p:sp>
        <p:sp>
          <p:nvSpPr>
            <p:cNvPr id="70" name="p5-head-2"/>
            <p:cNvSpPr txBox="1"/>
            <p:nvPr/>
          </p:nvSpPr>
          <p:spPr>
            <a:xfrm>
              <a:off x="24738711" y="7033260"/>
              <a:ext cx="2357628" cy="9067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462" b="1" i="0">
                  <a:solidFill>
                    <a:srgbClr val="173679"/>
                  </a:solidFill>
                  <a:latin typeface="Microsoft YaHei"/>
                  <a:ea typeface="Microsoft YaHei"/>
                  <a:cs typeface="Microsoft YaHei"/>
                </a:rPr>
                <a:t>截止日期</a:t>
              </a:r>
            </a:p>
          </p:txBody>
        </p:sp>
        <p:sp>
          <p:nvSpPr>
            <p:cNvPr id="71" name="p5-body-1"/>
            <p:cNvSpPr txBox="1"/>
            <p:nvPr/>
          </p:nvSpPr>
          <p:spPr>
            <a:xfrm>
              <a:off x="23893558" y="8034338"/>
              <a:ext cx="3876484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核心系统 P95 响应</a:t>
              </a:r>
            </a:p>
          </p:txBody>
        </p:sp>
        <p:sp>
          <p:nvSpPr>
            <p:cNvPr id="72" name="p5-body-2"/>
            <p:cNvSpPr txBox="1"/>
            <p:nvPr/>
          </p:nvSpPr>
          <p:spPr>
            <a:xfrm>
              <a:off x="23837146" y="8634412"/>
              <a:ext cx="3922633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时间降至 200ms 以</a:t>
              </a:r>
            </a:p>
          </p:txBody>
        </p:sp>
        <p:sp>
          <p:nvSpPr>
            <p:cNvPr id="73" name="p5-body-3"/>
            <p:cNvSpPr txBox="1"/>
            <p:nvPr/>
          </p:nvSpPr>
          <p:spPr>
            <a:xfrm>
              <a:off x="23846966" y="9229725"/>
              <a:ext cx="3941093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内，确保在 4G/Wi-</a:t>
              </a:r>
            </a:p>
          </p:txBody>
        </p:sp>
        <p:sp>
          <p:nvSpPr>
            <p:cNvPr id="74" name="p5-body-4"/>
            <p:cNvSpPr txBox="1"/>
            <p:nvPr/>
          </p:nvSpPr>
          <p:spPr>
            <a:xfrm>
              <a:off x="23918256" y="9825038"/>
              <a:ext cx="3931863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Fi 混合网络下的极</a:t>
              </a:r>
            </a:p>
          </p:txBody>
        </p:sp>
        <p:sp>
          <p:nvSpPr>
            <p:cNvPr id="75" name="p5-body-5"/>
            <p:cNvSpPr txBox="1"/>
            <p:nvPr/>
          </p:nvSpPr>
          <p:spPr>
            <a:xfrm>
              <a:off x="24765000" y="10415588"/>
              <a:ext cx="2333625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62" b="0" i="0">
                  <a:solidFill>
                    <a:srgbClr val="18191D"/>
                  </a:solidFill>
                  <a:latin typeface="Microsoft YaHei"/>
                  <a:ea typeface="Microsoft YaHei"/>
                  <a:cs typeface="Microsoft YaHei"/>
                </a:rPr>
                <a:t>致流畅体验</a:t>
              </a:r>
            </a:p>
          </p:txBody>
        </p:sp>
        <p:sp>
          <p:nvSpPr>
            <p:cNvPr id="76" name="p5-banner"/>
            <p:cNvSpPr/>
            <p:nvPr/>
          </p:nvSpPr>
          <p:spPr>
            <a:xfrm>
              <a:off x="23955375" y="11601450"/>
              <a:ext cx="3914775" cy="2571750"/>
            </a:xfrm>
            <a:custGeom>
              <a:avLst/>
              <a:gdLst/>
              <a:ahLst/>
              <a:cxnLst/>
              <a:rect l="l" t="t" r="r" b="b"/>
              <a:pathLst>
                <a:path w="3914775" h="2571750">
                  <a:moveTo>
                    <a:pt x="0" y="828675"/>
                  </a:moveTo>
                  <a:lnTo>
                    <a:pt x="1957387" y="0"/>
                  </a:lnTo>
                  <a:lnTo>
                    <a:pt x="3914775" y="828675"/>
                  </a:lnTo>
                  <a:lnTo>
                    <a:pt x="3914775" y="2571750"/>
                  </a:lnTo>
                  <a:lnTo>
                    <a:pt x="1957387" y="1733550"/>
                  </a:lnTo>
                  <a:lnTo>
                    <a:pt x="0" y="2571750"/>
                  </a:lnTo>
                  <a:close/>
                </a:path>
              </a:pathLst>
            </a:cu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p5-banner-text"/>
            <p:cNvSpPr txBox="1"/>
            <p:nvPr/>
          </p:nvSpPr>
          <p:spPr>
            <a:xfrm>
              <a:off x="24345900" y="12340590"/>
              <a:ext cx="3133725" cy="8077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Time-bound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