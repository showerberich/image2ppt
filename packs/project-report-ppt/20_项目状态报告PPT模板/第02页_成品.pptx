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anvas-frame"/>
          <p:cNvSpPr/>
          <p:nvPr/>
        </p:nvSpPr>
        <p:spPr>
          <a:xfrm>
            <a:off x="9525" y="9525"/>
            <a:ext cx="30451425" cy="17116425"/>
          </a:xfrm>
          <a:prstGeom prst="rect">
            <a:avLst/>
          </a:prstGeom>
          <a:noFill/>
          <a:ln w="19050">
            <a:solidFill>
              <a:srgbClr val="8080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60" name="grp-dir"/>
          <p:cNvGrpSpPr/>
          <p:nvPr/>
        </p:nvGrpSpPr>
        <p:grpSpPr>
          <a:xfrm>
            <a:off x="895350" y="4152900"/>
            <a:ext cx="7010400" cy="9534525"/>
            <a:chOff x="895350" y="4152900"/>
            <a:chExt cx="7010400" cy="9534525"/>
          </a:xfrm>
        </p:grpSpPr>
        <p:sp>
          <p:nvSpPr>
            <p:cNvPr id="4" name="dir-panel"/>
            <p:cNvSpPr/>
            <p:nvPr/>
          </p:nvSpPr>
          <p:spPr>
            <a:xfrm>
              <a:off x="895350" y="4152900"/>
              <a:ext cx="7010400" cy="9534525"/>
            </a:xfrm>
            <a:prstGeom prst="rect">
              <a:avLst/>
            </a:prstGeom>
            <a:solidFill>
              <a:srgbClr val="17367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r-deco"/>
            <p:cNvSpPr/>
            <p:nvPr/>
          </p:nvSpPr>
          <p:spPr>
            <a:xfrm>
              <a:off x="895350" y="4467225"/>
              <a:ext cx="2847975" cy="1209675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r-1"/>
            <p:cNvSpPr txBox="1"/>
            <p:nvPr/>
          </p:nvSpPr>
          <p:spPr>
            <a:xfrm>
              <a:off x="3221355" y="5676900"/>
              <a:ext cx="2377440" cy="3429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8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目</a:t>
              </a:r>
            </a:p>
          </p:txBody>
        </p:sp>
        <p:sp>
          <p:nvSpPr>
            <p:cNvPr id="7" name="dir-2"/>
            <p:cNvSpPr txBox="1"/>
            <p:nvPr/>
          </p:nvSpPr>
          <p:spPr>
            <a:xfrm>
              <a:off x="3221355" y="8724900"/>
              <a:ext cx="2377440" cy="3429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8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录</a:t>
              </a:r>
            </a:p>
          </p:txBody>
        </p:sp>
      </p:grpSp>
      <p:grpSp>
        <p:nvGrpSpPr>
          <p:cNvPr id="55" name="grp-s1"/>
          <p:cNvGrpSpPr/>
          <p:nvPr/>
        </p:nvGrpSpPr>
        <p:grpSpPr>
          <a:xfrm>
            <a:off x="8191500" y="4152900"/>
            <a:ext cx="5124450" cy="9534525"/>
            <a:chOff x="8191500" y="4152900"/>
            <a:chExt cx="5124450" cy="9534525"/>
          </a:xfrm>
        </p:grpSpPr>
        <p:sp>
          <p:nvSpPr>
            <p:cNvPr id="8" name="s1-panel"/>
            <p:cNvSpPr/>
            <p:nvPr/>
          </p:nvSpPr>
          <p:spPr>
            <a:xfrm>
              <a:off x="8191500" y="4152900"/>
              <a:ext cx="5124450" cy="9534525"/>
            </a:xfrm>
            <a:prstGeom prst="rect">
              <a:avLst/>
            </a:prstGeom>
            <a:solidFill>
              <a:srgbClr val="17367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s1-num"/>
            <p:cNvSpPr txBox="1"/>
            <p:nvPr/>
          </p:nvSpPr>
          <p:spPr>
            <a:xfrm>
              <a:off x="9486900" y="5295900"/>
              <a:ext cx="2476500" cy="2571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28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10" name="s1-title"/>
            <p:cNvSpPr txBox="1"/>
            <p:nvPr/>
          </p:nvSpPr>
          <p:spPr>
            <a:xfrm>
              <a:off x="8743950" y="7753350"/>
              <a:ext cx="4000500" cy="990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0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项目核心信息</a:t>
              </a:r>
            </a:p>
          </p:txBody>
        </p:sp>
        <p:cxnSp>
          <p:nvCxnSpPr>
            <p:cNvPr id="11" name="s1-rule"/>
            <p:cNvCxnSpPr/>
            <p:nvPr/>
          </p:nvCxnSpPr>
          <p:spPr>
            <a:xfrm>
              <a:off x="9963150" y="10544175"/>
              <a:ext cx="1562100" cy="0"/>
            </a:xfrm>
            <a:prstGeom prst="line">
              <a:avLst/>
            </a:prstGeom>
            <a:ln w="57150">
              <a:solidFill>
                <a:srgbClr val="FFFFFF"/>
              </a:solidFill>
            </a:ln>
            <a:effectLst/>
          </p:spPr>
        </p:cxnSp>
        <p:sp>
          <p:nvSpPr>
            <p:cNvPr id="12" name="ic-folder-outline"/>
            <p:cNvSpPr/>
            <p:nvPr/>
          </p:nvSpPr>
          <p:spPr>
            <a:xfrm>
              <a:off x="10077450" y="11777662"/>
              <a:ext cx="1076325" cy="995363"/>
            </a:xfrm>
            <a:custGeom>
              <a:avLst/>
              <a:gdLst/>
              <a:ahLst/>
              <a:cxnLst/>
              <a:rect l="l" t="t" r="r" b="b"/>
              <a:pathLst>
                <a:path w="1076325" h="995363">
                  <a:moveTo>
                    <a:pt x="0" y="0"/>
                  </a:moveTo>
                  <a:lnTo>
                    <a:pt x="430720" y="0"/>
                  </a:lnTo>
                  <a:lnTo>
                    <a:pt x="544068" y="146686"/>
                  </a:lnTo>
                  <a:lnTo>
                    <a:pt x="1076325" y="146686"/>
                  </a:lnTo>
                  <a:lnTo>
                    <a:pt x="1076325" y="995363"/>
                  </a:lnTo>
                  <a:lnTo>
                    <a:pt x="0" y="995363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ic-folder-seal"/>
            <p:cNvSpPr/>
            <p:nvPr/>
          </p:nvSpPr>
          <p:spPr>
            <a:xfrm>
              <a:off x="10350818" y="12115800"/>
              <a:ext cx="507682" cy="507682"/>
            </a:xfrm>
            <a:custGeom>
              <a:avLst/>
              <a:gdLst/>
              <a:ahLst/>
              <a:cxnLst/>
              <a:rect l="l" t="t" r="r" b="b"/>
              <a:pathLst>
                <a:path w="507682" h="507682">
                  <a:moveTo>
                    <a:pt x="507682" y="254318"/>
                  </a:moveTo>
                  <a:lnTo>
                    <a:pt x="492442" y="285750"/>
                  </a:lnTo>
                  <a:lnTo>
                    <a:pt x="461962" y="309562"/>
                  </a:lnTo>
                  <a:lnTo>
                    <a:pt x="441007" y="331470"/>
                  </a:lnTo>
                  <a:lnTo>
                    <a:pt x="441007" y="361950"/>
                  </a:lnTo>
                  <a:lnTo>
                    <a:pt x="444817" y="401002"/>
                  </a:lnTo>
                  <a:lnTo>
                    <a:pt x="432434" y="433388"/>
                  </a:lnTo>
                  <a:lnTo>
                    <a:pt x="400050" y="444818"/>
                  </a:lnTo>
                  <a:lnTo>
                    <a:pt x="360997" y="441008"/>
                  </a:lnTo>
                  <a:lnTo>
                    <a:pt x="331470" y="441960"/>
                  </a:lnTo>
                  <a:lnTo>
                    <a:pt x="309562" y="462915"/>
                  </a:lnTo>
                  <a:lnTo>
                    <a:pt x="284797" y="493395"/>
                  </a:lnTo>
                  <a:lnTo>
                    <a:pt x="253364" y="507682"/>
                  </a:lnTo>
                  <a:lnTo>
                    <a:pt x="221932" y="493395"/>
                  </a:lnTo>
                  <a:lnTo>
                    <a:pt x="197167" y="462915"/>
                  </a:lnTo>
                  <a:lnTo>
                    <a:pt x="175260" y="441960"/>
                  </a:lnTo>
                  <a:lnTo>
                    <a:pt x="145732" y="441008"/>
                  </a:lnTo>
                  <a:lnTo>
                    <a:pt x="106680" y="444818"/>
                  </a:lnTo>
                  <a:lnTo>
                    <a:pt x="74294" y="433388"/>
                  </a:lnTo>
                  <a:lnTo>
                    <a:pt x="61912" y="401002"/>
                  </a:lnTo>
                  <a:lnTo>
                    <a:pt x="66674" y="361950"/>
                  </a:lnTo>
                  <a:lnTo>
                    <a:pt x="65722" y="331470"/>
                  </a:lnTo>
                  <a:lnTo>
                    <a:pt x="44767" y="309562"/>
                  </a:lnTo>
                  <a:lnTo>
                    <a:pt x="14287" y="285750"/>
                  </a:lnTo>
                  <a:lnTo>
                    <a:pt x="0" y="254318"/>
                  </a:lnTo>
                  <a:lnTo>
                    <a:pt x="14287" y="221932"/>
                  </a:lnTo>
                  <a:lnTo>
                    <a:pt x="44767" y="198120"/>
                  </a:lnTo>
                  <a:lnTo>
                    <a:pt x="65722" y="176212"/>
                  </a:lnTo>
                  <a:lnTo>
                    <a:pt x="66674" y="145732"/>
                  </a:lnTo>
                  <a:lnTo>
                    <a:pt x="61912" y="106680"/>
                  </a:lnTo>
                  <a:lnTo>
                    <a:pt x="74294" y="74295"/>
                  </a:lnTo>
                  <a:lnTo>
                    <a:pt x="106680" y="62865"/>
                  </a:lnTo>
                  <a:lnTo>
                    <a:pt x="145732" y="66675"/>
                  </a:lnTo>
                  <a:lnTo>
                    <a:pt x="175260" y="65722"/>
                  </a:lnTo>
                  <a:lnTo>
                    <a:pt x="197167" y="44768"/>
                  </a:lnTo>
                  <a:lnTo>
                    <a:pt x="221932" y="14288"/>
                  </a:lnTo>
                  <a:lnTo>
                    <a:pt x="253364" y="0"/>
                  </a:lnTo>
                  <a:lnTo>
                    <a:pt x="284797" y="14288"/>
                  </a:lnTo>
                  <a:lnTo>
                    <a:pt x="309562" y="44768"/>
                  </a:lnTo>
                  <a:lnTo>
                    <a:pt x="331470" y="65722"/>
                  </a:lnTo>
                  <a:lnTo>
                    <a:pt x="360997" y="66675"/>
                  </a:lnTo>
                  <a:lnTo>
                    <a:pt x="400050" y="62865"/>
                  </a:lnTo>
                  <a:lnTo>
                    <a:pt x="432434" y="74295"/>
                  </a:lnTo>
                  <a:lnTo>
                    <a:pt x="444817" y="106680"/>
                  </a:lnTo>
                  <a:lnTo>
                    <a:pt x="441007" y="145732"/>
                  </a:lnTo>
                  <a:lnTo>
                    <a:pt x="441007" y="176212"/>
                  </a:lnTo>
                  <a:lnTo>
                    <a:pt x="461962" y="198120"/>
                  </a:lnTo>
                  <a:lnTo>
                    <a:pt x="492442" y="221932"/>
                  </a:lnTo>
                  <a:close/>
                </a:path>
              </a:pathLst>
            </a:custGeom>
            <a:noFill/>
            <a:ln w="66675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ic-folder-dot"/>
            <p:cNvSpPr/>
            <p:nvPr/>
          </p:nvSpPr>
          <p:spPr>
            <a:xfrm>
              <a:off x="10537603" y="12302966"/>
              <a:ext cx="133350" cy="1333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" name="grp-s2"/>
          <p:cNvGrpSpPr/>
          <p:nvPr/>
        </p:nvGrpSpPr>
        <p:grpSpPr>
          <a:xfrm>
            <a:off x="13582650" y="4152900"/>
            <a:ext cx="5153025" cy="9534525"/>
            <a:chOff x="13582650" y="4152900"/>
            <a:chExt cx="5153025" cy="9534525"/>
          </a:xfrm>
        </p:grpSpPr>
        <p:sp>
          <p:nvSpPr>
            <p:cNvPr id="15" name="s2-panel"/>
            <p:cNvSpPr/>
            <p:nvPr/>
          </p:nvSpPr>
          <p:spPr>
            <a:xfrm>
              <a:off x="13582650" y="4152900"/>
              <a:ext cx="5153025" cy="9534525"/>
            </a:xfrm>
            <a:prstGeom prst="rect">
              <a:avLst/>
            </a:prstGeom>
            <a:solidFill>
              <a:srgbClr val="E9EFF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s2-num"/>
            <p:cNvSpPr txBox="1"/>
            <p:nvPr/>
          </p:nvSpPr>
          <p:spPr>
            <a:xfrm>
              <a:off x="14906625" y="5305425"/>
              <a:ext cx="2476500" cy="2571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2825" b="1" i="0">
                  <a:solidFill>
                    <a:srgbClr val="173679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7" name="s2-title"/>
            <p:cNvSpPr txBox="1"/>
            <p:nvPr/>
          </p:nvSpPr>
          <p:spPr>
            <a:xfrm>
              <a:off x="13831443" y="7753350"/>
              <a:ext cx="4645914" cy="990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025" b="1" i="0">
                  <a:solidFill>
                    <a:srgbClr val="173679"/>
                  </a:solidFill>
                  <a:latin typeface="Microsoft YaHei"/>
                  <a:ea typeface="Microsoft YaHei"/>
                  <a:cs typeface="Microsoft YaHei"/>
                </a:rPr>
                <a:t>项目进展与成果</a:t>
              </a:r>
            </a:p>
          </p:txBody>
        </p:sp>
        <p:cxnSp>
          <p:nvCxnSpPr>
            <p:cNvPr id="18" name="s2-rule"/>
            <p:cNvCxnSpPr/>
            <p:nvPr/>
          </p:nvCxnSpPr>
          <p:spPr>
            <a:xfrm>
              <a:off x="15382875" y="10544175"/>
              <a:ext cx="1552575" cy="0"/>
            </a:xfrm>
            <a:prstGeom prst="line">
              <a:avLst/>
            </a:prstGeom>
            <a:ln w="57150">
              <a:solidFill>
                <a:srgbClr val="173679"/>
              </a:solidFill>
            </a:ln>
            <a:effectLst/>
          </p:spPr>
        </p:cxnSp>
        <p:cxnSp>
          <p:nvCxnSpPr>
            <p:cNvPr id="19" name="ic-clip-left"/>
            <p:cNvCxnSpPr/>
            <p:nvPr/>
          </p:nvCxnSpPr>
          <p:spPr>
            <a:xfrm>
              <a:off x="15697200" y="11763375"/>
              <a:ext cx="0" cy="971550"/>
            </a:xfrm>
            <a:prstGeom prst="line">
              <a:avLst/>
            </a:prstGeom>
            <a:ln w="76200">
              <a:solidFill>
                <a:srgbClr val="173679"/>
              </a:solidFill>
            </a:ln>
            <a:effectLst/>
          </p:spPr>
        </p:cxnSp>
        <p:cxnSp>
          <p:nvCxnSpPr>
            <p:cNvPr id="20" name="ic-clip-bottom"/>
            <p:cNvCxnSpPr/>
            <p:nvPr/>
          </p:nvCxnSpPr>
          <p:spPr>
            <a:xfrm>
              <a:off x="15697200" y="12734925"/>
              <a:ext cx="933450" cy="0"/>
            </a:xfrm>
            <a:prstGeom prst="line">
              <a:avLst/>
            </a:prstGeom>
            <a:ln w="76200">
              <a:solidFill>
                <a:srgbClr val="173679"/>
              </a:solidFill>
            </a:ln>
            <a:effectLst/>
          </p:spPr>
        </p:cxnSp>
        <p:cxnSp>
          <p:nvCxnSpPr>
            <p:cNvPr id="21" name="ic-clip-right"/>
            <p:cNvCxnSpPr/>
            <p:nvPr/>
          </p:nvCxnSpPr>
          <p:spPr>
            <a:xfrm>
              <a:off x="16592550" y="11972925"/>
              <a:ext cx="0" cy="762000"/>
            </a:xfrm>
            <a:prstGeom prst="line">
              <a:avLst/>
            </a:prstGeom>
            <a:ln w="76200">
              <a:solidFill>
                <a:srgbClr val="173679"/>
              </a:solidFill>
            </a:ln>
            <a:effectLst/>
          </p:spPr>
        </p:cxnSp>
        <p:sp>
          <p:nvSpPr>
            <p:cNvPr id="22" name="ic-clip-tab"/>
            <p:cNvSpPr/>
            <p:nvPr/>
          </p:nvSpPr>
          <p:spPr>
            <a:xfrm>
              <a:off x="15859125" y="11630025"/>
              <a:ext cx="533400" cy="238125"/>
            </a:xfrm>
            <a:prstGeom prst="roundRect">
              <a:avLst>
                <a:gd name="adj" fmla="val 24000"/>
              </a:avLst>
            </a:prstGeom>
            <a:noFill/>
            <a:ln w="57150">
              <a:solidFill>
                <a:srgbClr val="17367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ic-clip-dot"/>
            <p:cNvSpPr/>
            <p:nvPr/>
          </p:nvSpPr>
          <p:spPr>
            <a:xfrm>
              <a:off x="16487775" y="11868150"/>
              <a:ext cx="133350" cy="133350"/>
            </a:xfrm>
            <a:prstGeom prst="ellipse">
              <a:avLst/>
            </a:prstGeom>
            <a:noFill/>
            <a:ln w="47625">
              <a:solidFill>
                <a:srgbClr val="17367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ic-clip-l0"/>
            <p:cNvCxnSpPr/>
            <p:nvPr/>
          </p:nvCxnSpPr>
          <p:spPr>
            <a:xfrm>
              <a:off x="15811500" y="12077700"/>
              <a:ext cx="666750" cy="0"/>
            </a:xfrm>
            <a:prstGeom prst="line">
              <a:avLst/>
            </a:prstGeom>
            <a:ln w="57150">
              <a:solidFill>
                <a:srgbClr val="173679"/>
              </a:solidFill>
            </a:ln>
            <a:effectLst/>
          </p:spPr>
        </p:cxnSp>
        <p:cxnSp>
          <p:nvCxnSpPr>
            <p:cNvPr id="25" name="ic-clip-l1"/>
            <p:cNvCxnSpPr/>
            <p:nvPr/>
          </p:nvCxnSpPr>
          <p:spPr>
            <a:xfrm>
              <a:off x="15811500" y="12268200"/>
              <a:ext cx="476250" cy="0"/>
            </a:xfrm>
            <a:prstGeom prst="line">
              <a:avLst/>
            </a:prstGeom>
            <a:ln w="57150">
              <a:solidFill>
                <a:srgbClr val="173679"/>
              </a:solidFill>
            </a:ln>
            <a:effectLst/>
          </p:spPr>
        </p:cxnSp>
        <p:cxnSp>
          <p:nvCxnSpPr>
            <p:cNvPr id="26" name="ic-clip-l2"/>
            <p:cNvCxnSpPr/>
            <p:nvPr/>
          </p:nvCxnSpPr>
          <p:spPr>
            <a:xfrm>
              <a:off x="15811500" y="12458700"/>
              <a:ext cx="476250" cy="0"/>
            </a:xfrm>
            <a:prstGeom prst="line">
              <a:avLst/>
            </a:prstGeom>
            <a:ln w="57150">
              <a:solidFill>
                <a:srgbClr val="173679"/>
              </a:solidFill>
            </a:ln>
            <a:effectLst/>
          </p:spPr>
        </p:cxnSp>
      </p:grpSp>
      <p:grpSp>
        <p:nvGrpSpPr>
          <p:cNvPr id="56" name="grp-s3"/>
          <p:cNvGrpSpPr/>
          <p:nvPr/>
        </p:nvGrpSpPr>
        <p:grpSpPr>
          <a:xfrm>
            <a:off x="18992850" y="4152900"/>
            <a:ext cx="5153025" cy="9534525"/>
            <a:chOff x="18992850" y="4152900"/>
            <a:chExt cx="5153025" cy="9534525"/>
          </a:xfrm>
        </p:grpSpPr>
        <p:sp>
          <p:nvSpPr>
            <p:cNvPr id="27" name="s3-panel"/>
            <p:cNvSpPr/>
            <p:nvPr/>
          </p:nvSpPr>
          <p:spPr>
            <a:xfrm>
              <a:off x="18992850" y="4152900"/>
              <a:ext cx="5153025" cy="9534525"/>
            </a:xfrm>
            <a:prstGeom prst="rect">
              <a:avLst/>
            </a:prstGeom>
            <a:solidFill>
              <a:srgbClr val="E9EFF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s3-num"/>
            <p:cNvSpPr txBox="1"/>
            <p:nvPr/>
          </p:nvSpPr>
          <p:spPr>
            <a:xfrm>
              <a:off x="20307300" y="5305425"/>
              <a:ext cx="2476500" cy="2571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2825" b="1" i="0">
                  <a:solidFill>
                    <a:srgbClr val="173679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29" name="s3-title"/>
            <p:cNvSpPr txBox="1"/>
            <p:nvPr/>
          </p:nvSpPr>
          <p:spPr>
            <a:xfrm>
              <a:off x="19251168" y="7753350"/>
              <a:ext cx="4645914" cy="990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025" b="1" i="0">
                  <a:solidFill>
                    <a:srgbClr val="173679"/>
                  </a:solidFill>
                  <a:latin typeface="Microsoft YaHei"/>
                  <a:ea typeface="Microsoft YaHei"/>
                  <a:cs typeface="Microsoft YaHei"/>
                </a:rPr>
                <a:t>财务与资源状态</a:t>
              </a:r>
            </a:p>
          </p:txBody>
        </p:sp>
        <p:cxnSp>
          <p:nvCxnSpPr>
            <p:cNvPr id="30" name="s3-rule"/>
            <p:cNvCxnSpPr/>
            <p:nvPr/>
          </p:nvCxnSpPr>
          <p:spPr>
            <a:xfrm>
              <a:off x="20793075" y="10544175"/>
              <a:ext cx="1562100" cy="0"/>
            </a:xfrm>
            <a:prstGeom prst="line">
              <a:avLst/>
            </a:prstGeom>
            <a:ln w="57150">
              <a:solidFill>
                <a:srgbClr val="173679"/>
              </a:solidFill>
            </a:ln>
            <a:effectLst/>
          </p:spPr>
        </p:cxnSp>
        <p:sp>
          <p:nvSpPr>
            <p:cNvPr id="31" name="ic-lay-diamond"/>
            <p:cNvSpPr/>
            <p:nvPr/>
          </p:nvSpPr>
          <p:spPr>
            <a:xfrm>
              <a:off x="21040725" y="11652885"/>
              <a:ext cx="1066800" cy="548640"/>
            </a:xfrm>
            <a:custGeom>
              <a:avLst/>
              <a:gdLst/>
              <a:ahLst/>
              <a:cxnLst/>
              <a:rect l="l" t="t" r="r" b="b"/>
              <a:pathLst>
                <a:path w="1066800" h="548640">
                  <a:moveTo>
                    <a:pt x="533400" y="0"/>
                  </a:moveTo>
                  <a:lnTo>
                    <a:pt x="1066800" y="274320"/>
                  </a:lnTo>
                  <a:lnTo>
                    <a:pt x="533400" y="548640"/>
                  </a:lnTo>
                  <a:lnTo>
                    <a:pt x="0" y="274320"/>
                  </a:lnTo>
                  <a:lnTo>
                    <a:pt x="533400" y="0"/>
                  </a:lnTo>
                </a:path>
              </a:pathLst>
            </a:custGeom>
            <a:noFill/>
            <a:ln w="57150">
              <a:solidFill>
                <a:srgbClr val="17367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ic-lay-v0"/>
            <p:cNvSpPr/>
            <p:nvPr/>
          </p:nvSpPr>
          <p:spPr>
            <a:xfrm>
              <a:off x="21040725" y="12201525"/>
              <a:ext cx="1066800" cy="274320"/>
            </a:xfrm>
            <a:custGeom>
              <a:avLst/>
              <a:gdLst/>
              <a:ahLst/>
              <a:cxnLst/>
              <a:rect l="l" t="t" r="r" b="b"/>
              <a:pathLst>
                <a:path w="1066800" h="274320">
                  <a:moveTo>
                    <a:pt x="0" y="0"/>
                  </a:moveTo>
                  <a:lnTo>
                    <a:pt x="533400" y="274320"/>
                  </a:lnTo>
                  <a:lnTo>
                    <a:pt x="1066800" y="0"/>
                  </a:lnTo>
                </a:path>
              </a:pathLst>
            </a:custGeom>
            <a:noFill/>
            <a:ln w="57150">
              <a:solidFill>
                <a:srgbClr val="17367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ic-lay-v1"/>
            <p:cNvSpPr/>
            <p:nvPr/>
          </p:nvSpPr>
          <p:spPr>
            <a:xfrm>
              <a:off x="21040725" y="12498705"/>
              <a:ext cx="1066800" cy="274320"/>
            </a:xfrm>
            <a:custGeom>
              <a:avLst/>
              <a:gdLst/>
              <a:ahLst/>
              <a:cxnLst/>
              <a:rect l="l" t="t" r="r" b="b"/>
              <a:pathLst>
                <a:path w="1066800" h="274320">
                  <a:moveTo>
                    <a:pt x="0" y="0"/>
                  </a:moveTo>
                  <a:lnTo>
                    <a:pt x="533400" y="274320"/>
                  </a:lnTo>
                  <a:lnTo>
                    <a:pt x="1066800" y="0"/>
                  </a:lnTo>
                </a:path>
              </a:pathLst>
            </a:custGeom>
            <a:noFill/>
            <a:ln w="57150">
              <a:solidFill>
                <a:srgbClr val="17367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" name="grp-s4"/>
          <p:cNvGrpSpPr/>
          <p:nvPr/>
        </p:nvGrpSpPr>
        <p:grpSpPr>
          <a:xfrm>
            <a:off x="24422100" y="4152900"/>
            <a:ext cx="5133975" cy="9534525"/>
            <a:chOff x="24422100" y="4152900"/>
            <a:chExt cx="5133975" cy="9534525"/>
          </a:xfrm>
        </p:grpSpPr>
        <p:sp>
          <p:nvSpPr>
            <p:cNvPr id="34" name="s4-panel"/>
            <p:cNvSpPr/>
            <p:nvPr/>
          </p:nvSpPr>
          <p:spPr>
            <a:xfrm>
              <a:off x="24422100" y="4152900"/>
              <a:ext cx="5133975" cy="9534525"/>
            </a:xfrm>
            <a:prstGeom prst="rect">
              <a:avLst/>
            </a:prstGeom>
            <a:solidFill>
              <a:srgbClr val="E9EFF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s4-num"/>
            <p:cNvSpPr txBox="1"/>
            <p:nvPr/>
          </p:nvSpPr>
          <p:spPr>
            <a:xfrm>
              <a:off x="25803225" y="5305425"/>
              <a:ext cx="2476500" cy="2571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2825" b="1" i="0">
                  <a:solidFill>
                    <a:srgbClr val="173679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  <p:sp>
          <p:nvSpPr>
            <p:cNvPr id="36" name="s4-title"/>
            <p:cNvSpPr txBox="1"/>
            <p:nvPr/>
          </p:nvSpPr>
          <p:spPr>
            <a:xfrm>
              <a:off x="24708993" y="7753350"/>
              <a:ext cx="4645914" cy="990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025" b="1" i="0">
                  <a:solidFill>
                    <a:srgbClr val="173679"/>
                  </a:solidFill>
                  <a:latin typeface="Microsoft YaHei"/>
                  <a:ea typeface="Microsoft YaHei"/>
                  <a:cs typeface="Microsoft YaHei"/>
                </a:rPr>
                <a:t>风险问题与应对</a:t>
              </a:r>
            </a:p>
          </p:txBody>
        </p:sp>
        <p:cxnSp>
          <p:nvCxnSpPr>
            <p:cNvPr id="37" name="s4-rule"/>
            <p:cNvCxnSpPr/>
            <p:nvPr/>
          </p:nvCxnSpPr>
          <p:spPr>
            <a:xfrm>
              <a:off x="26250900" y="10544175"/>
              <a:ext cx="1562100" cy="0"/>
            </a:xfrm>
            <a:prstGeom prst="line">
              <a:avLst/>
            </a:prstGeom>
            <a:ln w="57150">
              <a:solidFill>
                <a:srgbClr val="173679"/>
              </a:solidFill>
            </a:ln>
            <a:effectLst/>
          </p:spPr>
        </p:cxnSp>
        <p:sp>
          <p:nvSpPr>
            <p:cNvPr id="38" name="ic-calc-body"/>
            <p:cNvSpPr/>
            <p:nvPr/>
          </p:nvSpPr>
          <p:spPr>
            <a:xfrm>
              <a:off x="26469975" y="11630025"/>
              <a:ext cx="1038225" cy="1143000"/>
            </a:xfrm>
            <a:prstGeom prst="roundRect">
              <a:avLst>
                <a:gd name="adj" fmla="val 12844"/>
              </a:avLst>
            </a:prstGeom>
            <a:noFill/>
            <a:ln w="57150">
              <a:solidFill>
                <a:srgbClr val="17367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ic-calc-screen"/>
            <p:cNvSpPr/>
            <p:nvPr/>
          </p:nvSpPr>
          <p:spPr>
            <a:xfrm>
              <a:off x="26636091" y="11790045"/>
              <a:ext cx="705993" cy="297180"/>
            </a:xfrm>
            <a:prstGeom prst="roundRect">
              <a:avLst>
                <a:gd name="adj" fmla="val 12820"/>
              </a:avLst>
            </a:prstGeom>
            <a:noFill/>
            <a:ln w="47625">
              <a:solidFill>
                <a:srgbClr val="17367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ic-calc-x1"/>
            <p:cNvCxnSpPr/>
            <p:nvPr/>
          </p:nvCxnSpPr>
          <p:spPr>
            <a:xfrm>
              <a:off x="26657618" y="12226290"/>
              <a:ext cx="247650" cy="247650"/>
            </a:xfrm>
            <a:prstGeom prst="line">
              <a:avLst/>
            </a:prstGeom>
            <a:ln w="57150">
              <a:solidFill>
                <a:srgbClr val="173679"/>
              </a:solidFill>
            </a:ln>
            <a:effectLst/>
          </p:spPr>
        </p:cxnSp>
        <p:cxnSp>
          <p:nvCxnSpPr>
            <p:cNvPr id="41" name="ic-calc-x2"/>
            <p:cNvCxnSpPr/>
            <p:nvPr/>
          </p:nvCxnSpPr>
          <p:spPr>
            <a:xfrm flipV="1">
              <a:off x="26657618" y="12226290"/>
              <a:ext cx="247650" cy="247650"/>
            </a:xfrm>
            <a:prstGeom prst="line">
              <a:avLst/>
            </a:prstGeom>
            <a:ln w="57150">
              <a:solidFill>
                <a:srgbClr val="173679"/>
              </a:solidFill>
            </a:ln>
            <a:effectLst/>
          </p:spPr>
        </p:cxnSp>
        <p:cxnSp>
          <p:nvCxnSpPr>
            <p:cNvPr id="42" name="ic-calc-e1"/>
            <p:cNvCxnSpPr/>
            <p:nvPr/>
          </p:nvCxnSpPr>
          <p:spPr>
            <a:xfrm>
              <a:off x="27040904" y="12273915"/>
              <a:ext cx="228600" cy="0"/>
            </a:xfrm>
            <a:prstGeom prst="line">
              <a:avLst/>
            </a:prstGeom>
            <a:ln w="57150">
              <a:solidFill>
                <a:srgbClr val="173679"/>
              </a:solidFill>
            </a:ln>
            <a:effectLst/>
          </p:spPr>
        </p:cxnSp>
        <p:cxnSp>
          <p:nvCxnSpPr>
            <p:cNvPr id="43" name="ic-calc-e2"/>
            <p:cNvCxnSpPr/>
            <p:nvPr/>
          </p:nvCxnSpPr>
          <p:spPr>
            <a:xfrm>
              <a:off x="27040904" y="12435840"/>
              <a:ext cx="228600" cy="0"/>
            </a:xfrm>
            <a:prstGeom prst="line">
              <a:avLst/>
            </a:prstGeom>
            <a:ln w="57150">
              <a:solidFill>
                <a:srgbClr val="173679"/>
              </a:solidFill>
            </a:ln>
            <a:effectLst/>
          </p:spPr>
        </p:cxnSp>
      </p:grpSp>
      <p:sp>
        <p:nvSpPr>
          <p:cNvPr id="44" name="corner-shape"/>
          <p:cNvSpPr/>
          <p:nvPr/>
        </p:nvSpPr>
        <p:spPr>
          <a:xfrm>
            <a:off x="25784175" y="914400"/>
            <a:ext cx="3762375" cy="3228975"/>
          </a:xfrm>
          <a:custGeom>
            <a:avLst/>
            <a:gdLst/>
            <a:ahLst/>
            <a:cxnLst/>
            <a:rect l="l" t="t" r="r" b="b"/>
            <a:pathLst>
              <a:path w="3762375" h="3228975">
                <a:moveTo>
                  <a:pt x="0" y="0"/>
                </a:moveTo>
                <a:lnTo>
                  <a:pt x="3762375" y="0"/>
                </a:lnTo>
                <a:lnTo>
                  <a:pt x="3762375" y="3228975"/>
                </a:lnTo>
                <a:lnTo>
                  <a:pt x="3228975" y="3228975"/>
                </a:lnTo>
                <a:close/>
              </a:path>
            </a:pathLst>
          </a:custGeom>
          <a:solidFill>
            <a:srgbClr val="1736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burger-1"/>
          <p:cNvSpPr/>
          <p:nvPr/>
        </p:nvSpPr>
        <p:spPr>
          <a:xfrm>
            <a:off x="28413075" y="1743075"/>
            <a:ext cx="495300" cy="57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burger-2"/>
          <p:cNvSpPr/>
          <p:nvPr/>
        </p:nvSpPr>
        <p:spPr>
          <a:xfrm>
            <a:off x="28413075" y="1905000"/>
            <a:ext cx="495300" cy="57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burger-3"/>
          <p:cNvSpPr/>
          <p:nvPr/>
        </p:nvSpPr>
        <p:spPr>
          <a:xfrm>
            <a:off x="28413075" y="2085975"/>
            <a:ext cx="495300" cy="57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59" name="grp-bar"/>
          <p:cNvGrpSpPr/>
          <p:nvPr/>
        </p:nvGrpSpPr>
        <p:grpSpPr>
          <a:xfrm>
            <a:off x="895350" y="14654212"/>
            <a:ext cx="10287000" cy="1628776"/>
            <a:chOff x="895350" y="14654212"/>
            <a:chExt cx="10287000" cy="1628776"/>
          </a:xfrm>
        </p:grpSpPr>
        <p:sp>
          <p:nvSpPr>
            <p:cNvPr id="48" name="bar-panel"/>
            <p:cNvSpPr/>
            <p:nvPr/>
          </p:nvSpPr>
          <p:spPr>
            <a:xfrm>
              <a:off x="895350" y="14654212"/>
              <a:ext cx="10287000" cy="1628776"/>
            </a:xfrm>
            <a:custGeom>
              <a:avLst/>
              <a:gdLst/>
              <a:ahLst/>
              <a:cxnLst/>
              <a:rect l="l" t="t" r="r" b="b"/>
              <a:pathLst>
                <a:path w="10287000" h="1628776">
                  <a:moveTo>
                    <a:pt x="0" y="0"/>
                  </a:moveTo>
                  <a:lnTo>
                    <a:pt x="8658225" y="0"/>
                  </a:lnTo>
                  <a:lnTo>
                    <a:pt x="10287000" y="1628776"/>
                  </a:lnTo>
                  <a:lnTo>
                    <a:pt x="0" y="1628776"/>
                  </a:lnTo>
                  <a:close/>
                </a:path>
              </a:pathLst>
            </a:custGeom>
            <a:solidFill>
              <a:srgbClr val="17367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bar-prev"/>
            <p:cNvSpPr/>
            <p:nvPr/>
          </p:nvSpPr>
          <p:spPr>
            <a:xfrm>
              <a:off x="1314450" y="15259050"/>
              <a:ext cx="209550" cy="419100"/>
            </a:xfrm>
            <a:custGeom>
              <a:avLst/>
              <a:gdLst/>
              <a:ahLst/>
              <a:cxnLst/>
              <a:rect l="l" t="t" r="r" b="b"/>
              <a:pathLst>
                <a:path w="209550" h="419100">
                  <a:moveTo>
                    <a:pt x="209550" y="0"/>
                  </a:moveTo>
                  <a:lnTo>
                    <a:pt x="0" y="209550"/>
                  </a:lnTo>
                  <a:lnTo>
                    <a:pt x="209550" y="419100"/>
                  </a:lnTo>
                </a:path>
              </a:pathLst>
            </a:custGeom>
            <a:noFill/>
            <a:ln w="5715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ar-next"/>
            <p:cNvSpPr/>
            <p:nvPr/>
          </p:nvSpPr>
          <p:spPr>
            <a:xfrm>
              <a:off x="2943225" y="15259050"/>
              <a:ext cx="209550" cy="419100"/>
            </a:xfrm>
            <a:custGeom>
              <a:avLst/>
              <a:gdLst/>
              <a:ahLst/>
              <a:cxnLst/>
              <a:rect l="l" t="t" r="r" b="b"/>
              <a:pathLst>
                <a:path w="209550" h="419100">
                  <a:moveTo>
                    <a:pt x="0" y="0"/>
                  </a:moveTo>
                  <a:lnTo>
                    <a:pt x="209550" y="209550"/>
                  </a:lnTo>
                  <a:lnTo>
                    <a:pt x="0" y="419100"/>
                  </a:lnTo>
                </a:path>
              </a:pathLst>
            </a:custGeom>
            <a:noFill/>
            <a:ln w="5715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bar-cur"/>
            <p:cNvSpPr txBox="1"/>
            <p:nvPr/>
          </p:nvSpPr>
          <p:spPr>
            <a:xfrm>
              <a:off x="3686175" y="15097125"/>
              <a:ext cx="876300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2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cxnSp>
          <p:nvCxnSpPr>
            <p:cNvPr id="52" name="bar-line"/>
            <p:cNvCxnSpPr/>
            <p:nvPr/>
          </p:nvCxnSpPr>
          <p:spPr>
            <a:xfrm>
              <a:off x="4572000" y="15459075"/>
              <a:ext cx="3333750" cy="0"/>
            </a:xfrm>
            <a:prstGeom prst="line">
              <a:avLst/>
            </a:prstGeom>
            <a:ln w="47625">
              <a:solidFill>
                <a:srgbClr val="FFFFFF"/>
              </a:solidFill>
            </a:ln>
            <a:effectLst/>
          </p:spPr>
        </p:cxnSp>
        <p:sp>
          <p:nvSpPr>
            <p:cNvPr id="53" name="bar-total"/>
            <p:cNvSpPr txBox="1"/>
            <p:nvPr/>
          </p:nvSpPr>
          <p:spPr>
            <a:xfrm>
              <a:off x="7934325" y="15097125"/>
              <a:ext cx="876300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2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