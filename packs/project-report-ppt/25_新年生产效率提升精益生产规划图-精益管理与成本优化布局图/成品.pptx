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023050" cy="18764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2023050" cy="18764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anvas-frame"/>
          <p:cNvSpPr/>
          <p:nvPr/>
        </p:nvSpPr>
        <p:spPr>
          <a:xfrm>
            <a:off x="1752600" y="1676400"/>
            <a:ext cx="28422600" cy="15563850"/>
          </a:xfrm>
          <a:prstGeom prst="rect">
            <a:avLst/>
          </a:prstGeom>
          <a:noFill/>
          <a:ln w="57150">
            <a:solidFill>
              <a:srgbClr val="3630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rner-tl"/>
          <p:cNvSpPr/>
          <p:nvPr/>
        </p:nvSpPr>
        <p:spPr>
          <a:xfrm>
            <a:off x="1038225" y="1047750"/>
            <a:ext cx="3209925" cy="2352675"/>
          </a:xfrm>
          <a:custGeom>
            <a:avLst/>
            <a:gdLst/>
            <a:ahLst/>
            <a:cxnLst/>
            <a:rect l="l" t="t" r="r" b="b"/>
            <a:pathLst>
              <a:path w="3209925" h="2352675">
                <a:moveTo>
                  <a:pt x="2647950" y="0"/>
                </a:moveTo>
                <a:lnTo>
                  <a:pt x="3209925" y="762000"/>
                </a:lnTo>
                <a:lnTo>
                  <a:pt x="466725" y="2352675"/>
                </a:lnTo>
                <a:lnTo>
                  <a:pt x="0" y="1524000"/>
                </a:lnTo>
                <a:close/>
              </a:path>
            </a:pathLst>
          </a:custGeom>
          <a:solidFill>
            <a:srgbClr val="7E8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rner-tr"/>
          <p:cNvSpPr/>
          <p:nvPr/>
        </p:nvSpPr>
        <p:spPr>
          <a:xfrm>
            <a:off x="27679650" y="1047750"/>
            <a:ext cx="3209925" cy="2352675"/>
          </a:xfrm>
          <a:custGeom>
            <a:avLst/>
            <a:gdLst/>
            <a:ahLst/>
            <a:cxnLst/>
            <a:rect l="l" t="t" r="r" b="b"/>
            <a:pathLst>
              <a:path w="3209925" h="2352675">
                <a:moveTo>
                  <a:pt x="561975" y="0"/>
                </a:moveTo>
                <a:lnTo>
                  <a:pt x="0" y="762000"/>
                </a:lnTo>
                <a:lnTo>
                  <a:pt x="2743200" y="2352675"/>
                </a:lnTo>
                <a:lnTo>
                  <a:pt x="3209925" y="1524000"/>
                </a:lnTo>
                <a:close/>
              </a:path>
            </a:pathLst>
          </a:custGeom>
          <a:solidFill>
            <a:srgbClr val="7E8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rner-bl"/>
          <p:cNvSpPr/>
          <p:nvPr/>
        </p:nvSpPr>
        <p:spPr>
          <a:xfrm>
            <a:off x="1038225" y="15516225"/>
            <a:ext cx="3209925" cy="2352675"/>
          </a:xfrm>
          <a:custGeom>
            <a:avLst/>
            <a:gdLst/>
            <a:ahLst/>
            <a:cxnLst/>
            <a:rect l="l" t="t" r="r" b="b"/>
            <a:pathLst>
              <a:path w="3209925" h="2352675">
                <a:moveTo>
                  <a:pt x="2647950" y="2352675"/>
                </a:moveTo>
                <a:lnTo>
                  <a:pt x="3209925" y="1590675"/>
                </a:lnTo>
                <a:lnTo>
                  <a:pt x="466725" y="0"/>
                </a:lnTo>
                <a:lnTo>
                  <a:pt x="0" y="828675"/>
                </a:lnTo>
                <a:close/>
              </a:path>
            </a:pathLst>
          </a:custGeom>
          <a:solidFill>
            <a:srgbClr val="7E8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rner-br"/>
          <p:cNvSpPr/>
          <p:nvPr/>
        </p:nvSpPr>
        <p:spPr>
          <a:xfrm>
            <a:off x="27679650" y="15516225"/>
            <a:ext cx="3209925" cy="2352675"/>
          </a:xfrm>
          <a:custGeom>
            <a:avLst/>
            <a:gdLst/>
            <a:ahLst/>
            <a:cxnLst/>
            <a:rect l="l" t="t" r="r" b="b"/>
            <a:pathLst>
              <a:path w="3209925" h="2352675">
                <a:moveTo>
                  <a:pt x="561975" y="2352675"/>
                </a:moveTo>
                <a:lnTo>
                  <a:pt x="0" y="1590675"/>
                </a:lnTo>
                <a:lnTo>
                  <a:pt x="2743200" y="0"/>
                </a:lnTo>
                <a:lnTo>
                  <a:pt x="3209925" y="828675"/>
                </a:lnTo>
                <a:close/>
              </a:path>
            </a:pathLst>
          </a:custGeom>
          <a:solidFill>
            <a:srgbClr val="7E8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6962775" y="1914525"/>
            <a:ext cx="18097500" cy="1047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850" b="1" i="0">
                <a:solidFill>
                  <a:srgbClr val="33316D"/>
                </a:solidFill>
                <a:latin typeface="Microsoft YaHei"/>
                <a:ea typeface="Microsoft YaHei"/>
                <a:cs typeface="Microsoft YaHei"/>
              </a:rPr>
              <a:t>新年生产效率提升精益生产规划图/精益画布</a:t>
            </a:r>
          </a:p>
        </p:txBody>
      </p:sp>
      <p:grpSp>
        <p:nvGrpSpPr>
          <p:cNvPr id="134" name="cust"/>
          <p:cNvGrpSpPr/>
          <p:nvPr/>
        </p:nvGrpSpPr>
        <p:grpSpPr>
          <a:xfrm>
            <a:off x="2714625" y="3381375"/>
            <a:ext cx="4943475" cy="8343900"/>
            <a:chOff x="2714625" y="3381375"/>
            <a:chExt cx="4943475" cy="8343900"/>
          </a:xfrm>
        </p:grpSpPr>
        <p:sp>
          <p:nvSpPr>
            <p:cNvPr id="9" name="cust-panel"/>
            <p:cNvSpPr/>
            <p:nvPr/>
          </p:nvSpPr>
          <p:spPr>
            <a:xfrm>
              <a:off x="2714625" y="3381375"/>
              <a:ext cx="4943475" cy="8343900"/>
            </a:xfrm>
            <a:prstGeom prst="roundRect">
              <a:avLst>
                <a:gd name="adj" fmla="val 2697"/>
              </a:avLst>
            </a:prstGeom>
            <a:solidFill>
              <a:srgbClr val="EE6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cust-fold"/>
            <p:cNvSpPr/>
            <p:nvPr/>
          </p:nvSpPr>
          <p:spPr>
            <a:xfrm>
              <a:off x="6800850" y="10868025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857250"/>
                  </a:moveTo>
                  <a:lnTo>
                    <a:pt x="857250" y="0"/>
                  </a:lnTo>
                  <a:lnTo>
                    <a:pt x="857250" y="857250"/>
                  </a:lnTo>
                  <a:close/>
                </a:path>
              </a:pathLst>
            </a:custGeom>
            <a:solidFill>
              <a:srgbClr val="C351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25" name="cust-deco"/>
            <p:cNvGrpSpPr/>
            <p:nvPr/>
          </p:nvGrpSpPr>
          <p:grpSpPr>
            <a:xfrm>
              <a:off x="3182779" y="10246614"/>
              <a:ext cx="987742" cy="1022604"/>
              <a:chOff x="3182779" y="10246614"/>
              <a:chExt cx="987742" cy="1022604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3432620" y="10246614"/>
                <a:ext cx="488061" cy="488061"/>
              </a:xfrm>
              <a:prstGeom prst="ellipse">
                <a:avLst/>
              </a:prstGeom>
              <a:solidFill>
                <a:srgbClr val="F7B8B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Freeform 11"/>
              <p:cNvSpPr/>
              <p:nvPr/>
            </p:nvSpPr>
            <p:spPr>
              <a:xfrm>
                <a:off x="3182779" y="10804398"/>
                <a:ext cx="987742" cy="464820"/>
              </a:xfrm>
              <a:custGeom>
                <a:avLst/>
                <a:gdLst/>
                <a:ahLst/>
                <a:cxnLst/>
                <a:rect l="l" t="t" r="r" b="b"/>
                <a:pathLst>
                  <a:path w="987742" h="464820">
                    <a:moveTo>
                      <a:pt x="0" y="464820"/>
                    </a:moveTo>
                    <a:lnTo>
                      <a:pt x="493871" y="0"/>
                    </a:lnTo>
                    <a:lnTo>
                      <a:pt x="987742" y="464820"/>
                    </a:lnTo>
                    <a:close/>
                  </a:path>
                </a:pathLst>
              </a:custGeom>
              <a:solidFill>
                <a:srgbClr val="F7B8B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3" name="cust-hdr"/>
            <p:cNvSpPr/>
            <p:nvPr/>
          </p:nvSpPr>
          <p:spPr>
            <a:xfrm>
              <a:off x="2714625" y="3886200"/>
              <a:ext cx="4419600" cy="990600"/>
            </a:xfrm>
            <a:prstGeom prst="roundRect">
              <a:avLst>
                <a:gd name="adj" fmla="val 9615"/>
              </a:avLst>
            </a:prstGeom>
            <a:solidFill>
              <a:srgbClr val="CB3B3B"/>
            </a:solidFill>
            <a:ln w="28575">
              <a:solidFill>
                <a:srgbClr val="FFED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cust-hdr-tail"/>
            <p:cNvSpPr/>
            <p:nvPr/>
          </p:nvSpPr>
          <p:spPr>
            <a:xfrm>
              <a:off x="7115175" y="3886200"/>
              <a:ext cx="266700" cy="990600"/>
            </a:xfrm>
            <a:custGeom>
              <a:avLst/>
              <a:gdLst/>
              <a:ahLst/>
              <a:cxnLst/>
              <a:rect l="l" t="t" r="r" b="b"/>
              <a:pathLst>
                <a:path w="266700" h="990600">
                  <a:moveTo>
                    <a:pt x="0" y="0"/>
                  </a:moveTo>
                  <a:lnTo>
                    <a:pt x="266700" y="4953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CB3B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26" name="cust-hic"/>
            <p:cNvGrpSpPr/>
            <p:nvPr/>
          </p:nvGrpSpPr>
          <p:grpSpPr>
            <a:xfrm>
              <a:off x="6621399" y="4193667"/>
              <a:ext cx="530352" cy="430911"/>
              <a:chOff x="6621399" y="4193667"/>
              <a:chExt cx="530352" cy="430911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6657308" y="4193667"/>
                <a:ext cx="182308" cy="182308"/>
              </a:xfrm>
              <a:prstGeom prst="ellipse">
                <a:avLst/>
              </a:prstGeom>
              <a:solidFill>
                <a:srgbClr val="F0C8C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Freeform 15"/>
              <p:cNvSpPr/>
              <p:nvPr/>
            </p:nvSpPr>
            <p:spPr>
              <a:xfrm>
                <a:off x="6621399" y="4403598"/>
                <a:ext cx="254127" cy="220980"/>
              </a:xfrm>
              <a:custGeom>
                <a:avLst/>
                <a:gdLst/>
                <a:ahLst/>
                <a:cxnLst/>
                <a:rect l="l" t="t" r="r" b="b"/>
                <a:pathLst>
                  <a:path w="254127" h="220980">
                    <a:moveTo>
                      <a:pt x="0" y="220980"/>
                    </a:moveTo>
                    <a:lnTo>
                      <a:pt x="127063" y="0"/>
                    </a:lnTo>
                    <a:lnTo>
                      <a:pt x="254127" y="220980"/>
                    </a:lnTo>
                    <a:close/>
                  </a:path>
                </a:pathLst>
              </a:custGeom>
              <a:solidFill>
                <a:srgbClr val="F0C8C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6933533" y="4193667"/>
                <a:ext cx="182308" cy="182308"/>
              </a:xfrm>
              <a:prstGeom prst="ellipse">
                <a:avLst/>
              </a:prstGeom>
              <a:solidFill>
                <a:srgbClr val="F0C8C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Freeform 17"/>
              <p:cNvSpPr/>
              <p:nvPr/>
            </p:nvSpPr>
            <p:spPr>
              <a:xfrm>
                <a:off x="6897624" y="4403598"/>
                <a:ext cx="254127" cy="220980"/>
              </a:xfrm>
              <a:custGeom>
                <a:avLst/>
                <a:gdLst/>
                <a:ahLst/>
                <a:cxnLst/>
                <a:rect l="l" t="t" r="r" b="b"/>
                <a:pathLst>
                  <a:path w="254127" h="220980">
                    <a:moveTo>
                      <a:pt x="0" y="220980"/>
                    </a:moveTo>
                    <a:lnTo>
                      <a:pt x="127064" y="0"/>
                    </a:lnTo>
                    <a:lnTo>
                      <a:pt x="254127" y="220980"/>
                    </a:lnTo>
                    <a:close/>
                  </a:path>
                </a:pathLst>
              </a:custGeom>
              <a:solidFill>
                <a:srgbClr val="F0C8C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9" name="cust-title"/>
            <p:cNvSpPr txBox="1"/>
            <p:nvPr/>
          </p:nvSpPr>
          <p:spPr>
            <a:xfrm>
              <a:off x="3228975" y="3886200"/>
              <a:ext cx="2076450" cy="990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客户细分</a:t>
              </a:r>
            </a:p>
          </p:txBody>
        </p:sp>
        <p:sp>
          <p:nvSpPr>
            <p:cNvPr id="20" name="cust-l1"/>
            <p:cNvSpPr txBox="1"/>
            <p:nvPr/>
          </p:nvSpPr>
          <p:spPr>
            <a:xfrm>
              <a:off x="2952750" y="5095875"/>
              <a:ext cx="2838450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高端制造业客户</a:t>
              </a:r>
            </a:p>
          </p:txBody>
        </p:sp>
        <p:sp>
          <p:nvSpPr>
            <p:cNvPr id="21" name="cust-l2"/>
            <p:cNvSpPr txBox="1"/>
            <p:nvPr/>
          </p:nvSpPr>
          <p:spPr>
            <a:xfrm>
              <a:off x="2952750" y="5695950"/>
              <a:ext cx="2457450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大型企业客户</a:t>
              </a:r>
            </a:p>
          </p:txBody>
        </p:sp>
        <p:sp>
          <p:nvSpPr>
            <p:cNvPr id="22" name="cust-l3"/>
            <p:cNvSpPr txBox="1"/>
            <p:nvPr/>
          </p:nvSpPr>
          <p:spPr>
            <a:xfrm>
              <a:off x="2952750" y="6296025"/>
              <a:ext cx="2838450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注重品质的客户</a:t>
              </a:r>
            </a:p>
          </p:txBody>
        </p:sp>
      </p:grpSp>
      <p:grpSp>
        <p:nvGrpSpPr>
          <p:cNvPr id="133" name="chan"/>
          <p:cNvGrpSpPr/>
          <p:nvPr/>
        </p:nvGrpSpPr>
        <p:grpSpPr>
          <a:xfrm>
            <a:off x="7953375" y="3381375"/>
            <a:ext cx="5038725" cy="4019550"/>
            <a:chOff x="7953375" y="3381375"/>
            <a:chExt cx="5038725" cy="4019550"/>
          </a:xfrm>
        </p:grpSpPr>
        <p:sp>
          <p:nvSpPr>
            <p:cNvPr id="23" name="chan-panel"/>
            <p:cNvSpPr/>
            <p:nvPr/>
          </p:nvSpPr>
          <p:spPr>
            <a:xfrm>
              <a:off x="7953375" y="3381375"/>
              <a:ext cx="5038725" cy="4019550"/>
            </a:xfrm>
            <a:prstGeom prst="roundRect">
              <a:avLst>
                <a:gd name="adj" fmla="val 3317"/>
              </a:avLst>
            </a:prstGeom>
            <a:solidFill>
              <a:srgbClr val="6F65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chan-fold"/>
            <p:cNvSpPr/>
            <p:nvPr/>
          </p:nvSpPr>
          <p:spPr>
            <a:xfrm>
              <a:off x="12134850" y="6543675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857250"/>
                  </a:moveTo>
                  <a:lnTo>
                    <a:pt x="857250" y="0"/>
                  </a:lnTo>
                  <a:lnTo>
                    <a:pt x="857250" y="857250"/>
                  </a:lnTo>
                  <a:close/>
                </a:path>
              </a:pathLst>
            </a:custGeom>
            <a:solidFill>
              <a:srgbClr val="5B52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chan-hdr"/>
            <p:cNvSpPr/>
            <p:nvPr/>
          </p:nvSpPr>
          <p:spPr>
            <a:xfrm>
              <a:off x="7953375" y="3886200"/>
              <a:ext cx="4467225" cy="990600"/>
            </a:xfrm>
            <a:prstGeom prst="roundRect">
              <a:avLst>
                <a:gd name="adj" fmla="val 9615"/>
              </a:avLst>
            </a:prstGeom>
            <a:solidFill>
              <a:srgbClr val="4F43D3"/>
            </a:solidFill>
            <a:ln w="28575">
              <a:solidFill>
                <a:srgbClr val="FFED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chan-hdr-tail"/>
            <p:cNvSpPr/>
            <p:nvPr/>
          </p:nvSpPr>
          <p:spPr>
            <a:xfrm>
              <a:off x="12401550" y="3886200"/>
              <a:ext cx="266700" cy="990600"/>
            </a:xfrm>
            <a:custGeom>
              <a:avLst/>
              <a:gdLst/>
              <a:ahLst/>
              <a:cxnLst/>
              <a:rect l="l" t="t" r="r" b="b"/>
              <a:pathLst>
                <a:path w="266700" h="990600">
                  <a:moveTo>
                    <a:pt x="0" y="0"/>
                  </a:moveTo>
                  <a:lnTo>
                    <a:pt x="266700" y="4953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4F43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27" name="chan-hic"/>
            <p:cNvGrpSpPr/>
            <p:nvPr/>
          </p:nvGrpSpPr>
          <p:grpSpPr>
            <a:xfrm>
              <a:off x="11929872" y="4182618"/>
              <a:ext cx="486156" cy="453009"/>
              <a:chOff x="11929872" y="4182618"/>
              <a:chExt cx="486156" cy="453009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11929872" y="4182618"/>
                <a:ext cx="143637" cy="143637"/>
              </a:xfrm>
              <a:prstGeom prst="ellipse">
                <a:avLst/>
              </a:prstGeom>
              <a:solidFill>
                <a:srgbClr val="CDCAF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12272391" y="4182618"/>
                <a:ext cx="143637" cy="143637"/>
              </a:xfrm>
              <a:prstGeom prst="ellipse">
                <a:avLst/>
              </a:prstGeom>
              <a:solidFill>
                <a:srgbClr val="CDCAF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12095607" y="4337304"/>
                <a:ext cx="154686" cy="154686"/>
              </a:xfrm>
              <a:prstGeom prst="ellipse">
                <a:avLst/>
              </a:prstGeom>
              <a:solidFill>
                <a:srgbClr val="CDCAF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12272391" y="4491990"/>
                <a:ext cx="143637" cy="143637"/>
              </a:xfrm>
              <a:prstGeom prst="ellipse">
                <a:avLst/>
              </a:prstGeom>
              <a:solidFill>
                <a:srgbClr val="CDCAF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1" name="Connector 30"/>
              <p:cNvCxnSpPr/>
              <p:nvPr/>
            </p:nvCxnSpPr>
            <p:spPr>
              <a:xfrm>
                <a:off x="12029313" y="4287584"/>
                <a:ext cx="110490" cy="99440"/>
              </a:xfrm>
              <a:prstGeom prst="line">
                <a:avLst/>
              </a:prstGeom>
              <a:ln w="43091">
                <a:solidFill>
                  <a:srgbClr val="CDCAF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nector 31"/>
              <p:cNvCxnSpPr/>
              <p:nvPr/>
            </p:nvCxnSpPr>
            <p:spPr>
              <a:xfrm flipH="1">
                <a:off x="12206097" y="4287584"/>
                <a:ext cx="110490" cy="99440"/>
              </a:xfrm>
              <a:prstGeom prst="line">
                <a:avLst/>
              </a:prstGeom>
              <a:ln w="43091">
                <a:solidFill>
                  <a:srgbClr val="CDCAF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ctor 32"/>
              <p:cNvCxnSpPr/>
              <p:nvPr/>
            </p:nvCxnSpPr>
            <p:spPr>
              <a:xfrm>
                <a:off x="12200572" y="4469892"/>
                <a:ext cx="121540" cy="60770"/>
              </a:xfrm>
              <a:prstGeom prst="line">
                <a:avLst/>
              </a:prstGeom>
              <a:ln w="43091">
                <a:solidFill>
                  <a:srgbClr val="CDCAF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chan-title"/>
            <p:cNvSpPr txBox="1"/>
            <p:nvPr/>
          </p:nvSpPr>
          <p:spPr>
            <a:xfrm>
              <a:off x="8401050" y="3886200"/>
              <a:ext cx="1162050" cy="990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渠道</a:t>
              </a:r>
            </a:p>
          </p:txBody>
        </p:sp>
        <p:sp>
          <p:nvSpPr>
            <p:cNvPr id="35" name="chan-l1"/>
            <p:cNvSpPr txBox="1"/>
            <p:nvPr/>
          </p:nvSpPr>
          <p:spPr>
            <a:xfrm>
              <a:off x="8305800" y="5095875"/>
              <a:ext cx="2486025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线上电商平台</a:t>
              </a:r>
            </a:p>
          </p:txBody>
        </p:sp>
        <p:sp>
          <p:nvSpPr>
            <p:cNvPr id="36" name="chan-l2"/>
            <p:cNvSpPr txBox="1"/>
            <p:nvPr/>
          </p:nvSpPr>
          <p:spPr>
            <a:xfrm>
              <a:off x="8305800" y="5695950"/>
              <a:ext cx="2095500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线下直营店</a:t>
              </a:r>
            </a:p>
          </p:txBody>
        </p:sp>
        <p:sp>
          <p:nvSpPr>
            <p:cNvPr id="37" name="chan-l3"/>
            <p:cNvSpPr txBox="1"/>
            <p:nvPr/>
          </p:nvSpPr>
          <p:spPr>
            <a:xfrm>
              <a:off x="8305800" y="6296025"/>
              <a:ext cx="1724025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行业展会</a:t>
              </a:r>
            </a:p>
          </p:txBody>
        </p:sp>
      </p:grpSp>
      <p:grpSp>
        <p:nvGrpSpPr>
          <p:cNvPr id="132" name="prob"/>
          <p:cNvGrpSpPr/>
          <p:nvPr/>
        </p:nvGrpSpPr>
        <p:grpSpPr>
          <a:xfrm>
            <a:off x="13363575" y="3381375"/>
            <a:ext cx="4933950" cy="8410575"/>
            <a:chOff x="13363575" y="3381375"/>
            <a:chExt cx="4933950" cy="8410575"/>
          </a:xfrm>
        </p:grpSpPr>
        <p:sp>
          <p:nvSpPr>
            <p:cNvPr id="38" name="prob-panel"/>
            <p:cNvSpPr/>
            <p:nvPr/>
          </p:nvSpPr>
          <p:spPr>
            <a:xfrm>
              <a:off x="13363575" y="3381375"/>
              <a:ext cx="4933950" cy="8410575"/>
            </a:xfrm>
            <a:prstGeom prst="roundRect">
              <a:avLst>
                <a:gd name="adj" fmla="val 2702"/>
              </a:avLst>
            </a:prstGeom>
            <a:solidFill>
              <a:srgbClr val="59D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prob-fold"/>
            <p:cNvSpPr/>
            <p:nvPr/>
          </p:nvSpPr>
          <p:spPr>
            <a:xfrm>
              <a:off x="17440275" y="1093470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857250"/>
                  </a:moveTo>
                  <a:lnTo>
                    <a:pt x="857250" y="0"/>
                  </a:lnTo>
                  <a:lnTo>
                    <a:pt x="857250" y="857250"/>
                  </a:lnTo>
                  <a:close/>
                </a:path>
              </a:pathLst>
            </a:custGeom>
            <a:solidFill>
              <a:srgbClr val="48AD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prob-deco-o"/>
            <p:cNvSpPr/>
            <p:nvPr/>
          </p:nvSpPr>
          <p:spPr>
            <a:xfrm>
              <a:off x="13573125" y="9810750"/>
              <a:ext cx="1619250" cy="1619250"/>
            </a:xfrm>
            <a:prstGeom prst="ellipse">
              <a:avLst/>
            </a:prstGeom>
            <a:noFill/>
            <a:ln w="95250">
              <a:solidFill>
                <a:srgbClr val="B4EB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prob-deco-q"/>
            <p:cNvSpPr txBox="1"/>
            <p:nvPr/>
          </p:nvSpPr>
          <p:spPr>
            <a:xfrm>
              <a:off x="13573125" y="9810750"/>
              <a:ext cx="1619250" cy="1619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924" b="1" i="0">
                  <a:solidFill>
                    <a:srgbClr val="B4EBF5"/>
                  </a:solidFill>
                  <a:latin typeface="Microsoft YaHei"/>
                  <a:ea typeface="Microsoft YaHei"/>
                  <a:cs typeface="Microsoft YaHei"/>
                </a:rPr>
                <a:t>?</a:t>
              </a:r>
            </a:p>
          </p:txBody>
        </p:sp>
        <p:sp>
          <p:nvSpPr>
            <p:cNvPr id="42" name="prob-hdr"/>
            <p:cNvSpPr/>
            <p:nvPr/>
          </p:nvSpPr>
          <p:spPr>
            <a:xfrm>
              <a:off x="13363575" y="3886200"/>
              <a:ext cx="4686300" cy="990600"/>
            </a:xfrm>
            <a:prstGeom prst="roundRect">
              <a:avLst>
                <a:gd name="adj" fmla="val 9615"/>
              </a:avLst>
            </a:prstGeom>
            <a:solidFill>
              <a:srgbClr val="0EAECE"/>
            </a:solidFill>
            <a:ln w="28575">
              <a:solidFill>
                <a:srgbClr val="FFED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prob-hdr-tail"/>
            <p:cNvSpPr/>
            <p:nvPr/>
          </p:nvSpPr>
          <p:spPr>
            <a:xfrm>
              <a:off x="18030825" y="3886200"/>
              <a:ext cx="266700" cy="990600"/>
            </a:xfrm>
            <a:custGeom>
              <a:avLst/>
              <a:gdLst/>
              <a:ahLst/>
              <a:cxnLst/>
              <a:rect l="l" t="t" r="r" b="b"/>
              <a:pathLst>
                <a:path w="266700" h="990600">
                  <a:moveTo>
                    <a:pt x="0" y="0"/>
                  </a:moveTo>
                  <a:lnTo>
                    <a:pt x="266700" y="4953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0EAEC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prob-hic-bg"/>
            <p:cNvSpPr/>
            <p:nvPr/>
          </p:nvSpPr>
          <p:spPr>
            <a:xfrm>
              <a:off x="17554575" y="4133850"/>
              <a:ext cx="495300" cy="495300"/>
            </a:xfrm>
            <a:prstGeom prst="ellipse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prob-hic"/>
            <p:cNvSpPr txBox="1"/>
            <p:nvPr/>
          </p:nvSpPr>
          <p:spPr>
            <a:xfrm>
              <a:off x="17554575" y="4133850"/>
              <a:ext cx="4953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1" i="0">
                  <a:solidFill>
                    <a:srgbClr val="0EAECE"/>
                  </a:solidFill>
                  <a:latin typeface="Microsoft YaHei"/>
                  <a:ea typeface="Microsoft YaHei"/>
                  <a:cs typeface="Microsoft YaHei"/>
                </a:rPr>
                <a:t>?</a:t>
              </a:r>
            </a:p>
          </p:txBody>
        </p:sp>
        <p:sp>
          <p:nvSpPr>
            <p:cNvPr id="46" name="prob-title"/>
            <p:cNvSpPr txBox="1"/>
            <p:nvPr/>
          </p:nvSpPr>
          <p:spPr>
            <a:xfrm>
              <a:off x="13763625" y="3886200"/>
              <a:ext cx="1162050" cy="990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1" i="0">
                  <a:solidFill>
                    <a:srgbClr val="1F3A6E"/>
                  </a:solidFill>
                  <a:latin typeface="Microsoft YaHei"/>
                  <a:ea typeface="Microsoft YaHei"/>
                  <a:cs typeface="Microsoft YaHei"/>
                </a:rPr>
                <a:t>问题</a:t>
              </a:r>
            </a:p>
          </p:txBody>
        </p:sp>
        <p:sp>
          <p:nvSpPr>
            <p:cNvPr id="47" name="prob-l1"/>
            <p:cNvSpPr txBox="1"/>
            <p:nvPr/>
          </p:nvSpPr>
          <p:spPr>
            <a:xfrm>
              <a:off x="13611225" y="5095875"/>
              <a:ext cx="2486025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1F3A6E"/>
                  </a:solidFill>
                  <a:latin typeface="Microsoft YaHei"/>
                  <a:ea typeface="Microsoft YaHei"/>
                  <a:cs typeface="Microsoft YaHei"/>
                </a:rPr>
                <a:t>生产流程繁琐</a:t>
              </a:r>
            </a:p>
          </p:txBody>
        </p:sp>
        <p:sp>
          <p:nvSpPr>
            <p:cNvPr id="48" name="prob-l2"/>
            <p:cNvSpPr txBox="1"/>
            <p:nvPr/>
          </p:nvSpPr>
          <p:spPr>
            <a:xfrm>
              <a:off x="13611225" y="5695950"/>
              <a:ext cx="2105025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1F3A6E"/>
                  </a:solidFill>
                  <a:latin typeface="Microsoft YaHei"/>
                  <a:ea typeface="Microsoft YaHei"/>
                  <a:cs typeface="Microsoft YaHei"/>
                </a:rPr>
                <a:t>人力成本高</a:t>
              </a:r>
            </a:p>
          </p:txBody>
        </p:sp>
        <p:sp>
          <p:nvSpPr>
            <p:cNvPr id="49" name="prob-l3"/>
            <p:cNvSpPr txBox="1"/>
            <p:nvPr/>
          </p:nvSpPr>
          <p:spPr>
            <a:xfrm>
              <a:off x="13611225" y="6296025"/>
              <a:ext cx="2486025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1F3A6E"/>
                  </a:solidFill>
                  <a:latin typeface="Microsoft YaHei"/>
                  <a:ea typeface="Microsoft YaHei"/>
                  <a:cs typeface="Microsoft YaHei"/>
                </a:rPr>
                <a:t>生产效率低下</a:t>
              </a:r>
            </a:p>
          </p:txBody>
        </p:sp>
      </p:grpSp>
      <p:grpSp>
        <p:nvGrpSpPr>
          <p:cNvPr id="137" name="rev"/>
          <p:cNvGrpSpPr/>
          <p:nvPr/>
        </p:nvGrpSpPr>
        <p:grpSpPr>
          <a:xfrm>
            <a:off x="18621375" y="3381375"/>
            <a:ext cx="4991100" cy="4019550"/>
            <a:chOff x="18621375" y="3381375"/>
            <a:chExt cx="4991100" cy="4019550"/>
          </a:xfrm>
        </p:grpSpPr>
        <p:sp>
          <p:nvSpPr>
            <p:cNvPr id="50" name="rev-panel"/>
            <p:cNvSpPr/>
            <p:nvPr/>
          </p:nvSpPr>
          <p:spPr>
            <a:xfrm>
              <a:off x="18621375" y="3381375"/>
              <a:ext cx="4991100" cy="4019550"/>
            </a:xfrm>
            <a:prstGeom prst="roundRect">
              <a:avLst>
                <a:gd name="adj" fmla="val 3317"/>
              </a:avLst>
            </a:prstGeom>
            <a:solidFill>
              <a:srgbClr val="FFC0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v-fold"/>
            <p:cNvSpPr/>
            <p:nvPr/>
          </p:nvSpPr>
          <p:spPr>
            <a:xfrm>
              <a:off x="18621375" y="6543675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0"/>
                  </a:moveTo>
                  <a:lnTo>
                    <a:pt x="0" y="857250"/>
                  </a:lnTo>
                  <a:lnTo>
                    <a:pt x="857250" y="857250"/>
                  </a:lnTo>
                  <a:close/>
                </a:path>
              </a:pathLst>
            </a:custGeom>
            <a:solidFill>
              <a:srgbClr val="D19D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v-hdr"/>
            <p:cNvSpPr/>
            <p:nvPr/>
          </p:nvSpPr>
          <p:spPr>
            <a:xfrm>
              <a:off x="18621375" y="3886200"/>
              <a:ext cx="4400550" cy="990600"/>
            </a:xfrm>
            <a:prstGeom prst="roundRect">
              <a:avLst>
                <a:gd name="adj" fmla="val 9615"/>
              </a:avLst>
            </a:prstGeom>
            <a:solidFill>
              <a:srgbClr val="F8A51B"/>
            </a:solidFill>
            <a:ln w="28575">
              <a:solidFill>
                <a:srgbClr val="FFED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v-hdr-tail"/>
            <p:cNvSpPr/>
            <p:nvPr/>
          </p:nvSpPr>
          <p:spPr>
            <a:xfrm>
              <a:off x="23002875" y="3886200"/>
              <a:ext cx="266700" cy="990600"/>
            </a:xfrm>
            <a:custGeom>
              <a:avLst/>
              <a:gdLst/>
              <a:ahLst/>
              <a:cxnLst/>
              <a:rect l="l" t="t" r="r" b="b"/>
              <a:pathLst>
                <a:path w="266700" h="990600">
                  <a:moveTo>
                    <a:pt x="0" y="0"/>
                  </a:moveTo>
                  <a:lnTo>
                    <a:pt x="266700" y="4953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8A51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v-hic-bg"/>
            <p:cNvSpPr/>
            <p:nvPr/>
          </p:nvSpPr>
          <p:spPr>
            <a:xfrm>
              <a:off x="22526625" y="4133850"/>
              <a:ext cx="495300" cy="495300"/>
            </a:xfrm>
            <a:prstGeom prst="ellipse">
              <a:avLst/>
            </a:prstGeom>
            <a:solidFill>
              <a:srgbClr val="FFFFFF">
                <a:alpha val="90000"/>
              </a:srgbClr>
            </a:solidFill>
            <a:ln w="28575">
              <a:solidFill>
                <a:srgbClr val="F8A5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v-hic"/>
            <p:cNvSpPr txBox="1"/>
            <p:nvPr/>
          </p:nvSpPr>
          <p:spPr>
            <a:xfrm>
              <a:off x="22526625" y="4133850"/>
              <a:ext cx="4953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1" i="0">
                  <a:solidFill>
                    <a:srgbClr val="F8A51B"/>
                  </a:solidFill>
                  <a:latin typeface="Microsoft YaHei"/>
                  <a:ea typeface="Microsoft YaHei"/>
                  <a:cs typeface="Microsoft YaHei"/>
                </a:rPr>
                <a:t>¥</a:t>
              </a:r>
            </a:p>
          </p:txBody>
        </p:sp>
        <p:sp>
          <p:nvSpPr>
            <p:cNvPr id="56" name="rev-title"/>
            <p:cNvSpPr txBox="1"/>
            <p:nvPr/>
          </p:nvSpPr>
          <p:spPr>
            <a:xfrm>
              <a:off x="19002375" y="3886200"/>
              <a:ext cx="2076450" cy="990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1" i="0">
                  <a:solidFill>
                    <a:srgbClr val="50301B"/>
                  </a:solidFill>
                  <a:latin typeface="Microsoft YaHei"/>
                  <a:ea typeface="Microsoft YaHei"/>
                  <a:cs typeface="Microsoft YaHei"/>
                </a:rPr>
                <a:t>收入来源</a:t>
              </a:r>
            </a:p>
          </p:txBody>
        </p:sp>
        <p:sp>
          <p:nvSpPr>
            <p:cNvPr id="57" name="rev-l1"/>
            <p:cNvSpPr txBox="1"/>
            <p:nvPr/>
          </p:nvSpPr>
          <p:spPr>
            <a:xfrm>
              <a:off x="18888075" y="5095875"/>
              <a:ext cx="2495550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50301B"/>
                  </a:solidFill>
                  <a:latin typeface="Microsoft YaHei"/>
                  <a:ea typeface="Microsoft YaHei"/>
                  <a:cs typeface="Microsoft YaHei"/>
                </a:rPr>
                <a:t>产品销售收入</a:t>
              </a:r>
            </a:p>
          </p:txBody>
        </p:sp>
        <p:sp>
          <p:nvSpPr>
            <p:cNvPr id="58" name="rev-l2"/>
            <p:cNvSpPr txBox="1"/>
            <p:nvPr/>
          </p:nvSpPr>
          <p:spPr>
            <a:xfrm>
              <a:off x="18888075" y="5695950"/>
              <a:ext cx="2495550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50301B"/>
                  </a:solidFill>
                  <a:latin typeface="Microsoft YaHei"/>
                  <a:ea typeface="Microsoft YaHei"/>
                  <a:cs typeface="Microsoft YaHei"/>
                </a:rPr>
                <a:t>定制服务收入</a:t>
              </a:r>
            </a:p>
          </p:txBody>
        </p:sp>
        <p:sp>
          <p:nvSpPr>
            <p:cNvPr id="59" name="rev-l3"/>
            <p:cNvSpPr txBox="1"/>
            <p:nvPr/>
          </p:nvSpPr>
          <p:spPr>
            <a:xfrm>
              <a:off x="18888075" y="6296025"/>
              <a:ext cx="2495550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50301B"/>
                  </a:solidFill>
                  <a:latin typeface="Microsoft YaHei"/>
                  <a:ea typeface="Microsoft YaHei"/>
                  <a:cs typeface="Microsoft YaHei"/>
                </a:rPr>
                <a:t>售后服务收入</a:t>
              </a:r>
            </a:p>
          </p:txBody>
        </p:sp>
      </p:grpSp>
      <p:grpSp>
        <p:nvGrpSpPr>
          <p:cNvPr id="139" name="solu"/>
          <p:cNvGrpSpPr/>
          <p:nvPr/>
        </p:nvGrpSpPr>
        <p:grpSpPr>
          <a:xfrm>
            <a:off x="24031575" y="3381375"/>
            <a:ext cx="4933950" cy="8315325"/>
            <a:chOff x="24031575" y="3381375"/>
            <a:chExt cx="4933950" cy="8315325"/>
          </a:xfrm>
        </p:grpSpPr>
        <p:sp>
          <p:nvSpPr>
            <p:cNvPr id="60" name="solu-panel"/>
            <p:cNvSpPr/>
            <p:nvPr/>
          </p:nvSpPr>
          <p:spPr>
            <a:xfrm>
              <a:off x="24031575" y="3381375"/>
              <a:ext cx="4933950" cy="8315325"/>
            </a:xfrm>
            <a:prstGeom prst="roundRect">
              <a:avLst>
                <a:gd name="adj" fmla="val 2702"/>
              </a:avLst>
            </a:prstGeom>
            <a:solidFill>
              <a:srgbClr val="EE6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solu-fold"/>
            <p:cNvSpPr/>
            <p:nvPr/>
          </p:nvSpPr>
          <p:spPr>
            <a:xfrm>
              <a:off x="24031575" y="1083945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0"/>
                  </a:moveTo>
                  <a:lnTo>
                    <a:pt x="0" y="857250"/>
                  </a:lnTo>
                  <a:lnTo>
                    <a:pt x="857250" y="857250"/>
                  </a:lnTo>
                  <a:close/>
                </a:path>
              </a:pathLst>
            </a:custGeom>
            <a:solidFill>
              <a:srgbClr val="C351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olu-deco-a45"/>
            <p:cNvSpPr/>
            <p:nvPr/>
          </p:nvSpPr>
          <p:spPr>
            <a:xfrm rot="2700000">
              <a:off x="26993850" y="10382250"/>
              <a:ext cx="1333500" cy="457200"/>
            </a:xfrm>
            <a:prstGeom prst="roundRect">
              <a:avLst>
                <a:gd name="adj" fmla="val 50000"/>
              </a:avLst>
            </a:prstGeom>
            <a:noFill/>
            <a:ln w="85725">
              <a:solidFill>
                <a:srgbClr val="F7B8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olu-deco-a-45"/>
            <p:cNvSpPr/>
            <p:nvPr/>
          </p:nvSpPr>
          <p:spPr>
            <a:xfrm rot="18900000">
              <a:off x="26993850" y="10382250"/>
              <a:ext cx="1333500" cy="457200"/>
            </a:xfrm>
            <a:prstGeom prst="roundRect">
              <a:avLst>
                <a:gd name="adj" fmla="val 50000"/>
              </a:avLst>
            </a:prstGeom>
            <a:noFill/>
            <a:ln w="85725">
              <a:solidFill>
                <a:srgbClr val="F7B8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solu-hdr"/>
            <p:cNvSpPr/>
            <p:nvPr/>
          </p:nvSpPr>
          <p:spPr>
            <a:xfrm>
              <a:off x="24031575" y="3886200"/>
              <a:ext cx="4343400" cy="990600"/>
            </a:xfrm>
            <a:prstGeom prst="roundRect">
              <a:avLst>
                <a:gd name="adj" fmla="val 9615"/>
              </a:avLst>
            </a:prstGeom>
            <a:solidFill>
              <a:srgbClr val="CB3B3B"/>
            </a:solidFill>
            <a:ln w="28575">
              <a:solidFill>
                <a:srgbClr val="FFED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solu-hdr-tail"/>
            <p:cNvSpPr/>
            <p:nvPr/>
          </p:nvSpPr>
          <p:spPr>
            <a:xfrm>
              <a:off x="28355925" y="3886200"/>
              <a:ext cx="266700" cy="990600"/>
            </a:xfrm>
            <a:custGeom>
              <a:avLst/>
              <a:gdLst/>
              <a:ahLst/>
              <a:cxnLst/>
              <a:rect l="l" t="t" r="r" b="b"/>
              <a:pathLst>
                <a:path w="266700" h="990600">
                  <a:moveTo>
                    <a:pt x="0" y="0"/>
                  </a:moveTo>
                  <a:lnTo>
                    <a:pt x="266700" y="4953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CB3B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27878722" y="4132898"/>
              <a:ext cx="497205" cy="497205"/>
            </a:xfrm>
            <a:prstGeom prst="ellipse">
              <a:avLst/>
            </a:prstGeom>
            <a:noFill/>
            <a:ln w="9525">
              <a:solidFill>
                <a:srgbClr val="F0C8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solu-title"/>
            <p:cNvSpPr txBox="1"/>
            <p:nvPr/>
          </p:nvSpPr>
          <p:spPr>
            <a:xfrm>
              <a:off x="24536400" y="3886200"/>
              <a:ext cx="2076450" cy="990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解决方案</a:t>
              </a:r>
            </a:p>
          </p:txBody>
        </p:sp>
        <p:sp>
          <p:nvSpPr>
            <p:cNvPr id="68" name="solu-l1"/>
            <p:cNvSpPr txBox="1"/>
            <p:nvPr/>
          </p:nvSpPr>
          <p:spPr>
            <a:xfrm>
              <a:off x="24279225" y="5095875"/>
              <a:ext cx="2486025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优化生产流程</a:t>
              </a:r>
            </a:p>
          </p:txBody>
        </p:sp>
        <p:sp>
          <p:nvSpPr>
            <p:cNvPr id="69" name="solu-l2"/>
            <p:cNvSpPr txBox="1"/>
            <p:nvPr/>
          </p:nvSpPr>
          <p:spPr>
            <a:xfrm>
              <a:off x="24298275" y="5695950"/>
              <a:ext cx="2847975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引入自动化设备</a:t>
              </a:r>
            </a:p>
          </p:txBody>
        </p:sp>
        <p:sp>
          <p:nvSpPr>
            <p:cNvPr id="70" name="solu-l3"/>
            <p:cNvSpPr txBox="1"/>
            <p:nvPr/>
          </p:nvSpPr>
          <p:spPr>
            <a:xfrm>
              <a:off x="24269700" y="6296025"/>
              <a:ext cx="2476500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加强员工培训</a:t>
              </a:r>
            </a:p>
          </p:txBody>
        </p:sp>
      </p:grpSp>
      <p:grpSp>
        <p:nvGrpSpPr>
          <p:cNvPr id="140" name="value"/>
          <p:cNvGrpSpPr/>
          <p:nvPr/>
        </p:nvGrpSpPr>
        <p:grpSpPr>
          <a:xfrm>
            <a:off x="8067675" y="7715250"/>
            <a:ext cx="4876800" cy="4000500"/>
            <a:chOff x="8067675" y="7715250"/>
            <a:chExt cx="4876800" cy="4000500"/>
          </a:xfrm>
        </p:grpSpPr>
        <p:sp>
          <p:nvSpPr>
            <p:cNvPr id="71" name="value-panel"/>
            <p:cNvSpPr/>
            <p:nvPr/>
          </p:nvSpPr>
          <p:spPr>
            <a:xfrm>
              <a:off x="8067675" y="7715250"/>
              <a:ext cx="4876800" cy="4000500"/>
            </a:xfrm>
            <a:prstGeom prst="roundRect">
              <a:avLst>
                <a:gd name="adj" fmla="val 3333"/>
              </a:avLst>
            </a:prstGeom>
            <a:solidFill>
              <a:srgbClr val="FFC0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value-fold"/>
            <p:cNvSpPr/>
            <p:nvPr/>
          </p:nvSpPr>
          <p:spPr>
            <a:xfrm>
              <a:off x="8067675" y="1085850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0"/>
                  </a:moveTo>
                  <a:lnTo>
                    <a:pt x="0" y="857250"/>
                  </a:lnTo>
                  <a:lnTo>
                    <a:pt x="857250" y="857250"/>
                  </a:lnTo>
                  <a:close/>
                </a:path>
              </a:pathLst>
            </a:custGeom>
            <a:solidFill>
              <a:srgbClr val="D19D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value-hdr"/>
            <p:cNvSpPr/>
            <p:nvPr/>
          </p:nvSpPr>
          <p:spPr>
            <a:xfrm>
              <a:off x="8067675" y="8067675"/>
              <a:ext cx="4324350" cy="1000125"/>
            </a:xfrm>
            <a:prstGeom prst="roundRect">
              <a:avLst>
                <a:gd name="adj" fmla="val 9523"/>
              </a:avLst>
            </a:prstGeom>
            <a:solidFill>
              <a:srgbClr val="F8A51B"/>
            </a:solidFill>
            <a:ln w="28575">
              <a:solidFill>
                <a:srgbClr val="FFED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value-hdr-tail"/>
            <p:cNvSpPr/>
            <p:nvPr/>
          </p:nvSpPr>
          <p:spPr>
            <a:xfrm>
              <a:off x="12372975" y="8067675"/>
              <a:ext cx="266700" cy="1000125"/>
            </a:xfrm>
            <a:custGeom>
              <a:avLst/>
              <a:gdLst/>
              <a:ahLst/>
              <a:cxnLst/>
              <a:rect l="l" t="t" r="r" b="b"/>
              <a:pathLst>
                <a:path w="266700" h="1000125">
                  <a:moveTo>
                    <a:pt x="0" y="0"/>
                  </a:moveTo>
                  <a:lnTo>
                    <a:pt x="266700" y="500063"/>
                  </a:lnTo>
                  <a:lnTo>
                    <a:pt x="0" y="1000125"/>
                  </a:lnTo>
                  <a:close/>
                </a:path>
              </a:pathLst>
            </a:custGeom>
            <a:solidFill>
              <a:srgbClr val="F8A51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Freeform 74"/>
            <p:cNvSpPr/>
            <p:nvPr/>
          </p:nvSpPr>
          <p:spPr>
            <a:xfrm>
              <a:off x="11881961" y="8291512"/>
              <a:ext cx="524828" cy="502730"/>
            </a:xfrm>
            <a:custGeom>
              <a:avLst/>
              <a:gdLst/>
              <a:ahLst/>
              <a:cxnLst/>
              <a:rect l="l" t="t" r="r" b="b"/>
              <a:pathLst>
                <a:path w="524828" h="502730">
                  <a:moveTo>
                    <a:pt x="262414" y="0"/>
                  </a:moveTo>
                  <a:lnTo>
                    <a:pt x="328708" y="187834"/>
                  </a:lnTo>
                  <a:lnTo>
                    <a:pt x="524828" y="187834"/>
                  </a:lnTo>
                  <a:lnTo>
                    <a:pt x="367379" y="309372"/>
                  </a:lnTo>
                  <a:lnTo>
                    <a:pt x="422625" y="502730"/>
                  </a:lnTo>
                  <a:lnTo>
                    <a:pt x="262414" y="381191"/>
                  </a:lnTo>
                  <a:lnTo>
                    <a:pt x="102203" y="502730"/>
                  </a:lnTo>
                  <a:lnTo>
                    <a:pt x="157449" y="309372"/>
                  </a:lnTo>
                  <a:lnTo>
                    <a:pt x="0" y="187834"/>
                  </a:lnTo>
                  <a:lnTo>
                    <a:pt x="196120" y="187834"/>
                  </a:lnTo>
                  <a:close/>
                </a:path>
              </a:pathLst>
            </a:custGeom>
            <a:solidFill>
              <a:srgbClr val="FAC4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value-title"/>
            <p:cNvSpPr txBox="1"/>
            <p:nvPr/>
          </p:nvSpPr>
          <p:spPr>
            <a:xfrm>
              <a:off x="8458200" y="8067675"/>
              <a:ext cx="2076450" cy="100012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1" i="0">
                  <a:solidFill>
                    <a:srgbClr val="50301B"/>
                  </a:solidFill>
                  <a:latin typeface="Microsoft YaHei"/>
                  <a:ea typeface="Microsoft YaHei"/>
                  <a:cs typeface="Microsoft YaHei"/>
                </a:rPr>
                <a:t>价值主张</a:t>
              </a:r>
            </a:p>
          </p:txBody>
        </p:sp>
        <p:sp>
          <p:nvSpPr>
            <p:cNvPr id="77" name="value-l1"/>
            <p:cNvSpPr txBox="1"/>
            <p:nvPr/>
          </p:nvSpPr>
          <p:spPr>
            <a:xfrm>
              <a:off x="8277225" y="9144000"/>
              <a:ext cx="2466975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50301B"/>
                  </a:solidFill>
                  <a:latin typeface="Microsoft YaHei"/>
                  <a:ea typeface="Microsoft YaHei"/>
                  <a:cs typeface="Microsoft YaHei"/>
                </a:rPr>
                <a:t>高效生产流程</a:t>
              </a:r>
            </a:p>
          </p:txBody>
        </p:sp>
        <p:sp>
          <p:nvSpPr>
            <p:cNvPr id="78" name="value-l2"/>
            <p:cNvSpPr txBox="1"/>
            <p:nvPr/>
          </p:nvSpPr>
          <p:spPr>
            <a:xfrm>
              <a:off x="8277225" y="9744075"/>
              <a:ext cx="2085975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50301B"/>
                  </a:solidFill>
                  <a:latin typeface="Microsoft YaHei"/>
                  <a:ea typeface="Microsoft YaHei"/>
                  <a:cs typeface="Microsoft YaHei"/>
                </a:rPr>
                <a:t>高品质产品</a:t>
              </a:r>
            </a:p>
          </p:txBody>
        </p:sp>
        <p:sp>
          <p:nvSpPr>
            <p:cNvPr id="79" name="value-l3"/>
            <p:cNvSpPr txBox="1"/>
            <p:nvPr/>
          </p:nvSpPr>
          <p:spPr>
            <a:xfrm>
              <a:off x="8277225" y="10344150"/>
              <a:ext cx="2867025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50301B"/>
                  </a:solidFill>
                  <a:latin typeface="Microsoft YaHei"/>
                  <a:ea typeface="Microsoft YaHei"/>
                  <a:cs typeface="Microsoft YaHei"/>
                </a:rPr>
                <a:t>个性化定制服务</a:t>
              </a:r>
            </a:p>
          </p:txBody>
        </p:sp>
      </p:grpSp>
      <p:grpSp>
        <p:nvGrpSpPr>
          <p:cNvPr id="138" name="part"/>
          <p:cNvGrpSpPr/>
          <p:nvPr/>
        </p:nvGrpSpPr>
        <p:grpSpPr>
          <a:xfrm>
            <a:off x="18659475" y="7715250"/>
            <a:ext cx="4953000" cy="3981450"/>
            <a:chOff x="18659475" y="7715250"/>
            <a:chExt cx="4953000" cy="3981450"/>
          </a:xfrm>
        </p:grpSpPr>
        <p:sp>
          <p:nvSpPr>
            <p:cNvPr id="80" name="part-panel"/>
            <p:cNvSpPr/>
            <p:nvPr/>
          </p:nvSpPr>
          <p:spPr>
            <a:xfrm>
              <a:off x="18659475" y="7715250"/>
              <a:ext cx="4953000" cy="3981450"/>
            </a:xfrm>
            <a:prstGeom prst="roundRect">
              <a:avLst>
                <a:gd name="adj" fmla="val 3349"/>
              </a:avLst>
            </a:prstGeom>
            <a:solidFill>
              <a:srgbClr val="6F65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part-fold"/>
            <p:cNvSpPr/>
            <p:nvPr/>
          </p:nvSpPr>
          <p:spPr>
            <a:xfrm>
              <a:off x="22755225" y="1083945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857250"/>
                  </a:moveTo>
                  <a:lnTo>
                    <a:pt x="857250" y="0"/>
                  </a:lnTo>
                  <a:lnTo>
                    <a:pt x="857250" y="857250"/>
                  </a:lnTo>
                  <a:close/>
                </a:path>
              </a:pathLst>
            </a:custGeom>
            <a:solidFill>
              <a:srgbClr val="5B52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part-hdr"/>
            <p:cNvSpPr/>
            <p:nvPr/>
          </p:nvSpPr>
          <p:spPr>
            <a:xfrm>
              <a:off x="18659475" y="8067675"/>
              <a:ext cx="4238625" cy="1000125"/>
            </a:xfrm>
            <a:prstGeom prst="roundRect">
              <a:avLst>
                <a:gd name="adj" fmla="val 9523"/>
              </a:avLst>
            </a:prstGeom>
            <a:solidFill>
              <a:srgbClr val="4F43D3"/>
            </a:solidFill>
            <a:ln w="28575">
              <a:solidFill>
                <a:srgbClr val="FFED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part-hdr-tail"/>
            <p:cNvSpPr/>
            <p:nvPr/>
          </p:nvSpPr>
          <p:spPr>
            <a:xfrm>
              <a:off x="22879050" y="8067675"/>
              <a:ext cx="266700" cy="1000125"/>
            </a:xfrm>
            <a:custGeom>
              <a:avLst/>
              <a:gdLst/>
              <a:ahLst/>
              <a:cxnLst/>
              <a:rect l="l" t="t" r="r" b="b"/>
              <a:pathLst>
                <a:path w="266700" h="1000125">
                  <a:moveTo>
                    <a:pt x="0" y="0"/>
                  </a:moveTo>
                  <a:lnTo>
                    <a:pt x="266700" y="500063"/>
                  </a:lnTo>
                  <a:lnTo>
                    <a:pt x="0" y="1000125"/>
                  </a:lnTo>
                  <a:close/>
                </a:path>
              </a:pathLst>
            </a:custGeom>
            <a:solidFill>
              <a:srgbClr val="4F43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28" name="part-hic"/>
            <p:cNvGrpSpPr/>
            <p:nvPr/>
          </p:nvGrpSpPr>
          <p:grpSpPr>
            <a:xfrm>
              <a:off x="22446044" y="8363331"/>
              <a:ext cx="408812" cy="408813"/>
              <a:chOff x="22446044" y="8363331"/>
              <a:chExt cx="408812" cy="408813"/>
            </a:xfrm>
          </p:grpSpPr>
          <p:sp>
            <p:nvSpPr>
              <p:cNvPr id="84" name="Oval 83"/>
              <p:cNvSpPr/>
              <p:nvPr/>
            </p:nvSpPr>
            <p:spPr>
              <a:xfrm>
                <a:off x="22446044" y="8584311"/>
                <a:ext cx="187833" cy="187833"/>
              </a:xfrm>
              <a:prstGeom prst="ellipse">
                <a:avLst/>
              </a:prstGeom>
              <a:noFill/>
              <a:ln w="15240">
                <a:solidFill>
                  <a:srgbClr val="CDCAF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22667023" y="8363331"/>
                <a:ext cx="187833" cy="187833"/>
              </a:xfrm>
              <a:prstGeom prst="ellipse">
                <a:avLst/>
              </a:prstGeom>
              <a:noFill/>
              <a:ln w="15240">
                <a:solidFill>
                  <a:srgbClr val="CDCAF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86" name="Connector 85"/>
              <p:cNvCxnSpPr/>
              <p:nvPr/>
            </p:nvCxnSpPr>
            <p:spPr>
              <a:xfrm flipV="1">
                <a:off x="22595205" y="8512492"/>
                <a:ext cx="110490" cy="110490"/>
              </a:xfrm>
              <a:prstGeom prst="line">
                <a:avLst/>
              </a:prstGeom>
              <a:ln w="61045">
                <a:solidFill>
                  <a:srgbClr val="CDCAF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" name="part-title"/>
            <p:cNvSpPr txBox="1"/>
            <p:nvPr/>
          </p:nvSpPr>
          <p:spPr>
            <a:xfrm>
              <a:off x="19030950" y="8067675"/>
              <a:ext cx="2076450" cy="100012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战略伙伴</a:t>
              </a:r>
            </a:p>
          </p:txBody>
        </p:sp>
        <p:sp>
          <p:nvSpPr>
            <p:cNvPr id="88" name="part-l1"/>
            <p:cNvSpPr txBox="1"/>
            <p:nvPr/>
          </p:nvSpPr>
          <p:spPr>
            <a:xfrm>
              <a:off x="18897600" y="9144000"/>
              <a:ext cx="2457450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原材料供应商</a:t>
              </a:r>
            </a:p>
          </p:txBody>
        </p:sp>
        <p:sp>
          <p:nvSpPr>
            <p:cNvPr id="89" name="part-l2"/>
            <p:cNvSpPr txBox="1"/>
            <p:nvPr/>
          </p:nvSpPr>
          <p:spPr>
            <a:xfrm>
              <a:off x="18897600" y="9744075"/>
              <a:ext cx="2105025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设备制造商</a:t>
              </a:r>
            </a:p>
          </p:txBody>
        </p:sp>
        <p:sp>
          <p:nvSpPr>
            <p:cNvPr id="90" name="part-l3"/>
            <p:cNvSpPr txBox="1"/>
            <p:nvPr/>
          </p:nvSpPr>
          <p:spPr>
            <a:xfrm>
              <a:off x="18897600" y="10344150"/>
              <a:ext cx="2324100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物流合作伙伴</a:t>
              </a:r>
            </a:p>
          </p:txBody>
        </p:sp>
      </p:grpSp>
      <p:grpSp>
        <p:nvGrpSpPr>
          <p:cNvPr id="136" name="cost"/>
          <p:cNvGrpSpPr/>
          <p:nvPr/>
        </p:nvGrpSpPr>
        <p:grpSpPr>
          <a:xfrm>
            <a:off x="2657475" y="12201525"/>
            <a:ext cx="12763500" cy="4105275"/>
            <a:chOff x="2657475" y="12201525"/>
            <a:chExt cx="12763500" cy="4105275"/>
          </a:xfrm>
        </p:grpSpPr>
        <p:sp>
          <p:nvSpPr>
            <p:cNvPr id="91" name="cost-panel"/>
            <p:cNvSpPr/>
            <p:nvPr/>
          </p:nvSpPr>
          <p:spPr>
            <a:xfrm>
              <a:off x="2657475" y="12201525"/>
              <a:ext cx="12763500" cy="4105275"/>
            </a:xfrm>
            <a:prstGeom prst="roundRect">
              <a:avLst>
                <a:gd name="adj" fmla="val 3248"/>
              </a:avLst>
            </a:prstGeom>
            <a:solidFill>
              <a:srgbClr val="6F65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cost-fold"/>
            <p:cNvSpPr/>
            <p:nvPr/>
          </p:nvSpPr>
          <p:spPr>
            <a:xfrm>
              <a:off x="2657475" y="1544955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0"/>
                  </a:moveTo>
                  <a:lnTo>
                    <a:pt x="0" y="857250"/>
                  </a:lnTo>
                  <a:lnTo>
                    <a:pt x="857250" y="857250"/>
                  </a:lnTo>
                  <a:close/>
                </a:path>
              </a:pathLst>
            </a:custGeom>
            <a:solidFill>
              <a:srgbClr val="5B52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29" name="cost-deco"/>
            <p:cNvGrpSpPr/>
            <p:nvPr/>
          </p:nvGrpSpPr>
          <p:grpSpPr>
            <a:xfrm>
              <a:off x="10940415" y="13633133"/>
              <a:ext cx="1944052" cy="2216467"/>
              <a:chOff x="10940415" y="13633133"/>
              <a:chExt cx="1944052" cy="2216467"/>
            </a:xfrm>
          </p:grpSpPr>
          <p:sp>
            <p:nvSpPr>
              <p:cNvPr id="93" name="Rounded Rectangle 92"/>
              <p:cNvSpPr/>
              <p:nvPr/>
            </p:nvSpPr>
            <p:spPr>
              <a:xfrm>
                <a:off x="11039475" y="15106650"/>
                <a:ext cx="321945" cy="569595"/>
              </a:xfrm>
              <a:prstGeom prst="roundRect">
                <a:avLst>
                  <a:gd name="adj" fmla="val 30769"/>
                </a:avLst>
              </a:prstGeom>
              <a:solidFill>
                <a:srgbClr val="BEB9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Rounded Rectangle 93"/>
              <p:cNvSpPr/>
              <p:nvPr/>
            </p:nvSpPr>
            <p:spPr>
              <a:xfrm>
                <a:off x="11658600" y="14660880"/>
                <a:ext cx="321945" cy="1015365"/>
              </a:xfrm>
              <a:prstGeom prst="roundRect">
                <a:avLst>
                  <a:gd name="adj" fmla="val 30769"/>
                </a:avLst>
              </a:prstGeom>
              <a:solidFill>
                <a:srgbClr val="BEB9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Rounded Rectangle 94"/>
              <p:cNvSpPr/>
              <p:nvPr/>
            </p:nvSpPr>
            <p:spPr>
              <a:xfrm>
                <a:off x="12277725" y="14239875"/>
                <a:ext cx="321945" cy="1436370"/>
              </a:xfrm>
              <a:prstGeom prst="roundRect">
                <a:avLst>
                  <a:gd name="adj" fmla="val 30769"/>
                </a:avLst>
              </a:prstGeom>
              <a:solidFill>
                <a:srgbClr val="BEB9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12463462" y="13633133"/>
                <a:ext cx="421005" cy="421005"/>
              </a:xfrm>
              <a:prstGeom prst="ellipse">
                <a:avLst/>
              </a:prstGeom>
              <a:solidFill>
                <a:srgbClr val="BEB9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97" name="Connector 96"/>
              <p:cNvCxnSpPr/>
              <p:nvPr/>
            </p:nvCxnSpPr>
            <p:spPr>
              <a:xfrm>
                <a:off x="10940415" y="15849600"/>
                <a:ext cx="1931670" cy="0"/>
              </a:xfrm>
              <a:prstGeom prst="line">
                <a:avLst/>
              </a:prstGeom>
              <a:ln w="193167">
                <a:solidFill>
                  <a:srgbClr val="BEB9F6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8" name="cost-hdr"/>
            <p:cNvSpPr/>
            <p:nvPr/>
          </p:nvSpPr>
          <p:spPr>
            <a:xfrm>
              <a:off x="2657475" y="12382500"/>
              <a:ext cx="4714875" cy="1009650"/>
            </a:xfrm>
            <a:prstGeom prst="roundRect">
              <a:avLst>
                <a:gd name="adj" fmla="val 9433"/>
              </a:avLst>
            </a:prstGeom>
            <a:solidFill>
              <a:srgbClr val="4F43D3"/>
            </a:solidFill>
            <a:ln w="28575">
              <a:solidFill>
                <a:srgbClr val="FFED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cost-hdr-tail"/>
            <p:cNvSpPr/>
            <p:nvPr/>
          </p:nvSpPr>
          <p:spPr>
            <a:xfrm>
              <a:off x="7353300" y="12382500"/>
              <a:ext cx="266700" cy="1009650"/>
            </a:xfrm>
            <a:custGeom>
              <a:avLst/>
              <a:gdLst/>
              <a:ahLst/>
              <a:cxnLst/>
              <a:rect l="l" t="t" r="r" b="b"/>
              <a:pathLst>
                <a:path w="266700" h="1009650">
                  <a:moveTo>
                    <a:pt x="0" y="0"/>
                  </a:moveTo>
                  <a:lnTo>
                    <a:pt x="266700" y="504825"/>
                  </a:lnTo>
                  <a:lnTo>
                    <a:pt x="0" y="1009650"/>
                  </a:lnTo>
                  <a:close/>
                </a:path>
              </a:pathLst>
            </a:custGeom>
            <a:solidFill>
              <a:srgbClr val="4F43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0" name="cost-hic"/>
            <p:cNvGrpSpPr/>
            <p:nvPr/>
          </p:nvGrpSpPr>
          <p:grpSpPr>
            <a:xfrm>
              <a:off x="6898196" y="12705016"/>
              <a:ext cx="453008" cy="364618"/>
              <a:chOff x="6898196" y="12705016"/>
              <a:chExt cx="453008" cy="364618"/>
            </a:xfrm>
          </p:grpSpPr>
          <p:cxnSp>
            <p:nvCxnSpPr>
              <p:cNvPr id="100" name="Connector 99"/>
              <p:cNvCxnSpPr/>
              <p:nvPr/>
            </p:nvCxnSpPr>
            <p:spPr>
              <a:xfrm>
                <a:off x="6898196" y="12771310"/>
                <a:ext cx="453008" cy="0"/>
              </a:xfrm>
              <a:prstGeom prst="line">
                <a:avLst/>
              </a:prstGeom>
              <a:ln w="53863">
                <a:solidFill>
                  <a:srgbClr val="CDCAF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Connector 100"/>
              <p:cNvCxnSpPr/>
              <p:nvPr/>
            </p:nvCxnSpPr>
            <p:spPr>
              <a:xfrm>
                <a:off x="6898196" y="13003340"/>
                <a:ext cx="453008" cy="0"/>
              </a:xfrm>
              <a:prstGeom prst="line">
                <a:avLst/>
              </a:prstGeom>
              <a:ln w="53863">
                <a:solidFill>
                  <a:srgbClr val="CDCAF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Oval 101"/>
              <p:cNvSpPr/>
              <p:nvPr/>
            </p:nvSpPr>
            <p:spPr>
              <a:xfrm>
                <a:off x="6997636" y="12705016"/>
                <a:ext cx="132588" cy="132588"/>
              </a:xfrm>
              <a:prstGeom prst="ellipse">
                <a:avLst/>
              </a:prstGeom>
              <a:solidFill>
                <a:srgbClr val="CDCAF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7152322" y="12937046"/>
                <a:ext cx="132588" cy="132588"/>
              </a:xfrm>
              <a:prstGeom prst="ellipse">
                <a:avLst/>
              </a:prstGeom>
              <a:solidFill>
                <a:srgbClr val="CDCAF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04" name="cost-title"/>
            <p:cNvSpPr txBox="1"/>
            <p:nvPr/>
          </p:nvSpPr>
          <p:spPr>
            <a:xfrm>
              <a:off x="3114675" y="12382500"/>
              <a:ext cx="2076450" cy="10096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成本结构</a:t>
              </a:r>
            </a:p>
          </p:txBody>
        </p:sp>
        <p:sp>
          <p:nvSpPr>
            <p:cNvPr id="105" name="cost-l1"/>
            <p:cNvSpPr txBox="1"/>
            <p:nvPr/>
          </p:nvSpPr>
          <p:spPr>
            <a:xfrm>
              <a:off x="3409950" y="13601700"/>
              <a:ext cx="2867025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原材料采购成本</a:t>
              </a:r>
            </a:p>
          </p:txBody>
        </p:sp>
        <p:sp>
          <p:nvSpPr>
            <p:cNvPr id="106" name="cost-l2"/>
            <p:cNvSpPr txBox="1"/>
            <p:nvPr/>
          </p:nvSpPr>
          <p:spPr>
            <a:xfrm>
              <a:off x="3409950" y="14201775"/>
              <a:ext cx="2486025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设备维护成本</a:t>
              </a:r>
            </a:p>
          </p:txBody>
        </p:sp>
        <p:sp>
          <p:nvSpPr>
            <p:cNvPr id="107" name="cost-l3"/>
            <p:cNvSpPr txBox="1"/>
            <p:nvPr/>
          </p:nvSpPr>
          <p:spPr>
            <a:xfrm>
              <a:off x="3409950" y="14801850"/>
              <a:ext cx="2466975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员工薪酬福利</a:t>
              </a:r>
            </a:p>
          </p:txBody>
        </p:sp>
      </p:grpSp>
      <p:grpSp>
        <p:nvGrpSpPr>
          <p:cNvPr id="135" name="metrics"/>
          <p:cNvGrpSpPr/>
          <p:nvPr/>
        </p:nvGrpSpPr>
        <p:grpSpPr>
          <a:xfrm>
            <a:off x="16306800" y="12344400"/>
            <a:ext cx="12658725" cy="3867150"/>
            <a:chOff x="16306800" y="12344400"/>
            <a:chExt cx="12658725" cy="3867150"/>
          </a:xfrm>
        </p:grpSpPr>
        <p:sp>
          <p:nvSpPr>
            <p:cNvPr id="108" name="metrics-panel"/>
            <p:cNvSpPr/>
            <p:nvPr/>
          </p:nvSpPr>
          <p:spPr>
            <a:xfrm>
              <a:off x="16306800" y="12344400"/>
              <a:ext cx="12658725" cy="3867150"/>
            </a:xfrm>
            <a:prstGeom prst="roundRect">
              <a:avLst>
                <a:gd name="adj" fmla="val 3448"/>
              </a:avLst>
            </a:prstGeom>
            <a:solidFill>
              <a:srgbClr val="FFC0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metrics-fold"/>
            <p:cNvSpPr/>
            <p:nvPr/>
          </p:nvSpPr>
          <p:spPr>
            <a:xfrm>
              <a:off x="28108275" y="1535430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857250"/>
                  </a:moveTo>
                  <a:lnTo>
                    <a:pt x="857250" y="0"/>
                  </a:lnTo>
                  <a:lnTo>
                    <a:pt x="857250" y="857250"/>
                  </a:lnTo>
                  <a:close/>
                </a:path>
              </a:pathLst>
            </a:custGeom>
            <a:solidFill>
              <a:srgbClr val="D19D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0" name="metrics-deco-pole"/>
            <p:cNvCxnSpPr/>
            <p:nvPr/>
          </p:nvCxnSpPr>
          <p:spPr>
            <a:xfrm>
              <a:off x="25241250" y="13573125"/>
              <a:ext cx="0" cy="1619250"/>
            </a:xfrm>
            <a:prstGeom prst="line">
              <a:avLst/>
            </a:prstGeom>
            <a:ln w="114300">
              <a:solidFill>
                <a:srgbClr val="FFE2B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metrics-deco-flag"/>
            <p:cNvSpPr/>
            <p:nvPr/>
          </p:nvSpPr>
          <p:spPr>
            <a:xfrm>
              <a:off x="25241250" y="13573125"/>
              <a:ext cx="1428750" cy="890587"/>
            </a:xfrm>
            <a:custGeom>
              <a:avLst/>
              <a:gdLst/>
              <a:ahLst/>
              <a:cxnLst/>
              <a:rect l="l" t="t" r="r" b="b"/>
              <a:pathLst>
                <a:path w="1428750" h="890587">
                  <a:moveTo>
                    <a:pt x="0" y="0"/>
                  </a:moveTo>
                  <a:lnTo>
                    <a:pt x="1428750" y="356235"/>
                  </a:lnTo>
                  <a:lnTo>
                    <a:pt x="781050" y="728663"/>
                  </a:lnTo>
                  <a:lnTo>
                    <a:pt x="0" y="890587"/>
                  </a:lnTo>
                  <a:close/>
                </a:path>
              </a:pathLst>
            </a:custGeom>
            <a:noFill/>
            <a:ln w="85725">
              <a:solidFill>
                <a:srgbClr val="FFE2B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metrics-hdr"/>
            <p:cNvSpPr/>
            <p:nvPr/>
          </p:nvSpPr>
          <p:spPr>
            <a:xfrm>
              <a:off x="16306800" y="12477750"/>
              <a:ext cx="4486275" cy="1000125"/>
            </a:xfrm>
            <a:prstGeom prst="roundRect">
              <a:avLst>
                <a:gd name="adj" fmla="val 9523"/>
              </a:avLst>
            </a:prstGeom>
            <a:solidFill>
              <a:srgbClr val="F8A51B"/>
            </a:solidFill>
            <a:ln w="28575">
              <a:solidFill>
                <a:srgbClr val="FFED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metrics-hdr-tail"/>
            <p:cNvSpPr/>
            <p:nvPr/>
          </p:nvSpPr>
          <p:spPr>
            <a:xfrm>
              <a:off x="20774025" y="12477750"/>
              <a:ext cx="266700" cy="1000125"/>
            </a:xfrm>
            <a:custGeom>
              <a:avLst/>
              <a:gdLst/>
              <a:ahLst/>
              <a:cxnLst/>
              <a:rect l="l" t="t" r="r" b="b"/>
              <a:pathLst>
                <a:path w="266700" h="1000125">
                  <a:moveTo>
                    <a:pt x="0" y="0"/>
                  </a:moveTo>
                  <a:lnTo>
                    <a:pt x="266700" y="500062"/>
                  </a:lnTo>
                  <a:lnTo>
                    <a:pt x="0" y="1000125"/>
                  </a:lnTo>
                  <a:close/>
                </a:path>
              </a:pathLst>
            </a:custGeom>
            <a:solidFill>
              <a:srgbClr val="F8A51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1" name="metrics-hic"/>
            <p:cNvGrpSpPr/>
            <p:nvPr/>
          </p:nvGrpSpPr>
          <p:grpSpPr>
            <a:xfrm>
              <a:off x="20302347" y="12762357"/>
              <a:ext cx="486156" cy="430911"/>
              <a:chOff x="20302347" y="12762357"/>
              <a:chExt cx="486156" cy="430911"/>
            </a:xfrm>
          </p:grpSpPr>
          <p:cxnSp>
            <p:nvCxnSpPr>
              <p:cNvPr id="114" name="Connector 113"/>
              <p:cNvCxnSpPr/>
              <p:nvPr/>
            </p:nvCxnSpPr>
            <p:spPr>
              <a:xfrm>
                <a:off x="20302347" y="13193268"/>
                <a:ext cx="486156" cy="0"/>
              </a:xfrm>
              <a:prstGeom prst="line">
                <a:avLst/>
              </a:prstGeom>
              <a:ln w="43091">
                <a:solidFill>
                  <a:srgbClr val="FAC46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Connector 114"/>
              <p:cNvCxnSpPr/>
              <p:nvPr/>
            </p:nvCxnSpPr>
            <p:spPr>
              <a:xfrm flipV="1">
                <a:off x="20302347" y="12762357"/>
                <a:ext cx="0" cy="430911"/>
              </a:xfrm>
              <a:prstGeom prst="line">
                <a:avLst/>
              </a:prstGeom>
              <a:ln w="43091">
                <a:solidFill>
                  <a:srgbClr val="FAC46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Connector 115"/>
              <p:cNvCxnSpPr/>
              <p:nvPr/>
            </p:nvCxnSpPr>
            <p:spPr>
              <a:xfrm flipV="1">
                <a:off x="20363116" y="12950190"/>
                <a:ext cx="127064" cy="110490"/>
              </a:xfrm>
              <a:prstGeom prst="line">
                <a:avLst/>
              </a:prstGeom>
              <a:ln w="50272">
                <a:solidFill>
                  <a:srgbClr val="FAC46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Connector 116"/>
              <p:cNvCxnSpPr/>
              <p:nvPr/>
            </p:nvCxnSpPr>
            <p:spPr>
              <a:xfrm>
                <a:off x="20490180" y="12950190"/>
                <a:ext cx="116014" cy="60770"/>
              </a:xfrm>
              <a:prstGeom prst="line">
                <a:avLst/>
              </a:prstGeom>
              <a:ln w="50272">
                <a:solidFill>
                  <a:srgbClr val="FAC46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Connector 117"/>
              <p:cNvCxnSpPr/>
              <p:nvPr/>
            </p:nvCxnSpPr>
            <p:spPr>
              <a:xfrm flipV="1">
                <a:off x="20606194" y="12812078"/>
                <a:ext cx="127064" cy="198882"/>
              </a:xfrm>
              <a:prstGeom prst="line">
                <a:avLst/>
              </a:prstGeom>
              <a:ln w="50272">
                <a:solidFill>
                  <a:srgbClr val="FAC46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Oval 118"/>
              <p:cNvSpPr/>
              <p:nvPr/>
            </p:nvSpPr>
            <p:spPr>
              <a:xfrm>
                <a:off x="20694586" y="12773406"/>
                <a:ext cx="77343" cy="77343"/>
              </a:xfrm>
              <a:prstGeom prst="ellipse">
                <a:avLst/>
              </a:prstGeom>
              <a:solidFill>
                <a:srgbClr val="FAC46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20" name="metrics-title"/>
            <p:cNvSpPr txBox="1"/>
            <p:nvPr/>
          </p:nvSpPr>
          <p:spPr>
            <a:xfrm>
              <a:off x="16621125" y="12477750"/>
              <a:ext cx="1162050" cy="100012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1" i="0">
                  <a:solidFill>
                    <a:srgbClr val="50301B"/>
                  </a:solidFill>
                  <a:latin typeface="Microsoft YaHei"/>
                  <a:ea typeface="Microsoft YaHei"/>
                  <a:cs typeface="Microsoft YaHei"/>
                </a:rPr>
                <a:t>指标</a:t>
              </a:r>
            </a:p>
          </p:txBody>
        </p:sp>
        <p:sp>
          <p:nvSpPr>
            <p:cNvPr id="121" name="metrics-l1"/>
            <p:cNvSpPr txBox="1"/>
            <p:nvPr/>
          </p:nvSpPr>
          <p:spPr>
            <a:xfrm>
              <a:off x="16954500" y="13601700"/>
              <a:ext cx="3219450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50301B"/>
                  </a:solidFill>
                  <a:latin typeface="Microsoft YaHei"/>
                  <a:ea typeface="Microsoft YaHei"/>
                  <a:cs typeface="Microsoft YaHei"/>
                </a:rPr>
                <a:t>生产效率提升率</a:t>
              </a:r>
            </a:p>
          </p:txBody>
        </p:sp>
        <p:sp>
          <p:nvSpPr>
            <p:cNvPr id="122" name="metrics-l2"/>
            <p:cNvSpPr txBox="1"/>
            <p:nvPr/>
          </p:nvSpPr>
          <p:spPr>
            <a:xfrm>
              <a:off x="16954500" y="14201775"/>
              <a:ext cx="2085975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50301B"/>
                  </a:solidFill>
                  <a:latin typeface="Microsoft YaHei"/>
                  <a:ea typeface="Microsoft YaHei"/>
                  <a:cs typeface="Microsoft YaHei"/>
                </a:rPr>
                <a:t>产品合格率</a:t>
              </a:r>
            </a:p>
          </p:txBody>
        </p:sp>
        <p:sp>
          <p:nvSpPr>
            <p:cNvPr id="123" name="metrics-l3"/>
            <p:cNvSpPr txBox="1"/>
            <p:nvPr/>
          </p:nvSpPr>
          <p:spPr>
            <a:xfrm>
              <a:off x="16954500" y="14801850"/>
              <a:ext cx="2085975" cy="6096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50301B"/>
                  </a:solidFill>
                  <a:latin typeface="Microsoft YaHei"/>
                  <a:ea typeface="Microsoft YaHei"/>
                  <a:cs typeface="Microsoft YaHei"/>
                </a:rPr>
                <a:t>客户满意度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