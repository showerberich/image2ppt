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783050" cy="228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6783050" cy="228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3" name="page-1"/>
          <p:cNvGrpSpPr/>
          <p:nvPr/>
        </p:nvGrpSpPr>
        <p:grpSpPr>
          <a:xfrm>
            <a:off x="123825" y="123825"/>
            <a:ext cx="16554450" cy="22631400"/>
            <a:chOff x="123825" y="123825"/>
            <a:chExt cx="16554450" cy="22631400"/>
          </a:xfrm>
        </p:grpSpPr>
        <p:sp>
          <p:nvSpPr>
            <p:cNvPr id="3" name="page-frame"/>
            <p:cNvSpPr/>
            <p:nvPr/>
          </p:nvSpPr>
          <p:spPr>
            <a:xfrm>
              <a:off x="123825" y="123825"/>
              <a:ext cx="16554450" cy="22631400"/>
            </a:xfrm>
            <a:prstGeom prst="rect">
              <a:avLst/>
            </a:prstGeom>
            <a:noFill/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ge-panel"/>
            <p:cNvSpPr/>
            <p:nvPr/>
          </p:nvSpPr>
          <p:spPr>
            <a:xfrm>
              <a:off x="1057275" y="1057275"/>
              <a:ext cx="14716125" cy="20793075"/>
            </a:xfrm>
            <a:prstGeom prst="rect">
              <a:avLst/>
            </a:prstGeom>
            <a:solidFill>
              <a:srgbClr val="FFF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ar-left-blue"/>
            <p:cNvSpPr/>
            <p:nvPr/>
          </p:nvSpPr>
          <p:spPr>
            <a:xfrm>
              <a:off x="1028700" y="1066800"/>
              <a:ext cx="1047750" cy="3943350"/>
            </a:xfrm>
            <a:prstGeom prst="rect">
              <a:avLst/>
            </a:prstGeom>
            <a:solidFill>
              <a:srgbClr val="045F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6" name="grp-title"/>
            <p:cNvGrpSpPr/>
            <p:nvPr/>
          </p:nvGrpSpPr>
          <p:grpSpPr>
            <a:xfrm>
              <a:off x="2838450" y="2447925"/>
              <a:ext cx="4794504" cy="2876550"/>
              <a:chOff x="2838450" y="2447925"/>
              <a:chExt cx="4794504" cy="2876550"/>
            </a:xfrm>
          </p:grpSpPr>
          <p:sp>
            <p:nvSpPr>
              <p:cNvPr id="6" name="title-1"/>
              <p:cNvSpPr txBox="1"/>
              <p:nvPr/>
            </p:nvSpPr>
            <p:spPr>
              <a:xfrm>
                <a:off x="2838450" y="2447925"/>
                <a:ext cx="4794504" cy="13335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9075" b="1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设备维护</a:t>
                </a:r>
              </a:p>
            </p:txBody>
          </p:sp>
          <p:sp>
            <p:nvSpPr>
              <p:cNvPr id="7" name="title-2"/>
              <p:cNvSpPr txBox="1"/>
              <p:nvPr/>
            </p:nvSpPr>
            <p:spPr>
              <a:xfrm>
                <a:off x="2838450" y="3990975"/>
                <a:ext cx="3714750" cy="13335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9000" b="1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计划表</a:t>
                </a:r>
              </a:p>
            </p:txBody>
          </p:sp>
        </p:grpSp>
        <p:grpSp>
          <p:nvGrpSpPr>
            <p:cNvPr id="70" name="grp-tools"/>
            <p:cNvGrpSpPr/>
            <p:nvPr/>
          </p:nvGrpSpPr>
          <p:grpSpPr>
            <a:xfrm>
              <a:off x="8648700" y="1057275"/>
              <a:ext cx="6048375" cy="2981325"/>
              <a:chOff x="8648700" y="1057275"/>
              <a:chExt cx="6048375" cy="2981325"/>
            </a:xfrm>
          </p:grpSpPr>
          <p:pic>
            <p:nvPicPr>
              <p:cNvPr id="8" name="photo-tools" descr="_photo_photo_tools.jp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648700" y="1057275"/>
                <a:ext cx="6048375" cy="2981325"/>
              </a:xfrm>
              <a:prstGeom prst="rect">
                <a:avLst/>
              </a:prstGeom>
              <a:effectLst/>
            </p:spPr>
          </p:pic>
        </p:grpSp>
        <p:sp>
          <p:nvSpPr>
            <p:cNvPr id="9" name="bar-right-navy"/>
            <p:cNvSpPr/>
            <p:nvPr/>
          </p:nvSpPr>
          <p:spPr>
            <a:xfrm>
              <a:off x="15230475" y="5353050"/>
              <a:ext cx="523875" cy="5248275"/>
            </a:xfrm>
            <a:prstGeom prst="rect">
              <a:avLst/>
            </a:prstGeom>
            <a:solidFill>
              <a:srgbClr val="023A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5" name="grp-meta"/>
            <p:cNvGrpSpPr/>
            <p:nvPr/>
          </p:nvGrpSpPr>
          <p:grpSpPr>
            <a:xfrm>
              <a:off x="2847975" y="5357812"/>
              <a:ext cx="6738938" cy="1833563"/>
              <a:chOff x="2847975" y="5357812"/>
              <a:chExt cx="6738938" cy="1833563"/>
            </a:xfrm>
          </p:grpSpPr>
          <p:sp>
            <p:nvSpPr>
              <p:cNvPr id="10" name="intro-1"/>
              <p:cNvSpPr txBox="1"/>
              <p:nvPr/>
            </p:nvSpPr>
            <p:spPr>
              <a:xfrm>
                <a:off x="2847975" y="5705475"/>
                <a:ext cx="419100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187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执行人员：设备操作员</a:t>
                </a:r>
              </a:p>
            </p:txBody>
          </p:sp>
          <p:sp>
            <p:nvSpPr>
              <p:cNvPr id="11" name="intro-2"/>
              <p:cNvSpPr txBox="1"/>
              <p:nvPr/>
            </p:nvSpPr>
            <p:spPr>
              <a:xfrm>
                <a:off x="2847975" y="6657975"/>
                <a:ext cx="295275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187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保养周期：每周</a:t>
                </a:r>
              </a:p>
            </p:txBody>
          </p:sp>
          <p:sp>
            <p:nvSpPr>
              <p:cNvPr id="12" name="dot-11"/>
              <p:cNvSpPr/>
              <p:nvPr/>
            </p:nvSpPr>
            <p:spPr>
              <a:xfrm>
                <a:off x="7519988" y="5357812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dot-12"/>
              <p:cNvSpPr/>
              <p:nvPr/>
            </p:nvSpPr>
            <p:spPr>
              <a:xfrm>
                <a:off x="8162925" y="5357812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dot-13"/>
              <p:cNvSpPr/>
              <p:nvPr/>
            </p:nvSpPr>
            <p:spPr>
              <a:xfrm>
                <a:off x="8801100" y="5357812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dot-14"/>
              <p:cNvSpPr/>
              <p:nvPr/>
            </p:nvSpPr>
            <p:spPr>
              <a:xfrm>
                <a:off x="9444038" y="5357812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dot-21"/>
              <p:cNvSpPr/>
              <p:nvPr/>
            </p:nvSpPr>
            <p:spPr>
              <a:xfrm>
                <a:off x="7519988" y="59150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dot-22"/>
              <p:cNvSpPr/>
              <p:nvPr/>
            </p:nvSpPr>
            <p:spPr>
              <a:xfrm>
                <a:off x="8162925" y="59150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dot-23"/>
              <p:cNvSpPr/>
              <p:nvPr/>
            </p:nvSpPr>
            <p:spPr>
              <a:xfrm>
                <a:off x="8801100" y="59150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dot-24"/>
              <p:cNvSpPr/>
              <p:nvPr/>
            </p:nvSpPr>
            <p:spPr>
              <a:xfrm>
                <a:off x="9444038" y="59150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dot-31"/>
              <p:cNvSpPr/>
              <p:nvPr/>
            </p:nvSpPr>
            <p:spPr>
              <a:xfrm>
                <a:off x="7519988" y="646747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dot-32"/>
              <p:cNvSpPr/>
              <p:nvPr/>
            </p:nvSpPr>
            <p:spPr>
              <a:xfrm>
                <a:off x="8162925" y="646747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dot-33"/>
              <p:cNvSpPr/>
              <p:nvPr/>
            </p:nvSpPr>
            <p:spPr>
              <a:xfrm>
                <a:off x="8801100" y="646747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dot-34"/>
              <p:cNvSpPr/>
              <p:nvPr/>
            </p:nvSpPr>
            <p:spPr>
              <a:xfrm>
                <a:off x="9444038" y="646747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dot-41"/>
              <p:cNvSpPr/>
              <p:nvPr/>
            </p:nvSpPr>
            <p:spPr>
              <a:xfrm>
                <a:off x="7519988" y="70199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dot-42"/>
              <p:cNvSpPr/>
              <p:nvPr/>
            </p:nvSpPr>
            <p:spPr>
              <a:xfrm>
                <a:off x="8162925" y="70199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dot-43"/>
              <p:cNvSpPr/>
              <p:nvPr/>
            </p:nvSpPr>
            <p:spPr>
              <a:xfrm>
                <a:off x="8801100" y="70199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dot-44"/>
              <p:cNvSpPr/>
              <p:nvPr/>
            </p:nvSpPr>
            <p:spPr>
              <a:xfrm>
                <a:off x="9444038" y="7019925"/>
                <a:ext cx="142875" cy="142875"/>
              </a:xfrm>
              <a:prstGeom prst="ellipse">
                <a:avLst/>
              </a:prstGeom>
              <a:noFill/>
              <a:ln w="38100">
                <a:solidFill>
                  <a:srgbClr val="F5B34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" name="grp-table-header"/>
            <p:cNvGrpSpPr/>
            <p:nvPr/>
          </p:nvGrpSpPr>
          <p:grpSpPr>
            <a:xfrm>
              <a:off x="2762250" y="7686675"/>
              <a:ext cx="11306175" cy="771525"/>
              <a:chOff x="2762250" y="7686675"/>
              <a:chExt cx="11306175" cy="771525"/>
            </a:xfrm>
          </p:grpSpPr>
          <p:sp>
            <p:nvSpPr>
              <p:cNvPr id="28" name="table-header"/>
              <p:cNvSpPr/>
              <p:nvPr/>
            </p:nvSpPr>
            <p:spPr>
              <a:xfrm>
                <a:off x="2762250" y="7686675"/>
                <a:ext cx="11306175" cy="771525"/>
              </a:xfrm>
              <a:prstGeom prst="roundRect">
                <a:avLst>
                  <a:gd name="adj" fmla="val 3703"/>
                </a:avLst>
              </a:prstGeom>
              <a:solidFill>
                <a:srgbClr val="045F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th-1"/>
              <p:cNvSpPr txBox="1"/>
              <p:nvPr/>
            </p:nvSpPr>
            <p:spPr>
              <a:xfrm>
                <a:off x="4102227" y="7867650"/>
                <a:ext cx="1149096" cy="4191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75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设备名称</a:t>
                </a:r>
              </a:p>
            </p:txBody>
          </p:sp>
          <p:sp>
            <p:nvSpPr>
              <p:cNvPr id="30" name="th-2"/>
              <p:cNvSpPr txBox="1"/>
              <p:nvPr/>
            </p:nvSpPr>
            <p:spPr>
              <a:xfrm>
                <a:off x="7820025" y="7867650"/>
                <a:ext cx="1162050" cy="4191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75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使用部门</a:t>
                </a:r>
              </a:p>
            </p:txBody>
          </p:sp>
          <p:sp>
            <p:nvSpPr>
              <p:cNvPr id="31" name="th-3"/>
              <p:cNvSpPr txBox="1"/>
              <p:nvPr/>
            </p:nvSpPr>
            <p:spPr>
              <a:xfrm>
                <a:off x="11591925" y="7867650"/>
                <a:ext cx="1162050" cy="4191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75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维护日期</a:t>
                </a:r>
              </a:p>
            </p:txBody>
          </p:sp>
        </p:grpSp>
        <p:grpSp>
          <p:nvGrpSpPr>
            <p:cNvPr id="73" name="grp-row-1"/>
            <p:cNvGrpSpPr/>
            <p:nvPr/>
          </p:nvGrpSpPr>
          <p:grpSpPr>
            <a:xfrm>
              <a:off x="2762250" y="8763000"/>
              <a:ext cx="11306175" cy="742950"/>
              <a:chOff x="2762250" y="8763000"/>
              <a:chExt cx="11306175" cy="742950"/>
            </a:xfrm>
          </p:grpSpPr>
          <p:sp>
            <p:nvSpPr>
              <p:cNvPr id="32" name="row-1-bg"/>
              <p:cNvSpPr/>
              <p:nvPr/>
            </p:nvSpPr>
            <p:spPr>
              <a:xfrm>
                <a:off x="2762250" y="8763000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1-c1"/>
              <p:cNvSpPr txBox="1"/>
              <p:nvPr/>
            </p:nvSpPr>
            <p:spPr>
              <a:xfrm>
                <a:off x="4033838" y="8905875"/>
                <a:ext cx="12477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数控机床</a:t>
                </a:r>
              </a:p>
            </p:txBody>
          </p:sp>
          <p:sp>
            <p:nvSpPr>
              <p:cNvPr id="34" name="r1-c2"/>
              <p:cNvSpPr txBox="1"/>
              <p:nvPr/>
            </p:nvSpPr>
            <p:spPr>
              <a:xfrm>
                <a:off x="7929562" y="8905875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生产部</a:t>
                </a:r>
              </a:p>
            </p:txBody>
          </p:sp>
          <p:sp>
            <p:nvSpPr>
              <p:cNvPr id="35" name="r1-c3"/>
              <p:cNvSpPr txBox="1"/>
              <p:nvPr/>
            </p:nvSpPr>
            <p:spPr>
              <a:xfrm>
                <a:off x="11353800" y="8905875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2026-03-05</a:t>
                </a:r>
              </a:p>
            </p:txBody>
          </p:sp>
        </p:grpSp>
        <p:grpSp>
          <p:nvGrpSpPr>
            <p:cNvPr id="71" name="grp-row-2"/>
            <p:cNvGrpSpPr/>
            <p:nvPr/>
          </p:nvGrpSpPr>
          <p:grpSpPr>
            <a:xfrm>
              <a:off x="2762250" y="9820275"/>
              <a:ext cx="11306175" cy="742950"/>
              <a:chOff x="2762250" y="9820275"/>
              <a:chExt cx="11306175" cy="742950"/>
            </a:xfrm>
          </p:grpSpPr>
          <p:sp>
            <p:nvSpPr>
              <p:cNvPr id="36" name="row-2-bg"/>
              <p:cNvSpPr/>
              <p:nvPr/>
            </p:nvSpPr>
            <p:spPr>
              <a:xfrm>
                <a:off x="2762250" y="9820275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EBEB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2-c1"/>
              <p:cNvSpPr txBox="1"/>
              <p:nvPr/>
            </p:nvSpPr>
            <p:spPr>
              <a:xfrm>
                <a:off x="3876675" y="9963150"/>
                <a:ext cx="15621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激光切割机</a:t>
                </a:r>
              </a:p>
            </p:txBody>
          </p:sp>
          <p:sp>
            <p:nvSpPr>
              <p:cNvPr id="38" name="r2-c2"/>
              <p:cNvSpPr txBox="1"/>
              <p:nvPr/>
            </p:nvSpPr>
            <p:spPr>
              <a:xfrm>
                <a:off x="7781925" y="9963150"/>
                <a:ext cx="12573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加工车间</a:t>
                </a:r>
              </a:p>
            </p:txBody>
          </p:sp>
          <p:sp>
            <p:nvSpPr>
              <p:cNvPr id="39" name="r2-c3"/>
              <p:cNvSpPr txBox="1"/>
              <p:nvPr/>
            </p:nvSpPr>
            <p:spPr>
              <a:xfrm>
                <a:off x="11353800" y="9963150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2026-03-12</a:t>
                </a:r>
              </a:p>
            </p:txBody>
          </p:sp>
        </p:grpSp>
        <p:grpSp>
          <p:nvGrpSpPr>
            <p:cNvPr id="74" name="grp-row-3"/>
            <p:cNvGrpSpPr/>
            <p:nvPr/>
          </p:nvGrpSpPr>
          <p:grpSpPr>
            <a:xfrm>
              <a:off x="2762250" y="10868025"/>
              <a:ext cx="11306175" cy="742950"/>
              <a:chOff x="2762250" y="10868025"/>
              <a:chExt cx="11306175" cy="742950"/>
            </a:xfrm>
          </p:grpSpPr>
          <p:sp>
            <p:nvSpPr>
              <p:cNvPr id="40" name="row-3-bg"/>
              <p:cNvSpPr/>
              <p:nvPr/>
            </p:nvSpPr>
            <p:spPr>
              <a:xfrm>
                <a:off x="2762250" y="10868025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r3-c1"/>
              <p:cNvSpPr txBox="1"/>
              <p:nvPr/>
            </p:nvSpPr>
            <p:spPr>
              <a:xfrm>
                <a:off x="4162425" y="11010900"/>
                <a:ext cx="9906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空压机</a:t>
                </a:r>
              </a:p>
            </p:txBody>
          </p:sp>
          <p:sp>
            <p:nvSpPr>
              <p:cNvPr id="42" name="r3-c2"/>
              <p:cNvSpPr txBox="1"/>
              <p:nvPr/>
            </p:nvSpPr>
            <p:spPr>
              <a:xfrm>
                <a:off x="7929562" y="11010900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动力部</a:t>
                </a:r>
              </a:p>
            </p:txBody>
          </p:sp>
          <p:sp>
            <p:nvSpPr>
              <p:cNvPr id="43" name="r3-c3"/>
              <p:cNvSpPr txBox="1"/>
              <p:nvPr/>
            </p:nvSpPr>
            <p:spPr>
              <a:xfrm>
                <a:off x="11353800" y="11010900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2026-03-19</a:t>
                </a:r>
              </a:p>
            </p:txBody>
          </p:sp>
        </p:grpSp>
        <p:grpSp>
          <p:nvGrpSpPr>
            <p:cNvPr id="77" name="grp-row-4"/>
            <p:cNvGrpSpPr/>
            <p:nvPr/>
          </p:nvGrpSpPr>
          <p:grpSpPr>
            <a:xfrm>
              <a:off x="2762250" y="11906250"/>
              <a:ext cx="11306175" cy="742950"/>
              <a:chOff x="2762250" y="11906250"/>
              <a:chExt cx="11306175" cy="742950"/>
            </a:xfrm>
          </p:grpSpPr>
          <p:sp>
            <p:nvSpPr>
              <p:cNvPr id="44" name="row-4-bg"/>
              <p:cNvSpPr/>
              <p:nvPr/>
            </p:nvSpPr>
            <p:spPr>
              <a:xfrm>
                <a:off x="2762250" y="11906250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EBEB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r4-c1"/>
              <p:cNvSpPr txBox="1"/>
              <p:nvPr/>
            </p:nvSpPr>
            <p:spPr>
              <a:xfrm>
                <a:off x="3743325" y="12049125"/>
                <a:ext cx="18288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中央空调主机</a:t>
                </a:r>
              </a:p>
            </p:txBody>
          </p:sp>
          <p:sp>
            <p:nvSpPr>
              <p:cNvPr id="46" name="r4-c2"/>
              <p:cNvSpPr txBox="1"/>
              <p:nvPr/>
            </p:nvSpPr>
            <p:spPr>
              <a:xfrm>
                <a:off x="7929562" y="12049125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行政部</a:t>
                </a:r>
              </a:p>
            </p:txBody>
          </p:sp>
          <p:sp>
            <p:nvSpPr>
              <p:cNvPr id="47" name="r4-c3"/>
              <p:cNvSpPr txBox="1"/>
              <p:nvPr/>
            </p:nvSpPr>
            <p:spPr>
              <a:xfrm>
                <a:off x="11353800" y="12049125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2026-03-26</a:t>
                </a:r>
              </a:p>
            </p:txBody>
          </p:sp>
        </p:grpSp>
        <p:grpSp>
          <p:nvGrpSpPr>
            <p:cNvPr id="72" name="grp-row-5"/>
            <p:cNvGrpSpPr/>
            <p:nvPr/>
          </p:nvGrpSpPr>
          <p:grpSpPr>
            <a:xfrm>
              <a:off x="2762250" y="12963525"/>
              <a:ext cx="11306175" cy="742950"/>
              <a:chOff x="2762250" y="12963525"/>
              <a:chExt cx="11306175" cy="742950"/>
            </a:xfrm>
          </p:grpSpPr>
          <p:sp>
            <p:nvSpPr>
              <p:cNvPr id="48" name="row-5-bg"/>
              <p:cNvSpPr/>
              <p:nvPr/>
            </p:nvSpPr>
            <p:spPr>
              <a:xfrm>
                <a:off x="2762250" y="12963525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r5-c1"/>
              <p:cNvSpPr txBox="1"/>
              <p:nvPr/>
            </p:nvSpPr>
            <p:spPr>
              <a:xfrm>
                <a:off x="3876675" y="13106400"/>
                <a:ext cx="15621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高压配电柜</a:t>
                </a:r>
              </a:p>
            </p:txBody>
          </p:sp>
          <p:sp>
            <p:nvSpPr>
              <p:cNvPr id="50" name="r5-c2"/>
              <p:cNvSpPr txBox="1"/>
              <p:nvPr/>
            </p:nvSpPr>
            <p:spPr>
              <a:xfrm>
                <a:off x="7929562" y="13106400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电力部</a:t>
                </a:r>
              </a:p>
            </p:txBody>
          </p:sp>
          <p:sp>
            <p:nvSpPr>
              <p:cNvPr id="51" name="r5-c3"/>
              <p:cNvSpPr txBox="1"/>
              <p:nvPr/>
            </p:nvSpPr>
            <p:spPr>
              <a:xfrm>
                <a:off x="11353800" y="13106400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2026-04-01</a:t>
                </a:r>
              </a:p>
            </p:txBody>
          </p:sp>
        </p:grpSp>
        <p:grpSp>
          <p:nvGrpSpPr>
            <p:cNvPr id="81" name="grp-row-6"/>
            <p:cNvGrpSpPr/>
            <p:nvPr/>
          </p:nvGrpSpPr>
          <p:grpSpPr>
            <a:xfrm>
              <a:off x="2762250" y="14011275"/>
              <a:ext cx="11306175" cy="742950"/>
              <a:chOff x="2762250" y="14011275"/>
              <a:chExt cx="11306175" cy="742950"/>
            </a:xfrm>
          </p:grpSpPr>
          <p:sp>
            <p:nvSpPr>
              <p:cNvPr id="52" name="row-6-bg"/>
              <p:cNvSpPr/>
              <p:nvPr/>
            </p:nvSpPr>
            <p:spPr>
              <a:xfrm>
                <a:off x="2762250" y="14011275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EBEB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6-c1"/>
              <p:cNvSpPr txBox="1"/>
              <p:nvPr/>
            </p:nvSpPr>
            <p:spPr>
              <a:xfrm>
                <a:off x="3876675" y="14154150"/>
                <a:ext cx="1562100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包装流水线</a:t>
                </a:r>
              </a:p>
            </p:txBody>
          </p:sp>
          <p:sp>
            <p:nvSpPr>
              <p:cNvPr id="54" name="r6-c2"/>
              <p:cNvSpPr txBox="1"/>
              <p:nvPr/>
            </p:nvSpPr>
            <p:spPr>
              <a:xfrm>
                <a:off x="7929562" y="14154150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包装部</a:t>
                </a:r>
              </a:p>
            </p:txBody>
          </p:sp>
          <p:sp>
            <p:nvSpPr>
              <p:cNvPr id="55" name="r6-c3"/>
              <p:cNvSpPr txBox="1"/>
              <p:nvPr/>
            </p:nvSpPr>
            <p:spPr>
              <a:xfrm>
                <a:off x="11353800" y="14154150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2026-04-08</a:t>
                </a:r>
              </a:p>
            </p:txBody>
          </p:sp>
        </p:grpSp>
        <p:grpSp>
          <p:nvGrpSpPr>
            <p:cNvPr id="78" name="grp-row-7"/>
            <p:cNvGrpSpPr/>
            <p:nvPr/>
          </p:nvGrpSpPr>
          <p:grpSpPr>
            <a:xfrm>
              <a:off x="2762250" y="15068550"/>
              <a:ext cx="11306175" cy="742950"/>
              <a:chOff x="2762250" y="15068550"/>
              <a:chExt cx="11306175" cy="742950"/>
            </a:xfrm>
          </p:grpSpPr>
          <p:sp>
            <p:nvSpPr>
              <p:cNvPr id="56" name="row-7-bg"/>
              <p:cNvSpPr/>
              <p:nvPr/>
            </p:nvSpPr>
            <p:spPr>
              <a:xfrm>
                <a:off x="2762250" y="15068550"/>
                <a:ext cx="11306175" cy="74295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r7-c1"/>
              <p:cNvSpPr txBox="1"/>
              <p:nvPr/>
            </p:nvSpPr>
            <p:spPr>
              <a:xfrm>
                <a:off x="4033838" y="15211425"/>
                <a:ext cx="12477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检测仪器</a:t>
                </a:r>
              </a:p>
            </p:txBody>
          </p:sp>
          <p:sp>
            <p:nvSpPr>
              <p:cNvPr id="58" name="r7-c2"/>
              <p:cNvSpPr txBox="1"/>
              <p:nvPr/>
            </p:nvSpPr>
            <p:spPr>
              <a:xfrm>
                <a:off x="7929562" y="15211425"/>
                <a:ext cx="96202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质检部</a:t>
                </a:r>
              </a:p>
            </p:txBody>
          </p:sp>
          <p:sp>
            <p:nvSpPr>
              <p:cNvPr id="59" name="r7-c3"/>
              <p:cNvSpPr txBox="1"/>
              <p:nvPr/>
            </p:nvSpPr>
            <p:spPr>
              <a:xfrm>
                <a:off x="11353800" y="15211425"/>
                <a:ext cx="1666875" cy="457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25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2026-04-15</a:t>
                </a:r>
              </a:p>
            </p:txBody>
          </p:sp>
        </p:grpSp>
        <p:grpSp>
          <p:nvGrpSpPr>
            <p:cNvPr id="82" name="grp-main-content"/>
            <p:cNvGrpSpPr/>
            <p:nvPr/>
          </p:nvGrpSpPr>
          <p:grpSpPr>
            <a:xfrm>
              <a:off x="2914650" y="16373475"/>
              <a:ext cx="5469065" cy="2733675"/>
              <a:chOff x="2914650" y="16373475"/>
              <a:chExt cx="5469065" cy="2733675"/>
            </a:xfrm>
          </p:grpSpPr>
          <p:sp>
            <p:nvSpPr>
              <p:cNvPr id="60" name="h-main"/>
              <p:cNvSpPr txBox="1"/>
              <p:nvPr/>
            </p:nvSpPr>
            <p:spPr>
              <a:xfrm>
                <a:off x="2914650" y="16373475"/>
                <a:ext cx="212979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225" b="1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主要内容：</a:t>
                </a:r>
              </a:p>
            </p:txBody>
          </p:sp>
          <p:sp>
            <p:nvSpPr>
              <p:cNvPr id="61" name="bullet-1"/>
              <p:cNvSpPr txBox="1"/>
              <p:nvPr/>
            </p:nvSpPr>
            <p:spPr>
              <a:xfrm>
                <a:off x="2952750" y="17154525"/>
                <a:ext cx="4177665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225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设备清洁、润滑、紧固</a:t>
                </a:r>
              </a:p>
            </p:txBody>
          </p:sp>
          <p:sp>
            <p:nvSpPr>
              <p:cNvPr id="62" name="bullet-2"/>
              <p:cNvSpPr txBox="1"/>
              <p:nvPr/>
            </p:nvSpPr>
            <p:spPr>
              <a:xfrm>
                <a:off x="2952750" y="17859375"/>
                <a:ext cx="5430965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225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检查油、水、电、气是否畅通</a:t>
                </a:r>
              </a:p>
            </p:txBody>
          </p:sp>
          <p:sp>
            <p:nvSpPr>
              <p:cNvPr id="63" name="bullet-3"/>
              <p:cNvSpPr txBox="1"/>
              <p:nvPr/>
            </p:nvSpPr>
            <p:spPr>
              <a:xfrm>
                <a:off x="2952750" y="18573750"/>
                <a:ext cx="3771900" cy="5334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225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检查防护装置完好性</a:t>
                </a:r>
              </a:p>
            </p:txBody>
          </p:sp>
        </p:grpSp>
        <p:grpSp>
          <p:nvGrpSpPr>
            <p:cNvPr id="80" name="grp-decor"/>
            <p:cNvGrpSpPr/>
            <p:nvPr/>
          </p:nvGrpSpPr>
          <p:grpSpPr>
            <a:xfrm>
              <a:off x="2743200" y="15935325"/>
              <a:ext cx="13030200" cy="5905500"/>
              <a:chOff x="2743200" y="15935325"/>
              <a:chExt cx="13030200" cy="5905500"/>
            </a:xfrm>
          </p:grpSpPr>
          <p:pic>
            <p:nvPicPr>
              <p:cNvPr id="64" name="photo-gears" descr="_photo_photo_gears.jp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3200" y="19850100"/>
                <a:ext cx="4933950" cy="1076325"/>
              </a:xfrm>
              <a:prstGeom prst="rect">
                <a:avLst/>
              </a:prstGeom>
              <a:effectLst/>
            </p:spPr>
          </p:pic>
          <p:pic>
            <p:nvPicPr>
              <p:cNvPr id="65" name="photo-xmarks" descr="_photo_photo_xmarks.jp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6500" y="19126200"/>
                <a:ext cx="4038600" cy="1200150"/>
              </a:xfrm>
              <a:prstGeom prst="rect">
                <a:avLst/>
              </a:prstGeom>
              <a:effectLst/>
            </p:spPr>
          </p:pic>
          <p:sp>
            <p:nvSpPr>
              <p:cNvPr id="66" name="bar-bottom-yellow"/>
              <p:cNvSpPr/>
              <p:nvPr/>
            </p:nvSpPr>
            <p:spPr>
              <a:xfrm>
                <a:off x="9391650" y="21050250"/>
                <a:ext cx="6353175" cy="790575"/>
              </a:xfrm>
              <a:prstGeom prst="rect">
                <a:avLst/>
              </a:prstGeom>
              <a:solidFill>
                <a:srgbClr val="F5B34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emi-blue"/>
              <p:cNvSpPr/>
              <p:nvPr/>
            </p:nvSpPr>
            <p:spPr>
              <a:xfrm>
                <a:off x="14258925" y="15935325"/>
                <a:ext cx="1514475" cy="3028950"/>
              </a:xfrm>
              <a:custGeom>
                <a:avLst/>
                <a:gdLst/>
                <a:ahLst/>
                <a:cxnLst/>
                <a:rect l="l" t="t" r="r" b="b"/>
                <a:pathLst>
                  <a:path w="1514475" h="3028950">
                    <a:moveTo>
                      <a:pt x="1514475" y="3028950"/>
                    </a:moveTo>
                    <a:lnTo>
                      <a:pt x="1356360" y="3020377"/>
                    </a:lnTo>
                    <a:lnTo>
                      <a:pt x="1199197" y="2995613"/>
                    </a:lnTo>
                    <a:lnTo>
                      <a:pt x="1046797" y="2954655"/>
                    </a:lnTo>
                    <a:lnTo>
                      <a:pt x="898207" y="2898457"/>
                    </a:lnTo>
                    <a:lnTo>
                      <a:pt x="757237" y="2826067"/>
                    </a:lnTo>
                    <a:lnTo>
                      <a:pt x="623887" y="2739390"/>
                    </a:lnTo>
                    <a:lnTo>
                      <a:pt x="501015" y="2640330"/>
                    </a:lnTo>
                    <a:lnTo>
                      <a:pt x="388620" y="2527935"/>
                    </a:lnTo>
                    <a:lnTo>
                      <a:pt x="289560" y="2405063"/>
                    </a:lnTo>
                    <a:lnTo>
                      <a:pt x="202883" y="2271713"/>
                    </a:lnTo>
                    <a:lnTo>
                      <a:pt x="130493" y="2130743"/>
                    </a:lnTo>
                    <a:lnTo>
                      <a:pt x="74295" y="1982153"/>
                    </a:lnTo>
                    <a:lnTo>
                      <a:pt x="33337" y="1829753"/>
                    </a:lnTo>
                    <a:lnTo>
                      <a:pt x="8573" y="1672590"/>
                    </a:lnTo>
                    <a:lnTo>
                      <a:pt x="0" y="1514475"/>
                    </a:lnTo>
                    <a:lnTo>
                      <a:pt x="8573" y="1356360"/>
                    </a:lnTo>
                    <a:lnTo>
                      <a:pt x="33337" y="1199197"/>
                    </a:lnTo>
                    <a:lnTo>
                      <a:pt x="74295" y="1046797"/>
                    </a:lnTo>
                    <a:lnTo>
                      <a:pt x="130493" y="898207"/>
                    </a:lnTo>
                    <a:lnTo>
                      <a:pt x="202883" y="757237"/>
                    </a:lnTo>
                    <a:lnTo>
                      <a:pt x="289560" y="623887"/>
                    </a:lnTo>
                    <a:lnTo>
                      <a:pt x="388620" y="501015"/>
                    </a:lnTo>
                    <a:lnTo>
                      <a:pt x="501015" y="388620"/>
                    </a:lnTo>
                    <a:lnTo>
                      <a:pt x="623887" y="289560"/>
                    </a:lnTo>
                    <a:lnTo>
                      <a:pt x="757237" y="202883"/>
                    </a:lnTo>
                    <a:lnTo>
                      <a:pt x="898207" y="130493"/>
                    </a:lnTo>
                    <a:lnTo>
                      <a:pt x="1046797" y="74295"/>
                    </a:lnTo>
                    <a:lnTo>
                      <a:pt x="1199197" y="33337"/>
                    </a:lnTo>
                    <a:lnTo>
                      <a:pt x="1356360" y="8573"/>
                    </a:lnTo>
                    <a:lnTo>
                      <a:pt x="1514475" y="0"/>
                    </a:lnTo>
                    <a:close/>
                  </a:path>
                </a:pathLst>
              </a:custGeom>
              <a:solidFill>
                <a:srgbClr val="045F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emi-yellow"/>
              <p:cNvSpPr/>
              <p:nvPr/>
            </p:nvSpPr>
            <p:spPr>
              <a:xfrm>
                <a:off x="15068550" y="16744950"/>
                <a:ext cx="704850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1409700">
                    <a:moveTo>
                      <a:pt x="704850" y="1409700"/>
                    </a:moveTo>
                    <a:lnTo>
                      <a:pt x="631508" y="1405890"/>
                    </a:lnTo>
                    <a:lnTo>
                      <a:pt x="558165" y="1394460"/>
                    </a:lnTo>
                    <a:lnTo>
                      <a:pt x="486728" y="1375410"/>
                    </a:lnTo>
                    <a:lnTo>
                      <a:pt x="418148" y="1348740"/>
                    </a:lnTo>
                    <a:lnTo>
                      <a:pt x="352425" y="1315402"/>
                    </a:lnTo>
                    <a:lnTo>
                      <a:pt x="290512" y="1275398"/>
                    </a:lnTo>
                    <a:lnTo>
                      <a:pt x="233362" y="1228725"/>
                    </a:lnTo>
                    <a:lnTo>
                      <a:pt x="180975" y="1176338"/>
                    </a:lnTo>
                    <a:lnTo>
                      <a:pt x="134302" y="1119188"/>
                    </a:lnTo>
                    <a:lnTo>
                      <a:pt x="94298" y="1057275"/>
                    </a:lnTo>
                    <a:lnTo>
                      <a:pt x="60960" y="991552"/>
                    </a:lnTo>
                    <a:lnTo>
                      <a:pt x="34290" y="922972"/>
                    </a:lnTo>
                    <a:lnTo>
                      <a:pt x="15240" y="851535"/>
                    </a:lnTo>
                    <a:lnTo>
                      <a:pt x="3810" y="778192"/>
                    </a:lnTo>
                    <a:lnTo>
                      <a:pt x="0" y="704850"/>
                    </a:lnTo>
                    <a:lnTo>
                      <a:pt x="3810" y="631508"/>
                    </a:lnTo>
                    <a:lnTo>
                      <a:pt x="15240" y="558165"/>
                    </a:lnTo>
                    <a:lnTo>
                      <a:pt x="34290" y="486728"/>
                    </a:lnTo>
                    <a:lnTo>
                      <a:pt x="60960" y="418148"/>
                    </a:lnTo>
                    <a:lnTo>
                      <a:pt x="94298" y="352425"/>
                    </a:lnTo>
                    <a:lnTo>
                      <a:pt x="134302" y="290512"/>
                    </a:lnTo>
                    <a:lnTo>
                      <a:pt x="180975" y="233362"/>
                    </a:lnTo>
                    <a:lnTo>
                      <a:pt x="233362" y="180975"/>
                    </a:lnTo>
                    <a:lnTo>
                      <a:pt x="290512" y="134302"/>
                    </a:lnTo>
                    <a:lnTo>
                      <a:pt x="352425" y="94298"/>
                    </a:lnTo>
                    <a:lnTo>
                      <a:pt x="418148" y="60960"/>
                    </a:lnTo>
                    <a:lnTo>
                      <a:pt x="486728" y="34290"/>
                    </a:lnTo>
                    <a:lnTo>
                      <a:pt x="558165" y="15240"/>
                    </a:lnTo>
                    <a:lnTo>
                      <a:pt x="631508" y="3810"/>
                    </a:lnTo>
                    <a:lnTo>
                      <a:pt x="704850" y="0"/>
                    </a:lnTo>
                    <a:close/>
                  </a:path>
                </a:pathLst>
              </a:custGeom>
              <a:solidFill>
                <a:srgbClr val="F5B34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