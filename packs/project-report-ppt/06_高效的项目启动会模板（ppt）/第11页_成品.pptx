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7" name="hdr"/>
          <p:cNvGrpSpPr/>
          <p:nvPr/>
        </p:nvGrpSpPr>
        <p:grpSpPr>
          <a:xfrm>
            <a:off x="838200" y="838200"/>
            <a:ext cx="28765500" cy="1647825"/>
            <a:chOff x="838200" y="838200"/>
            <a:chExt cx="28765500" cy="1647825"/>
          </a:xfrm>
        </p:grpSpPr>
        <p:sp>
          <p:nvSpPr>
            <p:cNvPr id="3" name="header-frame"/>
            <p:cNvSpPr/>
            <p:nvPr/>
          </p:nvSpPr>
          <p:spPr>
            <a:xfrm>
              <a:off x="838200" y="895350"/>
              <a:ext cx="28765500" cy="1590675"/>
            </a:xfrm>
            <a:prstGeom prst="rect">
              <a:avLst/>
            </a:prstGeom>
            <a:solidFill>
              <a:srgbClr val="FFFFFF"/>
            </a:solidFill>
            <a:ln w="33337">
              <a:solidFill>
                <a:srgbClr val="D8CB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header-tab"/>
            <p:cNvSpPr/>
            <p:nvPr/>
          </p:nvSpPr>
          <p:spPr>
            <a:xfrm>
              <a:off x="838200" y="895350"/>
              <a:ext cx="6429375" cy="1590675"/>
            </a:xfrm>
            <a:prstGeom prst="rect">
              <a:avLst/>
            </a:prstGeom>
            <a:solidFill>
              <a:srgbClr val="013F96"/>
            </a:solidFill>
            <a:ln w="33337">
              <a:solidFill>
                <a:srgbClr val="D8CB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header-title"/>
            <p:cNvSpPr txBox="1"/>
            <p:nvPr/>
          </p:nvSpPr>
          <p:spPr>
            <a:xfrm>
              <a:off x="838200" y="838200"/>
              <a:ext cx="6429375" cy="15906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制定项目计划</a:t>
              </a:r>
            </a:p>
          </p:txBody>
        </p:sp>
        <p:sp>
          <p:nvSpPr>
            <p:cNvPr id="6" name="header-sub"/>
            <p:cNvSpPr txBox="1"/>
            <p:nvPr/>
          </p:nvSpPr>
          <p:spPr>
            <a:xfrm>
              <a:off x="15573375" y="1447800"/>
              <a:ext cx="5715000" cy="4476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6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人员分工、技能和绩效改进提高工作</a:t>
              </a:r>
            </a:p>
          </p:txBody>
        </p:sp>
      </p:grpSp>
      <p:grpSp>
        <p:nvGrpSpPr>
          <p:cNvPr id="74" name="timeline"/>
          <p:cNvGrpSpPr/>
          <p:nvPr/>
        </p:nvGrpSpPr>
        <p:grpSpPr>
          <a:xfrm>
            <a:off x="3276600" y="3162300"/>
            <a:ext cx="23812500" cy="1000125"/>
            <a:chOff x="3276600" y="3162300"/>
            <a:chExt cx="23812500" cy="1000125"/>
          </a:xfrm>
        </p:grpSpPr>
        <p:sp>
          <p:nvSpPr>
            <p:cNvPr id="7" name="timeline-frame"/>
            <p:cNvSpPr/>
            <p:nvPr/>
          </p:nvSpPr>
          <p:spPr>
            <a:xfrm>
              <a:off x="3276600" y="3190875"/>
              <a:ext cx="23802975" cy="9715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31A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timeline-sep-1"/>
            <p:cNvCxnSpPr/>
            <p:nvPr/>
          </p:nvCxnSpPr>
          <p:spPr>
            <a:xfrm>
              <a:off x="4467225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9" name="timeline-sep-2"/>
            <p:cNvCxnSpPr/>
            <p:nvPr/>
          </p:nvCxnSpPr>
          <p:spPr>
            <a:xfrm>
              <a:off x="5657850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0" name="timeline-sep-3"/>
            <p:cNvCxnSpPr/>
            <p:nvPr/>
          </p:nvCxnSpPr>
          <p:spPr>
            <a:xfrm>
              <a:off x="6848475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1" name="timeline-sep-4"/>
            <p:cNvCxnSpPr/>
            <p:nvPr/>
          </p:nvCxnSpPr>
          <p:spPr>
            <a:xfrm>
              <a:off x="8039100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2" name="timeline-sep-5"/>
            <p:cNvCxnSpPr/>
            <p:nvPr/>
          </p:nvCxnSpPr>
          <p:spPr>
            <a:xfrm>
              <a:off x="9229725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3" name="timeline-sep-6"/>
            <p:cNvCxnSpPr/>
            <p:nvPr/>
          </p:nvCxnSpPr>
          <p:spPr>
            <a:xfrm>
              <a:off x="10420350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4" name="timeline-sep-7"/>
            <p:cNvCxnSpPr/>
            <p:nvPr/>
          </p:nvCxnSpPr>
          <p:spPr>
            <a:xfrm>
              <a:off x="11610975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5" name="timeline-sep-8"/>
            <p:cNvCxnSpPr/>
            <p:nvPr/>
          </p:nvCxnSpPr>
          <p:spPr>
            <a:xfrm>
              <a:off x="12801600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6" name="timeline-sep-9"/>
            <p:cNvCxnSpPr/>
            <p:nvPr/>
          </p:nvCxnSpPr>
          <p:spPr>
            <a:xfrm>
              <a:off x="13992225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7" name="timeline-sep-10"/>
            <p:cNvCxnSpPr/>
            <p:nvPr/>
          </p:nvCxnSpPr>
          <p:spPr>
            <a:xfrm>
              <a:off x="15182850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8" name="timeline-sep-11"/>
            <p:cNvCxnSpPr/>
            <p:nvPr/>
          </p:nvCxnSpPr>
          <p:spPr>
            <a:xfrm>
              <a:off x="16373475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9" name="timeline-sep-12"/>
            <p:cNvCxnSpPr/>
            <p:nvPr/>
          </p:nvCxnSpPr>
          <p:spPr>
            <a:xfrm>
              <a:off x="17564100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0" name="timeline-sep-13"/>
            <p:cNvCxnSpPr/>
            <p:nvPr/>
          </p:nvCxnSpPr>
          <p:spPr>
            <a:xfrm>
              <a:off x="18754725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1" name="timeline-sep-14"/>
            <p:cNvCxnSpPr/>
            <p:nvPr/>
          </p:nvCxnSpPr>
          <p:spPr>
            <a:xfrm>
              <a:off x="19945350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2" name="timeline-sep-15"/>
            <p:cNvCxnSpPr/>
            <p:nvPr/>
          </p:nvCxnSpPr>
          <p:spPr>
            <a:xfrm>
              <a:off x="21135975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3" name="timeline-sep-16"/>
            <p:cNvCxnSpPr/>
            <p:nvPr/>
          </p:nvCxnSpPr>
          <p:spPr>
            <a:xfrm>
              <a:off x="22326600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4" name="timeline-sep-17"/>
            <p:cNvCxnSpPr/>
            <p:nvPr/>
          </p:nvCxnSpPr>
          <p:spPr>
            <a:xfrm>
              <a:off x="23517225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5" name="timeline-sep-18"/>
            <p:cNvCxnSpPr/>
            <p:nvPr/>
          </p:nvCxnSpPr>
          <p:spPr>
            <a:xfrm>
              <a:off x="24707850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6" name="timeline-sep-19"/>
            <p:cNvCxnSpPr/>
            <p:nvPr/>
          </p:nvCxnSpPr>
          <p:spPr>
            <a:xfrm>
              <a:off x="25898475" y="3190875"/>
              <a:ext cx="0" cy="971550"/>
            </a:xfrm>
            <a:prstGeom prst="line">
              <a:avLst/>
            </a:prstGeom>
            <a:ln w="28575">
              <a:solidFill>
                <a:srgbClr val="131A3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sp>
          <p:nvSpPr>
            <p:cNvPr id="27" name="month-1"/>
            <p:cNvSpPr txBox="1"/>
            <p:nvPr/>
          </p:nvSpPr>
          <p:spPr>
            <a:xfrm>
              <a:off x="327660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M1</a:t>
              </a:r>
            </a:p>
          </p:txBody>
        </p:sp>
        <p:sp>
          <p:nvSpPr>
            <p:cNvPr id="28" name="month-2"/>
            <p:cNvSpPr txBox="1"/>
            <p:nvPr/>
          </p:nvSpPr>
          <p:spPr>
            <a:xfrm>
              <a:off x="447675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M2</a:t>
              </a:r>
            </a:p>
          </p:txBody>
        </p:sp>
        <p:sp>
          <p:nvSpPr>
            <p:cNvPr id="29" name="month-3"/>
            <p:cNvSpPr txBox="1"/>
            <p:nvPr/>
          </p:nvSpPr>
          <p:spPr>
            <a:xfrm>
              <a:off x="565785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M3</a:t>
              </a:r>
            </a:p>
          </p:txBody>
        </p:sp>
        <p:sp>
          <p:nvSpPr>
            <p:cNvPr id="30" name="month-4"/>
            <p:cNvSpPr txBox="1"/>
            <p:nvPr/>
          </p:nvSpPr>
          <p:spPr>
            <a:xfrm>
              <a:off x="685800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M4</a:t>
              </a:r>
            </a:p>
          </p:txBody>
        </p:sp>
        <p:sp>
          <p:nvSpPr>
            <p:cNvPr id="31" name="month-5"/>
            <p:cNvSpPr txBox="1"/>
            <p:nvPr/>
          </p:nvSpPr>
          <p:spPr>
            <a:xfrm>
              <a:off x="803910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M5</a:t>
              </a:r>
            </a:p>
          </p:txBody>
        </p:sp>
        <p:sp>
          <p:nvSpPr>
            <p:cNvPr id="32" name="month-6"/>
            <p:cNvSpPr txBox="1"/>
            <p:nvPr/>
          </p:nvSpPr>
          <p:spPr>
            <a:xfrm>
              <a:off x="923925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M6</a:t>
              </a:r>
            </a:p>
          </p:txBody>
        </p:sp>
        <p:sp>
          <p:nvSpPr>
            <p:cNvPr id="33" name="month-7"/>
            <p:cNvSpPr txBox="1"/>
            <p:nvPr/>
          </p:nvSpPr>
          <p:spPr>
            <a:xfrm>
              <a:off x="1042035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M7</a:t>
              </a:r>
            </a:p>
          </p:txBody>
        </p:sp>
        <p:sp>
          <p:nvSpPr>
            <p:cNvPr id="34" name="month-8"/>
            <p:cNvSpPr txBox="1"/>
            <p:nvPr/>
          </p:nvSpPr>
          <p:spPr>
            <a:xfrm>
              <a:off x="1162050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M8</a:t>
              </a:r>
            </a:p>
          </p:txBody>
        </p:sp>
        <p:sp>
          <p:nvSpPr>
            <p:cNvPr id="35" name="month-9"/>
            <p:cNvSpPr txBox="1"/>
            <p:nvPr/>
          </p:nvSpPr>
          <p:spPr>
            <a:xfrm>
              <a:off x="1280160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M9</a:t>
              </a:r>
            </a:p>
          </p:txBody>
        </p:sp>
        <p:sp>
          <p:nvSpPr>
            <p:cNvPr id="36" name="month-10"/>
            <p:cNvSpPr txBox="1"/>
            <p:nvPr/>
          </p:nvSpPr>
          <p:spPr>
            <a:xfrm>
              <a:off x="1400175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M10</a:t>
              </a:r>
            </a:p>
          </p:txBody>
        </p:sp>
        <p:sp>
          <p:nvSpPr>
            <p:cNvPr id="37" name="month-11"/>
            <p:cNvSpPr txBox="1"/>
            <p:nvPr/>
          </p:nvSpPr>
          <p:spPr>
            <a:xfrm>
              <a:off x="1518285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M11</a:t>
              </a:r>
            </a:p>
          </p:txBody>
        </p:sp>
        <p:sp>
          <p:nvSpPr>
            <p:cNvPr id="38" name="month-12"/>
            <p:cNvSpPr txBox="1"/>
            <p:nvPr/>
          </p:nvSpPr>
          <p:spPr>
            <a:xfrm>
              <a:off x="1638300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M12</a:t>
              </a:r>
            </a:p>
          </p:txBody>
        </p:sp>
        <p:sp>
          <p:nvSpPr>
            <p:cNvPr id="39" name="month-13"/>
            <p:cNvSpPr txBox="1"/>
            <p:nvPr/>
          </p:nvSpPr>
          <p:spPr>
            <a:xfrm>
              <a:off x="1756410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M13</a:t>
              </a:r>
            </a:p>
          </p:txBody>
        </p:sp>
        <p:sp>
          <p:nvSpPr>
            <p:cNvPr id="40" name="month-14"/>
            <p:cNvSpPr txBox="1"/>
            <p:nvPr/>
          </p:nvSpPr>
          <p:spPr>
            <a:xfrm>
              <a:off x="1876425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M14</a:t>
              </a:r>
            </a:p>
          </p:txBody>
        </p:sp>
        <p:sp>
          <p:nvSpPr>
            <p:cNvPr id="41" name="month-15"/>
            <p:cNvSpPr txBox="1"/>
            <p:nvPr/>
          </p:nvSpPr>
          <p:spPr>
            <a:xfrm>
              <a:off x="1994535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M15</a:t>
              </a:r>
            </a:p>
          </p:txBody>
        </p:sp>
        <p:sp>
          <p:nvSpPr>
            <p:cNvPr id="42" name="month-16"/>
            <p:cNvSpPr txBox="1"/>
            <p:nvPr/>
          </p:nvSpPr>
          <p:spPr>
            <a:xfrm>
              <a:off x="2114550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M16</a:t>
              </a:r>
            </a:p>
          </p:txBody>
        </p:sp>
        <p:sp>
          <p:nvSpPr>
            <p:cNvPr id="43" name="month-17"/>
            <p:cNvSpPr txBox="1"/>
            <p:nvPr/>
          </p:nvSpPr>
          <p:spPr>
            <a:xfrm>
              <a:off x="2232660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M17</a:t>
              </a:r>
            </a:p>
          </p:txBody>
        </p:sp>
        <p:sp>
          <p:nvSpPr>
            <p:cNvPr id="44" name="month-18"/>
            <p:cNvSpPr txBox="1"/>
            <p:nvPr/>
          </p:nvSpPr>
          <p:spPr>
            <a:xfrm>
              <a:off x="2352675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M18</a:t>
              </a:r>
            </a:p>
          </p:txBody>
        </p:sp>
        <p:sp>
          <p:nvSpPr>
            <p:cNvPr id="45" name="month-19"/>
            <p:cNvSpPr txBox="1"/>
            <p:nvPr/>
          </p:nvSpPr>
          <p:spPr>
            <a:xfrm>
              <a:off x="2470785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M19</a:t>
              </a:r>
            </a:p>
          </p:txBody>
        </p:sp>
        <p:sp>
          <p:nvSpPr>
            <p:cNvPr id="46" name="month-20"/>
            <p:cNvSpPr txBox="1"/>
            <p:nvPr/>
          </p:nvSpPr>
          <p:spPr>
            <a:xfrm>
              <a:off x="25908000" y="3162300"/>
              <a:ext cx="1181100" cy="9715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0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M20</a:t>
              </a:r>
            </a:p>
          </p:txBody>
        </p:sp>
      </p:grpSp>
      <p:grpSp>
        <p:nvGrpSpPr>
          <p:cNvPr id="69" name="phases"/>
          <p:cNvGrpSpPr/>
          <p:nvPr/>
        </p:nvGrpSpPr>
        <p:grpSpPr>
          <a:xfrm>
            <a:off x="3019425" y="4562475"/>
            <a:ext cx="23926800" cy="419100"/>
            <a:chOff x="3019425" y="4562475"/>
            <a:chExt cx="23926800" cy="419100"/>
          </a:xfrm>
        </p:grpSpPr>
        <p:sp>
          <p:nvSpPr>
            <p:cNvPr id="47" name="phase-1"/>
            <p:cNvSpPr txBox="1"/>
            <p:nvPr/>
          </p:nvSpPr>
          <p:spPr>
            <a:xfrm>
              <a:off x="3019425" y="4562475"/>
              <a:ext cx="1695450" cy="4191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合同签订</a:t>
              </a:r>
            </a:p>
          </p:txBody>
        </p:sp>
        <p:sp>
          <p:nvSpPr>
            <p:cNvPr id="48" name="phase-2"/>
            <p:cNvSpPr txBox="1"/>
            <p:nvPr/>
          </p:nvSpPr>
          <p:spPr>
            <a:xfrm>
              <a:off x="7067550" y="4562475"/>
              <a:ext cx="1695450" cy="4191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初始阶段</a:t>
              </a:r>
            </a:p>
          </p:txBody>
        </p:sp>
        <p:sp>
          <p:nvSpPr>
            <p:cNvPr id="49" name="phase-3"/>
            <p:cNvSpPr txBox="1"/>
            <p:nvPr/>
          </p:nvSpPr>
          <p:spPr>
            <a:xfrm>
              <a:off x="10163175" y="4562475"/>
              <a:ext cx="2543175" cy="4191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项目季度回顾</a:t>
              </a:r>
            </a:p>
          </p:txBody>
        </p:sp>
        <p:sp>
          <p:nvSpPr>
            <p:cNvPr id="50" name="phase-4"/>
            <p:cNvSpPr txBox="1"/>
            <p:nvPr/>
          </p:nvSpPr>
          <p:spPr>
            <a:xfrm>
              <a:off x="13906500" y="4562475"/>
              <a:ext cx="2552700" cy="4191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项目季度回顾</a:t>
              </a:r>
            </a:p>
          </p:txBody>
        </p:sp>
        <p:sp>
          <p:nvSpPr>
            <p:cNvPr id="51" name="phase-5"/>
            <p:cNvSpPr txBox="1"/>
            <p:nvPr/>
          </p:nvSpPr>
          <p:spPr>
            <a:xfrm>
              <a:off x="17659350" y="4562475"/>
              <a:ext cx="2543175" cy="4191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验证完善阶段</a:t>
              </a:r>
            </a:p>
          </p:txBody>
        </p:sp>
        <p:sp>
          <p:nvSpPr>
            <p:cNvPr id="52" name="phase-6"/>
            <p:cNvSpPr txBox="1"/>
            <p:nvPr/>
          </p:nvSpPr>
          <p:spPr>
            <a:xfrm>
              <a:off x="21650325" y="4562475"/>
              <a:ext cx="2543175" cy="4191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项目季度回顾</a:t>
              </a:r>
            </a:p>
          </p:txBody>
        </p:sp>
        <p:sp>
          <p:nvSpPr>
            <p:cNvPr id="53" name="phase-7"/>
            <p:cNvSpPr txBox="1"/>
            <p:nvPr/>
          </p:nvSpPr>
          <p:spPr>
            <a:xfrm>
              <a:off x="25250775" y="4562475"/>
              <a:ext cx="1695450" cy="4191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项目终验</a:t>
              </a:r>
            </a:p>
          </p:txBody>
        </p:sp>
      </p:grpSp>
      <p:grpSp>
        <p:nvGrpSpPr>
          <p:cNvPr id="76" name="bar-1-group"/>
          <p:cNvGrpSpPr/>
          <p:nvPr/>
        </p:nvGrpSpPr>
        <p:grpSpPr>
          <a:xfrm>
            <a:off x="5657850" y="5743575"/>
            <a:ext cx="5953125" cy="857250"/>
            <a:chOff x="5657850" y="5743575"/>
            <a:chExt cx="5953125" cy="857250"/>
          </a:xfrm>
        </p:grpSpPr>
        <p:sp>
          <p:nvSpPr>
            <p:cNvPr id="54" name="bar-1"/>
            <p:cNvSpPr/>
            <p:nvPr/>
          </p:nvSpPr>
          <p:spPr>
            <a:xfrm>
              <a:off x="5657850" y="5743575"/>
              <a:ext cx="5953125" cy="857250"/>
            </a:xfrm>
            <a:custGeom>
              <a:avLst/>
              <a:gdLst/>
              <a:ahLst/>
              <a:cxnLst/>
              <a:rect l="l" t="t" r="r" b="b"/>
              <a:pathLst>
                <a:path w="5953125" h="857250">
                  <a:moveTo>
                    <a:pt x="0" y="0"/>
                  </a:moveTo>
                  <a:lnTo>
                    <a:pt x="5524500" y="0"/>
                  </a:lnTo>
                  <a:lnTo>
                    <a:pt x="5524500" y="0"/>
                  </a:lnTo>
                  <a:lnTo>
                    <a:pt x="5561857" y="1631"/>
                  </a:lnTo>
                  <a:lnTo>
                    <a:pt x="5598930" y="6512"/>
                  </a:lnTo>
                  <a:lnTo>
                    <a:pt x="5635436" y="14605"/>
                  </a:lnTo>
                  <a:lnTo>
                    <a:pt x="5671098" y="25849"/>
                  </a:lnTo>
                  <a:lnTo>
                    <a:pt x="5705645" y="40159"/>
                  </a:lnTo>
                  <a:lnTo>
                    <a:pt x="5738812" y="57425"/>
                  </a:lnTo>
                  <a:lnTo>
                    <a:pt x="5770349" y="77516"/>
                  </a:lnTo>
                  <a:lnTo>
                    <a:pt x="5800015" y="100279"/>
                  </a:lnTo>
                  <a:lnTo>
                    <a:pt x="5827584" y="125541"/>
                  </a:lnTo>
                  <a:lnTo>
                    <a:pt x="5852846" y="153110"/>
                  </a:lnTo>
                  <a:lnTo>
                    <a:pt x="5875609" y="182776"/>
                  </a:lnTo>
                  <a:lnTo>
                    <a:pt x="5895700" y="214313"/>
                  </a:lnTo>
                  <a:lnTo>
                    <a:pt x="5912966" y="247480"/>
                  </a:lnTo>
                  <a:lnTo>
                    <a:pt x="5927276" y="282027"/>
                  </a:lnTo>
                  <a:lnTo>
                    <a:pt x="5938520" y="317689"/>
                  </a:lnTo>
                  <a:lnTo>
                    <a:pt x="5946613" y="354195"/>
                  </a:lnTo>
                  <a:lnTo>
                    <a:pt x="5951494" y="391268"/>
                  </a:lnTo>
                  <a:lnTo>
                    <a:pt x="5953125" y="428625"/>
                  </a:lnTo>
                  <a:lnTo>
                    <a:pt x="5951494" y="465982"/>
                  </a:lnTo>
                  <a:lnTo>
                    <a:pt x="5946613" y="503055"/>
                  </a:lnTo>
                  <a:lnTo>
                    <a:pt x="5938520" y="539561"/>
                  </a:lnTo>
                  <a:lnTo>
                    <a:pt x="5927276" y="575223"/>
                  </a:lnTo>
                  <a:lnTo>
                    <a:pt x="5912966" y="609770"/>
                  </a:lnTo>
                  <a:lnTo>
                    <a:pt x="5895700" y="642937"/>
                  </a:lnTo>
                  <a:lnTo>
                    <a:pt x="5875609" y="674474"/>
                  </a:lnTo>
                  <a:lnTo>
                    <a:pt x="5852846" y="704140"/>
                  </a:lnTo>
                  <a:lnTo>
                    <a:pt x="5827584" y="731709"/>
                  </a:lnTo>
                  <a:lnTo>
                    <a:pt x="5800015" y="756971"/>
                  </a:lnTo>
                  <a:lnTo>
                    <a:pt x="5770349" y="779734"/>
                  </a:lnTo>
                  <a:lnTo>
                    <a:pt x="5738812" y="799825"/>
                  </a:lnTo>
                  <a:lnTo>
                    <a:pt x="5705645" y="817091"/>
                  </a:lnTo>
                  <a:lnTo>
                    <a:pt x="5671098" y="831401"/>
                  </a:lnTo>
                  <a:lnTo>
                    <a:pt x="5635436" y="842645"/>
                  </a:lnTo>
                  <a:lnTo>
                    <a:pt x="5598930" y="850738"/>
                  </a:lnTo>
                  <a:lnTo>
                    <a:pt x="5561857" y="855619"/>
                  </a:lnTo>
                  <a:lnTo>
                    <a:pt x="552450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F57B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bar-1-text"/>
            <p:cNvSpPr txBox="1"/>
            <p:nvPr/>
          </p:nvSpPr>
          <p:spPr>
            <a:xfrm>
              <a:off x="6496050" y="5743575"/>
              <a:ext cx="4067175" cy="8572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1.收集工作量原始数据</a:t>
              </a:r>
            </a:p>
          </p:txBody>
        </p:sp>
      </p:grpSp>
      <p:grpSp>
        <p:nvGrpSpPr>
          <p:cNvPr id="78" name="bar-2-group"/>
          <p:cNvGrpSpPr/>
          <p:nvPr/>
        </p:nvGrpSpPr>
        <p:grpSpPr>
          <a:xfrm>
            <a:off x="6305550" y="6943725"/>
            <a:ext cx="7010400" cy="857250"/>
            <a:chOff x="6305550" y="6943725"/>
            <a:chExt cx="7010400" cy="857250"/>
          </a:xfrm>
        </p:grpSpPr>
        <p:sp>
          <p:nvSpPr>
            <p:cNvPr id="56" name="bar-2"/>
            <p:cNvSpPr/>
            <p:nvPr/>
          </p:nvSpPr>
          <p:spPr>
            <a:xfrm>
              <a:off x="6305550" y="6943725"/>
              <a:ext cx="7010400" cy="857250"/>
            </a:xfrm>
            <a:custGeom>
              <a:avLst/>
              <a:gdLst/>
              <a:ahLst/>
              <a:cxnLst/>
              <a:rect l="l" t="t" r="r" b="b"/>
              <a:pathLst>
                <a:path w="7010400" h="857250">
                  <a:moveTo>
                    <a:pt x="0" y="0"/>
                  </a:moveTo>
                  <a:lnTo>
                    <a:pt x="6581775" y="0"/>
                  </a:lnTo>
                  <a:lnTo>
                    <a:pt x="6581775" y="0"/>
                  </a:lnTo>
                  <a:lnTo>
                    <a:pt x="6619132" y="1631"/>
                  </a:lnTo>
                  <a:lnTo>
                    <a:pt x="6656205" y="6512"/>
                  </a:lnTo>
                  <a:lnTo>
                    <a:pt x="6692711" y="14605"/>
                  </a:lnTo>
                  <a:lnTo>
                    <a:pt x="6728373" y="25849"/>
                  </a:lnTo>
                  <a:lnTo>
                    <a:pt x="6762920" y="40159"/>
                  </a:lnTo>
                  <a:lnTo>
                    <a:pt x="6796088" y="57425"/>
                  </a:lnTo>
                  <a:lnTo>
                    <a:pt x="6827624" y="77516"/>
                  </a:lnTo>
                  <a:lnTo>
                    <a:pt x="6857290" y="100279"/>
                  </a:lnTo>
                  <a:lnTo>
                    <a:pt x="6884859" y="125541"/>
                  </a:lnTo>
                  <a:lnTo>
                    <a:pt x="6910121" y="153110"/>
                  </a:lnTo>
                  <a:lnTo>
                    <a:pt x="6932884" y="182776"/>
                  </a:lnTo>
                  <a:lnTo>
                    <a:pt x="6952975" y="214313"/>
                  </a:lnTo>
                  <a:lnTo>
                    <a:pt x="6970241" y="247480"/>
                  </a:lnTo>
                  <a:lnTo>
                    <a:pt x="6984551" y="282027"/>
                  </a:lnTo>
                  <a:lnTo>
                    <a:pt x="6995795" y="317689"/>
                  </a:lnTo>
                  <a:lnTo>
                    <a:pt x="7003888" y="354195"/>
                  </a:lnTo>
                  <a:lnTo>
                    <a:pt x="7008769" y="391268"/>
                  </a:lnTo>
                  <a:lnTo>
                    <a:pt x="7010400" y="428625"/>
                  </a:lnTo>
                  <a:lnTo>
                    <a:pt x="7008769" y="465982"/>
                  </a:lnTo>
                  <a:lnTo>
                    <a:pt x="7003888" y="503055"/>
                  </a:lnTo>
                  <a:lnTo>
                    <a:pt x="6995795" y="539561"/>
                  </a:lnTo>
                  <a:lnTo>
                    <a:pt x="6984551" y="575223"/>
                  </a:lnTo>
                  <a:lnTo>
                    <a:pt x="6970241" y="609770"/>
                  </a:lnTo>
                  <a:lnTo>
                    <a:pt x="6952975" y="642937"/>
                  </a:lnTo>
                  <a:lnTo>
                    <a:pt x="6932884" y="674474"/>
                  </a:lnTo>
                  <a:lnTo>
                    <a:pt x="6910121" y="704140"/>
                  </a:lnTo>
                  <a:lnTo>
                    <a:pt x="6884859" y="731709"/>
                  </a:lnTo>
                  <a:lnTo>
                    <a:pt x="6857290" y="756971"/>
                  </a:lnTo>
                  <a:lnTo>
                    <a:pt x="6827624" y="779734"/>
                  </a:lnTo>
                  <a:lnTo>
                    <a:pt x="6796088" y="799825"/>
                  </a:lnTo>
                  <a:lnTo>
                    <a:pt x="6762920" y="817091"/>
                  </a:lnTo>
                  <a:lnTo>
                    <a:pt x="6728373" y="831401"/>
                  </a:lnTo>
                  <a:lnTo>
                    <a:pt x="6692711" y="842645"/>
                  </a:lnTo>
                  <a:lnTo>
                    <a:pt x="6656205" y="850738"/>
                  </a:lnTo>
                  <a:lnTo>
                    <a:pt x="6619132" y="855619"/>
                  </a:lnTo>
                  <a:lnTo>
                    <a:pt x="6581775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F57B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bar-2-text"/>
            <p:cNvSpPr txBox="1"/>
            <p:nvPr/>
          </p:nvSpPr>
          <p:spPr>
            <a:xfrm>
              <a:off x="7239000" y="6943725"/>
              <a:ext cx="4914900" cy="8572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2.分项目组确定角色和职责</a:t>
              </a:r>
            </a:p>
          </p:txBody>
        </p:sp>
      </p:grpSp>
      <p:grpSp>
        <p:nvGrpSpPr>
          <p:cNvPr id="72" name="bar-3-group"/>
          <p:cNvGrpSpPr/>
          <p:nvPr/>
        </p:nvGrpSpPr>
        <p:grpSpPr>
          <a:xfrm>
            <a:off x="6838950" y="8172450"/>
            <a:ext cx="7562850" cy="857250"/>
            <a:chOff x="6838950" y="8172450"/>
            <a:chExt cx="7562850" cy="857250"/>
          </a:xfrm>
        </p:grpSpPr>
        <p:sp>
          <p:nvSpPr>
            <p:cNvPr id="58" name="bar-3"/>
            <p:cNvSpPr/>
            <p:nvPr/>
          </p:nvSpPr>
          <p:spPr>
            <a:xfrm>
              <a:off x="6838950" y="8172450"/>
              <a:ext cx="7562850" cy="857250"/>
            </a:xfrm>
            <a:custGeom>
              <a:avLst/>
              <a:gdLst/>
              <a:ahLst/>
              <a:cxnLst/>
              <a:rect l="l" t="t" r="r" b="b"/>
              <a:pathLst>
                <a:path w="7562850" h="857250">
                  <a:moveTo>
                    <a:pt x="0" y="0"/>
                  </a:moveTo>
                  <a:lnTo>
                    <a:pt x="7134225" y="0"/>
                  </a:lnTo>
                  <a:lnTo>
                    <a:pt x="7134225" y="0"/>
                  </a:lnTo>
                  <a:lnTo>
                    <a:pt x="7171582" y="1631"/>
                  </a:lnTo>
                  <a:lnTo>
                    <a:pt x="7208655" y="6512"/>
                  </a:lnTo>
                  <a:lnTo>
                    <a:pt x="7245161" y="14605"/>
                  </a:lnTo>
                  <a:lnTo>
                    <a:pt x="7280823" y="25849"/>
                  </a:lnTo>
                  <a:lnTo>
                    <a:pt x="7315370" y="40159"/>
                  </a:lnTo>
                  <a:lnTo>
                    <a:pt x="7348538" y="57425"/>
                  </a:lnTo>
                  <a:lnTo>
                    <a:pt x="7380074" y="77516"/>
                  </a:lnTo>
                  <a:lnTo>
                    <a:pt x="7409740" y="100279"/>
                  </a:lnTo>
                  <a:lnTo>
                    <a:pt x="7437309" y="125541"/>
                  </a:lnTo>
                  <a:lnTo>
                    <a:pt x="7462571" y="153110"/>
                  </a:lnTo>
                  <a:lnTo>
                    <a:pt x="7485334" y="182776"/>
                  </a:lnTo>
                  <a:lnTo>
                    <a:pt x="7505425" y="214312"/>
                  </a:lnTo>
                  <a:lnTo>
                    <a:pt x="7522691" y="247480"/>
                  </a:lnTo>
                  <a:lnTo>
                    <a:pt x="7537001" y="282027"/>
                  </a:lnTo>
                  <a:lnTo>
                    <a:pt x="7548245" y="317689"/>
                  </a:lnTo>
                  <a:lnTo>
                    <a:pt x="7556338" y="354195"/>
                  </a:lnTo>
                  <a:lnTo>
                    <a:pt x="7561219" y="391268"/>
                  </a:lnTo>
                  <a:lnTo>
                    <a:pt x="7562850" y="428625"/>
                  </a:lnTo>
                  <a:lnTo>
                    <a:pt x="7561219" y="465982"/>
                  </a:lnTo>
                  <a:lnTo>
                    <a:pt x="7556338" y="503055"/>
                  </a:lnTo>
                  <a:lnTo>
                    <a:pt x="7548245" y="539561"/>
                  </a:lnTo>
                  <a:lnTo>
                    <a:pt x="7537001" y="575223"/>
                  </a:lnTo>
                  <a:lnTo>
                    <a:pt x="7522691" y="609770"/>
                  </a:lnTo>
                  <a:lnTo>
                    <a:pt x="7505425" y="642938"/>
                  </a:lnTo>
                  <a:lnTo>
                    <a:pt x="7485334" y="674474"/>
                  </a:lnTo>
                  <a:lnTo>
                    <a:pt x="7462571" y="704140"/>
                  </a:lnTo>
                  <a:lnTo>
                    <a:pt x="7437309" y="731709"/>
                  </a:lnTo>
                  <a:lnTo>
                    <a:pt x="7409740" y="756971"/>
                  </a:lnTo>
                  <a:lnTo>
                    <a:pt x="7380074" y="779734"/>
                  </a:lnTo>
                  <a:lnTo>
                    <a:pt x="7348538" y="799825"/>
                  </a:lnTo>
                  <a:lnTo>
                    <a:pt x="7315370" y="817091"/>
                  </a:lnTo>
                  <a:lnTo>
                    <a:pt x="7280823" y="831401"/>
                  </a:lnTo>
                  <a:lnTo>
                    <a:pt x="7245161" y="842645"/>
                  </a:lnTo>
                  <a:lnTo>
                    <a:pt x="7208655" y="850738"/>
                  </a:lnTo>
                  <a:lnTo>
                    <a:pt x="7171582" y="855619"/>
                  </a:lnTo>
                  <a:lnTo>
                    <a:pt x="7134225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F57B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bar-3-text"/>
            <p:cNvSpPr txBox="1"/>
            <p:nvPr/>
          </p:nvSpPr>
          <p:spPr>
            <a:xfrm>
              <a:off x="7639050" y="8172450"/>
              <a:ext cx="5753100" cy="8572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3.分项目组拟定周工作量评估表</a:t>
              </a:r>
            </a:p>
          </p:txBody>
        </p:sp>
      </p:grpSp>
      <p:grpSp>
        <p:nvGrpSpPr>
          <p:cNvPr id="70" name="bar-4-group"/>
          <p:cNvGrpSpPr/>
          <p:nvPr/>
        </p:nvGrpSpPr>
        <p:grpSpPr>
          <a:xfrm>
            <a:off x="7600950" y="9391650"/>
            <a:ext cx="8229600" cy="857250"/>
            <a:chOff x="7600950" y="9391650"/>
            <a:chExt cx="8229600" cy="857250"/>
          </a:xfrm>
        </p:grpSpPr>
        <p:sp>
          <p:nvSpPr>
            <p:cNvPr id="60" name="bar-4"/>
            <p:cNvSpPr/>
            <p:nvPr/>
          </p:nvSpPr>
          <p:spPr>
            <a:xfrm>
              <a:off x="7600950" y="9391650"/>
              <a:ext cx="8229600" cy="857250"/>
            </a:xfrm>
            <a:custGeom>
              <a:avLst/>
              <a:gdLst/>
              <a:ahLst/>
              <a:cxnLst/>
              <a:rect l="l" t="t" r="r" b="b"/>
              <a:pathLst>
                <a:path w="8229600" h="857250">
                  <a:moveTo>
                    <a:pt x="0" y="0"/>
                  </a:moveTo>
                  <a:lnTo>
                    <a:pt x="7800975" y="0"/>
                  </a:lnTo>
                  <a:lnTo>
                    <a:pt x="7800975" y="0"/>
                  </a:lnTo>
                  <a:lnTo>
                    <a:pt x="7838332" y="1631"/>
                  </a:lnTo>
                  <a:lnTo>
                    <a:pt x="7875405" y="6512"/>
                  </a:lnTo>
                  <a:lnTo>
                    <a:pt x="7911911" y="14605"/>
                  </a:lnTo>
                  <a:lnTo>
                    <a:pt x="7947573" y="25849"/>
                  </a:lnTo>
                  <a:lnTo>
                    <a:pt x="7982120" y="40159"/>
                  </a:lnTo>
                  <a:lnTo>
                    <a:pt x="8015288" y="57425"/>
                  </a:lnTo>
                  <a:lnTo>
                    <a:pt x="8046824" y="77516"/>
                  </a:lnTo>
                  <a:lnTo>
                    <a:pt x="8076490" y="100279"/>
                  </a:lnTo>
                  <a:lnTo>
                    <a:pt x="8104059" y="125541"/>
                  </a:lnTo>
                  <a:lnTo>
                    <a:pt x="8129321" y="153110"/>
                  </a:lnTo>
                  <a:lnTo>
                    <a:pt x="8152084" y="182776"/>
                  </a:lnTo>
                  <a:lnTo>
                    <a:pt x="8172175" y="214312"/>
                  </a:lnTo>
                  <a:lnTo>
                    <a:pt x="8189441" y="247480"/>
                  </a:lnTo>
                  <a:lnTo>
                    <a:pt x="8203751" y="282027"/>
                  </a:lnTo>
                  <a:lnTo>
                    <a:pt x="8214995" y="317689"/>
                  </a:lnTo>
                  <a:lnTo>
                    <a:pt x="8223088" y="354195"/>
                  </a:lnTo>
                  <a:lnTo>
                    <a:pt x="8227969" y="391268"/>
                  </a:lnTo>
                  <a:lnTo>
                    <a:pt x="8229600" y="428625"/>
                  </a:lnTo>
                  <a:lnTo>
                    <a:pt x="8227969" y="465982"/>
                  </a:lnTo>
                  <a:lnTo>
                    <a:pt x="8223088" y="503055"/>
                  </a:lnTo>
                  <a:lnTo>
                    <a:pt x="8214995" y="539561"/>
                  </a:lnTo>
                  <a:lnTo>
                    <a:pt x="8203751" y="575223"/>
                  </a:lnTo>
                  <a:lnTo>
                    <a:pt x="8189441" y="609770"/>
                  </a:lnTo>
                  <a:lnTo>
                    <a:pt x="8172175" y="642938"/>
                  </a:lnTo>
                  <a:lnTo>
                    <a:pt x="8152084" y="674474"/>
                  </a:lnTo>
                  <a:lnTo>
                    <a:pt x="8129321" y="704140"/>
                  </a:lnTo>
                  <a:lnTo>
                    <a:pt x="8104059" y="731709"/>
                  </a:lnTo>
                  <a:lnTo>
                    <a:pt x="8076490" y="756971"/>
                  </a:lnTo>
                  <a:lnTo>
                    <a:pt x="8046824" y="779734"/>
                  </a:lnTo>
                  <a:lnTo>
                    <a:pt x="8015288" y="799825"/>
                  </a:lnTo>
                  <a:lnTo>
                    <a:pt x="7982120" y="817091"/>
                  </a:lnTo>
                  <a:lnTo>
                    <a:pt x="7947573" y="831401"/>
                  </a:lnTo>
                  <a:lnTo>
                    <a:pt x="7911911" y="842645"/>
                  </a:lnTo>
                  <a:lnTo>
                    <a:pt x="7875405" y="850738"/>
                  </a:lnTo>
                  <a:lnTo>
                    <a:pt x="7838332" y="855619"/>
                  </a:lnTo>
                  <a:lnTo>
                    <a:pt x="7800975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F57B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bar-4-text"/>
            <p:cNvSpPr txBox="1"/>
            <p:nvPr/>
          </p:nvSpPr>
          <p:spPr>
            <a:xfrm>
              <a:off x="8915400" y="9391650"/>
              <a:ext cx="5353050" cy="8572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4.分项目组拟定月技能评估表</a:t>
              </a:r>
            </a:p>
          </p:txBody>
        </p:sp>
      </p:grpSp>
      <p:grpSp>
        <p:nvGrpSpPr>
          <p:cNvPr id="73" name="bar-5-group"/>
          <p:cNvGrpSpPr/>
          <p:nvPr/>
        </p:nvGrpSpPr>
        <p:grpSpPr>
          <a:xfrm>
            <a:off x="8324850" y="10572750"/>
            <a:ext cx="18230850" cy="857250"/>
            <a:chOff x="8324850" y="10572750"/>
            <a:chExt cx="18230850" cy="857250"/>
          </a:xfrm>
        </p:grpSpPr>
        <p:sp>
          <p:nvSpPr>
            <p:cNvPr id="62" name="bar-5"/>
            <p:cNvSpPr/>
            <p:nvPr/>
          </p:nvSpPr>
          <p:spPr>
            <a:xfrm>
              <a:off x="8324850" y="10572750"/>
              <a:ext cx="18230850" cy="857250"/>
            </a:xfrm>
            <a:custGeom>
              <a:avLst/>
              <a:gdLst/>
              <a:ahLst/>
              <a:cxnLst/>
              <a:rect l="l" t="t" r="r" b="b"/>
              <a:pathLst>
                <a:path w="18230850" h="857250">
                  <a:moveTo>
                    <a:pt x="0" y="0"/>
                  </a:moveTo>
                  <a:lnTo>
                    <a:pt x="17802225" y="0"/>
                  </a:lnTo>
                  <a:lnTo>
                    <a:pt x="17802225" y="0"/>
                  </a:lnTo>
                  <a:lnTo>
                    <a:pt x="17839582" y="1631"/>
                  </a:lnTo>
                  <a:lnTo>
                    <a:pt x="17876655" y="6512"/>
                  </a:lnTo>
                  <a:lnTo>
                    <a:pt x="17913161" y="14605"/>
                  </a:lnTo>
                  <a:lnTo>
                    <a:pt x="17948823" y="25849"/>
                  </a:lnTo>
                  <a:lnTo>
                    <a:pt x="17983370" y="40159"/>
                  </a:lnTo>
                  <a:lnTo>
                    <a:pt x="18016538" y="57425"/>
                  </a:lnTo>
                  <a:lnTo>
                    <a:pt x="18048074" y="77516"/>
                  </a:lnTo>
                  <a:lnTo>
                    <a:pt x="18077740" y="100279"/>
                  </a:lnTo>
                  <a:lnTo>
                    <a:pt x="18105309" y="125541"/>
                  </a:lnTo>
                  <a:lnTo>
                    <a:pt x="18130571" y="153110"/>
                  </a:lnTo>
                  <a:lnTo>
                    <a:pt x="18153334" y="182776"/>
                  </a:lnTo>
                  <a:lnTo>
                    <a:pt x="18173425" y="214312"/>
                  </a:lnTo>
                  <a:lnTo>
                    <a:pt x="18190691" y="247480"/>
                  </a:lnTo>
                  <a:lnTo>
                    <a:pt x="18205001" y="282027"/>
                  </a:lnTo>
                  <a:lnTo>
                    <a:pt x="18216245" y="317689"/>
                  </a:lnTo>
                  <a:lnTo>
                    <a:pt x="18224338" y="354195"/>
                  </a:lnTo>
                  <a:lnTo>
                    <a:pt x="18229219" y="391268"/>
                  </a:lnTo>
                  <a:lnTo>
                    <a:pt x="18230850" y="428625"/>
                  </a:lnTo>
                  <a:lnTo>
                    <a:pt x="18229219" y="465982"/>
                  </a:lnTo>
                  <a:lnTo>
                    <a:pt x="18224338" y="503055"/>
                  </a:lnTo>
                  <a:lnTo>
                    <a:pt x="18216245" y="539561"/>
                  </a:lnTo>
                  <a:lnTo>
                    <a:pt x="18205001" y="575223"/>
                  </a:lnTo>
                  <a:lnTo>
                    <a:pt x="18190691" y="609770"/>
                  </a:lnTo>
                  <a:lnTo>
                    <a:pt x="18173425" y="642938"/>
                  </a:lnTo>
                  <a:lnTo>
                    <a:pt x="18153334" y="674474"/>
                  </a:lnTo>
                  <a:lnTo>
                    <a:pt x="18130571" y="704140"/>
                  </a:lnTo>
                  <a:lnTo>
                    <a:pt x="18105309" y="731709"/>
                  </a:lnTo>
                  <a:lnTo>
                    <a:pt x="18077740" y="756971"/>
                  </a:lnTo>
                  <a:lnTo>
                    <a:pt x="18048074" y="779734"/>
                  </a:lnTo>
                  <a:lnTo>
                    <a:pt x="18016538" y="799825"/>
                  </a:lnTo>
                  <a:lnTo>
                    <a:pt x="17983370" y="817091"/>
                  </a:lnTo>
                  <a:lnTo>
                    <a:pt x="17948823" y="831401"/>
                  </a:lnTo>
                  <a:lnTo>
                    <a:pt x="17913161" y="842645"/>
                  </a:lnTo>
                  <a:lnTo>
                    <a:pt x="17876655" y="850738"/>
                  </a:lnTo>
                  <a:lnTo>
                    <a:pt x="17839582" y="855619"/>
                  </a:lnTo>
                  <a:lnTo>
                    <a:pt x="17802225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F57B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bar-5-text"/>
            <p:cNvSpPr txBox="1"/>
            <p:nvPr/>
          </p:nvSpPr>
          <p:spPr>
            <a:xfrm>
              <a:off x="9639300" y="10572750"/>
              <a:ext cx="15373350" cy="8572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5.针对工作量评估表每月统计各项目组的工作量和绩效，并对岗位设置提出调整建议</a:t>
              </a:r>
            </a:p>
          </p:txBody>
        </p:sp>
      </p:grpSp>
      <p:grpSp>
        <p:nvGrpSpPr>
          <p:cNvPr id="71" name="bar-6-group"/>
          <p:cNvGrpSpPr/>
          <p:nvPr/>
        </p:nvGrpSpPr>
        <p:grpSpPr>
          <a:xfrm>
            <a:off x="8324850" y="11744325"/>
            <a:ext cx="18211800" cy="857250"/>
            <a:chOff x="8324850" y="11744325"/>
            <a:chExt cx="18211800" cy="857250"/>
          </a:xfrm>
        </p:grpSpPr>
        <p:sp>
          <p:nvSpPr>
            <p:cNvPr id="64" name="bar-6"/>
            <p:cNvSpPr/>
            <p:nvPr/>
          </p:nvSpPr>
          <p:spPr>
            <a:xfrm>
              <a:off x="8324850" y="11744325"/>
              <a:ext cx="18211800" cy="857250"/>
            </a:xfrm>
            <a:custGeom>
              <a:avLst/>
              <a:gdLst/>
              <a:ahLst/>
              <a:cxnLst/>
              <a:rect l="l" t="t" r="r" b="b"/>
              <a:pathLst>
                <a:path w="18211800" h="857250">
                  <a:moveTo>
                    <a:pt x="0" y="0"/>
                  </a:moveTo>
                  <a:lnTo>
                    <a:pt x="17783175" y="0"/>
                  </a:lnTo>
                  <a:lnTo>
                    <a:pt x="17783175" y="0"/>
                  </a:lnTo>
                  <a:lnTo>
                    <a:pt x="17820532" y="1631"/>
                  </a:lnTo>
                  <a:lnTo>
                    <a:pt x="17857605" y="6512"/>
                  </a:lnTo>
                  <a:lnTo>
                    <a:pt x="17894111" y="14605"/>
                  </a:lnTo>
                  <a:lnTo>
                    <a:pt x="17929773" y="25849"/>
                  </a:lnTo>
                  <a:lnTo>
                    <a:pt x="17964320" y="40159"/>
                  </a:lnTo>
                  <a:lnTo>
                    <a:pt x="17997488" y="57425"/>
                  </a:lnTo>
                  <a:lnTo>
                    <a:pt x="18029024" y="77516"/>
                  </a:lnTo>
                  <a:lnTo>
                    <a:pt x="18058690" y="100279"/>
                  </a:lnTo>
                  <a:lnTo>
                    <a:pt x="18086259" y="125541"/>
                  </a:lnTo>
                  <a:lnTo>
                    <a:pt x="18111521" y="153110"/>
                  </a:lnTo>
                  <a:lnTo>
                    <a:pt x="18134284" y="182776"/>
                  </a:lnTo>
                  <a:lnTo>
                    <a:pt x="18154375" y="214313"/>
                  </a:lnTo>
                  <a:lnTo>
                    <a:pt x="18171641" y="247480"/>
                  </a:lnTo>
                  <a:lnTo>
                    <a:pt x="18185951" y="282027"/>
                  </a:lnTo>
                  <a:lnTo>
                    <a:pt x="18197195" y="317689"/>
                  </a:lnTo>
                  <a:lnTo>
                    <a:pt x="18205288" y="354195"/>
                  </a:lnTo>
                  <a:lnTo>
                    <a:pt x="18210169" y="391268"/>
                  </a:lnTo>
                  <a:lnTo>
                    <a:pt x="18211800" y="428625"/>
                  </a:lnTo>
                  <a:lnTo>
                    <a:pt x="18210169" y="465982"/>
                  </a:lnTo>
                  <a:lnTo>
                    <a:pt x="18205288" y="503055"/>
                  </a:lnTo>
                  <a:lnTo>
                    <a:pt x="18197195" y="539561"/>
                  </a:lnTo>
                  <a:lnTo>
                    <a:pt x="18185951" y="575223"/>
                  </a:lnTo>
                  <a:lnTo>
                    <a:pt x="18171641" y="609770"/>
                  </a:lnTo>
                  <a:lnTo>
                    <a:pt x="18154375" y="642937"/>
                  </a:lnTo>
                  <a:lnTo>
                    <a:pt x="18134284" y="674474"/>
                  </a:lnTo>
                  <a:lnTo>
                    <a:pt x="18111521" y="704140"/>
                  </a:lnTo>
                  <a:lnTo>
                    <a:pt x="18086259" y="731709"/>
                  </a:lnTo>
                  <a:lnTo>
                    <a:pt x="18058690" y="756971"/>
                  </a:lnTo>
                  <a:lnTo>
                    <a:pt x="18029024" y="779734"/>
                  </a:lnTo>
                  <a:lnTo>
                    <a:pt x="17997488" y="799825"/>
                  </a:lnTo>
                  <a:lnTo>
                    <a:pt x="17964320" y="817091"/>
                  </a:lnTo>
                  <a:lnTo>
                    <a:pt x="17929773" y="831401"/>
                  </a:lnTo>
                  <a:lnTo>
                    <a:pt x="17894111" y="842645"/>
                  </a:lnTo>
                  <a:lnTo>
                    <a:pt x="17857605" y="850738"/>
                  </a:lnTo>
                  <a:lnTo>
                    <a:pt x="17820532" y="855619"/>
                  </a:lnTo>
                  <a:lnTo>
                    <a:pt x="17783175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F57B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bar-6-text"/>
            <p:cNvSpPr txBox="1"/>
            <p:nvPr/>
          </p:nvSpPr>
          <p:spPr>
            <a:xfrm>
              <a:off x="10048875" y="11744325"/>
              <a:ext cx="14554200" cy="8572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6.针对技能评估表每月评估各项目组成员的技能水平，产生差距报告和改进建议</a:t>
              </a:r>
            </a:p>
          </p:txBody>
        </p:sp>
      </p:grpSp>
      <p:grpSp>
        <p:nvGrpSpPr>
          <p:cNvPr id="75" name="bar-7-group"/>
          <p:cNvGrpSpPr/>
          <p:nvPr/>
        </p:nvGrpSpPr>
        <p:grpSpPr>
          <a:xfrm>
            <a:off x="8324850" y="12925425"/>
            <a:ext cx="18211800" cy="857250"/>
            <a:chOff x="8324850" y="12925425"/>
            <a:chExt cx="18211800" cy="857250"/>
          </a:xfrm>
        </p:grpSpPr>
        <p:sp>
          <p:nvSpPr>
            <p:cNvPr id="66" name="bar-7"/>
            <p:cNvSpPr/>
            <p:nvPr/>
          </p:nvSpPr>
          <p:spPr>
            <a:xfrm>
              <a:off x="8324850" y="12925425"/>
              <a:ext cx="18211800" cy="857250"/>
            </a:xfrm>
            <a:custGeom>
              <a:avLst/>
              <a:gdLst/>
              <a:ahLst/>
              <a:cxnLst/>
              <a:rect l="l" t="t" r="r" b="b"/>
              <a:pathLst>
                <a:path w="18211800" h="857250">
                  <a:moveTo>
                    <a:pt x="0" y="0"/>
                  </a:moveTo>
                  <a:lnTo>
                    <a:pt x="17783175" y="0"/>
                  </a:lnTo>
                  <a:lnTo>
                    <a:pt x="17783175" y="0"/>
                  </a:lnTo>
                  <a:lnTo>
                    <a:pt x="17820532" y="1631"/>
                  </a:lnTo>
                  <a:lnTo>
                    <a:pt x="17857605" y="6512"/>
                  </a:lnTo>
                  <a:lnTo>
                    <a:pt x="17894111" y="14605"/>
                  </a:lnTo>
                  <a:lnTo>
                    <a:pt x="17929773" y="25849"/>
                  </a:lnTo>
                  <a:lnTo>
                    <a:pt x="17964320" y="40159"/>
                  </a:lnTo>
                  <a:lnTo>
                    <a:pt x="17997488" y="57425"/>
                  </a:lnTo>
                  <a:lnTo>
                    <a:pt x="18029024" y="77516"/>
                  </a:lnTo>
                  <a:lnTo>
                    <a:pt x="18058690" y="100279"/>
                  </a:lnTo>
                  <a:lnTo>
                    <a:pt x="18086259" y="125541"/>
                  </a:lnTo>
                  <a:lnTo>
                    <a:pt x="18111521" y="153110"/>
                  </a:lnTo>
                  <a:lnTo>
                    <a:pt x="18134284" y="182776"/>
                  </a:lnTo>
                  <a:lnTo>
                    <a:pt x="18154375" y="214313"/>
                  </a:lnTo>
                  <a:lnTo>
                    <a:pt x="18171641" y="247480"/>
                  </a:lnTo>
                  <a:lnTo>
                    <a:pt x="18185951" y="282027"/>
                  </a:lnTo>
                  <a:lnTo>
                    <a:pt x="18197195" y="317689"/>
                  </a:lnTo>
                  <a:lnTo>
                    <a:pt x="18205288" y="354195"/>
                  </a:lnTo>
                  <a:lnTo>
                    <a:pt x="18210169" y="391268"/>
                  </a:lnTo>
                  <a:lnTo>
                    <a:pt x="18211800" y="428625"/>
                  </a:lnTo>
                  <a:lnTo>
                    <a:pt x="18210169" y="465982"/>
                  </a:lnTo>
                  <a:lnTo>
                    <a:pt x="18205288" y="503055"/>
                  </a:lnTo>
                  <a:lnTo>
                    <a:pt x="18197195" y="539561"/>
                  </a:lnTo>
                  <a:lnTo>
                    <a:pt x="18185951" y="575223"/>
                  </a:lnTo>
                  <a:lnTo>
                    <a:pt x="18171641" y="609770"/>
                  </a:lnTo>
                  <a:lnTo>
                    <a:pt x="18154375" y="642937"/>
                  </a:lnTo>
                  <a:lnTo>
                    <a:pt x="18134284" y="674474"/>
                  </a:lnTo>
                  <a:lnTo>
                    <a:pt x="18111521" y="704140"/>
                  </a:lnTo>
                  <a:lnTo>
                    <a:pt x="18086259" y="731709"/>
                  </a:lnTo>
                  <a:lnTo>
                    <a:pt x="18058690" y="756971"/>
                  </a:lnTo>
                  <a:lnTo>
                    <a:pt x="18029024" y="779734"/>
                  </a:lnTo>
                  <a:lnTo>
                    <a:pt x="17997488" y="799825"/>
                  </a:lnTo>
                  <a:lnTo>
                    <a:pt x="17964320" y="817091"/>
                  </a:lnTo>
                  <a:lnTo>
                    <a:pt x="17929773" y="831401"/>
                  </a:lnTo>
                  <a:lnTo>
                    <a:pt x="17894111" y="842645"/>
                  </a:lnTo>
                  <a:lnTo>
                    <a:pt x="17857605" y="850738"/>
                  </a:lnTo>
                  <a:lnTo>
                    <a:pt x="17820532" y="855619"/>
                  </a:lnTo>
                  <a:lnTo>
                    <a:pt x="17783175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F57B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bar-7-text"/>
            <p:cNvSpPr txBox="1"/>
            <p:nvPr/>
          </p:nvSpPr>
          <p:spPr>
            <a:xfrm>
              <a:off x="10477500" y="12925425"/>
              <a:ext cx="13430250" cy="8572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977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7.将岗位调整和员工技能水平的改进写入服务持续改进计划，并跟踪执行。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