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edge-top"/>
          <p:cNvCxnSpPr/>
          <p:nvPr/>
        </p:nvCxnSpPr>
        <p:spPr>
          <a:xfrm>
            <a:off x="0" y="38100"/>
            <a:ext cx="30470475" cy="0"/>
          </a:xfrm>
          <a:prstGeom prst="line">
            <a:avLst/>
          </a:prstGeom>
          <a:ln w="2857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dge-left"/>
          <p:cNvCxnSpPr/>
          <p:nvPr/>
        </p:nvCxnSpPr>
        <p:spPr>
          <a:xfrm>
            <a:off x="4762" y="0"/>
            <a:ext cx="0" cy="17145000"/>
          </a:xfrm>
          <a:prstGeom prst="line">
            <a:avLst/>
          </a:prstGeom>
          <a:ln w="14287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dge-right"/>
          <p:cNvCxnSpPr/>
          <p:nvPr/>
        </p:nvCxnSpPr>
        <p:spPr>
          <a:xfrm>
            <a:off x="30456188" y="0"/>
            <a:ext cx="0" cy="17145000"/>
          </a:xfrm>
          <a:prstGeom prst="line">
            <a:avLst/>
          </a:prstGeom>
          <a:ln w="2857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-block"/>
          <p:cNvSpPr/>
          <p:nvPr/>
        </p:nvSpPr>
        <p:spPr>
          <a:xfrm>
            <a:off x="876300" y="914400"/>
            <a:ext cx="6391275" cy="1571625"/>
          </a:xfrm>
          <a:prstGeom prst="roundRect">
            <a:avLst>
              <a:gd name="adj" fmla="val 2424"/>
            </a:avLst>
          </a:prstGeom>
          <a:solidFill>
            <a:srgbClr val="013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-text"/>
          <p:cNvSpPr txBox="1"/>
          <p:nvPr/>
        </p:nvSpPr>
        <p:spPr>
          <a:xfrm>
            <a:off x="876300" y="1362075"/>
            <a:ext cx="6391275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定义项目范围</a:t>
            </a:r>
          </a:p>
        </p:txBody>
      </p:sp>
      <p:sp>
        <p:nvSpPr>
          <p:cNvPr id="9" name="desc-1"/>
          <p:cNvSpPr txBox="1"/>
          <p:nvPr/>
        </p:nvSpPr>
        <p:spPr>
          <a:xfrm>
            <a:off x="7379303" y="1143000"/>
            <a:ext cx="22122194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87" b="0" i="0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以范围规划的成果为依据，把项目的主要可交付产品和服务划分为更小的、更容易管理的单元，即形成工作分解结构。负责对体系各要素（制度、流程</a:t>
            </a:r>
          </a:p>
        </p:txBody>
      </p:sp>
      <p:sp>
        <p:nvSpPr>
          <p:cNvPr id="10" name="desc-2"/>
          <p:cNvSpPr txBox="1"/>
          <p:nvPr/>
        </p:nvSpPr>
        <p:spPr>
          <a:xfrm>
            <a:off x="7486650" y="1714500"/>
            <a:ext cx="21907500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587" b="0" i="0">
                <a:solidFill>
                  <a:srgbClr val="3A3A38"/>
                </a:solidFill>
                <a:latin typeface="Microsoft YaHei"/>
                <a:ea typeface="Microsoft YaHei"/>
                <a:cs typeface="Microsoft YaHei"/>
              </a:rPr>
              <a:t>程、人员、技术工具等）的建设、管理和协调。</a:t>
            </a:r>
          </a:p>
        </p:txBody>
      </p:sp>
      <p:cxnSp>
        <p:nvCxnSpPr>
          <p:cNvPr id="11" name="v0"/>
          <p:cNvCxnSpPr/>
          <p:nvPr/>
        </p:nvCxnSpPr>
        <p:spPr>
          <a:xfrm>
            <a:off x="1314450" y="3743325"/>
            <a:ext cx="0" cy="1192530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v1"/>
          <p:cNvCxnSpPr/>
          <p:nvPr/>
        </p:nvCxnSpPr>
        <p:spPr>
          <a:xfrm>
            <a:off x="8277225" y="3743325"/>
            <a:ext cx="0" cy="1192530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v2"/>
          <p:cNvCxnSpPr/>
          <p:nvPr/>
        </p:nvCxnSpPr>
        <p:spPr>
          <a:xfrm>
            <a:off x="15230475" y="3743325"/>
            <a:ext cx="0" cy="1192530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v3"/>
          <p:cNvCxnSpPr/>
          <p:nvPr/>
        </p:nvCxnSpPr>
        <p:spPr>
          <a:xfrm>
            <a:off x="22183725" y="3743325"/>
            <a:ext cx="0" cy="1192530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v4"/>
          <p:cNvCxnSpPr/>
          <p:nvPr/>
        </p:nvCxnSpPr>
        <p:spPr>
          <a:xfrm>
            <a:off x="29127450" y="3743325"/>
            <a:ext cx="0" cy="1192530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h0"/>
          <p:cNvCxnSpPr/>
          <p:nvPr/>
        </p:nvCxnSpPr>
        <p:spPr>
          <a:xfrm>
            <a:off x="1314450" y="2886075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h1"/>
          <p:cNvCxnSpPr/>
          <p:nvPr/>
        </p:nvCxnSpPr>
        <p:spPr>
          <a:xfrm>
            <a:off x="1314450" y="3743325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h2"/>
          <p:cNvCxnSpPr/>
          <p:nvPr/>
        </p:nvCxnSpPr>
        <p:spPr>
          <a:xfrm>
            <a:off x="1314450" y="4581525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h3"/>
          <p:cNvCxnSpPr/>
          <p:nvPr/>
        </p:nvCxnSpPr>
        <p:spPr>
          <a:xfrm>
            <a:off x="1314450" y="6410325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h4"/>
          <p:cNvCxnSpPr/>
          <p:nvPr/>
        </p:nvCxnSpPr>
        <p:spPr>
          <a:xfrm>
            <a:off x="1314450" y="9096375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h5"/>
          <p:cNvCxnSpPr/>
          <p:nvPr/>
        </p:nvCxnSpPr>
        <p:spPr>
          <a:xfrm>
            <a:off x="1314450" y="10934700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h6"/>
          <p:cNvCxnSpPr/>
          <p:nvPr/>
        </p:nvCxnSpPr>
        <p:spPr>
          <a:xfrm>
            <a:off x="1314450" y="12382500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h7"/>
          <p:cNvCxnSpPr/>
          <p:nvPr/>
        </p:nvCxnSpPr>
        <p:spPr>
          <a:xfrm>
            <a:off x="1314450" y="13830300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h8"/>
          <p:cNvCxnSpPr/>
          <p:nvPr/>
        </p:nvCxnSpPr>
        <p:spPr>
          <a:xfrm>
            <a:off x="1314450" y="15668625"/>
            <a:ext cx="27813000" cy="0"/>
          </a:xfrm>
          <a:prstGeom prst="line">
            <a:avLst/>
          </a:prstGeom>
          <a:ln w="28575">
            <a:solidFill>
              <a:srgbClr val="A8A8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bl-title"/>
          <p:cNvSpPr txBox="1"/>
          <p:nvPr/>
        </p:nvSpPr>
        <p:spPr>
          <a:xfrm>
            <a:off x="1314450" y="3043238"/>
            <a:ext cx="27813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项目范围管理过程</a:t>
            </a:r>
          </a:p>
        </p:txBody>
      </p:sp>
      <p:sp>
        <p:nvSpPr>
          <p:cNvPr id="26" name="hdr-过程"/>
          <p:cNvSpPr txBox="1"/>
          <p:nvPr/>
        </p:nvSpPr>
        <p:spPr>
          <a:xfrm>
            <a:off x="1552575" y="3890962"/>
            <a:ext cx="914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27" name="hdr-输入"/>
          <p:cNvSpPr txBox="1"/>
          <p:nvPr/>
        </p:nvSpPr>
        <p:spPr>
          <a:xfrm>
            <a:off x="8496300" y="3890962"/>
            <a:ext cx="914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8" name="hdr-工具与技术"/>
          <p:cNvSpPr txBox="1"/>
          <p:nvPr/>
        </p:nvSpPr>
        <p:spPr>
          <a:xfrm>
            <a:off x="15459075" y="3890962"/>
            <a:ext cx="2057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工具与技术</a:t>
            </a:r>
          </a:p>
        </p:txBody>
      </p:sp>
      <p:sp>
        <p:nvSpPr>
          <p:cNvPr id="29" name="hdr-输出"/>
          <p:cNvSpPr txBox="1"/>
          <p:nvPr/>
        </p:nvSpPr>
        <p:spPr>
          <a:xfrm>
            <a:off x="22402800" y="3890962"/>
            <a:ext cx="914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0" name="proc-规划范围管理"/>
          <p:cNvSpPr txBox="1"/>
          <p:nvPr/>
        </p:nvSpPr>
        <p:spPr>
          <a:xfrm>
            <a:off x="1552575" y="5224462"/>
            <a:ext cx="2438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规划范围管理</a:t>
            </a:r>
          </a:p>
        </p:txBody>
      </p:sp>
      <p:sp>
        <p:nvSpPr>
          <p:cNvPr id="31" name="dot-c1规划范围管理-0-0"/>
          <p:cNvSpPr/>
          <p:nvPr/>
        </p:nvSpPr>
        <p:spPr>
          <a:xfrm>
            <a:off x="8514398" y="4985385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-c1规划范围管理-0-0"/>
          <p:cNvSpPr txBox="1"/>
          <p:nvPr/>
        </p:nvSpPr>
        <p:spPr>
          <a:xfrm>
            <a:off x="8686800" y="4800600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33" name="dot-c1规划范围管理-0-1"/>
          <p:cNvSpPr/>
          <p:nvPr/>
        </p:nvSpPr>
        <p:spPr>
          <a:xfrm>
            <a:off x="11819572" y="4985385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-c1规划范围管理-0-1"/>
          <p:cNvSpPr txBox="1"/>
          <p:nvPr/>
        </p:nvSpPr>
        <p:spPr>
          <a:xfrm>
            <a:off x="11991975" y="4800600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</a:t>
            </a:r>
          </a:p>
        </p:txBody>
      </p:sp>
      <p:sp>
        <p:nvSpPr>
          <p:cNvPr id="35" name="dot-c1规划范围管理-1-0"/>
          <p:cNvSpPr/>
          <p:nvPr/>
        </p:nvSpPr>
        <p:spPr>
          <a:xfrm>
            <a:off x="8514398" y="548544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-c1规划范围管理-1-0"/>
          <p:cNvSpPr txBox="1"/>
          <p:nvPr/>
        </p:nvSpPr>
        <p:spPr>
          <a:xfrm>
            <a:off x="8686800" y="5300662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事业环境因素</a:t>
            </a:r>
          </a:p>
        </p:txBody>
      </p:sp>
      <p:sp>
        <p:nvSpPr>
          <p:cNvPr id="37" name="dot-c1规划范围管理-2-0"/>
          <p:cNvSpPr/>
          <p:nvPr/>
        </p:nvSpPr>
        <p:spPr>
          <a:xfrm>
            <a:off x="8514398" y="5985510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-c1规划范围管理-2-0"/>
          <p:cNvSpPr txBox="1"/>
          <p:nvPr/>
        </p:nvSpPr>
        <p:spPr>
          <a:xfrm>
            <a:off x="8686800" y="5800725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组织过程资产</a:t>
            </a:r>
          </a:p>
        </p:txBody>
      </p:sp>
      <p:sp>
        <p:nvSpPr>
          <p:cNvPr id="39" name="dot-c2规划范围管理-0-0"/>
          <p:cNvSpPr/>
          <p:nvPr/>
        </p:nvSpPr>
        <p:spPr>
          <a:xfrm>
            <a:off x="15467648" y="4985385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-c2规划范围管理-0-0"/>
          <p:cNvSpPr txBox="1"/>
          <p:nvPr/>
        </p:nvSpPr>
        <p:spPr>
          <a:xfrm>
            <a:off x="15640050" y="4800600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专家判断</a:t>
            </a:r>
          </a:p>
        </p:txBody>
      </p:sp>
      <p:sp>
        <p:nvSpPr>
          <p:cNvPr id="41" name="dot-c2规划范围管理-1-0"/>
          <p:cNvSpPr/>
          <p:nvPr/>
        </p:nvSpPr>
        <p:spPr>
          <a:xfrm>
            <a:off x="15467648" y="548544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-c2规划范围管理-1-0"/>
          <p:cNvSpPr txBox="1"/>
          <p:nvPr/>
        </p:nvSpPr>
        <p:spPr>
          <a:xfrm>
            <a:off x="15640050" y="5300662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43" name="dot-c2规划范围管理-2-0"/>
          <p:cNvSpPr/>
          <p:nvPr/>
        </p:nvSpPr>
        <p:spPr>
          <a:xfrm>
            <a:off x="15467648" y="5985510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-c2规划范围管理-2-0"/>
          <p:cNvSpPr txBox="1"/>
          <p:nvPr/>
        </p:nvSpPr>
        <p:spPr>
          <a:xfrm>
            <a:off x="15640050" y="5800725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会议</a:t>
            </a:r>
          </a:p>
        </p:txBody>
      </p:sp>
      <p:sp>
        <p:nvSpPr>
          <p:cNvPr id="45" name="dot-c3规划范围管理-0-0"/>
          <p:cNvSpPr/>
          <p:nvPr/>
        </p:nvSpPr>
        <p:spPr>
          <a:xfrm>
            <a:off x="22420898" y="5235416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-c3规划范围管理-0-0"/>
          <p:cNvSpPr txBox="1"/>
          <p:nvPr/>
        </p:nvSpPr>
        <p:spPr>
          <a:xfrm>
            <a:off x="22593300" y="5050631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范围管理计划</a:t>
            </a:r>
          </a:p>
        </p:txBody>
      </p:sp>
      <p:sp>
        <p:nvSpPr>
          <p:cNvPr id="47" name="dot-c3规划范围管理-1-0"/>
          <p:cNvSpPr/>
          <p:nvPr/>
        </p:nvSpPr>
        <p:spPr>
          <a:xfrm>
            <a:off x="22420898" y="5735479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-c3规划范围管理-1-0"/>
          <p:cNvSpPr txBox="1"/>
          <p:nvPr/>
        </p:nvSpPr>
        <p:spPr>
          <a:xfrm>
            <a:off x="22593300" y="5550694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需求管理计划</a:t>
            </a:r>
          </a:p>
        </p:txBody>
      </p:sp>
      <p:sp>
        <p:nvSpPr>
          <p:cNvPr id="49" name="proc-收集需求"/>
          <p:cNvSpPr txBox="1"/>
          <p:nvPr/>
        </p:nvSpPr>
        <p:spPr>
          <a:xfrm>
            <a:off x="1552575" y="7481888"/>
            <a:ext cx="1676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收集需求</a:t>
            </a:r>
          </a:p>
        </p:txBody>
      </p:sp>
      <p:sp>
        <p:nvSpPr>
          <p:cNvPr id="50" name="dot-c1收集需求-0-0"/>
          <p:cNvSpPr/>
          <p:nvPr/>
        </p:nvSpPr>
        <p:spPr>
          <a:xfrm>
            <a:off x="8514398" y="6992779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-c1收集需求-0-0"/>
          <p:cNvSpPr txBox="1"/>
          <p:nvPr/>
        </p:nvSpPr>
        <p:spPr>
          <a:xfrm>
            <a:off x="8686800" y="6807994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立项管理文件</a:t>
            </a:r>
          </a:p>
        </p:txBody>
      </p:sp>
      <p:sp>
        <p:nvSpPr>
          <p:cNvPr id="52" name="dot-c1收集需求-0-1"/>
          <p:cNvSpPr/>
          <p:nvPr/>
        </p:nvSpPr>
        <p:spPr>
          <a:xfrm>
            <a:off x="11790998" y="6992779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-c1收集需求-0-1"/>
          <p:cNvSpPr txBox="1"/>
          <p:nvPr/>
        </p:nvSpPr>
        <p:spPr>
          <a:xfrm>
            <a:off x="11963400" y="6807994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54" name="dot-c1收集需求-1-0"/>
          <p:cNvSpPr/>
          <p:nvPr/>
        </p:nvSpPr>
        <p:spPr>
          <a:xfrm>
            <a:off x="8514398" y="749284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-c1收集需求-1-0"/>
          <p:cNvSpPr txBox="1"/>
          <p:nvPr/>
        </p:nvSpPr>
        <p:spPr>
          <a:xfrm>
            <a:off x="8686800" y="7308056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</a:t>
            </a:r>
          </a:p>
        </p:txBody>
      </p:sp>
      <p:sp>
        <p:nvSpPr>
          <p:cNvPr id="56" name="dot-c1收集需求-1-1"/>
          <p:cNvSpPr/>
          <p:nvPr/>
        </p:nvSpPr>
        <p:spPr>
          <a:xfrm>
            <a:off x="11790998" y="749284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-c1收集需求-1-1"/>
          <p:cNvSpPr txBox="1"/>
          <p:nvPr/>
        </p:nvSpPr>
        <p:spPr>
          <a:xfrm>
            <a:off x="11963400" y="730805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</a:t>
            </a:r>
          </a:p>
        </p:txBody>
      </p:sp>
      <p:sp>
        <p:nvSpPr>
          <p:cNvPr id="58" name="dot-c1收集需求-2-0"/>
          <p:cNvSpPr/>
          <p:nvPr/>
        </p:nvSpPr>
        <p:spPr>
          <a:xfrm>
            <a:off x="8514398" y="799290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-c1收集需求-2-0"/>
          <p:cNvSpPr txBox="1"/>
          <p:nvPr/>
        </p:nvSpPr>
        <p:spPr>
          <a:xfrm>
            <a:off x="8686800" y="7808119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协议</a:t>
            </a:r>
          </a:p>
        </p:txBody>
      </p:sp>
      <p:sp>
        <p:nvSpPr>
          <p:cNvPr id="60" name="dot-c1收集需求-2-1"/>
          <p:cNvSpPr/>
          <p:nvPr/>
        </p:nvSpPr>
        <p:spPr>
          <a:xfrm>
            <a:off x="11733848" y="799290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-c1收集需求-2-1"/>
          <p:cNvSpPr txBox="1"/>
          <p:nvPr/>
        </p:nvSpPr>
        <p:spPr>
          <a:xfrm>
            <a:off x="11906250" y="780811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事业环境因素</a:t>
            </a:r>
          </a:p>
        </p:txBody>
      </p:sp>
      <p:sp>
        <p:nvSpPr>
          <p:cNvPr id="62" name="dot-c1收集需求-3-0"/>
          <p:cNvSpPr/>
          <p:nvPr/>
        </p:nvSpPr>
        <p:spPr>
          <a:xfrm>
            <a:off x="8514398" y="8492966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-c1收集需求-3-0"/>
          <p:cNvSpPr txBox="1"/>
          <p:nvPr/>
        </p:nvSpPr>
        <p:spPr>
          <a:xfrm>
            <a:off x="8686800" y="8308181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组织过程资产</a:t>
            </a:r>
          </a:p>
        </p:txBody>
      </p:sp>
      <p:sp>
        <p:nvSpPr>
          <p:cNvPr id="64" name="dot-c2收集需求-0-0"/>
          <p:cNvSpPr/>
          <p:nvPr/>
        </p:nvSpPr>
        <p:spPr>
          <a:xfrm>
            <a:off x="15467648" y="6992779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-c2收集需求-0-0"/>
          <p:cNvSpPr txBox="1"/>
          <p:nvPr/>
        </p:nvSpPr>
        <p:spPr>
          <a:xfrm>
            <a:off x="15640050" y="6807994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专家判断</a:t>
            </a:r>
          </a:p>
        </p:txBody>
      </p:sp>
      <p:sp>
        <p:nvSpPr>
          <p:cNvPr id="66" name="dot-c2收集需求-0-1"/>
          <p:cNvSpPr/>
          <p:nvPr/>
        </p:nvSpPr>
        <p:spPr>
          <a:xfrm>
            <a:off x="18429922" y="6992779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-c2收集需求-0-1"/>
          <p:cNvSpPr txBox="1"/>
          <p:nvPr/>
        </p:nvSpPr>
        <p:spPr>
          <a:xfrm>
            <a:off x="18602325" y="6807994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数据收集</a:t>
            </a:r>
          </a:p>
        </p:txBody>
      </p:sp>
      <p:sp>
        <p:nvSpPr>
          <p:cNvPr id="68" name="dot-c2收集需求-1-0"/>
          <p:cNvSpPr/>
          <p:nvPr/>
        </p:nvSpPr>
        <p:spPr>
          <a:xfrm>
            <a:off x="15467648" y="749284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-c2收集需求-1-0"/>
          <p:cNvSpPr txBox="1"/>
          <p:nvPr/>
        </p:nvSpPr>
        <p:spPr>
          <a:xfrm>
            <a:off x="15640050" y="730805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70" name="dot-c2收集需求-1-1"/>
          <p:cNvSpPr/>
          <p:nvPr/>
        </p:nvSpPr>
        <p:spPr>
          <a:xfrm>
            <a:off x="18429922" y="749284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-c2收集需求-1-1"/>
          <p:cNvSpPr txBox="1"/>
          <p:nvPr/>
        </p:nvSpPr>
        <p:spPr>
          <a:xfrm>
            <a:off x="18602325" y="7308056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72" name="dot-c2收集需求-2-0"/>
          <p:cNvSpPr/>
          <p:nvPr/>
        </p:nvSpPr>
        <p:spPr>
          <a:xfrm>
            <a:off x="15467648" y="799290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-c2收集需求-2-0"/>
          <p:cNvSpPr txBox="1"/>
          <p:nvPr/>
        </p:nvSpPr>
        <p:spPr>
          <a:xfrm>
            <a:off x="15640050" y="7808119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数据表现</a:t>
            </a:r>
          </a:p>
        </p:txBody>
      </p:sp>
      <p:sp>
        <p:nvSpPr>
          <p:cNvPr id="74" name="dot-c2收集需求-2-1"/>
          <p:cNvSpPr/>
          <p:nvPr/>
        </p:nvSpPr>
        <p:spPr>
          <a:xfrm>
            <a:off x="18096548" y="799290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-c2收集需求-2-1"/>
          <p:cNvSpPr txBox="1"/>
          <p:nvPr/>
        </p:nvSpPr>
        <p:spPr>
          <a:xfrm>
            <a:off x="18268950" y="7808119"/>
            <a:ext cx="3562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人际关系与团队技能</a:t>
            </a:r>
          </a:p>
        </p:txBody>
      </p:sp>
      <p:sp>
        <p:nvSpPr>
          <p:cNvPr id="76" name="dot-c2收集需求-3-0"/>
          <p:cNvSpPr/>
          <p:nvPr/>
        </p:nvSpPr>
        <p:spPr>
          <a:xfrm>
            <a:off x="15467648" y="8492966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-c2收集需求-3-0"/>
          <p:cNvSpPr txBox="1"/>
          <p:nvPr/>
        </p:nvSpPr>
        <p:spPr>
          <a:xfrm>
            <a:off x="15640050" y="8308181"/>
            <a:ext cx="2038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系统交互图</a:t>
            </a:r>
          </a:p>
        </p:txBody>
      </p:sp>
      <p:sp>
        <p:nvSpPr>
          <p:cNvPr id="78" name="dot-c2收集需求-3-1"/>
          <p:cNvSpPr/>
          <p:nvPr/>
        </p:nvSpPr>
        <p:spPr>
          <a:xfrm>
            <a:off x="18477548" y="8492966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-c2收集需求-3-1"/>
          <p:cNvSpPr txBox="1"/>
          <p:nvPr/>
        </p:nvSpPr>
        <p:spPr>
          <a:xfrm>
            <a:off x="18649950" y="8308181"/>
            <a:ext cx="1276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原型法</a:t>
            </a:r>
          </a:p>
        </p:txBody>
      </p:sp>
      <p:sp>
        <p:nvSpPr>
          <p:cNvPr id="80" name="dot-c3收集需求-0-0"/>
          <p:cNvSpPr/>
          <p:nvPr/>
        </p:nvSpPr>
        <p:spPr>
          <a:xfrm>
            <a:off x="22420898" y="749284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-c3收集需求-0-0"/>
          <p:cNvSpPr txBox="1"/>
          <p:nvPr/>
        </p:nvSpPr>
        <p:spPr>
          <a:xfrm>
            <a:off x="22593300" y="730805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需求文件</a:t>
            </a:r>
          </a:p>
        </p:txBody>
      </p:sp>
      <p:sp>
        <p:nvSpPr>
          <p:cNvPr id="82" name="dot-c3收集需求-1-0"/>
          <p:cNvSpPr/>
          <p:nvPr/>
        </p:nvSpPr>
        <p:spPr>
          <a:xfrm>
            <a:off x="22420898" y="799290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-c3收集需求-1-0"/>
          <p:cNvSpPr txBox="1"/>
          <p:nvPr/>
        </p:nvSpPr>
        <p:spPr>
          <a:xfrm>
            <a:off x="22593300" y="780811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需求跟踪矩阵</a:t>
            </a:r>
          </a:p>
        </p:txBody>
      </p:sp>
      <p:sp>
        <p:nvSpPr>
          <p:cNvPr id="84" name="proc-定义范围"/>
          <p:cNvSpPr txBox="1"/>
          <p:nvPr/>
        </p:nvSpPr>
        <p:spPr>
          <a:xfrm>
            <a:off x="1552575" y="9744075"/>
            <a:ext cx="1676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定义范围</a:t>
            </a:r>
          </a:p>
        </p:txBody>
      </p:sp>
      <p:sp>
        <p:nvSpPr>
          <p:cNvPr id="85" name="dot-c1定义范围-0-0"/>
          <p:cNvSpPr/>
          <p:nvPr/>
        </p:nvSpPr>
        <p:spPr>
          <a:xfrm>
            <a:off x="8514398" y="950499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-c1定义范围-0-0"/>
          <p:cNvSpPr txBox="1"/>
          <p:nvPr/>
        </p:nvSpPr>
        <p:spPr>
          <a:xfrm>
            <a:off x="8686800" y="9320212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项目章程</a:t>
            </a:r>
          </a:p>
        </p:txBody>
      </p:sp>
      <p:sp>
        <p:nvSpPr>
          <p:cNvPr id="87" name="dot-c1定义范围-0-1"/>
          <p:cNvSpPr/>
          <p:nvPr/>
        </p:nvSpPr>
        <p:spPr>
          <a:xfrm>
            <a:off x="11590972" y="950499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-c1定义范围-0-1"/>
          <p:cNvSpPr txBox="1"/>
          <p:nvPr/>
        </p:nvSpPr>
        <p:spPr>
          <a:xfrm>
            <a:off x="11763375" y="9320212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</a:t>
            </a:r>
          </a:p>
        </p:txBody>
      </p:sp>
      <p:sp>
        <p:nvSpPr>
          <p:cNvPr id="89" name="dot-c1定义范围-1-0"/>
          <p:cNvSpPr/>
          <p:nvPr/>
        </p:nvSpPr>
        <p:spPr>
          <a:xfrm>
            <a:off x="8514398" y="10005060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-c1定义范围-1-0"/>
          <p:cNvSpPr txBox="1"/>
          <p:nvPr/>
        </p:nvSpPr>
        <p:spPr>
          <a:xfrm>
            <a:off x="8686800" y="9820275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</a:t>
            </a:r>
          </a:p>
        </p:txBody>
      </p:sp>
      <p:sp>
        <p:nvSpPr>
          <p:cNvPr id="91" name="dot-c1定义范围-1-1"/>
          <p:cNvSpPr/>
          <p:nvPr/>
        </p:nvSpPr>
        <p:spPr>
          <a:xfrm>
            <a:off x="11590972" y="10005060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-c1定义范围-1-1"/>
          <p:cNvSpPr txBox="1"/>
          <p:nvPr/>
        </p:nvSpPr>
        <p:spPr>
          <a:xfrm>
            <a:off x="11763375" y="9820275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事业环境因素</a:t>
            </a:r>
          </a:p>
        </p:txBody>
      </p:sp>
      <p:sp>
        <p:nvSpPr>
          <p:cNvPr id="93" name="dot-c1定义范围-2-0"/>
          <p:cNvSpPr/>
          <p:nvPr/>
        </p:nvSpPr>
        <p:spPr>
          <a:xfrm>
            <a:off x="8514398" y="10505122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-c1定义范围-2-0"/>
          <p:cNvSpPr txBox="1"/>
          <p:nvPr/>
        </p:nvSpPr>
        <p:spPr>
          <a:xfrm>
            <a:off x="8686800" y="10320338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组织过程资产</a:t>
            </a:r>
          </a:p>
        </p:txBody>
      </p:sp>
      <p:sp>
        <p:nvSpPr>
          <p:cNvPr id="95" name="dot-c2定义范围-0-0"/>
          <p:cNvSpPr/>
          <p:nvPr/>
        </p:nvSpPr>
        <p:spPr>
          <a:xfrm>
            <a:off x="15467648" y="950499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-c2定义范围-0-0"/>
          <p:cNvSpPr txBox="1"/>
          <p:nvPr/>
        </p:nvSpPr>
        <p:spPr>
          <a:xfrm>
            <a:off x="15640050" y="9320212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专家判断</a:t>
            </a:r>
          </a:p>
        </p:txBody>
      </p:sp>
      <p:sp>
        <p:nvSpPr>
          <p:cNvPr id="97" name="dot-c2定义范围-0-1"/>
          <p:cNvSpPr/>
          <p:nvPr/>
        </p:nvSpPr>
        <p:spPr>
          <a:xfrm>
            <a:off x="18210848" y="950499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-c2定义范围-0-1"/>
          <p:cNvSpPr txBox="1"/>
          <p:nvPr/>
        </p:nvSpPr>
        <p:spPr>
          <a:xfrm>
            <a:off x="18383250" y="9320212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99" name="dot-c2定义范围-1-0"/>
          <p:cNvSpPr/>
          <p:nvPr/>
        </p:nvSpPr>
        <p:spPr>
          <a:xfrm>
            <a:off x="15467648" y="10005060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-c2定义范围-1-0"/>
          <p:cNvSpPr txBox="1"/>
          <p:nvPr/>
        </p:nvSpPr>
        <p:spPr>
          <a:xfrm>
            <a:off x="15640050" y="9820275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01" name="dot-c2定义范围-1-1"/>
          <p:cNvSpPr/>
          <p:nvPr/>
        </p:nvSpPr>
        <p:spPr>
          <a:xfrm>
            <a:off x="18125122" y="10005060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-c2定义范围-1-1"/>
          <p:cNvSpPr txBox="1"/>
          <p:nvPr/>
        </p:nvSpPr>
        <p:spPr>
          <a:xfrm>
            <a:off x="18297525" y="9820275"/>
            <a:ext cx="3562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人际关系与团队技能</a:t>
            </a:r>
          </a:p>
        </p:txBody>
      </p:sp>
      <p:sp>
        <p:nvSpPr>
          <p:cNvPr id="103" name="dot-c2定义范围-2-0"/>
          <p:cNvSpPr/>
          <p:nvPr/>
        </p:nvSpPr>
        <p:spPr>
          <a:xfrm>
            <a:off x="15467648" y="10505122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-c2定义范围-2-0"/>
          <p:cNvSpPr txBox="1"/>
          <p:nvPr/>
        </p:nvSpPr>
        <p:spPr>
          <a:xfrm>
            <a:off x="15640050" y="10320338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产品分析</a:t>
            </a:r>
          </a:p>
        </p:txBody>
      </p:sp>
      <p:sp>
        <p:nvSpPr>
          <p:cNvPr id="105" name="dot-c3定义范围-0-0"/>
          <p:cNvSpPr/>
          <p:nvPr/>
        </p:nvSpPr>
        <p:spPr>
          <a:xfrm>
            <a:off x="22420898" y="9755029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-c3定义范围-0-0"/>
          <p:cNvSpPr txBox="1"/>
          <p:nvPr/>
        </p:nvSpPr>
        <p:spPr>
          <a:xfrm>
            <a:off x="22593300" y="9570244"/>
            <a:ext cx="2800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项目范围说明书</a:t>
            </a:r>
          </a:p>
        </p:txBody>
      </p:sp>
      <p:sp>
        <p:nvSpPr>
          <p:cNvPr id="107" name="dot-c3定义范围-1-0"/>
          <p:cNvSpPr/>
          <p:nvPr/>
        </p:nvSpPr>
        <p:spPr>
          <a:xfrm>
            <a:off x="22420898" y="102550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-c3定义范围-1-0"/>
          <p:cNvSpPr txBox="1"/>
          <p:nvPr/>
        </p:nvSpPr>
        <p:spPr>
          <a:xfrm>
            <a:off x="22593300" y="10070306"/>
            <a:ext cx="3181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项目文件（更新）</a:t>
            </a:r>
          </a:p>
        </p:txBody>
      </p:sp>
      <p:sp>
        <p:nvSpPr>
          <p:cNvPr id="109" name="proc-创建WBS"/>
          <p:cNvSpPr txBox="1"/>
          <p:nvPr/>
        </p:nvSpPr>
        <p:spPr>
          <a:xfrm>
            <a:off x="1552575" y="11387138"/>
            <a:ext cx="2057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创建WBS</a:t>
            </a:r>
          </a:p>
        </p:txBody>
      </p:sp>
      <p:sp>
        <p:nvSpPr>
          <p:cNvPr id="110" name="dot-c1创建WBS-0-0"/>
          <p:cNvSpPr/>
          <p:nvPr/>
        </p:nvSpPr>
        <p:spPr>
          <a:xfrm>
            <a:off x="8514398" y="113980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-c1创建WBS-0-0"/>
          <p:cNvSpPr txBox="1"/>
          <p:nvPr/>
        </p:nvSpPr>
        <p:spPr>
          <a:xfrm>
            <a:off x="8686800" y="11213306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</a:t>
            </a:r>
          </a:p>
        </p:txBody>
      </p:sp>
      <p:sp>
        <p:nvSpPr>
          <p:cNvPr id="112" name="dot-c1创建WBS-0-1"/>
          <p:cNvSpPr/>
          <p:nvPr/>
        </p:nvSpPr>
        <p:spPr>
          <a:xfrm>
            <a:off x="11571922" y="113980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-c1创建WBS-0-1"/>
          <p:cNvSpPr txBox="1"/>
          <p:nvPr/>
        </p:nvSpPr>
        <p:spPr>
          <a:xfrm>
            <a:off x="11744325" y="1121330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</a:t>
            </a:r>
          </a:p>
        </p:txBody>
      </p:sp>
      <p:sp>
        <p:nvSpPr>
          <p:cNvPr id="114" name="dot-c1创建WBS-1-0"/>
          <p:cNvSpPr/>
          <p:nvPr/>
        </p:nvSpPr>
        <p:spPr>
          <a:xfrm>
            <a:off x="8514398" y="118981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-c1创建WBS-1-0"/>
          <p:cNvSpPr txBox="1"/>
          <p:nvPr/>
        </p:nvSpPr>
        <p:spPr>
          <a:xfrm>
            <a:off x="8686800" y="1171336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事业环境因素</a:t>
            </a:r>
          </a:p>
        </p:txBody>
      </p:sp>
      <p:sp>
        <p:nvSpPr>
          <p:cNvPr id="116" name="dot-c1创建WBS-1-1"/>
          <p:cNvSpPr/>
          <p:nvPr/>
        </p:nvSpPr>
        <p:spPr>
          <a:xfrm>
            <a:off x="11571922" y="118981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-c1创建WBS-1-1"/>
          <p:cNvSpPr txBox="1"/>
          <p:nvPr/>
        </p:nvSpPr>
        <p:spPr>
          <a:xfrm>
            <a:off x="11744325" y="1171336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组织过程资产</a:t>
            </a:r>
          </a:p>
        </p:txBody>
      </p:sp>
      <p:sp>
        <p:nvSpPr>
          <p:cNvPr id="118" name="dot-c2创建WBS-0-0"/>
          <p:cNvSpPr/>
          <p:nvPr/>
        </p:nvSpPr>
        <p:spPr>
          <a:xfrm>
            <a:off x="15467648" y="113980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-c2创建WBS-0-0"/>
          <p:cNvSpPr txBox="1"/>
          <p:nvPr/>
        </p:nvSpPr>
        <p:spPr>
          <a:xfrm>
            <a:off x="15640050" y="1121330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专家判断</a:t>
            </a:r>
          </a:p>
        </p:txBody>
      </p:sp>
      <p:sp>
        <p:nvSpPr>
          <p:cNvPr id="120" name="dot-c2创建WBS-1-0"/>
          <p:cNvSpPr/>
          <p:nvPr/>
        </p:nvSpPr>
        <p:spPr>
          <a:xfrm>
            <a:off x="15467648" y="118981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-c2创建WBS-1-0"/>
          <p:cNvSpPr txBox="1"/>
          <p:nvPr/>
        </p:nvSpPr>
        <p:spPr>
          <a:xfrm>
            <a:off x="15640050" y="11713369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分解</a:t>
            </a:r>
          </a:p>
        </p:txBody>
      </p:sp>
      <p:sp>
        <p:nvSpPr>
          <p:cNvPr id="122" name="dot-c3创建WBS-0-0"/>
          <p:cNvSpPr/>
          <p:nvPr/>
        </p:nvSpPr>
        <p:spPr>
          <a:xfrm>
            <a:off x="22420898" y="113980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-c3创建WBS-0-0"/>
          <p:cNvSpPr txBox="1"/>
          <p:nvPr/>
        </p:nvSpPr>
        <p:spPr>
          <a:xfrm>
            <a:off x="22593300" y="1121330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范围基准</a:t>
            </a:r>
          </a:p>
        </p:txBody>
      </p:sp>
      <p:sp>
        <p:nvSpPr>
          <p:cNvPr id="124" name="dot-c3创建WBS-1-0"/>
          <p:cNvSpPr/>
          <p:nvPr/>
        </p:nvSpPr>
        <p:spPr>
          <a:xfrm>
            <a:off x="22420898" y="118981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-c3创建WBS-1-0"/>
          <p:cNvSpPr txBox="1"/>
          <p:nvPr/>
        </p:nvSpPr>
        <p:spPr>
          <a:xfrm>
            <a:off x="22593300" y="11713369"/>
            <a:ext cx="3181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项目文件（更新）</a:t>
            </a:r>
          </a:p>
        </p:txBody>
      </p:sp>
      <p:sp>
        <p:nvSpPr>
          <p:cNvPr id="126" name="proc-确认范围"/>
          <p:cNvSpPr txBox="1"/>
          <p:nvPr/>
        </p:nvSpPr>
        <p:spPr>
          <a:xfrm>
            <a:off x="1552575" y="12834938"/>
            <a:ext cx="1676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确认范围</a:t>
            </a:r>
          </a:p>
        </p:txBody>
      </p:sp>
      <p:sp>
        <p:nvSpPr>
          <p:cNvPr id="127" name="dot-c1确认范围-0-0"/>
          <p:cNvSpPr/>
          <p:nvPr/>
        </p:nvSpPr>
        <p:spPr>
          <a:xfrm>
            <a:off x="8514398" y="128458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-c1确认范围-0-0"/>
          <p:cNvSpPr txBox="1"/>
          <p:nvPr/>
        </p:nvSpPr>
        <p:spPr>
          <a:xfrm>
            <a:off x="8686800" y="12661106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</a:t>
            </a:r>
          </a:p>
        </p:txBody>
      </p:sp>
      <p:sp>
        <p:nvSpPr>
          <p:cNvPr id="129" name="dot-c1确认范围-0-1"/>
          <p:cNvSpPr/>
          <p:nvPr/>
        </p:nvSpPr>
        <p:spPr>
          <a:xfrm>
            <a:off x="11571922" y="128458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-c1确认范围-0-1"/>
          <p:cNvSpPr txBox="1"/>
          <p:nvPr/>
        </p:nvSpPr>
        <p:spPr>
          <a:xfrm>
            <a:off x="11744325" y="1266110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</a:t>
            </a:r>
          </a:p>
        </p:txBody>
      </p:sp>
      <p:sp>
        <p:nvSpPr>
          <p:cNvPr id="131" name="dot-c1确认范围-1-0"/>
          <p:cNvSpPr/>
          <p:nvPr/>
        </p:nvSpPr>
        <p:spPr>
          <a:xfrm>
            <a:off x="8514398" y="13345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-c1确认范围-1-0"/>
          <p:cNvSpPr txBox="1"/>
          <p:nvPr/>
        </p:nvSpPr>
        <p:spPr>
          <a:xfrm>
            <a:off x="8686800" y="1316116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工作绩效数据</a:t>
            </a:r>
          </a:p>
        </p:txBody>
      </p:sp>
      <p:sp>
        <p:nvSpPr>
          <p:cNvPr id="133" name="dot-c1确认范围-1-1"/>
          <p:cNvSpPr/>
          <p:nvPr/>
        </p:nvSpPr>
        <p:spPr>
          <a:xfrm>
            <a:off x="11571922" y="13345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-c1确认范围-1-1"/>
          <p:cNvSpPr txBox="1"/>
          <p:nvPr/>
        </p:nvSpPr>
        <p:spPr>
          <a:xfrm>
            <a:off x="11744325" y="13161169"/>
            <a:ext cx="3181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核实的可交付成果</a:t>
            </a:r>
          </a:p>
        </p:txBody>
      </p:sp>
      <p:sp>
        <p:nvSpPr>
          <p:cNvPr id="135" name="dot-c2确认范围-0-0"/>
          <p:cNvSpPr/>
          <p:nvPr/>
        </p:nvSpPr>
        <p:spPr>
          <a:xfrm>
            <a:off x="15467648" y="128458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-c2确认范围-0-0"/>
          <p:cNvSpPr txBox="1"/>
          <p:nvPr/>
        </p:nvSpPr>
        <p:spPr>
          <a:xfrm>
            <a:off x="15640050" y="12661106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137" name="dot-c2确认范围-1-0"/>
          <p:cNvSpPr/>
          <p:nvPr/>
        </p:nvSpPr>
        <p:spPr>
          <a:xfrm>
            <a:off x="15467648" y="13345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-c2确认范围-1-0"/>
          <p:cNvSpPr txBox="1"/>
          <p:nvPr/>
        </p:nvSpPr>
        <p:spPr>
          <a:xfrm>
            <a:off x="15640050" y="13161169"/>
            <a:ext cx="895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39" name="dot-c3确认范围-0-0"/>
          <p:cNvSpPr/>
          <p:nvPr/>
        </p:nvSpPr>
        <p:spPr>
          <a:xfrm>
            <a:off x="22420898" y="128458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-c3确认范围-0-0"/>
          <p:cNvSpPr txBox="1"/>
          <p:nvPr/>
        </p:nvSpPr>
        <p:spPr>
          <a:xfrm>
            <a:off x="22593300" y="12661106"/>
            <a:ext cx="3181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验收的可交付成果</a:t>
            </a:r>
          </a:p>
        </p:txBody>
      </p:sp>
      <p:sp>
        <p:nvSpPr>
          <p:cNvPr id="141" name="dot-c3确认范围-0-1"/>
          <p:cNvSpPr/>
          <p:nvPr/>
        </p:nvSpPr>
        <p:spPr>
          <a:xfrm>
            <a:off x="26116598" y="12845891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-c3确认范围-0-1"/>
          <p:cNvSpPr txBox="1"/>
          <p:nvPr/>
        </p:nvSpPr>
        <p:spPr>
          <a:xfrm>
            <a:off x="26289000" y="12661106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变更请求</a:t>
            </a:r>
          </a:p>
        </p:txBody>
      </p:sp>
      <p:sp>
        <p:nvSpPr>
          <p:cNvPr id="143" name="dot-c3确认范围-1-0"/>
          <p:cNvSpPr/>
          <p:nvPr/>
        </p:nvSpPr>
        <p:spPr>
          <a:xfrm>
            <a:off x="22420898" y="13345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-c3确认范围-1-0"/>
          <p:cNvSpPr txBox="1"/>
          <p:nvPr/>
        </p:nvSpPr>
        <p:spPr>
          <a:xfrm>
            <a:off x="22593300" y="1316116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工作绩效信息</a:t>
            </a:r>
          </a:p>
        </p:txBody>
      </p:sp>
      <p:sp>
        <p:nvSpPr>
          <p:cNvPr id="145" name="dot-c3确认范围-1-1"/>
          <p:cNvSpPr/>
          <p:nvPr/>
        </p:nvSpPr>
        <p:spPr>
          <a:xfrm>
            <a:off x="25583198" y="13345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-c3确认范围-1-1"/>
          <p:cNvSpPr txBox="1"/>
          <p:nvPr/>
        </p:nvSpPr>
        <p:spPr>
          <a:xfrm>
            <a:off x="25755600" y="13161169"/>
            <a:ext cx="3181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项目文件（更新）</a:t>
            </a:r>
          </a:p>
        </p:txBody>
      </p:sp>
      <p:sp>
        <p:nvSpPr>
          <p:cNvPr id="147" name="proc-控制范围"/>
          <p:cNvSpPr txBox="1"/>
          <p:nvPr/>
        </p:nvSpPr>
        <p:spPr>
          <a:xfrm>
            <a:off x="1552575" y="14478000"/>
            <a:ext cx="16764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控制范围</a:t>
            </a:r>
          </a:p>
        </p:txBody>
      </p:sp>
      <p:sp>
        <p:nvSpPr>
          <p:cNvPr id="148" name="dot-c1控制范围-0-0"/>
          <p:cNvSpPr/>
          <p:nvPr/>
        </p:nvSpPr>
        <p:spPr>
          <a:xfrm>
            <a:off x="8514398" y="14488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-c1控制范围-0-0"/>
          <p:cNvSpPr txBox="1"/>
          <p:nvPr/>
        </p:nvSpPr>
        <p:spPr>
          <a:xfrm>
            <a:off x="8686800" y="14304169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</a:t>
            </a:r>
          </a:p>
        </p:txBody>
      </p:sp>
      <p:sp>
        <p:nvSpPr>
          <p:cNvPr id="150" name="dot-c1控制范围-0-1"/>
          <p:cNvSpPr/>
          <p:nvPr/>
        </p:nvSpPr>
        <p:spPr>
          <a:xfrm>
            <a:off x="11571922" y="14488954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-c1控制范围-0-1"/>
          <p:cNvSpPr txBox="1"/>
          <p:nvPr/>
        </p:nvSpPr>
        <p:spPr>
          <a:xfrm>
            <a:off x="11744325" y="14304169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</a:t>
            </a:r>
          </a:p>
        </p:txBody>
      </p:sp>
      <p:sp>
        <p:nvSpPr>
          <p:cNvPr id="152" name="dot-c1控制范围-1-0"/>
          <p:cNvSpPr/>
          <p:nvPr/>
        </p:nvSpPr>
        <p:spPr>
          <a:xfrm>
            <a:off x="8514398" y="14989016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-c1控制范围-1-0"/>
          <p:cNvSpPr txBox="1"/>
          <p:nvPr/>
        </p:nvSpPr>
        <p:spPr>
          <a:xfrm>
            <a:off x="8686800" y="14804231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工作绩效数据</a:t>
            </a:r>
          </a:p>
        </p:txBody>
      </p:sp>
      <p:sp>
        <p:nvSpPr>
          <p:cNvPr id="154" name="dot-c1控制范围-1-1"/>
          <p:cNvSpPr/>
          <p:nvPr/>
        </p:nvSpPr>
        <p:spPr>
          <a:xfrm>
            <a:off x="11571922" y="14989016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-c1控制范围-1-1"/>
          <p:cNvSpPr txBox="1"/>
          <p:nvPr/>
        </p:nvSpPr>
        <p:spPr>
          <a:xfrm>
            <a:off x="11744325" y="14804231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组织过程资产</a:t>
            </a:r>
          </a:p>
        </p:txBody>
      </p:sp>
      <p:sp>
        <p:nvSpPr>
          <p:cNvPr id="156" name="dot-c2控制范围-0-0"/>
          <p:cNvSpPr/>
          <p:nvPr/>
        </p:nvSpPr>
        <p:spPr>
          <a:xfrm>
            <a:off x="15467648" y="14738985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-c2控制范围-0-0"/>
          <p:cNvSpPr txBox="1"/>
          <p:nvPr/>
        </p:nvSpPr>
        <p:spPr>
          <a:xfrm>
            <a:off x="15640050" y="14554200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158" name="dot-c3控制范围-0-0"/>
          <p:cNvSpPr/>
          <p:nvPr/>
        </p:nvSpPr>
        <p:spPr>
          <a:xfrm>
            <a:off x="22420898" y="14238922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-c3控制范围-0-0"/>
          <p:cNvSpPr txBox="1"/>
          <p:nvPr/>
        </p:nvSpPr>
        <p:spPr>
          <a:xfrm>
            <a:off x="22593300" y="14054138"/>
            <a:ext cx="2419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工作绩效信息</a:t>
            </a:r>
          </a:p>
        </p:txBody>
      </p:sp>
      <p:sp>
        <p:nvSpPr>
          <p:cNvPr id="160" name="dot-c3控制范围-0-1"/>
          <p:cNvSpPr/>
          <p:nvPr/>
        </p:nvSpPr>
        <p:spPr>
          <a:xfrm>
            <a:off x="25468898" y="14238922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-c3控制范围-0-1"/>
          <p:cNvSpPr txBox="1"/>
          <p:nvPr/>
        </p:nvSpPr>
        <p:spPr>
          <a:xfrm>
            <a:off x="25641300" y="14054138"/>
            <a:ext cx="1657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变更请求</a:t>
            </a:r>
          </a:p>
        </p:txBody>
      </p:sp>
      <p:sp>
        <p:nvSpPr>
          <p:cNvPr id="162" name="dot-c3控制范围-1-0"/>
          <p:cNvSpPr/>
          <p:nvPr/>
        </p:nvSpPr>
        <p:spPr>
          <a:xfrm>
            <a:off x="22420898" y="14738985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-c3控制范围-1-0"/>
          <p:cNvSpPr txBox="1"/>
          <p:nvPr/>
        </p:nvSpPr>
        <p:spPr>
          <a:xfrm>
            <a:off x="22593300" y="14554200"/>
            <a:ext cx="3943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项目管理计划（更新）</a:t>
            </a:r>
          </a:p>
        </p:txBody>
      </p:sp>
      <p:sp>
        <p:nvSpPr>
          <p:cNvPr id="164" name="dot-c3控制范围-2-0"/>
          <p:cNvSpPr/>
          <p:nvPr/>
        </p:nvSpPr>
        <p:spPr>
          <a:xfrm>
            <a:off x="22420898" y="15239048"/>
            <a:ext cx="49530" cy="4953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-c3控制范围-2-0"/>
          <p:cNvSpPr txBox="1"/>
          <p:nvPr/>
        </p:nvSpPr>
        <p:spPr>
          <a:xfrm>
            <a:off x="22593300" y="15054262"/>
            <a:ext cx="318135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项目文件（更新）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