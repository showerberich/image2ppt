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title-block"/>
          <p:cNvSpPr/>
          <p:nvPr/>
        </p:nvSpPr>
        <p:spPr>
          <a:xfrm>
            <a:off x="866775" y="914400"/>
            <a:ext cx="6391275" cy="1562100"/>
          </a:xfrm>
          <a:prstGeom prst="rect">
            <a:avLst/>
          </a:prstGeom>
          <a:solidFill>
            <a:srgbClr val="013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866775" y="866775"/>
            <a:ext cx="6391275" cy="156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制定项目目标</a:t>
            </a:r>
          </a:p>
        </p:txBody>
      </p:sp>
      <p:sp>
        <p:nvSpPr>
          <p:cNvPr id="6" name="hdr-desc-box"/>
          <p:cNvSpPr/>
          <p:nvPr/>
        </p:nvSpPr>
        <p:spPr>
          <a:xfrm>
            <a:off x="7277100" y="895350"/>
            <a:ext cx="23174325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dr-desc"/>
          <p:cNvSpPr txBox="1"/>
          <p:nvPr/>
        </p:nvSpPr>
        <p:spPr>
          <a:xfrm>
            <a:off x="7048500" y="895350"/>
            <a:ext cx="22669500" cy="1600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87" b="0" i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使用SMART原则确定多个可交付项目成果，例如产品、服务，甚至是完成的基础设施项目。</a:t>
            </a:r>
          </a:p>
        </p:txBody>
      </p:sp>
      <p:grpSp>
        <p:nvGrpSpPr>
          <p:cNvPr id="56" name="col-S"/>
          <p:cNvGrpSpPr/>
          <p:nvPr/>
        </p:nvGrpSpPr>
        <p:grpSpPr>
          <a:xfrm>
            <a:off x="3400425" y="5162550"/>
            <a:ext cx="5372100" cy="4133850"/>
            <a:chOff x="3400425" y="5162550"/>
            <a:chExt cx="5372100" cy="4133850"/>
          </a:xfrm>
        </p:grpSpPr>
        <p:sp>
          <p:nvSpPr>
            <p:cNvPr id="8" name="chevron-S"/>
            <p:cNvSpPr/>
            <p:nvPr/>
          </p:nvSpPr>
          <p:spPr>
            <a:xfrm>
              <a:off x="3400425" y="5162550"/>
              <a:ext cx="5372100" cy="4133850"/>
            </a:xfrm>
            <a:custGeom>
              <a:avLst/>
              <a:gdLst/>
              <a:ahLst/>
              <a:cxnLst/>
              <a:rect l="l" t="t" r="r" b="b"/>
              <a:pathLst>
                <a:path w="5372100" h="4133850">
                  <a:moveTo>
                    <a:pt x="0" y="0"/>
                  </a:moveTo>
                  <a:lnTo>
                    <a:pt x="4238625" y="0"/>
                  </a:lnTo>
                  <a:lnTo>
                    <a:pt x="5372100" y="2066925"/>
                  </a:lnTo>
                  <a:lnTo>
                    <a:pt x="4238625" y="4133850"/>
                  </a:lnTo>
                  <a:lnTo>
                    <a:pt x="0" y="4133850"/>
                  </a:lnTo>
                  <a:lnTo>
                    <a:pt x="1085850" y="2066925"/>
                  </a:lnTo>
                  <a:close/>
                </a:path>
              </a:pathLst>
            </a:custGeom>
            <a:solidFill>
              <a:srgbClr val="7B9F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c0-card"/>
            <p:cNvSpPr/>
            <p:nvPr/>
          </p:nvSpPr>
          <p:spPr>
            <a:xfrm>
              <a:off x="5457825" y="6591300"/>
              <a:ext cx="1181100" cy="1295400"/>
            </a:xfrm>
            <a:prstGeom prst="roundRect">
              <a:avLst>
                <a:gd name="adj" fmla="val 10483"/>
              </a:avLst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c0-head"/>
            <p:cNvSpPr/>
            <p:nvPr/>
          </p:nvSpPr>
          <p:spPr>
            <a:xfrm>
              <a:off x="5857875" y="68199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c0-body"/>
            <p:cNvSpPr/>
            <p:nvPr/>
          </p:nvSpPr>
          <p:spPr>
            <a:xfrm>
              <a:off x="5686425" y="7277100"/>
              <a:ext cx="723900" cy="4000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c0-slot0"/>
            <p:cNvSpPr/>
            <p:nvPr/>
          </p:nvSpPr>
          <p:spPr>
            <a:xfrm>
              <a:off x="6629400" y="6838950"/>
              <a:ext cx="142875" cy="1714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c0-slot1"/>
            <p:cNvSpPr/>
            <p:nvPr/>
          </p:nvSpPr>
          <p:spPr>
            <a:xfrm>
              <a:off x="6629400" y="7143750"/>
              <a:ext cx="142875" cy="1714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c0-slot2"/>
            <p:cNvSpPr/>
            <p:nvPr/>
          </p:nvSpPr>
          <p:spPr>
            <a:xfrm>
              <a:off x="6629400" y="7448550"/>
              <a:ext cx="142875" cy="1714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badge-S"/>
          <p:cNvSpPr/>
          <p:nvPr/>
        </p:nvSpPr>
        <p:spPr>
          <a:xfrm>
            <a:off x="4824412" y="8867775"/>
            <a:ext cx="1676400" cy="1676400"/>
          </a:xfrm>
          <a:prstGeom prst="ellipse">
            <a:avLst/>
          </a:prstGeom>
          <a:solidFill>
            <a:srgbClr val="434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-txt-S"/>
          <p:cNvSpPr txBox="1"/>
          <p:nvPr/>
        </p:nvSpPr>
        <p:spPr>
          <a:xfrm>
            <a:off x="4995862" y="9210675"/>
            <a:ext cx="1333500" cy="990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17" name="en-S"/>
          <p:cNvSpPr txBox="1"/>
          <p:nvPr/>
        </p:nvSpPr>
        <p:spPr>
          <a:xfrm>
            <a:off x="4619625" y="11049000"/>
            <a:ext cx="2000250" cy="857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434F87"/>
                </a:solidFill>
                <a:latin typeface="Microsoft YaHei"/>
                <a:ea typeface="Microsoft YaHei"/>
                <a:cs typeface="Microsoft YaHei"/>
              </a:rPr>
              <a:t>Specific</a:t>
            </a:r>
          </a:p>
        </p:txBody>
      </p:sp>
      <p:sp>
        <p:nvSpPr>
          <p:cNvPr id="18" name="cn-S"/>
          <p:cNvSpPr txBox="1"/>
          <p:nvPr/>
        </p:nvSpPr>
        <p:spPr>
          <a:xfrm>
            <a:off x="4105275" y="12496800"/>
            <a:ext cx="304800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具体的、不模糊的</a:t>
            </a:r>
          </a:p>
        </p:txBody>
      </p:sp>
      <p:grpSp>
        <p:nvGrpSpPr>
          <p:cNvPr id="55" name="col-M"/>
          <p:cNvGrpSpPr/>
          <p:nvPr/>
        </p:nvGrpSpPr>
        <p:grpSpPr>
          <a:xfrm>
            <a:off x="7991475" y="5162550"/>
            <a:ext cx="5372100" cy="4133850"/>
            <a:chOff x="7991475" y="5162550"/>
            <a:chExt cx="5372100" cy="4133850"/>
          </a:xfrm>
        </p:grpSpPr>
        <p:sp>
          <p:nvSpPr>
            <p:cNvPr id="19" name="chevron-M"/>
            <p:cNvSpPr/>
            <p:nvPr/>
          </p:nvSpPr>
          <p:spPr>
            <a:xfrm>
              <a:off x="7991475" y="5162550"/>
              <a:ext cx="5372100" cy="4133850"/>
            </a:xfrm>
            <a:custGeom>
              <a:avLst/>
              <a:gdLst/>
              <a:ahLst/>
              <a:cxnLst/>
              <a:rect l="l" t="t" r="r" b="b"/>
              <a:pathLst>
                <a:path w="5372100" h="4133850">
                  <a:moveTo>
                    <a:pt x="0" y="0"/>
                  </a:moveTo>
                  <a:lnTo>
                    <a:pt x="4238625" y="0"/>
                  </a:lnTo>
                  <a:lnTo>
                    <a:pt x="5372100" y="2066925"/>
                  </a:lnTo>
                  <a:lnTo>
                    <a:pt x="4238625" y="4133850"/>
                  </a:lnTo>
                  <a:lnTo>
                    <a:pt x="0" y="4133850"/>
                  </a:lnTo>
                  <a:lnTo>
                    <a:pt x="1085850" y="2066925"/>
                  </a:lnTo>
                  <a:close/>
                </a:path>
              </a:pathLst>
            </a:custGeom>
            <a:solidFill>
              <a:srgbClr val="A39E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c1-body"/>
            <p:cNvSpPr/>
            <p:nvPr/>
          </p:nvSpPr>
          <p:spPr>
            <a:xfrm>
              <a:off x="10229850" y="6819900"/>
              <a:ext cx="1438275" cy="1028700"/>
            </a:xfrm>
            <a:prstGeom prst="roundRect">
              <a:avLst>
                <a:gd name="adj" fmla="val 1851"/>
              </a:avLst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c1-handle"/>
            <p:cNvSpPr/>
            <p:nvPr/>
          </p:nvSpPr>
          <p:spPr>
            <a:xfrm>
              <a:off x="10668000" y="64770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571500" h="342900">
                  <a:moveTo>
                    <a:pt x="0" y="342900"/>
                  </a:moveTo>
                  <a:lnTo>
                    <a:pt x="0" y="133350"/>
                  </a:lnTo>
                  <a:lnTo>
                    <a:pt x="0" y="133350"/>
                  </a:lnTo>
                  <a:lnTo>
                    <a:pt x="5491" y="107335"/>
                  </a:lnTo>
                  <a:lnTo>
                    <a:pt x="21751" y="82319"/>
                  </a:lnTo>
                  <a:lnTo>
                    <a:pt x="48158" y="59265"/>
                  </a:lnTo>
                  <a:lnTo>
                    <a:pt x="83694" y="39057"/>
                  </a:lnTo>
                  <a:lnTo>
                    <a:pt x="126996" y="22474"/>
                  </a:lnTo>
                  <a:lnTo>
                    <a:pt x="176398" y="10151"/>
                  </a:lnTo>
                  <a:lnTo>
                    <a:pt x="230003" y="2562"/>
                  </a:lnTo>
                  <a:lnTo>
                    <a:pt x="285750" y="0"/>
                  </a:lnTo>
                  <a:lnTo>
                    <a:pt x="341497" y="2562"/>
                  </a:lnTo>
                  <a:lnTo>
                    <a:pt x="395102" y="10151"/>
                  </a:lnTo>
                  <a:lnTo>
                    <a:pt x="444504" y="22474"/>
                  </a:lnTo>
                  <a:lnTo>
                    <a:pt x="487806" y="39057"/>
                  </a:lnTo>
                  <a:lnTo>
                    <a:pt x="523342" y="59265"/>
                  </a:lnTo>
                  <a:lnTo>
                    <a:pt x="549749" y="82319"/>
                  </a:lnTo>
                  <a:lnTo>
                    <a:pt x="566009" y="107335"/>
                  </a:lnTo>
                  <a:lnTo>
                    <a:pt x="571500" y="133350"/>
                  </a:lnTo>
                  <a:lnTo>
                    <a:pt x="571500" y="133350"/>
                  </a:lnTo>
                  <a:lnTo>
                    <a:pt x="571500" y="34290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c1-flap"/>
            <p:cNvSpPr/>
            <p:nvPr/>
          </p:nvSpPr>
          <p:spPr>
            <a:xfrm>
              <a:off x="10325100" y="7048500"/>
              <a:ext cx="1257300" cy="304800"/>
            </a:xfrm>
            <a:custGeom>
              <a:avLst/>
              <a:gdLst/>
              <a:ahLst/>
              <a:cxnLst/>
              <a:rect l="l" t="t" r="r" b="b"/>
              <a:pathLst>
                <a:path w="1257300" h="304800">
                  <a:moveTo>
                    <a:pt x="0" y="0"/>
                  </a:moveTo>
                  <a:lnTo>
                    <a:pt x="628650" y="304800"/>
                  </a:lnTo>
                  <a:lnTo>
                    <a:pt x="1257300" y="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badge-M"/>
          <p:cNvSpPr/>
          <p:nvPr/>
        </p:nvSpPr>
        <p:spPr>
          <a:xfrm>
            <a:off x="9344025" y="8867775"/>
            <a:ext cx="1676400" cy="1676400"/>
          </a:xfrm>
          <a:prstGeom prst="ellipse">
            <a:avLst/>
          </a:prstGeom>
          <a:solidFill>
            <a:srgbClr val="A39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-txt-M"/>
          <p:cNvSpPr txBox="1"/>
          <p:nvPr/>
        </p:nvSpPr>
        <p:spPr>
          <a:xfrm>
            <a:off x="9515475" y="9210675"/>
            <a:ext cx="1333500" cy="990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25" name="en-M"/>
          <p:cNvSpPr txBox="1"/>
          <p:nvPr/>
        </p:nvSpPr>
        <p:spPr>
          <a:xfrm>
            <a:off x="8691562" y="11049000"/>
            <a:ext cx="3057525" cy="857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A39ED2"/>
                </a:solidFill>
                <a:latin typeface="Microsoft YaHei"/>
                <a:ea typeface="Microsoft YaHei"/>
                <a:cs typeface="Microsoft YaHei"/>
              </a:rPr>
              <a:t>Measurable</a:t>
            </a:r>
          </a:p>
        </p:txBody>
      </p:sp>
      <p:sp>
        <p:nvSpPr>
          <p:cNvPr id="26" name="cn-M"/>
          <p:cNvSpPr txBox="1"/>
          <p:nvPr/>
        </p:nvSpPr>
        <p:spPr>
          <a:xfrm>
            <a:off x="9401175" y="12496800"/>
            <a:ext cx="15049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可测量的</a:t>
            </a:r>
          </a:p>
        </p:txBody>
      </p:sp>
      <p:grpSp>
        <p:nvGrpSpPr>
          <p:cNvPr id="57" name="col-A"/>
          <p:cNvGrpSpPr/>
          <p:nvPr/>
        </p:nvGrpSpPr>
        <p:grpSpPr>
          <a:xfrm>
            <a:off x="12601575" y="5162550"/>
            <a:ext cx="5372100" cy="4133850"/>
            <a:chOff x="12601575" y="5162550"/>
            <a:chExt cx="5372100" cy="4133850"/>
          </a:xfrm>
        </p:grpSpPr>
        <p:sp>
          <p:nvSpPr>
            <p:cNvPr id="27" name="chevron-A"/>
            <p:cNvSpPr/>
            <p:nvPr/>
          </p:nvSpPr>
          <p:spPr>
            <a:xfrm>
              <a:off x="12601575" y="5162550"/>
              <a:ext cx="5372100" cy="4133850"/>
            </a:xfrm>
            <a:custGeom>
              <a:avLst/>
              <a:gdLst/>
              <a:ahLst/>
              <a:cxnLst/>
              <a:rect l="l" t="t" r="r" b="b"/>
              <a:pathLst>
                <a:path w="5372100" h="4133850">
                  <a:moveTo>
                    <a:pt x="0" y="0"/>
                  </a:moveTo>
                  <a:lnTo>
                    <a:pt x="4238625" y="0"/>
                  </a:lnTo>
                  <a:lnTo>
                    <a:pt x="5372100" y="2066925"/>
                  </a:lnTo>
                  <a:lnTo>
                    <a:pt x="4238625" y="4133850"/>
                  </a:lnTo>
                  <a:lnTo>
                    <a:pt x="0" y="4133850"/>
                  </a:lnTo>
                  <a:lnTo>
                    <a:pt x="1085850" y="2066925"/>
                  </a:lnTo>
                  <a:close/>
                </a:path>
              </a:pathLst>
            </a:custGeom>
            <a:solidFill>
              <a:srgbClr val="FECC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ic2-back"/>
            <p:cNvSpPr/>
            <p:nvPr/>
          </p:nvSpPr>
          <p:spPr>
            <a:xfrm>
              <a:off x="15087600" y="6934200"/>
              <a:ext cx="1219200" cy="838200"/>
            </a:xfrm>
            <a:prstGeom prst="ellipse">
              <a:avLst/>
            </a:prstGeom>
            <a:solidFill>
              <a:srgbClr val="FECC56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ic2-backtail"/>
            <p:cNvSpPr/>
            <p:nvPr/>
          </p:nvSpPr>
          <p:spPr>
            <a:xfrm>
              <a:off x="16040100" y="7658100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0" y="19050"/>
                  </a:moveTo>
                  <a:lnTo>
                    <a:pt x="95250" y="2667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ECC56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ic2-front"/>
            <p:cNvSpPr/>
            <p:nvPr/>
          </p:nvSpPr>
          <p:spPr>
            <a:xfrm>
              <a:off x="14754225" y="6553200"/>
              <a:ext cx="1314450" cy="914400"/>
            </a:xfrm>
            <a:prstGeom prst="ellipse">
              <a:avLst/>
            </a:prstGeom>
            <a:solidFill>
              <a:srgbClr val="FECC56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ic2-fronttail"/>
            <p:cNvSpPr/>
            <p:nvPr/>
          </p:nvSpPr>
          <p:spPr>
            <a:xfrm>
              <a:off x="15011400" y="7334250"/>
              <a:ext cx="304800" cy="400050"/>
            </a:xfrm>
            <a:custGeom>
              <a:avLst/>
              <a:gdLst/>
              <a:ahLst/>
              <a:cxnLst/>
              <a:rect l="l" t="t" r="r" b="b"/>
              <a:pathLst>
                <a:path w="304800" h="400050">
                  <a:moveTo>
                    <a:pt x="0" y="19050"/>
                  </a:moveTo>
                  <a:lnTo>
                    <a:pt x="171450" y="4000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ECC56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badge-A"/>
          <p:cNvSpPr/>
          <p:nvPr/>
        </p:nvSpPr>
        <p:spPr>
          <a:xfrm>
            <a:off x="13949362" y="8867775"/>
            <a:ext cx="1676400" cy="1676400"/>
          </a:xfrm>
          <a:prstGeom prst="ellipse">
            <a:avLst/>
          </a:prstGeom>
          <a:solidFill>
            <a:srgbClr val="FEC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dge-txt-A"/>
          <p:cNvSpPr txBox="1"/>
          <p:nvPr/>
        </p:nvSpPr>
        <p:spPr>
          <a:xfrm>
            <a:off x="14120812" y="9210675"/>
            <a:ext cx="1333500" cy="990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4" name="en-A"/>
          <p:cNvSpPr txBox="1"/>
          <p:nvPr/>
        </p:nvSpPr>
        <p:spPr>
          <a:xfrm>
            <a:off x="13358812" y="11049000"/>
            <a:ext cx="2733675" cy="857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FECC56"/>
                </a:solidFill>
                <a:latin typeface="Microsoft YaHei"/>
                <a:ea typeface="Microsoft YaHei"/>
                <a:cs typeface="Microsoft YaHei"/>
              </a:rPr>
              <a:t>Attainable</a:t>
            </a:r>
          </a:p>
        </p:txBody>
      </p:sp>
      <p:sp>
        <p:nvSpPr>
          <p:cNvPr id="35" name="cn-A"/>
          <p:cNvSpPr txBox="1"/>
          <p:nvPr/>
        </p:nvSpPr>
        <p:spPr>
          <a:xfrm>
            <a:off x="14016038" y="12496800"/>
            <a:ext cx="1495425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可实现的</a:t>
            </a:r>
          </a:p>
        </p:txBody>
      </p:sp>
      <p:grpSp>
        <p:nvGrpSpPr>
          <p:cNvPr id="54" name="col-R"/>
          <p:cNvGrpSpPr/>
          <p:nvPr/>
        </p:nvGrpSpPr>
        <p:grpSpPr>
          <a:xfrm>
            <a:off x="17192625" y="5162550"/>
            <a:ext cx="5372100" cy="4133850"/>
            <a:chOff x="17192625" y="5162550"/>
            <a:chExt cx="5372100" cy="4133850"/>
          </a:xfrm>
        </p:grpSpPr>
        <p:sp>
          <p:nvSpPr>
            <p:cNvPr id="36" name="chevron-R"/>
            <p:cNvSpPr/>
            <p:nvPr/>
          </p:nvSpPr>
          <p:spPr>
            <a:xfrm>
              <a:off x="17192625" y="5162550"/>
              <a:ext cx="5372100" cy="4133850"/>
            </a:xfrm>
            <a:custGeom>
              <a:avLst/>
              <a:gdLst/>
              <a:ahLst/>
              <a:cxnLst/>
              <a:rect l="l" t="t" r="r" b="b"/>
              <a:pathLst>
                <a:path w="5372100" h="4133850">
                  <a:moveTo>
                    <a:pt x="0" y="0"/>
                  </a:moveTo>
                  <a:lnTo>
                    <a:pt x="4238625" y="0"/>
                  </a:lnTo>
                  <a:lnTo>
                    <a:pt x="5372100" y="2066925"/>
                  </a:lnTo>
                  <a:lnTo>
                    <a:pt x="4238625" y="4133850"/>
                  </a:lnTo>
                  <a:lnTo>
                    <a:pt x="0" y="4133850"/>
                  </a:lnTo>
                  <a:lnTo>
                    <a:pt x="1085850" y="2066925"/>
                  </a:lnTo>
                  <a:close/>
                </a:path>
              </a:pathLst>
            </a:custGeom>
            <a:solidFill>
              <a:srgbClr val="34C2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ic3-body"/>
            <p:cNvSpPr/>
            <p:nvPr/>
          </p:nvSpPr>
          <p:spPr>
            <a:xfrm>
              <a:off x="19678650" y="7162800"/>
              <a:ext cx="1019175" cy="590550"/>
            </a:xfrm>
            <a:custGeom>
              <a:avLst/>
              <a:gdLst/>
              <a:ahLst/>
              <a:cxnLst/>
              <a:rect l="l" t="t" r="r" b="b"/>
              <a:pathLst>
                <a:path w="1019175" h="590550">
                  <a:moveTo>
                    <a:pt x="0" y="0"/>
                  </a:moveTo>
                  <a:lnTo>
                    <a:pt x="0" y="457200"/>
                  </a:lnTo>
                  <a:lnTo>
                    <a:pt x="0" y="457200"/>
                  </a:lnTo>
                  <a:lnTo>
                    <a:pt x="9792" y="483215"/>
                  </a:lnTo>
                  <a:lnTo>
                    <a:pt x="38790" y="508231"/>
                  </a:lnTo>
                  <a:lnTo>
                    <a:pt x="85881" y="531285"/>
                  </a:lnTo>
                  <a:lnTo>
                    <a:pt x="149255" y="551493"/>
                  </a:lnTo>
                  <a:lnTo>
                    <a:pt x="226476" y="568076"/>
                  </a:lnTo>
                  <a:lnTo>
                    <a:pt x="314577" y="580399"/>
                  </a:lnTo>
                  <a:lnTo>
                    <a:pt x="410172" y="587988"/>
                  </a:lnTo>
                  <a:lnTo>
                    <a:pt x="509588" y="590550"/>
                  </a:lnTo>
                  <a:lnTo>
                    <a:pt x="609003" y="587988"/>
                  </a:lnTo>
                  <a:lnTo>
                    <a:pt x="704598" y="580399"/>
                  </a:lnTo>
                  <a:lnTo>
                    <a:pt x="792699" y="568076"/>
                  </a:lnTo>
                  <a:lnTo>
                    <a:pt x="869920" y="551493"/>
                  </a:lnTo>
                  <a:lnTo>
                    <a:pt x="933294" y="531285"/>
                  </a:lnTo>
                  <a:lnTo>
                    <a:pt x="980385" y="508231"/>
                  </a:lnTo>
                  <a:lnTo>
                    <a:pt x="1009383" y="483215"/>
                  </a:lnTo>
                  <a:lnTo>
                    <a:pt x="1019175" y="457200"/>
                  </a:lnTo>
                  <a:lnTo>
                    <a:pt x="1019175" y="457200"/>
                  </a:lnTo>
                  <a:lnTo>
                    <a:pt x="1019175" y="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ic3-cap"/>
            <p:cNvSpPr/>
            <p:nvPr/>
          </p:nvSpPr>
          <p:spPr>
            <a:xfrm>
              <a:off x="19373850" y="6629400"/>
              <a:ext cx="1666875" cy="628650"/>
            </a:xfrm>
            <a:custGeom>
              <a:avLst/>
              <a:gdLst/>
              <a:ahLst/>
              <a:cxnLst/>
              <a:rect l="l" t="t" r="r" b="b"/>
              <a:pathLst>
                <a:path w="1666875" h="628650">
                  <a:moveTo>
                    <a:pt x="828675" y="0"/>
                  </a:moveTo>
                  <a:lnTo>
                    <a:pt x="1666875" y="361950"/>
                  </a:lnTo>
                  <a:lnTo>
                    <a:pt x="828675" y="628650"/>
                  </a:lnTo>
                  <a:lnTo>
                    <a:pt x="0" y="361950"/>
                  </a:lnTo>
                  <a:close/>
                </a:path>
              </a:pathLst>
            </a:cu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ic3-tassel"/>
            <p:cNvCxnSpPr/>
            <p:nvPr/>
          </p:nvCxnSpPr>
          <p:spPr>
            <a:xfrm>
              <a:off x="19516725" y="7124700"/>
              <a:ext cx="0" cy="609600"/>
            </a:xfrm>
            <a:prstGeom prst="line">
              <a:avLst/>
            </a:prstGeom>
            <a:ln w="571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badge-R"/>
          <p:cNvSpPr/>
          <p:nvPr/>
        </p:nvSpPr>
        <p:spPr>
          <a:xfrm>
            <a:off x="18521362" y="8867775"/>
            <a:ext cx="1676400" cy="1676400"/>
          </a:xfrm>
          <a:prstGeom prst="ellipse">
            <a:avLst/>
          </a:prstGeom>
          <a:solidFill>
            <a:srgbClr val="34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dge-txt-R"/>
          <p:cNvSpPr txBox="1"/>
          <p:nvPr/>
        </p:nvSpPr>
        <p:spPr>
          <a:xfrm>
            <a:off x="18692812" y="9210675"/>
            <a:ext cx="1333500" cy="990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42" name="en-R"/>
          <p:cNvSpPr txBox="1"/>
          <p:nvPr/>
        </p:nvSpPr>
        <p:spPr>
          <a:xfrm>
            <a:off x="18230850" y="11049000"/>
            <a:ext cx="2247900" cy="857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34C2C3"/>
                </a:solidFill>
                <a:latin typeface="Microsoft YaHei"/>
                <a:ea typeface="Microsoft YaHei"/>
                <a:cs typeface="Microsoft YaHei"/>
              </a:rPr>
              <a:t>Relevant</a:t>
            </a:r>
          </a:p>
        </p:txBody>
      </p:sp>
      <p:sp>
        <p:nvSpPr>
          <p:cNvPr id="43" name="cn-R"/>
          <p:cNvSpPr txBox="1"/>
          <p:nvPr/>
        </p:nvSpPr>
        <p:spPr>
          <a:xfrm>
            <a:off x="17792700" y="12496800"/>
            <a:ext cx="304800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与目标是相关联的</a:t>
            </a:r>
          </a:p>
        </p:txBody>
      </p:sp>
      <p:grpSp>
        <p:nvGrpSpPr>
          <p:cNvPr id="53" name="col-T"/>
          <p:cNvGrpSpPr/>
          <p:nvPr/>
        </p:nvGrpSpPr>
        <p:grpSpPr>
          <a:xfrm>
            <a:off x="21802725" y="5162550"/>
            <a:ext cx="5372100" cy="4133850"/>
            <a:chOff x="21802725" y="5162550"/>
            <a:chExt cx="5372100" cy="4133850"/>
          </a:xfrm>
        </p:grpSpPr>
        <p:sp>
          <p:nvSpPr>
            <p:cNvPr id="44" name="chevron-T"/>
            <p:cNvSpPr/>
            <p:nvPr/>
          </p:nvSpPr>
          <p:spPr>
            <a:xfrm>
              <a:off x="21802725" y="5162550"/>
              <a:ext cx="5372100" cy="4133850"/>
            </a:xfrm>
            <a:custGeom>
              <a:avLst/>
              <a:gdLst/>
              <a:ahLst/>
              <a:cxnLst/>
              <a:rect l="l" t="t" r="r" b="b"/>
              <a:pathLst>
                <a:path w="5372100" h="4133850">
                  <a:moveTo>
                    <a:pt x="0" y="0"/>
                  </a:moveTo>
                  <a:lnTo>
                    <a:pt x="4238625" y="0"/>
                  </a:lnTo>
                  <a:lnTo>
                    <a:pt x="5372100" y="2066925"/>
                  </a:lnTo>
                  <a:lnTo>
                    <a:pt x="4238625" y="4133850"/>
                  </a:lnTo>
                  <a:lnTo>
                    <a:pt x="0" y="4133850"/>
                  </a:lnTo>
                  <a:lnTo>
                    <a:pt x="1085850" y="2066925"/>
                  </a:lnTo>
                  <a:close/>
                </a:path>
              </a:pathLst>
            </a:custGeom>
            <a:solidFill>
              <a:srgbClr val="EF63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c4-back"/>
            <p:cNvSpPr/>
            <p:nvPr/>
          </p:nvSpPr>
          <p:spPr>
            <a:xfrm>
              <a:off x="24174450" y="6762750"/>
              <a:ext cx="952500" cy="1143000"/>
            </a:xfrm>
            <a:prstGeom prst="roundRect">
              <a:avLst>
                <a:gd name="adj" fmla="val 2000"/>
              </a:avLst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c4-front"/>
            <p:cNvSpPr/>
            <p:nvPr/>
          </p:nvSpPr>
          <p:spPr>
            <a:xfrm>
              <a:off x="24364950" y="6591300"/>
              <a:ext cx="895350" cy="1143000"/>
            </a:xfrm>
            <a:custGeom>
              <a:avLst/>
              <a:gdLst/>
              <a:ahLst/>
              <a:cxnLst/>
              <a:rect l="l" t="t" r="r" b="b"/>
              <a:pathLst>
                <a:path w="895350" h="1143000">
                  <a:moveTo>
                    <a:pt x="0" y="0"/>
                  </a:moveTo>
                  <a:lnTo>
                    <a:pt x="571500" y="0"/>
                  </a:lnTo>
                  <a:lnTo>
                    <a:pt x="895350" y="285750"/>
                  </a:lnTo>
                  <a:lnTo>
                    <a:pt x="89535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F637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c4-fold"/>
            <p:cNvSpPr/>
            <p:nvPr/>
          </p:nvSpPr>
          <p:spPr>
            <a:xfrm>
              <a:off x="24936450" y="6591300"/>
              <a:ext cx="323850" cy="285750"/>
            </a:xfrm>
            <a:custGeom>
              <a:avLst/>
              <a:gdLst/>
              <a:ahLst/>
              <a:cxnLst/>
              <a:rect l="l" t="t" r="r" b="b"/>
              <a:pathLst>
                <a:path w="323850" h="285750">
                  <a:moveTo>
                    <a:pt x="0" y="0"/>
                  </a:moveTo>
                  <a:lnTo>
                    <a:pt x="0" y="285750"/>
                  </a:lnTo>
                  <a:lnTo>
                    <a:pt x="323850" y="28575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badge-T"/>
          <p:cNvSpPr/>
          <p:nvPr/>
        </p:nvSpPr>
        <p:spPr>
          <a:xfrm>
            <a:off x="23098125" y="8867775"/>
            <a:ext cx="1676400" cy="1676400"/>
          </a:xfrm>
          <a:prstGeom prst="ellipse">
            <a:avLst/>
          </a:prstGeom>
          <a:solidFill>
            <a:srgbClr val="EF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adge-txt-T"/>
          <p:cNvSpPr txBox="1"/>
          <p:nvPr/>
        </p:nvSpPr>
        <p:spPr>
          <a:xfrm>
            <a:off x="23269575" y="9210675"/>
            <a:ext cx="1333500" cy="990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50" name="en-T"/>
          <p:cNvSpPr txBox="1"/>
          <p:nvPr/>
        </p:nvSpPr>
        <p:spPr>
          <a:xfrm>
            <a:off x="22231350" y="11049000"/>
            <a:ext cx="3276600" cy="857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EB6580"/>
                </a:solidFill>
                <a:latin typeface="Microsoft YaHei"/>
                <a:ea typeface="Microsoft YaHei"/>
                <a:cs typeface="Microsoft YaHei"/>
              </a:rPr>
              <a:t>Time-bound</a:t>
            </a:r>
          </a:p>
        </p:txBody>
      </p:sp>
      <p:sp>
        <p:nvSpPr>
          <p:cNvPr id="51" name="cn-T"/>
          <p:cNvSpPr txBox="1"/>
          <p:nvPr/>
        </p:nvSpPr>
        <p:spPr>
          <a:xfrm>
            <a:off x="23445788" y="12496800"/>
            <a:ext cx="1114425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时限性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