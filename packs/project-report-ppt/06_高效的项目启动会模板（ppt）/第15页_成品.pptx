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rule"/>
          <p:cNvSpPr/>
          <p:nvPr/>
        </p:nvSpPr>
        <p:spPr>
          <a:xfrm>
            <a:off x="0" y="28575"/>
            <a:ext cx="30470475" cy="28575"/>
          </a:xfrm>
          <a:prstGeom prst="rect">
            <a:avLst/>
          </a:prstGeom>
          <a:solidFill>
            <a:srgbClr val="818181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me-left"/>
          <p:cNvSpPr/>
          <p:nvPr/>
        </p:nvSpPr>
        <p:spPr>
          <a:xfrm>
            <a:off x="0" y="0"/>
            <a:ext cx="9525" cy="1713547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ame-right"/>
          <p:cNvSpPr/>
          <p:nvPr/>
        </p:nvSpPr>
        <p:spPr>
          <a:xfrm>
            <a:off x="30460950" y="0"/>
            <a:ext cx="9525" cy="1713547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8" name="g-hdr"/>
          <p:cNvGrpSpPr/>
          <p:nvPr/>
        </p:nvGrpSpPr>
        <p:grpSpPr>
          <a:xfrm>
            <a:off x="857250" y="904875"/>
            <a:ext cx="28755975" cy="1600200"/>
            <a:chOff x="857250" y="904875"/>
            <a:chExt cx="28755975" cy="1600200"/>
          </a:xfrm>
        </p:grpSpPr>
        <p:sp>
          <p:nvSpPr>
            <p:cNvPr id="6" name="hdr-panel"/>
            <p:cNvSpPr/>
            <p:nvPr/>
          </p:nvSpPr>
          <p:spPr>
            <a:xfrm>
              <a:off x="857250" y="904875"/>
              <a:ext cx="28755975" cy="16002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D8CBBC"/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dr-navy"/>
            <p:cNvSpPr/>
            <p:nvPr/>
          </p:nvSpPr>
          <p:spPr>
            <a:xfrm>
              <a:off x="866775" y="914400"/>
              <a:ext cx="6400800" cy="1590675"/>
            </a:xfrm>
            <a:prstGeom prst="rect">
              <a:avLst/>
            </a:prstGeom>
            <a:solidFill>
              <a:srgbClr val="013E97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hdr-title"/>
            <p:cNvSpPr txBox="1"/>
            <p:nvPr/>
          </p:nvSpPr>
          <p:spPr>
            <a:xfrm>
              <a:off x="3294126" y="1428750"/>
              <a:ext cx="1565148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6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项目风险</a:t>
              </a:r>
            </a:p>
          </p:txBody>
        </p:sp>
        <p:sp>
          <p:nvSpPr>
            <p:cNvPr id="9" name="hdr-sub"/>
            <p:cNvSpPr txBox="1"/>
            <p:nvPr/>
          </p:nvSpPr>
          <p:spPr>
            <a:xfrm>
              <a:off x="15773400" y="1430655"/>
              <a:ext cx="544068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合理评估和预测项目风险以及优势。</a:t>
              </a:r>
            </a:p>
          </p:txBody>
        </p:sp>
      </p:grpSp>
      <p:grpSp>
        <p:nvGrpSpPr>
          <p:cNvPr id="74" name="g-fishbone"/>
          <p:cNvGrpSpPr/>
          <p:nvPr/>
        </p:nvGrpSpPr>
        <p:grpSpPr>
          <a:xfrm>
            <a:off x="4648200" y="3952875"/>
            <a:ext cx="19583400" cy="10725150"/>
            <a:chOff x="4648200" y="3952875"/>
            <a:chExt cx="19583400" cy="10725150"/>
          </a:xfrm>
        </p:grpSpPr>
        <p:cxnSp>
          <p:nvCxnSpPr>
            <p:cNvPr id="10" name="bone-1"/>
            <p:cNvCxnSpPr/>
            <p:nvPr/>
          </p:nvCxnSpPr>
          <p:spPr>
            <a:xfrm>
              <a:off x="10591800" y="3952875"/>
              <a:ext cx="1371600" cy="4381500"/>
            </a:xfrm>
            <a:prstGeom prst="line">
              <a:avLst/>
            </a:prstGeom>
            <a:ln w="57150">
              <a:solidFill>
                <a:srgbClr val="1CADE4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1" name="bone-2"/>
            <p:cNvCxnSpPr/>
            <p:nvPr/>
          </p:nvCxnSpPr>
          <p:spPr>
            <a:xfrm>
              <a:off x="14420850" y="3952875"/>
              <a:ext cx="1295400" cy="4381500"/>
            </a:xfrm>
            <a:prstGeom prst="line">
              <a:avLst/>
            </a:prstGeom>
            <a:ln w="57150">
              <a:solidFill>
                <a:srgbClr val="1CADE4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2" name="bone-3"/>
            <p:cNvCxnSpPr/>
            <p:nvPr/>
          </p:nvCxnSpPr>
          <p:spPr>
            <a:xfrm>
              <a:off x="17821275" y="3952875"/>
              <a:ext cx="1695450" cy="4381500"/>
            </a:xfrm>
            <a:prstGeom prst="line">
              <a:avLst/>
            </a:prstGeom>
            <a:ln w="57150">
              <a:solidFill>
                <a:srgbClr val="1CADE4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3" name="bone-4"/>
            <p:cNvCxnSpPr/>
            <p:nvPr/>
          </p:nvCxnSpPr>
          <p:spPr>
            <a:xfrm flipH="1">
              <a:off x="8201025" y="9039225"/>
              <a:ext cx="2400300" cy="5638800"/>
            </a:xfrm>
            <a:prstGeom prst="line">
              <a:avLst/>
            </a:prstGeom>
            <a:ln w="57150">
              <a:solidFill>
                <a:srgbClr val="1CADE4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4" name="bone-5"/>
            <p:cNvCxnSpPr/>
            <p:nvPr/>
          </p:nvCxnSpPr>
          <p:spPr>
            <a:xfrm flipH="1">
              <a:off x="13144500" y="9039225"/>
              <a:ext cx="1962150" cy="5381625"/>
            </a:xfrm>
            <a:prstGeom prst="line">
              <a:avLst/>
            </a:prstGeom>
            <a:ln w="57150">
              <a:solidFill>
                <a:srgbClr val="1CADE4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5" name="bone-6"/>
            <p:cNvCxnSpPr/>
            <p:nvPr/>
          </p:nvCxnSpPr>
          <p:spPr>
            <a:xfrm flipH="1">
              <a:off x="18354675" y="9039225"/>
              <a:ext cx="1343025" cy="5200650"/>
            </a:xfrm>
            <a:prstGeom prst="line">
              <a:avLst/>
            </a:prstGeom>
            <a:ln w="57150">
              <a:solidFill>
                <a:srgbClr val="1CADE4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16" name="spine"/>
            <p:cNvSpPr/>
            <p:nvPr/>
          </p:nvSpPr>
          <p:spPr>
            <a:xfrm>
              <a:off x="7124700" y="8334375"/>
              <a:ext cx="14639925" cy="714375"/>
            </a:xfrm>
            <a:prstGeom prst="rect">
              <a:avLst/>
            </a:prstGeom>
            <a:solidFill>
              <a:srgbClr val="1CADE4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ail"/>
            <p:cNvSpPr/>
            <p:nvPr/>
          </p:nvSpPr>
          <p:spPr>
            <a:xfrm>
              <a:off x="4648200" y="6400800"/>
              <a:ext cx="2190750" cy="4476750"/>
            </a:xfrm>
            <a:custGeom>
              <a:avLst/>
              <a:gdLst/>
              <a:ahLst/>
              <a:cxnLst/>
              <a:rect l="l" t="t" r="r" b="b"/>
              <a:pathLst>
                <a:path w="2190750" h="4476750">
                  <a:moveTo>
                    <a:pt x="9525" y="0"/>
                  </a:moveTo>
                  <a:lnTo>
                    <a:pt x="2190750" y="2266950"/>
                  </a:lnTo>
                  <a:lnTo>
                    <a:pt x="0" y="4476750"/>
                  </a:lnTo>
                  <a:lnTo>
                    <a:pt x="685800" y="2286000"/>
                  </a:lnTo>
                  <a:close/>
                </a:path>
              </a:pathLst>
            </a:custGeom>
            <a:solidFill>
              <a:srgbClr val="1CADE4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head"/>
            <p:cNvSpPr/>
            <p:nvPr/>
          </p:nvSpPr>
          <p:spPr>
            <a:xfrm>
              <a:off x="21602700" y="6286500"/>
              <a:ext cx="2628900" cy="4733925"/>
            </a:xfrm>
            <a:custGeom>
              <a:avLst/>
              <a:gdLst/>
              <a:ahLst/>
              <a:cxnLst/>
              <a:rect l="l" t="t" r="r" b="b"/>
              <a:pathLst>
                <a:path w="2628900" h="4733925">
                  <a:moveTo>
                    <a:pt x="190500" y="0"/>
                  </a:moveTo>
                  <a:lnTo>
                    <a:pt x="762000" y="133350"/>
                  </a:lnTo>
                  <a:lnTo>
                    <a:pt x="1066800" y="266700"/>
                  </a:lnTo>
                  <a:lnTo>
                    <a:pt x="1295400" y="400050"/>
                  </a:lnTo>
                  <a:lnTo>
                    <a:pt x="1485900" y="533400"/>
                  </a:lnTo>
                  <a:lnTo>
                    <a:pt x="1657350" y="666750"/>
                  </a:lnTo>
                  <a:lnTo>
                    <a:pt x="1800225" y="800100"/>
                  </a:lnTo>
                  <a:lnTo>
                    <a:pt x="1924050" y="933450"/>
                  </a:lnTo>
                  <a:lnTo>
                    <a:pt x="2038350" y="1066800"/>
                  </a:lnTo>
                  <a:lnTo>
                    <a:pt x="2143125" y="1200150"/>
                  </a:lnTo>
                  <a:lnTo>
                    <a:pt x="2228850" y="1333500"/>
                  </a:lnTo>
                  <a:lnTo>
                    <a:pt x="2305050" y="1466850"/>
                  </a:lnTo>
                  <a:lnTo>
                    <a:pt x="2381250" y="1600200"/>
                  </a:lnTo>
                  <a:lnTo>
                    <a:pt x="2438400" y="1733550"/>
                  </a:lnTo>
                  <a:lnTo>
                    <a:pt x="2495550" y="1866900"/>
                  </a:lnTo>
                  <a:lnTo>
                    <a:pt x="2533650" y="2000250"/>
                  </a:lnTo>
                  <a:lnTo>
                    <a:pt x="2571750" y="2133600"/>
                  </a:lnTo>
                  <a:lnTo>
                    <a:pt x="2600325" y="2266950"/>
                  </a:lnTo>
                  <a:lnTo>
                    <a:pt x="2619375" y="2400300"/>
                  </a:lnTo>
                  <a:lnTo>
                    <a:pt x="2628900" y="2533650"/>
                  </a:lnTo>
                  <a:lnTo>
                    <a:pt x="2628900" y="2667000"/>
                  </a:lnTo>
                  <a:lnTo>
                    <a:pt x="2533650" y="2800350"/>
                  </a:lnTo>
                  <a:lnTo>
                    <a:pt x="2333625" y="2933700"/>
                  </a:lnTo>
                  <a:lnTo>
                    <a:pt x="2257425" y="3067050"/>
                  </a:lnTo>
                  <a:lnTo>
                    <a:pt x="2371725" y="3200400"/>
                  </a:lnTo>
                  <a:lnTo>
                    <a:pt x="2409825" y="3333750"/>
                  </a:lnTo>
                  <a:lnTo>
                    <a:pt x="2333625" y="3467100"/>
                  </a:lnTo>
                  <a:lnTo>
                    <a:pt x="2238375" y="3600450"/>
                  </a:lnTo>
                  <a:lnTo>
                    <a:pt x="2133600" y="3733800"/>
                  </a:lnTo>
                  <a:lnTo>
                    <a:pt x="2009775" y="3867150"/>
                  </a:lnTo>
                  <a:lnTo>
                    <a:pt x="1876425" y="4000500"/>
                  </a:lnTo>
                  <a:lnTo>
                    <a:pt x="1704975" y="4133850"/>
                  </a:lnTo>
                  <a:lnTo>
                    <a:pt x="1514475" y="4267200"/>
                  </a:lnTo>
                  <a:lnTo>
                    <a:pt x="1285875" y="4400550"/>
                  </a:lnTo>
                  <a:lnTo>
                    <a:pt x="990600" y="4533900"/>
                  </a:lnTo>
                  <a:lnTo>
                    <a:pt x="561975" y="4667250"/>
                  </a:lnTo>
                  <a:lnTo>
                    <a:pt x="257175" y="4733925"/>
                  </a:lnTo>
                  <a:lnTo>
                    <a:pt x="38100" y="4533900"/>
                  </a:lnTo>
                  <a:lnTo>
                    <a:pt x="66675" y="4400550"/>
                  </a:lnTo>
                  <a:lnTo>
                    <a:pt x="104775" y="4267200"/>
                  </a:lnTo>
                  <a:lnTo>
                    <a:pt x="133350" y="4133850"/>
                  </a:lnTo>
                  <a:lnTo>
                    <a:pt x="161925" y="4000500"/>
                  </a:lnTo>
                  <a:lnTo>
                    <a:pt x="190500" y="3867150"/>
                  </a:lnTo>
                  <a:lnTo>
                    <a:pt x="219075" y="3733800"/>
                  </a:lnTo>
                  <a:lnTo>
                    <a:pt x="247650" y="3600450"/>
                  </a:lnTo>
                  <a:lnTo>
                    <a:pt x="266700" y="3467100"/>
                  </a:lnTo>
                  <a:lnTo>
                    <a:pt x="295275" y="3333750"/>
                  </a:lnTo>
                  <a:lnTo>
                    <a:pt x="314325" y="3200400"/>
                  </a:lnTo>
                  <a:lnTo>
                    <a:pt x="323850" y="3067050"/>
                  </a:lnTo>
                  <a:lnTo>
                    <a:pt x="333375" y="2933700"/>
                  </a:lnTo>
                  <a:lnTo>
                    <a:pt x="342900" y="2800350"/>
                  </a:lnTo>
                  <a:lnTo>
                    <a:pt x="352425" y="2667000"/>
                  </a:lnTo>
                  <a:lnTo>
                    <a:pt x="352425" y="2533650"/>
                  </a:lnTo>
                  <a:lnTo>
                    <a:pt x="352425" y="2400300"/>
                  </a:lnTo>
                  <a:lnTo>
                    <a:pt x="352425" y="2266950"/>
                  </a:lnTo>
                  <a:lnTo>
                    <a:pt x="342900" y="2133600"/>
                  </a:lnTo>
                  <a:lnTo>
                    <a:pt x="333375" y="2000250"/>
                  </a:lnTo>
                  <a:lnTo>
                    <a:pt x="323850" y="1866900"/>
                  </a:lnTo>
                  <a:lnTo>
                    <a:pt x="304800" y="1733550"/>
                  </a:lnTo>
                  <a:lnTo>
                    <a:pt x="295275" y="1600200"/>
                  </a:lnTo>
                  <a:lnTo>
                    <a:pt x="266700" y="1466850"/>
                  </a:lnTo>
                  <a:lnTo>
                    <a:pt x="247650" y="1333500"/>
                  </a:lnTo>
                  <a:lnTo>
                    <a:pt x="228600" y="1200150"/>
                  </a:lnTo>
                  <a:lnTo>
                    <a:pt x="200025" y="1066800"/>
                  </a:lnTo>
                  <a:lnTo>
                    <a:pt x="171450" y="933450"/>
                  </a:lnTo>
                  <a:lnTo>
                    <a:pt x="152400" y="800100"/>
                  </a:lnTo>
                  <a:lnTo>
                    <a:pt x="123825" y="666750"/>
                  </a:lnTo>
                  <a:lnTo>
                    <a:pt x="95250" y="533400"/>
                  </a:lnTo>
                  <a:lnTo>
                    <a:pt x="57150" y="400050"/>
                  </a:lnTo>
                  <a:lnTo>
                    <a:pt x="28575" y="26670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CADE4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eye"/>
            <p:cNvSpPr/>
            <p:nvPr/>
          </p:nvSpPr>
          <p:spPr>
            <a:xfrm>
              <a:off x="22640925" y="748665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ish-title"/>
            <p:cNvSpPr txBox="1"/>
            <p:nvPr/>
          </p:nvSpPr>
          <p:spPr>
            <a:xfrm>
              <a:off x="22456330" y="8439150"/>
              <a:ext cx="1340739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87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风险管理</a:t>
              </a:r>
            </a:p>
          </p:txBody>
        </p:sp>
      </p:grpSp>
      <p:grpSp>
        <p:nvGrpSpPr>
          <p:cNvPr id="76" name="g-nodes"/>
          <p:cNvGrpSpPr/>
          <p:nvPr/>
        </p:nvGrpSpPr>
        <p:grpSpPr>
          <a:xfrm>
            <a:off x="7781925" y="3719512"/>
            <a:ext cx="11839575" cy="11244263"/>
            <a:chOff x="7781925" y="3719512"/>
            <a:chExt cx="11839575" cy="11244263"/>
          </a:xfrm>
        </p:grpSpPr>
        <p:sp>
          <p:nvSpPr>
            <p:cNvPr id="21" name="node-01"/>
            <p:cNvSpPr/>
            <p:nvPr/>
          </p:nvSpPr>
          <p:spPr>
            <a:xfrm>
              <a:off x="10358438" y="3719512"/>
              <a:ext cx="466725" cy="4667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ode-02"/>
            <p:cNvSpPr/>
            <p:nvPr/>
          </p:nvSpPr>
          <p:spPr>
            <a:xfrm>
              <a:off x="14206538" y="3719512"/>
              <a:ext cx="466725" cy="4667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ode-03"/>
            <p:cNvSpPr/>
            <p:nvPr/>
          </p:nvSpPr>
          <p:spPr>
            <a:xfrm>
              <a:off x="17587912" y="3719512"/>
              <a:ext cx="466725" cy="4667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ode-04"/>
            <p:cNvSpPr/>
            <p:nvPr/>
          </p:nvSpPr>
          <p:spPr>
            <a:xfrm>
              <a:off x="10987088" y="5595938"/>
              <a:ext cx="276225" cy="2762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ode-05"/>
            <p:cNvSpPr/>
            <p:nvPr/>
          </p:nvSpPr>
          <p:spPr>
            <a:xfrm>
              <a:off x="14806612" y="5605462"/>
              <a:ext cx="276225" cy="2762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ode-06"/>
            <p:cNvSpPr/>
            <p:nvPr/>
          </p:nvSpPr>
          <p:spPr>
            <a:xfrm>
              <a:off x="18368962" y="5595938"/>
              <a:ext cx="276225" cy="2762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ode-07"/>
            <p:cNvSpPr/>
            <p:nvPr/>
          </p:nvSpPr>
          <p:spPr>
            <a:xfrm>
              <a:off x="11487150" y="7143750"/>
              <a:ext cx="285750" cy="28575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ode-08"/>
            <p:cNvSpPr/>
            <p:nvPr/>
          </p:nvSpPr>
          <p:spPr>
            <a:xfrm>
              <a:off x="15254288" y="7148512"/>
              <a:ext cx="276225" cy="2762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ode-09"/>
            <p:cNvSpPr/>
            <p:nvPr/>
          </p:nvSpPr>
          <p:spPr>
            <a:xfrm>
              <a:off x="18988088" y="7148512"/>
              <a:ext cx="276225" cy="2762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ode-10"/>
            <p:cNvSpPr/>
            <p:nvPr/>
          </p:nvSpPr>
          <p:spPr>
            <a:xfrm>
              <a:off x="10067925" y="9848850"/>
              <a:ext cx="285750" cy="28575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ode-11"/>
            <p:cNvSpPr/>
            <p:nvPr/>
          </p:nvSpPr>
          <p:spPr>
            <a:xfrm>
              <a:off x="14578012" y="10158412"/>
              <a:ext cx="352425" cy="35242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ode-12"/>
            <p:cNvSpPr/>
            <p:nvPr/>
          </p:nvSpPr>
          <p:spPr>
            <a:xfrm>
              <a:off x="19202400" y="9953625"/>
              <a:ext cx="419100" cy="41910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ode-13"/>
            <p:cNvSpPr/>
            <p:nvPr/>
          </p:nvSpPr>
          <p:spPr>
            <a:xfrm>
              <a:off x="9153525" y="11791950"/>
              <a:ext cx="457200" cy="45720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ode-14"/>
            <p:cNvSpPr/>
            <p:nvPr/>
          </p:nvSpPr>
          <p:spPr>
            <a:xfrm>
              <a:off x="13649325" y="12192000"/>
              <a:ext cx="400050" cy="40005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ode-15"/>
            <p:cNvSpPr/>
            <p:nvPr/>
          </p:nvSpPr>
          <p:spPr>
            <a:xfrm>
              <a:off x="18669000" y="11858625"/>
              <a:ext cx="419100" cy="41910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ode-16"/>
            <p:cNvSpPr/>
            <p:nvPr/>
          </p:nvSpPr>
          <p:spPr>
            <a:xfrm>
              <a:off x="8553450" y="13154025"/>
              <a:ext cx="457200" cy="45720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ode-17"/>
            <p:cNvSpPr/>
            <p:nvPr/>
          </p:nvSpPr>
          <p:spPr>
            <a:xfrm>
              <a:off x="12792075" y="14182725"/>
              <a:ext cx="476250" cy="47625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ode-18"/>
            <p:cNvSpPr/>
            <p:nvPr/>
          </p:nvSpPr>
          <p:spPr>
            <a:xfrm>
              <a:off x="18111788" y="13996988"/>
              <a:ext cx="485775" cy="485775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ode-19"/>
            <p:cNvSpPr/>
            <p:nvPr/>
          </p:nvSpPr>
          <p:spPr>
            <a:xfrm>
              <a:off x="7781925" y="14392275"/>
              <a:ext cx="571500" cy="571500"/>
            </a:xfrm>
            <a:prstGeom prst="ellipse">
              <a:avLst/>
            </a:prstGeom>
            <a:solidFill>
              <a:srgbClr val="EA641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g-process-top"/>
          <p:cNvGrpSpPr/>
          <p:nvPr/>
        </p:nvGrpSpPr>
        <p:grpSpPr>
          <a:xfrm>
            <a:off x="7419975" y="3773805"/>
            <a:ext cx="3274809" cy="4067175"/>
            <a:chOff x="7419975" y="3773805"/>
            <a:chExt cx="3274809" cy="4067175"/>
          </a:xfrm>
        </p:grpSpPr>
        <p:sp>
          <p:nvSpPr>
            <p:cNvPr id="40" name="cat-process-top"/>
            <p:cNvSpPr txBox="1"/>
            <p:nvPr/>
          </p:nvSpPr>
          <p:spPr>
            <a:xfrm>
              <a:off x="7419975" y="3773805"/>
              <a:ext cx="204608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1CADE4"/>
                  </a:solidFill>
                  <a:latin typeface="Microsoft YaHei"/>
                  <a:ea typeface="Microsoft YaHei"/>
                  <a:cs typeface="Microsoft YaHei"/>
                </a:rPr>
                <a:t>项目过程风险</a:t>
              </a:r>
            </a:p>
          </p:txBody>
        </p:sp>
        <p:sp>
          <p:nvSpPr>
            <p:cNvPr id="41" name="item-feasibility-1"/>
            <p:cNvSpPr txBox="1"/>
            <p:nvPr/>
          </p:nvSpPr>
          <p:spPr>
            <a:xfrm>
              <a:off x="8382000" y="4612005"/>
              <a:ext cx="204608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项目可行性风</a:t>
              </a:r>
            </a:p>
          </p:txBody>
        </p:sp>
        <p:sp>
          <p:nvSpPr>
            <p:cNvPr id="42" name="item-feasibility-2"/>
            <p:cNvSpPr txBox="1"/>
            <p:nvPr/>
          </p:nvSpPr>
          <p:spPr>
            <a:xfrm>
              <a:off x="9229725" y="5088255"/>
              <a:ext cx="34101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险</a:t>
              </a:r>
            </a:p>
          </p:txBody>
        </p:sp>
        <p:sp>
          <p:nvSpPr>
            <p:cNvPr id="43" name="item-decision"/>
            <p:cNvSpPr txBox="1"/>
            <p:nvPr/>
          </p:nvSpPr>
          <p:spPr>
            <a:xfrm>
              <a:off x="8382000" y="6174105"/>
              <a:ext cx="204608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项目决策风险</a:t>
              </a:r>
            </a:p>
          </p:txBody>
        </p:sp>
        <p:sp>
          <p:nvSpPr>
            <p:cNvPr id="44" name="item-funding"/>
            <p:cNvSpPr txBox="1"/>
            <p:nvPr/>
          </p:nvSpPr>
          <p:spPr>
            <a:xfrm>
              <a:off x="8648700" y="7364730"/>
              <a:ext cx="204608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项目资金风险</a:t>
              </a:r>
            </a:p>
          </p:txBody>
        </p:sp>
      </p:grpSp>
      <p:grpSp>
        <p:nvGrpSpPr>
          <p:cNvPr id="71" name="g-phys-top"/>
          <p:cNvGrpSpPr/>
          <p:nvPr/>
        </p:nvGrpSpPr>
        <p:grpSpPr>
          <a:xfrm>
            <a:off x="11963400" y="3726180"/>
            <a:ext cx="3099587" cy="3629025"/>
            <a:chOff x="11963400" y="3726180"/>
            <a:chExt cx="3099587" cy="3629025"/>
          </a:xfrm>
        </p:grpSpPr>
        <p:sp>
          <p:nvSpPr>
            <p:cNvPr id="45" name="cat-phys-top"/>
            <p:cNvSpPr txBox="1"/>
            <p:nvPr/>
          </p:nvSpPr>
          <p:spPr>
            <a:xfrm>
              <a:off x="12363450" y="3726180"/>
              <a:ext cx="1364056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1CADE4"/>
                  </a:solidFill>
                  <a:latin typeface="Microsoft YaHei"/>
                  <a:ea typeface="Microsoft YaHei"/>
                  <a:cs typeface="Microsoft YaHei"/>
                </a:rPr>
                <a:t>物理风险</a:t>
              </a:r>
            </a:p>
          </p:txBody>
        </p:sp>
        <p:sp>
          <p:nvSpPr>
            <p:cNvPr id="46" name="item-comm-1"/>
            <p:cNvSpPr txBox="1"/>
            <p:nvPr/>
          </p:nvSpPr>
          <p:spPr>
            <a:xfrm>
              <a:off x="12039600" y="4373880"/>
              <a:ext cx="2387098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数据中心间通信</a:t>
              </a:r>
            </a:p>
          </p:txBody>
        </p:sp>
        <p:sp>
          <p:nvSpPr>
            <p:cNvPr id="47" name="item-comm-2"/>
            <p:cNvSpPr txBox="1"/>
            <p:nvPr/>
          </p:nvSpPr>
          <p:spPr>
            <a:xfrm>
              <a:off x="11963400" y="4850130"/>
              <a:ext cx="252350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线路中断/抖动风</a:t>
              </a:r>
            </a:p>
          </p:txBody>
        </p:sp>
        <p:sp>
          <p:nvSpPr>
            <p:cNvPr id="48" name="item-comm-3"/>
            <p:cNvSpPr txBox="1"/>
            <p:nvPr/>
          </p:nvSpPr>
          <p:spPr>
            <a:xfrm>
              <a:off x="13049250" y="5326380"/>
              <a:ext cx="34101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险</a:t>
              </a:r>
            </a:p>
          </p:txBody>
        </p:sp>
        <p:sp>
          <p:nvSpPr>
            <p:cNvPr id="49" name="item-server-1"/>
            <p:cNvSpPr txBox="1"/>
            <p:nvPr/>
          </p:nvSpPr>
          <p:spPr>
            <a:xfrm>
              <a:off x="12334875" y="6402705"/>
              <a:ext cx="2728112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单数据中心服务器</a:t>
              </a:r>
            </a:p>
          </p:txBody>
        </p:sp>
        <p:sp>
          <p:nvSpPr>
            <p:cNvPr id="50" name="item-server-2"/>
            <p:cNvSpPr txBox="1"/>
            <p:nvPr/>
          </p:nvSpPr>
          <p:spPr>
            <a:xfrm>
              <a:off x="13001625" y="6878955"/>
              <a:ext cx="1364056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设备故障</a:t>
              </a:r>
            </a:p>
          </p:txBody>
        </p:sp>
      </p:grpSp>
      <p:grpSp>
        <p:nvGrpSpPr>
          <p:cNvPr id="70" name="g-tech-top"/>
          <p:cNvGrpSpPr/>
          <p:nvPr/>
        </p:nvGrpSpPr>
        <p:grpSpPr>
          <a:xfrm>
            <a:off x="15468600" y="3773805"/>
            <a:ext cx="3461537" cy="3752850"/>
            <a:chOff x="15468600" y="3773805"/>
            <a:chExt cx="3461537" cy="3752850"/>
          </a:xfrm>
        </p:grpSpPr>
        <p:sp>
          <p:nvSpPr>
            <p:cNvPr id="51" name="cat-tech-top"/>
            <p:cNvSpPr txBox="1"/>
            <p:nvPr/>
          </p:nvSpPr>
          <p:spPr>
            <a:xfrm>
              <a:off x="15868650" y="3773805"/>
              <a:ext cx="1364056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1CADE4"/>
                  </a:solidFill>
                  <a:latin typeface="Microsoft YaHei"/>
                  <a:ea typeface="Microsoft YaHei"/>
                  <a:cs typeface="Microsoft YaHei"/>
                </a:rPr>
                <a:t>技术风险</a:t>
              </a:r>
            </a:p>
          </p:txBody>
        </p:sp>
        <p:sp>
          <p:nvSpPr>
            <p:cNvPr id="52" name="item-app"/>
            <p:cNvSpPr txBox="1"/>
            <p:nvPr/>
          </p:nvSpPr>
          <p:spPr>
            <a:xfrm>
              <a:off x="15468600" y="4745355"/>
              <a:ext cx="2728112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应用程序实施风险</a:t>
              </a:r>
            </a:p>
          </p:txBody>
        </p:sp>
        <p:sp>
          <p:nvSpPr>
            <p:cNvPr id="53" name="item-applayer-1"/>
            <p:cNvSpPr txBox="1"/>
            <p:nvPr/>
          </p:nvSpPr>
          <p:spPr>
            <a:xfrm>
              <a:off x="16373475" y="5602605"/>
              <a:ext cx="204608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应用层实施风</a:t>
              </a:r>
            </a:p>
          </p:txBody>
        </p:sp>
        <p:sp>
          <p:nvSpPr>
            <p:cNvPr id="54" name="item-applayer-2"/>
            <p:cNvSpPr txBox="1"/>
            <p:nvPr/>
          </p:nvSpPr>
          <p:spPr>
            <a:xfrm>
              <a:off x="17230725" y="6088380"/>
              <a:ext cx="34101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险</a:t>
              </a:r>
            </a:p>
          </p:txBody>
        </p:sp>
        <p:sp>
          <p:nvSpPr>
            <p:cNvPr id="55" name="item-dblayer"/>
            <p:cNvSpPr txBox="1"/>
            <p:nvPr/>
          </p:nvSpPr>
          <p:spPr>
            <a:xfrm>
              <a:off x="16202025" y="7050405"/>
              <a:ext cx="2728112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数据库层实施风险</a:t>
              </a:r>
            </a:p>
          </p:txBody>
        </p:sp>
      </p:grpSp>
      <p:grpSp>
        <p:nvGrpSpPr>
          <p:cNvPr id="75" name="g-process-bot"/>
          <p:cNvGrpSpPr/>
          <p:nvPr/>
        </p:nvGrpSpPr>
        <p:grpSpPr>
          <a:xfrm>
            <a:off x="5153025" y="9860280"/>
            <a:ext cx="4313034" cy="4924425"/>
            <a:chOff x="5153025" y="9860280"/>
            <a:chExt cx="4313034" cy="4924425"/>
          </a:xfrm>
        </p:grpSpPr>
        <p:sp>
          <p:nvSpPr>
            <p:cNvPr id="56" name="cat-process-bot"/>
            <p:cNvSpPr txBox="1"/>
            <p:nvPr/>
          </p:nvSpPr>
          <p:spPr>
            <a:xfrm>
              <a:off x="5153025" y="14308455"/>
              <a:ext cx="204608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1CADE4"/>
                  </a:solidFill>
                  <a:latin typeface="Microsoft YaHei"/>
                  <a:ea typeface="Microsoft YaHei"/>
                  <a:cs typeface="Microsoft YaHei"/>
                </a:rPr>
                <a:t>项目过程风险</a:t>
              </a:r>
            </a:p>
          </p:txBody>
        </p:sp>
        <p:sp>
          <p:nvSpPr>
            <p:cNvPr id="57" name="item-progress"/>
            <p:cNvSpPr txBox="1"/>
            <p:nvPr/>
          </p:nvSpPr>
          <p:spPr>
            <a:xfrm>
              <a:off x="7419975" y="9860280"/>
              <a:ext cx="204608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项目进度风险</a:t>
              </a:r>
            </a:p>
          </p:txBody>
        </p:sp>
        <p:sp>
          <p:nvSpPr>
            <p:cNvPr id="58" name="item-hr"/>
            <p:cNvSpPr txBox="1"/>
            <p:nvPr/>
          </p:nvSpPr>
          <p:spPr>
            <a:xfrm>
              <a:off x="6362700" y="11574780"/>
              <a:ext cx="2728112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项目人力资源风险</a:t>
              </a:r>
            </a:p>
          </p:txBody>
        </p:sp>
        <p:sp>
          <p:nvSpPr>
            <p:cNvPr id="59" name="item-quality"/>
            <p:cNvSpPr txBox="1"/>
            <p:nvPr/>
          </p:nvSpPr>
          <p:spPr>
            <a:xfrm>
              <a:off x="6096000" y="12984480"/>
              <a:ext cx="2046084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项目质量风险</a:t>
              </a:r>
            </a:p>
          </p:txBody>
        </p:sp>
      </p:grpSp>
      <p:grpSp>
        <p:nvGrpSpPr>
          <p:cNvPr id="69" name="g-phys-bot"/>
          <p:cNvGrpSpPr/>
          <p:nvPr/>
        </p:nvGrpSpPr>
        <p:grpSpPr>
          <a:xfrm>
            <a:off x="9991725" y="10098405"/>
            <a:ext cx="4703655" cy="4819650"/>
            <a:chOff x="9991725" y="10098405"/>
            <a:chExt cx="4703655" cy="4819650"/>
          </a:xfrm>
        </p:grpSpPr>
        <p:sp>
          <p:nvSpPr>
            <p:cNvPr id="60" name="cat-phys-bot"/>
            <p:cNvSpPr txBox="1"/>
            <p:nvPr/>
          </p:nvSpPr>
          <p:spPr>
            <a:xfrm>
              <a:off x="10963275" y="14441805"/>
              <a:ext cx="1364056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1CADE4"/>
                  </a:solidFill>
                  <a:latin typeface="Microsoft YaHei"/>
                  <a:ea typeface="Microsoft YaHei"/>
                  <a:cs typeface="Microsoft YaHei"/>
                </a:rPr>
                <a:t>物理风险</a:t>
              </a:r>
            </a:p>
          </p:txBody>
        </p:sp>
        <p:sp>
          <p:nvSpPr>
            <p:cNvPr id="61" name="item-netdev"/>
            <p:cNvSpPr txBox="1"/>
            <p:nvPr/>
          </p:nvSpPr>
          <p:spPr>
            <a:xfrm>
              <a:off x="10944225" y="10098405"/>
              <a:ext cx="375115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单数据中心网络设备故障</a:t>
              </a:r>
            </a:p>
          </p:txBody>
        </p:sp>
        <p:sp>
          <p:nvSpPr>
            <p:cNvPr id="62" name="item-stordev"/>
            <p:cNvSpPr txBox="1"/>
            <p:nvPr/>
          </p:nvSpPr>
          <p:spPr>
            <a:xfrm>
              <a:off x="9991725" y="11908155"/>
              <a:ext cx="375115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单数据中心存储设备故障</a:t>
              </a:r>
            </a:p>
          </p:txBody>
        </p:sp>
      </p:grpSp>
      <p:grpSp>
        <p:nvGrpSpPr>
          <p:cNvPr id="72" name="g-tech-bot"/>
          <p:cNvGrpSpPr/>
          <p:nvPr/>
        </p:nvGrpSpPr>
        <p:grpSpPr>
          <a:xfrm>
            <a:off x="15830550" y="9622155"/>
            <a:ext cx="3345351" cy="5295900"/>
            <a:chOff x="15830550" y="9622155"/>
            <a:chExt cx="3345351" cy="5295900"/>
          </a:xfrm>
        </p:grpSpPr>
        <p:sp>
          <p:nvSpPr>
            <p:cNvPr id="63" name="cat-tech-bot"/>
            <p:cNvSpPr txBox="1"/>
            <p:nvPr/>
          </p:nvSpPr>
          <p:spPr>
            <a:xfrm>
              <a:off x="16306800" y="14441805"/>
              <a:ext cx="1364056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1CADE4"/>
                  </a:solidFill>
                  <a:latin typeface="Microsoft YaHei"/>
                  <a:ea typeface="Microsoft YaHei"/>
                  <a:cs typeface="Microsoft YaHei"/>
                </a:rPr>
                <a:t>技术风险</a:t>
              </a:r>
            </a:p>
          </p:txBody>
        </p:sp>
        <p:sp>
          <p:nvSpPr>
            <p:cNvPr id="64" name="item-os"/>
            <p:cNvSpPr txBox="1"/>
            <p:nvPr/>
          </p:nvSpPr>
          <p:spPr>
            <a:xfrm>
              <a:off x="16106775" y="9622155"/>
              <a:ext cx="3069126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操作系统层实施风险</a:t>
              </a:r>
            </a:p>
          </p:txBody>
        </p:sp>
        <p:sp>
          <p:nvSpPr>
            <p:cNvPr id="65" name="item-storlayer"/>
            <p:cNvSpPr txBox="1"/>
            <p:nvPr/>
          </p:nvSpPr>
          <p:spPr>
            <a:xfrm>
              <a:off x="16421100" y="11584305"/>
              <a:ext cx="2387098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存储层实施风险</a:t>
              </a:r>
            </a:p>
          </p:txBody>
        </p:sp>
        <p:sp>
          <p:nvSpPr>
            <p:cNvPr id="66" name="item-netlayer"/>
            <p:cNvSpPr txBox="1"/>
            <p:nvPr/>
          </p:nvSpPr>
          <p:spPr>
            <a:xfrm>
              <a:off x="15830550" y="12936855"/>
              <a:ext cx="2387098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32" b="0" i="0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网络层实施风险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