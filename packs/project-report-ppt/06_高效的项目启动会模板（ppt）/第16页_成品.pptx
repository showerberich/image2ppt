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4" name="header"/>
          <p:cNvGrpSpPr/>
          <p:nvPr/>
        </p:nvGrpSpPr>
        <p:grpSpPr>
          <a:xfrm>
            <a:off x="866775" y="904875"/>
            <a:ext cx="28736925" cy="1600200"/>
            <a:chOff x="866775" y="904875"/>
            <a:chExt cx="28736925" cy="1600200"/>
          </a:xfrm>
        </p:grpSpPr>
        <p:sp>
          <p:nvSpPr>
            <p:cNvPr id="3" name="hdr-box"/>
            <p:cNvSpPr/>
            <p:nvPr/>
          </p:nvSpPr>
          <p:spPr>
            <a:xfrm>
              <a:off x="7286625" y="904875"/>
              <a:ext cx="22317075" cy="16002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8CBB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navy"/>
            <p:cNvSpPr/>
            <p:nvPr/>
          </p:nvSpPr>
          <p:spPr>
            <a:xfrm>
              <a:off x="866775" y="923925"/>
              <a:ext cx="6400800" cy="1571625"/>
            </a:xfrm>
            <a:prstGeom prst="rect">
              <a:avLst/>
            </a:prstGeom>
            <a:solidFill>
              <a:srgbClr val="013F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title"/>
            <p:cNvSpPr txBox="1"/>
            <p:nvPr/>
          </p:nvSpPr>
          <p:spPr>
            <a:xfrm>
              <a:off x="2743200" y="1363718"/>
              <a:ext cx="2857500" cy="57316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项目前期工作</a:t>
              </a:r>
            </a:p>
          </p:txBody>
        </p:sp>
        <p:sp>
          <p:nvSpPr>
            <p:cNvPr id="6" name="hdr-sub"/>
            <p:cNvSpPr txBox="1"/>
            <p:nvPr/>
          </p:nvSpPr>
          <p:spPr>
            <a:xfrm>
              <a:off x="14782800" y="1428988"/>
              <a:ext cx="7810500" cy="48339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625" b="0" i="0">
                  <a:solidFill>
                    <a:srgbClr val="393937"/>
                  </a:solidFill>
                  <a:latin typeface="Microsoft YaHei"/>
                  <a:ea typeface="Microsoft YaHei"/>
                  <a:cs typeface="Microsoft YaHei"/>
                </a:rPr>
                <a:t>这一个板块，属于执行开始准备，也是个人习惯。</a:t>
              </a:r>
            </a:p>
          </p:txBody>
        </p:sp>
      </p:grpSp>
      <p:grpSp>
        <p:nvGrpSpPr>
          <p:cNvPr id="53" name="item-1"/>
          <p:cNvGrpSpPr/>
          <p:nvPr/>
        </p:nvGrpSpPr>
        <p:grpSpPr>
          <a:xfrm>
            <a:off x="3562350" y="3600450"/>
            <a:ext cx="11496675" cy="3457575"/>
            <a:chOff x="3562350" y="3600450"/>
            <a:chExt cx="11496675" cy="3457575"/>
          </a:xfrm>
        </p:grpSpPr>
        <p:pic>
          <p:nvPicPr>
            <p:cNvPr id="7" name="item-1-thumb" descr="_photo_item_1_thumb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2350" y="3600450"/>
              <a:ext cx="3457575" cy="3457575"/>
            </a:xfrm>
            <a:prstGeom prst="rect">
              <a:avLst/>
            </a:prstGeom>
            <a:effectLst/>
          </p:spPr>
        </p:pic>
        <p:grpSp>
          <p:nvGrpSpPr>
            <p:cNvPr id="48" name="item-1-icon"/>
            <p:cNvGrpSpPr/>
            <p:nvPr/>
          </p:nvGrpSpPr>
          <p:grpSpPr>
            <a:xfrm>
              <a:off x="7629525" y="4371975"/>
              <a:ext cx="990600" cy="990600"/>
              <a:chOff x="7629525" y="4371975"/>
              <a:chExt cx="990600" cy="990600"/>
            </a:xfrm>
          </p:grpSpPr>
          <p:sp>
            <p:nvSpPr>
              <p:cNvPr id="8" name="item-1-icon-circ"/>
              <p:cNvSpPr/>
              <p:nvPr/>
            </p:nvSpPr>
            <p:spPr>
              <a:xfrm>
                <a:off x="7629525" y="4371975"/>
                <a:ext cx="990600" cy="990600"/>
              </a:xfrm>
              <a:prstGeom prst="ellipse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item-1-icon-house"/>
              <p:cNvSpPr/>
              <p:nvPr/>
            </p:nvSpPr>
            <p:spPr>
              <a:xfrm>
                <a:off x="7915275" y="4648200"/>
                <a:ext cx="419100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42912">
                    <a:moveTo>
                      <a:pt x="209550" y="0"/>
                    </a:moveTo>
                    <a:lnTo>
                      <a:pt x="419100" y="209550"/>
                    </a:lnTo>
                    <a:lnTo>
                      <a:pt x="419100" y="442912"/>
                    </a:lnTo>
                    <a:lnTo>
                      <a:pt x="0" y="442912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item-1-icon-door"/>
              <p:cNvSpPr/>
              <p:nvPr/>
            </p:nvSpPr>
            <p:spPr>
              <a:xfrm>
                <a:off x="8105775" y="4838700"/>
                <a:ext cx="38100" cy="133350"/>
              </a:xfrm>
              <a:prstGeom prst="rect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item-1-title"/>
            <p:cNvSpPr txBox="1"/>
            <p:nvPr/>
          </p:nvSpPr>
          <p:spPr>
            <a:xfrm>
              <a:off x="9020175" y="4228100"/>
              <a:ext cx="4838700" cy="7319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资源到位，职责明确</a:t>
              </a:r>
            </a:p>
          </p:txBody>
        </p:sp>
        <p:sp>
          <p:nvSpPr>
            <p:cNvPr id="12" name="item-1-desc1"/>
            <p:cNvSpPr txBox="1"/>
            <p:nvPr/>
          </p:nvSpPr>
          <p:spPr>
            <a:xfrm>
              <a:off x="9067800" y="4968240"/>
              <a:ext cx="58293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尽快使项目的所有资源全部到位，</a:t>
              </a:r>
            </a:p>
          </p:txBody>
        </p:sp>
        <p:sp>
          <p:nvSpPr>
            <p:cNvPr id="13" name="item-1-desc2"/>
            <p:cNvSpPr txBox="1"/>
            <p:nvPr/>
          </p:nvSpPr>
          <p:spPr>
            <a:xfrm>
              <a:off x="9067800" y="5568315"/>
              <a:ext cx="599122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尽快磨合，驻场服务人员迅速进入</a:t>
              </a:r>
            </a:p>
          </p:txBody>
        </p:sp>
        <p:sp>
          <p:nvSpPr>
            <p:cNvPr id="14" name="item-1-desc3"/>
            <p:cNvSpPr txBox="1"/>
            <p:nvPr/>
          </p:nvSpPr>
          <p:spPr>
            <a:xfrm>
              <a:off x="9067800" y="6158865"/>
              <a:ext cx="12573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角色；</a:t>
              </a:r>
            </a:p>
          </p:txBody>
        </p:sp>
      </p:grpSp>
      <p:grpSp>
        <p:nvGrpSpPr>
          <p:cNvPr id="58" name="item-2"/>
          <p:cNvGrpSpPr/>
          <p:nvPr/>
        </p:nvGrpSpPr>
        <p:grpSpPr>
          <a:xfrm>
            <a:off x="3562350" y="7505700"/>
            <a:ext cx="11811000" cy="3438525"/>
            <a:chOff x="3562350" y="7505700"/>
            <a:chExt cx="11811000" cy="3438525"/>
          </a:xfrm>
        </p:grpSpPr>
        <p:pic>
          <p:nvPicPr>
            <p:cNvPr id="15" name="item-2-thumb" descr="_photo_item_2_thum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2350" y="7505700"/>
              <a:ext cx="3448050" cy="3438525"/>
            </a:xfrm>
            <a:prstGeom prst="rect">
              <a:avLst/>
            </a:prstGeom>
            <a:effectLst/>
          </p:spPr>
        </p:pic>
        <p:grpSp>
          <p:nvGrpSpPr>
            <p:cNvPr id="50" name="item-2-icon"/>
            <p:cNvGrpSpPr/>
            <p:nvPr/>
          </p:nvGrpSpPr>
          <p:grpSpPr>
            <a:xfrm>
              <a:off x="7629525" y="8124825"/>
              <a:ext cx="990600" cy="990600"/>
              <a:chOff x="7629525" y="8124825"/>
              <a:chExt cx="990600" cy="990600"/>
            </a:xfrm>
          </p:grpSpPr>
          <p:sp>
            <p:nvSpPr>
              <p:cNvPr id="16" name="item-2-icon-circ"/>
              <p:cNvSpPr/>
              <p:nvPr/>
            </p:nvSpPr>
            <p:spPr>
              <a:xfrm>
                <a:off x="7629525" y="8124825"/>
                <a:ext cx="990600" cy="990600"/>
              </a:xfrm>
              <a:prstGeom prst="ellipse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item-2-icon-house"/>
              <p:cNvSpPr/>
              <p:nvPr/>
            </p:nvSpPr>
            <p:spPr>
              <a:xfrm>
                <a:off x="7915275" y="8401050"/>
                <a:ext cx="419100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42912">
                    <a:moveTo>
                      <a:pt x="209550" y="0"/>
                    </a:moveTo>
                    <a:lnTo>
                      <a:pt x="419100" y="209550"/>
                    </a:lnTo>
                    <a:lnTo>
                      <a:pt x="419100" y="442912"/>
                    </a:lnTo>
                    <a:lnTo>
                      <a:pt x="0" y="442912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item-2-icon-door"/>
              <p:cNvSpPr/>
              <p:nvPr/>
            </p:nvSpPr>
            <p:spPr>
              <a:xfrm>
                <a:off x="8105775" y="8591550"/>
                <a:ext cx="38100" cy="133350"/>
              </a:xfrm>
              <a:prstGeom prst="rect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9" name="item-2-title"/>
            <p:cNvSpPr txBox="1"/>
            <p:nvPr/>
          </p:nvSpPr>
          <p:spPr>
            <a:xfrm>
              <a:off x="9020175" y="8028575"/>
              <a:ext cx="3343275" cy="7319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建立沟通渠道</a:t>
              </a:r>
            </a:p>
          </p:txBody>
        </p:sp>
        <p:sp>
          <p:nvSpPr>
            <p:cNvPr id="20" name="item-2-desc1"/>
            <p:cNvSpPr txBox="1"/>
            <p:nvPr/>
          </p:nvSpPr>
          <p:spPr>
            <a:xfrm>
              <a:off x="9020175" y="9054465"/>
              <a:ext cx="63531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根据各个驻场服务角色职责，周围相</a:t>
              </a:r>
            </a:p>
          </p:txBody>
        </p:sp>
        <p:sp>
          <p:nvSpPr>
            <p:cNvPr id="21" name="item-2-desc2"/>
            <p:cNvSpPr txBox="1"/>
            <p:nvPr/>
          </p:nvSpPr>
          <p:spPr>
            <a:xfrm>
              <a:off x="9020175" y="9654540"/>
              <a:ext cx="54483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关资源快速建立有效沟通渠道；</a:t>
              </a:r>
            </a:p>
          </p:txBody>
        </p:sp>
      </p:grpSp>
      <p:grpSp>
        <p:nvGrpSpPr>
          <p:cNvPr id="56" name="item-3"/>
          <p:cNvGrpSpPr/>
          <p:nvPr/>
        </p:nvGrpSpPr>
        <p:grpSpPr>
          <a:xfrm>
            <a:off x="3562350" y="11572875"/>
            <a:ext cx="11811000" cy="3448050"/>
            <a:chOff x="3562350" y="11572875"/>
            <a:chExt cx="11811000" cy="3448050"/>
          </a:xfrm>
        </p:grpSpPr>
        <p:pic>
          <p:nvPicPr>
            <p:cNvPr id="22" name="item-3-thumb" descr="_photo_item_3_thumb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2350" y="11572875"/>
              <a:ext cx="3448050" cy="3448050"/>
            </a:xfrm>
            <a:prstGeom prst="rect">
              <a:avLst/>
            </a:prstGeom>
            <a:effectLst/>
          </p:spPr>
        </p:pic>
        <p:grpSp>
          <p:nvGrpSpPr>
            <p:cNvPr id="51" name="item-3-icon"/>
            <p:cNvGrpSpPr/>
            <p:nvPr/>
          </p:nvGrpSpPr>
          <p:grpSpPr>
            <a:xfrm>
              <a:off x="7629525" y="11887200"/>
              <a:ext cx="990600" cy="990600"/>
              <a:chOff x="7629525" y="11887200"/>
              <a:chExt cx="990600" cy="990600"/>
            </a:xfrm>
          </p:grpSpPr>
          <p:sp>
            <p:nvSpPr>
              <p:cNvPr id="23" name="item-3-icon-circ"/>
              <p:cNvSpPr/>
              <p:nvPr/>
            </p:nvSpPr>
            <p:spPr>
              <a:xfrm>
                <a:off x="7629525" y="11887200"/>
                <a:ext cx="990600" cy="990600"/>
              </a:xfrm>
              <a:prstGeom prst="ellipse">
                <a:avLst/>
              </a:prstGeom>
              <a:solidFill>
                <a:srgbClr val="FE7F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item-3-icon-house"/>
              <p:cNvSpPr/>
              <p:nvPr/>
            </p:nvSpPr>
            <p:spPr>
              <a:xfrm>
                <a:off x="7915275" y="12163425"/>
                <a:ext cx="419100" cy="442913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42913">
                    <a:moveTo>
                      <a:pt x="209550" y="0"/>
                    </a:moveTo>
                    <a:lnTo>
                      <a:pt x="419100" y="209550"/>
                    </a:lnTo>
                    <a:lnTo>
                      <a:pt x="419100" y="442913"/>
                    </a:lnTo>
                    <a:lnTo>
                      <a:pt x="0" y="442913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item-3-icon-door"/>
              <p:cNvSpPr/>
              <p:nvPr/>
            </p:nvSpPr>
            <p:spPr>
              <a:xfrm>
                <a:off x="8105775" y="12353925"/>
                <a:ext cx="38100" cy="133350"/>
              </a:xfrm>
              <a:prstGeom prst="rect">
                <a:avLst/>
              </a:prstGeom>
              <a:solidFill>
                <a:srgbClr val="FE7F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" name="item-3-title"/>
            <p:cNvSpPr txBox="1"/>
            <p:nvPr/>
          </p:nvSpPr>
          <p:spPr>
            <a:xfrm>
              <a:off x="9048750" y="11733800"/>
              <a:ext cx="5314950" cy="7319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明确下个月的任务计划</a:t>
              </a:r>
            </a:p>
          </p:txBody>
        </p:sp>
        <p:sp>
          <p:nvSpPr>
            <p:cNvPr id="27" name="item-3-desc1"/>
            <p:cNvSpPr txBox="1"/>
            <p:nvPr/>
          </p:nvSpPr>
          <p:spPr>
            <a:xfrm>
              <a:off x="9020175" y="12759690"/>
              <a:ext cx="63531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制定下个月的明确任务计划，汇总到</a:t>
              </a:r>
            </a:p>
          </p:txBody>
        </p:sp>
        <p:sp>
          <p:nvSpPr>
            <p:cNvPr id="28" name="item-3-desc2"/>
            <p:cNvSpPr txBox="1"/>
            <p:nvPr/>
          </p:nvSpPr>
          <p:spPr>
            <a:xfrm>
              <a:off x="9020175" y="13359765"/>
              <a:ext cx="58293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项目经理，由项目经理督促完成。</a:t>
              </a:r>
            </a:p>
          </p:txBody>
        </p:sp>
      </p:grpSp>
      <p:grpSp>
        <p:nvGrpSpPr>
          <p:cNvPr id="55" name="item-4"/>
          <p:cNvGrpSpPr/>
          <p:nvPr/>
        </p:nvGrpSpPr>
        <p:grpSpPr>
          <a:xfrm>
            <a:off x="16706850" y="3609975"/>
            <a:ext cx="11801475" cy="3438525"/>
            <a:chOff x="16706850" y="3609975"/>
            <a:chExt cx="11801475" cy="3438525"/>
          </a:xfrm>
        </p:grpSpPr>
        <p:pic>
          <p:nvPicPr>
            <p:cNvPr id="29" name="item-4-thumb" descr="_photo_item_4_thumb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06850" y="3609975"/>
              <a:ext cx="3438525" cy="3438525"/>
            </a:xfrm>
            <a:prstGeom prst="rect">
              <a:avLst/>
            </a:prstGeom>
            <a:effectLst/>
          </p:spPr>
        </p:pic>
        <p:grpSp>
          <p:nvGrpSpPr>
            <p:cNvPr id="49" name="item-4-icon"/>
            <p:cNvGrpSpPr/>
            <p:nvPr/>
          </p:nvGrpSpPr>
          <p:grpSpPr>
            <a:xfrm>
              <a:off x="20754975" y="4371975"/>
              <a:ext cx="990600" cy="990600"/>
              <a:chOff x="20754975" y="4371975"/>
              <a:chExt cx="990600" cy="990600"/>
            </a:xfrm>
          </p:grpSpPr>
          <p:sp>
            <p:nvSpPr>
              <p:cNvPr id="30" name="item-4-icon-circ"/>
              <p:cNvSpPr/>
              <p:nvPr/>
            </p:nvSpPr>
            <p:spPr>
              <a:xfrm>
                <a:off x="20754975" y="4371975"/>
                <a:ext cx="990600" cy="990600"/>
              </a:xfrm>
              <a:prstGeom prst="ellipse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item-4-icon-house"/>
              <p:cNvSpPr/>
              <p:nvPr/>
            </p:nvSpPr>
            <p:spPr>
              <a:xfrm>
                <a:off x="21040725" y="4648200"/>
                <a:ext cx="419100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42912">
                    <a:moveTo>
                      <a:pt x="209550" y="0"/>
                    </a:moveTo>
                    <a:lnTo>
                      <a:pt x="419100" y="209550"/>
                    </a:lnTo>
                    <a:lnTo>
                      <a:pt x="419100" y="442912"/>
                    </a:lnTo>
                    <a:lnTo>
                      <a:pt x="0" y="442912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item-4-icon-door"/>
              <p:cNvSpPr/>
              <p:nvPr/>
            </p:nvSpPr>
            <p:spPr>
              <a:xfrm>
                <a:off x="21231225" y="4838700"/>
                <a:ext cx="38100" cy="133350"/>
              </a:xfrm>
              <a:prstGeom prst="rect">
                <a:avLst/>
              </a:prstGeom>
              <a:solidFill>
                <a:srgbClr val="447D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" name="item-4-title"/>
            <p:cNvSpPr txBox="1"/>
            <p:nvPr/>
          </p:nvSpPr>
          <p:spPr>
            <a:xfrm>
              <a:off x="22117050" y="4237625"/>
              <a:ext cx="5362575" cy="7319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传帮带，快速独立工作</a:t>
              </a:r>
            </a:p>
          </p:txBody>
        </p:sp>
        <p:sp>
          <p:nvSpPr>
            <p:cNvPr id="34" name="item-4-desc1"/>
            <p:cNvSpPr txBox="1"/>
            <p:nvPr/>
          </p:nvSpPr>
          <p:spPr>
            <a:xfrm>
              <a:off x="22136100" y="4968240"/>
              <a:ext cx="63246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利用之前积累的经验，以及上期项目</a:t>
              </a:r>
            </a:p>
          </p:txBody>
        </p:sp>
        <p:sp>
          <p:nvSpPr>
            <p:cNvPr id="35" name="item-4-desc2"/>
            <p:cNvSpPr txBox="1"/>
            <p:nvPr/>
          </p:nvSpPr>
          <p:spPr>
            <a:xfrm>
              <a:off x="22136100" y="5568315"/>
              <a:ext cx="637222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服务人员的经验，总结出快速进入工</a:t>
              </a:r>
            </a:p>
          </p:txBody>
        </p:sp>
        <p:sp>
          <p:nvSpPr>
            <p:cNvPr id="36" name="item-4-desc3"/>
            <p:cNvSpPr txBox="1"/>
            <p:nvPr/>
          </p:nvSpPr>
          <p:spPr>
            <a:xfrm>
              <a:off x="22136100" y="6158865"/>
              <a:ext cx="279082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作角色的方法；</a:t>
              </a:r>
            </a:p>
          </p:txBody>
        </p:sp>
      </p:grpSp>
      <p:grpSp>
        <p:nvGrpSpPr>
          <p:cNvPr id="57" name="item-5"/>
          <p:cNvGrpSpPr/>
          <p:nvPr/>
        </p:nvGrpSpPr>
        <p:grpSpPr>
          <a:xfrm>
            <a:off x="16687800" y="7715250"/>
            <a:ext cx="11820525" cy="3448050"/>
            <a:chOff x="16687800" y="7715250"/>
            <a:chExt cx="11820525" cy="3448050"/>
          </a:xfrm>
        </p:grpSpPr>
        <p:pic>
          <p:nvPicPr>
            <p:cNvPr id="37" name="item-5-thumb" descr="_photo_item_5_thumb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687800" y="7715250"/>
              <a:ext cx="3467100" cy="3448050"/>
            </a:xfrm>
            <a:prstGeom prst="rect">
              <a:avLst/>
            </a:prstGeom>
            <a:effectLst/>
          </p:spPr>
        </p:pic>
        <p:grpSp>
          <p:nvGrpSpPr>
            <p:cNvPr id="52" name="item-5-icon"/>
            <p:cNvGrpSpPr/>
            <p:nvPr/>
          </p:nvGrpSpPr>
          <p:grpSpPr>
            <a:xfrm>
              <a:off x="20754975" y="8124825"/>
              <a:ext cx="990600" cy="990600"/>
              <a:chOff x="20754975" y="8124825"/>
              <a:chExt cx="990600" cy="990600"/>
            </a:xfrm>
          </p:grpSpPr>
          <p:sp>
            <p:nvSpPr>
              <p:cNvPr id="38" name="item-5-icon-circ"/>
              <p:cNvSpPr/>
              <p:nvPr/>
            </p:nvSpPr>
            <p:spPr>
              <a:xfrm>
                <a:off x="20754975" y="8124825"/>
                <a:ext cx="990600" cy="990600"/>
              </a:xfrm>
              <a:prstGeom prst="ellipse">
                <a:avLst/>
              </a:prstGeom>
              <a:solidFill>
                <a:srgbClr val="FFCB5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item-5-icon-house"/>
              <p:cNvSpPr/>
              <p:nvPr/>
            </p:nvSpPr>
            <p:spPr>
              <a:xfrm>
                <a:off x="21040725" y="8401050"/>
                <a:ext cx="419100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42912">
                    <a:moveTo>
                      <a:pt x="209550" y="0"/>
                    </a:moveTo>
                    <a:lnTo>
                      <a:pt x="419100" y="209550"/>
                    </a:lnTo>
                    <a:lnTo>
                      <a:pt x="419100" y="442912"/>
                    </a:lnTo>
                    <a:lnTo>
                      <a:pt x="0" y="442912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item-5-icon-door"/>
              <p:cNvSpPr/>
              <p:nvPr/>
            </p:nvSpPr>
            <p:spPr>
              <a:xfrm>
                <a:off x="21231225" y="8591550"/>
                <a:ext cx="38100" cy="133350"/>
              </a:xfrm>
              <a:prstGeom prst="rect">
                <a:avLst/>
              </a:prstGeom>
              <a:solidFill>
                <a:srgbClr val="FFCB5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1" name="item-5-title"/>
            <p:cNvSpPr txBox="1"/>
            <p:nvPr/>
          </p:nvSpPr>
          <p:spPr>
            <a:xfrm>
              <a:off x="22117050" y="8009525"/>
              <a:ext cx="4838700" cy="7319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1" i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运维和细化组织架构</a:t>
              </a:r>
            </a:p>
          </p:txBody>
        </p:sp>
        <p:sp>
          <p:nvSpPr>
            <p:cNvPr id="42" name="item-5-desc1"/>
            <p:cNvSpPr txBox="1"/>
            <p:nvPr/>
          </p:nvSpPr>
          <p:spPr>
            <a:xfrm>
              <a:off x="22155150" y="9054465"/>
              <a:ext cx="63531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明确该组织角色职责设置，以便迅速</a:t>
              </a:r>
            </a:p>
          </p:txBody>
        </p:sp>
        <p:sp>
          <p:nvSpPr>
            <p:cNvPr id="43" name="item-5-desc2"/>
            <p:cNvSpPr txBox="1"/>
            <p:nvPr/>
          </p:nvSpPr>
          <p:spPr>
            <a:xfrm>
              <a:off x="22155150" y="9654540"/>
              <a:ext cx="50673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868686"/>
                  </a:solidFill>
                  <a:latin typeface="Microsoft YaHei"/>
                  <a:ea typeface="Microsoft YaHei"/>
                  <a:cs typeface="Microsoft YaHei"/>
                </a:rPr>
                <a:t>依托运维开展日常管理工作；</a:t>
              </a:r>
            </a:p>
          </p:txBody>
        </p:sp>
      </p:grpSp>
      <p:cxnSp>
        <p:nvCxnSpPr>
          <p:cNvPr id="44" name="sep-1"/>
          <p:cNvCxnSpPr/>
          <p:nvPr/>
        </p:nvCxnSpPr>
        <p:spPr>
          <a:xfrm>
            <a:off x="7705725" y="7372350"/>
            <a:ext cx="7496175" cy="0"/>
          </a:xfrm>
          <a:prstGeom prst="line">
            <a:avLst/>
          </a:prstGeom>
          <a:ln w="28575">
            <a:solidFill>
              <a:srgbClr val="BEBEBE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ep-2"/>
          <p:cNvCxnSpPr/>
          <p:nvPr/>
        </p:nvCxnSpPr>
        <p:spPr>
          <a:xfrm>
            <a:off x="20821650" y="7372350"/>
            <a:ext cx="7505700" cy="0"/>
          </a:xfrm>
          <a:prstGeom prst="line">
            <a:avLst/>
          </a:prstGeom>
          <a:ln w="28575">
            <a:solidFill>
              <a:srgbClr val="BEBEBE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ep-3"/>
          <p:cNvCxnSpPr/>
          <p:nvPr/>
        </p:nvCxnSpPr>
        <p:spPr>
          <a:xfrm>
            <a:off x="7705725" y="11125200"/>
            <a:ext cx="7496175" cy="0"/>
          </a:xfrm>
          <a:prstGeom prst="line">
            <a:avLst/>
          </a:prstGeom>
          <a:ln w="28575">
            <a:solidFill>
              <a:srgbClr val="BEBEBE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