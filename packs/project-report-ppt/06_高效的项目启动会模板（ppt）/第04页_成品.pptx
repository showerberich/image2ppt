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frame-top"/>
          <p:cNvCxnSpPr/>
          <p:nvPr/>
        </p:nvCxnSpPr>
        <p:spPr>
          <a:xfrm>
            <a:off x="0" y="33338"/>
            <a:ext cx="30470475" cy="0"/>
          </a:xfrm>
          <a:prstGeom prst="line">
            <a:avLst/>
          </a:prstGeom>
          <a:ln w="19050">
            <a:solidFill>
              <a:srgbClr val="808080"/>
            </a:solidFill>
          </a:ln>
          <a:effectLst/>
        </p:spPr>
      </p:cxnSp>
      <p:cxnSp>
        <p:nvCxnSpPr>
          <p:cNvPr id="4" name="frame-left"/>
          <p:cNvCxnSpPr/>
          <p:nvPr/>
        </p:nvCxnSpPr>
        <p:spPr>
          <a:xfrm>
            <a:off x="4762" y="0"/>
            <a:ext cx="0" cy="17135475"/>
          </a:xfrm>
          <a:prstGeom prst="line">
            <a:avLst/>
          </a:prstGeom>
          <a:ln w="19050">
            <a:solidFill>
              <a:srgbClr val="808080"/>
            </a:solidFill>
          </a:ln>
          <a:effectLst/>
        </p:spPr>
      </p:cxnSp>
      <p:cxnSp>
        <p:nvCxnSpPr>
          <p:cNvPr id="5" name="frame-right"/>
          <p:cNvCxnSpPr/>
          <p:nvPr/>
        </p:nvCxnSpPr>
        <p:spPr>
          <a:xfrm>
            <a:off x="30460950" y="0"/>
            <a:ext cx="0" cy="17135475"/>
          </a:xfrm>
          <a:prstGeom prst="line">
            <a:avLst/>
          </a:prstGeom>
          <a:ln w="19050">
            <a:solidFill>
              <a:srgbClr val="808080"/>
            </a:solidFill>
          </a:ln>
          <a:effectLst/>
        </p:spPr>
      </p:cxnSp>
      <p:grpSp>
        <p:nvGrpSpPr>
          <p:cNvPr id="83" name="hdr-blue-grp"/>
          <p:cNvGrpSpPr/>
          <p:nvPr/>
        </p:nvGrpSpPr>
        <p:grpSpPr>
          <a:xfrm>
            <a:off x="871538" y="900112"/>
            <a:ext cx="6391275" cy="1571625"/>
            <a:chOff x="871538" y="900112"/>
            <a:chExt cx="6391275" cy="1571625"/>
          </a:xfrm>
        </p:grpSpPr>
        <p:sp>
          <p:nvSpPr>
            <p:cNvPr id="6" name="hdr-blue"/>
            <p:cNvSpPr/>
            <p:nvPr/>
          </p:nvSpPr>
          <p:spPr>
            <a:xfrm>
              <a:off x="871538" y="900112"/>
              <a:ext cx="6391275" cy="1571625"/>
            </a:xfrm>
            <a:prstGeom prst="rect">
              <a:avLst/>
            </a:prstGeom>
            <a:solidFill>
              <a:srgbClr val="003F96"/>
            </a:solidFill>
            <a:ln w="9525">
              <a:solidFill>
                <a:srgbClr val="003F9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dr-blue-t"/>
            <p:cNvSpPr txBox="1"/>
            <p:nvPr/>
          </p:nvSpPr>
          <p:spPr>
            <a:xfrm>
              <a:off x="3505200" y="1381125"/>
              <a:ext cx="11430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前言</a:t>
              </a:r>
            </a:p>
          </p:txBody>
        </p:sp>
      </p:grpSp>
      <p:grpSp>
        <p:nvGrpSpPr>
          <p:cNvPr id="76" name="hdr-panel-grp"/>
          <p:cNvGrpSpPr/>
          <p:nvPr/>
        </p:nvGrpSpPr>
        <p:grpSpPr>
          <a:xfrm>
            <a:off x="7296150" y="914400"/>
            <a:ext cx="22288500" cy="1533525"/>
            <a:chOff x="7296150" y="914400"/>
            <a:chExt cx="22288500" cy="1533525"/>
          </a:xfrm>
        </p:grpSpPr>
        <p:sp>
          <p:nvSpPr>
            <p:cNvPr id="8" name="hdr-panel"/>
            <p:cNvSpPr/>
            <p:nvPr/>
          </p:nvSpPr>
          <p:spPr>
            <a:xfrm>
              <a:off x="7296150" y="914400"/>
              <a:ext cx="22288500" cy="1533525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D8CBB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dr-panel-t"/>
            <p:cNvSpPr txBox="1"/>
            <p:nvPr/>
          </p:nvSpPr>
          <p:spPr>
            <a:xfrm>
              <a:off x="16040100" y="1390650"/>
              <a:ext cx="48006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6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项目周期，简单做个周期示例</a:t>
              </a:r>
            </a:p>
          </p:txBody>
        </p:sp>
      </p:grpSp>
      <p:sp>
        <p:nvSpPr>
          <p:cNvPr id="10" name="grp-contract"/>
          <p:cNvSpPr/>
          <p:nvPr/>
        </p:nvSpPr>
        <p:spPr>
          <a:xfrm>
            <a:off x="10506075" y="5391150"/>
            <a:ext cx="2705100" cy="5619750"/>
          </a:xfrm>
          <a:prstGeom prst="rect">
            <a:avLst/>
          </a:prstGeom>
          <a:noFill/>
          <a:ln w="19050">
            <a:solidFill>
              <a:srgbClr val="444444"/>
            </a:solidFill>
            <a:custDash>
              <a:ds d="1350000" sp="6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grp-poc"/>
          <p:cNvSpPr/>
          <p:nvPr/>
        </p:nvSpPr>
        <p:spPr>
          <a:xfrm>
            <a:off x="18049875" y="5648325"/>
            <a:ext cx="2466975" cy="5162550"/>
          </a:xfrm>
          <a:prstGeom prst="rect">
            <a:avLst/>
          </a:prstGeom>
          <a:noFill/>
          <a:ln w="19050">
            <a:solidFill>
              <a:srgbClr val="444444"/>
            </a:solidFill>
            <a:custDash>
              <a:ds d="1350000" sp="6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ar-1"/>
          <p:cNvCxnSpPr/>
          <p:nvPr/>
        </p:nvCxnSpPr>
        <p:spPr>
          <a:xfrm>
            <a:off x="4533900" y="8210550"/>
            <a:ext cx="666750" cy="0"/>
          </a:xfrm>
          <a:prstGeom prst="line">
            <a:avLst/>
          </a:prstGeom>
          <a:ln w="19050">
            <a:solidFill>
              <a:srgbClr val="191919"/>
            </a:solidFill>
          </a:ln>
          <a:effectLst/>
        </p:spPr>
      </p:cxnSp>
      <p:sp>
        <p:nvSpPr>
          <p:cNvPr id="13" name="ar-1-h"/>
          <p:cNvSpPr/>
          <p:nvPr/>
        </p:nvSpPr>
        <p:spPr>
          <a:xfrm>
            <a:off x="5181600" y="8124825"/>
            <a:ext cx="142875" cy="171450"/>
          </a:xfrm>
          <a:custGeom>
            <a:avLst/>
            <a:gdLst/>
            <a:ahLst/>
            <a:cxnLst/>
            <a:rect l="l" t="t" r="r" b="b"/>
            <a:pathLst>
              <a:path w="142875" h="171450">
                <a:moveTo>
                  <a:pt x="142875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191919"/>
          </a:solidFill>
          <a:ln w="9525">
            <a:solidFill>
              <a:srgbClr val="1919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ar-2"/>
          <p:cNvCxnSpPr/>
          <p:nvPr/>
        </p:nvCxnSpPr>
        <p:spPr>
          <a:xfrm>
            <a:off x="6791325" y="8210550"/>
            <a:ext cx="1333500" cy="0"/>
          </a:xfrm>
          <a:prstGeom prst="line">
            <a:avLst/>
          </a:prstGeom>
          <a:ln w="19050">
            <a:solidFill>
              <a:srgbClr val="191919"/>
            </a:solidFill>
          </a:ln>
          <a:effectLst/>
        </p:spPr>
      </p:cxnSp>
      <p:sp>
        <p:nvSpPr>
          <p:cNvPr id="15" name="ar-2-h"/>
          <p:cNvSpPr/>
          <p:nvPr/>
        </p:nvSpPr>
        <p:spPr>
          <a:xfrm>
            <a:off x="8105775" y="8124825"/>
            <a:ext cx="142875" cy="171450"/>
          </a:xfrm>
          <a:custGeom>
            <a:avLst/>
            <a:gdLst/>
            <a:ahLst/>
            <a:cxnLst/>
            <a:rect l="l" t="t" r="r" b="b"/>
            <a:pathLst>
              <a:path w="142875" h="171450">
                <a:moveTo>
                  <a:pt x="142875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191919"/>
          </a:solidFill>
          <a:ln w="9525">
            <a:solidFill>
              <a:srgbClr val="1919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ar-3"/>
          <p:cNvCxnSpPr/>
          <p:nvPr/>
        </p:nvCxnSpPr>
        <p:spPr>
          <a:xfrm>
            <a:off x="9839325" y="8210550"/>
            <a:ext cx="533400" cy="0"/>
          </a:xfrm>
          <a:prstGeom prst="line">
            <a:avLst/>
          </a:prstGeom>
          <a:ln w="19050">
            <a:solidFill>
              <a:srgbClr val="191919"/>
            </a:solidFill>
          </a:ln>
          <a:effectLst/>
        </p:spPr>
      </p:cxnSp>
      <p:sp>
        <p:nvSpPr>
          <p:cNvPr id="17" name="ar-3-h"/>
          <p:cNvSpPr/>
          <p:nvPr/>
        </p:nvSpPr>
        <p:spPr>
          <a:xfrm>
            <a:off x="10353675" y="8124825"/>
            <a:ext cx="142875" cy="171450"/>
          </a:xfrm>
          <a:custGeom>
            <a:avLst/>
            <a:gdLst/>
            <a:ahLst/>
            <a:cxnLst/>
            <a:rect l="l" t="t" r="r" b="b"/>
            <a:pathLst>
              <a:path w="142875" h="171450">
                <a:moveTo>
                  <a:pt x="142875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191919"/>
          </a:solidFill>
          <a:ln w="9525">
            <a:solidFill>
              <a:srgbClr val="1919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" name="ar-4"/>
          <p:cNvCxnSpPr/>
          <p:nvPr/>
        </p:nvCxnSpPr>
        <p:spPr>
          <a:xfrm>
            <a:off x="13220700" y="8210550"/>
            <a:ext cx="742950" cy="0"/>
          </a:xfrm>
          <a:prstGeom prst="line">
            <a:avLst/>
          </a:prstGeom>
          <a:ln w="19050">
            <a:solidFill>
              <a:srgbClr val="191919"/>
            </a:solidFill>
          </a:ln>
          <a:effectLst/>
        </p:spPr>
      </p:cxnSp>
      <p:sp>
        <p:nvSpPr>
          <p:cNvPr id="19" name="ar-4-h"/>
          <p:cNvSpPr/>
          <p:nvPr/>
        </p:nvSpPr>
        <p:spPr>
          <a:xfrm>
            <a:off x="13944600" y="8124825"/>
            <a:ext cx="142875" cy="171450"/>
          </a:xfrm>
          <a:custGeom>
            <a:avLst/>
            <a:gdLst/>
            <a:ahLst/>
            <a:cxnLst/>
            <a:rect l="l" t="t" r="r" b="b"/>
            <a:pathLst>
              <a:path w="142875" h="171450">
                <a:moveTo>
                  <a:pt x="142875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191919"/>
          </a:solidFill>
          <a:ln w="9525">
            <a:solidFill>
              <a:srgbClr val="1919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ar-5"/>
          <p:cNvCxnSpPr/>
          <p:nvPr/>
        </p:nvCxnSpPr>
        <p:spPr>
          <a:xfrm>
            <a:off x="14668500" y="8210550"/>
            <a:ext cx="428625" cy="0"/>
          </a:xfrm>
          <a:prstGeom prst="line">
            <a:avLst/>
          </a:prstGeom>
          <a:ln w="19050">
            <a:solidFill>
              <a:srgbClr val="191919"/>
            </a:solidFill>
          </a:ln>
          <a:effectLst/>
        </p:spPr>
      </p:cxnSp>
      <p:sp>
        <p:nvSpPr>
          <p:cNvPr id="21" name="ar-5-h"/>
          <p:cNvSpPr/>
          <p:nvPr/>
        </p:nvSpPr>
        <p:spPr>
          <a:xfrm>
            <a:off x="15078075" y="8124825"/>
            <a:ext cx="142875" cy="171450"/>
          </a:xfrm>
          <a:custGeom>
            <a:avLst/>
            <a:gdLst/>
            <a:ahLst/>
            <a:cxnLst/>
            <a:rect l="l" t="t" r="r" b="b"/>
            <a:pathLst>
              <a:path w="142875" h="171450">
                <a:moveTo>
                  <a:pt x="142875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191919"/>
          </a:solidFill>
          <a:ln w="9525">
            <a:solidFill>
              <a:srgbClr val="1919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ar-6"/>
          <p:cNvCxnSpPr/>
          <p:nvPr/>
        </p:nvCxnSpPr>
        <p:spPr>
          <a:xfrm>
            <a:off x="17145000" y="8210550"/>
            <a:ext cx="771525" cy="0"/>
          </a:xfrm>
          <a:prstGeom prst="line">
            <a:avLst/>
          </a:prstGeom>
          <a:ln w="19050">
            <a:solidFill>
              <a:srgbClr val="191919"/>
            </a:solidFill>
          </a:ln>
          <a:effectLst/>
        </p:spPr>
      </p:cxnSp>
      <p:sp>
        <p:nvSpPr>
          <p:cNvPr id="23" name="ar-6-h"/>
          <p:cNvSpPr/>
          <p:nvPr/>
        </p:nvSpPr>
        <p:spPr>
          <a:xfrm>
            <a:off x="17897475" y="8124825"/>
            <a:ext cx="142875" cy="171450"/>
          </a:xfrm>
          <a:custGeom>
            <a:avLst/>
            <a:gdLst/>
            <a:ahLst/>
            <a:cxnLst/>
            <a:rect l="l" t="t" r="r" b="b"/>
            <a:pathLst>
              <a:path w="142875" h="171450">
                <a:moveTo>
                  <a:pt x="142875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191919"/>
          </a:solidFill>
          <a:ln w="9525">
            <a:solidFill>
              <a:srgbClr val="1919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ar-7"/>
          <p:cNvCxnSpPr/>
          <p:nvPr/>
        </p:nvCxnSpPr>
        <p:spPr>
          <a:xfrm>
            <a:off x="20526375" y="8210550"/>
            <a:ext cx="1295400" cy="0"/>
          </a:xfrm>
          <a:prstGeom prst="line">
            <a:avLst/>
          </a:prstGeom>
          <a:ln w="19050">
            <a:solidFill>
              <a:srgbClr val="191919"/>
            </a:solidFill>
          </a:ln>
          <a:effectLst/>
        </p:spPr>
      </p:cxnSp>
      <p:sp>
        <p:nvSpPr>
          <p:cNvPr id="25" name="ar-7-h"/>
          <p:cNvSpPr/>
          <p:nvPr/>
        </p:nvSpPr>
        <p:spPr>
          <a:xfrm>
            <a:off x="21802725" y="8124825"/>
            <a:ext cx="142875" cy="171450"/>
          </a:xfrm>
          <a:custGeom>
            <a:avLst/>
            <a:gdLst/>
            <a:ahLst/>
            <a:cxnLst/>
            <a:rect l="l" t="t" r="r" b="b"/>
            <a:pathLst>
              <a:path w="142875" h="171450">
                <a:moveTo>
                  <a:pt x="142875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191919"/>
          </a:solidFill>
          <a:ln w="9525">
            <a:solidFill>
              <a:srgbClr val="1919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ar-8"/>
          <p:cNvCxnSpPr/>
          <p:nvPr/>
        </p:nvCxnSpPr>
        <p:spPr>
          <a:xfrm>
            <a:off x="24231600" y="8210550"/>
            <a:ext cx="762000" cy="0"/>
          </a:xfrm>
          <a:prstGeom prst="line">
            <a:avLst/>
          </a:prstGeom>
          <a:ln w="19050">
            <a:solidFill>
              <a:srgbClr val="191919"/>
            </a:solidFill>
          </a:ln>
          <a:effectLst/>
        </p:spPr>
      </p:cxnSp>
      <p:sp>
        <p:nvSpPr>
          <p:cNvPr id="27" name="ar-8-h"/>
          <p:cNvSpPr/>
          <p:nvPr/>
        </p:nvSpPr>
        <p:spPr>
          <a:xfrm>
            <a:off x="24974550" y="8124825"/>
            <a:ext cx="142875" cy="171450"/>
          </a:xfrm>
          <a:custGeom>
            <a:avLst/>
            <a:gdLst/>
            <a:ahLst/>
            <a:cxnLst/>
            <a:rect l="l" t="t" r="r" b="b"/>
            <a:pathLst>
              <a:path w="142875" h="171450">
                <a:moveTo>
                  <a:pt x="142875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191919"/>
          </a:solidFill>
          <a:ln w="9525">
            <a:solidFill>
              <a:srgbClr val="1919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fb-adj-1"/>
          <p:cNvCxnSpPr/>
          <p:nvPr/>
        </p:nvCxnSpPr>
        <p:spPr>
          <a:xfrm>
            <a:off x="23088600" y="8829675"/>
            <a:ext cx="0" cy="666750"/>
          </a:xfrm>
          <a:prstGeom prst="line">
            <a:avLst/>
          </a:prstGeom>
          <a:ln w="19050">
            <a:solidFill>
              <a:srgbClr val="191919"/>
            </a:solidFill>
          </a:ln>
          <a:effectLst/>
        </p:spPr>
      </p:cxnSp>
      <p:cxnSp>
        <p:nvCxnSpPr>
          <p:cNvPr id="29" name="fb-adj-2"/>
          <p:cNvCxnSpPr/>
          <p:nvPr/>
        </p:nvCxnSpPr>
        <p:spPr>
          <a:xfrm>
            <a:off x="20554950" y="9496425"/>
            <a:ext cx="2533650" cy="0"/>
          </a:xfrm>
          <a:prstGeom prst="line">
            <a:avLst/>
          </a:prstGeom>
          <a:ln w="19050">
            <a:solidFill>
              <a:srgbClr val="191919"/>
            </a:solidFill>
          </a:ln>
          <a:effectLst/>
        </p:spPr>
      </p:cxnSp>
      <p:sp>
        <p:nvSpPr>
          <p:cNvPr id="30" name="fb-adj-h"/>
          <p:cNvSpPr/>
          <p:nvPr/>
        </p:nvSpPr>
        <p:spPr>
          <a:xfrm>
            <a:off x="20412075" y="9410700"/>
            <a:ext cx="142875" cy="171450"/>
          </a:xfrm>
          <a:custGeom>
            <a:avLst/>
            <a:gdLst/>
            <a:ahLst/>
            <a:cxnLst/>
            <a:rect l="l" t="t" r="r" b="b"/>
            <a:pathLst>
              <a:path w="142875" h="171450">
                <a:moveTo>
                  <a:pt x="0" y="85725"/>
                </a:moveTo>
                <a:lnTo>
                  <a:pt x="142875" y="0"/>
                </a:lnTo>
                <a:lnTo>
                  <a:pt x="142875" y="171450"/>
                </a:lnTo>
                <a:close/>
              </a:path>
            </a:pathLst>
          </a:custGeom>
          <a:solidFill>
            <a:srgbClr val="191919"/>
          </a:solidFill>
          <a:ln w="9525">
            <a:solidFill>
              <a:srgbClr val="1919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fb-rej-1"/>
          <p:cNvCxnSpPr/>
          <p:nvPr/>
        </p:nvCxnSpPr>
        <p:spPr>
          <a:xfrm>
            <a:off x="11858625" y="11020425"/>
            <a:ext cx="0" cy="1038225"/>
          </a:xfrm>
          <a:prstGeom prst="line">
            <a:avLst/>
          </a:prstGeom>
          <a:ln w="19050">
            <a:solidFill>
              <a:srgbClr val="191919"/>
            </a:solidFill>
          </a:ln>
          <a:effectLst/>
        </p:spPr>
      </p:cxnSp>
      <p:cxnSp>
        <p:nvCxnSpPr>
          <p:cNvPr id="32" name="fb-rej-2"/>
          <p:cNvCxnSpPr/>
          <p:nvPr/>
        </p:nvCxnSpPr>
        <p:spPr>
          <a:xfrm>
            <a:off x="9048750" y="12058650"/>
            <a:ext cx="2809875" cy="0"/>
          </a:xfrm>
          <a:prstGeom prst="line">
            <a:avLst/>
          </a:prstGeom>
          <a:ln w="19050">
            <a:solidFill>
              <a:srgbClr val="191919"/>
            </a:solidFill>
          </a:ln>
          <a:effectLst/>
        </p:spPr>
      </p:cxnSp>
      <p:cxnSp>
        <p:nvCxnSpPr>
          <p:cNvPr id="33" name="fb-rej-3"/>
          <p:cNvCxnSpPr/>
          <p:nvPr/>
        </p:nvCxnSpPr>
        <p:spPr>
          <a:xfrm>
            <a:off x="9048750" y="8934450"/>
            <a:ext cx="0" cy="3124200"/>
          </a:xfrm>
          <a:prstGeom prst="line">
            <a:avLst/>
          </a:prstGeom>
          <a:ln w="19050">
            <a:solidFill>
              <a:srgbClr val="191919"/>
            </a:solidFill>
          </a:ln>
          <a:effectLst/>
        </p:spPr>
      </p:cxnSp>
      <p:sp>
        <p:nvSpPr>
          <p:cNvPr id="34" name="fb-rej-h"/>
          <p:cNvSpPr/>
          <p:nvPr/>
        </p:nvSpPr>
        <p:spPr>
          <a:xfrm>
            <a:off x="8963025" y="8791575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85725" y="0"/>
                </a:moveTo>
                <a:lnTo>
                  <a:pt x="0" y="142875"/>
                </a:lnTo>
                <a:lnTo>
                  <a:pt x="171450" y="142875"/>
                </a:lnTo>
                <a:close/>
              </a:path>
            </a:pathLst>
          </a:custGeom>
          <a:solidFill>
            <a:srgbClr val="191919"/>
          </a:solidFill>
          <a:ln w="9525">
            <a:solidFill>
              <a:srgbClr val="1919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" name="fb-fail-1"/>
          <p:cNvCxnSpPr/>
          <p:nvPr/>
        </p:nvCxnSpPr>
        <p:spPr>
          <a:xfrm>
            <a:off x="7505700" y="8210550"/>
            <a:ext cx="0" cy="4752975"/>
          </a:xfrm>
          <a:prstGeom prst="line">
            <a:avLst/>
          </a:prstGeom>
          <a:ln w="19050">
            <a:solidFill>
              <a:srgbClr val="191919"/>
            </a:solidFill>
          </a:ln>
          <a:effectLst/>
        </p:spPr>
      </p:cxnSp>
      <p:cxnSp>
        <p:nvCxnSpPr>
          <p:cNvPr id="36" name="fb-fail-2"/>
          <p:cNvCxnSpPr/>
          <p:nvPr/>
        </p:nvCxnSpPr>
        <p:spPr>
          <a:xfrm>
            <a:off x="7505700" y="12963525"/>
            <a:ext cx="18754725" cy="0"/>
          </a:xfrm>
          <a:prstGeom prst="line">
            <a:avLst/>
          </a:prstGeom>
          <a:ln w="19050">
            <a:solidFill>
              <a:srgbClr val="191919"/>
            </a:solidFill>
          </a:ln>
          <a:effectLst/>
        </p:spPr>
      </p:cxnSp>
      <p:cxnSp>
        <p:nvCxnSpPr>
          <p:cNvPr id="37" name="fb-fail-3"/>
          <p:cNvCxnSpPr/>
          <p:nvPr/>
        </p:nvCxnSpPr>
        <p:spPr>
          <a:xfrm>
            <a:off x="26260425" y="8972550"/>
            <a:ext cx="0" cy="3990975"/>
          </a:xfrm>
          <a:prstGeom prst="line">
            <a:avLst/>
          </a:prstGeom>
          <a:ln w="19050">
            <a:solidFill>
              <a:srgbClr val="191919"/>
            </a:solidFill>
          </a:ln>
          <a:effectLst/>
        </p:spPr>
      </p:cxnSp>
      <p:sp>
        <p:nvSpPr>
          <p:cNvPr id="38" name="fb-fail-h"/>
          <p:cNvSpPr/>
          <p:nvPr/>
        </p:nvSpPr>
        <p:spPr>
          <a:xfrm>
            <a:off x="26174700" y="8829675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85725" y="0"/>
                </a:moveTo>
                <a:lnTo>
                  <a:pt x="0" y="142875"/>
                </a:lnTo>
                <a:lnTo>
                  <a:pt x="171450" y="142875"/>
                </a:lnTo>
                <a:close/>
              </a:path>
            </a:pathLst>
          </a:custGeom>
          <a:solidFill>
            <a:srgbClr val="191919"/>
          </a:solidFill>
          <a:ln w="9525">
            <a:solidFill>
              <a:srgbClr val="1919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75" name="box-init-grp"/>
          <p:cNvGrpSpPr/>
          <p:nvPr/>
        </p:nvGrpSpPr>
        <p:grpSpPr>
          <a:xfrm>
            <a:off x="3057525" y="7624762"/>
            <a:ext cx="1485900" cy="1162050"/>
            <a:chOff x="3057525" y="7624762"/>
            <a:chExt cx="1485900" cy="1162050"/>
          </a:xfrm>
        </p:grpSpPr>
        <p:sp>
          <p:nvSpPr>
            <p:cNvPr id="39" name="box-init"/>
            <p:cNvSpPr/>
            <p:nvPr/>
          </p:nvSpPr>
          <p:spPr>
            <a:xfrm>
              <a:off x="3071812" y="7624762"/>
              <a:ext cx="1457325" cy="1162050"/>
            </a:xfrm>
            <a:prstGeom prst="roundRect">
              <a:avLst>
                <a:gd name="adj" fmla="val 13114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ox-init-t"/>
            <p:cNvSpPr txBox="1"/>
            <p:nvPr/>
          </p:nvSpPr>
          <p:spPr>
            <a:xfrm>
              <a:off x="3057525" y="7986712"/>
              <a:ext cx="148590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项目立项</a:t>
              </a:r>
            </a:p>
          </p:txBody>
        </p:sp>
      </p:grpSp>
      <p:grpSp>
        <p:nvGrpSpPr>
          <p:cNvPr id="82" name="box-est-grp"/>
          <p:cNvGrpSpPr/>
          <p:nvPr/>
        </p:nvGrpSpPr>
        <p:grpSpPr>
          <a:xfrm>
            <a:off x="5324475" y="7624762"/>
            <a:ext cx="1476375" cy="1162050"/>
            <a:chOff x="5324475" y="7624762"/>
            <a:chExt cx="1476375" cy="1162050"/>
          </a:xfrm>
        </p:grpSpPr>
        <p:sp>
          <p:nvSpPr>
            <p:cNvPr id="41" name="box-est"/>
            <p:cNvSpPr/>
            <p:nvPr/>
          </p:nvSpPr>
          <p:spPr>
            <a:xfrm>
              <a:off x="5338762" y="7624762"/>
              <a:ext cx="1447800" cy="1162050"/>
            </a:xfrm>
            <a:prstGeom prst="roundRect">
              <a:avLst>
                <a:gd name="adj" fmla="val 13114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ox-est-t"/>
            <p:cNvSpPr txBox="1"/>
            <p:nvPr/>
          </p:nvSpPr>
          <p:spPr>
            <a:xfrm>
              <a:off x="5324475" y="7986712"/>
              <a:ext cx="1476375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标前测算</a:t>
              </a:r>
            </a:p>
          </p:txBody>
        </p:sp>
      </p:grpSp>
      <p:grpSp>
        <p:nvGrpSpPr>
          <p:cNvPr id="80" name="box-contract-grp"/>
          <p:cNvGrpSpPr/>
          <p:nvPr/>
        </p:nvGrpSpPr>
        <p:grpSpPr>
          <a:xfrm>
            <a:off x="8248650" y="7624762"/>
            <a:ext cx="1600200" cy="1162050"/>
            <a:chOff x="8248650" y="7624762"/>
            <a:chExt cx="1600200" cy="1162050"/>
          </a:xfrm>
        </p:grpSpPr>
        <p:sp>
          <p:nvSpPr>
            <p:cNvPr id="43" name="box-contract"/>
            <p:cNvSpPr/>
            <p:nvPr/>
          </p:nvSpPr>
          <p:spPr>
            <a:xfrm>
              <a:off x="8262938" y="7624762"/>
              <a:ext cx="1571625" cy="1162050"/>
            </a:xfrm>
            <a:prstGeom prst="roundRect">
              <a:avLst>
                <a:gd name="adj" fmla="val 13114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ox-contract-t"/>
            <p:cNvSpPr txBox="1"/>
            <p:nvPr/>
          </p:nvSpPr>
          <p:spPr>
            <a:xfrm>
              <a:off x="8248650" y="7986712"/>
              <a:ext cx="160020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合同签订</a:t>
              </a:r>
            </a:p>
          </p:txBody>
        </p:sp>
      </p:grpSp>
      <p:grpSp>
        <p:nvGrpSpPr>
          <p:cNvPr id="77" name="box-poc-grp"/>
          <p:cNvGrpSpPr/>
          <p:nvPr/>
        </p:nvGrpSpPr>
        <p:grpSpPr>
          <a:xfrm>
            <a:off x="15220950" y="7624762"/>
            <a:ext cx="1933575" cy="1162050"/>
            <a:chOff x="15220950" y="7624762"/>
            <a:chExt cx="1933575" cy="1162050"/>
          </a:xfrm>
        </p:grpSpPr>
        <p:sp>
          <p:nvSpPr>
            <p:cNvPr id="45" name="box-poc"/>
            <p:cNvSpPr/>
            <p:nvPr/>
          </p:nvSpPr>
          <p:spPr>
            <a:xfrm>
              <a:off x="15235238" y="7624762"/>
              <a:ext cx="1905000" cy="1162050"/>
            </a:xfrm>
            <a:prstGeom prst="roundRect">
              <a:avLst>
                <a:gd name="adj" fmla="val 13114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ox-poc-t"/>
            <p:cNvSpPr txBox="1"/>
            <p:nvPr/>
          </p:nvSpPr>
          <p:spPr>
            <a:xfrm>
              <a:off x="15220950" y="7986712"/>
              <a:ext cx="1933575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POC管理</a:t>
              </a:r>
            </a:p>
          </p:txBody>
        </p:sp>
      </p:grpSp>
      <p:grpSp>
        <p:nvGrpSpPr>
          <p:cNvPr id="72" name="box-pay-grp"/>
          <p:cNvGrpSpPr/>
          <p:nvPr/>
        </p:nvGrpSpPr>
        <p:grpSpPr>
          <a:xfrm>
            <a:off x="21945600" y="7662862"/>
            <a:ext cx="2295525" cy="1162050"/>
            <a:chOff x="21945600" y="7662862"/>
            <a:chExt cx="2295525" cy="1162050"/>
          </a:xfrm>
        </p:grpSpPr>
        <p:sp>
          <p:nvSpPr>
            <p:cNvPr id="47" name="box-pay"/>
            <p:cNvSpPr/>
            <p:nvPr/>
          </p:nvSpPr>
          <p:spPr>
            <a:xfrm>
              <a:off x="21959888" y="7662862"/>
              <a:ext cx="2266950" cy="1162050"/>
            </a:xfrm>
            <a:prstGeom prst="roundRect">
              <a:avLst>
                <a:gd name="adj" fmla="val 13114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box-pay-t"/>
            <p:cNvSpPr txBox="1"/>
            <p:nvPr/>
          </p:nvSpPr>
          <p:spPr>
            <a:xfrm>
              <a:off x="21945600" y="8024812"/>
              <a:ext cx="2295525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回款/成果确认</a:t>
              </a:r>
            </a:p>
          </p:txBody>
        </p:sp>
      </p:grpSp>
      <p:grpSp>
        <p:nvGrpSpPr>
          <p:cNvPr id="81" name="box-close-grp"/>
          <p:cNvGrpSpPr/>
          <p:nvPr/>
        </p:nvGrpSpPr>
        <p:grpSpPr>
          <a:xfrm>
            <a:off x="25117425" y="7662862"/>
            <a:ext cx="2286000" cy="1162050"/>
            <a:chOff x="25117425" y="7662862"/>
            <a:chExt cx="2286000" cy="1162050"/>
          </a:xfrm>
        </p:grpSpPr>
        <p:sp>
          <p:nvSpPr>
            <p:cNvPr id="49" name="box-close"/>
            <p:cNvSpPr/>
            <p:nvPr/>
          </p:nvSpPr>
          <p:spPr>
            <a:xfrm>
              <a:off x="25131712" y="7662862"/>
              <a:ext cx="2257425" cy="1162050"/>
            </a:xfrm>
            <a:prstGeom prst="roundRect">
              <a:avLst>
                <a:gd name="adj" fmla="val 13114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ox-close-t"/>
            <p:cNvSpPr txBox="1"/>
            <p:nvPr/>
          </p:nvSpPr>
          <p:spPr>
            <a:xfrm>
              <a:off x="25117425" y="8024812"/>
              <a:ext cx="228600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项目关闭</a:t>
              </a:r>
            </a:p>
          </p:txBody>
        </p:sp>
      </p:grpSp>
      <p:grpSp>
        <p:nvGrpSpPr>
          <p:cNvPr id="78" name="sub-tax-grp"/>
          <p:cNvGrpSpPr/>
          <p:nvPr/>
        </p:nvGrpSpPr>
        <p:grpSpPr>
          <a:xfrm>
            <a:off x="10725150" y="5643562"/>
            <a:ext cx="2266950" cy="914400"/>
            <a:chOff x="10725150" y="5643562"/>
            <a:chExt cx="2266950" cy="914400"/>
          </a:xfrm>
        </p:grpSpPr>
        <p:sp>
          <p:nvSpPr>
            <p:cNvPr id="51" name="sub-tax"/>
            <p:cNvSpPr/>
            <p:nvPr/>
          </p:nvSpPr>
          <p:spPr>
            <a:xfrm>
              <a:off x="10739438" y="5643562"/>
              <a:ext cx="2238375" cy="914400"/>
            </a:xfrm>
            <a:prstGeom prst="roundRect">
              <a:avLst>
                <a:gd name="adj" fmla="val 14583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sub-tax-t"/>
            <p:cNvSpPr txBox="1"/>
            <p:nvPr/>
          </p:nvSpPr>
          <p:spPr>
            <a:xfrm>
              <a:off x="10725150" y="5881688"/>
              <a:ext cx="226695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明确税费</a:t>
              </a:r>
            </a:p>
          </p:txBody>
        </p:sp>
      </p:grpSp>
      <p:grpSp>
        <p:nvGrpSpPr>
          <p:cNvPr id="85" name="sub-pay-grp"/>
          <p:cNvGrpSpPr/>
          <p:nvPr/>
        </p:nvGrpSpPr>
        <p:grpSpPr>
          <a:xfrm>
            <a:off x="10725150" y="6881812"/>
            <a:ext cx="2266950" cy="914400"/>
            <a:chOff x="10725150" y="6881812"/>
            <a:chExt cx="2266950" cy="914400"/>
          </a:xfrm>
        </p:grpSpPr>
        <p:sp>
          <p:nvSpPr>
            <p:cNvPr id="53" name="sub-pay"/>
            <p:cNvSpPr/>
            <p:nvPr/>
          </p:nvSpPr>
          <p:spPr>
            <a:xfrm>
              <a:off x="10739438" y="6881812"/>
              <a:ext cx="2238375" cy="914400"/>
            </a:xfrm>
            <a:prstGeom prst="roundRect">
              <a:avLst>
                <a:gd name="adj" fmla="val 14583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sub-pay-t"/>
            <p:cNvSpPr txBox="1"/>
            <p:nvPr/>
          </p:nvSpPr>
          <p:spPr>
            <a:xfrm>
              <a:off x="10725150" y="7119938"/>
              <a:ext cx="226695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付款节点</a:t>
              </a:r>
            </a:p>
          </p:txBody>
        </p:sp>
      </p:grpSp>
      <p:grpSp>
        <p:nvGrpSpPr>
          <p:cNvPr id="84" name="sub-prot-grp"/>
          <p:cNvGrpSpPr/>
          <p:nvPr/>
        </p:nvGrpSpPr>
        <p:grpSpPr>
          <a:xfrm>
            <a:off x="10725150" y="8120062"/>
            <a:ext cx="2266950" cy="904875"/>
            <a:chOff x="10725150" y="8120062"/>
            <a:chExt cx="2266950" cy="904875"/>
          </a:xfrm>
        </p:grpSpPr>
        <p:sp>
          <p:nvSpPr>
            <p:cNvPr id="55" name="sub-prot"/>
            <p:cNvSpPr/>
            <p:nvPr/>
          </p:nvSpPr>
          <p:spPr>
            <a:xfrm>
              <a:off x="10739438" y="8120062"/>
              <a:ext cx="2238375" cy="904875"/>
            </a:xfrm>
            <a:prstGeom prst="roundRect">
              <a:avLst>
                <a:gd name="adj" fmla="val 14736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sub-prot-t"/>
            <p:cNvSpPr txBox="1"/>
            <p:nvPr/>
          </p:nvSpPr>
          <p:spPr>
            <a:xfrm>
              <a:off x="10725150" y="8353425"/>
              <a:ext cx="226695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保护条款</a:t>
              </a:r>
            </a:p>
          </p:txBody>
        </p:sp>
      </p:grpSp>
      <p:grpSp>
        <p:nvGrpSpPr>
          <p:cNvPr id="73" name="sub-epc-grp"/>
          <p:cNvGrpSpPr/>
          <p:nvPr/>
        </p:nvGrpSpPr>
        <p:grpSpPr>
          <a:xfrm>
            <a:off x="10725150" y="9358312"/>
            <a:ext cx="2266950" cy="1333500"/>
            <a:chOff x="10725150" y="9358312"/>
            <a:chExt cx="2266950" cy="1333500"/>
          </a:xfrm>
        </p:grpSpPr>
        <p:sp>
          <p:nvSpPr>
            <p:cNvPr id="57" name="sub-epc"/>
            <p:cNvSpPr/>
            <p:nvPr/>
          </p:nvSpPr>
          <p:spPr>
            <a:xfrm>
              <a:off x="10739438" y="9358312"/>
              <a:ext cx="2238375" cy="1333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sub-epc-t1"/>
            <p:cNvSpPr txBox="1"/>
            <p:nvPr/>
          </p:nvSpPr>
          <p:spPr>
            <a:xfrm>
              <a:off x="10725150" y="9582150"/>
              <a:ext cx="22669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EPC项目取费</a:t>
              </a:r>
            </a:p>
          </p:txBody>
        </p:sp>
        <p:sp>
          <p:nvSpPr>
            <p:cNvPr id="59" name="sub-epc-t2"/>
            <p:cNvSpPr txBox="1"/>
            <p:nvPr/>
          </p:nvSpPr>
          <p:spPr>
            <a:xfrm>
              <a:off x="10725150" y="10058400"/>
              <a:ext cx="22669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标准</a:t>
              </a:r>
            </a:p>
          </p:txBody>
        </p:sp>
      </p:grpSp>
      <p:grpSp>
        <p:nvGrpSpPr>
          <p:cNvPr id="79" name="sub-poc1-grp"/>
          <p:cNvGrpSpPr/>
          <p:nvPr/>
        </p:nvGrpSpPr>
        <p:grpSpPr>
          <a:xfrm>
            <a:off x="18154650" y="6881812"/>
            <a:ext cx="2266950" cy="914400"/>
            <a:chOff x="18154650" y="6881812"/>
            <a:chExt cx="2266950" cy="914400"/>
          </a:xfrm>
        </p:grpSpPr>
        <p:sp>
          <p:nvSpPr>
            <p:cNvPr id="60" name="sub-poc1"/>
            <p:cNvSpPr/>
            <p:nvPr/>
          </p:nvSpPr>
          <p:spPr>
            <a:xfrm>
              <a:off x="18168938" y="6881812"/>
              <a:ext cx="2238375" cy="914400"/>
            </a:xfrm>
            <a:prstGeom prst="roundRect">
              <a:avLst>
                <a:gd name="adj" fmla="val 14583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sub-poc1-t"/>
            <p:cNvSpPr txBox="1"/>
            <p:nvPr/>
          </p:nvSpPr>
          <p:spPr>
            <a:xfrm>
              <a:off x="18154650" y="7119938"/>
              <a:ext cx="226695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初始POC</a:t>
              </a:r>
            </a:p>
          </p:txBody>
        </p:sp>
      </p:grpSp>
      <p:grpSp>
        <p:nvGrpSpPr>
          <p:cNvPr id="74" name="sub-poc2-grp"/>
          <p:cNvGrpSpPr/>
          <p:nvPr/>
        </p:nvGrpSpPr>
        <p:grpSpPr>
          <a:xfrm>
            <a:off x="18154650" y="8786812"/>
            <a:ext cx="2266950" cy="904875"/>
            <a:chOff x="18154650" y="8786812"/>
            <a:chExt cx="2266950" cy="904875"/>
          </a:xfrm>
        </p:grpSpPr>
        <p:sp>
          <p:nvSpPr>
            <p:cNvPr id="62" name="sub-poc2"/>
            <p:cNvSpPr/>
            <p:nvPr/>
          </p:nvSpPr>
          <p:spPr>
            <a:xfrm>
              <a:off x="18168938" y="8786812"/>
              <a:ext cx="2238375" cy="904875"/>
            </a:xfrm>
            <a:prstGeom prst="roundRect">
              <a:avLst>
                <a:gd name="adj" fmla="val 14736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sub-poc2-t"/>
            <p:cNvSpPr txBox="1"/>
            <p:nvPr/>
          </p:nvSpPr>
          <p:spPr>
            <a:xfrm>
              <a:off x="18154650" y="9020175"/>
              <a:ext cx="226695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POC调整</a:t>
              </a:r>
            </a:p>
          </p:txBody>
        </p:sp>
      </p:grpSp>
      <p:sp>
        <p:nvSpPr>
          <p:cNvPr id="64" name="lbl-zb1"/>
          <p:cNvSpPr txBox="1"/>
          <p:nvPr/>
        </p:nvSpPr>
        <p:spPr>
          <a:xfrm>
            <a:off x="7496175" y="7315200"/>
            <a:ext cx="381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65" name="lbl-zb2"/>
          <p:cNvSpPr txBox="1"/>
          <p:nvPr/>
        </p:nvSpPr>
        <p:spPr>
          <a:xfrm>
            <a:off x="7496175" y="7791450"/>
            <a:ext cx="381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标</a:t>
            </a:r>
          </a:p>
        </p:txBody>
      </p:sp>
      <p:sp>
        <p:nvSpPr>
          <p:cNvPr id="66" name="lbl-tg1"/>
          <p:cNvSpPr txBox="1"/>
          <p:nvPr/>
        </p:nvSpPr>
        <p:spPr>
          <a:xfrm>
            <a:off x="14192250" y="7829550"/>
            <a:ext cx="381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通</a:t>
            </a:r>
          </a:p>
        </p:txBody>
      </p:sp>
      <p:sp>
        <p:nvSpPr>
          <p:cNvPr id="67" name="lbl-tg2"/>
          <p:cNvSpPr txBox="1"/>
          <p:nvPr/>
        </p:nvSpPr>
        <p:spPr>
          <a:xfrm>
            <a:off x="14192250" y="8305800"/>
            <a:ext cx="381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过</a:t>
            </a:r>
          </a:p>
        </p:txBody>
      </p:sp>
      <p:sp>
        <p:nvSpPr>
          <p:cNvPr id="68" name="lbl-rej"/>
          <p:cNvSpPr txBox="1"/>
          <p:nvPr/>
        </p:nvSpPr>
        <p:spPr>
          <a:xfrm>
            <a:off x="9886950" y="11877675"/>
            <a:ext cx="1143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不通过</a:t>
            </a:r>
          </a:p>
        </p:txBody>
      </p:sp>
      <p:sp>
        <p:nvSpPr>
          <p:cNvPr id="69" name="lbl-adj"/>
          <p:cNvSpPr txBox="1"/>
          <p:nvPr/>
        </p:nvSpPr>
        <p:spPr>
          <a:xfrm>
            <a:off x="21069300" y="9734550"/>
            <a:ext cx="16192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调整依据</a:t>
            </a:r>
          </a:p>
        </p:txBody>
      </p:sp>
      <p:sp>
        <p:nvSpPr>
          <p:cNvPr id="70" name="lbl-fail"/>
          <p:cNvSpPr txBox="1"/>
          <p:nvPr/>
        </p:nvSpPr>
        <p:spPr>
          <a:xfrm>
            <a:off x="16192500" y="12211050"/>
            <a:ext cx="1476375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开发失败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