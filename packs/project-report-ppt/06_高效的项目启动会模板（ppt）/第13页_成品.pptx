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5" name="hdr-banner"/>
          <p:cNvGrpSpPr/>
          <p:nvPr/>
        </p:nvGrpSpPr>
        <p:grpSpPr>
          <a:xfrm>
            <a:off x="876300" y="919162"/>
            <a:ext cx="28727400" cy="1604963"/>
            <a:chOff x="876300" y="919162"/>
            <a:chExt cx="28727400" cy="1604963"/>
          </a:xfrm>
        </p:grpSpPr>
        <p:sp>
          <p:nvSpPr>
            <p:cNvPr id="3" name="title-box"/>
            <p:cNvSpPr/>
            <p:nvPr/>
          </p:nvSpPr>
          <p:spPr>
            <a:xfrm>
              <a:off x="876300" y="952500"/>
              <a:ext cx="6381750" cy="1543050"/>
            </a:xfrm>
            <a:prstGeom prst="rect">
              <a:avLst/>
            </a:prstGeom>
            <a:solidFill>
              <a:srgbClr val="013F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itle-text"/>
            <p:cNvSpPr txBox="1"/>
            <p:nvPr/>
          </p:nvSpPr>
          <p:spPr>
            <a:xfrm>
              <a:off x="876300" y="919162"/>
              <a:ext cx="6381750" cy="15430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制定考核OKR指标</a:t>
              </a:r>
            </a:p>
          </p:txBody>
        </p:sp>
        <p:sp>
          <p:nvSpPr>
            <p:cNvPr id="5" name="desc-box"/>
            <p:cNvSpPr/>
            <p:nvPr/>
          </p:nvSpPr>
          <p:spPr>
            <a:xfrm>
              <a:off x="7277100" y="923925"/>
              <a:ext cx="22326600" cy="1600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D5CCB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esc-text"/>
            <p:cNvSpPr txBox="1"/>
            <p:nvPr/>
          </p:nvSpPr>
          <p:spPr>
            <a:xfrm>
              <a:off x="7277100" y="923925"/>
              <a:ext cx="22326600" cy="1600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87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按产品组合、产品、项目团队或个人设置 OKR，将每一个业务OKR都与高级业务目标联系起来，使整个组织围绕核心目标并保持一致。</a:t>
              </a:r>
            </a:p>
          </p:txBody>
        </p:sp>
      </p:grpSp>
      <p:grpSp>
        <p:nvGrpSpPr>
          <p:cNvPr id="51" name="table-grid"/>
          <p:cNvGrpSpPr/>
          <p:nvPr/>
        </p:nvGrpSpPr>
        <p:grpSpPr>
          <a:xfrm>
            <a:off x="3076575" y="3400425"/>
            <a:ext cx="24307800" cy="8286750"/>
            <a:chOff x="3076575" y="3400425"/>
            <a:chExt cx="24307800" cy="8286750"/>
          </a:xfrm>
        </p:grpSpPr>
        <p:sp>
          <p:nvSpPr>
            <p:cNvPr id="7" name="table-frame"/>
            <p:cNvSpPr/>
            <p:nvPr/>
          </p:nvSpPr>
          <p:spPr>
            <a:xfrm>
              <a:off x="3076575" y="3400425"/>
              <a:ext cx="24307800" cy="8286750"/>
            </a:xfrm>
            <a:prstGeom prst="rect">
              <a:avLst/>
            </a:prstGeom>
            <a:noFill/>
            <a:ln w="28575">
              <a:solidFill>
                <a:srgbClr val="A0A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vline-833"/>
            <p:cNvCxnSpPr/>
            <p:nvPr/>
          </p:nvCxnSpPr>
          <p:spPr>
            <a:xfrm>
              <a:off x="7934325" y="3400425"/>
              <a:ext cx="0" cy="8286750"/>
            </a:xfrm>
            <a:prstGeom prst="line">
              <a:avLst/>
            </a:prstGeom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vline-1343"/>
            <p:cNvCxnSpPr/>
            <p:nvPr/>
          </p:nvCxnSpPr>
          <p:spPr>
            <a:xfrm>
              <a:off x="12792075" y="3400425"/>
              <a:ext cx="0" cy="8286750"/>
            </a:xfrm>
            <a:prstGeom prst="line">
              <a:avLst/>
            </a:prstGeom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vline-1853"/>
            <p:cNvCxnSpPr/>
            <p:nvPr/>
          </p:nvCxnSpPr>
          <p:spPr>
            <a:xfrm>
              <a:off x="17649825" y="3400425"/>
              <a:ext cx="0" cy="8286750"/>
            </a:xfrm>
            <a:prstGeom prst="line">
              <a:avLst/>
            </a:prstGeom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vline-2362"/>
            <p:cNvCxnSpPr/>
            <p:nvPr/>
          </p:nvCxnSpPr>
          <p:spPr>
            <a:xfrm>
              <a:off x="22498050" y="3400425"/>
              <a:ext cx="0" cy="8286750"/>
            </a:xfrm>
            <a:prstGeom prst="line">
              <a:avLst/>
            </a:prstGeom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hline-458"/>
            <p:cNvCxnSpPr/>
            <p:nvPr/>
          </p:nvCxnSpPr>
          <p:spPr>
            <a:xfrm>
              <a:off x="3076575" y="4362450"/>
              <a:ext cx="24307800" cy="0"/>
            </a:xfrm>
            <a:prstGeom prst="line">
              <a:avLst/>
            </a:prstGeom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hline-649"/>
            <p:cNvCxnSpPr/>
            <p:nvPr/>
          </p:nvCxnSpPr>
          <p:spPr>
            <a:xfrm>
              <a:off x="3076575" y="6181725"/>
              <a:ext cx="24307800" cy="0"/>
            </a:xfrm>
            <a:prstGeom prst="line">
              <a:avLst/>
            </a:prstGeom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hline-842"/>
            <p:cNvCxnSpPr/>
            <p:nvPr/>
          </p:nvCxnSpPr>
          <p:spPr>
            <a:xfrm>
              <a:off x="3076575" y="8020050"/>
              <a:ext cx="24307800" cy="0"/>
            </a:xfrm>
            <a:prstGeom prst="line">
              <a:avLst/>
            </a:prstGeom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hline-1034"/>
            <p:cNvCxnSpPr/>
            <p:nvPr/>
          </p:nvCxnSpPr>
          <p:spPr>
            <a:xfrm>
              <a:off x="3076575" y="9848850"/>
              <a:ext cx="24307800" cy="0"/>
            </a:xfrm>
            <a:prstGeom prst="line">
              <a:avLst/>
            </a:prstGeom>
            <a:ln w="28575">
              <a:solidFill>
                <a:srgbClr val="A0A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table-header"/>
          <p:cNvGrpSpPr/>
          <p:nvPr/>
        </p:nvGrpSpPr>
        <p:grpSpPr>
          <a:xfrm>
            <a:off x="3314700" y="3400425"/>
            <a:ext cx="21753195" cy="962025"/>
            <a:chOff x="3314700" y="3400425"/>
            <a:chExt cx="21753195" cy="962025"/>
          </a:xfrm>
        </p:grpSpPr>
        <p:sp>
          <p:nvSpPr>
            <p:cNvPr id="16" name="th-1"/>
            <p:cNvSpPr txBox="1"/>
            <p:nvPr/>
          </p:nvSpPr>
          <p:spPr>
            <a:xfrm>
              <a:off x="3314700" y="3400425"/>
              <a:ext cx="790575" cy="962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目标</a:t>
              </a:r>
            </a:p>
          </p:txBody>
        </p:sp>
        <p:sp>
          <p:nvSpPr>
            <p:cNvPr id="17" name="th-2"/>
            <p:cNvSpPr txBox="1"/>
            <p:nvPr/>
          </p:nvSpPr>
          <p:spPr>
            <a:xfrm>
              <a:off x="8172450" y="3400425"/>
              <a:ext cx="1866900" cy="962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</a:t>
              </a:r>
            </a:p>
          </p:txBody>
        </p:sp>
        <p:sp>
          <p:nvSpPr>
            <p:cNvPr id="18" name="th-3"/>
            <p:cNvSpPr txBox="1"/>
            <p:nvPr/>
          </p:nvSpPr>
          <p:spPr>
            <a:xfrm>
              <a:off x="13030200" y="3400425"/>
              <a:ext cx="1219200" cy="962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负责人</a:t>
              </a:r>
            </a:p>
          </p:txBody>
        </p:sp>
        <p:sp>
          <p:nvSpPr>
            <p:cNvPr id="19" name="th-4"/>
            <p:cNvSpPr txBox="1"/>
            <p:nvPr/>
          </p:nvSpPr>
          <p:spPr>
            <a:xfrm>
              <a:off x="17887950" y="3400425"/>
              <a:ext cx="1628775" cy="962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OKR评分</a:t>
              </a:r>
            </a:p>
          </p:txBody>
        </p:sp>
        <p:sp>
          <p:nvSpPr>
            <p:cNvPr id="20" name="th-5"/>
            <p:cNvSpPr txBox="1"/>
            <p:nvPr/>
          </p:nvSpPr>
          <p:spPr>
            <a:xfrm>
              <a:off x="22736175" y="3400425"/>
              <a:ext cx="2331720" cy="962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当前工作产出</a:t>
              </a:r>
            </a:p>
          </p:txBody>
        </p:sp>
      </p:grpSp>
      <p:grpSp>
        <p:nvGrpSpPr>
          <p:cNvPr id="50" name="row-team1"/>
          <p:cNvGrpSpPr/>
          <p:nvPr/>
        </p:nvGrpSpPr>
        <p:grpSpPr>
          <a:xfrm>
            <a:off x="3314700" y="4362450"/>
            <a:ext cx="21802725" cy="1819275"/>
            <a:chOff x="3314700" y="4362450"/>
            <a:chExt cx="21802725" cy="1819275"/>
          </a:xfrm>
        </p:grpSpPr>
        <p:sp>
          <p:nvSpPr>
            <p:cNvPr id="21" name="obj-1"/>
            <p:cNvSpPr txBox="1"/>
            <p:nvPr/>
          </p:nvSpPr>
          <p:spPr>
            <a:xfrm>
              <a:off x="3314700" y="4362450"/>
              <a:ext cx="2133600" cy="18192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Team 1目标</a:t>
              </a:r>
            </a:p>
          </p:txBody>
        </p:sp>
        <p:sp>
          <p:nvSpPr>
            <p:cNvPr id="22" name="kr-1-1"/>
            <p:cNvSpPr txBox="1"/>
            <p:nvPr/>
          </p:nvSpPr>
          <p:spPr>
            <a:xfrm>
              <a:off x="8172450" y="4562475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关键结果A</a:t>
              </a:r>
            </a:p>
          </p:txBody>
        </p:sp>
        <p:sp>
          <p:nvSpPr>
            <p:cNvPr id="23" name="kr-1-2"/>
            <p:cNvSpPr txBox="1"/>
            <p:nvPr/>
          </p:nvSpPr>
          <p:spPr>
            <a:xfrm>
              <a:off x="8172450" y="5067300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关键结果B</a:t>
              </a:r>
            </a:p>
          </p:txBody>
        </p:sp>
        <p:sp>
          <p:nvSpPr>
            <p:cNvPr id="24" name="kr-1-3"/>
            <p:cNvSpPr txBox="1"/>
            <p:nvPr/>
          </p:nvSpPr>
          <p:spPr>
            <a:xfrm>
              <a:off x="8172450" y="5562600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关键结果C</a:t>
              </a:r>
            </a:p>
          </p:txBody>
        </p:sp>
        <p:sp>
          <p:nvSpPr>
            <p:cNvPr id="25" name="owner-1"/>
            <p:cNvSpPr txBox="1"/>
            <p:nvPr/>
          </p:nvSpPr>
          <p:spPr>
            <a:xfrm>
              <a:off x="13030200" y="4362450"/>
              <a:ext cx="666750" cy="18192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xxx</a:t>
              </a:r>
            </a:p>
          </p:txBody>
        </p:sp>
        <p:sp>
          <p:nvSpPr>
            <p:cNvPr id="26" name="score-1"/>
            <p:cNvSpPr txBox="1"/>
            <p:nvPr/>
          </p:nvSpPr>
          <p:spPr>
            <a:xfrm>
              <a:off x="17887950" y="4362450"/>
              <a:ext cx="2247900" cy="18192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考核评分：A</a:t>
              </a:r>
            </a:p>
          </p:txBody>
        </p:sp>
        <p:sp>
          <p:nvSpPr>
            <p:cNvPr id="27" name="prog-1"/>
            <p:cNvSpPr txBox="1"/>
            <p:nvPr/>
          </p:nvSpPr>
          <p:spPr>
            <a:xfrm>
              <a:off x="22736175" y="4362450"/>
              <a:ext cx="2381250" cy="18192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KP进度：xx%</a:t>
              </a:r>
            </a:p>
          </p:txBody>
        </p:sp>
      </p:grpSp>
      <p:grpSp>
        <p:nvGrpSpPr>
          <p:cNvPr id="56" name="row-team2"/>
          <p:cNvGrpSpPr/>
          <p:nvPr/>
        </p:nvGrpSpPr>
        <p:grpSpPr>
          <a:xfrm>
            <a:off x="3314700" y="6181725"/>
            <a:ext cx="21802725" cy="1838325"/>
            <a:chOff x="3314700" y="6181725"/>
            <a:chExt cx="21802725" cy="1838325"/>
          </a:xfrm>
        </p:grpSpPr>
        <p:sp>
          <p:nvSpPr>
            <p:cNvPr id="28" name="obj-2"/>
            <p:cNvSpPr txBox="1"/>
            <p:nvPr/>
          </p:nvSpPr>
          <p:spPr>
            <a:xfrm>
              <a:off x="3314700" y="6181725"/>
              <a:ext cx="2133600" cy="1838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Team 2目标</a:t>
              </a:r>
            </a:p>
          </p:txBody>
        </p:sp>
        <p:sp>
          <p:nvSpPr>
            <p:cNvPr id="29" name="kr-2-1"/>
            <p:cNvSpPr txBox="1"/>
            <p:nvPr/>
          </p:nvSpPr>
          <p:spPr>
            <a:xfrm>
              <a:off x="8172450" y="6381750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关键结果A</a:t>
              </a:r>
            </a:p>
          </p:txBody>
        </p:sp>
        <p:sp>
          <p:nvSpPr>
            <p:cNvPr id="30" name="kr-2-2"/>
            <p:cNvSpPr txBox="1"/>
            <p:nvPr/>
          </p:nvSpPr>
          <p:spPr>
            <a:xfrm>
              <a:off x="8172450" y="6886575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关键结果B</a:t>
              </a:r>
            </a:p>
          </p:txBody>
        </p:sp>
        <p:sp>
          <p:nvSpPr>
            <p:cNvPr id="31" name="kr-2-3"/>
            <p:cNvSpPr txBox="1"/>
            <p:nvPr/>
          </p:nvSpPr>
          <p:spPr>
            <a:xfrm>
              <a:off x="8172450" y="7381875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关键结果C</a:t>
              </a:r>
            </a:p>
          </p:txBody>
        </p:sp>
        <p:sp>
          <p:nvSpPr>
            <p:cNvPr id="32" name="owner-2"/>
            <p:cNvSpPr txBox="1"/>
            <p:nvPr/>
          </p:nvSpPr>
          <p:spPr>
            <a:xfrm>
              <a:off x="13030200" y="6181725"/>
              <a:ext cx="666750" cy="1838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xxx</a:t>
              </a:r>
            </a:p>
          </p:txBody>
        </p:sp>
        <p:sp>
          <p:nvSpPr>
            <p:cNvPr id="33" name="score-2"/>
            <p:cNvSpPr txBox="1"/>
            <p:nvPr/>
          </p:nvSpPr>
          <p:spPr>
            <a:xfrm>
              <a:off x="17887950" y="6181725"/>
              <a:ext cx="2247900" cy="1838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考核评分：A</a:t>
              </a:r>
            </a:p>
          </p:txBody>
        </p:sp>
        <p:sp>
          <p:nvSpPr>
            <p:cNvPr id="34" name="prog-2"/>
            <p:cNvSpPr txBox="1"/>
            <p:nvPr/>
          </p:nvSpPr>
          <p:spPr>
            <a:xfrm>
              <a:off x="22736175" y="6181725"/>
              <a:ext cx="2381250" cy="1838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KP进度：xx%</a:t>
              </a:r>
            </a:p>
          </p:txBody>
        </p:sp>
      </p:grpSp>
      <p:grpSp>
        <p:nvGrpSpPr>
          <p:cNvPr id="53" name="row-team3"/>
          <p:cNvGrpSpPr/>
          <p:nvPr/>
        </p:nvGrpSpPr>
        <p:grpSpPr>
          <a:xfrm>
            <a:off x="3314700" y="8020050"/>
            <a:ext cx="21802725" cy="1828800"/>
            <a:chOff x="3314700" y="8020050"/>
            <a:chExt cx="21802725" cy="1828800"/>
          </a:xfrm>
        </p:grpSpPr>
        <p:sp>
          <p:nvSpPr>
            <p:cNvPr id="35" name="obj-3"/>
            <p:cNvSpPr txBox="1"/>
            <p:nvPr/>
          </p:nvSpPr>
          <p:spPr>
            <a:xfrm>
              <a:off x="3314700" y="8020050"/>
              <a:ext cx="2133600" cy="1828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Team 3目标</a:t>
              </a:r>
            </a:p>
          </p:txBody>
        </p:sp>
        <p:sp>
          <p:nvSpPr>
            <p:cNvPr id="36" name="kr-3-1"/>
            <p:cNvSpPr txBox="1"/>
            <p:nvPr/>
          </p:nvSpPr>
          <p:spPr>
            <a:xfrm>
              <a:off x="8172450" y="8220075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关键结果A</a:t>
              </a:r>
            </a:p>
          </p:txBody>
        </p:sp>
        <p:sp>
          <p:nvSpPr>
            <p:cNvPr id="37" name="kr-3-2"/>
            <p:cNvSpPr txBox="1"/>
            <p:nvPr/>
          </p:nvSpPr>
          <p:spPr>
            <a:xfrm>
              <a:off x="8172450" y="8724900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关键结果B</a:t>
              </a:r>
            </a:p>
          </p:txBody>
        </p:sp>
        <p:sp>
          <p:nvSpPr>
            <p:cNvPr id="38" name="kr-3-3"/>
            <p:cNvSpPr txBox="1"/>
            <p:nvPr/>
          </p:nvSpPr>
          <p:spPr>
            <a:xfrm>
              <a:off x="8172450" y="9220200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关键结果C</a:t>
              </a:r>
            </a:p>
          </p:txBody>
        </p:sp>
        <p:sp>
          <p:nvSpPr>
            <p:cNvPr id="39" name="owner-3"/>
            <p:cNvSpPr txBox="1"/>
            <p:nvPr/>
          </p:nvSpPr>
          <p:spPr>
            <a:xfrm>
              <a:off x="13030200" y="8020050"/>
              <a:ext cx="666750" cy="1828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xxx</a:t>
              </a:r>
            </a:p>
          </p:txBody>
        </p:sp>
        <p:sp>
          <p:nvSpPr>
            <p:cNvPr id="40" name="score-3"/>
            <p:cNvSpPr txBox="1"/>
            <p:nvPr/>
          </p:nvSpPr>
          <p:spPr>
            <a:xfrm>
              <a:off x="17887950" y="8020050"/>
              <a:ext cx="2247900" cy="1828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考核评分：A</a:t>
              </a:r>
            </a:p>
          </p:txBody>
        </p:sp>
        <p:sp>
          <p:nvSpPr>
            <p:cNvPr id="41" name="prog-3"/>
            <p:cNvSpPr txBox="1"/>
            <p:nvPr/>
          </p:nvSpPr>
          <p:spPr>
            <a:xfrm>
              <a:off x="22736175" y="8020050"/>
              <a:ext cx="2381250" cy="1828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KP进度：xx%</a:t>
              </a:r>
            </a:p>
          </p:txBody>
        </p:sp>
      </p:grpSp>
      <p:grpSp>
        <p:nvGrpSpPr>
          <p:cNvPr id="54" name="row-team4"/>
          <p:cNvGrpSpPr/>
          <p:nvPr/>
        </p:nvGrpSpPr>
        <p:grpSpPr>
          <a:xfrm>
            <a:off x="3314700" y="9848850"/>
            <a:ext cx="21802725" cy="1838325"/>
            <a:chOff x="3314700" y="9848850"/>
            <a:chExt cx="21802725" cy="1838325"/>
          </a:xfrm>
        </p:grpSpPr>
        <p:sp>
          <p:nvSpPr>
            <p:cNvPr id="42" name="obj-4"/>
            <p:cNvSpPr txBox="1"/>
            <p:nvPr/>
          </p:nvSpPr>
          <p:spPr>
            <a:xfrm>
              <a:off x="3314700" y="9848850"/>
              <a:ext cx="2133600" cy="1838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Team 4目标</a:t>
              </a:r>
            </a:p>
          </p:txBody>
        </p:sp>
        <p:sp>
          <p:nvSpPr>
            <p:cNvPr id="43" name="kr-4-1"/>
            <p:cNvSpPr txBox="1"/>
            <p:nvPr/>
          </p:nvSpPr>
          <p:spPr>
            <a:xfrm>
              <a:off x="8172450" y="10048875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关键结果A</a:t>
              </a:r>
            </a:p>
          </p:txBody>
        </p:sp>
        <p:sp>
          <p:nvSpPr>
            <p:cNvPr id="44" name="kr-4-2"/>
            <p:cNvSpPr txBox="1"/>
            <p:nvPr/>
          </p:nvSpPr>
          <p:spPr>
            <a:xfrm>
              <a:off x="8172450" y="10553700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关键结果B</a:t>
              </a:r>
            </a:p>
          </p:txBody>
        </p:sp>
        <p:sp>
          <p:nvSpPr>
            <p:cNvPr id="45" name="kr-4-3"/>
            <p:cNvSpPr txBox="1"/>
            <p:nvPr/>
          </p:nvSpPr>
          <p:spPr>
            <a:xfrm>
              <a:off x="8172450" y="11049000"/>
              <a:ext cx="1866900" cy="476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关键结果C</a:t>
              </a:r>
            </a:p>
          </p:txBody>
        </p:sp>
        <p:sp>
          <p:nvSpPr>
            <p:cNvPr id="46" name="owner-4"/>
            <p:cNvSpPr txBox="1"/>
            <p:nvPr/>
          </p:nvSpPr>
          <p:spPr>
            <a:xfrm>
              <a:off x="13030200" y="9848850"/>
              <a:ext cx="666750" cy="1838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xxx</a:t>
              </a:r>
            </a:p>
          </p:txBody>
        </p:sp>
        <p:sp>
          <p:nvSpPr>
            <p:cNvPr id="47" name="score-4"/>
            <p:cNvSpPr txBox="1"/>
            <p:nvPr/>
          </p:nvSpPr>
          <p:spPr>
            <a:xfrm>
              <a:off x="17887950" y="9848850"/>
              <a:ext cx="2247900" cy="1838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考核评分：A</a:t>
              </a:r>
            </a:p>
          </p:txBody>
        </p:sp>
        <p:sp>
          <p:nvSpPr>
            <p:cNvPr id="48" name="prog-4"/>
            <p:cNvSpPr txBox="1"/>
            <p:nvPr/>
          </p:nvSpPr>
          <p:spPr>
            <a:xfrm>
              <a:off x="22736175" y="9848850"/>
              <a:ext cx="2381250" cy="1838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25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KP进度：xx%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