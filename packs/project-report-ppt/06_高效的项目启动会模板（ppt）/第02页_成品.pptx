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frame-top"/>
          <p:cNvCxnSpPr/>
          <p:nvPr/>
        </p:nvCxnSpPr>
        <p:spPr>
          <a:xfrm flipV="1">
            <a:off x="9525" y="28575"/>
            <a:ext cx="30441900" cy="4763"/>
          </a:xfrm>
          <a:prstGeom prst="line">
            <a:avLst/>
          </a:prstGeom>
          <a:ln w="17145">
            <a:solidFill>
              <a:srgbClr val="9A9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frame-left"/>
          <p:cNvCxnSpPr/>
          <p:nvPr/>
        </p:nvCxnSpPr>
        <p:spPr>
          <a:xfrm>
            <a:off x="7620" y="28575"/>
            <a:ext cx="0" cy="17087850"/>
          </a:xfrm>
          <a:prstGeom prst="line">
            <a:avLst/>
          </a:prstGeom>
          <a:ln w="15240">
            <a:solidFill>
              <a:srgbClr val="B4B4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rame-right"/>
          <p:cNvCxnSpPr/>
          <p:nvPr/>
        </p:nvCxnSpPr>
        <p:spPr>
          <a:xfrm>
            <a:off x="30462855" y="28575"/>
            <a:ext cx="0" cy="17087850"/>
          </a:xfrm>
          <a:prstGeom prst="line">
            <a:avLst/>
          </a:prstGeom>
          <a:ln w="15240">
            <a:solidFill>
              <a:srgbClr val="B4B4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item-1"/>
          <p:cNvGrpSpPr/>
          <p:nvPr/>
        </p:nvGrpSpPr>
        <p:grpSpPr>
          <a:xfrm>
            <a:off x="5643562" y="3852862"/>
            <a:ext cx="3043238" cy="962025"/>
            <a:chOff x="5643562" y="3852862"/>
            <a:chExt cx="3043238" cy="962025"/>
          </a:xfrm>
        </p:grpSpPr>
        <p:sp>
          <p:nvSpPr>
            <p:cNvPr id="6" name="cir-1"/>
            <p:cNvSpPr/>
            <p:nvPr/>
          </p:nvSpPr>
          <p:spPr>
            <a:xfrm>
              <a:off x="5643562" y="385286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um-1"/>
            <p:cNvSpPr txBox="1"/>
            <p:nvPr/>
          </p:nvSpPr>
          <p:spPr>
            <a:xfrm>
              <a:off x="5838825" y="387667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8" name="txt-1"/>
            <p:cNvSpPr txBox="1"/>
            <p:nvPr/>
          </p:nvSpPr>
          <p:spPr>
            <a:xfrm>
              <a:off x="7324725" y="3876675"/>
              <a:ext cx="1362075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前言</a:t>
              </a:r>
            </a:p>
          </p:txBody>
        </p:sp>
      </p:grpSp>
      <p:grpSp>
        <p:nvGrpSpPr>
          <p:cNvPr id="38" name="item-2"/>
          <p:cNvGrpSpPr/>
          <p:nvPr/>
        </p:nvGrpSpPr>
        <p:grpSpPr>
          <a:xfrm>
            <a:off x="5643562" y="5281612"/>
            <a:ext cx="5310188" cy="962025"/>
            <a:chOff x="5643562" y="5281612"/>
            <a:chExt cx="5310188" cy="962025"/>
          </a:xfrm>
        </p:grpSpPr>
        <p:sp>
          <p:nvSpPr>
            <p:cNvPr id="9" name="cir-2"/>
            <p:cNvSpPr/>
            <p:nvPr/>
          </p:nvSpPr>
          <p:spPr>
            <a:xfrm>
              <a:off x="5643562" y="528161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num-2"/>
            <p:cNvSpPr txBox="1"/>
            <p:nvPr/>
          </p:nvSpPr>
          <p:spPr>
            <a:xfrm>
              <a:off x="5838825" y="530542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1" name="txt-2"/>
            <p:cNvSpPr txBox="1"/>
            <p:nvPr/>
          </p:nvSpPr>
          <p:spPr>
            <a:xfrm>
              <a:off x="7324725" y="5305425"/>
              <a:ext cx="3629025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定义项目范围</a:t>
              </a:r>
            </a:p>
          </p:txBody>
        </p:sp>
      </p:grpSp>
      <p:grpSp>
        <p:nvGrpSpPr>
          <p:cNvPr id="36" name="item-3"/>
          <p:cNvGrpSpPr/>
          <p:nvPr/>
        </p:nvGrpSpPr>
        <p:grpSpPr>
          <a:xfrm>
            <a:off x="5643562" y="6824662"/>
            <a:ext cx="5348288" cy="962025"/>
            <a:chOff x="5643562" y="6824662"/>
            <a:chExt cx="5348288" cy="962025"/>
          </a:xfrm>
        </p:grpSpPr>
        <p:sp>
          <p:nvSpPr>
            <p:cNvPr id="12" name="cir-3"/>
            <p:cNvSpPr/>
            <p:nvPr/>
          </p:nvSpPr>
          <p:spPr>
            <a:xfrm>
              <a:off x="5643562" y="682466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um-3"/>
            <p:cNvSpPr txBox="1"/>
            <p:nvPr/>
          </p:nvSpPr>
          <p:spPr>
            <a:xfrm>
              <a:off x="5838825" y="684847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4" name="txt-3"/>
            <p:cNvSpPr txBox="1"/>
            <p:nvPr/>
          </p:nvSpPr>
          <p:spPr>
            <a:xfrm>
              <a:off x="7324725" y="6848475"/>
              <a:ext cx="3667125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制定项目目标</a:t>
              </a:r>
            </a:p>
          </p:txBody>
        </p:sp>
      </p:grpSp>
      <p:grpSp>
        <p:nvGrpSpPr>
          <p:cNvPr id="41" name="item-4"/>
          <p:cNvGrpSpPr/>
          <p:nvPr/>
        </p:nvGrpSpPr>
        <p:grpSpPr>
          <a:xfrm>
            <a:off x="5643562" y="8253412"/>
            <a:ext cx="5310188" cy="962025"/>
            <a:chOff x="5643562" y="8253412"/>
            <a:chExt cx="5310188" cy="962025"/>
          </a:xfrm>
        </p:grpSpPr>
        <p:sp>
          <p:nvSpPr>
            <p:cNvPr id="15" name="cir-4"/>
            <p:cNvSpPr/>
            <p:nvPr/>
          </p:nvSpPr>
          <p:spPr>
            <a:xfrm>
              <a:off x="5643562" y="825341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um-4"/>
            <p:cNvSpPr txBox="1"/>
            <p:nvPr/>
          </p:nvSpPr>
          <p:spPr>
            <a:xfrm>
              <a:off x="5838825" y="827722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17" name="txt-4"/>
            <p:cNvSpPr txBox="1"/>
            <p:nvPr/>
          </p:nvSpPr>
          <p:spPr>
            <a:xfrm>
              <a:off x="7324725" y="8277225"/>
              <a:ext cx="3629025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</p:grpSp>
      <p:grpSp>
        <p:nvGrpSpPr>
          <p:cNvPr id="39" name="item-5"/>
          <p:cNvGrpSpPr/>
          <p:nvPr/>
        </p:nvGrpSpPr>
        <p:grpSpPr>
          <a:xfrm>
            <a:off x="19092862" y="3833812"/>
            <a:ext cx="5376863" cy="962025"/>
            <a:chOff x="19092862" y="3833812"/>
            <a:chExt cx="5376863" cy="962025"/>
          </a:xfrm>
        </p:grpSpPr>
        <p:sp>
          <p:nvSpPr>
            <p:cNvPr id="18" name="cir-5"/>
            <p:cNvSpPr/>
            <p:nvPr/>
          </p:nvSpPr>
          <p:spPr>
            <a:xfrm>
              <a:off x="19092862" y="383381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um-5"/>
            <p:cNvSpPr txBox="1"/>
            <p:nvPr/>
          </p:nvSpPr>
          <p:spPr>
            <a:xfrm>
              <a:off x="19288125" y="385762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0" name="txt-5"/>
            <p:cNvSpPr txBox="1"/>
            <p:nvPr/>
          </p:nvSpPr>
          <p:spPr>
            <a:xfrm>
              <a:off x="20764500" y="385762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制定考核</a:t>
              </a:r>
            </a:p>
          </p:txBody>
        </p:sp>
        <p:sp>
          <p:nvSpPr>
            <p:cNvPr id="21" name="txt-5-okr"/>
            <p:cNvSpPr txBox="1"/>
            <p:nvPr/>
          </p:nvSpPr>
          <p:spPr>
            <a:xfrm>
              <a:off x="23040975" y="3857625"/>
              <a:ext cx="142875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OKR</a:t>
              </a:r>
            </a:p>
          </p:txBody>
        </p:sp>
      </p:grpSp>
      <p:grpSp>
        <p:nvGrpSpPr>
          <p:cNvPr id="42" name="item-6"/>
          <p:cNvGrpSpPr/>
          <p:nvPr/>
        </p:nvGrpSpPr>
        <p:grpSpPr>
          <a:xfrm>
            <a:off x="19092862" y="5262562"/>
            <a:ext cx="5338763" cy="962025"/>
            <a:chOff x="19092862" y="5262562"/>
            <a:chExt cx="5338763" cy="962025"/>
          </a:xfrm>
        </p:grpSpPr>
        <p:sp>
          <p:nvSpPr>
            <p:cNvPr id="22" name="cir-6"/>
            <p:cNvSpPr/>
            <p:nvPr/>
          </p:nvSpPr>
          <p:spPr>
            <a:xfrm>
              <a:off x="19092862" y="526256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um-6"/>
            <p:cNvSpPr txBox="1"/>
            <p:nvPr/>
          </p:nvSpPr>
          <p:spPr>
            <a:xfrm>
              <a:off x="19288125" y="528637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24" name="txt-6"/>
            <p:cNvSpPr txBox="1"/>
            <p:nvPr/>
          </p:nvSpPr>
          <p:spPr>
            <a:xfrm>
              <a:off x="20774025" y="5286375"/>
              <a:ext cx="36576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起草合作协议</a:t>
              </a:r>
            </a:p>
          </p:txBody>
        </p:sp>
      </p:grpSp>
      <p:grpSp>
        <p:nvGrpSpPr>
          <p:cNvPr id="43" name="item-7"/>
          <p:cNvGrpSpPr/>
          <p:nvPr/>
        </p:nvGrpSpPr>
        <p:grpSpPr>
          <a:xfrm>
            <a:off x="19092862" y="6815138"/>
            <a:ext cx="5348288" cy="962025"/>
            <a:chOff x="19092862" y="6815138"/>
            <a:chExt cx="5348288" cy="962025"/>
          </a:xfrm>
        </p:grpSpPr>
        <p:sp>
          <p:nvSpPr>
            <p:cNvPr id="25" name="cir-7"/>
            <p:cNvSpPr/>
            <p:nvPr/>
          </p:nvSpPr>
          <p:spPr>
            <a:xfrm>
              <a:off x="19092862" y="6815138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um-7"/>
            <p:cNvSpPr txBox="1"/>
            <p:nvPr/>
          </p:nvSpPr>
          <p:spPr>
            <a:xfrm>
              <a:off x="19288125" y="684847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</a:p>
          </p:txBody>
        </p:sp>
        <p:sp>
          <p:nvSpPr>
            <p:cNvPr id="27" name="txt-7"/>
            <p:cNvSpPr txBox="1"/>
            <p:nvPr/>
          </p:nvSpPr>
          <p:spPr>
            <a:xfrm>
              <a:off x="20774025" y="6838950"/>
              <a:ext cx="3667125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总结项目风险</a:t>
              </a:r>
            </a:p>
          </p:txBody>
        </p:sp>
      </p:grpSp>
      <p:grpSp>
        <p:nvGrpSpPr>
          <p:cNvPr id="40" name="item-8"/>
          <p:cNvGrpSpPr/>
          <p:nvPr/>
        </p:nvGrpSpPr>
        <p:grpSpPr>
          <a:xfrm>
            <a:off x="19092862" y="8243888"/>
            <a:ext cx="5338763" cy="962025"/>
            <a:chOff x="19092862" y="8243888"/>
            <a:chExt cx="5338763" cy="962025"/>
          </a:xfrm>
        </p:grpSpPr>
        <p:sp>
          <p:nvSpPr>
            <p:cNvPr id="28" name="cir-8"/>
            <p:cNvSpPr/>
            <p:nvPr/>
          </p:nvSpPr>
          <p:spPr>
            <a:xfrm>
              <a:off x="19092862" y="8243888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um-8"/>
            <p:cNvSpPr txBox="1"/>
            <p:nvPr/>
          </p:nvSpPr>
          <p:spPr>
            <a:xfrm>
              <a:off x="19288125" y="8267700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</a:p>
          </p:txBody>
        </p:sp>
        <p:sp>
          <p:nvSpPr>
            <p:cNvPr id="30" name="txt-8"/>
            <p:cNvSpPr txBox="1"/>
            <p:nvPr/>
          </p:nvSpPr>
          <p:spPr>
            <a:xfrm>
              <a:off x="20774025" y="8267700"/>
              <a:ext cx="36576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项目前期工作</a:t>
              </a:r>
            </a:p>
          </p:txBody>
        </p:sp>
      </p:grpSp>
      <p:grpSp>
        <p:nvGrpSpPr>
          <p:cNvPr id="35" name="item-9"/>
          <p:cNvGrpSpPr/>
          <p:nvPr/>
        </p:nvGrpSpPr>
        <p:grpSpPr>
          <a:xfrm>
            <a:off x="13730288" y="10977562"/>
            <a:ext cx="3071812" cy="962025"/>
            <a:chOff x="13730288" y="10977562"/>
            <a:chExt cx="3071812" cy="962025"/>
          </a:xfrm>
        </p:grpSpPr>
        <p:sp>
          <p:nvSpPr>
            <p:cNvPr id="31" name="cir-9"/>
            <p:cNvSpPr/>
            <p:nvPr/>
          </p:nvSpPr>
          <p:spPr>
            <a:xfrm>
              <a:off x="13730288" y="10977562"/>
              <a:ext cx="962025" cy="962025"/>
            </a:xfrm>
            <a:prstGeom prst="ellipse">
              <a:avLst/>
            </a:prstGeom>
            <a:solidFill>
              <a:srgbClr val="FFFFFF"/>
            </a:solidFill>
            <a:ln w="20955">
              <a:solidFill>
                <a:srgbClr val="093D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um-9"/>
            <p:cNvSpPr txBox="1"/>
            <p:nvPr/>
          </p:nvSpPr>
          <p:spPr>
            <a:xfrm>
              <a:off x="13925550" y="11001375"/>
              <a:ext cx="571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  <p:sp>
          <p:nvSpPr>
            <p:cNvPr id="33" name="txt-9"/>
            <p:cNvSpPr txBox="1"/>
            <p:nvPr/>
          </p:nvSpPr>
          <p:spPr>
            <a:xfrm>
              <a:off x="15430500" y="10991850"/>
              <a:ext cx="13716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093D86"/>
                  </a:solidFill>
                  <a:latin typeface="Microsoft YaHei"/>
                  <a:ea typeface="Microsoft YaHei"/>
                  <a:cs typeface="Microsoft YaHei"/>
                </a:rPr>
                <a:t>总结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