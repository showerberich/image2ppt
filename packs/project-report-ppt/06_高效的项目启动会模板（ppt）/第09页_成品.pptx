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0470475" cy="17145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30470475" cy="1714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59" name="hdr-band"/>
          <p:cNvGrpSpPr/>
          <p:nvPr/>
        </p:nvGrpSpPr>
        <p:grpSpPr>
          <a:xfrm>
            <a:off x="914400" y="952500"/>
            <a:ext cx="28708350" cy="1581150"/>
            <a:chOff x="914400" y="952500"/>
            <a:chExt cx="28708350" cy="1581150"/>
          </a:xfrm>
        </p:grpSpPr>
        <p:sp>
          <p:nvSpPr>
            <p:cNvPr id="3" name="hdr-blue"/>
            <p:cNvSpPr/>
            <p:nvPr/>
          </p:nvSpPr>
          <p:spPr>
            <a:xfrm>
              <a:off x="914400" y="962025"/>
              <a:ext cx="6438900" cy="1571625"/>
            </a:xfrm>
            <a:prstGeom prst="rect">
              <a:avLst/>
            </a:prstGeom>
            <a:solidFill>
              <a:srgbClr val="013F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914400" y="962025"/>
              <a:ext cx="6438900" cy="157162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00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制定项目计划</a:t>
              </a:r>
            </a:p>
          </p:txBody>
        </p:sp>
        <p:sp>
          <p:nvSpPr>
            <p:cNvPr id="5" name="hdr-bar"/>
            <p:cNvSpPr/>
            <p:nvPr/>
          </p:nvSpPr>
          <p:spPr>
            <a:xfrm>
              <a:off x="7353300" y="952500"/>
              <a:ext cx="22269450" cy="158115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D8CBB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7353300" y="952500"/>
              <a:ext cx="22269450" cy="15811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2625" b="0" i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日常运维管理工作</a:t>
              </a:r>
            </a:p>
          </p:txBody>
        </p:sp>
      </p:grpSp>
      <p:grpSp>
        <p:nvGrpSpPr>
          <p:cNvPr id="60" name="tbl-matrix"/>
          <p:cNvGrpSpPr/>
          <p:nvPr/>
        </p:nvGrpSpPr>
        <p:grpSpPr>
          <a:xfrm>
            <a:off x="2433638" y="2524125"/>
            <a:ext cx="23922037" cy="13782675"/>
            <a:chOff x="2433638" y="2524125"/>
            <a:chExt cx="23922037" cy="13782675"/>
          </a:xfrm>
        </p:grpSpPr>
        <p:cxnSp>
          <p:nvCxnSpPr>
            <p:cNvPr id="7" name="t-line-top"/>
            <p:cNvCxnSpPr/>
            <p:nvPr/>
          </p:nvCxnSpPr>
          <p:spPr>
            <a:xfrm>
              <a:off x="2433638" y="2524125"/>
              <a:ext cx="23922037" cy="0"/>
            </a:xfrm>
            <a:prstGeom prst="line">
              <a:avLst/>
            </a:prstGeom>
            <a:ln w="19050">
              <a:solidFill>
                <a:srgbClr val="A0A0A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fontRef idx="minor">
              <a:schemeClr val="tx1"/>
            </a:fontRef>
          </p:style>
        </p:cxnSp>
        <p:cxnSp>
          <p:nvCxnSpPr>
            <p:cNvPr id="8" name="t-line-r1"/>
            <p:cNvCxnSpPr/>
            <p:nvPr/>
          </p:nvCxnSpPr>
          <p:spPr>
            <a:xfrm>
              <a:off x="2433638" y="3333750"/>
              <a:ext cx="23922037" cy="0"/>
            </a:xfrm>
            <a:prstGeom prst="line">
              <a:avLst/>
            </a:prstGeom>
            <a:ln w="19050">
              <a:solidFill>
                <a:srgbClr val="A0A0A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fontRef idx="minor">
              <a:schemeClr val="tx1"/>
            </a:fontRef>
          </p:style>
        </p:cxnSp>
        <p:cxnSp>
          <p:nvCxnSpPr>
            <p:cNvPr id="9" name="t-line-r2"/>
            <p:cNvCxnSpPr/>
            <p:nvPr/>
          </p:nvCxnSpPr>
          <p:spPr>
            <a:xfrm>
              <a:off x="4814888" y="4143375"/>
              <a:ext cx="21540787" cy="0"/>
            </a:xfrm>
            <a:prstGeom prst="line">
              <a:avLst/>
            </a:prstGeom>
            <a:ln w="19050">
              <a:solidFill>
                <a:srgbClr val="A0A0A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fontRef idx="minor">
              <a:schemeClr val="tx1"/>
            </a:fontRef>
          </p:style>
        </p:cxnSp>
        <p:cxnSp>
          <p:nvCxnSpPr>
            <p:cNvPr id="10" name="t-line-r3"/>
            <p:cNvCxnSpPr/>
            <p:nvPr/>
          </p:nvCxnSpPr>
          <p:spPr>
            <a:xfrm>
              <a:off x="4814888" y="4953000"/>
              <a:ext cx="21540787" cy="0"/>
            </a:xfrm>
            <a:prstGeom prst="line">
              <a:avLst/>
            </a:prstGeom>
            <a:ln w="19050">
              <a:solidFill>
                <a:srgbClr val="A0A0A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fontRef idx="minor">
              <a:schemeClr val="tx1"/>
            </a:fontRef>
          </p:style>
        </p:cxnSp>
        <p:cxnSp>
          <p:nvCxnSpPr>
            <p:cNvPr id="11" name="t-line-r4"/>
            <p:cNvCxnSpPr/>
            <p:nvPr/>
          </p:nvCxnSpPr>
          <p:spPr>
            <a:xfrm>
              <a:off x="4814888" y="5762625"/>
              <a:ext cx="21540787" cy="0"/>
            </a:xfrm>
            <a:prstGeom prst="line">
              <a:avLst/>
            </a:prstGeom>
            <a:ln w="19050">
              <a:solidFill>
                <a:srgbClr val="A0A0A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fontRef idx="minor">
              <a:schemeClr val="tx1"/>
            </a:fontRef>
          </p:style>
        </p:cxnSp>
        <p:cxnSp>
          <p:nvCxnSpPr>
            <p:cNvPr id="12" name="t-line-r5"/>
            <p:cNvCxnSpPr/>
            <p:nvPr/>
          </p:nvCxnSpPr>
          <p:spPr>
            <a:xfrm>
              <a:off x="4814888" y="6572250"/>
              <a:ext cx="21540787" cy="0"/>
            </a:xfrm>
            <a:prstGeom prst="line">
              <a:avLst/>
            </a:prstGeom>
            <a:ln w="19050">
              <a:solidFill>
                <a:srgbClr val="A0A0A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fontRef idx="minor">
              <a:schemeClr val="tx1"/>
            </a:fontRef>
          </p:style>
        </p:cxnSp>
        <p:cxnSp>
          <p:nvCxnSpPr>
            <p:cNvPr id="13" name="t-line-r6"/>
            <p:cNvCxnSpPr/>
            <p:nvPr/>
          </p:nvCxnSpPr>
          <p:spPr>
            <a:xfrm>
              <a:off x="4814888" y="7381875"/>
              <a:ext cx="21540787" cy="0"/>
            </a:xfrm>
            <a:prstGeom prst="line">
              <a:avLst/>
            </a:prstGeom>
            <a:ln w="19050">
              <a:solidFill>
                <a:srgbClr val="A0A0A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fontRef idx="minor">
              <a:schemeClr val="tx1"/>
            </a:fontRef>
          </p:style>
        </p:cxnSp>
        <p:cxnSp>
          <p:nvCxnSpPr>
            <p:cNvPr id="14" name="t-line-r7"/>
            <p:cNvCxnSpPr/>
            <p:nvPr/>
          </p:nvCxnSpPr>
          <p:spPr>
            <a:xfrm>
              <a:off x="4814888" y="8191500"/>
              <a:ext cx="21540787" cy="0"/>
            </a:xfrm>
            <a:prstGeom prst="line">
              <a:avLst/>
            </a:prstGeom>
            <a:ln w="19050">
              <a:solidFill>
                <a:srgbClr val="A0A0A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fontRef idx="minor">
              <a:schemeClr val="tx1"/>
            </a:fontRef>
          </p:style>
        </p:cxnSp>
        <p:cxnSp>
          <p:nvCxnSpPr>
            <p:cNvPr id="15" name="t-line-r8"/>
            <p:cNvCxnSpPr/>
            <p:nvPr/>
          </p:nvCxnSpPr>
          <p:spPr>
            <a:xfrm>
              <a:off x="2433638" y="9001125"/>
              <a:ext cx="23922037" cy="0"/>
            </a:xfrm>
            <a:prstGeom prst="line">
              <a:avLst/>
            </a:prstGeom>
            <a:ln w="19050">
              <a:solidFill>
                <a:srgbClr val="A0A0A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fontRef idx="minor">
              <a:schemeClr val="tx1"/>
            </a:fontRef>
          </p:style>
        </p:cxnSp>
        <p:cxnSp>
          <p:nvCxnSpPr>
            <p:cNvPr id="16" name="t-line-r9"/>
            <p:cNvCxnSpPr/>
            <p:nvPr/>
          </p:nvCxnSpPr>
          <p:spPr>
            <a:xfrm>
              <a:off x="4814888" y="9810750"/>
              <a:ext cx="21540787" cy="0"/>
            </a:xfrm>
            <a:prstGeom prst="line">
              <a:avLst/>
            </a:prstGeom>
            <a:ln w="19050">
              <a:solidFill>
                <a:srgbClr val="A0A0A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fontRef idx="minor">
              <a:schemeClr val="tx1"/>
            </a:fontRef>
          </p:style>
        </p:cxnSp>
        <p:cxnSp>
          <p:nvCxnSpPr>
            <p:cNvPr id="17" name="t-line-r10"/>
            <p:cNvCxnSpPr/>
            <p:nvPr/>
          </p:nvCxnSpPr>
          <p:spPr>
            <a:xfrm>
              <a:off x="4814888" y="10620375"/>
              <a:ext cx="21540787" cy="0"/>
            </a:xfrm>
            <a:prstGeom prst="line">
              <a:avLst/>
            </a:prstGeom>
            <a:ln w="19050">
              <a:solidFill>
                <a:srgbClr val="A0A0A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fontRef idx="minor">
              <a:schemeClr val="tx1"/>
            </a:fontRef>
          </p:style>
        </p:cxnSp>
        <p:cxnSp>
          <p:nvCxnSpPr>
            <p:cNvPr id="18" name="t-line-r11"/>
            <p:cNvCxnSpPr/>
            <p:nvPr/>
          </p:nvCxnSpPr>
          <p:spPr>
            <a:xfrm>
              <a:off x="4814888" y="11430000"/>
              <a:ext cx="21540787" cy="0"/>
            </a:xfrm>
            <a:prstGeom prst="line">
              <a:avLst/>
            </a:prstGeom>
            <a:ln w="19050">
              <a:solidFill>
                <a:srgbClr val="A0A0A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fontRef idx="minor">
              <a:schemeClr val="tx1"/>
            </a:fontRef>
          </p:style>
        </p:cxnSp>
        <p:cxnSp>
          <p:nvCxnSpPr>
            <p:cNvPr id="19" name="t-line-r12"/>
            <p:cNvCxnSpPr/>
            <p:nvPr/>
          </p:nvCxnSpPr>
          <p:spPr>
            <a:xfrm>
              <a:off x="4814888" y="12239625"/>
              <a:ext cx="21540787" cy="0"/>
            </a:xfrm>
            <a:prstGeom prst="line">
              <a:avLst/>
            </a:prstGeom>
            <a:ln w="19050">
              <a:solidFill>
                <a:srgbClr val="A0A0A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fontRef idx="minor">
              <a:schemeClr val="tx1"/>
            </a:fontRef>
          </p:style>
        </p:cxnSp>
        <p:cxnSp>
          <p:nvCxnSpPr>
            <p:cNvPr id="20" name="t-line-r13"/>
            <p:cNvCxnSpPr/>
            <p:nvPr/>
          </p:nvCxnSpPr>
          <p:spPr>
            <a:xfrm>
              <a:off x="2433638" y="13049250"/>
              <a:ext cx="23922037" cy="0"/>
            </a:xfrm>
            <a:prstGeom prst="line">
              <a:avLst/>
            </a:prstGeom>
            <a:ln w="19050">
              <a:solidFill>
                <a:srgbClr val="A0A0A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fontRef idx="minor">
              <a:schemeClr val="tx1"/>
            </a:fontRef>
          </p:style>
        </p:cxnSp>
        <p:cxnSp>
          <p:nvCxnSpPr>
            <p:cNvPr id="21" name="t-line-r14"/>
            <p:cNvCxnSpPr/>
            <p:nvPr/>
          </p:nvCxnSpPr>
          <p:spPr>
            <a:xfrm>
              <a:off x="4814888" y="13858875"/>
              <a:ext cx="21540787" cy="0"/>
            </a:xfrm>
            <a:prstGeom prst="line">
              <a:avLst/>
            </a:prstGeom>
            <a:ln w="19050">
              <a:solidFill>
                <a:srgbClr val="A0A0A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fontRef idx="minor">
              <a:schemeClr val="tx1"/>
            </a:fontRef>
          </p:style>
        </p:cxnSp>
        <p:cxnSp>
          <p:nvCxnSpPr>
            <p:cNvPr id="22" name="t-line-r15"/>
            <p:cNvCxnSpPr/>
            <p:nvPr/>
          </p:nvCxnSpPr>
          <p:spPr>
            <a:xfrm>
              <a:off x="4814888" y="14668500"/>
              <a:ext cx="21540787" cy="0"/>
            </a:xfrm>
            <a:prstGeom prst="line">
              <a:avLst/>
            </a:prstGeom>
            <a:ln w="19050">
              <a:solidFill>
                <a:srgbClr val="A0A0A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fontRef idx="minor">
              <a:schemeClr val="tx1"/>
            </a:fontRef>
          </p:style>
        </p:cxnSp>
        <p:cxnSp>
          <p:nvCxnSpPr>
            <p:cNvPr id="23" name="t-line-r16"/>
            <p:cNvCxnSpPr/>
            <p:nvPr/>
          </p:nvCxnSpPr>
          <p:spPr>
            <a:xfrm>
              <a:off x="4814888" y="15478125"/>
              <a:ext cx="21540787" cy="0"/>
            </a:xfrm>
            <a:prstGeom prst="line">
              <a:avLst/>
            </a:prstGeom>
            <a:ln w="19050">
              <a:solidFill>
                <a:srgbClr val="A0A0A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fontRef idx="minor">
              <a:schemeClr val="tx1"/>
            </a:fontRef>
          </p:style>
        </p:cxnSp>
        <p:cxnSp>
          <p:nvCxnSpPr>
            <p:cNvPr id="24" name="t-line-bottom"/>
            <p:cNvCxnSpPr/>
            <p:nvPr/>
          </p:nvCxnSpPr>
          <p:spPr>
            <a:xfrm>
              <a:off x="2433638" y="16287750"/>
              <a:ext cx="23922037" cy="0"/>
            </a:xfrm>
            <a:prstGeom prst="line">
              <a:avLst/>
            </a:prstGeom>
            <a:ln w="19050">
              <a:solidFill>
                <a:srgbClr val="A0A0A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fontRef idx="minor">
              <a:schemeClr val="tx1"/>
            </a:fontRef>
          </p:style>
        </p:cxnSp>
        <p:cxnSp>
          <p:nvCxnSpPr>
            <p:cNvPr id="25" name="t-vline-c0"/>
            <p:cNvCxnSpPr/>
            <p:nvPr/>
          </p:nvCxnSpPr>
          <p:spPr>
            <a:xfrm>
              <a:off x="2433638" y="2524125"/>
              <a:ext cx="0" cy="13763625"/>
            </a:xfrm>
            <a:prstGeom prst="line">
              <a:avLst/>
            </a:prstGeom>
            <a:ln w="19050">
              <a:solidFill>
                <a:srgbClr val="A0A0A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fontRef idx="minor">
              <a:schemeClr val="tx1"/>
            </a:fontRef>
          </p:style>
        </p:cxnSp>
        <p:cxnSp>
          <p:nvCxnSpPr>
            <p:cNvPr id="26" name="t-vline-c1"/>
            <p:cNvCxnSpPr/>
            <p:nvPr/>
          </p:nvCxnSpPr>
          <p:spPr>
            <a:xfrm>
              <a:off x="4814888" y="2524125"/>
              <a:ext cx="0" cy="13763625"/>
            </a:xfrm>
            <a:prstGeom prst="line">
              <a:avLst/>
            </a:prstGeom>
            <a:ln w="19050">
              <a:solidFill>
                <a:srgbClr val="A0A0A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fontRef idx="minor">
              <a:schemeClr val="tx1"/>
            </a:fontRef>
          </p:style>
        </p:cxnSp>
        <p:cxnSp>
          <p:nvCxnSpPr>
            <p:cNvPr id="27" name="t-vline-c2"/>
            <p:cNvCxnSpPr/>
            <p:nvPr/>
          </p:nvCxnSpPr>
          <p:spPr>
            <a:xfrm>
              <a:off x="9120188" y="2524125"/>
              <a:ext cx="0" cy="13763625"/>
            </a:xfrm>
            <a:prstGeom prst="line">
              <a:avLst/>
            </a:prstGeom>
            <a:ln w="19050">
              <a:solidFill>
                <a:srgbClr val="A0A0A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fontRef idx="minor">
              <a:schemeClr val="tx1"/>
            </a:fontRef>
          </p:style>
        </p:cxnSp>
        <p:cxnSp>
          <p:nvCxnSpPr>
            <p:cNvPr id="28" name="t-vline-c3"/>
            <p:cNvCxnSpPr/>
            <p:nvPr/>
          </p:nvCxnSpPr>
          <p:spPr>
            <a:xfrm>
              <a:off x="13425488" y="2524125"/>
              <a:ext cx="0" cy="13763625"/>
            </a:xfrm>
            <a:prstGeom prst="line">
              <a:avLst/>
            </a:prstGeom>
            <a:ln w="19050">
              <a:solidFill>
                <a:srgbClr val="A0A0A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fontRef idx="minor">
              <a:schemeClr val="tx1"/>
            </a:fontRef>
          </p:style>
        </p:cxnSp>
        <p:cxnSp>
          <p:nvCxnSpPr>
            <p:cNvPr id="29" name="t-vline-c4"/>
            <p:cNvCxnSpPr/>
            <p:nvPr/>
          </p:nvCxnSpPr>
          <p:spPr>
            <a:xfrm>
              <a:off x="17740312" y="2524125"/>
              <a:ext cx="0" cy="13763625"/>
            </a:xfrm>
            <a:prstGeom prst="line">
              <a:avLst/>
            </a:prstGeom>
            <a:ln w="19050">
              <a:solidFill>
                <a:srgbClr val="A0A0A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fontRef idx="minor">
              <a:schemeClr val="tx1"/>
            </a:fontRef>
          </p:style>
        </p:cxnSp>
        <p:cxnSp>
          <p:nvCxnSpPr>
            <p:cNvPr id="30" name="t-vline-c5"/>
            <p:cNvCxnSpPr/>
            <p:nvPr/>
          </p:nvCxnSpPr>
          <p:spPr>
            <a:xfrm>
              <a:off x="22045612" y="2524125"/>
              <a:ext cx="0" cy="13763625"/>
            </a:xfrm>
            <a:prstGeom prst="line">
              <a:avLst/>
            </a:prstGeom>
            <a:ln w="19050">
              <a:solidFill>
                <a:srgbClr val="A0A0A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fontRef idx="minor">
              <a:schemeClr val="tx1"/>
            </a:fontRef>
          </p:style>
        </p:cxnSp>
        <p:cxnSp>
          <p:nvCxnSpPr>
            <p:cNvPr id="31" name="t-vline-c6"/>
            <p:cNvCxnSpPr/>
            <p:nvPr/>
          </p:nvCxnSpPr>
          <p:spPr>
            <a:xfrm>
              <a:off x="26355675" y="2524125"/>
              <a:ext cx="0" cy="13763625"/>
            </a:xfrm>
            <a:prstGeom prst="line">
              <a:avLst/>
            </a:prstGeom>
            <a:ln w="19050">
              <a:solidFill>
                <a:srgbClr val="A0A0A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fontRef idx="minor">
              <a:schemeClr val="tx1"/>
            </a:fontRef>
          </p:style>
        </p:cxnSp>
        <p:sp>
          <p:nvSpPr>
            <p:cNvPr id="32" name="th-1"/>
            <p:cNvSpPr txBox="1"/>
            <p:nvPr/>
          </p:nvSpPr>
          <p:spPr>
            <a:xfrm>
              <a:off x="2657475" y="2543175"/>
              <a:ext cx="1409700" cy="80962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2625" b="0" i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工作任务</a:t>
              </a:r>
            </a:p>
          </p:txBody>
        </p:sp>
        <p:sp>
          <p:nvSpPr>
            <p:cNvPr id="33" name="th-2"/>
            <p:cNvSpPr txBox="1"/>
            <p:nvPr/>
          </p:nvSpPr>
          <p:spPr>
            <a:xfrm>
              <a:off x="5038725" y="2543175"/>
              <a:ext cx="1409700" cy="80962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2625" b="0" i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任务分解</a:t>
              </a:r>
            </a:p>
          </p:txBody>
        </p:sp>
        <p:sp>
          <p:nvSpPr>
            <p:cNvPr id="34" name="th-3"/>
            <p:cNvSpPr txBox="1"/>
            <p:nvPr/>
          </p:nvSpPr>
          <p:spPr>
            <a:xfrm>
              <a:off x="9344025" y="2543175"/>
              <a:ext cx="1409700" cy="80962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2625" b="0" i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事件经理</a:t>
              </a:r>
            </a:p>
          </p:txBody>
        </p:sp>
        <p:sp>
          <p:nvSpPr>
            <p:cNvPr id="35" name="th-4"/>
            <p:cNvSpPr txBox="1"/>
            <p:nvPr/>
          </p:nvSpPr>
          <p:spPr>
            <a:xfrm>
              <a:off x="13649325" y="2543175"/>
              <a:ext cx="1400175" cy="80962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2625" b="0" i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问题经理</a:t>
              </a:r>
            </a:p>
          </p:txBody>
        </p:sp>
        <p:sp>
          <p:nvSpPr>
            <p:cNvPr id="36" name="th-5"/>
            <p:cNvSpPr txBox="1"/>
            <p:nvPr/>
          </p:nvSpPr>
          <p:spPr>
            <a:xfrm>
              <a:off x="17964150" y="2543175"/>
              <a:ext cx="2076450" cy="80962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2625" b="0" i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变更发布经理</a:t>
              </a:r>
            </a:p>
          </p:txBody>
        </p:sp>
        <p:sp>
          <p:nvSpPr>
            <p:cNvPr id="37" name="th-6"/>
            <p:cNvSpPr txBox="1"/>
            <p:nvPr/>
          </p:nvSpPr>
          <p:spPr>
            <a:xfrm>
              <a:off x="22269450" y="2543175"/>
              <a:ext cx="1400175" cy="80962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2625" b="0" i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配置经理</a:t>
              </a:r>
            </a:p>
          </p:txBody>
        </p:sp>
        <p:sp>
          <p:nvSpPr>
            <p:cNvPr id="38" name="td-01"/>
            <p:cNvSpPr txBox="1"/>
            <p:nvPr/>
          </p:nvSpPr>
          <p:spPr>
            <a:xfrm>
              <a:off x="5038725" y="3352800"/>
              <a:ext cx="2743200" cy="80962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2625" b="0" i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编写运维情况月报</a:t>
              </a:r>
            </a:p>
          </p:txBody>
        </p:sp>
        <p:sp>
          <p:nvSpPr>
            <p:cNvPr id="39" name="td-02"/>
            <p:cNvSpPr txBox="1"/>
            <p:nvPr/>
          </p:nvSpPr>
          <p:spPr>
            <a:xfrm>
              <a:off x="5038725" y="4162425"/>
              <a:ext cx="1390650" cy="80962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2625" b="0" i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事故协调</a:t>
              </a:r>
            </a:p>
          </p:txBody>
        </p:sp>
        <p:sp>
          <p:nvSpPr>
            <p:cNvPr id="40" name="td-03"/>
            <p:cNvSpPr txBox="1"/>
            <p:nvPr/>
          </p:nvSpPr>
          <p:spPr>
            <a:xfrm>
              <a:off x="5038725" y="4972050"/>
              <a:ext cx="1409700" cy="80962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2625" b="0" i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事件督办</a:t>
              </a:r>
            </a:p>
          </p:txBody>
        </p:sp>
        <p:sp>
          <p:nvSpPr>
            <p:cNvPr id="41" name="td-04"/>
            <p:cNvSpPr txBox="1"/>
            <p:nvPr/>
          </p:nvSpPr>
          <p:spPr>
            <a:xfrm>
              <a:off x="5038725" y="5781675"/>
              <a:ext cx="1409700" cy="80962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2625" b="0" i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事故总结</a:t>
              </a:r>
            </a:p>
          </p:txBody>
        </p:sp>
        <p:sp>
          <p:nvSpPr>
            <p:cNvPr id="42" name="td-05"/>
            <p:cNvSpPr txBox="1"/>
            <p:nvPr/>
          </p:nvSpPr>
          <p:spPr>
            <a:xfrm>
              <a:off x="5038725" y="6591300"/>
              <a:ext cx="2057400" cy="80962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2625" b="0" i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主动问题识别</a:t>
              </a:r>
            </a:p>
          </p:txBody>
        </p:sp>
        <p:sp>
          <p:nvSpPr>
            <p:cNvPr id="43" name="td-06"/>
            <p:cNvSpPr txBox="1"/>
            <p:nvPr/>
          </p:nvSpPr>
          <p:spPr>
            <a:xfrm>
              <a:off x="5038725" y="7400925"/>
              <a:ext cx="2076450" cy="80962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2625" b="0" i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变更发布回顾</a:t>
              </a:r>
            </a:p>
          </p:txBody>
        </p:sp>
        <p:sp>
          <p:nvSpPr>
            <p:cNvPr id="44" name="td-07"/>
            <p:cNvSpPr txBox="1"/>
            <p:nvPr/>
          </p:nvSpPr>
          <p:spPr>
            <a:xfrm>
              <a:off x="5038725" y="8210550"/>
              <a:ext cx="2076450" cy="80962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2625" b="0" i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推进系统交维</a:t>
              </a:r>
            </a:p>
          </p:txBody>
        </p:sp>
        <p:sp>
          <p:nvSpPr>
            <p:cNvPr id="45" name="td-08"/>
            <p:cNvSpPr txBox="1"/>
            <p:nvPr/>
          </p:nvSpPr>
          <p:spPr>
            <a:xfrm>
              <a:off x="5038725" y="9020175"/>
              <a:ext cx="3400425" cy="80962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2625" b="0" i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制定所负责的流程制度</a:t>
              </a:r>
            </a:p>
          </p:txBody>
        </p:sp>
        <p:sp>
          <p:nvSpPr>
            <p:cNvPr id="46" name="td-09"/>
            <p:cNvSpPr txBox="1"/>
            <p:nvPr/>
          </p:nvSpPr>
          <p:spPr>
            <a:xfrm>
              <a:off x="5038725" y="9829800"/>
              <a:ext cx="2066925" cy="80962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2625" b="0" i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值班管理制度</a:t>
              </a:r>
            </a:p>
          </p:txBody>
        </p:sp>
        <p:sp>
          <p:nvSpPr>
            <p:cNvPr id="47" name="td-10"/>
            <p:cNvSpPr txBox="1"/>
            <p:nvPr/>
          </p:nvSpPr>
          <p:spPr>
            <a:xfrm>
              <a:off x="5038725" y="10639425"/>
              <a:ext cx="2733675" cy="80962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2625" b="0" i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信息系统交维制度</a:t>
              </a:r>
            </a:p>
          </p:txBody>
        </p:sp>
        <p:sp>
          <p:nvSpPr>
            <p:cNvPr id="48" name="td-11"/>
            <p:cNvSpPr txBox="1"/>
            <p:nvPr/>
          </p:nvSpPr>
          <p:spPr>
            <a:xfrm>
              <a:off x="5038725" y="11449050"/>
              <a:ext cx="2419350" cy="80962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2625" b="0" i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供应商管理规范</a:t>
              </a:r>
            </a:p>
          </p:txBody>
        </p:sp>
        <p:sp>
          <p:nvSpPr>
            <p:cNvPr id="49" name="td-12"/>
            <p:cNvSpPr txBox="1"/>
            <p:nvPr/>
          </p:nvSpPr>
          <p:spPr>
            <a:xfrm>
              <a:off x="5038725" y="12258675"/>
              <a:ext cx="3400425" cy="80962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2625" b="0" i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运维工作绩效考核制度</a:t>
              </a:r>
            </a:p>
          </p:txBody>
        </p:sp>
        <p:sp>
          <p:nvSpPr>
            <p:cNvPr id="50" name="td-13"/>
            <p:cNvSpPr txBox="1"/>
            <p:nvPr/>
          </p:nvSpPr>
          <p:spPr>
            <a:xfrm>
              <a:off x="5038725" y="13068300"/>
              <a:ext cx="3409950" cy="80962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2625" b="0" i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服务台、事件管理流程</a:t>
              </a:r>
            </a:p>
          </p:txBody>
        </p:sp>
        <p:sp>
          <p:nvSpPr>
            <p:cNvPr id="51" name="td-14"/>
            <p:cNvSpPr txBox="1"/>
            <p:nvPr/>
          </p:nvSpPr>
          <p:spPr>
            <a:xfrm>
              <a:off x="5038725" y="13877925"/>
              <a:ext cx="2066925" cy="80962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2625" b="0" i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问题管理流程</a:t>
              </a:r>
            </a:p>
          </p:txBody>
        </p:sp>
        <p:sp>
          <p:nvSpPr>
            <p:cNvPr id="52" name="td-15"/>
            <p:cNvSpPr txBox="1"/>
            <p:nvPr/>
          </p:nvSpPr>
          <p:spPr>
            <a:xfrm>
              <a:off x="5038725" y="14687550"/>
              <a:ext cx="2743200" cy="80962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2625" b="0" i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变更发布管理流程</a:t>
              </a:r>
            </a:p>
          </p:txBody>
        </p:sp>
        <p:sp>
          <p:nvSpPr>
            <p:cNvPr id="53" name="td-16"/>
            <p:cNvSpPr txBox="1"/>
            <p:nvPr/>
          </p:nvSpPr>
          <p:spPr>
            <a:xfrm>
              <a:off x="5038725" y="15497175"/>
              <a:ext cx="3743325" cy="80962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2625" b="0" i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配置管理、知识管理流程</a:t>
              </a:r>
            </a:p>
          </p:txBody>
        </p:sp>
        <p:sp>
          <p:nvSpPr>
            <p:cNvPr id="54" name="cat-1"/>
            <p:cNvSpPr txBox="1"/>
            <p:nvPr/>
          </p:nvSpPr>
          <p:spPr>
            <a:xfrm>
              <a:off x="2657475" y="3352800"/>
              <a:ext cx="1362075" cy="566737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2625" b="0" i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日常管理</a:t>
              </a:r>
            </a:p>
          </p:txBody>
        </p:sp>
        <p:sp>
          <p:nvSpPr>
            <p:cNvPr id="55" name="cat-2a"/>
            <p:cNvSpPr txBox="1"/>
            <p:nvPr/>
          </p:nvSpPr>
          <p:spPr>
            <a:xfrm>
              <a:off x="2657475" y="10572750"/>
              <a:ext cx="1809750" cy="4762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2625" b="0" i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制度文化建</a:t>
              </a:r>
            </a:p>
          </p:txBody>
        </p:sp>
        <p:sp>
          <p:nvSpPr>
            <p:cNvPr id="56" name="cat-2b"/>
            <p:cNvSpPr txBox="1"/>
            <p:nvPr/>
          </p:nvSpPr>
          <p:spPr>
            <a:xfrm>
              <a:off x="2657475" y="11058525"/>
              <a:ext cx="571500" cy="4762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2625" b="0" i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设</a:t>
              </a:r>
            </a:p>
          </p:txBody>
        </p:sp>
        <p:sp>
          <p:nvSpPr>
            <p:cNvPr id="57" name="cat-3"/>
            <p:cNvSpPr txBox="1"/>
            <p:nvPr/>
          </p:nvSpPr>
          <p:spPr>
            <a:xfrm>
              <a:off x="2657475" y="13068300"/>
              <a:ext cx="1409700" cy="32385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2625" b="0" i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流程管理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