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rule"/>
          <p:cNvSpPr/>
          <p:nvPr/>
        </p:nvSpPr>
        <p:spPr>
          <a:xfrm>
            <a:off x="0" y="28575"/>
            <a:ext cx="30470475" cy="2857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6" name="header"/>
          <p:cNvGrpSpPr/>
          <p:nvPr/>
        </p:nvGrpSpPr>
        <p:grpSpPr>
          <a:xfrm>
            <a:off x="866775" y="904875"/>
            <a:ext cx="28736925" cy="1571625"/>
            <a:chOff x="866775" y="904875"/>
            <a:chExt cx="28736925" cy="1571625"/>
          </a:xfrm>
        </p:grpSpPr>
        <p:sp>
          <p:nvSpPr>
            <p:cNvPr id="4" name="hdr-bar"/>
            <p:cNvSpPr/>
            <p:nvPr/>
          </p:nvSpPr>
          <p:spPr>
            <a:xfrm>
              <a:off x="7305675" y="904875"/>
              <a:ext cx="22298025" cy="15621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D8CB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hdr-blue"/>
            <p:cNvSpPr/>
            <p:nvPr/>
          </p:nvSpPr>
          <p:spPr>
            <a:xfrm>
              <a:off x="866775" y="904875"/>
              <a:ext cx="6400800" cy="1571625"/>
            </a:xfrm>
            <a:prstGeom prst="rect">
              <a:avLst/>
            </a:prstGeom>
            <a:solidFill>
              <a:srgbClr val="013F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hdr-title"/>
            <p:cNvSpPr txBox="1"/>
            <p:nvPr/>
          </p:nvSpPr>
          <p:spPr>
            <a:xfrm>
              <a:off x="2733675" y="1304925"/>
              <a:ext cx="266700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制定项目计划</a:t>
              </a:r>
            </a:p>
          </p:txBody>
        </p:sp>
        <p:sp>
          <p:nvSpPr>
            <p:cNvPr id="7" name="hdr-sub"/>
            <p:cNvSpPr txBox="1"/>
            <p:nvPr/>
          </p:nvSpPr>
          <p:spPr>
            <a:xfrm>
              <a:off x="16640175" y="1390650"/>
              <a:ext cx="3619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625" b="0" i="0">
                  <a:solidFill>
                    <a:srgbClr val="3A3A3A"/>
                  </a:solidFill>
                  <a:latin typeface="Microsoft YaHei"/>
                  <a:ea typeface="Microsoft YaHei"/>
                  <a:cs typeface="Microsoft YaHei"/>
                </a:rPr>
                <a:t>流程改进和提高工作</a:t>
              </a:r>
            </a:p>
          </p:txBody>
        </p:sp>
      </p:grpSp>
      <p:grpSp>
        <p:nvGrpSpPr>
          <p:cNvPr id="67" name="month-band-grp"/>
          <p:cNvGrpSpPr/>
          <p:nvPr/>
        </p:nvGrpSpPr>
        <p:grpSpPr>
          <a:xfrm>
            <a:off x="3276600" y="3181350"/>
            <a:ext cx="23822025" cy="990600"/>
            <a:chOff x="3276600" y="3181350"/>
            <a:chExt cx="23822025" cy="990600"/>
          </a:xfrm>
        </p:grpSpPr>
        <p:sp>
          <p:nvSpPr>
            <p:cNvPr id="8" name="month-band"/>
            <p:cNvSpPr/>
            <p:nvPr/>
          </p:nvSpPr>
          <p:spPr>
            <a:xfrm>
              <a:off x="3276600" y="3181350"/>
              <a:ext cx="23822025" cy="9906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month-div-1"/>
            <p:cNvCxnSpPr/>
            <p:nvPr/>
          </p:nvCxnSpPr>
          <p:spPr>
            <a:xfrm>
              <a:off x="4467225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0" name="month-div-2"/>
            <p:cNvCxnSpPr/>
            <p:nvPr/>
          </p:nvCxnSpPr>
          <p:spPr>
            <a:xfrm>
              <a:off x="5657850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1" name="month-div-3"/>
            <p:cNvCxnSpPr/>
            <p:nvPr/>
          </p:nvCxnSpPr>
          <p:spPr>
            <a:xfrm>
              <a:off x="6848475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2" name="month-div-4"/>
            <p:cNvCxnSpPr/>
            <p:nvPr/>
          </p:nvCxnSpPr>
          <p:spPr>
            <a:xfrm>
              <a:off x="8039100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3" name="month-div-5"/>
            <p:cNvCxnSpPr/>
            <p:nvPr/>
          </p:nvCxnSpPr>
          <p:spPr>
            <a:xfrm>
              <a:off x="9229725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4" name="month-div-6"/>
            <p:cNvCxnSpPr/>
            <p:nvPr/>
          </p:nvCxnSpPr>
          <p:spPr>
            <a:xfrm>
              <a:off x="10420350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5" name="month-div-7"/>
            <p:cNvCxnSpPr/>
            <p:nvPr/>
          </p:nvCxnSpPr>
          <p:spPr>
            <a:xfrm>
              <a:off x="11610975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6" name="month-div-8"/>
            <p:cNvCxnSpPr/>
            <p:nvPr/>
          </p:nvCxnSpPr>
          <p:spPr>
            <a:xfrm>
              <a:off x="12801600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7" name="month-div-9"/>
            <p:cNvCxnSpPr/>
            <p:nvPr/>
          </p:nvCxnSpPr>
          <p:spPr>
            <a:xfrm>
              <a:off x="13992225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8" name="month-div-10"/>
            <p:cNvCxnSpPr/>
            <p:nvPr/>
          </p:nvCxnSpPr>
          <p:spPr>
            <a:xfrm>
              <a:off x="15182850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19" name="month-div-11"/>
            <p:cNvCxnSpPr/>
            <p:nvPr/>
          </p:nvCxnSpPr>
          <p:spPr>
            <a:xfrm>
              <a:off x="16373475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0" name="month-div-12"/>
            <p:cNvCxnSpPr/>
            <p:nvPr/>
          </p:nvCxnSpPr>
          <p:spPr>
            <a:xfrm>
              <a:off x="17564100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1" name="month-div-13"/>
            <p:cNvCxnSpPr/>
            <p:nvPr/>
          </p:nvCxnSpPr>
          <p:spPr>
            <a:xfrm>
              <a:off x="18754725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2" name="month-div-14"/>
            <p:cNvCxnSpPr/>
            <p:nvPr/>
          </p:nvCxnSpPr>
          <p:spPr>
            <a:xfrm>
              <a:off x="19945350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3" name="month-div-15"/>
            <p:cNvCxnSpPr/>
            <p:nvPr/>
          </p:nvCxnSpPr>
          <p:spPr>
            <a:xfrm>
              <a:off x="21135975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4" name="month-div-16"/>
            <p:cNvCxnSpPr/>
            <p:nvPr/>
          </p:nvCxnSpPr>
          <p:spPr>
            <a:xfrm>
              <a:off x="22326600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5" name="month-div-17"/>
            <p:cNvCxnSpPr/>
            <p:nvPr/>
          </p:nvCxnSpPr>
          <p:spPr>
            <a:xfrm>
              <a:off x="23517225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6" name="month-div-18"/>
            <p:cNvCxnSpPr/>
            <p:nvPr/>
          </p:nvCxnSpPr>
          <p:spPr>
            <a:xfrm>
              <a:off x="24707850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cxnSp>
          <p:nvCxnSpPr>
            <p:cNvPr id="27" name="month-div-19"/>
            <p:cNvCxnSpPr/>
            <p:nvPr/>
          </p:nvCxnSpPr>
          <p:spPr>
            <a:xfrm>
              <a:off x="25898475" y="3200400"/>
              <a:ext cx="0" cy="933450"/>
            </a:xfrm>
            <a:prstGeom prst="line">
              <a:avLst/>
            </a:prstGeom>
            <a:ln w="2095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fontRef idx="minor">
              <a:schemeClr val="tx1"/>
            </a:fontRef>
          </p:style>
        </p:cxnSp>
        <p:sp>
          <p:nvSpPr>
            <p:cNvPr id="28" name="month-M1"/>
            <p:cNvSpPr txBox="1"/>
            <p:nvPr/>
          </p:nvSpPr>
          <p:spPr>
            <a:xfrm>
              <a:off x="3281362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</a:t>
              </a:r>
            </a:p>
          </p:txBody>
        </p:sp>
        <p:sp>
          <p:nvSpPr>
            <p:cNvPr id="29" name="month-M2"/>
            <p:cNvSpPr txBox="1"/>
            <p:nvPr/>
          </p:nvSpPr>
          <p:spPr>
            <a:xfrm>
              <a:off x="4471988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M2</a:t>
              </a:r>
            </a:p>
          </p:txBody>
        </p:sp>
        <p:sp>
          <p:nvSpPr>
            <p:cNvPr id="30" name="month-M3"/>
            <p:cNvSpPr txBox="1"/>
            <p:nvPr/>
          </p:nvSpPr>
          <p:spPr>
            <a:xfrm>
              <a:off x="5662612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M3</a:t>
              </a:r>
            </a:p>
          </p:txBody>
        </p:sp>
        <p:sp>
          <p:nvSpPr>
            <p:cNvPr id="31" name="month-M4"/>
            <p:cNvSpPr txBox="1"/>
            <p:nvPr/>
          </p:nvSpPr>
          <p:spPr>
            <a:xfrm>
              <a:off x="6853238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M4</a:t>
              </a:r>
            </a:p>
          </p:txBody>
        </p:sp>
        <p:sp>
          <p:nvSpPr>
            <p:cNvPr id="32" name="month-M5"/>
            <p:cNvSpPr txBox="1"/>
            <p:nvPr/>
          </p:nvSpPr>
          <p:spPr>
            <a:xfrm>
              <a:off x="8043862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M5</a:t>
              </a:r>
            </a:p>
          </p:txBody>
        </p:sp>
        <p:sp>
          <p:nvSpPr>
            <p:cNvPr id="33" name="month-M6"/>
            <p:cNvSpPr txBox="1"/>
            <p:nvPr/>
          </p:nvSpPr>
          <p:spPr>
            <a:xfrm>
              <a:off x="9234488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M6</a:t>
              </a:r>
            </a:p>
          </p:txBody>
        </p:sp>
        <p:sp>
          <p:nvSpPr>
            <p:cNvPr id="34" name="month-M7"/>
            <p:cNvSpPr txBox="1"/>
            <p:nvPr/>
          </p:nvSpPr>
          <p:spPr>
            <a:xfrm>
              <a:off x="10425112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M7</a:t>
              </a:r>
            </a:p>
          </p:txBody>
        </p:sp>
        <p:sp>
          <p:nvSpPr>
            <p:cNvPr id="35" name="month-M8"/>
            <p:cNvSpPr txBox="1"/>
            <p:nvPr/>
          </p:nvSpPr>
          <p:spPr>
            <a:xfrm>
              <a:off x="11615738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M8</a:t>
              </a:r>
            </a:p>
          </p:txBody>
        </p:sp>
        <p:sp>
          <p:nvSpPr>
            <p:cNvPr id="36" name="month-M9"/>
            <p:cNvSpPr txBox="1"/>
            <p:nvPr/>
          </p:nvSpPr>
          <p:spPr>
            <a:xfrm>
              <a:off x="12806362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M9</a:t>
              </a:r>
            </a:p>
          </p:txBody>
        </p:sp>
        <p:sp>
          <p:nvSpPr>
            <p:cNvPr id="37" name="month-M10"/>
            <p:cNvSpPr txBox="1"/>
            <p:nvPr/>
          </p:nvSpPr>
          <p:spPr>
            <a:xfrm>
              <a:off x="13996988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M10</a:t>
              </a:r>
            </a:p>
          </p:txBody>
        </p:sp>
        <p:sp>
          <p:nvSpPr>
            <p:cNvPr id="38" name="month-M11"/>
            <p:cNvSpPr txBox="1"/>
            <p:nvPr/>
          </p:nvSpPr>
          <p:spPr>
            <a:xfrm>
              <a:off x="15187612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M11</a:t>
              </a:r>
            </a:p>
          </p:txBody>
        </p:sp>
        <p:sp>
          <p:nvSpPr>
            <p:cNvPr id="39" name="month-M12"/>
            <p:cNvSpPr txBox="1"/>
            <p:nvPr/>
          </p:nvSpPr>
          <p:spPr>
            <a:xfrm>
              <a:off x="16378238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M12</a:t>
              </a:r>
            </a:p>
          </p:txBody>
        </p:sp>
        <p:sp>
          <p:nvSpPr>
            <p:cNvPr id="40" name="month-M13"/>
            <p:cNvSpPr txBox="1"/>
            <p:nvPr/>
          </p:nvSpPr>
          <p:spPr>
            <a:xfrm>
              <a:off x="17568862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M13</a:t>
              </a:r>
            </a:p>
          </p:txBody>
        </p:sp>
        <p:sp>
          <p:nvSpPr>
            <p:cNvPr id="41" name="month-M14"/>
            <p:cNvSpPr txBox="1"/>
            <p:nvPr/>
          </p:nvSpPr>
          <p:spPr>
            <a:xfrm>
              <a:off x="18759488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M14</a:t>
              </a:r>
            </a:p>
          </p:txBody>
        </p:sp>
        <p:sp>
          <p:nvSpPr>
            <p:cNvPr id="42" name="month-M15"/>
            <p:cNvSpPr txBox="1"/>
            <p:nvPr/>
          </p:nvSpPr>
          <p:spPr>
            <a:xfrm>
              <a:off x="19950112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M15</a:t>
              </a:r>
            </a:p>
          </p:txBody>
        </p:sp>
        <p:sp>
          <p:nvSpPr>
            <p:cNvPr id="43" name="month-M16"/>
            <p:cNvSpPr txBox="1"/>
            <p:nvPr/>
          </p:nvSpPr>
          <p:spPr>
            <a:xfrm>
              <a:off x="21140738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M16</a:t>
              </a:r>
            </a:p>
          </p:txBody>
        </p:sp>
        <p:sp>
          <p:nvSpPr>
            <p:cNvPr id="44" name="month-M17"/>
            <p:cNvSpPr txBox="1"/>
            <p:nvPr/>
          </p:nvSpPr>
          <p:spPr>
            <a:xfrm>
              <a:off x="22331362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M17</a:t>
              </a:r>
            </a:p>
          </p:txBody>
        </p:sp>
        <p:sp>
          <p:nvSpPr>
            <p:cNvPr id="45" name="month-M18"/>
            <p:cNvSpPr txBox="1"/>
            <p:nvPr/>
          </p:nvSpPr>
          <p:spPr>
            <a:xfrm>
              <a:off x="23521988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M18</a:t>
              </a:r>
            </a:p>
          </p:txBody>
        </p:sp>
        <p:sp>
          <p:nvSpPr>
            <p:cNvPr id="46" name="month-M19"/>
            <p:cNvSpPr txBox="1"/>
            <p:nvPr/>
          </p:nvSpPr>
          <p:spPr>
            <a:xfrm>
              <a:off x="24712612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M19</a:t>
              </a:r>
            </a:p>
          </p:txBody>
        </p:sp>
        <p:sp>
          <p:nvSpPr>
            <p:cNvPr id="47" name="month-M20"/>
            <p:cNvSpPr txBox="1"/>
            <p:nvPr/>
          </p:nvSpPr>
          <p:spPr>
            <a:xfrm>
              <a:off x="25903238" y="3381375"/>
              <a:ext cx="11811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M20</a:t>
              </a:r>
            </a:p>
          </p:txBody>
        </p:sp>
      </p:grpSp>
      <p:grpSp>
        <p:nvGrpSpPr>
          <p:cNvPr id="73" name="phase-labels"/>
          <p:cNvGrpSpPr/>
          <p:nvPr/>
        </p:nvGrpSpPr>
        <p:grpSpPr>
          <a:xfrm>
            <a:off x="3038951" y="4476750"/>
            <a:ext cx="23897272" cy="552450"/>
            <a:chOff x="3038951" y="4476750"/>
            <a:chExt cx="23897272" cy="552450"/>
          </a:xfrm>
        </p:grpSpPr>
        <p:sp>
          <p:nvSpPr>
            <p:cNvPr id="48" name="phase-1"/>
            <p:cNvSpPr txBox="1"/>
            <p:nvPr/>
          </p:nvSpPr>
          <p:spPr>
            <a:xfrm>
              <a:off x="3038951" y="4476750"/>
              <a:ext cx="1665922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合同签订</a:t>
              </a:r>
            </a:p>
          </p:txBody>
        </p:sp>
        <p:sp>
          <p:nvSpPr>
            <p:cNvPr id="49" name="phase-2"/>
            <p:cNvSpPr txBox="1"/>
            <p:nvPr/>
          </p:nvSpPr>
          <p:spPr>
            <a:xfrm>
              <a:off x="7087076" y="4476750"/>
              <a:ext cx="1665922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初始阶段</a:t>
              </a:r>
            </a:p>
          </p:txBody>
        </p:sp>
        <p:sp>
          <p:nvSpPr>
            <p:cNvPr id="50" name="phase-3"/>
            <p:cNvSpPr txBox="1"/>
            <p:nvPr/>
          </p:nvSpPr>
          <p:spPr>
            <a:xfrm>
              <a:off x="10183178" y="4476750"/>
              <a:ext cx="249364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项目季度回顾</a:t>
              </a:r>
            </a:p>
          </p:txBody>
        </p:sp>
        <p:sp>
          <p:nvSpPr>
            <p:cNvPr id="51" name="phase-4"/>
            <p:cNvSpPr txBox="1"/>
            <p:nvPr/>
          </p:nvSpPr>
          <p:spPr>
            <a:xfrm>
              <a:off x="13926026" y="4476750"/>
              <a:ext cx="2504123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项目季度回顾</a:t>
              </a:r>
            </a:p>
          </p:txBody>
        </p:sp>
        <p:sp>
          <p:nvSpPr>
            <p:cNvPr id="52" name="phase-5"/>
            <p:cNvSpPr txBox="1"/>
            <p:nvPr/>
          </p:nvSpPr>
          <p:spPr>
            <a:xfrm>
              <a:off x="17679352" y="4476750"/>
              <a:ext cx="249364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验证完善阶段</a:t>
              </a:r>
            </a:p>
          </p:txBody>
        </p:sp>
        <p:sp>
          <p:nvSpPr>
            <p:cNvPr id="53" name="phase-6"/>
            <p:cNvSpPr txBox="1"/>
            <p:nvPr/>
          </p:nvSpPr>
          <p:spPr>
            <a:xfrm>
              <a:off x="21670328" y="4476750"/>
              <a:ext cx="249364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项目季度回顾</a:t>
              </a:r>
            </a:p>
          </p:txBody>
        </p:sp>
        <p:sp>
          <p:nvSpPr>
            <p:cNvPr id="54" name="phase-7"/>
            <p:cNvSpPr txBox="1"/>
            <p:nvPr/>
          </p:nvSpPr>
          <p:spPr>
            <a:xfrm>
              <a:off x="25270301" y="4476750"/>
              <a:ext cx="1665922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项目终验</a:t>
              </a:r>
            </a:p>
          </p:txBody>
        </p:sp>
      </p:grpSp>
      <p:grpSp>
        <p:nvGrpSpPr>
          <p:cNvPr id="69" name="task-row-1"/>
          <p:cNvGrpSpPr/>
          <p:nvPr/>
        </p:nvGrpSpPr>
        <p:grpSpPr>
          <a:xfrm>
            <a:off x="5657850" y="5743575"/>
            <a:ext cx="5953125" cy="847725"/>
            <a:chOff x="5657850" y="5743575"/>
            <a:chExt cx="5953125" cy="847725"/>
          </a:xfrm>
        </p:grpSpPr>
        <p:sp>
          <p:nvSpPr>
            <p:cNvPr id="55" name="task-1-bg"/>
            <p:cNvSpPr/>
            <p:nvPr/>
          </p:nvSpPr>
          <p:spPr>
            <a:xfrm>
              <a:off x="5657850" y="5743575"/>
              <a:ext cx="5953125" cy="847725"/>
            </a:xfrm>
            <a:custGeom>
              <a:avLst/>
              <a:gdLst/>
              <a:ahLst/>
              <a:cxnLst/>
              <a:rect l="l" t="t" r="r" b="b"/>
              <a:pathLst>
                <a:path w="5953125" h="847725">
                  <a:moveTo>
                    <a:pt x="0" y="0"/>
                  </a:moveTo>
                  <a:lnTo>
                    <a:pt x="5529262" y="0"/>
                  </a:lnTo>
                  <a:lnTo>
                    <a:pt x="5529262" y="0"/>
                  </a:lnTo>
                  <a:lnTo>
                    <a:pt x="5574030" y="1905"/>
                  </a:lnTo>
                  <a:lnTo>
                    <a:pt x="5617845" y="9525"/>
                  </a:lnTo>
                  <a:lnTo>
                    <a:pt x="5660708" y="20955"/>
                  </a:lnTo>
                  <a:lnTo>
                    <a:pt x="5701665" y="36195"/>
                  </a:lnTo>
                  <a:lnTo>
                    <a:pt x="5741670" y="57150"/>
                  </a:lnTo>
                  <a:lnTo>
                    <a:pt x="5778818" y="80963"/>
                  </a:lnTo>
                  <a:lnTo>
                    <a:pt x="5813108" y="108585"/>
                  </a:lnTo>
                  <a:lnTo>
                    <a:pt x="5844540" y="140017"/>
                  </a:lnTo>
                  <a:lnTo>
                    <a:pt x="5872162" y="174307"/>
                  </a:lnTo>
                  <a:lnTo>
                    <a:pt x="5895975" y="211455"/>
                  </a:lnTo>
                  <a:lnTo>
                    <a:pt x="5916930" y="251460"/>
                  </a:lnTo>
                  <a:lnTo>
                    <a:pt x="5932170" y="292417"/>
                  </a:lnTo>
                  <a:lnTo>
                    <a:pt x="5943600" y="335280"/>
                  </a:lnTo>
                  <a:lnTo>
                    <a:pt x="5951220" y="379095"/>
                  </a:lnTo>
                  <a:lnTo>
                    <a:pt x="5953125" y="423863"/>
                  </a:lnTo>
                  <a:lnTo>
                    <a:pt x="5951220" y="468630"/>
                  </a:lnTo>
                  <a:lnTo>
                    <a:pt x="5943600" y="512445"/>
                  </a:lnTo>
                  <a:lnTo>
                    <a:pt x="5932170" y="555307"/>
                  </a:lnTo>
                  <a:lnTo>
                    <a:pt x="5916930" y="596265"/>
                  </a:lnTo>
                  <a:lnTo>
                    <a:pt x="5895975" y="636270"/>
                  </a:lnTo>
                  <a:lnTo>
                    <a:pt x="5872162" y="673417"/>
                  </a:lnTo>
                  <a:lnTo>
                    <a:pt x="5844540" y="707707"/>
                  </a:lnTo>
                  <a:lnTo>
                    <a:pt x="5813108" y="739140"/>
                  </a:lnTo>
                  <a:lnTo>
                    <a:pt x="5778818" y="766763"/>
                  </a:lnTo>
                  <a:lnTo>
                    <a:pt x="5741670" y="790575"/>
                  </a:lnTo>
                  <a:lnTo>
                    <a:pt x="5701665" y="811530"/>
                  </a:lnTo>
                  <a:lnTo>
                    <a:pt x="5660708" y="826770"/>
                  </a:lnTo>
                  <a:lnTo>
                    <a:pt x="5617845" y="838200"/>
                  </a:lnTo>
                  <a:lnTo>
                    <a:pt x="5574030" y="845820"/>
                  </a:lnTo>
                  <a:lnTo>
                    <a:pt x="5529262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ask-1-txt"/>
            <p:cNvSpPr txBox="1"/>
            <p:nvPr/>
          </p:nvSpPr>
          <p:spPr>
            <a:xfrm>
              <a:off x="6343650" y="5781675"/>
              <a:ext cx="4682385" cy="7715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37" b="0" i="0">
                  <a:solidFill>
                    <a:srgbClr val="220000"/>
                  </a:solidFill>
                  <a:latin typeface="Microsoft YaHei"/>
                  <a:ea typeface="Microsoft YaHei"/>
                  <a:cs typeface="Microsoft YaHei"/>
                </a:rPr>
                <a:t>1.建立流程评估表（KPI）</a:t>
              </a:r>
            </a:p>
          </p:txBody>
        </p:sp>
      </p:grpSp>
      <p:grpSp>
        <p:nvGrpSpPr>
          <p:cNvPr id="68" name="task-row-2"/>
          <p:cNvGrpSpPr/>
          <p:nvPr/>
        </p:nvGrpSpPr>
        <p:grpSpPr>
          <a:xfrm>
            <a:off x="6296025" y="6943725"/>
            <a:ext cx="20259675" cy="847725"/>
            <a:chOff x="6296025" y="6943725"/>
            <a:chExt cx="20259675" cy="847725"/>
          </a:xfrm>
        </p:grpSpPr>
        <p:sp>
          <p:nvSpPr>
            <p:cNvPr id="57" name="task-2-bg"/>
            <p:cNvSpPr/>
            <p:nvPr/>
          </p:nvSpPr>
          <p:spPr>
            <a:xfrm>
              <a:off x="6296025" y="6943725"/>
              <a:ext cx="20259675" cy="847725"/>
            </a:xfrm>
            <a:custGeom>
              <a:avLst/>
              <a:gdLst/>
              <a:ahLst/>
              <a:cxnLst/>
              <a:rect l="l" t="t" r="r" b="b"/>
              <a:pathLst>
                <a:path w="20259675" h="847725">
                  <a:moveTo>
                    <a:pt x="0" y="0"/>
                  </a:moveTo>
                  <a:lnTo>
                    <a:pt x="19835813" y="0"/>
                  </a:lnTo>
                  <a:lnTo>
                    <a:pt x="19835813" y="0"/>
                  </a:lnTo>
                  <a:lnTo>
                    <a:pt x="19880580" y="1905"/>
                  </a:lnTo>
                  <a:lnTo>
                    <a:pt x="19924395" y="9525"/>
                  </a:lnTo>
                  <a:lnTo>
                    <a:pt x="19967257" y="20955"/>
                  </a:lnTo>
                  <a:lnTo>
                    <a:pt x="20008215" y="36195"/>
                  </a:lnTo>
                  <a:lnTo>
                    <a:pt x="20048220" y="57150"/>
                  </a:lnTo>
                  <a:lnTo>
                    <a:pt x="20085367" y="80963"/>
                  </a:lnTo>
                  <a:lnTo>
                    <a:pt x="20119657" y="108585"/>
                  </a:lnTo>
                  <a:lnTo>
                    <a:pt x="20151090" y="140017"/>
                  </a:lnTo>
                  <a:lnTo>
                    <a:pt x="20178713" y="174307"/>
                  </a:lnTo>
                  <a:lnTo>
                    <a:pt x="20202525" y="211455"/>
                  </a:lnTo>
                  <a:lnTo>
                    <a:pt x="20223480" y="251460"/>
                  </a:lnTo>
                  <a:lnTo>
                    <a:pt x="20238720" y="292417"/>
                  </a:lnTo>
                  <a:lnTo>
                    <a:pt x="20250150" y="335280"/>
                  </a:lnTo>
                  <a:lnTo>
                    <a:pt x="20257770" y="379095"/>
                  </a:lnTo>
                  <a:lnTo>
                    <a:pt x="20259675" y="423863"/>
                  </a:lnTo>
                  <a:lnTo>
                    <a:pt x="20257770" y="468630"/>
                  </a:lnTo>
                  <a:lnTo>
                    <a:pt x="20250150" y="512445"/>
                  </a:lnTo>
                  <a:lnTo>
                    <a:pt x="20238720" y="555307"/>
                  </a:lnTo>
                  <a:lnTo>
                    <a:pt x="20223480" y="596265"/>
                  </a:lnTo>
                  <a:lnTo>
                    <a:pt x="20202525" y="636270"/>
                  </a:lnTo>
                  <a:lnTo>
                    <a:pt x="20178713" y="673417"/>
                  </a:lnTo>
                  <a:lnTo>
                    <a:pt x="20151090" y="707707"/>
                  </a:lnTo>
                  <a:lnTo>
                    <a:pt x="20119657" y="739140"/>
                  </a:lnTo>
                  <a:lnTo>
                    <a:pt x="20085367" y="766763"/>
                  </a:lnTo>
                  <a:lnTo>
                    <a:pt x="20048220" y="790575"/>
                  </a:lnTo>
                  <a:lnTo>
                    <a:pt x="20008215" y="811530"/>
                  </a:lnTo>
                  <a:lnTo>
                    <a:pt x="19967257" y="826770"/>
                  </a:lnTo>
                  <a:lnTo>
                    <a:pt x="19924395" y="838200"/>
                  </a:lnTo>
                  <a:lnTo>
                    <a:pt x="19880580" y="845820"/>
                  </a:lnTo>
                  <a:lnTo>
                    <a:pt x="19835813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ask-2-txt"/>
            <p:cNvSpPr txBox="1"/>
            <p:nvPr/>
          </p:nvSpPr>
          <p:spPr>
            <a:xfrm>
              <a:off x="8424862" y="6981825"/>
              <a:ext cx="17412652" cy="7715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77" b="0" i="0" spc="-27">
                  <a:solidFill>
                    <a:srgbClr val="220000"/>
                  </a:solidFill>
                  <a:latin typeface="Microsoft YaHei"/>
                  <a:ea typeface="Microsoft YaHei"/>
                  <a:cs typeface="Microsoft YaHei"/>
                </a:rPr>
                <a:t>2.针对评估表KPI对当前流程运行分析，按月产生分析报告（考虑写入月报终），明确改进内容</a:t>
              </a:r>
            </a:p>
          </p:txBody>
        </p:sp>
      </p:grpSp>
      <p:grpSp>
        <p:nvGrpSpPr>
          <p:cNvPr id="70" name="task-row-3"/>
          <p:cNvGrpSpPr/>
          <p:nvPr/>
        </p:nvGrpSpPr>
        <p:grpSpPr>
          <a:xfrm>
            <a:off x="6838950" y="8172450"/>
            <a:ext cx="19707225" cy="838200"/>
            <a:chOff x="6838950" y="8172450"/>
            <a:chExt cx="19707225" cy="838200"/>
          </a:xfrm>
        </p:grpSpPr>
        <p:sp>
          <p:nvSpPr>
            <p:cNvPr id="59" name="task-3-bg"/>
            <p:cNvSpPr/>
            <p:nvPr/>
          </p:nvSpPr>
          <p:spPr>
            <a:xfrm>
              <a:off x="6838950" y="8172450"/>
              <a:ext cx="19707225" cy="838200"/>
            </a:xfrm>
            <a:custGeom>
              <a:avLst/>
              <a:gdLst/>
              <a:ahLst/>
              <a:cxnLst/>
              <a:rect l="l" t="t" r="r" b="b"/>
              <a:pathLst>
                <a:path w="19707225" h="838200">
                  <a:moveTo>
                    <a:pt x="0" y="0"/>
                  </a:moveTo>
                  <a:lnTo>
                    <a:pt x="19288125" y="0"/>
                  </a:lnTo>
                  <a:lnTo>
                    <a:pt x="19288125" y="0"/>
                  </a:lnTo>
                  <a:lnTo>
                    <a:pt x="19331940" y="1905"/>
                  </a:lnTo>
                  <a:lnTo>
                    <a:pt x="19374802" y="9525"/>
                  </a:lnTo>
                  <a:lnTo>
                    <a:pt x="19417665" y="20955"/>
                  </a:lnTo>
                  <a:lnTo>
                    <a:pt x="19458622" y="36195"/>
                  </a:lnTo>
                  <a:lnTo>
                    <a:pt x="19497675" y="56198"/>
                  </a:lnTo>
                  <a:lnTo>
                    <a:pt x="19534822" y="80010"/>
                  </a:lnTo>
                  <a:lnTo>
                    <a:pt x="19568160" y="107632"/>
                  </a:lnTo>
                  <a:lnTo>
                    <a:pt x="19599592" y="139065"/>
                  </a:lnTo>
                  <a:lnTo>
                    <a:pt x="19627215" y="172402"/>
                  </a:lnTo>
                  <a:lnTo>
                    <a:pt x="19651028" y="209550"/>
                  </a:lnTo>
                  <a:lnTo>
                    <a:pt x="19671030" y="248602"/>
                  </a:lnTo>
                  <a:lnTo>
                    <a:pt x="19686270" y="289560"/>
                  </a:lnTo>
                  <a:lnTo>
                    <a:pt x="19697700" y="332422"/>
                  </a:lnTo>
                  <a:lnTo>
                    <a:pt x="19705320" y="375285"/>
                  </a:lnTo>
                  <a:lnTo>
                    <a:pt x="19707225" y="419100"/>
                  </a:lnTo>
                  <a:lnTo>
                    <a:pt x="19705320" y="462915"/>
                  </a:lnTo>
                  <a:lnTo>
                    <a:pt x="19697700" y="505778"/>
                  </a:lnTo>
                  <a:lnTo>
                    <a:pt x="19686270" y="548640"/>
                  </a:lnTo>
                  <a:lnTo>
                    <a:pt x="19671030" y="589598"/>
                  </a:lnTo>
                  <a:lnTo>
                    <a:pt x="19651028" y="628650"/>
                  </a:lnTo>
                  <a:lnTo>
                    <a:pt x="19627215" y="665798"/>
                  </a:lnTo>
                  <a:lnTo>
                    <a:pt x="19599592" y="699135"/>
                  </a:lnTo>
                  <a:lnTo>
                    <a:pt x="19568160" y="730568"/>
                  </a:lnTo>
                  <a:lnTo>
                    <a:pt x="19534822" y="758190"/>
                  </a:lnTo>
                  <a:lnTo>
                    <a:pt x="19497675" y="782002"/>
                  </a:lnTo>
                  <a:lnTo>
                    <a:pt x="19458622" y="802005"/>
                  </a:lnTo>
                  <a:lnTo>
                    <a:pt x="19417665" y="817245"/>
                  </a:lnTo>
                  <a:lnTo>
                    <a:pt x="19374802" y="828675"/>
                  </a:lnTo>
                  <a:lnTo>
                    <a:pt x="19331940" y="836295"/>
                  </a:lnTo>
                  <a:lnTo>
                    <a:pt x="19288125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ask-3-txt"/>
            <p:cNvSpPr txBox="1"/>
            <p:nvPr/>
          </p:nvSpPr>
          <p:spPr>
            <a:xfrm>
              <a:off x="9539288" y="8210550"/>
              <a:ext cx="15505748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85" b="0" i="0">
                  <a:solidFill>
                    <a:srgbClr val="220000"/>
                  </a:solidFill>
                  <a:latin typeface="Microsoft YaHei"/>
                  <a:ea typeface="Microsoft YaHei"/>
                  <a:cs typeface="Microsoft YaHei"/>
                </a:rPr>
                <a:t>3.将流程改进内容写入持续改进计划表，具体制定改进任务负责人、并配合跟踪落地</a:t>
              </a:r>
            </a:p>
          </p:txBody>
        </p:sp>
      </p:grpSp>
      <p:grpSp>
        <p:nvGrpSpPr>
          <p:cNvPr id="72" name="task-row-4"/>
          <p:cNvGrpSpPr/>
          <p:nvPr/>
        </p:nvGrpSpPr>
        <p:grpSpPr>
          <a:xfrm>
            <a:off x="7600950" y="9391650"/>
            <a:ext cx="18954750" cy="847725"/>
            <a:chOff x="7600950" y="9391650"/>
            <a:chExt cx="18954750" cy="847725"/>
          </a:xfrm>
        </p:grpSpPr>
        <p:sp>
          <p:nvSpPr>
            <p:cNvPr id="61" name="task-4-bg"/>
            <p:cNvSpPr/>
            <p:nvPr/>
          </p:nvSpPr>
          <p:spPr>
            <a:xfrm>
              <a:off x="7600950" y="9391650"/>
              <a:ext cx="18954750" cy="847725"/>
            </a:xfrm>
            <a:custGeom>
              <a:avLst/>
              <a:gdLst/>
              <a:ahLst/>
              <a:cxnLst/>
              <a:rect l="l" t="t" r="r" b="b"/>
              <a:pathLst>
                <a:path w="18954750" h="847725">
                  <a:moveTo>
                    <a:pt x="0" y="0"/>
                  </a:moveTo>
                  <a:lnTo>
                    <a:pt x="18530888" y="0"/>
                  </a:lnTo>
                  <a:lnTo>
                    <a:pt x="18530888" y="0"/>
                  </a:lnTo>
                  <a:lnTo>
                    <a:pt x="18575655" y="1905"/>
                  </a:lnTo>
                  <a:lnTo>
                    <a:pt x="18619470" y="9525"/>
                  </a:lnTo>
                  <a:lnTo>
                    <a:pt x="18662332" y="20955"/>
                  </a:lnTo>
                  <a:lnTo>
                    <a:pt x="18703290" y="36195"/>
                  </a:lnTo>
                  <a:lnTo>
                    <a:pt x="18743295" y="57150"/>
                  </a:lnTo>
                  <a:lnTo>
                    <a:pt x="18780442" y="80962"/>
                  </a:lnTo>
                  <a:lnTo>
                    <a:pt x="18814732" y="108585"/>
                  </a:lnTo>
                  <a:lnTo>
                    <a:pt x="18846165" y="140018"/>
                  </a:lnTo>
                  <a:lnTo>
                    <a:pt x="18873788" y="174308"/>
                  </a:lnTo>
                  <a:lnTo>
                    <a:pt x="18897600" y="211455"/>
                  </a:lnTo>
                  <a:lnTo>
                    <a:pt x="18918555" y="251460"/>
                  </a:lnTo>
                  <a:lnTo>
                    <a:pt x="18933795" y="292418"/>
                  </a:lnTo>
                  <a:lnTo>
                    <a:pt x="18945225" y="335280"/>
                  </a:lnTo>
                  <a:lnTo>
                    <a:pt x="18952845" y="379095"/>
                  </a:lnTo>
                  <a:lnTo>
                    <a:pt x="18954750" y="423862"/>
                  </a:lnTo>
                  <a:lnTo>
                    <a:pt x="18952845" y="468630"/>
                  </a:lnTo>
                  <a:lnTo>
                    <a:pt x="18945225" y="512445"/>
                  </a:lnTo>
                  <a:lnTo>
                    <a:pt x="18933795" y="555308"/>
                  </a:lnTo>
                  <a:lnTo>
                    <a:pt x="18918555" y="596265"/>
                  </a:lnTo>
                  <a:lnTo>
                    <a:pt x="18897600" y="636270"/>
                  </a:lnTo>
                  <a:lnTo>
                    <a:pt x="18873788" y="673418"/>
                  </a:lnTo>
                  <a:lnTo>
                    <a:pt x="18846165" y="707708"/>
                  </a:lnTo>
                  <a:lnTo>
                    <a:pt x="18814732" y="739140"/>
                  </a:lnTo>
                  <a:lnTo>
                    <a:pt x="18780442" y="766762"/>
                  </a:lnTo>
                  <a:lnTo>
                    <a:pt x="18743295" y="790575"/>
                  </a:lnTo>
                  <a:lnTo>
                    <a:pt x="18703290" y="811530"/>
                  </a:lnTo>
                  <a:lnTo>
                    <a:pt x="18662332" y="826770"/>
                  </a:lnTo>
                  <a:lnTo>
                    <a:pt x="18619470" y="838200"/>
                  </a:lnTo>
                  <a:lnTo>
                    <a:pt x="18575655" y="845820"/>
                  </a:lnTo>
                  <a:lnTo>
                    <a:pt x="18530888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ask-4-txt"/>
            <p:cNvSpPr txBox="1"/>
            <p:nvPr/>
          </p:nvSpPr>
          <p:spPr>
            <a:xfrm>
              <a:off x="11168062" y="9429750"/>
              <a:ext cx="12823508" cy="7715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62" b="0" i="0" spc="-31">
                  <a:solidFill>
                    <a:srgbClr val="220000"/>
                  </a:solidFill>
                  <a:latin typeface="Microsoft YaHei"/>
                  <a:ea typeface="Microsoft YaHei"/>
                  <a:cs typeface="Microsoft YaHei"/>
                </a:rPr>
                <a:t>4.帕累托图统计历史问题，利用2/8原则发现重要问题，制定改进计划</a:t>
              </a:r>
            </a:p>
          </p:txBody>
        </p:sp>
      </p:grpSp>
      <p:grpSp>
        <p:nvGrpSpPr>
          <p:cNvPr id="71" name="task-row-5"/>
          <p:cNvGrpSpPr/>
          <p:nvPr/>
        </p:nvGrpSpPr>
        <p:grpSpPr>
          <a:xfrm>
            <a:off x="8315325" y="10572750"/>
            <a:ext cx="18230850" cy="838200"/>
            <a:chOff x="8315325" y="10572750"/>
            <a:chExt cx="18230850" cy="838200"/>
          </a:xfrm>
        </p:grpSpPr>
        <p:sp>
          <p:nvSpPr>
            <p:cNvPr id="63" name="task-5-bg"/>
            <p:cNvSpPr/>
            <p:nvPr/>
          </p:nvSpPr>
          <p:spPr>
            <a:xfrm>
              <a:off x="8315325" y="10572750"/>
              <a:ext cx="18230850" cy="838200"/>
            </a:xfrm>
            <a:custGeom>
              <a:avLst/>
              <a:gdLst/>
              <a:ahLst/>
              <a:cxnLst/>
              <a:rect l="l" t="t" r="r" b="b"/>
              <a:pathLst>
                <a:path w="18230850" h="838200">
                  <a:moveTo>
                    <a:pt x="0" y="0"/>
                  </a:moveTo>
                  <a:lnTo>
                    <a:pt x="17811750" y="0"/>
                  </a:lnTo>
                  <a:lnTo>
                    <a:pt x="17811750" y="0"/>
                  </a:lnTo>
                  <a:lnTo>
                    <a:pt x="17855565" y="1905"/>
                  </a:lnTo>
                  <a:lnTo>
                    <a:pt x="17898427" y="9525"/>
                  </a:lnTo>
                  <a:lnTo>
                    <a:pt x="17941290" y="20955"/>
                  </a:lnTo>
                  <a:lnTo>
                    <a:pt x="17982247" y="36195"/>
                  </a:lnTo>
                  <a:lnTo>
                    <a:pt x="18021300" y="56198"/>
                  </a:lnTo>
                  <a:lnTo>
                    <a:pt x="18058447" y="80010"/>
                  </a:lnTo>
                  <a:lnTo>
                    <a:pt x="18091785" y="107632"/>
                  </a:lnTo>
                  <a:lnTo>
                    <a:pt x="18123217" y="139065"/>
                  </a:lnTo>
                  <a:lnTo>
                    <a:pt x="18150840" y="172402"/>
                  </a:lnTo>
                  <a:lnTo>
                    <a:pt x="18174653" y="209550"/>
                  </a:lnTo>
                  <a:lnTo>
                    <a:pt x="18194655" y="248602"/>
                  </a:lnTo>
                  <a:lnTo>
                    <a:pt x="18209895" y="289560"/>
                  </a:lnTo>
                  <a:lnTo>
                    <a:pt x="18221325" y="332422"/>
                  </a:lnTo>
                  <a:lnTo>
                    <a:pt x="18228945" y="375285"/>
                  </a:lnTo>
                  <a:lnTo>
                    <a:pt x="18230850" y="419100"/>
                  </a:lnTo>
                  <a:lnTo>
                    <a:pt x="18228945" y="462915"/>
                  </a:lnTo>
                  <a:lnTo>
                    <a:pt x="18221325" y="505778"/>
                  </a:lnTo>
                  <a:lnTo>
                    <a:pt x="18209895" y="548640"/>
                  </a:lnTo>
                  <a:lnTo>
                    <a:pt x="18194655" y="589598"/>
                  </a:lnTo>
                  <a:lnTo>
                    <a:pt x="18174653" y="628650"/>
                  </a:lnTo>
                  <a:lnTo>
                    <a:pt x="18150840" y="665798"/>
                  </a:lnTo>
                  <a:lnTo>
                    <a:pt x="18123217" y="699135"/>
                  </a:lnTo>
                  <a:lnTo>
                    <a:pt x="18091785" y="730568"/>
                  </a:lnTo>
                  <a:lnTo>
                    <a:pt x="18058447" y="758190"/>
                  </a:lnTo>
                  <a:lnTo>
                    <a:pt x="18021300" y="782002"/>
                  </a:lnTo>
                  <a:lnTo>
                    <a:pt x="17982247" y="802005"/>
                  </a:lnTo>
                  <a:lnTo>
                    <a:pt x="17941290" y="817245"/>
                  </a:lnTo>
                  <a:lnTo>
                    <a:pt x="17898427" y="828675"/>
                  </a:lnTo>
                  <a:lnTo>
                    <a:pt x="17855565" y="836295"/>
                  </a:lnTo>
                  <a:lnTo>
                    <a:pt x="1781175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57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ask-5-txt"/>
            <p:cNvSpPr txBox="1"/>
            <p:nvPr/>
          </p:nvSpPr>
          <p:spPr>
            <a:xfrm>
              <a:off x="11244262" y="10610850"/>
              <a:ext cx="13085445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70" b="0" i="0" spc="-35">
                  <a:solidFill>
                    <a:srgbClr val="220000"/>
                  </a:solidFill>
                  <a:latin typeface="Microsoft YaHei"/>
                  <a:ea typeface="Microsoft YaHei"/>
                  <a:cs typeface="Microsoft YaHei"/>
                </a:rPr>
                <a:t>5.建立主动流程行为分析图（PBC图），指导运维决策和流程持续改进。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