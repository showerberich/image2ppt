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frame-top"/>
          <p:cNvCxnSpPr/>
          <p:nvPr/>
        </p:nvCxnSpPr>
        <p:spPr>
          <a:xfrm>
            <a:off x="0" y="42862"/>
            <a:ext cx="30470475" cy="0"/>
          </a:xfrm>
          <a:prstGeom prst="line">
            <a:avLst/>
          </a:prstGeom>
          <a:ln w="22859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4" name="frame-left"/>
          <p:cNvCxnSpPr/>
          <p:nvPr/>
        </p:nvCxnSpPr>
        <p:spPr>
          <a:xfrm>
            <a:off x="4762" y="0"/>
            <a:ext cx="0" cy="17145000"/>
          </a:xfrm>
          <a:prstGeom prst="line">
            <a:avLst/>
          </a:prstGeom>
          <a:ln w="1524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5" name="frame-right"/>
          <p:cNvCxnSpPr/>
          <p:nvPr/>
        </p:nvCxnSpPr>
        <p:spPr>
          <a:xfrm>
            <a:off x="30460950" y="0"/>
            <a:ext cx="0" cy="17145000"/>
          </a:xfrm>
          <a:prstGeom prst="line">
            <a:avLst/>
          </a:prstGeom>
          <a:ln w="1524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6" name="hdr-band"/>
          <p:cNvSpPr/>
          <p:nvPr/>
        </p:nvSpPr>
        <p:spPr>
          <a:xfrm>
            <a:off x="904875" y="971550"/>
            <a:ext cx="28746450" cy="1562100"/>
          </a:xfrm>
          <a:prstGeom prst="rect">
            <a:avLst/>
          </a:prstGeom>
          <a:solidFill>
            <a:srgbClr val="FFFFFF"/>
          </a:solidFill>
          <a:ln w="38100">
            <a:solidFill>
              <a:srgbClr val="D8C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dr-blue"/>
          <p:cNvSpPr/>
          <p:nvPr/>
        </p:nvSpPr>
        <p:spPr>
          <a:xfrm>
            <a:off x="904875" y="971550"/>
            <a:ext cx="6410325" cy="1562100"/>
          </a:xfrm>
          <a:prstGeom prst="rect">
            <a:avLst/>
          </a:prstGeom>
          <a:solidFill>
            <a:srgbClr val="013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left"/>
          <p:cNvSpPr txBox="1"/>
          <p:nvPr/>
        </p:nvSpPr>
        <p:spPr>
          <a:xfrm>
            <a:off x="904875" y="1409700"/>
            <a:ext cx="6410325" cy="5905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制定项目计划</a:t>
            </a:r>
          </a:p>
        </p:txBody>
      </p:sp>
      <p:sp>
        <p:nvSpPr>
          <p:cNvPr id="9" name="hdr-title"/>
          <p:cNvSpPr txBox="1"/>
          <p:nvPr/>
        </p:nvSpPr>
        <p:spPr>
          <a:xfrm>
            <a:off x="11325225" y="1495425"/>
            <a:ext cx="14287500" cy="476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25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项目实施计划</a:t>
            </a:r>
          </a:p>
        </p:txBody>
      </p:sp>
      <p:cxnSp>
        <p:nvCxnSpPr>
          <p:cNvPr id="10" name="grid-v0"/>
          <p:cNvCxnSpPr/>
          <p:nvPr/>
        </p:nvCxnSpPr>
        <p:spPr>
          <a:xfrm>
            <a:off x="3324225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1" name="grid-v1"/>
          <p:cNvCxnSpPr/>
          <p:nvPr/>
        </p:nvCxnSpPr>
        <p:spPr>
          <a:xfrm>
            <a:off x="4514850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2" name="grid-v2"/>
          <p:cNvCxnSpPr/>
          <p:nvPr/>
        </p:nvCxnSpPr>
        <p:spPr>
          <a:xfrm>
            <a:off x="5705475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3" name="grid-v3"/>
          <p:cNvCxnSpPr/>
          <p:nvPr/>
        </p:nvCxnSpPr>
        <p:spPr>
          <a:xfrm>
            <a:off x="6896100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4" name="grid-v4"/>
          <p:cNvCxnSpPr/>
          <p:nvPr/>
        </p:nvCxnSpPr>
        <p:spPr>
          <a:xfrm>
            <a:off x="8086725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5" name="grid-v5"/>
          <p:cNvCxnSpPr/>
          <p:nvPr/>
        </p:nvCxnSpPr>
        <p:spPr>
          <a:xfrm>
            <a:off x="9277350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6" name="grid-v6"/>
          <p:cNvCxnSpPr/>
          <p:nvPr/>
        </p:nvCxnSpPr>
        <p:spPr>
          <a:xfrm>
            <a:off x="10467975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7" name="grid-v7"/>
          <p:cNvCxnSpPr/>
          <p:nvPr/>
        </p:nvCxnSpPr>
        <p:spPr>
          <a:xfrm>
            <a:off x="11658600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8" name="grid-v8"/>
          <p:cNvCxnSpPr/>
          <p:nvPr/>
        </p:nvCxnSpPr>
        <p:spPr>
          <a:xfrm>
            <a:off x="12849225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9" name="grid-v9"/>
          <p:cNvCxnSpPr/>
          <p:nvPr/>
        </p:nvCxnSpPr>
        <p:spPr>
          <a:xfrm>
            <a:off x="14039850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0" name="grid-v10"/>
          <p:cNvCxnSpPr/>
          <p:nvPr/>
        </p:nvCxnSpPr>
        <p:spPr>
          <a:xfrm>
            <a:off x="15230475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1" name="grid-v11"/>
          <p:cNvCxnSpPr/>
          <p:nvPr/>
        </p:nvCxnSpPr>
        <p:spPr>
          <a:xfrm>
            <a:off x="16421100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2" name="grid-v12"/>
          <p:cNvCxnSpPr/>
          <p:nvPr/>
        </p:nvCxnSpPr>
        <p:spPr>
          <a:xfrm>
            <a:off x="17611725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3" name="grid-v13"/>
          <p:cNvCxnSpPr/>
          <p:nvPr/>
        </p:nvCxnSpPr>
        <p:spPr>
          <a:xfrm>
            <a:off x="18802350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4" name="grid-v14"/>
          <p:cNvCxnSpPr/>
          <p:nvPr/>
        </p:nvCxnSpPr>
        <p:spPr>
          <a:xfrm>
            <a:off x="19992975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5" name="grid-v15"/>
          <p:cNvCxnSpPr/>
          <p:nvPr/>
        </p:nvCxnSpPr>
        <p:spPr>
          <a:xfrm>
            <a:off x="21183600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6" name="grid-v16"/>
          <p:cNvCxnSpPr/>
          <p:nvPr/>
        </p:nvCxnSpPr>
        <p:spPr>
          <a:xfrm>
            <a:off x="22374225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7" name="grid-v17"/>
          <p:cNvCxnSpPr/>
          <p:nvPr/>
        </p:nvCxnSpPr>
        <p:spPr>
          <a:xfrm>
            <a:off x="23564850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8" name="grid-v18"/>
          <p:cNvCxnSpPr/>
          <p:nvPr/>
        </p:nvCxnSpPr>
        <p:spPr>
          <a:xfrm>
            <a:off x="24755475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9" name="grid-v19"/>
          <p:cNvCxnSpPr/>
          <p:nvPr/>
        </p:nvCxnSpPr>
        <p:spPr>
          <a:xfrm>
            <a:off x="25946100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0" name="grid-v20"/>
          <p:cNvCxnSpPr/>
          <p:nvPr/>
        </p:nvCxnSpPr>
        <p:spPr>
          <a:xfrm>
            <a:off x="27136725" y="3248025"/>
            <a:ext cx="0" cy="962025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1" name="grid-h341"/>
          <p:cNvCxnSpPr/>
          <p:nvPr/>
        </p:nvCxnSpPr>
        <p:spPr>
          <a:xfrm>
            <a:off x="3324225" y="3248025"/>
            <a:ext cx="23812500" cy="0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2" name="grid-h442"/>
          <p:cNvCxnSpPr/>
          <p:nvPr/>
        </p:nvCxnSpPr>
        <p:spPr>
          <a:xfrm>
            <a:off x="3324225" y="4210050"/>
            <a:ext cx="23812500" cy="0"/>
          </a:xfrm>
          <a:prstGeom prst="line">
            <a:avLst/>
          </a:prstGeom>
          <a:ln w="28575">
            <a:solidFill>
              <a:srgbClr val="1A1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33" name="m1"/>
          <p:cNvSpPr txBox="1"/>
          <p:nvPr/>
        </p:nvSpPr>
        <p:spPr>
          <a:xfrm>
            <a:off x="3395662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4" name="m2"/>
          <p:cNvSpPr txBox="1"/>
          <p:nvPr/>
        </p:nvSpPr>
        <p:spPr>
          <a:xfrm>
            <a:off x="4586288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5" name="m3"/>
          <p:cNvSpPr txBox="1"/>
          <p:nvPr/>
        </p:nvSpPr>
        <p:spPr>
          <a:xfrm>
            <a:off x="5776912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6" name="m4"/>
          <p:cNvSpPr txBox="1"/>
          <p:nvPr/>
        </p:nvSpPr>
        <p:spPr>
          <a:xfrm>
            <a:off x="6967538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7" name="m5"/>
          <p:cNvSpPr txBox="1"/>
          <p:nvPr/>
        </p:nvSpPr>
        <p:spPr>
          <a:xfrm>
            <a:off x="8158162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8" name="m6"/>
          <p:cNvSpPr txBox="1"/>
          <p:nvPr/>
        </p:nvSpPr>
        <p:spPr>
          <a:xfrm>
            <a:off x="9348788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M6</a:t>
            </a:r>
          </a:p>
        </p:txBody>
      </p:sp>
      <p:sp>
        <p:nvSpPr>
          <p:cNvPr id="39" name="m7"/>
          <p:cNvSpPr txBox="1"/>
          <p:nvPr/>
        </p:nvSpPr>
        <p:spPr>
          <a:xfrm>
            <a:off x="10539412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M7</a:t>
            </a:r>
          </a:p>
        </p:txBody>
      </p:sp>
      <p:sp>
        <p:nvSpPr>
          <p:cNvPr id="40" name="m8"/>
          <p:cNvSpPr txBox="1"/>
          <p:nvPr/>
        </p:nvSpPr>
        <p:spPr>
          <a:xfrm>
            <a:off x="11730038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M8</a:t>
            </a:r>
          </a:p>
        </p:txBody>
      </p:sp>
      <p:sp>
        <p:nvSpPr>
          <p:cNvPr id="41" name="m9"/>
          <p:cNvSpPr txBox="1"/>
          <p:nvPr/>
        </p:nvSpPr>
        <p:spPr>
          <a:xfrm>
            <a:off x="12920662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M9</a:t>
            </a:r>
          </a:p>
        </p:txBody>
      </p:sp>
      <p:sp>
        <p:nvSpPr>
          <p:cNvPr id="42" name="m10"/>
          <p:cNvSpPr txBox="1"/>
          <p:nvPr/>
        </p:nvSpPr>
        <p:spPr>
          <a:xfrm>
            <a:off x="14111288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M10</a:t>
            </a:r>
          </a:p>
        </p:txBody>
      </p:sp>
      <p:sp>
        <p:nvSpPr>
          <p:cNvPr id="43" name="m11"/>
          <p:cNvSpPr txBox="1"/>
          <p:nvPr/>
        </p:nvSpPr>
        <p:spPr>
          <a:xfrm>
            <a:off x="15301912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M11</a:t>
            </a:r>
          </a:p>
        </p:txBody>
      </p:sp>
      <p:sp>
        <p:nvSpPr>
          <p:cNvPr id="44" name="m12"/>
          <p:cNvSpPr txBox="1"/>
          <p:nvPr/>
        </p:nvSpPr>
        <p:spPr>
          <a:xfrm>
            <a:off x="16492538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M12</a:t>
            </a:r>
          </a:p>
        </p:txBody>
      </p:sp>
      <p:sp>
        <p:nvSpPr>
          <p:cNvPr id="45" name="m13"/>
          <p:cNvSpPr txBox="1"/>
          <p:nvPr/>
        </p:nvSpPr>
        <p:spPr>
          <a:xfrm>
            <a:off x="17683162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M13</a:t>
            </a:r>
          </a:p>
        </p:txBody>
      </p:sp>
      <p:sp>
        <p:nvSpPr>
          <p:cNvPr id="46" name="m14"/>
          <p:cNvSpPr txBox="1"/>
          <p:nvPr/>
        </p:nvSpPr>
        <p:spPr>
          <a:xfrm>
            <a:off x="18873788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M14</a:t>
            </a:r>
          </a:p>
        </p:txBody>
      </p:sp>
      <p:sp>
        <p:nvSpPr>
          <p:cNvPr id="47" name="m15"/>
          <p:cNvSpPr txBox="1"/>
          <p:nvPr/>
        </p:nvSpPr>
        <p:spPr>
          <a:xfrm>
            <a:off x="20064412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M15</a:t>
            </a:r>
          </a:p>
        </p:txBody>
      </p:sp>
      <p:sp>
        <p:nvSpPr>
          <p:cNvPr id="48" name="m16"/>
          <p:cNvSpPr txBox="1"/>
          <p:nvPr/>
        </p:nvSpPr>
        <p:spPr>
          <a:xfrm>
            <a:off x="21255038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M16</a:t>
            </a:r>
          </a:p>
        </p:txBody>
      </p:sp>
      <p:sp>
        <p:nvSpPr>
          <p:cNvPr id="49" name="m17"/>
          <p:cNvSpPr txBox="1"/>
          <p:nvPr/>
        </p:nvSpPr>
        <p:spPr>
          <a:xfrm>
            <a:off x="22445662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M17</a:t>
            </a:r>
          </a:p>
        </p:txBody>
      </p:sp>
      <p:sp>
        <p:nvSpPr>
          <p:cNvPr id="50" name="m18"/>
          <p:cNvSpPr txBox="1"/>
          <p:nvPr/>
        </p:nvSpPr>
        <p:spPr>
          <a:xfrm>
            <a:off x="23636288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M18</a:t>
            </a:r>
          </a:p>
        </p:txBody>
      </p:sp>
      <p:sp>
        <p:nvSpPr>
          <p:cNvPr id="51" name="m19"/>
          <p:cNvSpPr txBox="1"/>
          <p:nvPr/>
        </p:nvSpPr>
        <p:spPr>
          <a:xfrm>
            <a:off x="24826912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M19</a:t>
            </a:r>
          </a:p>
        </p:txBody>
      </p:sp>
      <p:sp>
        <p:nvSpPr>
          <p:cNvPr id="52" name="m20"/>
          <p:cNvSpPr txBox="1"/>
          <p:nvPr/>
        </p:nvSpPr>
        <p:spPr>
          <a:xfrm>
            <a:off x="26017538" y="3514725"/>
            <a:ext cx="104775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M20</a:t>
            </a:r>
          </a:p>
        </p:txBody>
      </p:sp>
      <p:sp>
        <p:nvSpPr>
          <p:cNvPr id="53" name="mile-1"/>
          <p:cNvSpPr txBox="1"/>
          <p:nvPr/>
        </p:nvSpPr>
        <p:spPr>
          <a:xfrm>
            <a:off x="3081338" y="4562475"/>
            <a:ext cx="16764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合同签订</a:t>
            </a:r>
          </a:p>
        </p:txBody>
      </p:sp>
      <p:sp>
        <p:nvSpPr>
          <p:cNvPr id="54" name="mile-2"/>
          <p:cNvSpPr txBox="1"/>
          <p:nvPr/>
        </p:nvSpPr>
        <p:spPr>
          <a:xfrm>
            <a:off x="7129462" y="4562475"/>
            <a:ext cx="16764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初始阶段</a:t>
            </a:r>
          </a:p>
        </p:txBody>
      </p:sp>
      <p:sp>
        <p:nvSpPr>
          <p:cNvPr id="55" name="mile-3"/>
          <p:cNvSpPr txBox="1"/>
          <p:nvPr/>
        </p:nvSpPr>
        <p:spPr>
          <a:xfrm>
            <a:off x="10220325" y="4562475"/>
            <a:ext cx="25146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项目季度回顾</a:t>
            </a:r>
          </a:p>
        </p:txBody>
      </p:sp>
      <p:sp>
        <p:nvSpPr>
          <p:cNvPr id="56" name="mile-4"/>
          <p:cNvSpPr txBox="1"/>
          <p:nvPr/>
        </p:nvSpPr>
        <p:spPr>
          <a:xfrm>
            <a:off x="13968412" y="4562475"/>
            <a:ext cx="25146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项目季度回顾</a:t>
            </a:r>
          </a:p>
        </p:txBody>
      </p:sp>
      <p:sp>
        <p:nvSpPr>
          <p:cNvPr id="57" name="mile-5"/>
          <p:cNvSpPr txBox="1"/>
          <p:nvPr/>
        </p:nvSpPr>
        <p:spPr>
          <a:xfrm>
            <a:off x="17716500" y="4562475"/>
            <a:ext cx="25146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验证完善阶段</a:t>
            </a:r>
          </a:p>
        </p:txBody>
      </p:sp>
      <p:sp>
        <p:nvSpPr>
          <p:cNvPr id="58" name="mile-6"/>
          <p:cNvSpPr txBox="1"/>
          <p:nvPr/>
        </p:nvSpPr>
        <p:spPr>
          <a:xfrm>
            <a:off x="21707475" y="4562475"/>
            <a:ext cx="25146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项目季度回顾</a:t>
            </a:r>
          </a:p>
        </p:txBody>
      </p:sp>
      <p:sp>
        <p:nvSpPr>
          <p:cNvPr id="59" name="mile-7"/>
          <p:cNvSpPr txBox="1"/>
          <p:nvPr/>
        </p:nvSpPr>
        <p:spPr>
          <a:xfrm>
            <a:off x="25312688" y="4562475"/>
            <a:ext cx="16764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项目终验</a:t>
            </a:r>
          </a:p>
        </p:txBody>
      </p:sp>
      <p:sp>
        <p:nvSpPr>
          <p:cNvPr id="60" name="card-1"/>
          <p:cNvSpPr/>
          <p:nvPr/>
        </p:nvSpPr>
        <p:spPr>
          <a:xfrm>
            <a:off x="4781550" y="6581775"/>
            <a:ext cx="20897850" cy="857250"/>
          </a:xfrm>
          <a:prstGeom prst="roundRect">
            <a:avLst>
              <a:gd name="adj" fmla="val 50000"/>
            </a:avLst>
          </a:prstGeom>
          <a:solidFill>
            <a:srgbClr val="F57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ard-1-txt"/>
          <p:cNvSpPr txBox="1"/>
          <p:nvPr/>
        </p:nvSpPr>
        <p:spPr>
          <a:xfrm>
            <a:off x="4667250" y="6753225"/>
            <a:ext cx="20897850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依据《xx办法》进行信息系统运维管理</a:t>
            </a:r>
          </a:p>
        </p:txBody>
      </p:sp>
      <p:sp>
        <p:nvSpPr>
          <p:cNvPr id="62" name="card-2"/>
          <p:cNvSpPr/>
          <p:nvPr/>
        </p:nvSpPr>
        <p:spPr>
          <a:xfrm>
            <a:off x="4781550" y="7781925"/>
            <a:ext cx="20897850" cy="857250"/>
          </a:xfrm>
          <a:prstGeom prst="roundRect">
            <a:avLst>
              <a:gd name="adj" fmla="val 50000"/>
            </a:avLst>
          </a:prstGeom>
          <a:solidFill>
            <a:srgbClr val="F57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ard-2-txt"/>
          <p:cNvSpPr txBox="1"/>
          <p:nvPr/>
        </p:nvSpPr>
        <p:spPr>
          <a:xfrm>
            <a:off x="4667250" y="7953375"/>
            <a:ext cx="20897850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日常运维管理工作《撰写信息系统运维情况月报、执行运维跟踪与管理、组织协调与处理》</a:t>
            </a:r>
          </a:p>
        </p:txBody>
      </p:sp>
      <p:sp>
        <p:nvSpPr>
          <p:cNvPr id="64" name="card-3"/>
          <p:cNvSpPr/>
          <p:nvPr/>
        </p:nvSpPr>
        <p:spPr>
          <a:xfrm>
            <a:off x="4781550" y="9010650"/>
            <a:ext cx="20897850" cy="857250"/>
          </a:xfrm>
          <a:prstGeom prst="roundRect">
            <a:avLst>
              <a:gd name="adj" fmla="val 50000"/>
            </a:avLst>
          </a:prstGeom>
          <a:solidFill>
            <a:srgbClr val="F57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ard-3-txt"/>
          <p:cNvSpPr txBox="1"/>
          <p:nvPr/>
        </p:nvSpPr>
        <p:spPr>
          <a:xfrm>
            <a:off x="4667250" y="9182100"/>
            <a:ext cx="20897850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制度文化建设工作（交付群：值班管理制度、运维工作绩效考核制度、信息系统交维制度）</a:t>
            </a:r>
          </a:p>
        </p:txBody>
      </p:sp>
      <p:sp>
        <p:nvSpPr>
          <p:cNvPr id="66" name="card-4"/>
          <p:cNvSpPr/>
          <p:nvPr/>
        </p:nvSpPr>
        <p:spPr>
          <a:xfrm>
            <a:off x="4781550" y="10229850"/>
            <a:ext cx="20897850" cy="857250"/>
          </a:xfrm>
          <a:prstGeom prst="roundRect">
            <a:avLst>
              <a:gd name="adj" fmla="val 50000"/>
            </a:avLst>
          </a:prstGeom>
          <a:solidFill>
            <a:srgbClr val="F57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ard-4-txt"/>
          <p:cNvSpPr txBox="1"/>
          <p:nvPr/>
        </p:nvSpPr>
        <p:spPr>
          <a:xfrm>
            <a:off x="4667250" y="10401300"/>
            <a:ext cx="20897850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流程改进和提高工作（交付件：人员角色职责表、周工作量评估表、越技能评估表）</a:t>
            </a:r>
          </a:p>
        </p:txBody>
      </p:sp>
      <p:sp>
        <p:nvSpPr>
          <p:cNvPr id="68" name="card-5"/>
          <p:cNvSpPr/>
          <p:nvPr/>
        </p:nvSpPr>
        <p:spPr>
          <a:xfrm>
            <a:off x="4781550" y="11410950"/>
            <a:ext cx="20897850" cy="857250"/>
          </a:xfrm>
          <a:prstGeom prst="roundRect">
            <a:avLst>
              <a:gd name="adj" fmla="val 50000"/>
            </a:avLst>
          </a:prstGeom>
          <a:solidFill>
            <a:srgbClr val="F57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ard-5-txt"/>
          <p:cNvSpPr txBox="1"/>
          <p:nvPr/>
        </p:nvSpPr>
        <p:spPr>
          <a:xfrm>
            <a:off x="4667250" y="11582400"/>
            <a:ext cx="20897850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流程改进和提高工作（交付件：人员角色职责表、周工作量评估表、月技能评估表）</a:t>
            </a:r>
          </a:p>
        </p:txBody>
      </p:sp>
      <p:sp>
        <p:nvSpPr>
          <p:cNvPr id="70" name="card-6"/>
          <p:cNvSpPr/>
          <p:nvPr/>
        </p:nvSpPr>
        <p:spPr>
          <a:xfrm>
            <a:off x="4781550" y="12630150"/>
            <a:ext cx="20897850" cy="857250"/>
          </a:xfrm>
          <a:prstGeom prst="roundRect">
            <a:avLst>
              <a:gd name="adj" fmla="val 50000"/>
            </a:avLst>
          </a:prstGeom>
          <a:solidFill>
            <a:srgbClr val="F57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ard-6-txt"/>
          <p:cNvSpPr txBox="1"/>
          <p:nvPr/>
        </p:nvSpPr>
        <p:spPr>
          <a:xfrm>
            <a:off x="4667250" y="12801600"/>
            <a:ext cx="20897850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人员分工、技能和绩效改进提高工作（交付件：人员角色职责表、周工作量评估表、月技能评估表）</a:t>
            </a:r>
          </a:p>
        </p:txBody>
      </p:sp>
      <p:sp>
        <p:nvSpPr>
          <p:cNvPr id="72" name="card-7"/>
          <p:cNvSpPr/>
          <p:nvPr/>
        </p:nvSpPr>
        <p:spPr>
          <a:xfrm>
            <a:off x="4781550" y="13811250"/>
            <a:ext cx="20897850" cy="857250"/>
          </a:xfrm>
          <a:prstGeom prst="roundRect">
            <a:avLst>
              <a:gd name="adj" fmla="val 50000"/>
            </a:avLst>
          </a:prstGeom>
          <a:solidFill>
            <a:srgbClr val="F57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ard-7-txt"/>
          <p:cNvSpPr txBox="1"/>
          <p:nvPr/>
        </p:nvSpPr>
        <p:spPr>
          <a:xfrm>
            <a:off x="4667250" y="13982700"/>
            <a:ext cx="20897850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监控系统优化：运维体系相关信息技术平台的建设工作（交付件：平台选型标准、平台实施评价标准）</a:t>
            </a:r>
          </a:p>
        </p:txBody>
      </p:sp>
      <p:sp>
        <p:nvSpPr>
          <p:cNvPr id="74" name="card-pm"/>
          <p:cNvSpPr/>
          <p:nvPr/>
        </p:nvSpPr>
        <p:spPr>
          <a:xfrm>
            <a:off x="4781550" y="15325725"/>
            <a:ext cx="20897850" cy="857250"/>
          </a:xfrm>
          <a:prstGeom prst="roundRect">
            <a:avLst>
              <a:gd name="adj" fmla="val 50000"/>
            </a:avLst>
          </a:prstGeom>
          <a:solidFill>
            <a:srgbClr val="009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ard-pm-txt"/>
          <p:cNvSpPr txBox="1"/>
          <p:nvPr/>
        </p:nvSpPr>
        <p:spPr>
          <a:xfrm>
            <a:off x="4648200" y="15497175"/>
            <a:ext cx="20897850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项目管理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