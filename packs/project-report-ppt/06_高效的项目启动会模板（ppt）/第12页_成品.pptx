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45" name="header"/>
          <p:cNvGrpSpPr/>
          <p:nvPr/>
        </p:nvGrpSpPr>
        <p:grpSpPr>
          <a:xfrm>
            <a:off x="866775" y="923925"/>
            <a:ext cx="28736925" cy="1590675"/>
            <a:chOff x="866775" y="923925"/>
            <a:chExt cx="28736925" cy="1590675"/>
          </a:xfrm>
        </p:grpSpPr>
        <p:sp>
          <p:nvSpPr>
            <p:cNvPr id="3" name="hdr-box"/>
            <p:cNvSpPr/>
            <p:nvPr/>
          </p:nvSpPr>
          <p:spPr>
            <a:xfrm>
              <a:off x="895350" y="952500"/>
              <a:ext cx="28689300" cy="1543050"/>
            </a:xfrm>
            <a:prstGeom prst="rect">
              <a:avLst/>
            </a:prstGeom>
            <a:solidFill>
              <a:srgbClr val="FFFFFF"/>
            </a:solidFill>
            <a:ln w="47625">
              <a:solidFill>
                <a:srgbClr val="D7CCB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dr-tab"/>
            <p:cNvSpPr/>
            <p:nvPr/>
          </p:nvSpPr>
          <p:spPr>
            <a:xfrm>
              <a:off x="866775" y="923925"/>
              <a:ext cx="6429375" cy="1590675"/>
            </a:xfrm>
            <a:prstGeom prst="rect">
              <a:avLst/>
            </a:prstGeom>
            <a:solidFill>
              <a:srgbClr val="003F9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section"/>
            <p:cNvSpPr txBox="1"/>
            <p:nvPr/>
          </p:nvSpPr>
          <p:spPr>
            <a:xfrm>
              <a:off x="1905000" y="1371600"/>
              <a:ext cx="4343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制定项目计划</a:t>
              </a:r>
            </a:p>
          </p:txBody>
        </p:sp>
        <p:sp>
          <p:nvSpPr>
            <p:cNvPr id="6" name="hdr-title"/>
            <p:cNvSpPr txBox="1"/>
            <p:nvPr/>
          </p:nvSpPr>
          <p:spPr>
            <a:xfrm>
              <a:off x="7296150" y="1409700"/>
              <a:ext cx="2230755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625" b="1" i="0">
                  <a:solidFill>
                    <a:srgbClr val="2F2F2F"/>
                  </a:solidFill>
                  <a:latin typeface="Microsoft YaHei"/>
                  <a:ea typeface="Microsoft YaHei"/>
                  <a:cs typeface="Microsoft YaHei"/>
                </a:rPr>
                <a:t>项目沟通计划</a:t>
              </a:r>
            </a:p>
          </p:txBody>
        </p:sp>
      </p:grpSp>
      <p:grpSp>
        <p:nvGrpSpPr>
          <p:cNvPr id="44" name="col-1"/>
          <p:cNvGrpSpPr/>
          <p:nvPr/>
        </p:nvGrpSpPr>
        <p:grpSpPr>
          <a:xfrm>
            <a:off x="3162300" y="3295650"/>
            <a:ext cx="5962650" cy="10882312"/>
            <a:chOff x="3162300" y="3295650"/>
            <a:chExt cx="5962650" cy="10882312"/>
          </a:xfrm>
        </p:grpSpPr>
        <p:sp>
          <p:nvSpPr>
            <p:cNvPr id="7" name="circle-1"/>
            <p:cNvSpPr/>
            <p:nvPr/>
          </p:nvSpPr>
          <p:spPr>
            <a:xfrm>
              <a:off x="3771900" y="3295650"/>
              <a:ext cx="4495800" cy="4495800"/>
            </a:xfrm>
            <a:prstGeom prst="ellipse">
              <a:avLst/>
            </a:prstGeom>
            <a:solidFill>
              <a:srgbClr val="467D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circle-title-1"/>
            <p:cNvSpPr txBox="1"/>
            <p:nvPr/>
          </p:nvSpPr>
          <p:spPr>
            <a:xfrm>
              <a:off x="3162300" y="5086350"/>
              <a:ext cx="57150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沟通方式</a:t>
              </a:r>
            </a:p>
          </p:txBody>
        </p:sp>
        <p:sp>
          <p:nvSpPr>
            <p:cNvPr id="9" name="txt-c1-01"/>
            <p:cNvSpPr txBox="1"/>
            <p:nvPr/>
          </p:nvSpPr>
          <p:spPr>
            <a:xfrm>
              <a:off x="3305175" y="9372600"/>
              <a:ext cx="57054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现场面对面沟通-适用于访谈、培</a:t>
              </a:r>
            </a:p>
          </p:txBody>
        </p:sp>
        <p:sp>
          <p:nvSpPr>
            <p:cNvPr id="10" name="txt-c1-02"/>
            <p:cNvSpPr txBox="1"/>
            <p:nvPr/>
          </p:nvSpPr>
          <p:spPr>
            <a:xfrm>
              <a:off x="3305175" y="9967912"/>
              <a:ext cx="47815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训、运维办例会等工作内容</a:t>
              </a:r>
            </a:p>
          </p:txBody>
        </p:sp>
        <p:sp>
          <p:nvSpPr>
            <p:cNvPr id="11" name="txt-c1-03"/>
            <p:cNvSpPr txBox="1"/>
            <p:nvPr/>
          </p:nvSpPr>
          <p:spPr>
            <a:xfrm>
              <a:off x="3305175" y="10567988"/>
              <a:ext cx="58197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远程电话-项目资源安排、进度计</a:t>
              </a:r>
            </a:p>
          </p:txBody>
        </p:sp>
        <p:sp>
          <p:nvSpPr>
            <p:cNvPr id="12" name="txt-c1-04"/>
            <p:cNvSpPr txBox="1"/>
            <p:nvPr/>
          </p:nvSpPr>
          <p:spPr>
            <a:xfrm>
              <a:off x="3305175" y="11168062"/>
              <a:ext cx="55435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划调整、项目问题讨论和跟踪等</a:t>
              </a:r>
            </a:p>
          </p:txBody>
        </p:sp>
        <p:sp>
          <p:nvSpPr>
            <p:cNvPr id="13" name="txt-c1-05"/>
            <p:cNvSpPr txBox="1"/>
            <p:nvPr/>
          </p:nvSpPr>
          <p:spPr>
            <a:xfrm>
              <a:off x="3305175" y="11768138"/>
              <a:ext cx="56388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电子邮件-项目周报、运维情况月</a:t>
              </a:r>
            </a:p>
          </p:txBody>
        </p:sp>
        <p:sp>
          <p:nvSpPr>
            <p:cNvPr id="14" name="txt-c1-06"/>
            <p:cNvSpPr txBox="1"/>
            <p:nvPr/>
          </p:nvSpPr>
          <p:spPr>
            <a:xfrm>
              <a:off x="3305175" y="12368212"/>
              <a:ext cx="44005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报、交付件、会议通知等</a:t>
              </a:r>
            </a:p>
          </p:txBody>
        </p:sp>
        <p:sp>
          <p:nvSpPr>
            <p:cNvPr id="15" name="txt-c1-07"/>
            <p:cNvSpPr txBox="1"/>
            <p:nvPr/>
          </p:nvSpPr>
          <p:spPr>
            <a:xfrm>
              <a:off x="3305175" y="12968288"/>
              <a:ext cx="57054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书面正式文档-变更请求、完工报</a:t>
              </a:r>
            </a:p>
          </p:txBody>
        </p:sp>
        <p:sp>
          <p:nvSpPr>
            <p:cNvPr id="16" name="txt-c1-08"/>
            <p:cNvSpPr txBox="1"/>
            <p:nvPr/>
          </p:nvSpPr>
          <p:spPr>
            <a:xfrm>
              <a:off x="3305175" y="13568362"/>
              <a:ext cx="36385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告、产品交付清单等</a:t>
              </a:r>
            </a:p>
          </p:txBody>
        </p:sp>
      </p:grpSp>
      <p:grpSp>
        <p:nvGrpSpPr>
          <p:cNvPr id="46" name="col-2"/>
          <p:cNvGrpSpPr/>
          <p:nvPr/>
        </p:nvGrpSpPr>
        <p:grpSpPr>
          <a:xfrm>
            <a:off x="12125325" y="3295650"/>
            <a:ext cx="6419850" cy="11349038"/>
            <a:chOff x="12125325" y="3295650"/>
            <a:chExt cx="6419850" cy="11349038"/>
          </a:xfrm>
        </p:grpSpPr>
        <p:sp>
          <p:nvSpPr>
            <p:cNvPr id="17" name="circle-2"/>
            <p:cNvSpPr/>
            <p:nvPr/>
          </p:nvSpPr>
          <p:spPr>
            <a:xfrm>
              <a:off x="12849225" y="3295650"/>
              <a:ext cx="4495800" cy="4495800"/>
            </a:xfrm>
            <a:prstGeom prst="ellipse">
              <a:avLst/>
            </a:pr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circle-title-2"/>
            <p:cNvSpPr txBox="1"/>
            <p:nvPr/>
          </p:nvSpPr>
          <p:spPr>
            <a:xfrm>
              <a:off x="12239625" y="5086350"/>
              <a:ext cx="57150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运维办例会机制</a:t>
              </a:r>
            </a:p>
          </p:txBody>
        </p:sp>
        <p:sp>
          <p:nvSpPr>
            <p:cNvPr id="19" name="txt-c2-01"/>
            <p:cNvSpPr txBox="1"/>
            <p:nvPr/>
          </p:nvSpPr>
          <p:spPr>
            <a:xfrm>
              <a:off x="12125325" y="9234488"/>
              <a:ext cx="47244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时间：每周或者双周例会；</a:t>
              </a:r>
            </a:p>
          </p:txBody>
        </p:sp>
        <p:sp>
          <p:nvSpPr>
            <p:cNvPr id="20" name="txt-c2-02"/>
            <p:cNvSpPr txBox="1"/>
            <p:nvPr/>
          </p:nvSpPr>
          <p:spPr>
            <a:xfrm>
              <a:off x="12125325" y="9839325"/>
              <a:ext cx="4953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地点：XXXX信息中心现场；</a:t>
              </a:r>
            </a:p>
          </p:txBody>
        </p:sp>
        <p:sp>
          <p:nvSpPr>
            <p:cNvPr id="21" name="txt-c2-03"/>
            <p:cNvSpPr txBox="1"/>
            <p:nvPr/>
          </p:nvSpPr>
          <p:spPr>
            <a:xfrm>
              <a:off x="12125325" y="10434638"/>
              <a:ext cx="62103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参与人员：XX项目成员，乙方项目</a:t>
              </a:r>
            </a:p>
          </p:txBody>
        </p:sp>
        <p:sp>
          <p:nvSpPr>
            <p:cNvPr id="22" name="txt-c2-04"/>
            <p:cNvSpPr txBox="1"/>
            <p:nvPr/>
          </p:nvSpPr>
          <p:spPr>
            <a:xfrm>
              <a:off x="12125325" y="11034712"/>
              <a:ext cx="23336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组驻场人员；</a:t>
              </a:r>
            </a:p>
          </p:txBody>
        </p:sp>
        <p:sp>
          <p:nvSpPr>
            <p:cNvPr id="23" name="txt-c2-05"/>
            <p:cNvSpPr txBox="1"/>
            <p:nvPr/>
          </p:nvSpPr>
          <p:spPr>
            <a:xfrm>
              <a:off x="12125325" y="11634788"/>
              <a:ext cx="63436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双方协调人员：管理领导，乙方PM</a:t>
              </a:r>
            </a:p>
          </p:txBody>
        </p:sp>
        <p:sp>
          <p:nvSpPr>
            <p:cNvPr id="24" name="txt-c2-06"/>
            <p:cNvSpPr txBox="1"/>
            <p:nvPr/>
          </p:nvSpPr>
          <p:spPr>
            <a:xfrm>
              <a:off x="12125325" y="12234862"/>
              <a:ext cx="51149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会议主持：主任、执行主管；</a:t>
              </a:r>
            </a:p>
          </p:txBody>
        </p:sp>
        <p:sp>
          <p:nvSpPr>
            <p:cNvPr id="25" name="txt-c2-07"/>
            <p:cNvSpPr txBox="1"/>
            <p:nvPr/>
          </p:nvSpPr>
          <p:spPr>
            <a:xfrm>
              <a:off x="12125325" y="12834938"/>
              <a:ext cx="64198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议题：运维情况回顾、项目计划与进</a:t>
              </a:r>
            </a:p>
          </p:txBody>
        </p:sp>
        <p:sp>
          <p:nvSpPr>
            <p:cNvPr id="26" name="txt-c2-08"/>
            <p:cNvSpPr txBox="1"/>
            <p:nvPr/>
          </p:nvSpPr>
          <p:spPr>
            <a:xfrm>
              <a:off x="12125325" y="13435012"/>
              <a:ext cx="62865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度回顾、项目风险、问题、需要协调</a:t>
              </a:r>
            </a:p>
          </p:txBody>
        </p:sp>
        <p:sp>
          <p:nvSpPr>
            <p:cNvPr id="27" name="txt-c2-09"/>
            <p:cNvSpPr txBox="1"/>
            <p:nvPr/>
          </p:nvSpPr>
          <p:spPr>
            <a:xfrm>
              <a:off x="12125325" y="14035088"/>
              <a:ext cx="19431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事宜讨论。</a:t>
              </a:r>
            </a:p>
          </p:txBody>
        </p:sp>
      </p:grpSp>
      <p:grpSp>
        <p:nvGrpSpPr>
          <p:cNvPr id="43" name="col-3"/>
          <p:cNvGrpSpPr/>
          <p:nvPr/>
        </p:nvGrpSpPr>
        <p:grpSpPr>
          <a:xfrm>
            <a:off x="21231225" y="3295650"/>
            <a:ext cx="6870802" cy="12349162"/>
            <a:chOff x="21231225" y="3295650"/>
            <a:chExt cx="6870802" cy="12349162"/>
          </a:xfrm>
        </p:grpSpPr>
        <p:sp>
          <p:nvSpPr>
            <p:cNvPr id="28" name="circle-3"/>
            <p:cNvSpPr/>
            <p:nvPr/>
          </p:nvSpPr>
          <p:spPr>
            <a:xfrm>
              <a:off x="21926550" y="3295650"/>
              <a:ext cx="4495800" cy="4495800"/>
            </a:xfrm>
            <a:prstGeom prst="ellipse">
              <a:avLst/>
            </a:prstGeom>
            <a:solidFill>
              <a:srgbClr val="FF7E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circle-title-3-1"/>
            <p:cNvSpPr txBox="1"/>
            <p:nvPr/>
          </p:nvSpPr>
          <p:spPr>
            <a:xfrm>
              <a:off x="21316950" y="4733925"/>
              <a:ext cx="57150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项目需要支持和</a:t>
              </a:r>
            </a:p>
          </p:txBody>
        </p:sp>
        <p:sp>
          <p:nvSpPr>
            <p:cNvPr id="30" name="circle-title-3-2"/>
            <p:cNvSpPr txBox="1"/>
            <p:nvPr/>
          </p:nvSpPr>
          <p:spPr>
            <a:xfrm>
              <a:off x="21316950" y="5467350"/>
              <a:ext cx="5715000" cy="914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配合的方面</a:t>
              </a:r>
            </a:p>
          </p:txBody>
        </p:sp>
        <p:sp>
          <p:nvSpPr>
            <p:cNvPr id="31" name="txt-c3-01"/>
            <p:cNvSpPr txBox="1"/>
            <p:nvPr/>
          </p:nvSpPr>
          <p:spPr>
            <a:xfrm>
              <a:off x="21231225" y="9043988"/>
              <a:ext cx="66865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驻场人员正式授权、得到高层领导的支</a:t>
              </a:r>
            </a:p>
          </p:txBody>
        </p:sp>
        <p:sp>
          <p:nvSpPr>
            <p:cNvPr id="32" name="txt-c3-02"/>
            <p:cNvSpPr txBox="1"/>
            <p:nvPr/>
          </p:nvSpPr>
          <p:spPr>
            <a:xfrm>
              <a:off x="21231225" y="9648825"/>
              <a:ext cx="3746297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持和X部经理的配合；</a:t>
              </a:r>
            </a:p>
          </p:txBody>
        </p:sp>
        <p:sp>
          <p:nvSpPr>
            <p:cNvPr id="33" name="txt-c3-03"/>
            <p:cNvSpPr txBox="1"/>
            <p:nvPr/>
          </p:nvSpPr>
          <p:spPr>
            <a:xfrm>
              <a:off x="21231225" y="10244138"/>
              <a:ext cx="621792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沟通和确认驻场人员的职责和分工；</a:t>
              </a:r>
            </a:p>
          </p:txBody>
        </p:sp>
        <p:sp>
          <p:nvSpPr>
            <p:cNvPr id="34" name="txt-c3-04"/>
            <p:cNvSpPr txBox="1"/>
            <p:nvPr/>
          </p:nvSpPr>
          <p:spPr>
            <a:xfrm>
              <a:off x="21231225" y="10848975"/>
              <a:ext cx="66960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提供项目组开展工作所需要的相关帐号</a:t>
              </a:r>
            </a:p>
          </p:txBody>
        </p:sp>
        <p:sp>
          <p:nvSpPr>
            <p:cNvPr id="35" name="txt-c3-05"/>
            <p:cNvSpPr txBox="1"/>
            <p:nvPr/>
          </p:nvSpPr>
          <p:spPr>
            <a:xfrm>
              <a:off x="21231225" y="11444288"/>
              <a:ext cx="6684264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及权限，包括OA、VSS和内线电话等；</a:t>
              </a:r>
            </a:p>
          </p:txBody>
        </p:sp>
        <p:sp>
          <p:nvSpPr>
            <p:cNvPr id="36" name="txt-c3-06"/>
            <p:cNvSpPr txBox="1"/>
            <p:nvPr/>
          </p:nvSpPr>
          <p:spPr>
            <a:xfrm>
              <a:off x="21231225" y="12053888"/>
              <a:ext cx="687080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提供当前制度、流程、手册(应用和IT基</a:t>
              </a:r>
            </a:p>
          </p:txBody>
        </p:sp>
        <p:sp>
          <p:nvSpPr>
            <p:cNvPr id="37" name="txt-c3-07"/>
            <p:cNvSpPr txBox="1"/>
            <p:nvPr/>
          </p:nvSpPr>
          <p:spPr>
            <a:xfrm>
              <a:off x="21231225" y="12644438"/>
              <a:ext cx="44862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础架构)和岗位描述文档；</a:t>
              </a:r>
            </a:p>
          </p:txBody>
        </p:sp>
        <p:sp>
          <p:nvSpPr>
            <p:cNvPr id="38" name="txt-c3-08"/>
            <p:cNvSpPr txBox="1"/>
            <p:nvPr/>
          </p:nvSpPr>
          <p:spPr>
            <a:xfrm>
              <a:off x="21231225" y="13234988"/>
              <a:ext cx="6715354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提供IT服务管理所涉及的应用功能描述</a:t>
              </a:r>
            </a:p>
          </p:txBody>
        </p:sp>
        <p:sp>
          <p:nvSpPr>
            <p:cNvPr id="39" name="txt-c3-09"/>
            <p:cNvSpPr txBox="1"/>
            <p:nvPr/>
          </p:nvSpPr>
          <p:spPr>
            <a:xfrm>
              <a:off x="21231225" y="13835062"/>
              <a:ext cx="38862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文档和架构设计文档；</a:t>
              </a:r>
            </a:p>
          </p:txBody>
        </p:sp>
        <p:sp>
          <p:nvSpPr>
            <p:cNvPr id="40" name="txt-c3-10"/>
            <p:cNvSpPr txBox="1"/>
            <p:nvPr/>
          </p:nvSpPr>
          <p:spPr>
            <a:xfrm>
              <a:off x="21231225" y="14435138"/>
              <a:ext cx="68008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项目验收阶段，安排运维办相关领导配</a:t>
              </a:r>
            </a:p>
          </p:txBody>
        </p:sp>
        <p:sp>
          <p:nvSpPr>
            <p:cNvPr id="41" name="txt-c3-11"/>
            <p:cNvSpPr txBox="1"/>
            <p:nvPr/>
          </p:nvSpPr>
          <p:spPr>
            <a:xfrm>
              <a:off x="21231225" y="15035212"/>
              <a:ext cx="621792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7C7C7C"/>
                  </a:solidFill>
                  <a:latin typeface="Microsoft YaHei"/>
                  <a:ea typeface="Microsoft YaHei"/>
                  <a:cs typeface="Microsoft YaHei"/>
                </a:rPr>
                <a:t>合验收评估和验收文件的最终签署。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