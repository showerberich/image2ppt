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952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952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icon-bg"/>
          <p:cNvSpPr/>
          <p:nvPr/>
        </p:nvSpPr>
        <p:spPr>
          <a:xfrm>
            <a:off x="1133475" y="476250"/>
            <a:ext cx="1047750" cy="1047750"/>
          </a:xfrm>
          <a:prstGeom prst="ellipse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6" name="hdr-icon-check"/>
          <p:cNvGrpSpPr/>
          <p:nvPr/>
        </p:nvGrpSpPr>
        <p:grpSpPr>
          <a:xfrm>
            <a:off x="1486090" y="784670"/>
            <a:ext cx="342519" cy="430911"/>
            <a:chOff x="1486090" y="784670"/>
            <a:chExt cx="342519" cy="430911"/>
          </a:xfrm>
        </p:grpSpPr>
        <p:sp>
          <p:nvSpPr>
            <p:cNvPr id="4" name="Rounded Rectangle 3"/>
            <p:cNvSpPr/>
            <p:nvPr/>
          </p:nvSpPr>
          <p:spPr>
            <a:xfrm>
              <a:off x="1486090" y="784670"/>
              <a:ext cx="342519" cy="430911"/>
            </a:xfrm>
            <a:prstGeom prst="roundRect">
              <a:avLst>
                <a:gd name="adj" fmla="val 19354"/>
              </a:avLst>
            </a:prstGeom>
            <a:noFill/>
            <a:ln w="1524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568958" y="1000125"/>
              <a:ext cx="66294" cy="77343"/>
            </a:xfrm>
            <a:prstGeom prst="line">
              <a:avLst/>
            </a:prstGeom>
            <a:ln w="6104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V="1">
              <a:off x="1635252" y="911733"/>
              <a:ext cx="116015" cy="165735"/>
            </a:xfrm>
            <a:prstGeom prst="line">
              <a:avLst/>
            </a:prstGeom>
            <a:ln w="6104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hdr-title"/>
          <p:cNvSpPr txBox="1"/>
          <p:nvPr/>
        </p:nvSpPr>
        <p:spPr>
          <a:xfrm>
            <a:off x="2486025" y="590550"/>
            <a:ext cx="22669500" cy="9525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012060"/>
                </a:solidFill>
                <a:latin typeface="Microsoft YaHei"/>
                <a:ea typeface="Microsoft YaHei"/>
                <a:cs typeface="Microsoft YaHei"/>
              </a:rPr>
              <a:t>IT 技术团队 “2024 年研发工具生态覆盖与效能增长分析” 报告</a:t>
            </a:r>
          </a:p>
        </p:txBody>
      </p:sp>
      <p:sp>
        <p:nvSpPr>
          <p:cNvPr id="8" name="hdr-badge"/>
          <p:cNvSpPr/>
          <p:nvPr/>
        </p:nvSpPr>
        <p:spPr>
          <a:xfrm>
            <a:off x="25317450" y="542925"/>
            <a:ext cx="4295775" cy="857250"/>
          </a:xfrm>
          <a:prstGeom prst="rect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dr-badge-text"/>
          <p:cNvSpPr txBox="1"/>
          <p:nvPr/>
        </p:nvSpPr>
        <p:spPr>
          <a:xfrm>
            <a:off x="25317450" y="542925"/>
            <a:ext cx="4295775" cy="8572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</a:p>
        </p:txBody>
      </p:sp>
      <p:cxnSp>
        <p:nvCxnSpPr>
          <p:cNvPr id="10" name="hdr-rule"/>
          <p:cNvCxnSpPr/>
          <p:nvPr/>
        </p:nvCxnSpPr>
        <p:spPr>
          <a:xfrm>
            <a:off x="1352550" y="1733550"/>
            <a:ext cx="27679650" cy="0"/>
          </a:xfrm>
          <a:prstGeom prst="line">
            <a:avLst/>
          </a:prstGeom>
          <a:ln w="114300">
            <a:solidFill>
              <a:srgbClr val="1C40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ft-panel"/>
          <p:cNvSpPr/>
          <p:nvPr/>
        </p:nvSpPr>
        <p:spPr>
          <a:xfrm>
            <a:off x="1285875" y="2771775"/>
            <a:ext cx="14316075" cy="13658850"/>
          </a:xfrm>
          <a:prstGeom prst="rect">
            <a:avLst/>
          </a:prstGeom>
          <a:solidFill>
            <a:srgbClr val="FFFFFF"/>
          </a:solidFill>
          <a:ln w="28575">
            <a:solidFill>
              <a:srgbClr val="1C40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nfo-card-frame"/>
          <p:cNvSpPr/>
          <p:nvPr/>
        </p:nvSpPr>
        <p:spPr>
          <a:xfrm>
            <a:off x="1590675" y="3143250"/>
            <a:ext cx="13544550" cy="2371725"/>
          </a:xfrm>
          <a:prstGeom prst="roundRect">
            <a:avLst>
              <a:gd name="adj" fmla="val 2409"/>
            </a:avLst>
          </a:prstGeom>
          <a:solidFill>
            <a:srgbClr val="E8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nfo-card-face"/>
          <p:cNvSpPr/>
          <p:nvPr/>
        </p:nvSpPr>
        <p:spPr>
          <a:xfrm>
            <a:off x="1800225" y="3333750"/>
            <a:ext cx="13144500" cy="19907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nfo-card-accent"/>
          <p:cNvSpPr/>
          <p:nvPr/>
        </p:nvSpPr>
        <p:spPr>
          <a:xfrm>
            <a:off x="1943100" y="3467100"/>
            <a:ext cx="95250" cy="1714500"/>
          </a:xfrm>
          <a:prstGeom prst="rect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nfo-card-year"/>
          <p:cNvSpPr txBox="1"/>
          <p:nvPr/>
        </p:nvSpPr>
        <p:spPr>
          <a:xfrm>
            <a:off x="2343150" y="3486150"/>
            <a:ext cx="3048000" cy="7429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650" b="1" i="0">
                <a:solidFill>
                  <a:srgbClr val="012060"/>
                </a:solidFill>
                <a:latin typeface="Microsoft YaHei"/>
                <a:ea typeface="Microsoft YaHei"/>
                <a:cs typeface="Microsoft YaHei"/>
              </a:rPr>
              <a:t>2024 年</a:t>
            </a:r>
          </a:p>
        </p:txBody>
      </p:sp>
      <p:sp>
        <p:nvSpPr>
          <p:cNvPr id="16" name="info-card-sub"/>
          <p:cNvSpPr txBox="1"/>
          <p:nvPr/>
        </p:nvSpPr>
        <p:spPr>
          <a:xfrm>
            <a:off x="2324100" y="4219575"/>
            <a:ext cx="85725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50" b="1" i="0">
                <a:solidFill>
                  <a:srgbClr val="012060"/>
                </a:solidFill>
                <a:latin typeface="Microsoft YaHei"/>
                <a:ea typeface="Microsoft YaHei"/>
                <a:cs typeface="Microsoft YaHei"/>
              </a:rPr>
              <a:t>各技术工具领域交付数据表现(2月-12月数据)</a:t>
            </a:r>
          </a:p>
        </p:txBody>
      </p:sp>
      <p:sp>
        <p:nvSpPr>
          <p:cNvPr id="17" name="info-card-en"/>
          <p:cNvSpPr txBox="1"/>
          <p:nvPr/>
        </p:nvSpPr>
        <p:spPr>
          <a:xfrm>
            <a:off x="2419350" y="5114925"/>
            <a:ext cx="7239000" cy="4000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Delivery data performance by technical tool areas</a:t>
            </a:r>
          </a:p>
        </p:txBody>
      </p:sp>
      <p:sp>
        <p:nvSpPr>
          <p:cNvPr id="18" name="bubble-body"/>
          <p:cNvSpPr/>
          <p:nvPr/>
        </p:nvSpPr>
        <p:spPr>
          <a:xfrm>
            <a:off x="9906000" y="2085975"/>
            <a:ext cx="3086100" cy="3067050"/>
          </a:xfrm>
          <a:prstGeom prst="ellipse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ubble-tail"/>
          <p:cNvSpPr/>
          <p:nvPr/>
        </p:nvSpPr>
        <p:spPr>
          <a:xfrm>
            <a:off x="10953750" y="4476750"/>
            <a:ext cx="1352550" cy="1485900"/>
          </a:xfrm>
          <a:custGeom>
            <a:avLst/>
            <a:gdLst/>
            <a:ahLst/>
            <a:cxnLst/>
            <a:rect l="l" t="t" r="r" b="b"/>
            <a:pathLst>
              <a:path w="1352550" h="1485900">
                <a:moveTo>
                  <a:pt x="0" y="0"/>
                </a:moveTo>
                <a:lnTo>
                  <a:pt x="1352550" y="0"/>
                </a:lnTo>
                <a:lnTo>
                  <a:pt x="19050" y="1485900"/>
                </a:lnTo>
                <a:close/>
              </a:path>
            </a:pathLst>
          </a:cu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ubble-num"/>
          <p:cNvSpPr txBox="1"/>
          <p:nvPr/>
        </p:nvSpPr>
        <p:spPr>
          <a:xfrm>
            <a:off x="9906000" y="2552700"/>
            <a:ext cx="3086100" cy="7429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100万次</a:t>
            </a:r>
          </a:p>
        </p:txBody>
      </p:sp>
      <p:sp>
        <p:nvSpPr>
          <p:cNvPr id="21" name="bubble-l1"/>
          <p:cNvSpPr txBox="1"/>
          <p:nvPr/>
        </p:nvSpPr>
        <p:spPr>
          <a:xfrm>
            <a:off x="9906000" y="3276600"/>
            <a:ext cx="30861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累计工具</a:t>
            </a:r>
          </a:p>
        </p:txBody>
      </p:sp>
      <p:sp>
        <p:nvSpPr>
          <p:cNvPr id="22" name="bubble-l2"/>
          <p:cNvSpPr txBox="1"/>
          <p:nvPr/>
        </p:nvSpPr>
        <p:spPr>
          <a:xfrm>
            <a:off x="9906000" y="3771900"/>
            <a:ext cx="30861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调用量</a:t>
            </a:r>
          </a:p>
        </p:txBody>
      </p:sp>
      <p:sp>
        <p:nvSpPr>
          <p:cNvPr id="23" name="narrative"/>
          <p:cNvSpPr/>
          <p:nvPr/>
        </p:nvSpPr>
        <p:spPr>
          <a:xfrm>
            <a:off x="1428750" y="6353175"/>
            <a:ext cx="13868400" cy="2533650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rrative-l1"/>
          <p:cNvSpPr txBox="1"/>
          <p:nvPr/>
        </p:nvSpPr>
        <p:spPr>
          <a:xfrm>
            <a:off x="1733550" y="6686550"/>
            <a:ext cx="13430250" cy="5905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2024 年，在研发效能、工具复用方面，自动化测试工具、CI/CD 流水线、监</a:t>
            </a:r>
          </a:p>
        </p:txBody>
      </p:sp>
      <p:sp>
        <p:nvSpPr>
          <p:cNvPr id="25" name="narrative-l2"/>
          <p:cNvSpPr txBox="1"/>
          <p:nvPr/>
        </p:nvSpPr>
        <p:spPr>
          <a:xfrm>
            <a:off x="1733550" y="7210425"/>
            <a:ext cx="13430250" cy="5905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控告警平台、低代码组件、文档协作工具成为本年度工具使用量的有力增长</a:t>
            </a:r>
          </a:p>
        </p:txBody>
      </p:sp>
      <p:sp>
        <p:nvSpPr>
          <p:cNvPr id="26" name="narrative-l3"/>
          <p:cNvSpPr txBox="1"/>
          <p:nvPr/>
        </p:nvSpPr>
        <p:spPr>
          <a:xfrm>
            <a:off x="1733550" y="7734300"/>
            <a:ext cx="13430250" cy="5905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点，增长幅度最高可达到 69%</a:t>
            </a:r>
          </a:p>
        </p:txBody>
      </p:sp>
      <p:sp>
        <p:nvSpPr>
          <p:cNvPr id="27" name="card-1"/>
          <p:cNvSpPr/>
          <p:nvPr/>
        </p:nvSpPr>
        <p:spPr>
          <a:xfrm>
            <a:off x="1590675" y="9010650"/>
            <a:ext cx="6915150" cy="2466975"/>
          </a:xfrm>
          <a:prstGeom prst="rect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-1-label"/>
          <p:cNvSpPr txBox="1"/>
          <p:nvPr/>
        </p:nvSpPr>
        <p:spPr>
          <a:xfrm>
            <a:off x="1781175" y="9648825"/>
            <a:ext cx="3619500" cy="10763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2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自动化测试工具</a:t>
            </a:r>
          </a:p>
          <a:p>
            <a:pPr algn="ctr">
              <a:lnSpc>
                <a:spcPct val="100000"/>
              </a:lnSpc>
            </a:pPr>
            <a:r>
              <a:rPr sz="32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领域增长率</a:t>
            </a:r>
          </a:p>
        </p:txBody>
      </p:sp>
      <p:sp>
        <p:nvSpPr>
          <p:cNvPr id="29" name="card-1-num"/>
          <p:cNvSpPr txBox="1"/>
          <p:nvPr/>
        </p:nvSpPr>
        <p:spPr>
          <a:xfrm>
            <a:off x="5229225" y="9153525"/>
            <a:ext cx="3333750" cy="2181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6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66%</a:t>
            </a:r>
          </a:p>
        </p:txBody>
      </p:sp>
      <p:sp>
        <p:nvSpPr>
          <p:cNvPr id="30" name="card-2"/>
          <p:cNvSpPr/>
          <p:nvPr/>
        </p:nvSpPr>
        <p:spPr>
          <a:xfrm>
            <a:off x="8772525" y="9010650"/>
            <a:ext cx="6534150" cy="2466975"/>
          </a:xfrm>
          <a:prstGeom prst="rect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ard-2-label"/>
          <p:cNvSpPr txBox="1"/>
          <p:nvPr/>
        </p:nvSpPr>
        <p:spPr>
          <a:xfrm>
            <a:off x="8915400" y="9667875"/>
            <a:ext cx="3429000" cy="11525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CI/CD 流水线领</a:t>
            </a:r>
          </a:p>
          <a:p>
            <a:pPr algn="ctr">
              <a:lnSpc>
                <a:spcPct val="100000"/>
              </a:lnSpc>
            </a:pPr>
            <a:r>
              <a: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域增长率</a:t>
            </a:r>
          </a:p>
        </p:txBody>
      </p:sp>
      <p:sp>
        <p:nvSpPr>
          <p:cNvPr id="32" name="card-2-num"/>
          <p:cNvSpPr txBox="1"/>
          <p:nvPr/>
        </p:nvSpPr>
        <p:spPr>
          <a:xfrm>
            <a:off x="11953875" y="9153525"/>
            <a:ext cx="3333750" cy="2181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6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76%</a:t>
            </a:r>
          </a:p>
        </p:txBody>
      </p:sp>
      <p:sp>
        <p:nvSpPr>
          <p:cNvPr id="33" name="card-3"/>
          <p:cNvSpPr/>
          <p:nvPr/>
        </p:nvSpPr>
        <p:spPr>
          <a:xfrm>
            <a:off x="1590675" y="11630025"/>
            <a:ext cx="6915150" cy="2571750"/>
          </a:xfrm>
          <a:prstGeom prst="rect">
            <a:avLst/>
          </a:prstGeom>
          <a:solidFill>
            <a:srgbClr val="F6F9FE"/>
          </a:solidFill>
          <a:ln w="57150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ard-3-label"/>
          <p:cNvSpPr txBox="1"/>
          <p:nvPr/>
        </p:nvSpPr>
        <p:spPr>
          <a:xfrm>
            <a:off x="1581150" y="12363450"/>
            <a:ext cx="4000500" cy="11049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监控告警平台领域</a:t>
            </a:r>
          </a:p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增长率</a:t>
            </a:r>
          </a:p>
        </p:txBody>
      </p:sp>
      <p:sp>
        <p:nvSpPr>
          <p:cNvPr id="35" name="card-3-num"/>
          <p:cNvSpPr txBox="1"/>
          <p:nvPr/>
        </p:nvSpPr>
        <p:spPr>
          <a:xfrm>
            <a:off x="5229225" y="11772900"/>
            <a:ext cx="3333750" cy="2286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625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52%</a:t>
            </a:r>
          </a:p>
        </p:txBody>
      </p:sp>
      <p:sp>
        <p:nvSpPr>
          <p:cNvPr id="36" name="card-4"/>
          <p:cNvSpPr/>
          <p:nvPr/>
        </p:nvSpPr>
        <p:spPr>
          <a:xfrm>
            <a:off x="8772525" y="11630025"/>
            <a:ext cx="6534150" cy="2571750"/>
          </a:xfrm>
          <a:prstGeom prst="rect">
            <a:avLst/>
          </a:prstGeom>
          <a:solidFill>
            <a:srgbClr val="F6F9FE"/>
          </a:solidFill>
          <a:ln w="57150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ard-4-label"/>
          <p:cNvSpPr txBox="1"/>
          <p:nvPr/>
        </p:nvSpPr>
        <p:spPr>
          <a:xfrm>
            <a:off x="8791575" y="12192000"/>
            <a:ext cx="3695700" cy="16573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225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低代码组件 + 文档</a:t>
            </a:r>
          </a:p>
          <a:p>
            <a:pPr algn="ctr">
              <a:lnSpc>
                <a:spcPct val="100000"/>
              </a:lnSpc>
            </a:pPr>
            <a:r>
              <a:rPr sz="3225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协作工具领域</a:t>
            </a:r>
          </a:p>
          <a:p>
            <a:pPr algn="ctr">
              <a:lnSpc>
                <a:spcPct val="100000"/>
              </a:lnSpc>
            </a:pPr>
            <a:r>
              <a:rPr sz="3225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增长率</a:t>
            </a:r>
          </a:p>
        </p:txBody>
      </p:sp>
      <p:sp>
        <p:nvSpPr>
          <p:cNvPr id="38" name="card-4-num"/>
          <p:cNvSpPr txBox="1"/>
          <p:nvPr/>
        </p:nvSpPr>
        <p:spPr>
          <a:xfrm>
            <a:off x="11858625" y="11772900"/>
            <a:ext cx="3333750" cy="2286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625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52%</a:t>
            </a:r>
          </a:p>
        </p:txBody>
      </p:sp>
      <p:sp>
        <p:nvSpPr>
          <p:cNvPr id="39" name="footer"/>
          <p:cNvSpPr/>
          <p:nvPr/>
        </p:nvSpPr>
        <p:spPr>
          <a:xfrm>
            <a:off x="1590675" y="14344650"/>
            <a:ext cx="13716000" cy="1390650"/>
          </a:xfrm>
          <a:prstGeom prst="rect">
            <a:avLst/>
          </a:prstGeom>
          <a:solidFill>
            <a:srgbClr val="E8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ooter-text"/>
          <p:cNvSpPr txBox="1"/>
          <p:nvPr/>
        </p:nvSpPr>
        <p:spPr>
          <a:xfrm>
            <a:off x="1590675" y="14573250"/>
            <a:ext cx="13716000" cy="762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A33524"/>
                </a:solidFill>
                <a:latin typeface="Microsoft YaHei"/>
                <a:ea typeface="Microsoft YaHei"/>
                <a:cs typeface="Microsoft YaHei"/>
              </a:rPr>
              <a:t>工具生态使用量总体呈现显著上升趋势</a:t>
            </a:r>
          </a:p>
        </p:txBody>
      </p:sp>
      <p:sp>
        <p:nvSpPr>
          <p:cNvPr id="41" name="footer-rule"/>
          <p:cNvSpPr/>
          <p:nvPr/>
        </p:nvSpPr>
        <p:spPr>
          <a:xfrm>
            <a:off x="1590675" y="15697200"/>
            <a:ext cx="13716000" cy="38100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-panel"/>
          <p:cNvSpPr/>
          <p:nvPr/>
        </p:nvSpPr>
        <p:spPr>
          <a:xfrm>
            <a:off x="15678150" y="2771775"/>
            <a:ext cx="13801725" cy="13658850"/>
          </a:xfrm>
          <a:prstGeom prst="rect">
            <a:avLst/>
          </a:prstGeom>
          <a:solidFill>
            <a:srgbClr val="FFFFFF"/>
          </a:solidFill>
          <a:ln w="28575">
            <a:solidFill>
              <a:srgbClr val="1C40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art-tail"/>
          <p:cNvSpPr/>
          <p:nvPr/>
        </p:nvSpPr>
        <p:spPr>
          <a:xfrm>
            <a:off x="17240250" y="7258050"/>
            <a:ext cx="2438400" cy="1485900"/>
          </a:xfrm>
          <a:custGeom>
            <a:avLst/>
            <a:gdLst/>
            <a:ahLst/>
            <a:cxnLst/>
            <a:rect l="l" t="t" r="r" b="b"/>
            <a:pathLst>
              <a:path w="2438400" h="1485900">
                <a:moveTo>
                  <a:pt x="0" y="0"/>
                </a:moveTo>
                <a:lnTo>
                  <a:pt x="2438400" y="0"/>
                </a:lnTo>
                <a:lnTo>
                  <a:pt x="2438400" y="14859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art-box"/>
          <p:cNvSpPr/>
          <p:nvPr/>
        </p:nvSpPr>
        <p:spPr>
          <a:xfrm>
            <a:off x="15982950" y="3543300"/>
            <a:ext cx="8743950" cy="3886200"/>
          </a:xfrm>
          <a:prstGeom prst="roundRect">
            <a:avLst>
              <a:gd name="adj" fmla="val 11029"/>
            </a:avLst>
          </a:prstGeom>
          <a:solidFill>
            <a:srgbClr val="FFFFFF"/>
          </a:solidFill>
          <a:ln w="66675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-tail-cover"/>
          <p:cNvSpPr/>
          <p:nvPr/>
        </p:nvSpPr>
        <p:spPr>
          <a:xfrm>
            <a:off x="17297400" y="7200900"/>
            <a:ext cx="2324100" cy="171450"/>
          </a:xfrm>
          <a:custGeom>
            <a:avLst/>
            <a:gdLst/>
            <a:ahLst/>
            <a:cxnLst/>
            <a:rect l="l" t="t" r="r" b="b"/>
            <a:pathLst>
              <a:path w="2324100" h="171450">
                <a:moveTo>
                  <a:pt x="0" y="0"/>
                </a:moveTo>
                <a:lnTo>
                  <a:pt x="2324100" y="0"/>
                </a:lnTo>
                <a:lnTo>
                  <a:pt x="2324100" y="1714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hart-tail-h"/>
          <p:cNvCxnSpPr/>
          <p:nvPr/>
        </p:nvCxnSpPr>
        <p:spPr>
          <a:xfrm>
            <a:off x="17259300" y="7391400"/>
            <a:ext cx="2419350" cy="1352550"/>
          </a:xfrm>
          <a:prstGeom prst="line">
            <a:avLst/>
          </a:prstGeom>
          <a:ln w="57150">
            <a:solidFill>
              <a:srgbClr val="1C40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hart-tail-v"/>
          <p:cNvCxnSpPr/>
          <p:nvPr/>
        </p:nvCxnSpPr>
        <p:spPr>
          <a:xfrm flipV="1">
            <a:off x="19678650" y="7391400"/>
            <a:ext cx="0" cy="1352550"/>
          </a:xfrm>
          <a:prstGeom prst="line">
            <a:avLst/>
          </a:prstGeom>
          <a:ln w="57150">
            <a:solidFill>
              <a:srgbClr val="1C40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hart-title"/>
          <p:cNvSpPr txBox="1"/>
          <p:nvPr/>
        </p:nvSpPr>
        <p:spPr>
          <a:xfrm>
            <a:off x="16525875" y="3619500"/>
            <a:ext cx="8191500" cy="7810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050" b="1" i="0">
                <a:solidFill>
                  <a:srgbClr val="012060"/>
                </a:solidFill>
                <a:latin typeface="Microsoft YaHei"/>
                <a:ea typeface="Microsoft YaHei"/>
                <a:cs typeface="Microsoft YaHei"/>
              </a:rPr>
              <a:t>2024年研发工具使用量情况</a:t>
            </a:r>
          </a:p>
        </p:txBody>
      </p:sp>
      <p:sp>
        <p:nvSpPr>
          <p:cNvPr id="49" name="chart-rule"/>
          <p:cNvSpPr/>
          <p:nvPr/>
        </p:nvSpPr>
        <p:spPr>
          <a:xfrm>
            <a:off x="16144875" y="4476750"/>
            <a:ext cx="8382000" cy="76200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-desc-l1"/>
          <p:cNvSpPr txBox="1"/>
          <p:nvPr/>
        </p:nvSpPr>
        <p:spPr>
          <a:xfrm>
            <a:off x="16525875" y="4619625"/>
            <a:ext cx="81915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2024 年研发工具使用量呈现阶梯式上升：从 2020 年的</a:t>
            </a:r>
          </a:p>
        </p:txBody>
      </p:sp>
      <p:sp>
        <p:nvSpPr>
          <p:cNvPr id="51" name="chart-desc-l2"/>
          <p:cNvSpPr txBox="1"/>
          <p:nvPr/>
        </p:nvSpPr>
        <p:spPr>
          <a:xfrm>
            <a:off x="16525875" y="5076825"/>
            <a:ext cx="81915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月均 5 万次调用起步，2021-2022 年随团队规模扩张逐</a:t>
            </a:r>
          </a:p>
        </p:txBody>
      </p:sp>
      <p:sp>
        <p:nvSpPr>
          <p:cNvPr id="52" name="chart-desc-l3"/>
          <p:cNvSpPr txBox="1"/>
          <p:nvPr/>
        </p:nvSpPr>
        <p:spPr>
          <a:xfrm>
            <a:off x="16525875" y="5534025"/>
            <a:ext cx="81915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步增长；2023 年受益于自动化测试工具普及、CI/CD 流</a:t>
            </a:r>
          </a:p>
        </p:txBody>
      </p:sp>
      <p:sp>
        <p:nvSpPr>
          <p:cNvPr id="53" name="chart-desc-l4"/>
          <p:cNvSpPr txBox="1"/>
          <p:nvPr/>
        </p:nvSpPr>
        <p:spPr>
          <a:xfrm>
            <a:off x="16525875" y="5991225"/>
            <a:ext cx="81915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水线全链路落地，月均调用量跃升至 18 万次，同比</a:t>
            </a:r>
          </a:p>
        </p:txBody>
      </p:sp>
      <p:sp>
        <p:nvSpPr>
          <p:cNvPr id="54" name="chart-desc-l5"/>
          <p:cNvSpPr txBox="1"/>
          <p:nvPr/>
        </p:nvSpPr>
        <p:spPr>
          <a:xfrm>
            <a:off x="16525875" y="6448425"/>
            <a:ext cx="81915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2022 年增长 32.4%。</a:t>
            </a:r>
          </a:p>
        </p:txBody>
      </p:sp>
      <p:sp>
        <p:nvSpPr>
          <p:cNvPr id="55" name="bar-2020"/>
          <p:cNvSpPr/>
          <p:nvPr/>
        </p:nvSpPr>
        <p:spPr>
          <a:xfrm>
            <a:off x="17478375" y="12725400"/>
            <a:ext cx="1428750" cy="1638300"/>
          </a:xfrm>
          <a:prstGeom prst="rect">
            <a:avLst/>
          </a:prstGeom>
          <a:solidFill>
            <a:srgbClr val="FFFFFF"/>
          </a:solidFill>
          <a:ln w="85725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arval-2020"/>
          <p:cNvSpPr txBox="1"/>
          <p:nvPr/>
        </p:nvSpPr>
        <p:spPr>
          <a:xfrm>
            <a:off x="17335500" y="12868275"/>
            <a:ext cx="1714500" cy="5715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1206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7" name="barlab-2020"/>
          <p:cNvSpPr txBox="1"/>
          <p:nvPr/>
        </p:nvSpPr>
        <p:spPr>
          <a:xfrm>
            <a:off x="17430750" y="14516100"/>
            <a:ext cx="15240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12060"/>
                </a:solidFill>
                <a:latin typeface="Microsoft YaHei"/>
                <a:ea typeface="Microsoft YaHei"/>
                <a:cs typeface="Microsoft YaHei"/>
              </a:rPr>
              <a:t>2020</a:t>
            </a:r>
          </a:p>
        </p:txBody>
      </p:sp>
      <p:sp>
        <p:nvSpPr>
          <p:cNvPr id="58" name="bar-2021"/>
          <p:cNvSpPr/>
          <p:nvPr/>
        </p:nvSpPr>
        <p:spPr>
          <a:xfrm>
            <a:off x="19431000" y="11087100"/>
            <a:ext cx="1409700" cy="3276600"/>
          </a:xfrm>
          <a:prstGeom prst="rect">
            <a:avLst/>
          </a:prstGeom>
          <a:solidFill>
            <a:srgbClr val="FFFFFF"/>
          </a:solidFill>
          <a:ln w="85725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barval-2021"/>
          <p:cNvSpPr txBox="1"/>
          <p:nvPr/>
        </p:nvSpPr>
        <p:spPr>
          <a:xfrm>
            <a:off x="19278600" y="11229975"/>
            <a:ext cx="1714500" cy="5715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1206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0" name="barlab-2021"/>
          <p:cNvSpPr txBox="1"/>
          <p:nvPr/>
        </p:nvSpPr>
        <p:spPr>
          <a:xfrm>
            <a:off x="19373850" y="14516100"/>
            <a:ext cx="15240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12060"/>
                </a:solidFill>
                <a:latin typeface="Microsoft YaHei"/>
                <a:ea typeface="Microsoft YaHei"/>
                <a:cs typeface="Microsoft YaHei"/>
              </a:rPr>
              <a:t>2021</a:t>
            </a:r>
          </a:p>
        </p:txBody>
      </p:sp>
      <p:sp>
        <p:nvSpPr>
          <p:cNvPr id="61" name="bar-2022"/>
          <p:cNvSpPr/>
          <p:nvPr/>
        </p:nvSpPr>
        <p:spPr>
          <a:xfrm>
            <a:off x="21383625" y="9906000"/>
            <a:ext cx="1409700" cy="4457700"/>
          </a:xfrm>
          <a:prstGeom prst="rect">
            <a:avLst/>
          </a:prstGeom>
          <a:solidFill>
            <a:srgbClr val="FFFFFF"/>
          </a:solidFill>
          <a:ln w="85725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barval-2022"/>
          <p:cNvSpPr txBox="1"/>
          <p:nvPr/>
        </p:nvSpPr>
        <p:spPr>
          <a:xfrm>
            <a:off x="21231225" y="10048875"/>
            <a:ext cx="1714500" cy="5715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12060"/>
                </a:solidFill>
                <a:latin typeface="Microsoft YaHei"/>
                <a:ea typeface="Microsoft YaHei"/>
                <a:cs typeface="Microsoft YaHei"/>
              </a:rPr>
              <a:t>13.6</a:t>
            </a:r>
          </a:p>
        </p:txBody>
      </p:sp>
      <p:sp>
        <p:nvSpPr>
          <p:cNvPr id="63" name="barlab-2022"/>
          <p:cNvSpPr txBox="1"/>
          <p:nvPr/>
        </p:nvSpPr>
        <p:spPr>
          <a:xfrm>
            <a:off x="21326475" y="14516100"/>
            <a:ext cx="15240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12060"/>
                </a:solidFill>
                <a:latin typeface="Microsoft YaHei"/>
                <a:ea typeface="Microsoft YaHei"/>
                <a:cs typeface="Microsoft YaHei"/>
              </a:rPr>
              <a:t>2022</a:t>
            </a:r>
          </a:p>
        </p:txBody>
      </p:sp>
      <p:sp>
        <p:nvSpPr>
          <p:cNvPr id="64" name="bar-2023"/>
          <p:cNvSpPr/>
          <p:nvPr/>
        </p:nvSpPr>
        <p:spPr>
          <a:xfrm>
            <a:off x="23317200" y="8724900"/>
            <a:ext cx="1428750" cy="5638800"/>
          </a:xfrm>
          <a:prstGeom prst="rect">
            <a:avLst/>
          </a:prstGeom>
          <a:solidFill>
            <a:srgbClr val="FFFFFF"/>
          </a:solidFill>
          <a:ln w="85725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barval-2023"/>
          <p:cNvSpPr txBox="1"/>
          <p:nvPr/>
        </p:nvSpPr>
        <p:spPr>
          <a:xfrm>
            <a:off x="23174325" y="8867775"/>
            <a:ext cx="1714500" cy="5715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1206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6" name="barlab-2023"/>
          <p:cNvSpPr txBox="1"/>
          <p:nvPr/>
        </p:nvSpPr>
        <p:spPr>
          <a:xfrm>
            <a:off x="23269575" y="14516100"/>
            <a:ext cx="15240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12060"/>
                </a:solidFill>
                <a:latin typeface="Microsoft YaHei"/>
                <a:ea typeface="Microsoft YaHei"/>
                <a:cs typeface="Microsoft YaHei"/>
              </a:rPr>
              <a:t>2023</a:t>
            </a:r>
          </a:p>
        </p:txBody>
      </p:sp>
      <p:sp>
        <p:nvSpPr>
          <p:cNvPr id="67" name="bar-2024"/>
          <p:cNvSpPr/>
          <p:nvPr/>
        </p:nvSpPr>
        <p:spPr>
          <a:xfrm>
            <a:off x="25269825" y="6848475"/>
            <a:ext cx="1400175" cy="7515225"/>
          </a:xfrm>
          <a:prstGeom prst="rect">
            <a:avLst/>
          </a:prstGeom>
          <a:solidFill>
            <a:srgbClr val="FFFFFF"/>
          </a:solidFill>
          <a:ln w="85725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barval-2024"/>
          <p:cNvSpPr txBox="1"/>
          <p:nvPr/>
        </p:nvSpPr>
        <p:spPr>
          <a:xfrm>
            <a:off x="25107900" y="6991350"/>
            <a:ext cx="1714500" cy="5715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12060"/>
                </a:solidFill>
                <a:latin typeface="Microsoft YaHei"/>
                <a:ea typeface="Microsoft YaHei"/>
                <a:cs typeface="Microsoft YaHei"/>
              </a:rPr>
              <a:t>24.1</a:t>
            </a:r>
          </a:p>
        </p:txBody>
      </p:sp>
      <p:sp>
        <p:nvSpPr>
          <p:cNvPr id="69" name="barlab-2024"/>
          <p:cNvSpPr txBox="1"/>
          <p:nvPr/>
        </p:nvSpPr>
        <p:spPr>
          <a:xfrm>
            <a:off x="25203150" y="14516100"/>
            <a:ext cx="15240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12060"/>
                </a:solidFill>
                <a:latin typeface="Microsoft YaHei"/>
                <a:ea typeface="Microsoft YaHei"/>
                <a:cs typeface="Microsoft YaHei"/>
              </a:rPr>
              <a:t>2024</a:t>
            </a:r>
          </a:p>
        </p:txBody>
      </p:sp>
      <p:sp>
        <p:nvSpPr>
          <p:cNvPr id="70" name="bar-2025"/>
          <p:cNvSpPr/>
          <p:nvPr/>
        </p:nvSpPr>
        <p:spPr>
          <a:xfrm>
            <a:off x="27203400" y="6429375"/>
            <a:ext cx="1419225" cy="7934325"/>
          </a:xfrm>
          <a:prstGeom prst="rect">
            <a:avLst/>
          </a:prstGeom>
          <a:solidFill>
            <a:srgbClr val="1C4072"/>
          </a:solidFill>
          <a:ln w="85725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barval-2025"/>
          <p:cNvSpPr txBox="1"/>
          <p:nvPr/>
        </p:nvSpPr>
        <p:spPr>
          <a:xfrm>
            <a:off x="27051000" y="6572250"/>
            <a:ext cx="1714500" cy="5715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25.5</a:t>
            </a:r>
          </a:p>
        </p:txBody>
      </p:sp>
      <p:sp>
        <p:nvSpPr>
          <p:cNvPr id="72" name="barlab-2025"/>
          <p:cNvSpPr txBox="1"/>
          <p:nvPr/>
        </p:nvSpPr>
        <p:spPr>
          <a:xfrm>
            <a:off x="27146250" y="14516100"/>
            <a:ext cx="15240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12060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73" name="yaxis-label"/>
          <p:cNvSpPr txBox="1"/>
          <p:nvPr/>
        </p:nvSpPr>
        <p:spPr>
          <a:xfrm rot="5400000">
            <a:off x="27746325" y="7305675"/>
            <a:ext cx="2476500" cy="5905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12060"/>
                </a:solidFill>
                <a:latin typeface="Microsoft YaHei"/>
                <a:ea typeface="Microsoft YaHei"/>
                <a:cs typeface="Microsoft YaHei"/>
              </a:rPr>
              <a:t>工具月均调用量</a:t>
            </a:r>
          </a:p>
        </p:txBody>
      </p:sp>
      <p:sp>
        <p:nvSpPr>
          <p:cNvPr id="74" name="arrow-growth"/>
          <p:cNvSpPr/>
          <p:nvPr/>
        </p:nvSpPr>
        <p:spPr>
          <a:xfrm>
            <a:off x="16459200" y="8105775"/>
            <a:ext cx="13392150" cy="6010275"/>
          </a:xfrm>
          <a:custGeom>
            <a:avLst/>
            <a:gdLst/>
            <a:ahLst/>
            <a:cxnLst/>
            <a:rect l="l" t="t" r="r" b="b"/>
            <a:pathLst>
              <a:path w="13392150" h="6010275">
                <a:moveTo>
                  <a:pt x="13392150" y="0"/>
                </a:moveTo>
                <a:lnTo>
                  <a:pt x="12811125" y="2085975"/>
                </a:lnTo>
                <a:lnTo>
                  <a:pt x="11868150" y="4286250"/>
                </a:lnTo>
                <a:lnTo>
                  <a:pt x="11658600" y="3238500"/>
                </a:lnTo>
                <a:lnTo>
                  <a:pt x="11201400" y="3590925"/>
                </a:lnTo>
                <a:lnTo>
                  <a:pt x="9829800" y="4371975"/>
                </a:lnTo>
                <a:lnTo>
                  <a:pt x="8077200" y="5181600"/>
                </a:lnTo>
                <a:lnTo>
                  <a:pt x="6381750" y="5715000"/>
                </a:lnTo>
                <a:lnTo>
                  <a:pt x="4733925" y="5981700"/>
                </a:lnTo>
                <a:lnTo>
                  <a:pt x="3324225" y="6010275"/>
                </a:lnTo>
                <a:lnTo>
                  <a:pt x="2352675" y="5924550"/>
                </a:lnTo>
                <a:lnTo>
                  <a:pt x="1123950" y="5676900"/>
                </a:lnTo>
                <a:lnTo>
                  <a:pt x="0" y="5267325"/>
                </a:lnTo>
                <a:lnTo>
                  <a:pt x="1495425" y="5495925"/>
                </a:lnTo>
                <a:lnTo>
                  <a:pt x="3067050" y="5457825"/>
                </a:lnTo>
                <a:lnTo>
                  <a:pt x="4438650" y="5210175"/>
                </a:lnTo>
                <a:lnTo>
                  <a:pt x="5934075" y="4714875"/>
                </a:lnTo>
                <a:lnTo>
                  <a:pt x="7105650" y="4152900"/>
                </a:lnTo>
                <a:lnTo>
                  <a:pt x="8220075" y="3457575"/>
                </a:lnTo>
                <a:lnTo>
                  <a:pt x="10353675" y="1685925"/>
                </a:lnTo>
                <a:lnTo>
                  <a:pt x="9401175" y="1219200"/>
                </a:lnTo>
                <a:lnTo>
                  <a:pt x="10868025" y="904875"/>
                </a:lnTo>
                <a:lnTo>
                  <a:pt x="12353925" y="419100"/>
                </a:lnTo>
                <a:lnTo>
                  <a:pt x="12563475" y="438150"/>
                </a:lnTo>
                <a:lnTo>
                  <a:pt x="12677775" y="295275"/>
                </a:lnTo>
                <a:close/>
              </a:path>
            </a:pathLst>
          </a:cu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