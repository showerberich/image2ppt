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952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952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29" name="hdr-check"/>
          <p:cNvGrpSpPr/>
          <p:nvPr/>
        </p:nvGrpSpPr>
        <p:grpSpPr>
          <a:xfrm>
            <a:off x="1282065" y="691515"/>
            <a:ext cx="922020" cy="922020"/>
            <a:chOff x="1282065" y="691515"/>
            <a:chExt cx="922020" cy="922020"/>
          </a:xfrm>
        </p:grpSpPr>
        <p:sp>
          <p:nvSpPr>
            <p:cNvPr id="3" name="Oval 2"/>
            <p:cNvSpPr/>
            <p:nvPr/>
          </p:nvSpPr>
          <p:spPr>
            <a:xfrm>
              <a:off x="1282065" y="691515"/>
              <a:ext cx="922020" cy="922020"/>
            </a:xfrm>
            <a:prstGeom prst="ellipse">
              <a:avLst/>
            </a:prstGeom>
            <a:noFill/>
            <a:ln w="15240">
              <a:solidFill>
                <a:srgbClr val="1430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1523048" y="1173480"/>
              <a:ext cx="157162" cy="167640"/>
            </a:xfrm>
            <a:prstGeom prst="line">
              <a:avLst/>
            </a:prstGeom>
            <a:ln w="108966">
              <a:solidFill>
                <a:srgbClr val="14305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V="1">
              <a:off x="1680210" y="995362"/>
              <a:ext cx="293370" cy="345758"/>
            </a:xfrm>
            <a:prstGeom prst="line">
              <a:avLst/>
            </a:prstGeom>
            <a:ln w="108966">
              <a:solidFill>
                <a:srgbClr val="14305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hdr-title"/>
          <p:cNvSpPr txBox="1"/>
          <p:nvPr/>
        </p:nvSpPr>
        <p:spPr>
          <a:xfrm>
            <a:off x="2600325" y="552450"/>
            <a:ext cx="19335750" cy="1047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0A3167"/>
                </a:solidFill>
                <a:latin typeface="Microsoft YaHei"/>
                <a:ea typeface="Microsoft YaHei"/>
                <a:cs typeface="Microsoft YaHei"/>
              </a:rPr>
              <a:t>IT 技术团队 “研发效能增长与技术领域投入分析” 报告</a:t>
            </a:r>
          </a:p>
        </p:txBody>
      </p:sp>
      <p:sp>
        <p:nvSpPr>
          <p:cNvPr id="7" name="hdr-badge"/>
          <p:cNvSpPr/>
          <p:nvPr/>
        </p:nvSpPr>
        <p:spPr>
          <a:xfrm>
            <a:off x="25317450" y="542925"/>
            <a:ext cx="4305300" cy="876300"/>
          </a:xfrm>
          <a:prstGeom prst="rect">
            <a:avLst/>
          </a:prstGeom>
          <a:solidFill>
            <a:srgbClr val="A3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badge-txt"/>
          <p:cNvSpPr txBox="1"/>
          <p:nvPr/>
        </p:nvSpPr>
        <p:spPr>
          <a:xfrm>
            <a:off x="25374600" y="561975"/>
            <a:ext cx="4191000" cy="838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</a:p>
        </p:txBody>
      </p:sp>
      <p:sp>
        <p:nvSpPr>
          <p:cNvPr id="9" name="hdr-rule1"/>
          <p:cNvSpPr/>
          <p:nvPr/>
        </p:nvSpPr>
        <p:spPr>
          <a:xfrm>
            <a:off x="1152525" y="1676400"/>
            <a:ext cx="28460700" cy="133350"/>
          </a:xfrm>
          <a:prstGeom prst="rect">
            <a:avLst/>
          </a:prstGeom>
          <a:solidFill>
            <a:srgbClr val="1B3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dr-rule2"/>
          <p:cNvSpPr/>
          <p:nvPr/>
        </p:nvSpPr>
        <p:spPr>
          <a:xfrm>
            <a:off x="1343025" y="2000250"/>
            <a:ext cx="28603575" cy="552450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op-panel"/>
          <p:cNvSpPr/>
          <p:nvPr/>
        </p:nvSpPr>
        <p:spPr>
          <a:xfrm>
            <a:off x="1457325" y="3009900"/>
            <a:ext cx="27965400" cy="4533900"/>
          </a:xfrm>
          <a:prstGeom prst="roundRect">
            <a:avLst>
              <a:gd name="adj" fmla="val 2100"/>
            </a:avLst>
          </a:prstGeom>
          <a:solidFill>
            <a:srgbClr val="F6F9FE"/>
          </a:solidFill>
          <a:ln w="3810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lk-banner"/>
          <p:cNvSpPr/>
          <p:nvPr/>
        </p:nvSpPr>
        <p:spPr>
          <a:xfrm>
            <a:off x="1885950" y="3114675"/>
            <a:ext cx="6038850" cy="962025"/>
          </a:xfrm>
          <a:prstGeom prst="rect">
            <a:avLst/>
          </a:prstGeom>
          <a:solidFill>
            <a:srgbClr val="214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lk-banner-txt"/>
          <p:cNvSpPr txBox="1"/>
          <p:nvPr/>
        </p:nvSpPr>
        <p:spPr>
          <a:xfrm>
            <a:off x="1952625" y="3257550"/>
            <a:ext cx="590550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研发效能迎来高速增长期</a:t>
            </a:r>
          </a:p>
        </p:txBody>
      </p:sp>
      <p:sp>
        <p:nvSpPr>
          <p:cNvPr id="14" name="blk-beige"/>
          <p:cNvSpPr/>
          <p:nvPr/>
        </p:nvSpPr>
        <p:spPr>
          <a:xfrm>
            <a:off x="1933575" y="4105275"/>
            <a:ext cx="8001000" cy="3238500"/>
          </a:xfrm>
          <a:prstGeom prst="rect">
            <a:avLst/>
          </a:prstGeom>
          <a:solidFill>
            <a:srgbClr val="E8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lk-year"/>
          <p:cNvSpPr txBox="1"/>
          <p:nvPr/>
        </p:nvSpPr>
        <p:spPr>
          <a:xfrm>
            <a:off x="2428875" y="4953000"/>
            <a:ext cx="2857500" cy="876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650" b="1" i="0">
                <a:solidFill>
                  <a:srgbClr val="143055"/>
                </a:solidFill>
                <a:latin typeface="Microsoft YaHei"/>
                <a:ea typeface="Microsoft YaHei"/>
                <a:cs typeface="Microsoft YaHei"/>
              </a:rPr>
              <a:t>2024年</a:t>
            </a:r>
          </a:p>
        </p:txBody>
      </p:sp>
      <p:sp>
        <p:nvSpPr>
          <p:cNvPr id="16" name="blk-sub"/>
          <p:cNvSpPr txBox="1"/>
          <p:nvPr/>
        </p:nvSpPr>
        <p:spPr>
          <a:xfrm>
            <a:off x="2457450" y="5505450"/>
            <a:ext cx="49530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43055"/>
                </a:solidFill>
                <a:latin typeface="Microsoft YaHei"/>
                <a:ea typeface="Microsoft YaHei"/>
                <a:cs typeface="Microsoft YaHei"/>
              </a:rPr>
              <a:t>各技术领域交付数据表现</a:t>
            </a:r>
          </a:p>
        </p:txBody>
      </p:sp>
      <p:sp>
        <p:nvSpPr>
          <p:cNvPr id="17" name="blk-en"/>
          <p:cNvSpPr txBox="1"/>
          <p:nvPr/>
        </p:nvSpPr>
        <p:spPr>
          <a:xfrm>
            <a:off x="2457450" y="6591300"/>
            <a:ext cx="7948251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25" b="0" i="0">
                <a:solidFill>
                  <a:srgbClr val="143055"/>
                </a:solidFill>
                <a:latin typeface="Microsoft YaHei"/>
                <a:ea typeface="Microsoft YaHei"/>
                <a:cs typeface="Microsoft YaHei"/>
              </a:rPr>
              <a:t>Delivery of data performance by technology field of 2024</a:t>
            </a:r>
          </a:p>
        </p:txBody>
      </p:sp>
      <p:sp>
        <p:nvSpPr>
          <p:cNvPr id="18" name="bub1-tail"/>
          <p:cNvSpPr/>
          <p:nvPr/>
        </p:nvSpPr>
        <p:spPr>
          <a:xfrm>
            <a:off x="8058150" y="5334000"/>
            <a:ext cx="752475" cy="1028700"/>
          </a:xfrm>
          <a:custGeom>
            <a:avLst/>
            <a:gdLst/>
            <a:ahLst/>
            <a:cxnLst/>
            <a:rect l="l" t="t" r="r" b="b"/>
            <a:pathLst>
              <a:path w="752475" h="1028700">
                <a:moveTo>
                  <a:pt x="0" y="0"/>
                </a:moveTo>
                <a:lnTo>
                  <a:pt x="304800" y="1028700"/>
                </a:lnTo>
                <a:lnTo>
                  <a:pt x="752475" y="238125"/>
                </a:lnTo>
                <a:close/>
              </a:path>
            </a:pathLst>
          </a:custGeom>
          <a:solidFill>
            <a:srgbClr val="A3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ub1"/>
          <p:cNvSpPr/>
          <p:nvPr/>
        </p:nvSpPr>
        <p:spPr>
          <a:xfrm>
            <a:off x="7534275" y="2647950"/>
            <a:ext cx="3086100" cy="3086100"/>
          </a:xfrm>
          <a:prstGeom prst="ellipse">
            <a:avLst/>
          </a:prstGeom>
          <a:solidFill>
            <a:srgbClr val="A3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ub1-num"/>
          <p:cNvSpPr txBox="1"/>
          <p:nvPr/>
        </p:nvSpPr>
        <p:spPr>
          <a:xfrm>
            <a:off x="7553325" y="3067050"/>
            <a:ext cx="3048000" cy="95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100万</a:t>
            </a:r>
          </a:p>
        </p:txBody>
      </p:sp>
      <p:sp>
        <p:nvSpPr>
          <p:cNvPr id="21" name="bub1-lbl"/>
          <p:cNvSpPr txBox="1"/>
          <p:nvPr/>
        </p:nvSpPr>
        <p:spPr>
          <a:xfrm>
            <a:off x="7886700" y="3857625"/>
            <a:ext cx="2381250" cy="952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累计核心</a:t>
            </a:r>
          </a:p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代码行数</a:t>
            </a:r>
          </a:p>
        </p:txBody>
      </p:sp>
      <p:sp>
        <p:nvSpPr>
          <p:cNvPr id="22" name="cone"/>
          <p:cNvSpPr/>
          <p:nvPr/>
        </p:nvSpPr>
        <p:spPr>
          <a:xfrm>
            <a:off x="11563350" y="4267200"/>
            <a:ext cx="17611725" cy="1914525"/>
          </a:xfrm>
          <a:custGeom>
            <a:avLst/>
            <a:gdLst/>
            <a:ahLst/>
            <a:cxnLst/>
            <a:rect l="l" t="t" r="r" b="b"/>
            <a:pathLst>
              <a:path w="17611725" h="1914525">
                <a:moveTo>
                  <a:pt x="0" y="0"/>
                </a:moveTo>
                <a:lnTo>
                  <a:pt x="17611725" y="1466850"/>
                </a:lnTo>
                <a:lnTo>
                  <a:pt x="66675" y="1914525"/>
                </a:lnTo>
                <a:close/>
              </a:path>
            </a:pathLst>
          </a:custGeom>
          <a:solidFill>
            <a:srgbClr val="F4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98"/>
          <p:cNvSpPr/>
          <p:nvPr/>
        </p:nvSpPr>
        <p:spPr>
          <a:xfrm>
            <a:off x="11296650" y="4105275"/>
            <a:ext cx="2209800" cy="2324100"/>
          </a:xfrm>
          <a:prstGeom prst="ellipse">
            <a:avLst/>
          </a:prstGeom>
          <a:solidFill>
            <a:srgbClr val="14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98-txt"/>
          <p:cNvSpPr txBox="1"/>
          <p:nvPr/>
        </p:nvSpPr>
        <p:spPr>
          <a:xfrm>
            <a:off x="11353800" y="4648200"/>
            <a:ext cx="2095500" cy="1238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98%</a:t>
            </a:r>
          </a:p>
        </p:txBody>
      </p:sp>
      <p:sp>
        <p:nvSpPr>
          <p:cNvPr id="25" name="lbl-2024"/>
          <p:cNvSpPr txBox="1"/>
          <p:nvPr/>
        </p:nvSpPr>
        <p:spPr>
          <a:xfrm>
            <a:off x="10953750" y="3238500"/>
            <a:ext cx="28575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250" b="0" i="0">
                <a:solidFill>
                  <a:srgbClr val="143055"/>
                </a:solidFill>
                <a:latin typeface="Microsoft YaHei"/>
                <a:ea typeface="Microsoft YaHei"/>
                <a:cs typeface="Microsoft YaHei"/>
              </a:rPr>
              <a:t>2024交付效率增长</a:t>
            </a:r>
          </a:p>
        </p:txBody>
      </p:sp>
      <p:sp>
        <p:nvSpPr>
          <p:cNvPr id="26" name="c80"/>
          <p:cNvSpPr/>
          <p:nvPr/>
        </p:nvSpPr>
        <p:spPr>
          <a:xfrm>
            <a:off x="18745200" y="4648200"/>
            <a:ext cx="1200150" cy="1200150"/>
          </a:xfrm>
          <a:prstGeom prst="ellipse">
            <a:avLst/>
          </a:prstGeom>
          <a:solidFill>
            <a:srgbClr val="A3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80-txt"/>
          <p:cNvSpPr txBox="1"/>
          <p:nvPr/>
        </p:nvSpPr>
        <p:spPr>
          <a:xfrm>
            <a:off x="18678525" y="4819650"/>
            <a:ext cx="1333500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28" name="lbl-2023"/>
          <p:cNvSpPr txBox="1"/>
          <p:nvPr/>
        </p:nvSpPr>
        <p:spPr>
          <a:xfrm>
            <a:off x="18649950" y="4000500"/>
            <a:ext cx="12382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0" i="0">
                <a:solidFill>
                  <a:srgbClr val="143055"/>
                </a:solidFill>
                <a:latin typeface="Microsoft YaHei"/>
                <a:ea typeface="Microsoft YaHei"/>
                <a:cs typeface="Microsoft YaHei"/>
              </a:rPr>
              <a:t>2023</a:t>
            </a:r>
          </a:p>
        </p:txBody>
      </p:sp>
      <p:sp>
        <p:nvSpPr>
          <p:cNvPr id="29" name="lbl-2023b"/>
          <p:cNvSpPr txBox="1"/>
          <p:nvPr/>
        </p:nvSpPr>
        <p:spPr>
          <a:xfrm>
            <a:off x="18135600" y="6162675"/>
            <a:ext cx="1905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0" i="0">
                <a:solidFill>
                  <a:srgbClr val="143055"/>
                </a:solidFill>
                <a:latin typeface="Microsoft YaHei"/>
                <a:ea typeface="Microsoft YaHei"/>
                <a:cs typeface="Microsoft YaHei"/>
              </a:rPr>
              <a:t>交付效率增长</a:t>
            </a:r>
          </a:p>
        </p:txBody>
      </p:sp>
      <p:sp>
        <p:nvSpPr>
          <p:cNvPr id="30" name="dot2022"/>
          <p:cNvSpPr/>
          <p:nvPr/>
        </p:nvSpPr>
        <p:spPr>
          <a:xfrm>
            <a:off x="24974550" y="4991100"/>
            <a:ext cx="533400" cy="533400"/>
          </a:xfrm>
          <a:prstGeom prst="ellipse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bl-2022"/>
          <p:cNvSpPr txBox="1"/>
          <p:nvPr/>
        </p:nvSpPr>
        <p:spPr>
          <a:xfrm>
            <a:off x="24603075" y="4438650"/>
            <a:ext cx="11430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0" i="0">
                <a:solidFill>
                  <a:srgbClr val="143055"/>
                </a:solidFill>
                <a:latin typeface="Microsoft YaHei"/>
                <a:ea typeface="Microsoft YaHei"/>
                <a:cs typeface="Microsoft YaHei"/>
              </a:rPr>
              <a:t>2022</a:t>
            </a:r>
          </a:p>
        </p:txBody>
      </p:sp>
      <p:sp>
        <p:nvSpPr>
          <p:cNvPr id="32" name="lbl-2022b"/>
          <p:cNvSpPr txBox="1"/>
          <p:nvPr/>
        </p:nvSpPr>
        <p:spPr>
          <a:xfrm>
            <a:off x="24279225" y="6143625"/>
            <a:ext cx="16192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100" b="0" i="0">
                <a:solidFill>
                  <a:srgbClr val="143055"/>
                </a:solidFill>
                <a:latin typeface="Microsoft YaHei"/>
                <a:ea typeface="Microsoft YaHei"/>
                <a:cs typeface="Microsoft YaHei"/>
              </a:rPr>
              <a:t>交付量较少</a:t>
            </a:r>
          </a:p>
        </p:txBody>
      </p:sp>
      <p:sp>
        <p:nvSpPr>
          <p:cNvPr id="33" name="bub2-tail"/>
          <p:cNvSpPr/>
          <p:nvPr/>
        </p:nvSpPr>
        <p:spPr>
          <a:xfrm>
            <a:off x="14135100" y="5143500"/>
            <a:ext cx="419100" cy="381000"/>
          </a:xfrm>
          <a:custGeom>
            <a:avLst/>
            <a:gdLst/>
            <a:ahLst/>
            <a:cxnLst/>
            <a:rect l="l" t="t" r="r" b="b"/>
            <a:pathLst>
              <a:path w="419100" h="381000">
                <a:moveTo>
                  <a:pt x="228600" y="0"/>
                </a:moveTo>
                <a:lnTo>
                  <a:pt x="0" y="381000"/>
                </a:lnTo>
                <a:lnTo>
                  <a:pt x="419100" y="209550"/>
                </a:lnTo>
                <a:close/>
              </a:path>
            </a:pathLst>
          </a:custGeom>
          <a:solidFill>
            <a:srgbClr val="FFFFFF"/>
          </a:solidFill>
          <a:ln w="47625">
            <a:solidFill>
              <a:srgbClr val="14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ub2"/>
          <p:cNvSpPr/>
          <p:nvPr/>
        </p:nvSpPr>
        <p:spPr>
          <a:xfrm>
            <a:off x="14487525" y="4057650"/>
            <a:ext cx="3171825" cy="1638300"/>
          </a:xfrm>
          <a:prstGeom prst="roundRect">
            <a:avLst>
              <a:gd name="adj" fmla="val 15116"/>
            </a:avLst>
          </a:prstGeom>
          <a:solidFill>
            <a:srgbClr val="FFFFFF"/>
          </a:solidFill>
          <a:ln w="47625">
            <a:solidFill>
              <a:srgbClr val="14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ub2-txt"/>
          <p:cNvSpPr txBox="1"/>
          <p:nvPr/>
        </p:nvSpPr>
        <p:spPr>
          <a:xfrm>
            <a:off x="14582775" y="4305300"/>
            <a:ext cx="2981325" cy="1143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0" i="0">
                <a:solidFill>
                  <a:srgbClr val="143055"/>
                </a:solidFill>
                <a:latin typeface="Microsoft YaHei"/>
                <a:ea typeface="Microsoft YaHei"/>
                <a:cs typeface="Microsoft YaHei"/>
              </a:rPr>
              <a:t>高速增长</a:t>
            </a:r>
          </a:p>
        </p:txBody>
      </p:sp>
      <p:sp>
        <p:nvSpPr>
          <p:cNvPr id="36" name="bub3-tail"/>
          <p:cNvSpPr/>
          <p:nvPr/>
        </p:nvSpPr>
        <p:spPr>
          <a:xfrm>
            <a:off x="24003000" y="4876800"/>
            <a:ext cx="628650" cy="514350"/>
          </a:xfrm>
          <a:custGeom>
            <a:avLst/>
            <a:gdLst/>
            <a:ahLst/>
            <a:cxnLst/>
            <a:rect l="l" t="t" r="r" b="b"/>
            <a:pathLst>
              <a:path w="628650" h="514350">
                <a:moveTo>
                  <a:pt x="0" y="0"/>
                </a:moveTo>
                <a:lnTo>
                  <a:pt x="628650" y="514350"/>
                </a:lnTo>
                <a:lnTo>
                  <a:pt x="114300" y="171450"/>
                </a:lnTo>
                <a:close/>
              </a:path>
            </a:pathLst>
          </a:custGeom>
          <a:solidFill>
            <a:srgbClr val="FFFFFF"/>
          </a:solidFill>
          <a:ln w="47625">
            <a:solidFill>
              <a:srgbClr val="14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ub3"/>
          <p:cNvSpPr/>
          <p:nvPr/>
        </p:nvSpPr>
        <p:spPr>
          <a:xfrm>
            <a:off x="20545425" y="3876675"/>
            <a:ext cx="3609975" cy="1257300"/>
          </a:xfrm>
          <a:prstGeom prst="roundRect">
            <a:avLst>
              <a:gd name="adj" fmla="val 19696"/>
            </a:avLst>
          </a:prstGeom>
          <a:solidFill>
            <a:srgbClr val="FFFFFF"/>
          </a:solidFill>
          <a:ln w="47625">
            <a:solidFill>
              <a:srgbClr val="143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ub3-txt"/>
          <p:cNvSpPr txBox="1"/>
          <p:nvPr/>
        </p:nvSpPr>
        <p:spPr>
          <a:xfrm>
            <a:off x="20640675" y="3981450"/>
            <a:ext cx="3419475" cy="1047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0" i="0">
                <a:solidFill>
                  <a:srgbClr val="143055"/>
                </a:solidFill>
                <a:latin typeface="Microsoft YaHei"/>
                <a:ea typeface="Microsoft YaHei"/>
                <a:cs typeface="Microsoft YaHei"/>
              </a:rPr>
              <a:t>低速增长</a:t>
            </a:r>
          </a:p>
        </p:txBody>
      </p:sp>
      <p:sp>
        <p:nvSpPr>
          <p:cNvPr id="39" name="blpanel"/>
          <p:cNvSpPr/>
          <p:nvPr/>
        </p:nvSpPr>
        <p:spPr>
          <a:xfrm>
            <a:off x="1476375" y="8001000"/>
            <a:ext cx="11344275" cy="7839075"/>
          </a:xfrm>
          <a:prstGeom prst="roundRect">
            <a:avLst>
              <a:gd name="adj" fmla="val 1215"/>
            </a:avLst>
          </a:prstGeom>
          <a:solidFill>
            <a:srgbClr val="FFFFFF"/>
          </a:solidFill>
          <a:ln w="3810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lplot"/>
          <p:cNvSpPr/>
          <p:nvPr/>
        </p:nvSpPr>
        <p:spPr>
          <a:xfrm>
            <a:off x="1809750" y="8305800"/>
            <a:ext cx="9963150" cy="7143750"/>
          </a:xfrm>
          <a:prstGeom prst="rect">
            <a:avLst/>
          </a:prstGeom>
          <a:solidFill>
            <a:srgbClr val="ED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title"/>
          <p:cNvSpPr txBox="1"/>
          <p:nvPr/>
        </p:nvSpPr>
        <p:spPr>
          <a:xfrm>
            <a:off x="2733675" y="8143875"/>
            <a:ext cx="9334500" cy="800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950" b="0" i="0">
                <a:solidFill>
                  <a:srgbClr val="9AA5B5"/>
                </a:solidFill>
                <a:latin typeface="Microsoft YaHei"/>
                <a:ea typeface="Microsoft YaHei"/>
                <a:cs typeface="Microsoft YaHei"/>
              </a:rPr>
              <a:t>技术领域风险 - 收益关系图</a:t>
            </a:r>
          </a:p>
        </p:txBody>
      </p:sp>
      <p:cxnSp>
        <p:nvCxnSpPr>
          <p:cNvPr id="42" name="bl-yaxis"/>
          <p:cNvCxnSpPr/>
          <p:nvPr/>
        </p:nvCxnSpPr>
        <p:spPr>
          <a:xfrm>
            <a:off x="3352800" y="8791575"/>
            <a:ext cx="0" cy="6257925"/>
          </a:xfrm>
          <a:prstGeom prst="line">
            <a:avLst/>
          </a:prstGeom>
          <a:ln w="28575">
            <a:solidFill>
              <a:srgbClr val="1430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bl-xaxis"/>
          <p:cNvCxnSpPr/>
          <p:nvPr/>
        </p:nvCxnSpPr>
        <p:spPr>
          <a:xfrm>
            <a:off x="2238375" y="14439900"/>
            <a:ext cx="9477375" cy="0"/>
          </a:xfrm>
          <a:prstGeom prst="line">
            <a:avLst/>
          </a:prstGeom>
          <a:ln w="28575">
            <a:solidFill>
              <a:srgbClr val="1430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bl-yt0"/>
          <p:cNvSpPr txBox="1"/>
          <p:nvPr/>
        </p:nvSpPr>
        <p:spPr>
          <a:xfrm>
            <a:off x="2819400" y="14239875"/>
            <a:ext cx="4191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cxnSp>
        <p:nvCxnSpPr>
          <p:cNvPr id="45" name="bl-ygl0"/>
          <p:cNvCxnSpPr/>
          <p:nvPr/>
        </p:nvCxnSpPr>
        <p:spPr>
          <a:xfrm>
            <a:off x="3314700" y="14439900"/>
            <a:ext cx="8401050" cy="0"/>
          </a:xfrm>
          <a:prstGeom prst="line">
            <a:avLst/>
          </a:prstGeom>
          <a:ln w="19050">
            <a:solidFill>
              <a:srgbClr val="E4ED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bl-yt1"/>
          <p:cNvSpPr txBox="1"/>
          <p:nvPr/>
        </p:nvSpPr>
        <p:spPr>
          <a:xfrm>
            <a:off x="2819400" y="13534072"/>
            <a:ext cx="4191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cxnSp>
        <p:nvCxnSpPr>
          <p:cNvPr id="47" name="bl-ygl1"/>
          <p:cNvCxnSpPr/>
          <p:nvPr/>
        </p:nvCxnSpPr>
        <p:spPr>
          <a:xfrm>
            <a:off x="3314700" y="13734098"/>
            <a:ext cx="8401050" cy="0"/>
          </a:xfrm>
          <a:prstGeom prst="line">
            <a:avLst/>
          </a:prstGeom>
          <a:ln w="19050">
            <a:solidFill>
              <a:srgbClr val="E4ED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bl-yt2"/>
          <p:cNvSpPr txBox="1"/>
          <p:nvPr/>
        </p:nvSpPr>
        <p:spPr>
          <a:xfrm>
            <a:off x="2819400" y="12828270"/>
            <a:ext cx="4191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cxnSp>
        <p:nvCxnSpPr>
          <p:cNvPr id="49" name="bl-ygl2"/>
          <p:cNvCxnSpPr/>
          <p:nvPr/>
        </p:nvCxnSpPr>
        <p:spPr>
          <a:xfrm>
            <a:off x="3314700" y="13028295"/>
            <a:ext cx="8401050" cy="0"/>
          </a:xfrm>
          <a:prstGeom prst="line">
            <a:avLst/>
          </a:prstGeom>
          <a:ln w="19050">
            <a:solidFill>
              <a:srgbClr val="E4ED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bl-yt3"/>
          <p:cNvSpPr txBox="1"/>
          <p:nvPr/>
        </p:nvSpPr>
        <p:spPr>
          <a:xfrm>
            <a:off x="2819400" y="12122468"/>
            <a:ext cx="4191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cxnSp>
        <p:nvCxnSpPr>
          <p:cNvPr id="51" name="bl-ygl3"/>
          <p:cNvCxnSpPr/>
          <p:nvPr/>
        </p:nvCxnSpPr>
        <p:spPr>
          <a:xfrm>
            <a:off x="3314700" y="12322492"/>
            <a:ext cx="8401050" cy="0"/>
          </a:xfrm>
          <a:prstGeom prst="line">
            <a:avLst/>
          </a:prstGeom>
          <a:ln w="19050">
            <a:solidFill>
              <a:srgbClr val="E4ED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bl-yt4"/>
          <p:cNvSpPr txBox="1"/>
          <p:nvPr/>
        </p:nvSpPr>
        <p:spPr>
          <a:xfrm>
            <a:off x="2819400" y="11416665"/>
            <a:ext cx="4191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cxnSp>
        <p:nvCxnSpPr>
          <p:cNvPr id="53" name="bl-ygl4"/>
          <p:cNvCxnSpPr/>
          <p:nvPr/>
        </p:nvCxnSpPr>
        <p:spPr>
          <a:xfrm>
            <a:off x="3314700" y="11616690"/>
            <a:ext cx="8401050" cy="0"/>
          </a:xfrm>
          <a:prstGeom prst="line">
            <a:avLst/>
          </a:prstGeom>
          <a:ln w="19050">
            <a:solidFill>
              <a:srgbClr val="E4ED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bl-yt5"/>
          <p:cNvSpPr txBox="1"/>
          <p:nvPr/>
        </p:nvSpPr>
        <p:spPr>
          <a:xfrm>
            <a:off x="2819400" y="10710862"/>
            <a:ext cx="4191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cxnSp>
        <p:nvCxnSpPr>
          <p:cNvPr id="55" name="bl-ygl5"/>
          <p:cNvCxnSpPr/>
          <p:nvPr/>
        </p:nvCxnSpPr>
        <p:spPr>
          <a:xfrm>
            <a:off x="3314700" y="10910888"/>
            <a:ext cx="8401050" cy="0"/>
          </a:xfrm>
          <a:prstGeom prst="line">
            <a:avLst/>
          </a:prstGeom>
          <a:ln w="19050">
            <a:solidFill>
              <a:srgbClr val="E4ED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bl-yt6"/>
          <p:cNvSpPr txBox="1"/>
          <p:nvPr/>
        </p:nvSpPr>
        <p:spPr>
          <a:xfrm>
            <a:off x="2819400" y="10005060"/>
            <a:ext cx="4191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cxnSp>
        <p:nvCxnSpPr>
          <p:cNvPr id="57" name="bl-ygl6"/>
          <p:cNvCxnSpPr/>
          <p:nvPr/>
        </p:nvCxnSpPr>
        <p:spPr>
          <a:xfrm>
            <a:off x="3314700" y="10205085"/>
            <a:ext cx="8401050" cy="0"/>
          </a:xfrm>
          <a:prstGeom prst="line">
            <a:avLst/>
          </a:prstGeom>
          <a:ln w="19050">
            <a:solidFill>
              <a:srgbClr val="E4ED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bl-yt7"/>
          <p:cNvSpPr txBox="1"/>
          <p:nvPr/>
        </p:nvSpPr>
        <p:spPr>
          <a:xfrm>
            <a:off x="2819400" y="9299258"/>
            <a:ext cx="4191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cxnSp>
        <p:nvCxnSpPr>
          <p:cNvPr id="59" name="bl-ygl7"/>
          <p:cNvCxnSpPr/>
          <p:nvPr/>
        </p:nvCxnSpPr>
        <p:spPr>
          <a:xfrm>
            <a:off x="3314700" y="9499282"/>
            <a:ext cx="8401050" cy="0"/>
          </a:xfrm>
          <a:prstGeom prst="line">
            <a:avLst/>
          </a:prstGeom>
          <a:ln w="19050">
            <a:solidFill>
              <a:srgbClr val="E4ED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bl-yt8"/>
          <p:cNvSpPr txBox="1"/>
          <p:nvPr/>
        </p:nvSpPr>
        <p:spPr>
          <a:xfrm>
            <a:off x="2819400" y="8593455"/>
            <a:ext cx="4191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cxnSp>
        <p:nvCxnSpPr>
          <p:cNvPr id="61" name="bl-ygl8"/>
          <p:cNvCxnSpPr/>
          <p:nvPr/>
        </p:nvCxnSpPr>
        <p:spPr>
          <a:xfrm>
            <a:off x="3314700" y="8793480"/>
            <a:ext cx="8401050" cy="0"/>
          </a:xfrm>
          <a:prstGeom prst="line">
            <a:avLst/>
          </a:prstGeom>
          <a:ln w="19050">
            <a:solidFill>
              <a:srgbClr val="E4ED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bl-xt-1"/>
          <p:cNvSpPr txBox="1"/>
          <p:nvPr/>
        </p:nvSpPr>
        <p:spPr>
          <a:xfrm>
            <a:off x="1914525" y="14497050"/>
            <a:ext cx="8572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-1</a:t>
            </a:r>
          </a:p>
        </p:txBody>
      </p:sp>
      <p:sp>
        <p:nvSpPr>
          <p:cNvPr id="63" name="bl-xt0"/>
          <p:cNvSpPr txBox="1"/>
          <p:nvPr/>
        </p:nvSpPr>
        <p:spPr>
          <a:xfrm>
            <a:off x="3695700" y="14497050"/>
            <a:ext cx="8572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4" name="bl-xt1"/>
          <p:cNvSpPr txBox="1"/>
          <p:nvPr/>
        </p:nvSpPr>
        <p:spPr>
          <a:xfrm>
            <a:off x="5476875" y="14497050"/>
            <a:ext cx="8572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5" name="bl-xt2"/>
          <p:cNvSpPr txBox="1"/>
          <p:nvPr/>
        </p:nvSpPr>
        <p:spPr>
          <a:xfrm>
            <a:off x="7286625" y="14497050"/>
            <a:ext cx="8572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6" name="bl-xt3"/>
          <p:cNvSpPr txBox="1"/>
          <p:nvPr/>
        </p:nvSpPr>
        <p:spPr>
          <a:xfrm>
            <a:off x="9077325" y="14497050"/>
            <a:ext cx="8572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7" name="bl-xt4"/>
          <p:cNvSpPr txBox="1"/>
          <p:nvPr/>
        </p:nvSpPr>
        <p:spPr>
          <a:xfrm>
            <a:off x="10868025" y="14497050"/>
            <a:ext cx="8572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8" name="bl-ylabel"/>
          <p:cNvSpPr txBox="1"/>
          <p:nvPr/>
        </p:nvSpPr>
        <p:spPr>
          <a:xfrm rot="16200000">
            <a:off x="1238250" y="10477500"/>
            <a:ext cx="3048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风险 / 投入成本</a:t>
            </a:r>
          </a:p>
        </p:txBody>
      </p:sp>
      <p:sp>
        <p:nvSpPr>
          <p:cNvPr id="69" name="bl-xlabel"/>
          <p:cNvSpPr txBox="1"/>
          <p:nvPr/>
        </p:nvSpPr>
        <p:spPr>
          <a:xfrm>
            <a:off x="9182100" y="15201900"/>
            <a:ext cx="28575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收益 / 效能提升</a:t>
            </a:r>
          </a:p>
        </p:txBody>
      </p:sp>
      <p:sp>
        <p:nvSpPr>
          <p:cNvPr id="70" name="bl-b1"/>
          <p:cNvSpPr/>
          <p:nvPr/>
        </p:nvSpPr>
        <p:spPr>
          <a:xfrm>
            <a:off x="4248150" y="12039600"/>
            <a:ext cx="1524000" cy="1524000"/>
          </a:xfrm>
          <a:prstGeom prst="ellipse">
            <a:avLst/>
          </a:prstGeom>
          <a:solidFill>
            <a:srgbClr val="14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bl-b1t"/>
          <p:cNvSpPr txBox="1"/>
          <p:nvPr/>
        </p:nvSpPr>
        <p:spPr>
          <a:xfrm>
            <a:off x="4295775" y="12420600"/>
            <a:ext cx="142875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云原生</a:t>
            </a:r>
          </a:p>
        </p:txBody>
      </p:sp>
      <p:sp>
        <p:nvSpPr>
          <p:cNvPr id="72" name="bl-b2"/>
          <p:cNvSpPr/>
          <p:nvPr/>
        </p:nvSpPr>
        <p:spPr>
          <a:xfrm>
            <a:off x="6696075" y="12020550"/>
            <a:ext cx="1295400" cy="1295400"/>
          </a:xfrm>
          <a:prstGeom prst="ellipse">
            <a:avLst/>
          </a:prstGeom>
          <a:solidFill>
            <a:srgbClr val="A3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bl-b2t"/>
          <p:cNvSpPr txBox="1"/>
          <p:nvPr/>
        </p:nvSpPr>
        <p:spPr>
          <a:xfrm>
            <a:off x="6724650" y="12096750"/>
            <a:ext cx="1238250" cy="1143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自动化</a:t>
            </a:r>
          </a:p>
          <a:p>
            <a:pPr algn="ctr">
              <a:lnSpc>
                <a:spcPct val="100000"/>
              </a:lnSpc>
            </a:pPr>
            <a:r>
              <a: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74" name="bl-b3"/>
          <p:cNvSpPr/>
          <p:nvPr/>
        </p:nvSpPr>
        <p:spPr>
          <a:xfrm>
            <a:off x="8963025" y="10601325"/>
            <a:ext cx="1047750" cy="1047750"/>
          </a:xfrm>
          <a:prstGeom prst="ellipse">
            <a:avLst/>
          </a:prstGeom>
          <a:solidFill>
            <a:srgbClr val="A3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bl-b3t"/>
          <p:cNvSpPr txBox="1"/>
          <p:nvPr/>
        </p:nvSpPr>
        <p:spPr>
          <a:xfrm>
            <a:off x="8982075" y="10668000"/>
            <a:ext cx="100965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高可用</a:t>
            </a:r>
          </a:p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76" name="bl-b4"/>
          <p:cNvSpPr/>
          <p:nvPr/>
        </p:nvSpPr>
        <p:spPr>
          <a:xfrm>
            <a:off x="8439150" y="13677900"/>
            <a:ext cx="666750" cy="666750"/>
          </a:xfrm>
          <a:prstGeom prst="ellipse">
            <a:avLst/>
          </a:prstGeom>
          <a:solidFill>
            <a:srgbClr val="A3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bl-b4t"/>
          <p:cNvSpPr txBox="1"/>
          <p:nvPr/>
        </p:nvSpPr>
        <p:spPr>
          <a:xfrm>
            <a:off x="8458200" y="13849350"/>
            <a:ext cx="62865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低代码</a:t>
            </a:r>
          </a:p>
        </p:txBody>
      </p:sp>
      <p:sp>
        <p:nvSpPr>
          <p:cNvPr id="78" name="brpanel"/>
          <p:cNvSpPr/>
          <p:nvPr/>
        </p:nvSpPr>
        <p:spPr>
          <a:xfrm>
            <a:off x="13163550" y="8001000"/>
            <a:ext cx="16259175" cy="7839075"/>
          </a:xfrm>
          <a:prstGeom prst="roundRect">
            <a:avLst>
              <a:gd name="adj" fmla="val 1215"/>
            </a:avLst>
          </a:prstGeom>
          <a:solidFill>
            <a:srgbClr val="F6F9FE"/>
          </a:solidFill>
          <a:ln w="38100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brtitle"/>
          <p:cNvSpPr txBox="1"/>
          <p:nvPr/>
        </p:nvSpPr>
        <p:spPr>
          <a:xfrm>
            <a:off x="17954625" y="8143875"/>
            <a:ext cx="7620000" cy="800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350" b="0" i="0">
                <a:solidFill>
                  <a:srgbClr val="9AA5B5"/>
                </a:solidFill>
                <a:latin typeface="Microsoft YaHei"/>
                <a:ea typeface="Microsoft YaHei"/>
                <a:cs typeface="Microsoft YaHei"/>
              </a:rPr>
              <a:t>2024 年度研发效能收益图表</a:t>
            </a:r>
          </a:p>
        </p:txBody>
      </p:sp>
      <p:sp>
        <p:nvSpPr>
          <p:cNvPr id="80" name="brsub"/>
          <p:cNvSpPr txBox="1"/>
          <p:nvPr/>
        </p:nvSpPr>
        <p:spPr>
          <a:xfrm>
            <a:off x="18602325" y="8820150"/>
            <a:ext cx="9810750" cy="5905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7D92AD"/>
                </a:solidFill>
                <a:latin typeface="Microsoft YaHei"/>
                <a:ea typeface="Microsoft YaHei"/>
                <a:cs typeface="Microsoft YaHei"/>
              </a:rPr>
              <a:t>以“需求交付周期优化率”为核心指标</a:t>
            </a:r>
          </a:p>
        </p:txBody>
      </p:sp>
      <p:sp>
        <p:nvSpPr>
          <p:cNvPr id="81" name="bar1-0"/>
          <p:cNvSpPr/>
          <p:nvPr/>
        </p:nvSpPr>
        <p:spPr>
          <a:xfrm>
            <a:off x="15944850" y="12496800"/>
            <a:ext cx="990600" cy="1638300"/>
          </a:xfrm>
          <a:prstGeom prst="rect">
            <a:avLst/>
          </a:prstGeom>
          <a:solidFill>
            <a:srgbClr val="14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bar1-1"/>
          <p:cNvSpPr/>
          <p:nvPr/>
        </p:nvSpPr>
        <p:spPr>
          <a:xfrm>
            <a:off x="15944850" y="11239500"/>
            <a:ext cx="990600" cy="1219200"/>
          </a:xfrm>
          <a:prstGeom prst="rect">
            <a:avLst/>
          </a:prstGeom>
          <a:solidFill>
            <a:srgbClr val="A3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bar1-whisk"/>
          <p:cNvCxnSpPr/>
          <p:nvPr/>
        </p:nvCxnSpPr>
        <p:spPr>
          <a:xfrm>
            <a:off x="16440150" y="10477500"/>
            <a:ext cx="0" cy="723900"/>
          </a:xfrm>
          <a:prstGeom prst="line">
            <a:avLst/>
          </a:prstGeom>
          <a:ln w="285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bar2-0"/>
          <p:cNvSpPr/>
          <p:nvPr/>
        </p:nvSpPr>
        <p:spPr>
          <a:xfrm>
            <a:off x="18411825" y="12506325"/>
            <a:ext cx="990600" cy="1628775"/>
          </a:xfrm>
          <a:prstGeom prst="rect">
            <a:avLst/>
          </a:prstGeom>
          <a:solidFill>
            <a:srgbClr val="14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bar2-1"/>
          <p:cNvSpPr/>
          <p:nvPr/>
        </p:nvSpPr>
        <p:spPr>
          <a:xfrm>
            <a:off x="18411825" y="10715625"/>
            <a:ext cx="990600" cy="885825"/>
          </a:xfrm>
          <a:prstGeom prst="rect">
            <a:avLst/>
          </a:prstGeom>
          <a:solidFill>
            <a:srgbClr val="14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bar2-whisk"/>
          <p:cNvCxnSpPr/>
          <p:nvPr/>
        </p:nvCxnSpPr>
        <p:spPr>
          <a:xfrm>
            <a:off x="18907125" y="10344150"/>
            <a:ext cx="0" cy="333375"/>
          </a:xfrm>
          <a:prstGeom prst="line">
            <a:avLst/>
          </a:prstGeom>
          <a:ln w="285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bar3-0"/>
          <p:cNvSpPr/>
          <p:nvPr/>
        </p:nvSpPr>
        <p:spPr>
          <a:xfrm>
            <a:off x="20888325" y="11677650"/>
            <a:ext cx="971550" cy="2457450"/>
          </a:xfrm>
          <a:prstGeom prst="rect">
            <a:avLst/>
          </a:prstGeom>
          <a:solidFill>
            <a:srgbClr val="14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bar3-1"/>
          <p:cNvSpPr/>
          <p:nvPr/>
        </p:nvSpPr>
        <p:spPr>
          <a:xfrm>
            <a:off x="20888325" y="9782175"/>
            <a:ext cx="971550" cy="1047750"/>
          </a:xfrm>
          <a:prstGeom prst="rect">
            <a:avLst/>
          </a:prstGeom>
          <a:solidFill>
            <a:srgbClr val="14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bar4-0"/>
          <p:cNvSpPr/>
          <p:nvPr/>
        </p:nvSpPr>
        <p:spPr>
          <a:xfrm>
            <a:off x="23345775" y="11830050"/>
            <a:ext cx="990600" cy="2305050"/>
          </a:xfrm>
          <a:prstGeom prst="rect">
            <a:avLst/>
          </a:prstGeom>
          <a:solidFill>
            <a:srgbClr val="14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bar4-1"/>
          <p:cNvSpPr/>
          <p:nvPr/>
        </p:nvSpPr>
        <p:spPr>
          <a:xfrm>
            <a:off x="23345775" y="10858500"/>
            <a:ext cx="990600" cy="933450"/>
          </a:xfrm>
          <a:prstGeom prst="rect">
            <a:avLst/>
          </a:prstGeom>
          <a:solidFill>
            <a:srgbClr val="A3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bar4-2"/>
          <p:cNvSpPr/>
          <p:nvPr/>
        </p:nvSpPr>
        <p:spPr>
          <a:xfrm>
            <a:off x="23345775" y="10239375"/>
            <a:ext cx="990600" cy="581025"/>
          </a:xfrm>
          <a:prstGeom prst="rect">
            <a:avLst/>
          </a:prstGeom>
          <a:solidFill>
            <a:srgbClr val="14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bar4-whisk"/>
          <p:cNvCxnSpPr/>
          <p:nvPr/>
        </p:nvCxnSpPr>
        <p:spPr>
          <a:xfrm>
            <a:off x="23841075" y="10096500"/>
            <a:ext cx="0" cy="114300"/>
          </a:xfrm>
          <a:prstGeom prst="line">
            <a:avLst/>
          </a:prstGeom>
          <a:ln w="285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bar5-0"/>
          <p:cNvSpPr/>
          <p:nvPr/>
        </p:nvSpPr>
        <p:spPr>
          <a:xfrm>
            <a:off x="25822275" y="11934825"/>
            <a:ext cx="962025" cy="2200275"/>
          </a:xfrm>
          <a:prstGeom prst="rect">
            <a:avLst/>
          </a:prstGeom>
          <a:solidFill>
            <a:srgbClr val="14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bar5-1"/>
          <p:cNvSpPr/>
          <p:nvPr/>
        </p:nvSpPr>
        <p:spPr>
          <a:xfrm>
            <a:off x="25822275" y="9858375"/>
            <a:ext cx="962025" cy="1400175"/>
          </a:xfrm>
          <a:prstGeom prst="rect">
            <a:avLst/>
          </a:prstGeom>
          <a:solidFill>
            <a:srgbClr val="14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br-xaxis"/>
          <p:cNvCxnSpPr/>
          <p:nvPr/>
        </p:nvCxnSpPr>
        <p:spPr>
          <a:xfrm>
            <a:off x="14287500" y="14135100"/>
            <a:ext cx="13335000" cy="0"/>
          </a:xfrm>
          <a:prstGeom prst="line">
            <a:avLst/>
          </a:prstGeom>
          <a:ln w="28575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br-yaxis"/>
          <p:cNvCxnSpPr/>
          <p:nvPr/>
        </p:nvCxnSpPr>
        <p:spPr>
          <a:xfrm>
            <a:off x="15582900" y="9429750"/>
            <a:ext cx="0" cy="4705350"/>
          </a:xfrm>
          <a:prstGeom prst="line">
            <a:avLst/>
          </a:prstGeom>
          <a:ln w="28575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br-yaxis2"/>
          <p:cNvCxnSpPr/>
          <p:nvPr/>
        </p:nvCxnSpPr>
        <p:spPr>
          <a:xfrm>
            <a:off x="27260550" y="9429750"/>
            <a:ext cx="0" cy="4705350"/>
          </a:xfrm>
          <a:prstGeom prst="line">
            <a:avLst/>
          </a:prstGeom>
          <a:ln w="28575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br-lt0"/>
          <p:cNvSpPr txBox="1"/>
          <p:nvPr/>
        </p:nvSpPr>
        <p:spPr>
          <a:xfrm>
            <a:off x="14744700" y="13935075"/>
            <a:ext cx="7810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99" name="br-lt1"/>
          <p:cNvSpPr txBox="1"/>
          <p:nvPr/>
        </p:nvSpPr>
        <p:spPr>
          <a:xfrm>
            <a:off x="14744700" y="13355241"/>
            <a:ext cx="7810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00" name="br-lt2"/>
          <p:cNvSpPr txBox="1"/>
          <p:nvPr/>
        </p:nvSpPr>
        <p:spPr>
          <a:xfrm>
            <a:off x="14744700" y="12775406"/>
            <a:ext cx="7810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101" name="br-lt3"/>
          <p:cNvSpPr txBox="1"/>
          <p:nvPr/>
        </p:nvSpPr>
        <p:spPr>
          <a:xfrm>
            <a:off x="14744700" y="12195572"/>
            <a:ext cx="7810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102" name="br-lt4"/>
          <p:cNvSpPr txBox="1"/>
          <p:nvPr/>
        </p:nvSpPr>
        <p:spPr>
          <a:xfrm>
            <a:off x="14744700" y="11615738"/>
            <a:ext cx="7810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</p:txBody>
      </p:sp>
      <p:sp>
        <p:nvSpPr>
          <p:cNvPr id="103" name="br-lt5"/>
          <p:cNvSpPr txBox="1"/>
          <p:nvPr/>
        </p:nvSpPr>
        <p:spPr>
          <a:xfrm>
            <a:off x="14744700" y="11035903"/>
            <a:ext cx="7810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04" name="br-lt6"/>
          <p:cNvSpPr txBox="1"/>
          <p:nvPr/>
        </p:nvSpPr>
        <p:spPr>
          <a:xfrm>
            <a:off x="14744700" y="10456069"/>
            <a:ext cx="7810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120</a:t>
            </a:r>
          </a:p>
        </p:txBody>
      </p:sp>
      <p:sp>
        <p:nvSpPr>
          <p:cNvPr id="105" name="br-lt7"/>
          <p:cNvSpPr txBox="1"/>
          <p:nvPr/>
        </p:nvSpPr>
        <p:spPr>
          <a:xfrm>
            <a:off x="14744700" y="9876234"/>
            <a:ext cx="7810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140</a:t>
            </a:r>
          </a:p>
        </p:txBody>
      </p:sp>
      <p:sp>
        <p:nvSpPr>
          <p:cNvPr id="106" name="br-lt8"/>
          <p:cNvSpPr txBox="1"/>
          <p:nvPr/>
        </p:nvSpPr>
        <p:spPr>
          <a:xfrm>
            <a:off x="14744700" y="9296400"/>
            <a:ext cx="7810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160</a:t>
            </a:r>
          </a:p>
        </p:txBody>
      </p:sp>
      <p:sp>
        <p:nvSpPr>
          <p:cNvPr id="107" name="br-rt0"/>
          <p:cNvSpPr txBox="1"/>
          <p:nvPr/>
        </p:nvSpPr>
        <p:spPr>
          <a:xfrm>
            <a:off x="27355800" y="13935075"/>
            <a:ext cx="7810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08" name="br-rt1"/>
          <p:cNvSpPr txBox="1"/>
          <p:nvPr/>
        </p:nvSpPr>
        <p:spPr>
          <a:xfrm>
            <a:off x="27355800" y="13271182"/>
            <a:ext cx="7810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09" name="br-rt2"/>
          <p:cNvSpPr txBox="1"/>
          <p:nvPr/>
        </p:nvSpPr>
        <p:spPr>
          <a:xfrm>
            <a:off x="27355800" y="12607290"/>
            <a:ext cx="7810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10" name="br-rt3"/>
          <p:cNvSpPr txBox="1"/>
          <p:nvPr/>
        </p:nvSpPr>
        <p:spPr>
          <a:xfrm>
            <a:off x="27355800" y="11943398"/>
            <a:ext cx="7810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111" name="br-rt4"/>
          <p:cNvSpPr txBox="1"/>
          <p:nvPr/>
        </p:nvSpPr>
        <p:spPr>
          <a:xfrm>
            <a:off x="27355800" y="11279505"/>
            <a:ext cx="7810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112" name="br-rt5"/>
          <p:cNvSpPr txBox="1"/>
          <p:nvPr/>
        </p:nvSpPr>
        <p:spPr>
          <a:xfrm>
            <a:off x="27355800" y="10615612"/>
            <a:ext cx="7810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113" name="br-rt6"/>
          <p:cNvSpPr txBox="1"/>
          <p:nvPr/>
        </p:nvSpPr>
        <p:spPr>
          <a:xfrm>
            <a:off x="27355800" y="9951720"/>
            <a:ext cx="7810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114" name="br-rt7"/>
          <p:cNvSpPr txBox="1"/>
          <p:nvPr/>
        </p:nvSpPr>
        <p:spPr>
          <a:xfrm>
            <a:off x="27355800" y="9287828"/>
            <a:ext cx="78105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115" name="br-xl0"/>
          <p:cNvSpPr txBox="1"/>
          <p:nvPr/>
        </p:nvSpPr>
        <p:spPr>
          <a:xfrm>
            <a:off x="15535275" y="14287500"/>
            <a:ext cx="1809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1/5/02</a:t>
            </a:r>
          </a:p>
        </p:txBody>
      </p:sp>
      <p:sp>
        <p:nvSpPr>
          <p:cNvPr id="116" name="br-xl1"/>
          <p:cNvSpPr txBox="1"/>
          <p:nvPr/>
        </p:nvSpPr>
        <p:spPr>
          <a:xfrm>
            <a:off x="18002250" y="14287500"/>
            <a:ext cx="1809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1/6/02</a:t>
            </a:r>
          </a:p>
        </p:txBody>
      </p:sp>
      <p:sp>
        <p:nvSpPr>
          <p:cNvPr id="117" name="br-xl2"/>
          <p:cNvSpPr txBox="1"/>
          <p:nvPr/>
        </p:nvSpPr>
        <p:spPr>
          <a:xfrm>
            <a:off x="20469225" y="14287500"/>
            <a:ext cx="1809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1/7/02</a:t>
            </a:r>
          </a:p>
        </p:txBody>
      </p:sp>
      <p:sp>
        <p:nvSpPr>
          <p:cNvPr id="118" name="br-xl3"/>
          <p:cNvSpPr txBox="1"/>
          <p:nvPr/>
        </p:nvSpPr>
        <p:spPr>
          <a:xfrm>
            <a:off x="22936200" y="14287500"/>
            <a:ext cx="1809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1/8/02</a:t>
            </a:r>
          </a:p>
        </p:txBody>
      </p:sp>
      <p:sp>
        <p:nvSpPr>
          <p:cNvPr id="119" name="br-xl4"/>
          <p:cNvSpPr txBox="1"/>
          <p:nvPr/>
        </p:nvSpPr>
        <p:spPr>
          <a:xfrm>
            <a:off x="25393650" y="14287500"/>
            <a:ext cx="1809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1/9/02</a:t>
            </a:r>
          </a:p>
        </p:txBody>
      </p:sp>
      <p:sp>
        <p:nvSpPr>
          <p:cNvPr id="120" name="br-ylabel"/>
          <p:cNvSpPr txBox="1"/>
          <p:nvPr/>
        </p:nvSpPr>
        <p:spPr>
          <a:xfrm rot="16200000">
            <a:off x="11963400" y="10668000"/>
            <a:ext cx="43815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需求交付完成量</a:t>
            </a:r>
          </a:p>
        </p:txBody>
      </p:sp>
      <p:sp>
        <p:nvSpPr>
          <p:cNvPr id="121" name="br-ylabel2"/>
          <p:cNvSpPr txBox="1"/>
          <p:nvPr/>
        </p:nvSpPr>
        <p:spPr>
          <a:xfrm rot="16200000">
            <a:off x="25812750" y="10668000"/>
            <a:ext cx="43815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需求交付完成率</a:t>
            </a:r>
          </a:p>
        </p:txBody>
      </p:sp>
      <p:sp>
        <p:nvSpPr>
          <p:cNvPr id="122" name="lg-sq"/>
          <p:cNvSpPr/>
          <p:nvPr/>
        </p:nvSpPr>
        <p:spPr>
          <a:xfrm>
            <a:off x="15316200" y="15240000"/>
            <a:ext cx="323850" cy="323850"/>
          </a:xfrm>
          <a:prstGeom prst="rect">
            <a:avLst/>
          </a:prstGeom>
          <a:solidFill>
            <a:srgbClr val="14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lg-t1"/>
          <p:cNvSpPr txBox="1"/>
          <p:nvPr/>
        </p:nvSpPr>
        <p:spPr>
          <a:xfrm>
            <a:off x="15763875" y="15163800"/>
            <a:ext cx="2381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4345F"/>
                </a:solidFill>
                <a:latin typeface="Microsoft YaHei"/>
                <a:ea typeface="Microsoft YaHei"/>
                <a:cs typeface="Microsoft YaHei"/>
              </a:rPr>
              <a:t>需求交付完成率</a:t>
            </a:r>
          </a:p>
        </p:txBody>
      </p:sp>
      <p:sp>
        <p:nvSpPr>
          <p:cNvPr id="124" name="lg-t2"/>
          <p:cNvSpPr txBox="1"/>
          <p:nvPr/>
        </p:nvSpPr>
        <p:spPr>
          <a:xfrm>
            <a:off x="18811875" y="15163800"/>
            <a:ext cx="310896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7D92AD"/>
                </a:solidFill>
                <a:latin typeface="Microsoft YaHei"/>
                <a:ea typeface="Microsoft YaHei"/>
                <a:cs typeface="Microsoft YaHei"/>
              </a:rPr>
              <a:t>需求交付周期的基准值</a:t>
            </a:r>
          </a:p>
        </p:txBody>
      </p:sp>
      <p:sp>
        <p:nvSpPr>
          <p:cNvPr id="125" name="lg-t3"/>
          <p:cNvSpPr txBox="1"/>
          <p:nvPr/>
        </p:nvSpPr>
        <p:spPr>
          <a:xfrm>
            <a:off x="21907500" y="15163800"/>
            <a:ext cx="1238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7D92AD"/>
                </a:solidFill>
                <a:latin typeface="Microsoft YaHei"/>
                <a:ea typeface="Microsoft YaHei"/>
                <a:cs typeface="Microsoft YaHei"/>
              </a:rPr>
              <a:t>最优值</a:t>
            </a:r>
          </a:p>
        </p:txBody>
      </p:sp>
      <p:sp>
        <p:nvSpPr>
          <p:cNvPr id="126" name="lg-t4"/>
          <p:cNvSpPr txBox="1"/>
          <p:nvPr/>
        </p:nvSpPr>
        <p:spPr>
          <a:xfrm>
            <a:off x="23241000" y="15163800"/>
            <a:ext cx="1238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7D92AD"/>
                </a:solidFill>
                <a:latin typeface="Microsoft YaHei"/>
                <a:ea typeface="Microsoft YaHei"/>
                <a:cs typeface="Microsoft YaHei"/>
              </a:rPr>
              <a:t>最差值</a:t>
            </a:r>
          </a:p>
        </p:txBody>
      </p:sp>
      <p:sp>
        <p:nvSpPr>
          <p:cNvPr id="127" name="lg-t5"/>
          <p:cNvSpPr txBox="1"/>
          <p:nvPr/>
        </p:nvSpPr>
        <p:spPr>
          <a:xfrm>
            <a:off x="24574500" y="15163800"/>
            <a:ext cx="1238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7D92AD"/>
                </a:solidFill>
                <a:latin typeface="Microsoft YaHei"/>
                <a:ea typeface="Microsoft YaHei"/>
                <a:cs typeface="Microsoft YaHei"/>
              </a:rPr>
              <a:t>实际值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