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8633400" cy="26441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8633400" cy="264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age-frame"/>
          <p:cNvSpPr/>
          <p:nvPr/>
        </p:nvSpPr>
        <p:spPr>
          <a:xfrm>
            <a:off x="114300" y="114300"/>
            <a:ext cx="38404800" cy="26212800"/>
          </a:xfrm>
          <a:prstGeom prst="rect">
            <a:avLst/>
          </a:prstGeom>
          <a:noFill/>
          <a:ln w="19050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179" name="header"/>
          <p:cNvGrpSpPr/>
          <p:nvPr/>
        </p:nvGrpSpPr>
        <p:grpSpPr>
          <a:xfrm>
            <a:off x="1183958" y="1504950"/>
            <a:ext cx="15627667" cy="2273618"/>
            <a:chOff x="1183958" y="1504950"/>
            <a:chExt cx="15627667" cy="2273618"/>
          </a:xfrm>
        </p:grpSpPr>
        <p:sp>
          <p:nvSpPr>
            <p:cNvPr id="4" name="badge"/>
            <p:cNvSpPr/>
            <p:nvPr/>
          </p:nvSpPr>
          <p:spPr>
            <a:xfrm>
              <a:off x="1457325" y="1504950"/>
              <a:ext cx="2505075" cy="1762125"/>
            </a:xfrm>
            <a:prstGeom prst="roundRect">
              <a:avLst>
                <a:gd name="adj" fmla="val 23783"/>
              </a:avLst>
            </a:prstGeom>
            <a:solidFill>
              <a:srgbClr val="FF82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adge-25"/>
            <p:cNvSpPr txBox="1"/>
            <p:nvPr/>
          </p:nvSpPr>
          <p:spPr>
            <a:xfrm>
              <a:off x="1183958" y="1700212"/>
              <a:ext cx="3050858" cy="1381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5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25</a:t>
              </a:r>
            </a:p>
          </p:txBody>
        </p:sp>
        <p:sp>
          <p:nvSpPr>
            <p:cNvPr id="6" name="title"/>
            <p:cNvSpPr txBox="1"/>
            <p:nvPr/>
          </p:nvSpPr>
          <p:spPr>
            <a:xfrm>
              <a:off x="4905375" y="1700212"/>
              <a:ext cx="11906250" cy="12287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67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项目复盘总结图·改进计划版</a:t>
              </a:r>
            </a:p>
          </p:txBody>
        </p:sp>
        <p:sp>
          <p:nvSpPr>
            <p:cNvPr id="7" name="subtitle"/>
            <p:cNvSpPr txBox="1"/>
            <p:nvPr/>
          </p:nvSpPr>
          <p:spPr>
            <a:xfrm>
              <a:off x="4953000" y="3184208"/>
              <a:ext cx="9620250" cy="5943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22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设定改进计划与执行方案，持续提升项目管理能力</a:t>
              </a:r>
            </a:p>
          </p:txBody>
        </p:sp>
      </p:grpSp>
      <p:grpSp>
        <p:nvGrpSpPr>
          <p:cNvPr id="175" name="meta-strip"/>
          <p:cNvGrpSpPr/>
          <p:nvPr/>
        </p:nvGrpSpPr>
        <p:grpSpPr>
          <a:xfrm>
            <a:off x="1409700" y="3924300"/>
            <a:ext cx="35814000" cy="1600200"/>
            <a:chOff x="1409700" y="3924300"/>
            <a:chExt cx="35814000" cy="1600200"/>
          </a:xfrm>
        </p:grpSpPr>
        <p:sp>
          <p:nvSpPr>
            <p:cNvPr id="8" name="meta-panel"/>
            <p:cNvSpPr/>
            <p:nvPr/>
          </p:nvSpPr>
          <p:spPr>
            <a:xfrm>
              <a:off x="1409700" y="3924300"/>
              <a:ext cx="35814000" cy="1600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66" name="meta-ic1"/>
            <p:cNvGrpSpPr/>
            <p:nvPr/>
          </p:nvGrpSpPr>
          <p:grpSpPr>
            <a:xfrm>
              <a:off x="2237804" y="4541330"/>
              <a:ext cx="401193" cy="406336"/>
              <a:chOff x="2237804" y="4541330"/>
              <a:chExt cx="401193" cy="406336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2237804" y="4587621"/>
                <a:ext cx="401193" cy="360045"/>
              </a:xfrm>
              <a:prstGeom prst="roundRect">
                <a:avLst>
                  <a:gd name="adj" fmla="val 11428"/>
                </a:avLst>
              </a:prstGeom>
              <a:noFill/>
              <a:ln w="15240">
                <a:solidFill>
                  <a:srgbClr val="FF82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0" name="Connector 9"/>
              <p:cNvCxnSpPr/>
              <p:nvPr/>
            </p:nvCxnSpPr>
            <p:spPr>
              <a:xfrm>
                <a:off x="2237804" y="4680204"/>
                <a:ext cx="401192" cy="0"/>
              </a:xfrm>
              <a:prstGeom prst="line">
                <a:avLst/>
              </a:prstGeom>
              <a:ln w="40119">
                <a:solidFill>
                  <a:srgbClr val="FF8200"/>
                </a:solidFill>
              </a:ln>
              <a:effectLst/>
            </p:spPr>
          </p:cxnSp>
          <p:cxnSp>
            <p:nvCxnSpPr>
              <p:cNvPr id="11" name="Connector 10"/>
              <p:cNvCxnSpPr/>
              <p:nvPr/>
            </p:nvCxnSpPr>
            <p:spPr>
              <a:xfrm>
                <a:off x="2335530" y="4541330"/>
                <a:ext cx="0" cy="66865"/>
              </a:xfrm>
              <a:prstGeom prst="line">
                <a:avLst/>
              </a:prstGeom>
              <a:ln w="40119">
                <a:solidFill>
                  <a:srgbClr val="FF8200"/>
                </a:solidFill>
              </a:ln>
              <a:effectLst/>
            </p:spPr>
          </p:cxnSp>
          <p:cxnSp>
            <p:nvCxnSpPr>
              <p:cNvPr id="12" name="Connector 11"/>
              <p:cNvCxnSpPr/>
              <p:nvPr/>
            </p:nvCxnSpPr>
            <p:spPr>
              <a:xfrm>
                <a:off x="2541270" y="4541330"/>
                <a:ext cx="0" cy="66865"/>
              </a:xfrm>
              <a:prstGeom prst="line">
                <a:avLst/>
              </a:prstGeom>
              <a:ln w="40119">
                <a:solidFill>
                  <a:srgbClr val="FF8200"/>
                </a:solidFill>
              </a:ln>
              <a:effectLst/>
            </p:spPr>
          </p:cxnSp>
          <p:sp>
            <p:nvSpPr>
              <p:cNvPr id="13" name="Oval 12"/>
              <p:cNvSpPr/>
              <p:nvPr/>
            </p:nvSpPr>
            <p:spPr>
              <a:xfrm>
                <a:off x="2317528" y="4734211"/>
                <a:ext cx="66866" cy="66866"/>
              </a:xfrm>
              <a:prstGeom prst="ellipse">
                <a:avLst/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2420398" y="4734211"/>
                <a:ext cx="66866" cy="66866"/>
              </a:xfrm>
              <a:prstGeom prst="ellipse">
                <a:avLst/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317528" y="4837081"/>
                <a:ext cx="66866" cy="66866"/>
              </a:xfrm>
              <a:prstGeom prst="ellipse">
                <a:avLst/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420398" y="4837081"/>
                <a:ext cx="66866" cy="66866"/>
              </a:xfrm>
              <a:prstGeom prst="ellipse">
                <a:avLst/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7" name="meta-lab1"/>
            <p:cNvSpPr txBox="1"/>
            <p:nvPr/>
          </p:nvSpPr>
          <p:spPr>
            <a:xfrm>
              <a:off x="3190875" y="4617720"/>
              <a:ext cx="1665922" cy="4419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项目名称：</a:t>
              </a:r>
            </a:p>
          </p:txBody>
        </p:sp>
        <p:sp>
          <p:nvSpPr>
            <p:cNvPr id="18" name="meta-val1"/>
            <p:cNvSpPr txBox="1"/>
            <p:nvPr/>
          </p:nvSpPr>
          <p:spPr>
            <a:xfrm>
              <a:off x="5705475" y="4617720"/>
              <a:ext cx="4069080" cy="4419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XX客户内容管理系统项目</a:t>
              </a:r>
            </a:p>
          </p:txBody>
        </p:sp>
        <p:grpSp>
          <p:nvGrpSpPr>
            <p:cNvPr id="167" name="meta-ic2"/>
            <p:cNvGrpSpPr/>
            <p:nvPr/>
          </p:nvGrpSpPr>
          <p:grpSpPr>
            <a:xfrm>
              <a:off x="12554426" y="4546473"/>
              <a:ext cx="437198" cy="452628"/>
              <a:chOff x="12554426" y="4546473"/>
              <a:chExt cx="437198" cy="452628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12665012" y="4546473"/>
                <a:ext cx="216027" cy="216027"/>
              </a:xfrm>
              <a:prstGeom prst="ellipse">
                <a:avLst/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12554426" y="4793361"/>
                <a:ext cx="437198" cy="205740"/>
              </a:xfrm>
              <a:custGeom>
                <a:avLst/>
                <a:gdLst/>
                <a:ahLst/>
                <a:cxnLst/>
                <a:rect l="l" t="t" r="r" b="b"/>
                <a:pathLst>
                  <a:path w="437198" h="205740">
                    <a:moveTo>
                      <a:pt x="0" y="205740"/>
                    </a:moveTo>
                    <a:lnTo>
                      <a:pt x="218599" y="0"/>
                    </a:lnTo>
                    <a:lnTo>
                      <a:pt x="437198" y="205740"/>
                    </a:lnTo>
                    <a:close/>
                  </a:path>
                </a:pathLst>
              </a:cu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1" name="meta-lab2"/>
            <p:cNvSpPr txBox="1"/>
            <p:nvPr/>
          </p:nvSpPr>
          <p:spPr>
            <a:xfrm>
              <a:off x="13611225" y="4617720"/>
              <a:ext cx="2017395" cy="4419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项目负责人：</a:t>
              </a:r>
            </a:p>
          </p:txBody>
        </p:sp>
        <p:sp>
          <p:nvSpPr>
            <p:cNvPr id="22" name="meta-val2"/>
            <p:cNvSpPr txBox="1"/>
            <p:nvPr/>
          </p:nvSpPr>
          <p:spPr>
            <a:xfrm>
              <a:off x="16459200" y="4617720"/>
              <a:ext cx="1126808" cy="4419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陈经理</a:t>
              </a:r>
            </a:p>
          </p:txBody>
        </p:sp>
        <p:sp>
          <p:nvSpPr>
            <p:cNvPr id="23" name="Freeform 22"/>
            <p:cNvSpPr/>
            <p:nvPr/>
          </p:nvSpPr>
          <p:spPr>
            <a:xfrm>
              <a:off x="20196334" y="4505325"/>
              <a:ext cx="488632" cy="468059"/>
            </a:xfrm>
            <a:custGeom>
              <a:avLst/>
              <a:gdLst/>
              <a:ahLst/>
              <a:cxnLst/>
              <a:rect l="l" t="t" r="r" b="b"/>
              <a:pathLst>
                <a:path w="488632" h="468059">
                  <a:moveTo>
                    <a:pt x="244316" y="0"/>
                  </a:moveTo>
                  <a:lnTo>
                    <a:pt x="306038" y="174879"/>
                  </a:lnTo>
                  <a:lnTo>
                    <a:pt x="488632" y="174879"/>
                  </a:lnTo>
                  <a:lnTo>
                    <a:pt x="342043" y="288036"/>
                  </a:lnTo>
                  <a:lnTo>
                    <a:pt x="393478" y="468059"/>
                  </a:lnTo>
                  <a:lnTo>
                    <a:pt x="244316" y="354901"/>
                  </a:lnTo>
                  <a:lnTo>
                    <a:pt x="95154" y="468059"/>
                  </a:lnTo>
                  <a:lnTo>
                    <a:pt x="146589" y="288036"/>
                  </a:lnTo>
                  <a:lnTo>
                    <a:pt x="0" y="174879"/>
                  </a:lnTo>
                  <a:lnTo>
                    <a:pt x="182594" y="174879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meta-lab3"/>
            <p:cNvSpPr txBox="1"/>
            <p:nvPr/>
          </p:nvSpPr>
          <p:spPr>
            <a:xfrm>
              <a:off x="21231225" y="4617720"/>
              <a:ext cx="1655445" cy="4419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复盘时间：</a:t>
              </a:r>
            </a:p>
          </p:txBody>
        </p:sp>
        <p:sp>
          <p:nvSpPr>
            <p:cNvPr id="25" name="meta-val3"/>
            <p:cNvSpPr txBox="1"/>
            <p:nvPr/>
          </p:nvSpPr>
          <p:spPr>
            <a:xfrm>
              <a:off x="23974425" y="4617720"/>
              <a:ext cx="2114550" cy="4419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2024-09-01</a:t>
              </a:r>
            </a:p>
          </p:txBody>
        </p:sp>
        <p:grpSp>
          <p:nvGrpSpPr>
            <p:cNvPr id="168" name="meta-ic4"/>
            <p:cNvGrpSpPr/>
            <p:nvPr/>
          </p:nvGrpSpPr>
          <p:grpSpPr>
            <a:xfrm>
              <a:off x="27963305" y="4541330"/>
              <a:ext cx="442341" cy="442341"/>
              <a:chOff x="27963305" y="4541330"/>
              <a:chExt cx="442341" cy="442341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27963305" y="4541330"/>
                <a:ext cx="442341" cy="442341"/>
              </a:xfrm>
              <a:prstGeom prst="ellipse">
                <a:avLst/>
              </a:prstGeom>
              <a:noFill/>
              <a:ln w="15240">
                <a:solidFill>
                  <a:srgbClr val="FF82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7" name="Connector 26"/>
              <p:cNvCxnSpPr/>
              <p:nvPr/>
            </p:nvCxnSpPr>
            <p:spPr>
              <a:xfrm flipV="1">
                <a:off x="28184475" y="4633912"/>
                <a:ext cx="0" cy="128588"/>
              </a:xfrm>
              <a:prstGeom prst="line">
                <a:avLst/>
              </a:prstGeom>
              <a:ln w="46805">
                <a:solidFill>
                  <a:srgbClr val="FF8200"/>
                </a:solidFill>
              </a:ln>
              <a:effectLst/>
            </p:spPr>
          </p:cxnSp>
          <p:cxnSp>
            <p:nvCxnSpPr>
              <p:cNvPr id="28" name="Connector 27"/>
              <p:cNvCxnSpPr/>
              <p:nvPr/>
            </p:nvCxnSpPr>
            <p:spPr>
              <a:xfrm>
                <a:off x="28184475" y="4762500"/>
                <a:ext cx="92583" cy="30861"/>
              </a:xfrm>
              <a:prstGeom prst="line">
                <a:avLst/>
              </a:prstGeom>
              <a:ln w="46805">
                <a:solidFill>
                  <a:srgbClr val="FF8200"/>
                </a:solidFill>
              </a:ln>
              <a:effectLst/>
            </p:spPr>
          </p:cxnSp>
        </p:grpSp>
        <p:sp>
          <p:nvSpPr>
            <p:cNvPr id="29" name="meta-lab4"/>
            <p:cNvSpPr txBox="1"/>
            <p:nvPr/>
          </p:nvSpPr>
          <p:spPr>
            <a:xfrm>
              <a:off x="29013150" y="4617720"/>
              <a:ext cx="1665922" cy="4419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项目周期：</a:t>
              </a:r>
            </a:p>
          </p:txBody>
        </p:sp>
        <p:sp>
          <p:nvSpPr>
            <p:cNvPr id="30" name="meta-val4"/>
            <p:cNvSpPr txBox="1"/>
            <p:nvPr/>
          </p:nvSpPr>
          <p:spPr>
            <a:xfrm>
              <a:off x="31870650" y="4617720"/>
              <a:ext cx="4623435" cy="4419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4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2024-01-15 ~ 2024-08-25</a:t>
              </a:r>
            </a:p>
          </p:txBody>
        </p:sp>
      </p:grpSp>
      <p:grpSp>
        <p:nvGrpSpPr>
          <p:cNvPr id="177" name="card-1"/>
          <p:cNvGrpSpPr/>
          <p:nvPr/>
        </p:nvGrpSpPr>
        <p:grpSpPr>
          <a:xfrm>
            <a:off x="1447800" y="5753100"/>
            <a:ext cx="12192000" cy="9258300"/>
            <a:chOff x="1447800" y="5753100"/>
            <a:chExt cx="12192000" cy="9258300"/>
          </a:xfrm>
        </p:grpSpPr>
        <p:sp>
          <p:nvSpPr>
            <p:cNvPr id="31" name="c1-panel"/>
            <p:cNvSpPr/>
            <p:nvPr/>
          </p:nvSpPr>
          <p:spPr>
            <a:xfrm>
              <a:off x="1447800" y="5753100"/>
              <a:ext cx="12192000" cy="9258300"/>
            </a:xfrm>
            <a:prstGeom prst="roundRect">
              <a:avLst>
                <a:gd name="adj" fmla="val 2880"/>
              </a:avLst>
            </a:prstGeom>
            <a:solidFill>
              <a:srgbClr val="FFFCF7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c1-title"/>
            <p:cNvSpPr txBox="1"/>
            <p:nvPr/>
          </p:nvSpPr>
          <p:spPr>
            <a:xfrm>
              <a:off x="2190750" y="6308408"/>
              <a:ext cx="3238500" cy="7181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FF8200"/>
                  </a:solidFill>
                  <a:latin typeface="Microsoft YaHei"/>
                  <a:ea typeface="Microsoft YaHei"/>
                  <a:cs typeface="Microsoft YaHei"/>
                </a:rPr>
                <a:t>改进重点领域</a:t>
              </a:r>
            </a:p>
          </p:txBody>
        </p:sp>
        <p:sp>
          <p:nvSpPr>
            <p:cNvPr id="33" name="donut-seg1"/>
            <p:cNvSpPr/>
            <p:nvPr/>
          </p:nvSpPr>
          <p:spPr>
            <a:xfrm>
              <a:off x="4886325" y="7886700"/>
              <a:ext cx="2714625" cy="3553778"/>
            </a:xfrm>
            <a:custGeom>
              <a:avLst/>
              <a:gdLst/>
              <a:ahLst/>
              <a:cxnLst/>
              <a:rect l="l" t="t" r="r" b="b"/>
              <a:pathLst>
                <a:path w="2714625" h="3553778">
                  <a:moveTo>
                    <a:pt x="0" y="0"/>
                  </a:moveTo>
                  <a:lnTo>
                    <a:pt x="141923" y="3810"/>
                  </a:lnTo>
                  <a:lnTo>
                    <a:pt x="283845" y="15240"/>
                  </a:lnTo>
                  <a:lnTo>
                    <a:pt x="424815" y="33338"/>
                  </a:lnTo>
                  <a:lnTo>
                    <a:pt x="564833" y="59055"/>
                  </a:lnTo>
                  <a:lnTo>
                    <a:pt x="702945" y="92392"/>
                  </a:lnTo>
                  <a:lnTo>
                    <a:pt x="839153" y="132398"/>
                  </a:lnTo>
                  <a:lnTo>
                    <a:pt x="972503" y="180022"/>
                  </a:lnTo>
                  <a:lnTo>
                    <a:pt x="1103947" y="234315"/>
                  </a:lnTo>
                  <a:lnTo>
                    <a:pt x="1232535" y="296228"/>
                  </a:lnTo>
                  <a:lnTo>
                    <a:pt x="1357313" y="363855"/>
                  </a:lnTo>
                  <a:lnTo>
                    <a:pt x="1478280" y="438150"/>
                  </a:lnTo>
                  <a:lnTo>
                    <a:pt x="1595437" y="518160"/>
                  </a:lnTo>
                  <a:lnTo>
                    <a:pt x="1708785" y="604838"/>
                  </a:lnTo>
                  <a:lnTo>
                    <a:pt x="1816417" y="697230"/>
                  </a:lnTo>
                  <a:lnTo>
                    <a:pt x="1919287" y="795338"/>
                  </a:lnTo>
                  <a:lnTo>
                    <a:pt x="2017395" y="898208"/>
                  </a:lnTo>
                  <a:lnTo>
                    <a:pt x="2109787" y="1005840"/>
                  </a:lnTo>
                  <a:lnTo>
                    <a:pt x="2196465" y="1119188"/>
                  </a:lnTo>
                  <a:lnTo>
                    <a:pt x="2276475" y="1236345"/>
                  </a:lnTo>
                  <a:lnTo>
                    <a:pt x="2350770" y="1357312"/>
                  </a:lnTo>
                  <a:lnTo>
                    <a:pt x="2418397" y="1482090"/>
                  </a:lnTo>
                  <a:lnTo>
                    <a:pt x="2480310" y="1610678"/>
                  </a:lnTo>
                  <a:lnTo>
                    <a:pt x="2534603" y="1742122"/>
                  </a:lnTo>
                  <a:lnTo>
                    <a:pt x="2582227" y="1875472"/>
                  </a:lnTo>
                  <a:lnTo>
                    <a:pt x="2622233" y="2011680"/>
                  </a:lnTo>
                  <a:lnTo>
                    <a:pt x="2655570" y="2149792"/>
                  </a:lnTo>
                  <a:lnTo>
                    <a:pt x="2681287" y="2289810"/>
                  </a:lnTo>
                  <a:lnTo>
                    <a:pt x="2699385" y="2430780"/>
                  </a:lnTo>
                  <a:lnTo>
                    <a:pt x="2710815" y="2572702"/>
                  </a:lnTo>
                  <a:lnTo>
                    <a:pt x="2714625" y="2714625"/>
                  </a:lnTo>
                  <a:lnTo>
                    <a:pt x="2710815" y="2856548"/>
                  </a:lnTo>
                  <a:lnTo>
                    <a:pt x="2699385" y="2998470"/>
                  </a:lnTo>
                  <a:lnTo>
                    <a:pt x="2681287" y="3139440"/>
                  </a:lnTo>
                  <a:lnTo>
                    <a:pt x="2655570" y="3279458"/>
                  </a:lnTo>
                  <a:lnTo>
                    <a:pt x="2622233" y="3417570"/>
                  </a:lnTo>
                  <a:lnTo>
                    <a:pt x="2582227" y="3553778"/>
                  </a:lnTo>
                  <a:lnTo>
                    <a:pt x="1857375" y="3317558"/>
                  </a:lnTo>
                  <a:lnTo>
                    <a:pt x="1885950" y="3220402"/>
                  </a:lnTo>
                  <a:lnTo>
                    <a:pt x="1909763" y="3120390"/>
                  </a:lnTo>
                  <a:lnTo>
                    <a:pt x="1928813" y="3020378"/>
                  </a:lnTo>
                  <a:lnTo>
                    <a:pt x="1942147" y="2918460"/>
                  </a:lnTo>
                  <a:lnTo>
                    <a:pt x="1949767" y="2816542"/>
                  </a:lnTo>
                  <a:lnTo>
                    <a:pt x="1952625" y="2714625"/>
                  </a:lnTo>
                  <a:lnTo>
                    <a:pt x="1949767" y="2612708"/>
                  </a:lnTo>
                  <a:lnTo>
                    <a:pt x="1942147" y="2510790"/>
                  </a:lnTo>
                  <a:lnTo>
                    <a:pt x="1928813" y="2408872"/>
                  </a:lnTo>
                  <a:lnTo>
                    <a:pt x="1909763" y="2308860"/>
                  </a:lnTo>
                  <a:lnTo>
                    <a:pt x="1885950" y="2208848"/>
                  </a:lnTo>
                  <a:lnTo>
                    <a:pt x="1857375" y="2111692"/>
                  </a:lnTo>
                  <a:lnTo>
                    <a:pt x="1823085" y="2014538"/>
                  </a:lnTo>
                  <a:lnTo>
                    <a:pt x="1784033" y="1920240"/>
                  </a:lnTo>
                  <a:lnTo>
                    <a:pt x="1740217" y="1827848"/>
                  </a:lnTo>
                  <a:lnTo>
                    <a:pt x="1690687" y="1738312"/>
                  </a:lnTo>
                  <a:lnTo>
                    <a:pt x="1637347" y="1650682"/>
                  </a:lnTo>
                  <a:lnTo>
                    <a:pt x="1579245" y="1566862"/>
                  </a:lnTo>
                  <a:lnTo>
                    <a:pt x="1517333" y="1485900"/>
                  </a:lnTo>
                  <a:lnTo>
                    <a:pt x="1450657" y="1407795"/>
                  </a:lnTo>
                  <a:lnTo>
                    <a:pt x="1381125" y="1333500"/>
                  </a:lnTo>
                  <a:lnTo>
                    <a:pt x="1306830" y="1263968"/>
                  </a:lnTo>
                  <a:lnTo>
                    <a:pt x="1228725" y="1197292"/>
                  </a:lnTo>
                  <a:lnTo>
                    <a:pt x="1147763" y="1135380"/>
                  </a:lnTo>
                  <a:lnTo>
                    <a:pt x="1063943" y="1077278"/>
                  </a:lnTo>
                  <a:lnTo>
                    <a:pt x="976313" y="1023938"/>
                  </a:lnTo>
                  <a:lnTo>
                    <a:pt x="886777" y="974408"/>
                  </a:lnTo>
                  <a:lnTo>
                    <a:pt x="794385" y="930592"/>
                  </a:lnTo>
                  <a:lnTo>
                    <a:pt x="700087" y="891540"/>
                  </a:lnTo>
                  <a:lnTo>
                    <a:pt x="602933" y="857250"/>
                  </a:lnTo>
                  <a:lnTo>
                    <a:pt x="505777" y="828675"/>
                  </a:lnTo>
                  <a:lnTo>
                    <a:pt x="405765" y="804862"/>
                  </a:lnTo>
                  <a:lnTo>
                    <a:pt x="305753" y="785812"/>
                  </a:lnTo>
                  <a:lnTo>
                    <a:pt x="203835" y="772478"/>
                  </a:lnTo>
                  <a:lnTo>
                    <a:pt x="101917" y="764858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C61C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onut-seg2"/>
            <p:cNvSpPr/>
            <p:nvPr/>
          </p:nvSpPr>
          <p:spPr>
            <a:xfrm>
              <a:off x="4047172" y="11204258"/>
              <a:ext cx="3421380" cy="2111692"/>
            </a:xfrm>
            <a:custGeom>
              <a:avLst/>
              <a:gdLst/>
              <a:ahLst/>
              <a:cxnLst/>
              <a:rect l="l" t="t" r="r" b="b"/>
              <a:pathLst>
                <a:path w="3421380" h="2111692">
                  <a:moveTo>
                    <a:pt x="3421380" y="236220"/>
                  </a:moveTo>
                  <a:lnTo>
                    <a:pt x="3373756" y="369570"/>
                  </a:lnTo>
                  <a:lnTo>
                    <a:pt x="3319463" y="501014"/>
                  </a:lnTo>
                  <a:lnTo>
                    <a:pt x="3257550" y="629602"/>
                  </a:lnTo>
                  <a:lnTo>
                    <a:pt x="3189923" y="754380"/>
                  </a:lnTo>
                  <a:lnTo>
                    <a:pt x="3115628" y="875347"/>
                  </a:lnTo>
                  <a:lnTo>
                    <a:pt x="3035618" y="992504"/>
                  </a:lnTo>
                  <a:lnTo>
                    <a:pt x="2948940" y="1105852"/>
                  </a:lnTo>
                  <a:lnTo>
                    <a:pt x="2856548" y="1213484"/>
                  </a:lnTo>
                  <a:lnTo>
                    <a:pt x="2758440" y="1316354"/>
                  </a:lnTo>
                  <a:lnTo>
                    <a:pt x="2655570" y="1414462"/>
                  </a:lnTo>
                  <a:lnTo>
                    <a:pt x="2547938" y="1506854"/>
                  </a:lnTo>
                  <a:lnTo>
                    <a:pt x="2434590" y="1593532"/>
                  </a:lnTo>
                  <a:lnTo>
                    <a:pt x="2317433" y="1673542"/>
                  </a:lnTo>
                  <a:lnTo>
                    <a:pt x="2196466" y="1747837"/>
                  </a:lnTo>
                  <a:lnTo>
                    <a:pt x="2071688" y="1815464"/>
                  </a:lnTo>
                  <a:lnTo>
                    <a:pt x="1943100" y="1877377"/>
                  </a:lnTo>
                  <a:lnTo>
                    <a:pt x="1811656" y="1931670"/>
                  </a:lnTo>
                  <a:lnTo>
                    <a:pt x="1678306" y="1979294"/>
                  </a:lnTo>
                  <a:lnTo>
                    <a:pt x="1542098" y="2019300"/>
                  </a:lnTo>
                  <a:lnTo>
                    <a:pt x="1403986" y="2052637"/>
                  </a:lnTo>
                  <a:lnTo>
                    <a:pt x="1263968" y="2078354"/>
                  </a:lnTo>
                  <a:lnTo>
                    <a:pt x="1122998" y="2096452"/>
                  </a:lnTo>
                  <a:lnTo>
                    <a:pt x="981076" y="2107882"/>
                  </a:lnTo>
                  <a:lnTo>
                    <a:pt x="839153" y="2111692"/>
                  </a:lnTo>
                  <a:lnTo>
                    <a:pt x="697230" y="2107882"/>
                  </a:lnTo>
                  <a:lnTo>
                    <a:pt x="555308" y="2096452"/>
                  </a:lnTo>
                  <a:lnTo>
                    <a:pt x="414338" y="2078354"/>
                  </a:lnTo>
                  <a:lnTo>
                    <a:pt x="274320" y="2052637"/>
                  </a:lnTo>
                  <a:lnTo>
                    <a:pt x="136208" y="2019300"/>
                  </a:lnTo>
                  <a:lnTo>
                    <a:pt x="0" y="1979294"/>
                  </a:lnTo>
                  <a:lnTo>
                    <a:pt x="236220" y="1254442"/>
                  </a:lnTo>
                  <a:lnTo>
                    <a:pt x="333376" y="1283017"/>
                  </a:lnTo>
                  <a:lnTo>
                    <a:pt x="433388" y="1306830"/>
                  </a:lnTo>
                  <a:lnTo>
                    <a:pt x="533400" y="1325880"/>
                  </a:lnTo>
                  <a:lnTo>
                    <a:pt x="635318" y="1339214"/>
                  </a:lnTo>
                  <a:lnTo>
                    <a:pt x="737236" y="1346834"/>
                  </a:lnTo>
                  <a:lnTo>
                    <a:pt x="839153" y="1349692"/>
                  </a:lnTo>
                  <a:lnTo>
                    <a:pt x="941070" y="1346834"/>
                  </a:lnTo>
                  <a:lnTo>
                    <a:pt x="1042988" y="1339214"/>
                  </a:lnTo>
                  <a:lnTo>
                    <a:pt x="1144906" y="1325880"/>
                  </a:lnTo>
                  <a:lnTo>
                    <a:pt x="1244918" y="1306830"/>
                  </a:lnTo>
                  <a:lnTo>
                    <a:pt x="1344930" y="1283017"/>
                  </a:lnTo>
                  <a:lnTo>
                    <a:pt x="1442086" y="1254442"/>
                  </a:lnTo>
                  <a:lnTo>
                    <a:pt x="1539240" y="1220152"/>
                  </a:lnTo>
                  <a:lnTo>
                    <a:pt x="1633538" y="1181100"/>
                  </a:lnTo>
                  <a:lnTo>
                    <a:pt x="1725930" y="1137284"/>
                  </a:lnTo>
                  <a:lnTo>
                    <a:pt x="1815466" y="1087754"/>
                  </a:lnTo>
                  <a:lnTo>
                    <a:pt x="1903096" y="1034414"/>
                  </a:lnTo>
                  <a:lnTo>
                    <a:pt x="1986916" y="976312"/>
                  </a:lnTo>
                  <a:lnTo>
                    <a:pt x="2067878" y="914400"/>
                  </a:lnTo>
                  <a:lnTo>
                    <a:pt x="2145983" y="847724"/>
                  </a:lnTo>
                  <a:lnTo>
                    <a:pt x="2220278" y="778192"/>
                  </a:lnTo>
                  <a:lnTo>
                    <a:pt x="2289810" y="703897"/>
                  </a:lnTo>
                  <a:lnTo>
                    <a:pt x="2356486" y="625792"/>
                  </a:lnTo>
                  <a:lnTo>
                    <a:pt x="2418398" y="544830"/>
                  </a:lnTo>
                  <a:lnTo>
                    <a:pt x="2476500" y="461010"/>
                  </a:lnTo>
                  <a:lnTo>
                    <a:pt x="2529840" y="373380"/>
                  </a:lnTo>
                  <a:lnTo>
                    <a:pt x="2579370" y="283844"/>
                  </a:lnTo>
                  <a:lnTo>
                    <a:pt x="2623186" y="191452"/>
                  </a:lnTo>
                  <a:lnTo>
                    <a:pt x="2662238" y="97154"/>
                  </a:lnTo>
                  <a:lnTo>
                    <a:pt x="2696528" y="0"/>
                  </a:lnTo>
                  <a:close/>
                </a:path>
              </a:pathLst>
            </a:custGeom>
            <a:solidFill>
              <a:srgbClr val="178B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onut-seg3"/>
            <p:cNvSpPr/>
            <p:nvPr/>
          </p:nvSpPr>
          <p:spPr>
            <a:xfrm>
              <a:off x="2171700" y="10601325"/>
              <a:ext cx="2111692" cy="2582227"/>
            </a:xfrm>
            <a:custGeom>
              <a:avLst/>
              <a:gdLst/>
              <a:ahLst/>
              <a:cxnLst/>
              <a:rect l="l" t="t" r="r" b="b"/>
              <a:pathLst>
                <a:path w="2111692" h="2582227">
                  <a:moveTo>
                    <a:pt x="1875472" y="2582227"/>
                  </a:moveTo>
                  <a:lnTo>
                    <a:pt x="1742122" y="2534603"/>
                  </a:lnTo>
                  <a:lnTo>
                    <a:pt x="1610678" y="2480310"/>
                  </a:lnTo>
                  <a:lnTo>
                    <a:pt x="1482090" y="2418397"/>
                  </a:lnTo>
                  <a:lnTo>
                    <a:pt x="1357312" y="2350770"/>
                  </a:lnTo>
                  <a:lnTo>
                    <a:pt x="1236345" y="2276475"/>
                  </a:lnTo>
                  <a:lnTo>
                    <a:pt x="1119188" y="2196465"/>
                  </a:lnTo>
                  <a:lnTo>
                    <a:pt x="1005840" y="2109787"/>
                  </a:lnTo>
                  <a:lnTo>
                    <a:pt x="898208" y="2017395"/>
                  </a:lnTo>
                  <a:lnTo>
                    <a:pt x="795338" y="1919287"/>
                  </a:lnTo>
                  <a:lnTo>
                    <a:pt x="697230" y="1816417"/>
                  </a:lnTo>
                  <a:lnTo>
                    <a:pt x="604838" y="1708785"/>
                  </a:lnTo>
                  <a:lnTo>
                    <a:pt x="518160" y="1595437"/>
                  </a:lnTo>
                  <a:lnTo>
                    <a:pt x="438150" y="1478280"/>
                  </a:lnTo>
                  <a:lnTo>
                    <a:pt x="363855" y="1357313"/>
                  </a:lnTo>
                  <a:lnTo>
                    <a:pt x="296228" y="1232535"/>
                  </a:lnTo>
                  <a:lnTo>
                    <a:pt x="234315" y="1103947"/>
                  </a:lnTo>
                  <a:lnTo>
                    <a:pt x="180022" y="972503"/>
                  </a:lnTo>
                  <a:lnTo>
                    <a:pt x="132398" y="839153"/>
                  </a:lnTo>
                  <a:lnTo>
                    <a:pt x="92392" y="702945"/>
                  </a:lnTo>
                  <a:lnTo>
                    <a:pt x="59055" y="564833"/>
                  </a:lnTo>
                  <a:lnTo>
                    <a:pt x="33338" y="424815"/>
                  </a:lnTo>
                  <a:lnTo>
                    <a:pt x="15240" y="283845"/>
                  </a:lnTo>
                  <a:lnTo>
                    <a:pt x="3810" y="141923"/>
                  </a:lnTo>
                  <a:lnTo>
                    <a:pt x="0" y="0"/>
                  </a:lnTo>
                  <a:lnTo>
                    <a:pt x="762000" y="0"/>
                  </a:lnTo>
                  <a:lnTo>
                    <a:pt x="764858" y="101917"/>
                  </a:lnTo>
                  <a:lnTo>
                    <a:pt x="772478" y="203835"/>
                  </a:lnTo>
                  <a:lnTo>
                    <a:pt x="785812" y="305753"/>
                  </a:lnTo>
                  <a:lnTo>
                    <a:pt x="804862" y="405765"/>
                  </a:lnTo>
                  <a:lnTo>
                    <a:pt x="828675" y="505777"/>
                  </a:lnTo>
                  <a:lnTo>
                    <a:pt x="857250" y="602933"/>
                  </a:lnTo>
                  <a:lnTo>
                    <a:pt x="891540" y="700087"/>
                  </a:lnTo>
                  <a:lnTo>
                    <a:pt x="930592" y="794385"/>
                  </a:lnTo>
                  <a:lnTo>
                    <a:pt x="974408" y="886777"/>
                  </a:lnTo>
                  <a:lnTo>
                    <a:pt x="1023938" y="976313"/>
                  </a:lnTo>
                  <a:lnTo>
                    <a:pt x="1077278" y="1063943"/>
                  </a:lnTo>
                  <a:lnTo>
                    <a:pt x="1135380" y="1147763"/>
                  </a:lnTo>
                  <a:lnTo>
                    <a:pt x="1197292" y="1228725"/>
                  </a:lnTo>
                  <a:lnTo>
                    <a:pt x="1263968" y="1306830"/>
                  </a:lnTo>
                  <a:lnTo>
                    <a:pt x="1333500" y="1381125"/>
                  </a:lnTo>
                  <a:lnTo>
                    <a:pt x="1407795" y="1450657"/>
                  </a:lnTo>
                  <a:lnTo>
                    <a:pt x="1485900" y="1517333"/>
                  </a:lnTo>
                  <a:lnTo>
                    <a:pt x="1566862" y="1579245"/>
                  </a:lnTo>
                  <a:lnTo>
                    <a:pt x="1650682" y="1637347"/>
                  </a:lnTo>
                  <a:lnTo>
                    <a:pt x="1738312" y="1690687"/>
                  </a:lnTo>
                  <a:lnTo>
                    <a:pt x="1827848" y="1740217"/>
                  </a:lnTo>
                  <a:lnTo>
                    <a:pt x="1920240" y="1784033"/>
                  </a:lnTo>
                  <a:lnTo>
                    <a:pt x="2014538" y="1823085"/>
                  </a:lnTo>
                  <a:lnTo>
                    <a:pt x="2111692" y="1857375"/>
                  </a:lnTo>
                  <a:close/>
                </a:path>
              </a:pathLst>
            </a:custGeom>
            <a:solidFill>
              <a:srgbClr val="43A34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onut-seg4"/>
            <p:cNvSpPr/>
            <p:nvPr/>
          </p:nvSpPr>
          <p:spPr>
            <a:xfrm>
              <a:off x="2171700" y="8404860"/>
              <a:ext cx="1566862" cy="2196465"/>
            </a:xfrm>
            <a:custGeom>
              <a:avLst/>
              <a:gdLst/>
              <a:ahLst/>
              <a:cxnLst/>
              <a:rect l="l" t="t" r="r" b="b"/>
              <a:pathLst>
                <a:path w="1566862" h="2196465">
                  <a:moveTo>
                    <a:pt x="0" y="2196465"/>
                  </a:moveTo>
                  <a:lnTo>
                    <a:pt x="3810" y="2054542"/>
                  </a:lnTo>
                  <a:lnTo>
                    <a:pt x="15240" y="1912620"/>
                  </a:lnTo>
                  <a:lnTo>
                    <a:pt x="33338" y="1771650"/>
                  </a:lnTo>
                  <a:lnTo>
                    <a:pt x="59055" y="1631632"/>
                  </a:lnTo>
                  <a:lnTo>
                    <a:pt x="92392" y="1493520"/>
                  </a:lnTo>
                  <a:lnTo>
                    <a:pt x="132398" y="1357312"/>
                  </a:lnTo>
                  <a:lnTo>
                    <a:pt x="180022" y="1223962"/>
                  </a:lnTo>
                  <a:lnTo>
                    <a:pt x="234315" y="1092518"/>
                  </a:lnTo>
                  <a:lnTo>
                    <a:pt x="296228" y="963930"/>
                  </a:lnTo>
                  <a:lnTo>
                    <a:pt x="363855" y="839152"/>
                  </a:lnTo>
                  <a:lnTo>
                    <a:pt x="438150" y="718185"/>
                  </a:lnTo>
                  <a:lnTo>
                    <a:pt x="518160" y="601028"/>
                  </a:lnTo>
                  <a:lnTo>
                    <a:pt x="604838" y="487680"/>
                  </a:lnTo>
                  <a:lnTo>
                    <a:pt x="697230" y="380048"/>
                  </a:lnTo>
                  <a:lnTo>
                    <a:pt x="795338" y="277178"/>
                  </a:lnTo>
                  <a:lnTo>
                    <a:pt x="898208" y="179070"/>
                  </a:lnTo>
                  <a:lnTo>
                    <a:pt x="1005840" y="86678"/>
                  </a:lnTo>
                  <a:lnTo>
                    <a:pt x="1119188" y="0"/>
                  </a:lnTo>
                  <a:lnTo>
                    <a:pt x="1566862" y="617220"/>
                  </a:lnTo>
                  <a:lnTo>
                    <a:pt x="1485900" y="679132"/>
                  </a:lnTo>
                  <a:lnTo>
                    <a:pt x="1407795" y="745808"/>
                  </a:lnTo>
                  <a:lnTo>
                    <a:pt x="1333500" y="815340"/>
                  </a:lnTo>
                  <a:lnTo>
                    <a:pt x="1263968" y="889635"/>
                  </a:lnTo>
                  <a:lnTo>
                    <a:pt x="1197292" y="967740"/>
                  </a:lnTo>
                  <a:lnTo>
                    <a:pt x="1135380" y="1048702"/>
                  </a:lnTo>
                  <a:lnTo>
                    <a:pt x="1077278" y="1132522"/>
                  </a:lnTo>
                  <a:lnTo>
                    <a:pt x="1023938" y="1220152"/>
                  </a:lnTo>
                  <a:lnTo>
                    <a:pt x="974408" y="1309688"/>
                  </a:lnTo>
                  <a:lnTo>
                    <a:pt x="930592" y="1402080"/>
                  </a:lnTo>
                  <a:lnTo>
                    <a:pt x="891540" y="1496378"/>
                  </a:lnTo>
                  <a:lnTo>
                    <a:pt x="857250" y="1593532"/>
                  </a:lnTo>
                  <a:lnTo>
                    <a:pt x="828675" y="1690688"/>
                  </a:lnTo>
                  <a:lnTo>
                    <a:pt x="804862" y="1790700"/>
                  </a:lnTo>
                  <a:lnTo>
                    <a:pt x="785812" y="1890712"/>
                  </a:lnTo>
                  <a:lnTo>
                    <a:pt x="772478" y="1992630"/>
                  </a:lnTo>
                  <a:lnTo>
                    <a:pt x="764858" y="2094548"/>
                  </a:lnTo>
                  <a:lnTo>
                    <a:pt x="762000" y="2196465"/>
                  </a:lnTo>
                  <a:close/>
                </a:path>
              </a:pathLst>
            </a:custGeom>
            <a:solidFill>
              <a:srgbClr val="F1AA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onut-seg5"/>
            <p:cNvSpPr/>
            <p:nvPr/>
          </p:nvSpPr>
          <p:spPr>
            <a:xfrm>
              <a:off x="3290888" y="7886700"/>
              <a:ext cx="1595437" cy="1135380"/>
            </a:xfrm>
            <a:custGeom>
              <a:avLst/>
              <a:gdLst/>
              <a:ahLst/>
              <a:cxnLst/>
              <a:rect l="l" t="t" r="r" b="b"/>
              <a:pathLst>
                <a:path w="1595437" h="1135380">
                  <a:moveTo>
                    <a:pt x="0" y="518160"/>
                  </a:moveTo>
                  <a:lnTo>
                    <a:pt x="117157" y="438150"/>
                  </a:lnTo>
                  <a:lnTo>
                    <a:pt x="238124" y="363855"/>
                  </a:lnTo>
                  <a:lnTo>
                    <a:pt x="362902" y="296228"/>
                  </a:lnTo>
                  <a:lnTo>
                    <a:pt x="491490" y="234315"/>
                  </a:lnTo>
                  <a:lnTo>
                    <a:pt x="622934" y="180022"/>
                  </a:lnTo>
                  <a:lnTo>
                    <a:pt x="756284" y="132398"/>
                  </a:lnTo>
                  <a:lnTo>
                    <a:pt x="892492" y="92392"/>
                  </a:lnTo>
                  <a:lnTo>
                    <a:pt x="1030604" y="59055"/>
                  </a:lnTo>
                  <a:lnTo>
                    <a:pt x="1170622" y="33338"/>
                  </a:lnTo>
                  <a:lnTo>
                    <a:pt x="1311592" y="15240"/>
                  </a:lnTo>
                  <a:lnTo>
                    <a:pt x="1453514" y="3810"/>
                  </a:lnTo>
                  <a:lnTo>
                    <a:pt x="1595437" y="0"/>
                  </a:lnTo>
                  <a:lnTo>
                    <a:pt x="1595437" y="762000"/>
                  </a:lnTo>
                  <a:lnTo>
                    <a:pt x="1493520" y="764858"/>
                  </a:lnTo>
                  <a:lnTo>
                    <a:pt x="1391602" y="772478"/>
                  </a:lnTo>
                  <a:lnTo>
                    <a:pt x="1289684" y="785812"/>
                  </a:lnTo>
                  <a:lnTo>
                    <a:pt x="1189672" y="804862"/>
                  </a:lnTo>
                  <a:lnTo>
                    <a:pt x="1089660" y="828675"/>
                  </a:lnTo>
                  <a:lnTo>
                    <a:pt x="992504" y="857250"/>
                  </a:lnTo>
                  <a:lnTo>
                    <a:pt x="895350" y="891540"/>
                  </a:lnTo>
                  <a:lnTo>
                    <a:pt x="801052" y="930592"/>
                  </a:lnTo>
                  <a:lnTo>
                    <a:pt x="708660" y="974408"/>
                  </a:lnTo>
                  <a:lnTo>
                    <a:pt x="619124" y="1023938"/>
                  </a:lnTo>
                  <a:lnTo>
                    <a:pt x="531494" y="1077278"/>
                  </a:lnTo>
                  <a:lnTo>
                    <a:pt x="447674" y="1135380"/>
                  </a:lnTo>
                  <a:close/>
                </a:path>
              </a:pathLst>
            </a:custGeom>
            <a:solidFill>
              <a:srgbClr val="FB4B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c1-donut-label"/>
            <p:cNvSpPr txBox="1"/>
            <p:nvPr/>
          </p:nvSpPr>
          <p:spPr>
            <a:xfrm>
              <a:off x="3909060" y="10570845"/>
              <a:ext cx="1916430" cy="4419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改进优先级</a:t>
              </a:r>
            </a:p>
          </p:txBody>
        </p:sp>
        <p:sp>
          <p:nvSpPr>
            <p:cNvPr id="39" name="legend-dot1"/>
            <p:cNvSpPr/>
            <p:nvPr/>
          </p:nvSpPr>
          <p:spPr>
            <a:xfrm>
              <a:off x="8686800" y="8029575"/>
              <a:ext cx="400050" cy="400050"/>
            </a:xfrm>
            <a:prstGeom prst="ellipse">
              <a:avLst/>
            </a:prstGeom>
            <a:solidFill>
              <a:srgbClr val="0C61C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legend-name1"/>
            <p:cNvSpPr txBox="1"/>
            <p:nvPr/>
          </p:nvSpPr>
          <p:spPr>
            <a:xfrm>
              <a:off x="9467850" y="8053388"/>
              <a:ext cx="15716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需求管理</a:t>
              </a:r>
            </a:p>
          </p:txBody>
        </p:sp>
        <p:sp>
          <p:nvSpPr>
            <p:cNvPr id="41" name="legend-pct1"/>
            <p:cNvSpPr txBox="1"/>
            <p:nvPr/>
          </p:nvSpPr>
          <p:spPr>
            <a:xfrm>
              <a:off x="11963400" y="8053388"/>
              <a:ext cx="10001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30%</a:t>
              </a:r>
            </a:p>
          </p:txBody>
        </p:sp>
        <p:sp>
          <p:nvSpPr>
            <p:cNvPr id="42" name="legend-dot2"/>
            <p:cNvSpPr/>
            <p:nvPr/>
          </p:nvSpPr>
          <p:spPr>
            <a:xfrm>
              <a:off x="8686800" y="9267825"/>
              <a:ext cx="400050" cy="400050"/>
            </a:xfrm>
            <a:prstGeom prst="ellipse">
              <a:avLst/>
            </a:prstGeom>
            <a:solidFill>
              <a:srgbClr val="178B8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legend-name2"/>
            <p:cNvSpPr txBox="1"/>
            <p:nvPr/>
          </p:nvSpPr>
          <p:spPr>
            <a:xfrm>
              <a:off x="9467850" y="9291638"/>
              <a:ext cx="15716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进度管理</a:t>
              </a:r>
            </a:p>
          </p:txBody>
        </p:sp>
        <p:sp>
          <p:nvSpPr>
            <p:cNvPr id="44" name="legend-pct2"/>
            <p:cNvSpPr txBox="1"/>
            <p:nvPr/>
          </p:nvSpPr>
          <p:spPr>
            <a:xfrm>
              <a:off x="11963400" y="9291638"/>
              <a:ext cx="10001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  <p:sp>
          <p:nvSpPr>
            <p:cNvPr id="45" name="legend-dot3"/>
            <p:cNvSpPr/>
            <p:nvPr/>
          </p:nvSpPr>
          <p:spPr>
            <a:xfrm>
              <a:off x="8686800" y="10506075"/>
              <a:ext cx="400050" cy="400050"/>
            </a:xfrm>
            <a:prstGeom prst="ellipse">
              <a:avLst/>
            </a:prstGeom>
            <a:solidFill>
              <a:srgbClr val="43A34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legend-name3"/>
            <p:cNvSpPr txBox="1"/>
            <p:nvPr/>
          </p:nvSpPr>
          <p:spPr>
            <a:xfrm>
              <a:off x="9467850" y="10529888"/>
              <a:ext cx="15716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资源管理</a:t>
              </a:r>
            </a:p>
          </p:txBody>
        </p:sp>
        <p:sp>
          <p:nvSpPr>
            <p:cNvPr id="47" name="legend-pct3"/>
            <p:cNvSpPr txBox="1"/>
            <p:nvPr/>
          </p:nvSpPr>
          <p:spPr>
            <a:xfrm>
              <a:off x="11963400" y="10529888"/>
              <a:ext cx="10001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20%</a:t>
              </a:r>
            </a:p>
          </p:txBody>
        </p:sp>
        <p:sp>
          <p:nvSpPr>
            <p:cNvPr id="48" name="legend-dot4"/>
            <p:cNvSpPr/>
            <p:nvPr/>
          </p:nvSpPr>
          <p:spPr>
            <a:xfrm>
              <a:off x="8686800" y="11744325"/>
              <a:ext cx="400050" cy="400050"/>
            </a:xfrm>
            <a:prstGeom prst="ellipse">
              <a:avLst/>
            </a:prstGeom>
            <a:solidFill>
              <a:srgbClr val="F1AA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legend-name4"/>
            <p:cNvSpPr txBox="1"/>
            <p:nvPr/>
          </p:nvSpPr>
          <p:spPr>
            <a:xfrm>
              <a:off x="9467850" y="11768138"/>
              <a:ext cx="15716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沟通协作</a:t>
              </a:r>
            </a:p>
          </p:txBody>
        </p:sp>
        <p:sp>
          <p:nvSpPr>
            <p:cNvPr id="50" name="legend-pct4"/>
            <p:cNvSpPr txBox="1"/>
            <p:nvPr/>
          </p:nvSpPr>
          <p:spPr>
            <a:xfrm>
              <a:off x="11963400" y="11768138"/>
              <a:ext cx="10001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15%</a:t>
              </a:r>
            </a:p>
          </p:txBody>
        </p:sp>
        <p:sp>
          <p:nvSpPr>
            <p:cNvPr id="51" name="legend-dot5"/>
            <p:cNvSpPr/>
            <p:nvPr/>
          </p:nvSpPr>
          <p:spPr>
            <a:xfrm>
              <a:off x="8686800" y="12982575"/>
              <a:ext cx="400050" cy="400050"/>
            </a:xfrm>
            <a:prstGeom prst="ellipse">
              <a:avLst/>
            </a:prstGeom>
            <a:solidFill>
              <a:srgbClr val="FB4B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legend-name5"/>
            <p:cNvSpPr txBox="1"/>
            <p:nvPr/>
          </p:nvSpPr>
          <p:spPr>
            <a:xfrm>
              <a:off x="9467850" y="13006388"/>
              <a:ext cx="15716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质量管理</a:t>
              </a:r>
            </a:p>
          </p:txBody>
        </p:sp>
        <p:sp>
          <p:nvSpPr>
            <p:cNvPr id="53" name="legend-pct5"/>
            <p:cNvSpPr txBox="1"/>
            <p:nvPr/>
          </p:nvSpPr>
          <p:spPr>
            <a:xfrm>
              <a:off x="11963400" y="13006388"/>
              <a:ext cx="1000125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10%</a:t>
              </a:r>
            </a:p>
          </p:txBody>
        </p:sp>
      </p:grpSp>
      <p:grpSp>
        <p:nvGrpSpPr>
          <p:cNvPr id="181" name="card-2"/>
          <p:cNvGrpSpPr/>
          <p:nvPr/>
        </p:nvGrpSpPr>
        <p:grpSpPr>
          <a:xfrm>
            <a:off x="14058900" y="5753100"/>
            <a:ext cx="23164800" cy="9258300"/>
            <a:chOff x="14058900" y="5753100"/>
            <a:chExt cx="23164800" cy="9258300"/>
          </a:xfrm>
        </p:grpSpPr>
        <p:sp>
          <p:nvSpPr>
            <p:cNvPr id="54" name="c2-panel"/>
            <p:cNvSpPr/>
            <p:nvPr/>
          </p:nvSpPr>
          <p:spPr>
            <a:xfrm>
              <a:off x="14058900" y="5753100"/>
              <a:ext cx="23164800" cy="9258300"/>
            </a:xfrm>
            <a:prstGeom prst="roundRect">
              <a:avLst>
                <a:gd name="adj" fmla="val 2880"/>
              </a:avLst>
            </a:prstGeom>
            <a:solidFill>
              <a:srgbClr val="FFFCF7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c2-title"/>
            <p:cNvSpPr txBox="1"/>
            <p:nvPr/>
          </p:nvSpPr>
          <p:spPr>
            <a:xfrm>
              <a:off x="14868525" y="6308408"/>
              <a:ext cx="3238500" cy="7181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FF8200"/>
                  </a:solidFill>
                  <a:latin typeface="Microsoft YaHei"/>
                  <a:ea typeface="Microsoft YaHei"/>
                  <a:cs typeface="Microsoft YaHei"/>
                </a:rPr>
                <a:t>改进行动计划</a:t>
              </a:r>
            </a:p>
          </p:txBody>
        </p:sp>
        <p:sp>
          <p:nvSpPr>
            <p:cNvPr id="56" name="tbl-body"/>
            <p:cNvSpPr/>
            <p:nvPr/>
          </p:nvSpPr>
          <p:spPr>
            <a:xfrm>
              <a:off x="14439900" y="8382000"/>
              <a:ext cx="22440900" cy="643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tbl-frame"/>
            <p:cNvSpPr/>
            <p:nvPr/>
          </p:nvSpPr>
          <p:spPr>
            <a:xfrm>
              <a:off x="14439900" y="7296150"/>
              <a:ext cx="22440900" cy="7524750"/>
            </a:xfrm>
            <a:prstGeom prst="rect">
              <a:avLst/>
            </a:prstGeom>
            <a:noFill/>
            <a:ln w="28575">
              <a:solidFill>
                <a:srgbClr val="F1DAC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tbl-v1"/>
            <p:cNvCxnSpPr/>
            <p:nvPr/>
          </p:nvCxnSpPr>
          <p:spPr>
            <a:xfrm>
              <a:off x="17983200" y="8439150"/>
              <a:ext cx="0" cy="6381750"/>
            </a:xfrm>
            <a:prstGeom prst="line">
              <a:avLst/>
            </a:prstGeom>
            <a:ln w="28575">
              <a:solidFill>
                <a:srgbClr val="F1DAC8"/>
              </a:solidFill>
            </a:ln>
            <a:effectLst/>
          </p:spPr>
        </p:cxnSp>
        <p:cxnSp>
          <p:nvCxnSpPr>
            <p:cNvPr id="59" name="tbl-v2"/>
            <p:cNvCxnSpPr/>
            <p:nvPr/>
          </p:nvCxnSpPr>
          <p:spPr>
            <a:xfrm>
              <a:off x="24183975" y="8439150"/>
              <a:ext cx="0" cy="6381750"/>
            </a:xfrm>
            <a:prstGeom prst="line">
              <a:avLst/>
            </a:prstGeom>
            <a:ln w="28575">
              <a:solidFill>
                <a:srgbClr val="F1DAC8"/>
              </a:solidFill>
            </a:ln>
            <a:effectLst/>
          </p:spPr>
        </p:cxnSp>
        <p:cxnSp>
          <p:nvCxnSpPr>
            <p:cNvPr id="60" name="tbl-v3"/>
            <p:cNvCxnSpPr/>
            <p:nvPr/>
          </p:nvCxnSpPr>
          <p:spPr>
            <a:xfrm>
              <a:off x="27470100" y="8439150"/>
              <a:ext cx="0" cy="6381750"/>
            </a:xfrm>
            <a:prstGeom prst="line">
              <a:avLst/>
            </a:prstGeom>
            <a:ln w="28575">
              <a:solidFill>
                <a:srgbClr val="F1DAC8"/>
              </a:solidFill>
            </a:ln>
            <a:effectLst/>
          </p:spPr>
        </p:cxnSp>
        <p:cxnSp>
          <p:nvCxnSpPr>
            <p:cNvPr id="61" name="tbl-v4"/>
            <p:cNvCxnSpPr/>
            <p:nvPr/>
          </p:nvCxnSpPr>
          <p:spPr>
            <a:xfrm>
              <a:off x="31041975" y="8439150"/>
              <a:ext cx="0" cy="6381750"/>
            </a:xfrm>
            <a:prstGeom prst="line">
              <a:avLst/>
            </a:prstGeom>
            <a:ln w="28575">
              <a:solidFill>
                <a:srgbClr val="F1DAC8"/>
              </a:solidFill>
            </a:ln>
            <a:effectLst/>
          </p:spPr>
        </p:cxnSp>
        <p:cxnSp>
          <p:nvCxnSpPr>
            <p:cNvPr id="62" name="tbl-v5"/>
            <p:cNvCxnSpPr/>
            <p:nvPr/>
          </p:nvCxnSpPr>
          <p:spPr>
            <a:xfrm>
              <a:off x="34661475" y="8439150"/>
              <a:ext cx="0" cy="6381750"/>
            </a:xfrm>
            <a:prstGeom prst="line">
              <a:avLst/>
            </a:prstGeom>
            <a:ln w="28575">
              <a:solidFill>
                <a:srgbClr val="F1DAC8"/>
              </a:solidFill>
            </a:ln>
            <a:effectLst/>
          </p:spPr>
        </p:cxnSp>
        <p:sp>
          <p:nvSpPr>
            <p:cNvPr id="63" name="tbl-header"/>
            <p:cNvSpPr/>
            <p:nvPr/>
          </p:nvSpPr>
          <p:spPr>
            <a:xfrm>
              <a:off x="14439900" y="7296150"/>
              <a:ext cx="22440900" cy="1143000"/>
            </a:xfrm>
            <a:prstGeom prst="rect">
              <a:avLst/>
            </a:prstGeom>
            <a:solidFill>
              <a:srgbClr val="FF82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h1"/>
            <p:cNvSpPr txBox="1"/>
            <p:nvPr/>
          </p:nvSpPr>
          <p:spPr>
            <a:xfrm>
              <a:off x="15039975" y="7652385"/>
              <a:ext cx="234315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改进领域</a:t>
              </a:r>
            </a:p>
          </p:txBody>
        </p:sp>
        <p:sp>
          <p:nvSpPr>
            <p:cNvPr id="65" name="th2"/>
            <p:cNvSpPr txBox="1"/>
            <p:nvPr/>
          </p:nvSpPr>
          <p:spPr>
            <a:xfrm>
              <a:off x="19912012" y="7652385"/>
              <a:ext cx="234315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具体措施</a:t>
              </a:r>
            </a:p>
          </p:txBody>
        </p:sp>
        <p:sp>
          <p:nvSpPr>
            <p:cNvPr id="66" name="th3"/>
            <p:cNvSpPr txBox="1"/>
            <p:nvPr/>
          </p:nvSpPr>
          <p:spPr>
            <a:xfrm>
              <a:off x="24655462" y="7652385"/>
              <a:ext cx="234315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负责人</a:t>
              </a:r>
            </a:p>
          </p:txBody>
        </p:sp>
        <p:sp>
          <p:nvSpPr>
            <p:cNvPr id="67" name="th4"/>
            <p:cNvSpPr txBox="1"/>
            <p:nvPr/>
          </p:nvSpPr>
          <p:spPr>
            <a:xfrm>
              <a:off x="28084462" y="7652385"/>
              <a:ext cx="234315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完成时间</a:t>
              </a:r>
            </a:p>
          </p:txBody>
        </p:sp>
        <p:sp>
          <p:nvSpPr>
            <p:cNvPr id="68" name="th5"/>
            <p:cNvSpPr txBox="1"/>
            <p:nvPr/>
          </p:nvSpPr>
          <p:spPr>
            <a:xfrm>
              <a:off x="31680150" y="7652385"/>
              <a:ext cx="234315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预期效果</a:t>
              </a:r>
            </a:p>
          </p:txBody>
        </p:sp>
        <p:sp>
          <p:nvSpPr>
            <p:cNvPr id="69" name="th6"/>
            <p:cNvSpPr txBox="1"/>
            <p:nvPr/>
          </p:nvSpPr>
          <p:spPr>
            <a:xfrm>
              <a:off x="34599562" y="7652385"/>
              <a:ext cx="234315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优先级</a:t>
              </a:r>
            </a:p>
          </p:txBody>
        </p:sp>
        <p:cxnSp>
          <p:nvCxnSpPr>
            <p:cNvPr id="70" name="tbl-div1"/>
            <p:cNvCxnSpPr/>
            <p:nvPr/>
          </p:nvCxnSpPr>
          <p:spPr>
            <a:xfrm>
              <a:off x="14439900" y="9725025"/>
              <a:ext cx="22440900" cy="0"/>
            </a:xfrm>
            <a:prstGeom prst="line">
              <a:avLst/>
            </a:prstGeom>
            <a:ln w="19050">
              <a:solidFill>
                <a:srgbClr val="F1DAC8"/>
              </a:solidFill>
            </a:ln>
            <a:effectLst/>
          </p:spPr>
        </p:cxnSp>
        <p:sp>
          <p:nvSpPr>
            <p:cNvPr id="71" name="td-r1-c1"/>
            <p:cNvSpPr txBox="1"/>
            <p:nvPr/>
          </p:nvSpPr>
          <p:spPr>
            <a:xfrm>
              <a:off x="14927580" y="892587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需求管理</a:t>
              </a:r>
            </a:p>
          </p:txBody>
        </p:sp>
        <p:sp>
          <p:nvSpPr>
            <p:cNvPr id="72" name="td-r1-c2"/>
            <p:cNvSpPr txBox="1"/>
            <p:nvPr/>
          </p:nvSpPr>
          <p:spPr>
            <a:xfrm>
              <a:off x="19775995" y="8925878"/>
              <a:ext cx="2615184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建立需求评审机制</a:t>
              </a:r>
            </a:p>
          </p:txBody>
        </p:sp>
        <p:sp>
          <p:nvSpPr>
            <p:cNvPr id="73" name="td-r1-c3"/>
            <p:cNvSpPr txBox="1"/>
            <p:nvPr/>
          </p:nvSpPr>
          <p:spPr>
            <a:xfrm>
              <a:off x="24543068" y="892587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张经理</a:t>
              </a:r>
            </a:p>
          </p:txBody>
        </p:sp>
        <p:sp>
          <p:nvSpPr>
            <p:cNvPr id="74" name="td-r1-c4"/>
            <p:cNvSpPr txBox="1"/>
            <p:nvPr/>
          </p:nvSpPr>
          <p:spPr>
            <a:xfrm>
              <a:off x="27972068" y="8919210"/>
              <a:ext cx="256794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2024-10-10</a:t>
              </a:r>
            </a:p>
          </p:txBody>
        </p:sp>
        <p:sp>
          <p:nvSpPr>
            <p:cNvPr id="75" name="td-r1-c5"/>
            <p:cNvSpPr txBox="1"/>
            <p:nvPr/>
          </p:nvSpPr>
          <p:spPr>
            <a:xfrm>
              <a:off x="31567755" y="892587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减少需求变更</a:t>
              </a:r>
            </a:p>
          </p:txBody>
        </p:sp>
        <p:sp>
          <p:nvSpPr>
            <p:cNvPr id="76" name="td-r1-c6"/>
            <p:cNvSpPr txBox="1"/>
            <p:nvPr/>
          </p:nvSpPr>
          <p:spPr>
            <a:xfrm>
              <a:off x="34487168" y="892587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D9581E"/>
                  </a:solidFill>
                  <a:latin typeface="Microsoft YaHei"/>
                  <a:ea typeface="Microsoft YaHei"/>
                  <a:cs typeface="Microsoft YaHei"/>
                </a:rPr>
                <a:t>高</a:t>
              </a:r>
            </a:p>
          </p:txBody>
        </p:sp>
        <p:cxnSp>
          <p:nvCxnSpPr>
            <p:cNvPr id="77" name="tbl-div2"/>
            <p:cNvCxnSpPr/>
            <p:nvPr/>
          </p:nvCxnSpPr>
          <p:spPr>
            <a:xfrm>
              <a:off x="14439900" y="10982325"/>
              <a:ext cx="22440900" cy="0"/>
            </a:xfrm>
            <a:prstGeom prst="line">
              <a:avLst/>
            </a:prstGeom>
            <a:ln w="19050">
              <a:solidFill>
                <a:srgbClr val="F1DAC8"/>
              </a:solidFill>
            </a:ln>
            <a:effectLst/>
          </p:spPr>
        </p:cxnSp>
        <p:sp>
          <p:nvSpPr>
            <p:cNvPr id="78" name="td-r2-c1"/>
            <p:cNvSpPr txBox="1"/>
            <p:nvPr/>
          </p:nvSpPr>
          <p:spPr>
            <a:xfrm>
              <a:off x="14927580" y="1018317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进度管理</a:t>
              </a:r>
            </a:p>
          </p:txBody>
        </p:sp>
        <p:sp>
          <p:nvSpPr>
            <p:cNvPr id="79" name="td-r2-c2"/>
            <p:cNvSpPr txBox="1"/>
            <p:nvPr/>
          </p:nvSpPr>
          <p:spPr>
            <a:xfrm>
              <a:off x="19285648" y="10183178"/>
              <a:ext cx="3595878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引入甘特图与里程碑管理</a:t>
              </a:r>
            </a:p>
          </p:txBody>
        </p:sp>
        <p:sp>
          <p:nvSpPr>
            <p:cNvPr id="80" name="td-r2-c3"/>
            <p:cNvSpPr txBox="1"/>
            <p:nvPr/>
          </p:nvSpPr>
          <p:spPr>
            <a:xfrm>
              <a:off x="24543068" y="1018317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李工程师</a:t>
              </a:r>
            </a:p>
          </p:txBody>
        </p:sp>
        <p:sp>
          <p:nvSpPr>
            <p:cNvPr id="81" name="td-r2-c4"/>
            <p:cNvSpPr txBox="1"/>
            <p:nvPr/>
          </p:nvSpPr>
          <p:spPr>
            <a:xfrm>
              <a:off x="27972068" y="10175558"/>
              <a:ext cx="256794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2024-10-15</a:t>
              </a:r>
            </a:p>
          </p:txBody>
        </p:sp>
        <p:sp>
          <p:nvSpPr>
            <p:cNvPr id="82" name="td-r2-c5"/>
            <p:cNvSpPr txBox="1"/>
            <p:nvPr/>
          </p:nvSpPr>
          <p:spPr>
            <a:xfrm>
              <a:off x="31567755" y="1018317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提高进度可控性</a:t>
              </a:r>
            </a:p>
          </p:txBody>
        </p:sp>
        <p:sp>
          <p:nvSpPr>
            <p:cNvPr id="83" name="td-r2-c6"/>
            <p:cNvSpPr txBox="1"/>
            <p:nvPr/>
          </p:nvSpPr>
          <p:spPr>
            <a:xfrm>
              <a:off x="34487168" y="1018317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D9581E"/>
                  </a:solidFill>
                  <a:latin typeface="Microsoft YaHei"/>
                  <a:ea typeface="Microsoft YaHei"/>
                  <a:cs typeface="Microsoft YaHei"/>
                </a:rPr>
                <a:t>高</a:t>
              </a:r>
            </a:p>
          </p:txBody>
        </p:sp>
        <p:cxnSp>
          <p:nvCxnSpPr>
            <p:cNvPr id="84" name="tbl-div3"/>
            <p:cNvCxnSpPr/>
            <p:nvPr/>
          </p:nvCxnSpPr>
          <p:spPr>
            <a:xfrm>
              <a:off x="14439900" y="12239625"/>
              <a:ext cx="22440900" cy="0"/>
            </a:xfrm>
            <a:prstGeom prst="line">
              <a:avLst/>
            </a:prstGeom>
            <a:ln w="19050">
              <a:solidFill>
                <a:srgbClr val="F1DAC8"/>
              </a:solidFill>
            </a:ln>
            <a:effectLst/>
          </p:spPr>
        </p:cxnSp>
        <p:sp>
          <p:nvSpPr>
            <p:cNvPr id="85" name="td-r3-c1"/>
            <p:cNvSpPr txBox="1"/>
            <p:nvPr/>
          </p:nvSpPr>
          <p:spPr>
            <a:xfrm>
              <a:off x="14927580" y="11450002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资源管理</a:t>
              </a:r>
            </a:p>
          </p:txBody>
        </p:sp>
        <p:sp>
          <p:nvSpPr>
            <p:cNvPr id="86" name="td-r3-c2"/>
            <p:cNvSpPr txBox="1"/>
            <p:nvPr/>
          </p:nvSpPr>
          <p:spPr>
            <a:xfrm>
              <a:off x="19449098" y="11450002"/>
              <a:ext cx="326898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完善资源池和调度机制</a:t>
              </a:r>
            </a:p>
          </p:txBody>
        </p:sp>
        <p:sp>
          <p:nvSpPr>
            <p:cNvPr id="87" name="td-r3-c3"/>
            <p:cNvSpPr txBox="1"/>
            <p:nvPr/>
          </p:nvSpPr>
          <p:spPr>
            <a:xfrm>
              <a:off x="24543068" y="11450002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王工程师</a:t>
              </a:r>
            </a:p>
          </p:txBody>
        </p:sp>
        <p:sp>
          <p:nvSpPr>
            <p:cNvPr id="88" name="td-r3-c4"/>
            <p:cNvSpPr txBox="1"/>
            <p:nvPr/>
          </p:nvSpPr>
          <p:spPr>
            <a:xfrm>
              <a:off x="27972068" y="11442382"/>
              <a:ext cx="256794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2024-11-15</a:t>
              </a:r>
            </a:p>
          </p:txBody>
        </p:sp>
        <p:sp>
          <p:nvSpPr>
            <p:cNvPr id="89" name="td-r3-c5"/>
            <p:cNvSpPr txBox="1"/>
            <p:nvPr/>
          </p:nvSpPr>
          <p:spPr>
            <a:xfrm>
              <a:off x="31567755" y="11450002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提升资源利用率</a:t>
              </a:r>
            </a:p>
          </p:txBody>
        </p:sp>
        <p:sp>
          <p:nvSpPr>
            <p:cNvPr id="90" name="td-r3-c6"/>
            <p:cNvSpPr txBox="1"/>
            <p:nvPr/>
          </p:nvSpPr>
          <p:spPr>
            <a:xfrm>
              <a:off x="34487168" y="11450002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中</a:t>
              </a:r>
            </a:p>
          </p:txBody>
        </p:sp>
        <p:cxnSp>
          <p:nvCxnSpPr>
            <p:cNvPr id="91" name="tbl-div4"/>
            <p:cNvCxnSpPr/>
            <p:nvPr/>
          </p:nvCxnSpPr>
          <p:spPr>
            <a:xfrm>
              <a:off x="14439900" y="13496925"/>
              <a:ext cx="22440900" cy="0"/>
            </a:xfrm>
            <a:prstGeom prst="line">
              <a:avLst/>
            </a:prstGeom>
            <a:ln w="19050">
              <a:solidFill>
                <a:srgbClr val="F1DAC8"/>
              </a:solidFill>
            </a:ln>
            <a:effectLst/>
          </p:spPr>
        </p:cxnSp>
        <p:sp>
          <p:nvSpPr>
            <p:cNvPr id="92" name="td-r4-c1"/>
            <p:cNvSpPr txBox="1"/>
            <p:nvPr/>
          </p:nvSpPr>
          <p:spPr>
            <a:xfrm>
              <a:off x="14927580" y="12707302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沟通协作</a:t>
              </a:r>
            </a:p>
          </p:txBody>
        </p:sp>
        <p:sp>
          <p:nvSpPr>
            <p:cNvPr id="93" name="td-r4-c2"/>
            <p:cNvSpPr txBox="1"/>
            <p:nvPr/>
          </p:nvSpPr>
          <p:spPr>
            <a:xfrm>
              <a:off x="19449098" y="12707302"/>
              <a:ext cx="326898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建立周例会与沟通规范</a:t>
              </a:r>
            </a:p>
          </p:txBody>
        </p:sp>
        <p:sp>
          <p:nvSpPr>
            <p:cNvPr id="94" name="td-r4-c3"/>
            <p:cNvSpPr txBox="1"/>
            <p:nvPr/>
          </p:nvSpPr>
          <p:spPr>
            <a:xfrm>
              <a:off x="24543068" y="12707302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赵主管</a:t>
              </a:r>
            </a:p>
          </p:txBody>
        </p:sp>
        <p:sp>
          <p:nvSpPr>
            <p:cNvPr id="95" name="td-r4-c4"/>
            <p:cNvSpPr txBox="1"/>
            <p:nvPr/>
          </p:nvSpPr>
          <p:spPr>
            <a:xfrm>
              <a:off x="27972068" y="12699682"/>
              <a:ext cx="256794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2024-10-30</a:t>
              </a:r>
            </a:p>
          </p:txBody>
        </p:sp>
        <p:sp>
          <p:nvSpPr>
            <p:cNvPr id="96" name="td-r4-c5"/>
            <p:cNvSpPr txBox="1"/>
            <p:nvPr/>
          </p:nvSpPr>
          <p:spPr>
            <a:xfrm>
              <a:off x="31544133" y="12707302"/>
              <a:ext cx="2615184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提升团队协作效率</a:t>
              </a:r>
            </a:p>
          </p:txBody>
        </p:sp>
        <p:sp>
          <p:nvSpPr>
            <p:cNvPr id="97" name="td-r4-c6"/>
            <p:cNvSpPr txBox="1"/>
            <p:nvPr/>
          </p:nvSpPr>
          <p:spPr>
            <a:xfrm>
              <a:off x="34487168" y="12707302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中</a:t>
              </a:r>
            </a:p>
          </p:txBody>
        </p:sp>
        <p:sp>
          <p:nvSpPr>
            <p:cNvPr id="98" name="td-r5-c1"/>
            <p:cNvSpPr txBox="1"/>
            <p:nvPr/>
          </p:nvSpPr>
          <p:spPr>
            <a:xfrm>
              <a:off x="14927580" y="1397412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质量管理</a:t>
              </a:r>
            </a:p>
          </p:txBody>
        </p:sp>
        <p:sp>
          <p:nvSpPr>
            <p:cNvPr id="99" name="td-r5-c2"/>
            <p:cNvSpPr txBox="1"/>
            <p:nvPr/>
          </p:nvSpPr>
          <p:spPr>
            <a:xfrm>
              <a:off x="19612546" y="13974128"/>
              <a:ext cx="2942082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优化测试用例和流程</a:t>
              </a:r>
            </a:p>
          </p:txBody>
        </p:sp>
        <p:sp>
          <p:nvSpPr>
            <p:cNvPr id="100" name="td-r5-c3"/>
            <p:cNvSpPr txBox="1"/>
            <p:nvPr/>
          </p:nvSpPr>
          <p:spPr>
            <a:xfrm>
              <a:off x="24543068" y="1397412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孙测试</a:t>
              </a:r>
            </a:p>
          </p:txBody>
        </p:sp>
        <p:sp>
          <p:nvSpPr>
            <p:cNvPr id="101" name="td-r5-c4"/>
            <p:cNvSpPr txBox="1"/>
            <p:nvPr/>
          </p:nvSpPr>
          <p:spPr>
            <a:xfrm>
              <a:off x="27972068" y="13966508"/>
              <a:ext cx="2567940" cy="46958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550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2024-11-30</a:t>
              </a:r>
            </a:p>
          </p:txBody>
        </p:sp>
        <p:sp>
          <p:nvSpPr>
            <p:cNvPr id="102" name="td-r5-c5"/>
            <p:cNvSpPr txBox="1"/>
            <p:nvPr/>
          </p:nvSpPr>
          <p:spPr>
            <a:xfrm>
              <a:off x="31567755" y="1397412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降低缺陷率</a:t>
              </a:r>
            </a:p>
          </p:txBody>
        </p:sp>
        <p:sp>
          <p:nvSpPr>
            <p:cNvPr id="103" name="td-r5-c6"/>
            <p:cNvSpPr txBox="1"/>
            <p:nvPr/>
          </p:nvSpPr>
          <p:spPr>
            <a:xfrm>
              <a:off x="34487168" y="13974128"/>
              <a:ext cx="2567940" cy="4562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低</a:t>
              </a:r>
            </a:p>
          </p:txBody>
        </p:sp>
      </p:grpSp>
      <p:grpSp>
        <p:nvGrpSpPr>
          <p:cNvPr id="178" name="card-3"/>
          <p:cNvGrpSpPr/>
          <p:nvPr/>
        </p:nvGrpSpPr>
        <p:grpSpPr>
          <a:xfrm>
            <a:off x="1447800" y="15354300"/>
            <a:ext cx="10934700" cy="6705600"/>
            <a:chOff x="1447800" y="15354300"/>
            <a:chExt cx="10934700" cy="6705600"/>
          </a:xfrm>
        </p:grpSpPr>
        <p:sp>
          <p:nvSpPr>
            <p:cNvPr id="104" name="c3-panel"/>
            <p:cNvSpPr/>
            <p:nvPr/>
          </p:nvSpPr>
          <p:spPr>
            <a:xfrm>
              <a:off x="1447800" y="15354300"/>
              <a:ext cx="10934700" cy="6705600"/>
            </a:xfrm>
            <a:prstGeom prst="roundRect">
              <a:avLst>
                <a:gd name="adj" fmla="val 3977"/>
              </a:avLst>
            </a:prstGeom>
            <a:solidFill>
              <a:srgbClr val="FFFCF7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c3-title"/>
            <p:cNvSpPr txBox="1"/>
            <p:nvPr/>
          </p:nvSpPr>
          <p:spPr>
            <a:xfrm>
              <a:off x="2190750" y="15861982"/>
              <a:ext cx="2381250" cy="7181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FF8200"/>
                  </a:solidFill>
                  <a:latin typeface="Microsoft YaHei"/>
                  <a:ea typeface="Microsoft YaHei"/>
                  <a:cs typeface="Microsoft YaHei"/>
                </a:rPr>
                <a:t>改进目标</a:t>
              </a:r>
            </a:p>
          </p:txBody>
        </p:sp>
        <p:grpSp>
          <p:nvGrpSpPr>
            <p:cNvPr id="169" name="goal-ic1"/>
            <p:cNvGrpSpPr/>
            <p:nvPr/>
          </p:nvGrpSpPr>
          <p:grpSpPr>
            <a:xfrm>
              <a:off x="2270379" y="17291304"/>
              <a:ext cx="469392" cy="469392"/>
              <a:chOff x="2270379" y="17291304"/>
              <a:chExt cx="469392" cy="469392"/>
            </a:xfrm>
          </p:grpSpPr>
          <p:sp>
            <p:nvSpPr>
              <p:cNvPr id="106" name="Oval 105"/>
              <p:cNvSpPr/>
              <p:nvPr/>
            </p:nvSpPr>
            <p:spPr>
              <a:xfrm>
                <a:off x="2270379" y="17291304"/>
                <a:ext cx="469392" cy="469392"/>
              </a:xfrm>
              <a:prstGeom prst="ellipse">
                <a:avLst/>
              </a:prstGeom>
              <a:noFill/>
              <a:ln w="15240">
                <a:solidFill>
                  <a:srgbClr val="FF82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07" name="Connector 106"/>
              <p:cNvCxnSpPr/>
              <p:nvPr/>
            </p:nvCxnSpPr>
            <p:spPr>
              <a:xfrm>
                <a:off x="2393061" y="17536668"/>
                <a:ext cx="80010" cy="85344"/>
              </a:xfrm>
              <a:prstGeom prst="line">
                <a:avLst/>
              </a:prstGeom>
              <a:ln w="55473">
                <a:solidFill>
                  <a:srgbClr val="FF8200"/>
                </a:solidFill>
              </a:ln>
              <a:effectLst/>
            </p:spPr>
          </p:cxnSp>
          <p:cxnSp>
            <p:nvCxnSpPr>
              <p:cNvPr id="108" name="Connector 107"/>
              <p:cNvCxnSpPr/>
              <p:nvPr/>
            </p:nvCxnSpPr>
            <p:spPr>
              <a:xfrm flipV="1">
                <a:off x="2473071" y="17445990"/>
                <a:ext cx="149352" cy="176022"/>
              </a:xfrm>
              <a:prstGeom prst="line">
                <a:avLst/>
              </a:prstGeom>
              <a:ln w="55473">
                <a:solidFill>
                  <a:srgbClr val="FF8200"/>
                </a:solidFill>
              </a:ln>
              <a:effectLst/>
            </p:spPr>
          </p:cxnSp>
        </p:grpSp>
        <p:sp>
          <p:nvSpPr>
            <p:cNvPr id="109" name="goal-txt1"/>
            <p:cNvSpPr txBox="1"/>
            <p:nvPr/>
          </p:nvSpPr>
          <p:spPr>
            <a:xfrm>
              <a:off x="3190875" y="17275492"/>
              <a:ext cx="3995738" cy="5105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需求变更率降低 20%</a:t>
              </a:r>
            </a:p>
          </p:txBody>
        </p:sp>
        <p:grpSp>
          <p:nvGrpSpPr>
            <p:cNvPr id="170" name="goal-ic2"/>
            <p:cNvGrpSpPr/>
            <p:nvPr/>
          </p:nvGrpSpPr>
          <p:grpSpPr>
            <a:xfrm>
              <a:off x="2270379" y="18377154"/>
              <a:ext cx="469392" cy="469392"/>
              <a:chOff x="2270379" y="18377154"/>
              <a:chExt cx="469392" cy="469392"/>
            </a:xfrm>
          </p:grpSpPr>
          <p:sp>
            <p:nvSpPr>
              <p:cNvPr id="110" name="Oval 109"/>
              <p:cNvSpPr/>
              <p:nvPr/>
            </p:nvSpPr>
            <p:spPr>
              <a:xfrm>
                <a:off x="2270379" y="18377154"/>
                <a:ext cx="469392" cy="469392"/>
              </a:xfrm>
              <a:prstGeom prst="ellipse">
                <a:avLst/>
              </a:prstGeom>
              <a:noFill/>
              <a:ln w="15240">
                <a:solidFill>
                  <a:srgbClr val="FF82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1" name="Connector 110"/>
              <p:cNvCxnSpPr/>
              <p:nvPr/>
            </p:nvCxnSpPr>
            <p:spPr>
              <a:xfrm>
                <a:off x="2393061" y="18622518"/>
                <a:ext cx="80010" cy="85344"/>
              </a:xfrm>
              <a:prstGeom prst="line">
                <a:avLst/>
              </a:prstGeom>
              <a:ln w="55473">
                <a:solidFill>
                  <a:srgbClr val="FF8200"/>
                </a:solidFill>
              </a:ln>
              <a:effectLst/>
            </p:spPr>
          </p:cxnSp>
          <p:cxnSp>
            <p:nvCxnSpPr>
              <p:cNvPr id="112" name="Connector 111"/>
              <p:cNvCxnSpPr/>
              <p:nvPr/>
            </p:nvCxnSpPr>
            <p:spPr>
              <a:xfrm flipV="1">
                <a:off x="2473071" y="18531840"/>
                <a:ext cx="149352" cy="176022"/>
              </a:xfrm>
              <a:prstGeom prst="line">
                <a:avLst/>
              </a:prstGeom>
              <a:ln w="55473">
                <a:solidFill>
                  <a:srgbClr val="FF8200"/>
                </a:solidFill>
              </a:ln>
              <a:effectLst/>
            </p:spPr>
          </p:cxnSp>
        </p:grpSp>
        <p:sp>
          <p:nvSpPr>
            <p:cNvPr id="113" name="goal-txt2"/>
            <p:cNvSpPr txBox="1"/>
            <p:nvPr/>
          </p:nvSpPr>
          <p:spPr>
            <a:xfrm>
              <a:off x="3190875" y="18351818"/>
              <a:ext cx="6680835" cy="5105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项目按计划完成率提升至95%以上</a:t>
              </a:r>
            </a:p>
          </p:txBody>
        </p:sp>
        <p:grpSp>
          <p:nvGrpSpPr>
            <p:cNvPr id="171" name="goal-ic3"/>
            <p:cNvGrpSpPr/>
            <p:nvPr/>
          </p:nvGrpSpPr>
          <p:grpSpPr>
            <a:xfrm>
              <a:off x="2270379" y="19443954"/>
              <a:ext cx="469392" cy="469392"/>
              <a:chOff x="2270379" y="19443954"/>
              <a:chExt cx="469392" cy="469392"/>
            </a:xfrm>
          </p:grpSpPr>
          <p:sp>
            <p:nvSpPr>
              <p:cNvPr id="114" name="Oval 113"/>
              <p:cNvSpPr/>
              <p:nvPr/>
            </p:nvSpPr>
            <p:spPr>
              <a:xfrm>
                <a:off x="2270379" y="19443954"/>
                <a:ext cx="469392" cy="469392"/>
              </a:xfrm>
              <a:prstGeom prst="ellipse">
                <a:avLst/>
              </a:prstGeom>
              <a:noFill/>
              <a:ln w="15240">
                <a:solidFill>
                  <a:srgbClr val="FF82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5" name="Connector 114"/>
              <p:cNvCxnSpPr/>
              <p:nvPr/>
            </p:nvCxnSpPr>
            <p:spPr>
              <a:xfrm>
                <a:off x="2393061" y="19689318"/>
                <a:ext cx="80010" cy="85344"/>
              </a:xfrm>
              <a:prstGeom prst="line">
                <a:avLst/>
              </a:prstGeom>
              <a:ln w="55473">
                <a:solidFill>
                  <a:srgbClr val="FF8200"/>
                </a:solidFill>
              </a:ln>
              <a:effectLst/>
            </p:spPr>
          </p:cxnSp>
          <p:cxnSp>
            <p:nvCxnSpPr>
              <p:cNvPr id="116" name="Connector 115"/>
              <p:cNvCxnSpPr/>
              <p:nvPr/>
            </p:nvCxnSpPr>
            <p:spPr>
              <a:xfrm flipV="1">
                <a:off x="2473071" y="19598640"/>
                <a:ext cx="149352" cy="176022"/>
              </a:xfrm>
              <a:prstGeom prst="line">
                <a:avLst/>
              </a:prstGeom>
              <a:ln w="55473">
                <a:solidFill>
                  <a:srgbClr val="FF8200"/>
                </a:solidFill>
              </a:ln>
              <a:effectLst/>
            </p:spPr>
          </p:cxnSp>
        </p:grpSp>
        <p:sp>
          <p:nvSpPr>
            <p:cNvPr id="117" name="goal-txt3"/>
            <p:cNvSpPr txBox="1"/>
            <p:nvPr/>
          </p:nvSpPr>
          <p:spPr>
            <a:xfrm>
              <a:off x="3190875" y="19418618"/>
              <a:ext cx="3255645" cy="5105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缺陷率降低 30%</a:t>
              </a:r>
            </a:p>
          </p:txBody>
        </p:sp>
        <p:grpSp>
          <p:nvGrpSpPr>
            <p:cNvPr id="172" name="goal-ic4"/>
            <p:cNvGrpSpPr/>
            <p:nvPr/>
          </p:nvGrpSpPr>
          <p:grpSpPr>
            <a:xfrm>
              <a:off x="2270379" y="20510754"/>
              <a:ext cx="469392" cy="469392"/>
              <a:chOff x="2270379" y="20510754"/>
              <a:chExt cx="469392" cy="469392"/>
            </a:xfrm>
          </p:grpSpPr>
          <p:sp>
            <p:nvSpPr>
              <p:cNvPr id="118" name="Oval 117"/>
              <p:cNvSpPr/>
              <p:nvPr/>
            </p:nvSpPr>
            <p:spPr>
              <a:xfrm>
                <a:off x="2270379" y="20510754"/>
                <a:ext cx="469392" cy="469392"/>
              </a:xfrm>
              <a:prstGeom prst="ellipse">
                <a:avLst/>
              </a:prstGeom>
              <a:noFill/>
              <a:ln w="15240">
                <a:solidFill>
                  <a:srgbClr val="FF82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9" name="Connector 118"/>
              <p:cNvCxnSpPr/>
              <p:nvPr/>
            </p:nvCxnSpPr>
            <p:spPr>
              <a:xfrm>
                <a:off x="2393061" y="20756118"/>
                <a:ext cx="80010" cy="85344"/>
              </a:xfrm>
              <a:prstGeom prst="line">
                <a:avLst/>
              </a:prstGeom>
              <a:ln w="55473">
                <a:solidFill>
                  <a:srgbClr val="FF8200"/>
                </a:solidFill>
              </a:ln>
              <a:effectLst/>
            </p:spPr>
          </p:cxnSp>
          <p:cxnSp>
            <p:nvCxnSpPr>
              <p:cNvPr id="120" name="Connector 119"/>
              <p:cNvCxnSpPr/>
              <p:nvPr/>
            </p:nvCxnSpPr>
            <p:spPr>
              <a:xfrm flipV="1">
                <a:off x="2473071" y="20665440"/>
                <a:ext cx="149352" cy="176022"/>
              </a:xfrm>
              <a:prstGeom prst="line">
                <a:avLst/>
              </a:prstGeom>
              <a:ln w="55473">
                <a:solidFill>
                  <a:srgbClr val="FF8200"/>
                </a:solidFill>
              </a:ln>
              <a:effectLst/>
            </p:spPr>
          </p:cxnSp>
        </p:grpSp>
        <p:sp>
          <p:nvSpPr>
            <p:cNvPr id="121" name="goal-txt4"/>
            <p:cNvSpPr txBox="1"/>
            <p:nvPr/>
          </p:nvSpPr>
          <p:spPr>
            <a:xfrm>
              <a:off x="3190875" y="20494942"/>
              <a:ext cx="5410200" cy="5105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7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团队满意度提升至90%以上</a:t>
              </a:r>
            </a:p>
          </p:txBody>
        </p:sp>
      </p:grpSp>
      <p:grpSp>
        <p:nvGrpSpPr>
          <p:cNvPr id="176" name="card-4"/>
          <p:cNvGrpSpPr/>
          <p:nvPr/>
        </p:nvGrpSpPr>
        <p:grpSpPr>
          <a:xfrm>
            <a:off x="12649200" y="15354300"/>
            <a:ext cx="16544926" cy="6705600"/>
            <a:chOff x="12649200" y="15354300"/>
            <a:chExt cx="16544926" cy="6705600"/>
          </a:xfrm>
        </p:grpSpPr>
        <p:sp>
          <p:nvSpPr>
            <p:cNvPr id="122" name="c4-panel"/>
            <p:cNvSpPr/>
            <p:nvPr/>
          </p:nvSpPr>
          <p:spPr>
            <a:xfrm>
              <a:off x="12649200" y="15354300"/>
              <a:ext cx="16535400" cy="6705600"/>
            </a:xfrm>
            <a:prstGeom prst="roundRect">
              <a:avLst>
                <a:gd name="adj" fmla="val 3977"/>
              </a:avLst>
            </a:prstGeom>
            <a:solidFill>
              <a:srgbClr val="FFFCF7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c4-title"/>
            <p:cNvSpPr txBox="1"/>
            <p:nvPr/>
          </p:nvSpPr>
          <p:spPr>
            <a:xfrm>
              <a:off x="13487400" y="15861982"/>
              <a:ext cx="3810000" cy="7181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FF8200"/>
                  </a:solidFill>
                  <a:latin typeface="Microsoft YaHei"/>
                  <a:ea typeface="Microsoft YaHei"/>
                  <a:cs typeface="Microsoft YaHei"/>
                </a:rPr>
                <a:t>跟踪与评估机制</a:t>
              </a:r>
            </a:p>
          </p:txBody>
        </p:sp>
        <p:sp>
          <p:nvSpPr>
            <p:cNvPr id="124" name="sub-card1"/>
            <p:cNvSpPr/>
            <p:nvPr/>
          </p:nvSpPr>
          <p:spPr>
            <a:xfrm>
              <a:off x="13030200" y="16973550"/>
              <a:ext cx="3829050" cy="4429125"/>
            </a:xfrm>
            <a:prstGeom prst="roundRect">
              <a:avLst>
                <a:gd name="adj" fmla="val 4975"/>
              </a:avLst>
            </a:prstGeom>
            <a:solidFill>
              <a:srgbClr val="FFFFFF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73" name="sub-ic1"/>
            <p:cNvGrpSpPr/>
            <p:nvPr/>
          </p:nvGrpSpPr>
          <p:grpSpPr>
            <a:xfrm>
              <a:off x="14177962" y="17464088"/>
              <a:ext cx="1000125" cy="1483518"/>
              <a:chOff x="14177962" y="17464088"/>
              <a:chExt cx="1000125" cy="1483518"/>
            </a:xfrm>
          </p:grpSpPr>
          <p:sp>
            <p:nvSpPr>
              <p:cNvPr id="125" name="Rounded Rectangle 124"/>
              <p:cNvSpPr/>
              <p:nvPr/>
            </p:nvSpPr>
            <p:spPr>
              <a:xfrm>
                <a:off x="14177962" y="17614106"/>
                <a:ext cx="1000125" cy="1333500"/>
              </a:xfrm>
              <a:prstGeom prst="roundRect">
                <a:avLst>
                  <a:gd name="adj" fmla="val 15000"/>
                </a:avLst>
              </a:prstGeom>
              <a:noFill/>
              <a:ln w="15240">
                <a:solidFill>
                  <a:srgbClr val="FF82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Rounded Rectangle 125"/>
              <p:cNvSpPr/>
              <p:nvPr/>
            </p:nvSpPr>
            <p:spPr>
              <a:xfrm>
                <a:off x="14478000" y="17464088"/>
                <a:ext cx="400050" cy="233363"/>
              </a:xfrm>
              <a:prstGeom prst="roundRect">
                <a:avLst>
                  <a:gd name="adj" fmla="val 35714"/>
                </a:avLst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27" name="Connector 126"/>
              <p:cNvCxnSpPr/>
              <p:nvPr/>
            </p:nvCxnSpPr>
            <p:spPr>
              <a:xfrm>
                <a:off x="14394656" y="18014156"/>
                <a:ext cx="566738" cy="0"/>
              </a:xfrm>
              <a:prstGeom prst="line">
                <a:avLst/>
              </a:prstGeom>
              <a:ln w="119181">
                <a:solidFill>
                  <a:srgbClr val="FF8200"/>
                </a:solidFill>
              </a:ln>
              <a:effectLst/>
            </p:spPr>
          </p:cxnSp>
          <p:cxnSp>
            <p:nvCxnSpPr>
              <p:cNvPr id="128" name="Connector 127"/>
              <p:cNvCxnSpPr/>
              <p:nvPr/>
            </p:nvCxnSpPr>
            <p:spPr>
              <a:xfrm>
                <a:off x="14394656" y="18330862"/>
                <a:ext cx="566738" cy="0"/>
              </a:xfrm>
              <a:prstGeom prst="line">
                <a:avLst/>
              </a:prstGeom>
              <a:ln w="119181">
                <a:solidFill>
                  <a:srgbClr val="FF8200"/>
                </a:solidFill>
              </a:ln>
              <a:effectLst/>
            </p:spPr>
          </p:cxnSp>
          <p:cxnSp>
            <p:nvCxnSpPr>
              <p:cNvPr id="129" name="Connector 128"/>
              <p:cNvCxnSpPr/>
              <p:nvPr/>
            </p:nvCxnSpPr>
            <p:spPr>
              <a:xfrm>
                <a:off x="14394656" y="18647569"/>
                <a:ext cx="350044" cy="0"/>
              </a:xfrm>
              <a:prstGeom prst="line">
                <a:avLst/>
              </a:prstGeom>
              <a:ln w="119181">
                <a:solidFill>
                  <a:srgbClr val="FF8200"/>
                </a:solidFill>
              </a:ln>
              <a:effectLst/>
            </p:spPr>
          </p:cxnSp>
        </p:grpSp>
        <p:sp>
          <p:nvSpPr>
            <p:cNvPr id="130" name="sub-txt1"/>
            <p:cNvSpPr txBox="1"/>
            <p:nvPr/>
          </p:nvSpPr>
          <p:spPr>
            <a:xfrm>
              <a:off x="12862560" y="19780568"/>
              <a:ext cx="4164330" cy="5105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月度改进跟踪</a:t>
              </a:r>
            </a:p>
          </p:txBody>
        </p:sp>
        <p:sp>
          <p:nvSpPr>
            <p:cNvPr id="131" name="sub-card2"/>
            <p:cNvSpPr/>
            <p:nvPr/>
          </p:nvSpPr>
          <p:spPr>
            <a:xfrm>
              <a:off x="17221200" y="16973550"/>
              <a:ext cx="3829050" cy="4429125"/>
            </a:xfrm>
            <a:prstGeom prst="roundRect">
              <a:avLst>
                <a:gd name="adj" fmla="val 4975"/>
              </a:avLst>
            </a:prstGeom>
            <a:solidFill>
              <a:srgbClr val="FFFFFF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74" name="sub-ic2"/>
            <p:cNvGrpSpPr/>
            <p:nvPr/>
          </p:nvGrpSpPr>
          <p:grpSpPr>
            <a:xfrm>
              <a:off x="18218944" y="17514094"/>
              <a:ext cx="1300162" cy="1316830"/>
              <a:chOff x="18218944" y="17514094"/>
              <a:chExt cx="1300162" cy="1316830"/>
            </a:xfrm>
          </p:grpSpPr>
          <p:sp>
            <p:nvSpPr>
              <p:cNvPr id="132" name="Rounded Rectangle 131"/>
              <p:cNvSpPr/>
              <p:nvPr/>
            </p:nvSpPr>
            <p:spPr>
              <a:xfrm>
                <a:off x="18218944" y="17664112"/>
                <a:ext cx="1300162" cy="1166812"/>
              </a:xfrm>
              <a:prstGeom prst="roundRect">
                <a:avLst>
                  <a:gd name="adj" fmla="val 11428"/>
                </a:avLst>
              </a:prstGeom>
              <a:noFill/>
              <a:ln w="15240">
                <a:solidFill>
                  <a:srgbClr val="FF82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33" name="Connector 132"/>
              <p:cNvCxnSpPr/>
              <p:nvPr/>
            </p:nvCxnSpPr>
            <p:spPr>
              <a:xfrm>
                <a:off x="18218944" y="17964150"/>
                <a:ext cx="1300162" cy="0"/>
              </a:xfrm>
              <a:prstGeom prst="line">
                <a:avLst/>
              </a:prstGeom>
              <a:ln w="130016">
                <a:solidFill>
                  <a:srgbClr val="FF8200"/>
                </a:solidFill>
              </a:ln>
              <a:effectLst/>
            </p:spPr>
          </p:cxnSp>
          <p:cxnSp>
            <p:nvCxnSpPr>
              <p:cNvPr id="134" name="Connector 133"/>
              <p:cNvCxnSpPr/>
              <p:nvPr/>
            </p:nvCxnSpPr>
            <p:spPr>
              <a:xfrm>
                <a:off x="18535650" y="17514094"/>
                <a:ext cx="0" cy="216694"/>
              </a:xfrm>
              <a:prstGeom prst="line">
                <a:avLst/>
              </a:prstGeom>
              <a:ln w="130016">
                <a:solidFill>
                  <a:srgbClr val="FF8200"/>
                </a:solidFill>
              </a:ln>
              <a:effectLst/>
            </p:spPr>
          </p:cxnSp>
          <p:cxnSp>
            <p:nvCxnSpPr>
              <p:cNvPr id="135" name="Connector 134"/>
              <p:cNvCxnSpPr/>
              <p:nvPr/>
            </p:nvCxnSpPr>
            <p:spPr>
              <a:xfrm>
                <a:off x="19202400" y="17514094"/>
                <a:ext cx="0" cy="216694"/>
              </a:xfrm>
              <a:prstGeom prst="line">
                <a:avLst/>
              </a:prstGeom>
              <a:ln w="130016">
                <a:solidFill>
                  <a:srgbClr val="FF8200"/>
                </a:solidFill>
              </a:ln>
              <a:effectLst/>
            </p:spPr>
          </p:cxnSp>
          <p:sp>
            <p:nvSpPr>
              <p:cNvPr id="136" name="Oval 135"/>
              <p:cNvSpPr/>
              <p:nvPr/>
            </p:nvSpPr>
            <p:spPr>
              <a:xfrm>
                <a:off x="18477309" y="18139172"/>
                <a:ext cx="216694" cy="216694"/>
              </a:xfrm>
              <a:prstGeom prst="ellipse">
                <a:avLst/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Oval 136"/>
              <p:cNvSpPr/>
              <p:nvPr/>
            </p:nvSpPr>
            <p:spPr>
              <a:xfrm>
                <a:off x="18810684" y="18139172"/>
                <a:ext cx="216694" cy="216694"/>
              </a:xfrm>
              <a:prstGeom prst="ellipse">
                <a:avLst/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18477309" y="18472547"/>
                <a:ext cx="216694" cy="216694"/>
              </a:xfrm>
              <a:prstGeom prst="ellipse">
                <a:avLst/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18810684" y="18472547"/>
                <a:ext cx="216694" cy="216694"/>
              </a:xfrm>
              <a:prstGeom prst="ellipse">
                <a:avLst/>
              </a:prstGeom>
              <a:solidFill>
                <a:srgbClr val="FF82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40" name="sub-txt2"/>
            <p:cNvSpPr txBox="1"/>
            <p:nvPr/>
          </p:nvSpPr>
          <p:spPr>
            <a:xfrm>
              <a:off x="17053560" y="19780568"/>
              <a:ext cx="4164330" cy="5105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季度效果评估</a:t>
              </a:r>
            </a:p>
          </p:txBody>
        </p:sp>
        <p:sp>
          <p:nvSpPr>
            <p:cNvPr id="141" name="sub-card3"/>
            <p:cNvSpPr/>
            <p:nvPr/>
          </p:nvSpPr>
          <p:spPr>
            <a:xfrm>
              <a:off x="21412200" y="16973550"/>
              <a:ext cx="3829050" cy="4429125"/>
            </a:xfrm>
            <a:prstGeom prst="roundRect">
              <a:avLst>
                <a:gd name="adj" fmla="val 4975"/>
              </a:avLst>
            </a:prstGeom>
            <a:solidFill>
              <a:srgbClr val="FFFFFF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sub-ic3-arc1"/>
            <p:cNvSpPr/>
            <p:nvPr/>
          </p:nvSpPr>
          <p:spPr>
            <a:xfrm>
              <a:off x="23434358" y="17587912"/>
              <a:ext cx="462914" cy="1272540"/>
            </a:xfrm>
            <a:custGeom>
              <a:avLst/>
              <a:gdLst/>
              <a:ahLst/>
              <a:cxnLst/>
              <a:rect l="l" t="t" r="r" b="b"/>
              <a:pathLst>
                <a:path w="462914" h="1272540">
                  <a:moveTo>
                    <a:pt x="0" y="0"/>
                  </a:moveTo>
                  <a:lnTo>
                    <a:pt x="81914" y="35243"/>
                  </a:lnTo>
                  <a:lnTo>
                    <a:pt x="158114" y="80963"/>
                  </a:lnTo>
                  <a:lnTo>
                    <a:pt x="227647" y="135256"/>
                  </a:lnTo>
                  <a:lnTo>
                    <a:pt x="290512" y="198120"/>
                  </a:lnTo>
                  <a:lnTo>
                    <a:pt x="343852" y="268606"/>
                  </a:lnTo>
                  <a:lnTo>
                    <a:pt x="388620" y="345758"/>
                  </a:lnTo>
                  <a:lnTo>
                    <a:pt x="423862" y="427673"/>
                  </a:lnTo>
                  <a:lnTo>
                    <a:pt x="447674" y="512446"/>
                  </a:lnTo>
                  <a:lnTo>
                    <a:pt x="461010" y="601028"/>
                  </a:lnTo>
                  <a:lnTo>
                    <a:pt x="462914" y="689610"/>
                  </a:lnTo>
                  <a:lnTo>
                    <a:pt x="454342" y="777240"/>
                  </a:lnTo>
                  <a:lnTo>
                    <a:pt x="434340" y="863918"/>
                  </a:lnTo>
                  <a:lnTo>
                    <a:pt x="403860" y="947738"/>
                  </a:lnTo>
                  <a:lnTo>
                    <a:pt x="362902" y="1025843"/>
                  </a:lnTo>
                  <a:lnTo>
                    <a:pt x="311467" y="1099186"/>
                  </a:lnTo>
                  <a:lnTo>
                    <a:pt x="252412" y="1164908"/>
                  </a:lnTo>
                  <a:lnTo>
                    <a:pt x="185737" y="1223010"/>
                  </a:lnTo>
                  <a:lnTo>
                    <a:pt x="111442" y="1272540"/>
                  </a:lnTo>
                </a:path>
              </a:pathLst>
            </a:custGeom>
            <a:noFill/>
            <a:ln w="142875">
              <a:solidFill>
                <a:srgbClr val="FF82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sub-ic3-head1"/>
            <p:cNvSpPr/>
            <p:nvPr/>
          </p:nvSpPr>
          <p:spPr>
            <a:xfrm>
              <a:off x="23207662" y="18651855"/>
              <a:ext cx="481013" cy="403860"/>
            </a:xfrm>
            <a:custGeom>
              <a:avLst/>
              <a:gdLst/>
              <a:ahLst/>
              <a:cxnLst/>
              <a:rect l="l" t="t" r="r" b="b"/>
              <a:pathLst>
                <a:path w="481013" h="403860">
                  <a:moveTo>
                    <a:pt x="0" y="403860"/>
                  </a:moveTo>
                  <a:lnTo>
                    <a:pt x="481013" y="379095"/>
                  </a:lnTo>
                  <a:lnTo>
                    <a:pt x="261938" y="0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sub-ic3-arc2"/>
            <p:cNvSpPr/>
            <p:nvPr/>
          </p:nvSpPr>
          <p:spPr>
            <a:xfrm>
              <a:off x="22489478" y="17639348"/>
              <a:ext cx="462914" cy="1272540"/>
            </a:xfrm>
            <a:custGeom>
              <a:avLst/>
              <a:gdLst/>
              <a:ahLst/>
              <a:cxnLst/>
              <a:rect l="l" t="t" r="r" b="b"/>
              <a:pathLst>
                <a:path w="462914" h="1272540">
                  <a:moveTo>
                    <a:pt x="462914" y="1272540"/>
                  </a:moveTo>
                  <a:lnTo>
                    <a:pt x="381000" y="1237297"/>
                  </a:lnTo>
                  <a:lnTo>
                    <a:pt x="304800" y="1191577"/>
                  </a:lnTo>
                  <a:lnTo>
                    <a:pt x="235267" y="1137284"/>
                  </a:lnTo>
                  <a:lnTo>
                    <a:pt x="172402" y="1074420"/>
                  </a:lnTo>
                  <a:lnTo>
                    <a:pt x="119062" y="1003934"/>
                  </a:lnTo>
                  <a:lnTo>
                    <a:pt x="74294" y="926782"/>
                  </a:lnTo>
                  <a:lnTo>
                    <a:pt x="39052" y="844867"/>
                  </a:lnTo>
                  <a:lnTo>
                    <a:pt x="15240" y="760094"/>
                  </a:lnTo>
                  <a:lnTo>
                    <a:pt x="1904" y="671512"/>
                  </a:lnTo>
                  <a:lnTo>
                    <a:pt x="0" y="582930"/>
                  </a:lnTo>
                  <a:lnTo>
                    <a:pt x="8572" y="495300"/>
                  </a:lnTo>
                  <a:lnTo>
                    <a:pt x="28574" y="408622"/>
                  </a:lnTo>
                  <a:lnTo>
                    <a:pt x="59054" y="324802"/>
                  </a:lnTo>
                  <a:lnTo>
                    <a:pt x="100012" y="246697"/>
                  </a:lnTo>
                  <a:lnTo>
                    <a:pt x="151447" y="173354"/>
                  </a:lnTo>
                  <a:lnTo>
                    <a:pt x="210502" y="107632"/>
                  </a:lnTo>
                  <a:lnTo>
                    <a:pt x="277177" y="49530"/>
                  </a:lnTo>
                  <a:lnTo>
                    <a:pt x="351472" y="0"/>
                  </a:lnTo>
                </a:path>
              </a:pathLst>
            </a:custGeom>
            <a:noFill/>
            <a:ln w="142875">
              <a:solidFill>
                <a:srgbClr val="FF82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sub-ic3-head2"/>
            <p:cNvSpPr/>
            <p:nvPr/>
          </p:nvSpPr>
          <p:spPr>
            <a:xfrm>
              <a:off x="22698075" y="17444085"/>
              <a:ext cx="481013" cy="403860"/>
            </a:xfrm>
            <a:custGeom>
              <a:avLst/>
              <a:gdLst/>
              <a:ahLst/>
              <a:cxnLst/>
              <a:rect l="l" t="t" r="r" b="b"/>
              <a:pathLst>
                <a:path w="481013" h="403860">
                  <a:moveTo>
                    <a:pt x="481013" y="0"/>
                  </a:moveTo>
                  <a:lnTo>
                    <a:pt x="0" y="24765"/>
                  </a:lnTo>
                  <a:lnTo>
                    <a:pt x="219075" y="403860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sub-txt3"/>
            <p:cNvSpPr txBox="1"/>
            <p:nvPr/>
          </p:nvSpPr>
          <p:spPr>
            <a:xfrm>
              <a:off x="21244560" y="19780568"/>
              <a:ext cx="4164330" cy="5105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持续优化改进</a:t>
              </a:r>
            </a:p>
          </p:txBody>
        </p:sp>
        <p:sp>
          <p:nvSpPr>
            <p:cNvPr id="147" name="sub-card4"/>
            <p:cNvSpPr/>
            <p:nvPr/>
          </p:nvSpPr>
          <p:spPr>
            <a:xfrm>
              <a:off x="25603200" y="16973550"/>
              <a:ext cx="3457575" cy="4429125"/>
            </a:xfrm>
            <a:prstGeom prst="roundRect">
              <a:avLst>
                <a:gd name="adj" fmla="val 5509"/>
              </a:avLst>
            </a:prstGeom>
            <a:solidFill>
              <a:srgbClr val="FFFFFF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sub-ic4-head1"/>
            <p:cNvSpPr/>
            <p:nvPr/>
          </p:nvSpPr>
          <p:spPr>
            <a:xfrm>
              <a:off x="26479500" y="17735550"/>
              <a:ext cx="381000" cy="381000"/>
            </a:xfrm>
            <a:prstGeom prst="ellipse">
              <a:avLst/>
            </a:prstGeom>
            <a:noFill/>
            <a:ln w="76200">
              <a:solidFill>
                <a:srgbClr val="FF82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sub-ic4-body1"/>
            <p:cNvSpPr/>
            <p:nvPr/>
          </p:nvSpPr>
          <p:spPr>
            <a:xfrm>
              <a:off x="26346150" y="18459450"/>
              <a:ext cx="647700" cy="285750"/>
            </a:xfrm>
            <a:custGeom>
              <a:avLst/>
              <a:gdLst/>
              <a:ahLst/>
              <a:cxnLst/>
              <a:rect l="l" t="t" r="r" b="b"/>
              <a:pathLst>
                <a:path w="647700" h="285750">
                  <a:moveTo>
                    <a:pt x="0" y="285750"/>
                  </a:moveTo>
                  <a:lnTo>
                    <a:pt x="4762" y="236220"/>
                  </a:lnTo>
                  <a:lnTo>
                    <a:pt x="20002" y="187642"/>
                  </a:lnTo>
                  <a:lnTo>
                    <a:pt x="43815" y="142875"/>
                  </a:lnTo>
                  <a:lnTo>
                    <a:pt x="76200" y="101918"/>
                  </a:lnTo>
                  <a:lnTo>
                    <a:pt x="115252" y="66675"/>
                  </a:lnTo>
                  <a:lnTo>
                    <a:pt x="161925" y="38100"/>
                  </a:lnTo>
                  <a:lnTo>
                    <a:pt x="213360" y="17145"/>
                  </a:lnTo>
                  <a:lnTo>
                    <a:pt x="267652" y="4762"/>
                  </a:lnTo>
                  <a:lnTo>
                    <a:pt x="323850" y="0"/>
                  </a:lnTo>
                  <a:lnTo>
                    <a:pt x="380048" y="4762"/>
                  </a:lnTo>
                  <a:lnTo>
                    <a:pt x="434340" y="17145"/>
                  </a:lnTo>
                  <a:lnTo>
                    <a:pt x="485775" y="38100"/>
                  </a:lnTo>
                  <a:lnTo>
                    <a:pt x="532448" y="66675"/>
                  </a:lnTo>
                  <a:lnTo>
                    <a:pt x="571500" y="101918"/>
                  </a:lnTo>
                  <a:lnTo>
                    <a:pt x="603885" y="142875"/>
                  </a:lnTo>
                  <a:lnTo>
                    <a:pt x="627698" y="187642"/>
                  </a:lnTo>
                  <a:lnTo>
                    <a:pt x="642938" y="236220"/>
                  </a:lnTo>
                  <a:lnTo>
                    <a:pt x="647700" y="285750"/>
                  </a:lnTo>
                </a:path>
              </a:pathLst>
            </a:custGeom>
            <a:noFill/>
            <a:ln w="76200">
              <a:solidFill>
                <a:srgbClr val="FF82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sub-ic4-head2"/>
            <p:cNvSpPr/>
            <p:nvPr/>
          </p:nvSpPr>
          <p:spPr>
            <a:xfrm>
              <a:off x="27012900" y="17735550"/>
              <a:ext cx="381000" cy="381000"/>
            </a:xfrm>
            <a:prstGeom prst="ellipse">
              <a:avLst/>
            </a:prstGeom>
            <a:noFill/>
            <a:ln w="76200">
              <a:solidFill>
                <a:srgbClr val="FF82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sub-ic4-body2"/>
            <p:cNvSpPr/>
            <p:nvPr/>
          </p:nvSpPr>
          <p:spPr>
            <a:xfrm>
              <a:off x="26879550" y="18459450"/>
              <a:ext cx="647700" cy="285750"/>
            </a:xfrm>
            <a:custGeom>
              <a:avLst/>
              <a:gdLst/>
              <a:ahLst/>
              <a:cxnLst/>
              <a:rect l="l" t="t" r="r" b="b"/>
              <a:pathLst>
                <a:path w="647700" h="285750">
                  <a:moveTo>
                    <a:pt x="0" y="285750"/>
                  </a:moveTo>
                  <a:lnTo>
                    <a:pt x="4762" y="236220"/>
                  </a:lnTo>
                  <a:lnTo>
                    <a:pt x="20002" y="187642"/>
                  </a:lnTo>
                  <a:lnTo>
                    <a:pt x="43815" y="142875"/>
                  </a:lnTo>
                  <a:lnTo>
                    <a:pt x="76200" y="101918"/>
                  </a:lnTo>
                  <a:lnTo>
                    <a:pt x="115252" y="66675"/>
                  </a:lnTo>
                  <a:lnTo>
                    <a:pt x="161925" y="38100"/>
                  </a:lnTo>
                  <a:lnTo>
                    <a:pt x="213360" y="17145"/>
                  </a:lnTo>
                  <a:lnTo>
                    <a:pt x="267652" y="4762"/>
                  </a:lnTo>
                  <a:lnTo>
                    <a:pt x="323850" y="0"/>
                  </a:lnTo>
                  <a:lnTo>
                    <a:pt x="380048" y="4762"/>
                  </a:lnTo>
                  <a:lnTo>
                    <a:pt x="434340" y="17145"/>
                  </a:lnTo>
                  <a:lnTo>
                    <a:pt x="485775" y="38100"/>
                  </a:lnTo>
                  <a:lnTo>
                    <a:pt x="532448" y="66675"/>
                  </a:lnTo>
                  <a:lnTo>
                    <a:pt x="571500" y="101918"/>
                  </a:lnTo>
                  <a:lnTo>
                    <a:pt x="603885" y="142875"/>
                  </a:lnTo>
                  <a:lnTo>
                    <a:pt x="627698" y="187642"/>
                  </a:lnTo>
                  <a:lnTo>
                    <a:pt x="642938" y="236220"/>
                  </a:lnTo>
                  <a:lnTo>
                    <a:pt x="647700" y="285750"/>
                  </a:lnTo>
                </a:path>
              </a:pathLst>
            </a:custGeom>
            <a:noFill/>
            <a:ln w="76200">
              <a:solidFill>
                <a:srgbClr val="FF82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sub-ic4-head3"/>
            <p:cNvSpPr/>
            <p:nvPr/>
          </p:nvSpPr>
          <p:spPr>
            <a:xfrm>
              <a:off x="27546300" y="17735550"/>
              <a:ext cx="381000" cy="381000"/>
            </a:xfrm>
            <a:prstGeom prst="ellipse">
              <a:avLst/>
            </a:prstGeom>
            <a:noFill/>
            <a:ln w="76200">
              <a:solidFill>
                <a:srgbClr val="FF82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sub-ic4-body3"/>
            <p:cNvSpPr/>
            <p:nvPr/>
          </p:nvSpPr>
          <p:spPr>
            <a:xfrm>
              <a:off x="27412950" y="18459450"/>
              <a:ext cx="647700" cy="285750"/>
            </a:xfrm>
            <a:custGeom>
              <a:avLst/>
              <a:gdLst/>
              <a:ahLst/>
              <a:cxnLst/>
              <a:rect l="l" t="t" r="r" b="b"/>
              <a:pathLst>
                <a:path w="647700" h="285750">
                  <a:moveTo>
                    <a:pt x="0" y="285750"/>
                  </a:moveTo>
                  <a:lnTo>
                    <a:pt x="4762" y="236220"/>
                  </a:lnTo>
                  <a:lnTo>
                    <a:pt x="20002" y="187642"/>
                  </a:lnTo>
                  <a:lnTo>
                    <a:pt x="43815" y="142875"/>
                  </a:lnTo>
                  <a:lnTo>
                    <a:pt x="76200" y="101918"/>
                  </a:lnTo>
                  <a:lnTo>
                    <a:pt x="115252" y="66675"/>
                  </a:lnTo>
                  <a:lnTo>
                    <a:pt x="161925" y="38100"/>
                  </a:lnTo>
                  <a:lnTo>
                    <a:pt x="213360" y="17145"/>
                  </a:lnTo>
                  <a:lnTo>
                    <a:pt x="267652" y="4762"/>
                  </a:lnTo>
                  <a:lnTo>
                    <a:pt x="323850" y="0"/>
                  </a:lnTo>
                  <a:lnTo>
                    <a:pt x="380048" y="4762"/>
                  </a:lnTo>
                  <a:lnTo>
                    <a:pt x="434340" y="17145"/>
                  </a:lnTo>
                  <a:lnTo>
                    <a:pt x="485775" y="38100"/>
                  </a:lnTo>
                  <a:lnTo>
                    <a:pt x="532448" y="66675"/>
                  </a:lnTo>
                  <a:lnTo>
                    <a:pt x="571500" y="101918"/>
                  </a:lnTo>
                  <a:lnTo>
                    <a:pt x="603885" y="142875"/>
                  </a:lnTo>
                  <a:lnTo>
                    <a:pt x="627698" y="187642"/>
                  </a:lnTo>
                  <a:lnTo>
                    <a:pt x="642938" y="236220"/>
                  </a:lnTo>
                  <a:lnTo>
                    <a:pt x="647700" y="285750"/>
                  </a:lnTo>
                </a:path>
              </a:pathLst>
            </a:custGeom>
            <a:noFill/>
            <a:ln w="76200">
              <a:solidFill>
                <a:srgbClr val="FF82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sub-txt4"/>
            <p:cNvSpPr txBox="1"/>
            <p:nvPr/>
          </p:nvSpPr>
          <p:spPr>
            <a:xfrm>
              <a:off x="25468898" y="19780568"/>
              <a:ext cx="3725228" cy="5105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经验总结沉淀</a:t>
              </a:r>
            </a:p>
          </p:txBody>
        </p:sp>
      </p:grpSp>
      <p:grpSp>
        <p:nvGrpSpPr>
          <p:cNvPr id="180" name="card-5"/>
          <p:cNvGrpSpPr/>
          <p:nvPr/>
        </p:nvGrpSpPr>
        <p:grpSpPr>
          <a:xfrm>
            <a:off x="29413200" y="15354300"/>
            <a:ext cx="7810500" cy="6705600"/>
            <a:chOff x="29413200" y="15354300"/>
            <a:chExt cx="7810500" cy="6705600"/>
          </a:xfrm>
        </p:grpSpPr>
        <p:sp>
          <p:nvSpPr>
            <p:cNvPr id="155" name="c5-panel"/>
            <p:cNvSpPr/>
            <p:nvPr/>
          </p:nvSpPr>
          <p:spPr>
            <a:xfrm>
              <a:off x="29413200" y="15354300"/>
              <a:ext cx="7810500" cy="6705600"/>
            </a:xfrm>
            <a:prstGeom prst="roundRect">
              <a:avLst>
                <a:gd name="adj" fmla="val 3977"/>
              </a:avLst>
            </a:prstGeom>
            <a:solidFill>
              <a:srgbClr val="FFFCF7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c5-title"/>
            <p:cNvSpPr txBox="1"/>
            <p:nvPr/>
          </p:nvSpPr>
          <p:spPr>
            <a:xfrm>
              <a:off x="31927800" y="15861982"/>
              <a:ext cx="2381250" cy="7181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FF8200"/>
                  </a:solidFill>
                  <a:latin typeface="Microsoft YaHei"/>
                  <a:ea typeface="Microsoft YaHei"/>
                  <a:cs typeface="Microsoft YaHei"/>
                </a:rPr>
                <a:t>预期成果</a:t>
              </a:r>
            </a:p>
          </p:txBody>
        </p:sp>
        <p:sp>
          <p:nvSpPr>
            <p:cNvPr id="157" name="c5-num"/>
            <p:cNvSpPr txBox="1"/>
            <p:nvPr/>
          </p:nvSpPr>
          <p:spPr>
            <a:xfrm>
              <a:off x="32257365" y="17352645"/>
              <a:ext cx="2017395" cy="209931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1400" b="1" i="0">
                  <a:solidFill>
                    <a:srgbClr val="FF8200"/>
                  </a:solidFill>
                  <a:latin typeface="Microsoft YaHei"/>
                  <a:ea typeface="Microsoft YaHei"/>
                  <a:cs typeface="Microsoft YaHei"/>
                </a:rPr>
                <a:t>85</a:t>
              </a:r>
            </a:p>
          </p:txBody>
        </p:sp>
        <p:sp>
          <p:nvSpPr>
            <p:cNvPr id="158" name="c5-pct"/>
            <p:cNvSpPr txBox="1"/>
            <p:nvPr/>
          </p:nvSpPr>
          <p:spPr>
            <a:xfrm>
              <a:off x="34692908" y="18186082"/>
              <a:ext cx="680085" cy="10220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550" b="1" i="0">
                  <a:solidFill>
                    <a:srgbClr val="FF8200"/>
                  </a:solidFill>
                  <a:latin typeface="Microsoft YaHei"/>
                  <a:ea typeface="Microsoft YaHei"/>
                  <a:cs typeface="Microsoft YaHei"/>
                </a:rPr>
                <a:t>%</a:t>
              </a:r>
            </a:p>
          </p:txBody>
        </p:sp>
        <p:sp>
          <p:nvSpPr>
            <p:cNvPr id="159" name="c5-cap1"/>
            <p:cNvSpPr txBox="1"/>
            <p:nvPr/>
          </p:nvSpPr>
          <p:spPr>
            <a:xfrm>
              <a:off x="31478220" y="19701510"/>
              <a:ext cx="3612832" cy="62103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37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改进目标达成率</a:t>
              </a:r>
            </a:p>
          </p:txBody>
        </p:sp>
        <p:sp>
          <p:nvSpPr>
            <p:cNvPr id="160" name="c5-cap2"/>
            <p:cNvSpPr txBox="1"/>
            <p:nvPr/>
          </p:nvSpPr>
          <p:spPr>
            <a:xfrm>
              <a:off x="32527494" y="20558760"/>
              <a:ext cx="1505712" cy="5248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1" i="0">
                  <a:solidFill>
                    <a:srgbClr val="444444"/>
                  </a:solidFill>
                  <a:latin typeface="Microsoft YaHei"/>
                  <a:ea typeface="Microsoft YaHei"/>
                  <a:cs typeface="Microsoft YaHei"/>
                </a:rPr>
                <a:t>（预期）</a:t>
              </a:r>
            </a:p>
          </p:txBody>
        </p:sp>
      </p:grpSp>
      <p:grpSp>
        <p:nvGrpSpPr>
          <p:cNvPr id="182" name="footer"/>
          <p:cNvGrpSpPr/>
          <p:nvPr/>
        </p:nvGrpSpPr>
        <p:grpSpPr>
          <a:xfrm>
            <a:off x="1447800" y="22440900"/>
            <a:ext cx="35775900" cy="2209800"/>
            <a:chOff x="1447800" y="22440900"/>
            <a:chExt cx="35775900" cy="2209800"/>
          </a:xfrm>
        </p:grpSpPr>
        <p:sp>
          <p:nvSpPr>
            <p:cNvPr id="161" name="footer-panel"/>
            <p:cNvSpPr/>
            <p:nvPr/>
          </p:nvSpPr>
          <p:spPr>
            <a:xfrm>
              <a:off x="1447800" y="22440900"/>
              <a:ext cx="35775900" cy="2209800"/>
            </a:xfrm>
            <a:prstGeom prst="roundRect">
              <a:avLst>
                <a:gd name="adj" fmla="val 17241"/>
              </a:avLst>
            </a:prstGeom>
            <a:solidFill>
              <a:srgbClr val="FFFCF7"/>
            </a:solidFill>
            <a:ln w="28575">
              <a:solidFill>
                <a:srgbClr val="F5DCC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5272088" y="22612350"/>
              <a:ext cx="1628774" cy="1560195"/>
            </a:xfrm>
            <a:custGeom>
              <a:avLst/>
              <a:gdLst/>
              <a:ahLst/>
              <a:cxnLst/>
              <a:rect l="l" t="t" r="r" b="b"/>
              <a:pathLst>
                <a:path w="1628774" h="1560195">
                  <a:moveTo>
                    <a:pt x="814387" y="0"/>
                  </a:moveTo>
                  <a:lnTo>
                    <a:pt x="1020127" y="582930"/>
                  </a:lnTo>
                  <a:lnTo>
                    <a:pt x="1628774" y="582930"/>
                  </a:lnTo>
                  <a:lnTo>
                    <a:pt x="1140142" y="960120"/>
                  </a:lnTo>
                  <a:lnTo>
                    <a:pt x="1311592" y="1560195"/>
                  </a:lnTo>
                  <a:lnTo>
                    <a:pt x="814387" y="1183005"/>
                  </a:lnTo>
                  <a:lnTo>
                    <a:pt x="317182" y="1560195"/>
                  </a:lnTo>
                  <a:lnTo>
                    <a:pt x="488632" y="960120"/>
                  </a:lnTo>
                  <a:lnTo>
                    <a:pt x="0" y="582930"/>
                  </a:lnTo>
                  <a:lnTo>
                    <a:pt x="608647" y="582930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footer-label"/>
            <p:cNvSpPr txBox="1"/>
            <p:nvPr/>
          </p:nvSpPr>
          <p:spPr>
            <a:xfrm>
              <a:off x="7200900" y="23297198"/>
              <a:ext cx="2905125" cy="77343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2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持续改进：</a:t>
              </a:r>
            </a:p>
          </p:txBody>
        </p:sp>
        <p:sp>
          <p:nvSpPr>
            <p:cNvPr id="164" name="footer-text"/>
            <p:cNvSpPr txBox="1"/>
            <p:nvPr/>
          </p:nvSpPr>
          <p:spPr>
            <a:xfrm>
              <a:off x="12258675" y="23395305"/>
              <a:ext cx="12838176" cy="6629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通过系统性改进措施，全面提升项目管理水平，创造更大价值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