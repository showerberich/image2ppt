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556450" cy="16840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2556450" cy="1684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ge-bg"/>
          <p:cNvSpPr/>
          <p:nvPr/>
        </p:nvSpPr>
        <p:spPr>
          <a:xfrm>
            <a:off x="123825" y="123825"/>
            <a:ext cx="32327850" cy="16611600"/>
          </a:xfrm>
          <a:prstGeom prst="rect">
            <a:avLst/>
          </a:prstGeom>
          <a:solidFill>
            <a:srgbClr val="FCF7F3"/>
          </a:solidFill>
          <a:ln w="19050">
            <a:solidFill>
              <a:srgbClr val="807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op-band"/>
          <p:cNvSpPr/>
          <p:nvPr/>
        </p:nvSpPr>
        <p:spPr>
          <a:xfrm>
            <a:off x="1047750" y="1066800"/>
            <a:ext cx="30480000" cy="990600"/>
          </a:xfrm>
          <a:prstGeom prst="rect">
            <a:avLst/>
          </a:prstGeom>
          <a:solidFill>
            <a:srgbClr val="895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ge-title"/>
          <p:cNvSpPr txBox="1"/>
          <p:nvPr/>
        </p:nvSpPr>
        <p:spPr>
          <a:xfrm>
            <a:off x="9629775" y="2971800"/>
            <a:ext cx="13335000" cy="1333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0" b="0" i="0">
                <a:solidFill>
                  <a:srgbClr val="6D2413"/>
                </a:solidFill>
                <a:latin typeface="Microsoft YaHei"/>
                <a:ea typeface="Microsoft YaHei"/>
                <a:cs typeface="Microsoft YaHei"/>
              </a:rPr>
              <a:t>2026新年工作规划路线图</a:t>
            </a:r>
          </a:p>
        </p:txBody>
      </p:sp>
      <p:sp>
        <p:nvSpPr>
          <p:cNvPr id="6" name="page-subtitle"/>
          <p:cNvSpPr txBox="1"/>
          <p:nvPr/>
        </p:nvSpPr>
        <p:spPr>
          <a:xfrm>
            <a:off x="12468225" y="4695825"/>
            <a:ext cx="76200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864616"/>
                </a:solidFill>
                <a:latin typeface="Microsoft YaHei"/>
                <a:ea typeface="Microsoft YaHei"/>
                <a:cs typeface="Microsoft YaHei"/>
              </a:rPr>
              <a:t>开启成功新篇章的高效行动</a:t>
            </a:r>
          </a:p>
        </p:txBody>
      </p:sp>
      <p:cxnSp>
        <p:nvCxnSpPr>
          <p:cNvPr id="7" name="tl-dash-433"/>
          <p:cNvCxnSpPr/>
          <p:nvPr/>
        </p:nvCxnSpPr>
        <p:spPr>
          <a:xfrm>
            <a:off x="4124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l-dash-553"/>
          <p:cNvCxnSpPr/>
          <p:nvPr/>
        </p:nvCxnSpPr>
        <p:spPr>
          <a:xfrm>
            <a:off x="5267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l-dash-673"/>
          <p:cNvCxnSpPr/>
          <p:nvPr/>
        </p:nvCxnSpPr>
        <p:spPr>
          <a:xfrm>
            <a:off x="6410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l-dash-793"/>
          <p:cNvCxnSpPr/>
          <p:nvPr/>
        </p:nvCxnSpPr>
        <p:spPr>
          <a:xfrm>
            <a:off x="7553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l-dash-913"/>
          <p:cNvCxnSpPr/>
          <p:nvPr/>
        </p:nvCxnSpPr>
        <p:spPr>
          <a:xfrm>
            <a:off x="8696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tl-dash-1033"/>
          <p:cNvCxnSpPr/>
          <p:nvPr/>
        </p:nvCxnSpPr>
        <p:spPr>
          <a:xfrm>
            <a:off x="9839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tl-dash-1153"/>
          <p:cNvCxnSpPr/>
          <p:nvPr/>
        </p:nvCxnSpPr>
        <p:spPr>
          <a:xfrm>
            <a:off x="10982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tl-dash-1273"/>
          <p:cNvCxnSpPr/>
          <p:nvPr/>
        </p:nvCxnSpPr>
        <p:spPr>
          <a:xfrm>
            <a:off x="12125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tl-dash-1393"/>
          <p:cNvCxnSpPr/>
          <p:nvPr/>
        </p:nvCxnSpPr>
        <p:spPr>
          <a:xfrm>
            <a:off x="13268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tl-dash-1513"/>
          <p:cNvCxnSpPr/>
          <p:nvPr/>
        </p:nvCxnSpPr>
        <p:spPr>
          <a:xfrm>
            <a:off x="14411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tl-dash-1633"/>
          <p:cNvCxnSpPr/>
          <p:nvPr/>
        </p:nvCxnSpPr>
        <p:spPr>
          <a:xfrm>
            <a:off x="15554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tl-dash-1753"/>
          <p:cNvCxnSpPr/>
          <p:nvPr/>
        </p:nvCxnSpPr>
        <p:spPr>
          <a:xfrm>
            <a:off x="16697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tl-dash-1873"/>
          <p:cNvCxnSpPr/>
          <p:nvPr/>
        </p:nvCxnSpPr>
        <p:spPr>
          <a:xfrm>
            <a:off x="17840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tl-dash-1993"/>
          <p:cNvCxnSpPr/>
          <p:nvPr/>
        </p:nvCxnSpPr>
        <p:spPr>
          <a:xfrm>
            <a:off x="18983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l-dash-2113"/>
          <p:cNvCxnSpPr/>
          <p:nvPr/>
        </p:nvCxnSpPr>
        <p:spPr>
          <a:xfrm>
            <a:off x="20126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l-dash-2233"/>
          <p:cNvCxnSpPr/>
          <p:nvPr/>
        </p:nvCxnSpPr>
        <p:spPr>
          <a:xfrm>
            <a:off x="21269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l-dash-2353"/>
          <p:cNvCxnSpPr/>
          <p:nvPr/>
        </p:nvCxnSpPr>
        <p:spPr>
          <a:xfrm>
            <a:off x="22412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l-dash-2473"/>
          <p:cNvCxnSpPr/>
          <p:nvPr/>
        </p:nvCxnSpPr>
        <p:spPr>
          <a:xfrm>
            <a:off x="23555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l-dash-2593"/>
          <p:cNvCxnSpPr/>
          <p:nvPr/>
        </p:nvCxnSpPr>
        <p:spPr>
          <a:xfrm>
            <a:off x="24698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l-dash-2713"/>
          <p:cNvCxnSpPr/>
          <p:nvPr/>
        </p:nvCxnSpPr>
        <p:spPr>
          <a:xfrm>
            <a:off x="25841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l-dash-2833"/>
          <p:cNvCxnSpPr/>
          <p:nvPr/>
        </p:nvCxnSpPr>
        <p:spPr>
          <a:xfrm>
            <a:off x="26984325" y="7910512"/>
            <a:ext cx="79057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l-dash-2953"/>
          <p:cNvCxnSpPr/>
          <p:nvPr/>
        </p:nvCxnSpPr>
        <p:spPr>
          <a:xfrm>
            <a:off x="28127325" y="7910512"/>
            <a:ext cx="657225" cy="0"/>
          </a:xfrm>
          <a:prstGeom prst="line">
            <a:avLst/>
          </a:prstGeom>
          <a:ln w="76200">
            <a:solidFill>
              <a:srgbClr val="8B45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num-1"/>
          <p:cNvSpPr txBox="1"/>
          <p:nvPr/>
        </p:nvSpPr>
        <p:spPr>
          <a:xfrm>
            <a:off x="3095625" y="6391275"/>
            <a:ext cx="20955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625" b="0" i="0">
                <a:solidFill>
                  <a:srgbClr val="8B451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0" name="dot-1"/>
          <p:cNvSpPr/>
          <p:nvPr/>
        </p:nvSpPr>
        <p:spPr>
          <a:xfrm>
            <a:off x="3819525" y="7539038"/>
            <a:ext cx="647700" cy="647700"/>
          </a:xfrm>
          <a:prstGeom prst="ellipse">
            <a:avLst/>
          </a:prstGeom>
          <a:solidFill>
            <a:srgbClr val="8B4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um-2"/>
          <p:cNvSpPr txBox="1"/>
          <p:nvPr/>
        </p:nvSpPr>
        <p:spPr>
          <a:xfrm>
            <a:off x="7924800" y="6391275"/>
            <a:ext cx="20955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625" b="0" i="0">
                <a:solidFill>
                  <a:srgbClr val="8B451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2" name="dot-2"/>
          <p:cNvSpPr/>
          <p:nvPr/>
        </p:nvSpPr>
        <p:spPr>
          <a:xfrm>
            <a:off x="8648700" y="7539038"/>
            <a:ext cx="647700" cy="647700"/>
          </a:xfrm>
          <a:prstGeom prst="ellipse">
            <a:avLst/>
          </a:prstGeom>
          <a:solidFill>
            <a:srgbClr val="CE8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um-3"/>
          <p:cNvSpPr txBox="1"/>
          <p:nvPr/>
        </p:nvSpPr>
        <p:spPr>
          <a:xfrm>
            <a:off x="12792075" y="6391275"/>
            <a:ext cx="20955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625" b="0" i="0">
                <a:solidFill>
                  <a:srgbClr val="8B451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dot-3"/>
          <p:cNvSpPr/>
          <p:nvPr/>
        </p:nvSpPr>
        <p:spPr>
          <a:xfrm>
            <a:off x="13515975" y="7539038"/>
            <a:ext cx="647700" cy="647700"/>
          </a:xfrm>
          <a:prstGeom prst="ellipse">
            <a:avLst/>
          </a:prstGeom>
          <a:solidFill>
            <a:srgbClr val="8B4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um-4"/>
          <p:cNvSpPr txBox="1"/>
          <p:nvPr/>
        </p:nvSpPr>
        <p:spPr>
          <a:xfrm>
            <a:off x="17649825" y="6391275"/>
            <a:ext cx="20955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625" b="0" i="0">
                <a:solidFill>
                  <a:srgbClr val="8B451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6" name="dot-4"/>
          <p:cNvSpPr/>
          <p:nvPr/>
        </p:nvSpPr>
        <p:spPr>
          <a:xfrm>
            <a:off x="18373725" y="7539038"/>
            <a:ext cx="647700" cy="647700"/>
          </a:xfrm>
          <a:prstGeom prst="ellipse">
            <a:avLst/>
          </a:prstGeom>
          <a:solidFill>
            <a:srgbClr val="CE8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um-5"/>
          <p:cNvSpPr txBox="1"/>
          <p:nvPr/>
        </p:nvSpPr>
        <p:spPr>
          <a:xfrm>
            <a:off x="22507575" y="6391275"/>
            <a:ext cx="20955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625" b="0" i="0">
                <a:solidFill>
                  <a:srgbClr val="8B451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dot-5"/>
          <p:cNvSpPr/>
          <p:nvPr/>
        </p:nvSpPr>
        <p:spPr>
          <a:xfrm>
            <a:off x="23231475" y="7539038"/>
            <a:ext cx="647700" cy="647700"/>
          </a:xfrm>
          <a:prstGeom prst="ellipse">
            <a:avLst/>
          </a:prstGeom>
          <a:solidFill>
            <a:srgbClr val="8B4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um-6"/>
          <p:cNvSpPr txBox="1"/>
          <p:nvPr/>
        </p:nvSpPr>
        <p:spPr>
          <a:xfrm>
            <a:off x="27374850" y="6391275"/>
            <a:ext cx="20955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625" b="0" i="0">
                <a:solidFill>
                  <a:srgbClr val="8B451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0" name="dot-6"/>
          <p:cNvSpPr/>
          <p:nvPr/>
        </p:nvSpPr>
        <p:spPr>
          <a:xfrm>
            <a:off x="28098750" y="7539038"/>
            <a:ext cx="647700" cy="647700"/>
          </a:xfrm>
          <a:prstGeom prst="ellipse">
            <a:avLst/>
          </a:prstGeom>
          <a:solidFill>
            <a:srgbClr val="CE8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2" name="col-1"/>
          <p:cNvGrpSpPr/>
          <p:nvPr/>
        </p:nvGrpSpPr>
        <p:grpSpPr>
          <a:xfrm>
            <a:off x="2000250" y="8982075"/>
            <a:ext cx="4286250" cy="6810375"/>
            <a:chOff x="2000250" y="8982075"/>
            <a:chExt cx="4286250" cy="6810375"/>
          </a:xfrm>
        </p:grpSpPr>
        <p:sp>
          <p:nvSpPr>
            <p:cNvPr id="41" name="panel-1"/>
            <p:cNvSpPr/>
            <p:nvPr/>
          </p:nvSpPr>
          <p:spPr>
            <a:xfrm>
              <a:off x="2000250" y="10410825"/>
              <a:ext cx="4286250" cy="5381625"/>
            </a:xfrm>
            <a:prstGeom prst="roundRect">
              <a:avLst>
                <a:gd name="adj" fmla="val 4888"/>
              </a:avLst>
            </a:prstGeom>
            <a:solidFill>
              <a:srgbClr val="FDE6E0"/>
            </a:solidFill>
            <a:ln w="47625">
              <a:solidFill>
                <a:srgbClr val="E2D5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2" name="badge-1" descr="_photo_badge_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6575" y="8982075"/>
              <a:ext cx="2133600" cy="2133600"/>
            </a:xfrm>
            <a:prstGeom prst="rect">
              <a:avLst/>
            </a:prstGeom>
            <a:effectLst/>
          </p:spPr>
        </p:pic>
        <p:sp>
          <p:nvSpPr>
            <p:cNvPr id="43" name="c1-title"/>
            <p:cNvSpPr txBox="1"/>
            <p:nvPr/>
          </p:nvSpPr>
          <p:spPr>
            <a:xfrm>
              <a:off x="2238375" y="11325225"/>
              <a:ext cx="3810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6D2413"/>
                  </a:solidFill>
                  <a:latin typeface="Microsoft YaHei"/>
                  <a:ea typeface="Microsoft YaHei"/>
                  <a:cs typeface="Microsoft YaHei"/>
                </a:rPr>
                <a:t>目标制定</a:t>
              </a:r>
            </a:p>
          </p:txBody>
        </p:sp>
        <p:sp>
          <p:nvSpPr>
            <p:cNvPr id="44" name="b1-1"/>
            <p:cNvSpPr/>
            <p:nvPr/>
          </p:nvSpPr>
          <p:spPr>
            <a:xfrm>
              <a:off x="2324100" y="127015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1-1-1"/>
            <p:cNvSpPr txBox="1"/>
            <p:nvPr/>
          </p:nvSpPr>
          <p:spPr>
            <a:xfrm>
              <a:off x="2619375" y="125444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制定年度目标和季度</a:t>
              </a:r>
            </a:p>
          </p:txBody>
        </p:sp>
        <p:sp>
          <p:nvSpPr>
            <p:cNvPr id="46" name="t1-1-2"/>
            <p:cNvSpPr txBox="1"/>
            <p:nvPr/>
          </p:nvSpPr>
          <p:spPr>
            <a:xfrm>
              <a:off x="2619375" y="130206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具体目标</a:t>
              </a:r>
            </a:p>
          </p:txBody>
        </p:sp>
        <p:sp>
          <p:nvSpPr>
            <p:cNvPr id="47" name="b1-2"/>
            <p:cNvSpPr/>
            <p:nvPr/>
          </p:nvSpPr>
          <p:spPr>
            <a:xfrm>
              <a:off x="2324100" y="136540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1-2-1"/>
            <p:cNvSpPr txBox="1"/>
            <p:nvPr/>
          </p:nvSpPr>
          <p:spPr>
            <a:xfrm>
              <a:off x="2619375" y="134969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设定可衡量的一些关</a:t>
              </a:r>
            </a:p>
          </p:txBody>
        </p:sp>
        <p:sp>
          <p:nvSpPr>
            <p:cNvPr id="49" name="t1-2-2"/>
            <p:cNvSpPr txBox="1"/>
            <p:nvPr/>
          </p:nvSpPr>
          <p:spPr>
            <a:xfrm>
              <a:off x="2619375" y="139731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键指标</a:t>
              </a:r>
            </a:p>
          </p:txBody>
        </p:sp>
        <p:sp>
          <p:nvSpPr>
            <p:cNvPr id="50" name="b1-3"/>
            <p:cNvSpPr/>
            <p:nvPr/>
          </p:nvSpPr>
          <p:spPr>
            <a:xfrm>
              <a:off x="2324100" y="146065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1-3-1"/>
            <p:cNvSpPr txBox="1"/>
            <p:nvPr/>
          </p:nvSpPr>
          <p:spPr>
            <a:xfrm>
              <a:off x="2619375" y="144494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明确目标优先级和时</a:t>
              </a:r>
            </a:p>
          </p:txBody>
        </p:sp>
        <p:sp>
          <p:nvSpPr>
            <p:cNvPr id="52" name="t1-3-2"/>
            <p:cNvSpPr txBox="1"/>
            <p:nvPr/>
          </p:nvSpPr>
          <p:spPr>
            <a:xfrm>
              <a:off x="2619375" y="149256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间节点</a:t>
              </a:r>
            </a:p>
          </p:txBody>
        </p:sp>
      </p:grpSp>
      <p:grpSp>
        <p:nvGrpSpPr>
          <p:cNvPr id="116" name="col-2"/>
          <p:cNvGrpSpPr/>
          <p:nvPr/>
        </p:nvGrpSpPr>
        <p:grpSpPr>
          <a:xfrm>
            <a:off x="6829425" y="8982075"/>
            <a:ext cx="4286250" cy="6810375"/>
            <a:chOff x="6829425" y="8982075"/>
            <a:chExt cx="4286250" cy="6810375"/>
          </a:xfrm>
        </p:grpSpPr>
        <p:sp>
          <p:nvSpPr>
            <p:cNvPr id="53" name="panel-2"/>
            <p:cNvSpPr/>
            <p:nvPr/>
          </p:nvSpPr>
          <p:spPr>
            <a:xfrm>
              <a:off x="6829425" y="10410825"/>
              <a:ext cx="4286250" cy="5381625"/>
            </a:xfrm>
            <a:prstGeom prst="roundRect">
              <a:avLst>
                <a:gd name="adj" fmla="val 4888"/>
              </a:avLst>
            </a:prstGeom>
            <a:solidFill>
              <a:srgbClr val="FDE6E0"/>
            </a:solidFill>
            <a:ln w="47625">
              <a:solidFill>
                <a:srgbClr val="E2D5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4" name="badge-2" descr="_photo_badge_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05750" y="8982075"/>
              <a:ext cx="2133600" cy="2133600"/>
            </a:xfrm>
            <a:prstGeom prst="rect">
              <a:avLst/>
            </a:prstGeom>
            <a:effectLst/>
          </p:spPr>
        </p:pic>
        <p:sp>
          <p:nvSpPr>
            <p:cNvPr id="55" name="c2-title"/>
            <p:cNvSpPr txBox="1"/>
            <p:nvPr/>
          </p:nvSpPr>
          <p:spPr>
            <a:xfrm>
              <a:off x="7067550" y="11325225"/>
              <a:ext cx="3810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6D2413"/>
                  </a:solidFill>
                  <a:latin typeface="Microsoft YaHei"/>
                  <a:ea typeface="Microsoft YaHei"/>
                  <a:cs typeface="Microsoft YaHei"/>
                </a:rPr>
                <a:t>行动计划</a:t>
              </a:r>
            </a:p>
          </p:txBody>
        </p:sp>
        <p:sp>
          <p:nvSpPr>
            <p:cNvPr id="56" name="b2-1"/>
            <p:cNvSpPr/>
            <p:nvPr/>
          </p:nvSpPr>
          <p:spPr>
            <a:xfrm>
              <a:off x="7153275" y="127015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2-1-1"/>
            <p:cNvSpPr txBox="1"/>
            <p:nvPr/>
          </p:nvSpPr>
          <p:spPr>
            <a:xfrm>
              <a:off x="7448550" y="125444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将目标分解为具体行</a:t>
              </a:r>
            </a:p>
          </p:txBody>
        </p:sp>
        <p:sp>
          <p:nvSpPr>
            <p:cNvPr id="58" name="t2-1-2"/>
            <p:cNvSpPr txBox="1"/>
            <p:nvPr/>
          </p:nvSpPr>
          <p:spPr>
            <a:xfrm>
              <a:off x="7448550" y="130206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动步骤</a:t>
              </a:r>
            </a:p>
          </p:txBody>
        </p:sp>
        <p:sp>
          <p:nvSpPr>
            <p:cNvPr id="59" name="b2-2"/>
            <p:cNvSpPr/>
            <p:nvPr/>
          </p:nvSpPr>
          <p:spPr>
            <a:xfrm>
              <a:off x="7153275" y="136540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2-2-1"/>
            <p:cNvSpPr txBox="1"/>
            <p:nvPr/>
          </p:nvSpPr>
          <p:spPr>
            <a:xfrm>
              <a:off x="7448550" y="134969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制定详细的复工后的</a:t>
              </a:r>
            </a:p>
          </p:txBody>
        </p:sp>
        <p:sp>
          <p:nvSpPr>
            <p:cNvPr id="61" name="t2-2-2"/>
            <p:cNvSpPr txBox="1"/>
            <p:nvPr/>
          </p:nvSpPr>
          <p:spPr>
            <a:xfrm>
              <a:off x="7448550" y="139731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工作时间表</a:t>
              </a:r>
            </a:p>
          </p:txBody>
        </p:sp>
        <p:sp>
          <p:nvSpPr>
            <p:cNvPr id="62" name="b2-3"/>
            <p:cNvSpPr/>
            <p:nvPr/>
          </p:nvSpPr>
          <p:spPr>
            <a:xfrm>
              <a:off x="7153275" y="146065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2-3-1"/>
            <p:cNvSpPr txBox="1"/>
            <p:nvPr/>
          </p:nvSpPr>
          <p:spPr>
            <a:xfrm>
              <a:off x="7448550" y="144494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确定所需资源和预算</a:t>
              </a:r>
            </a:p>
          </p:txBody>
        </p:sp>
        <p:sp>
          <p:nvSpPr>
            <p:cNvPr id="64" name="t2-3-2"/>
            <p:cNvSpPr txBox="1"/>
            <p:nvPr/>
          </p:nvSpPr>
          <p:spPr>
            <a:xfrm>
              <a:off x="7448550" y="149256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安排</a:t>
              </a:r>
            </a:p>
          </p:txBody>
        </p:sp>
      </p:grpSp>
      <p:grpSp>
        <p:nvGrpSpPr>
          <p:cNvPr id="114" name="col-3"/>
          <p:cNvGrpSpPr/>
          <p:nvPr/>
        </p:nvGrpSpPr>
        <p:grpSpPr>
          <a:xfrm>
            <a:off x="11696700" y="8982075"/>
            <a:ext cx="4286250" cy="6810375"/>
            <a:chOff x="11696700" y="8982075"/>
            <a:chExt cx="4286250" cy="6810375"/>
          </a:xfrm>
        </p:grpSpPr>
        <p:sp>
          <p:nvSpPr>
            <p:cNvPr id="65" name="panel-3"/>
            <p:cNvSpPr/>
            <p:nvPr/>
          </p:nvSpPr>
          <p:spPr>
            <a:xfrm>
              <a:off x="11696700" y="10410825"/>
              <a:ext cx="4286250" cy="5381625"/>
            </a:xfrm>
            <a:prstGeom prst="roundRect">
              <a:avLst>
                <a:gd name="adj" fmla="val 4888"/>
              </a:avLst>
            </a:prstGeom>
            <a:solidFill>
              <a:srgbClr val="FDE6E0"/>
            </a:solidFill>
            <a:ln w="47625">
              <a:solidFill>
                <a:srgbClr val="E2D5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6" name="badge-3" descr="_photo_badge_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73025" y="8982075"/>
              <a:ext cx="2133600" cy="2133600"/>
            </a:xfrm>
            <a:prstGeom prst="rect">
              <a:avLst/>
            </a:prstGeom>
            <a:effectLst/>
          </p:spPr>
        </p:pic>
        <p:sp>
          <p:nvSpPr>
            <p:cNvPr id="67" name="c3-title"/>
            <p:cNvSpPr txBox="1"/>
            <p:nvPr/>
          </p:nvSpPr>
          <p:spPr>
            <a:xfrm>
              <a:off x="11934825" y="11325225"/>
              <a:ext cx="3810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6D2413"/>
                  </a:solidFill>
                  <a:latin typeface="Microsoft YaHei"/>
                  <a:ea typeface="Microsoft YaHei"/>
                  <a:cs typeface="Microsoft YaHei"/>
                </a:rPr>
                <a:t>学习提升</a:t>
              </a:r>
            </a:p>
          </p:txBody>
        </p:sp>
        <p:sp>
          <p:nvSpPr>
            <p:cNvPr id="68" name="b3-1"/>
            <p:cNvSpPr/>
            <p:nvPr/>
          </p:nvSpPr>
          <p:spPr>
            <a:xfrm>
              <a:off x="12020550" y="127015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3-1-1"/>
            <p:cNvSpPr txBox="1"/>
            <p:nvPr/>
          </p:nvSpPr>
          <p:spPr>
            <a:xfrm>
              <a:off x="12315825" y="125444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制定个人技能提升计</a:t>
              </a:r>
            </a:p>
          </p:txBody>
        </p:sp>
        <p:sp>
          <p:nvSpPr>
            <p:cNvPr id="70" name="t3-1-2"/>
            <p:cNvSpPr txBox="1"/>
            <p:nvPr/>
          </p:nvSpPr>
          <p:spPr>
            <a:xfrm>
              <a:off x="12315825" y="130206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划，提升自我</a:t>
              </a:r>
            </a:p>
          </p:txBody>
        </p:sp>
        <p:sp>
          <p:nvSpPr>
            <p:cNvPr id="71" name="b3-2"/>
            <p:cNvSpPr/>
            <p:nvPr/>
          </p:nvSpPr>
          <p:spPr>
            <a:xfrm>
              <a:off x="12020550" y="136540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3-2-1"/>
            <p:cNvSpPr txBox="1"/>
            <p:nvPr/>
          </p:nvSpPr>
          <p:spPr>
            <a:xfrm>
              <a:off x="12315825" y="134969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安排培训课程和学习</a:t>
              </a:r>
            </a:p>
          </p:txBody>
        </p:sp>
        <p:sp>
          <p:nvSpPr>
            <p:cNvPr id="73" name="t3-2-2"/>
            <p:cNvSpPr txBox="1"/>
            <p:nvPr/>
          </p:nvSpPr>
          <p:spPr>
            <a:xfrm>
              <a:off x="12315825" y="139731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活动</a:t>
              </a:r>
            </a:p>
          </p:txBody>
        </p:sp>
        <p:sp>
          <p:nvSpPr>
            <p:cNvPr id="74" name="b3-3"/>
            <p:cNvSpPr/>
            <p:nvPr/>
          </p:nvSpPr>
          <p:spPr>
            <a:xfrm>
              <a:off x="12020550" y="146065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3-3-1"/>
            <p:cNvSpPr txBox="1"/>
            <p:nvPr/>
          </p:nvSpPr>
          <p:spPr>
            <a:xfrm>
              <a:off x="12315825" y="144494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建立知识分享和交流</a:t>
              </a:r>
            </a:p>
          </p:txBody>
        </p:sp>
        <p:sp>
          <p:nvSpPr>
            <p:cNvPr id="76" name="t3-3-2"/>
            <p:cNvSpPr txBox="1"/>
            <p:nvPr/>
          </p:nvSpPr>
          <p:spPr>
            <a:xfrm>
              <a:off x="12315825" y="149256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机制</a:t>
              </a:r>
            </a:p>
          </p:txBody>
        </p:sp>
      </p:grpSp>
      <p:grpSp>
        <p:nvGrpSpPr>
          <p:cNvPr id="115" name="col-4"/>
          <p:cNvGrpSpPr/>
          <p:nvPr/>
        </p:nvGrpSpPr>
        <p:grpSpPr>
          <a:xfrm>
            <a:off x="16554450" y="8982075"/>
            <a:ext cx="4286250" cy="6810375"/>
            <a:chOff x="16554450" y="8982075"/>
            <a:chExt cx="4286250" cy="6810375"/>
          </a:xfrm>
        </p:grpSpPr>
        <p:sp>
          <p:nvSpPr>
            <p:cNvPr id="77" name="panel-4"/>
            <p:cNvSpPr/>
            <p:nvPr/>
          </p:nvSpPr>
          <p:spPr>
            <a:xfrm>
              <a:off x="16554450" y="10410825"/>
              <a:ext cx="4286250" cy="5381625"/>
            </a:xfrm>
            <a:prstGeom prst="roundRect">
              <a:avLst>
                <a:gd name="adj" fmla="val 4888"/>
              </a:avLst>
            </a:prstGeom>
            <a:solidFill>
              <a:srgbClr val="FDE6E0"/>
            </a:solidFill>
            <a:ln w="47625">
              <a:solidFill>
                <a:srgbClr val="E2D5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8" name="badge-4" descr="_photo_badge_4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630775" y="8982075"/>
              <a:ext cx="2133600" cy="2133600"/>
            </a:xfrm>
            <a:prstGeom prst="rect">
              <a:avLst/>
            </a:prstGeom>
            <a:effectLst/>
          </p:spPr>
        </p:pic>
        <p:sp>
          <p:nvSpPr>
            <p:cNvPr id="79" name="c4-title"/>
            <p:cNvSpPr txBox="1"/>
            <p:nvPr/>
          </p:nvSpPr>
          <p:spPr>
            <a:xfrm>
              <a:off x="16792575" y="11325225"/>
              <a:ext cx="3810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6D2413"/>
                  </a:solidFill>
                  <a:latin typeface="Microsoft YaHei"/>
                  <a:ea typeface="Microsoft YaHei"/>
                  <a:cs typeface="Microsoft YaHei"/>
                </a:rPr>
                <a:t>流程优化</a:t>
              </a:r>
            </a:p>
          </p:txBody>
        </p:sp>
        <p:sp>
          <p:nvSpPr>
            <p:cNvPr id="80" name="b4-1"/>
            <p:cNvSpPr/>
            <p:nvPr/>
          </p:nvSpPr>
          <p:spPr>
            <a:xfrm>
              <a:off x="16878300" y="12939712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4-1-1"/>
            <p:cNvSpPr txBox="1"/>
            <p:nvPr/>
          </p:nvSpPr>
          <p:spPr>
            <a:xfrm>
              <a:off x="17173575" y="12782550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梳理和优化现有工作</a:t>
              </a:r>
            </a:p>
          </p:txBody>
        </p:sp>
        <p:sp>
          <p:nvSpPr>
            <p:cNvPr id="82" name="t4-1-2"/>
            <p:cNvSpPr txBox="1"/>
            <p:nvPr/>
          </p:nvSpPr>
          <p:spPr>
            <a:xfrm>
              <a:off x="17173575" y="13258800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流程</a:t>
              </a:r>
            </a:p>
          </p:txBody>
        </p:sp>
        <p:sp>
          <p:nvSpPr>
            <p:cNvPr id="83" name="b4-2"/>
            <p:cNvSpPr/>
            <p:nvPr/>
          </p:nvSpPr>
          <p:spPr>
            <a:xfrm>
              <a:off x="16878300" y="13892212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4-2-1"/>
            <p:cNvSpPr txBox="1"/>
            <p:nvPr/>
          </p:nvSpPr>
          <p:spPr>
            <a:xfrm>
              <a:off x="17173575" y="13735050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识别效率提升的关键</a:t>
              </a:r>
            </a:p>
          </p:txBody>
        </p:sp>
        <p:sp>
          <p:nvSpPr>
            <p:cNvPr id="85" name="t4-2-2"/>
            <p:cNvSpPr txBox="1"/>
            <p:nvPr/>
          </p:nvSpPr>
          <p:spPr>
            <a:xfrm>
              <a:off x="17173575" y="14211300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环节</a:t>
              </a:r>
            </a:p>
          </p:txBody>
        </p:sp>
        <p:sp>
          <p:nvSpPr>
            <p:cNvPr id="86" name="b4-3"/>
            <p:cNvSpPr/>
            <p:nvPr/>
          </p:nvSpPr>
          <p:spPr>
            <a:xfrm>
              <a:off x="16878300" y="14844712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4-3-1"/>
            <p:cNvSpPr txBox="1"/>
            <p:nvPr/>
          </p:nvSpPr>
          <p:spPr>
            <a:xfrm>
              <a:off x="17173575" y="14687550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建立标准化操作规范</a:t>
              </a:r>
            </a:p>
          </p:txBody>
        </p:sp>
      </p:grpSp>
      <p:grpSp>
        <p:nvGrpSpPr>
          <p:cNvPr id="113" name="col-5"/>
          <p:cNvGrpSpPr/>
          <p:nvPr/>
        </p:nvGrpSpPr>
        <p:grpSpPr>
          <a:xfrm>
            <a:off x="21412200" y="8982075"/>
            <a:ext cx="4286250" cy="6810375"/>
            <a:chOff x="21412200" y="8982075"/>
            <a:chExt cx="4286250" cy="6810375"/>
          </a:xfrm>
        </p:grpSpPr>
        <p:sp>
          <p:nvSpPr>
            <p:cNvPr id="88" name="panel-5"/>
            <p:cNvSpPr/>
            <p:nvPr/>
          </p:nvSpPr>
          <p:spPr>
            <a:xfrm>
              <a:off x="21412200" y="10410825"/>
              <a:ext cx="4286250" cy="5381625"/>
            </a:xfrm>
            <a:prstGeom prst="roundRect">
              <a:avLst>
                <a:gd name="adj" fmla="val 4888"/>
              </a:avLst>
            </a:prstGeom>
            <a:solidFill>
              <a:srgbClr val="FDE6E0"/>
            </a:solidFill>
            <a:ln w="47625">
              <a:solidFill>
                <a:srgbClr val="E2D5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89" name="badge-5" descr="_photo_badge_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488525" y="8982075"/>
              <a:ext cx="2133600" cy="2133600"/>
            </a:xfrm>
            <a:prstGeom prst="rect">
              <a:avLst/>
            </a:prstGeom>
            <a:effectLst/>
          </p:spPr>
        </p:pic>
        <p:sp>
          <p:nvSpPr>
            <p:cNvPr id="90" name="c5-title"/>
            <p:cNvSpPr txBox="1"/>
            <p:nvPr/>
          </p:nvSpPr>
          <p:spPr>
            <a:xfrm>
              <a:off x="21650325" y="11325225"/>
              <a:ext cx="3810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6D2413"/>
                  </a:solidFill>
                  <a:latin typeface="Microsoft YaHei"/>
                  <a:ea typeface="Microsoft YaHei"/>
                  <a:cs typeface="Microsoft YaHei"/>
                </a:rPr>
                <a:t>团队协作</a:t>
              </a:r>
            </a:p>
          </p:txBody>
        </p:sp>
        <p:sp>
          <p:nvSpPr>
            <p:cNvPr id="91" name="b5-1"/>
            <p:cNvSpPr/>
            <p:nvPr/>
          </p:nvSpPr>
          <p:spPr>
            <a:xfrm>
              <a:off x="21736050" y="127015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5-1-1"/>
            <p:cNvSpPr txBox="1"/>
            <p:nvPr/>
          </p:nvSpPr>
          <p:spPr>
            <a:xfrm>
              <a:off x="22031325" y="125444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评估团队能力和培训</a:t>
              </a:r>
            </a:p>
          </p:txBody>
        </p:sp>
        <p:sp>
          <p:nvSpPr>
            <p:cNvPr id="93" name="t5-1-2"/>
            <p:cNvSpPr txBox="1"/>
            <p:nvPr/>
          </p:nvSpPr>
          <p:spPr>
            <a:xfrm>
              <a:off x="22031325" y="130206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需求</a:t>
              </a:r>
            </a:p>
          </p:txBody>
        </p:sp>
        <p:sp>
          <p:nvSpPr>
            <p:cNvPr id="94" name="b5-2"/>
            <p:cNvSpPr/>
            <p:nvPr/>
          </p:nvSpPr>
          <p:spPr>
            <a:xfrm>
              <a:off x="21736050" y="136540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t5-2-1"/>
            <p:cNvSpPr txBox="1"/>
            <p:nvPr/>
          </p:nvSpPr>
          <p:spPr>
            <a:xfrm>
              <a:off x="22031325" y="134969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制定人员发展和晋升</a:t>
              </a:r>
            </a:p>
          </p:txBody>
        </p:sp>
        <p:sp>
          <p:nvSpPr>
            <p:cNvPr id="96" name="t5-2-2"/>
            <p:cNvSpPr txBox="1"/>
            <p:nvPr/>
          </p:nvSpPr>
          <p:spPr>
            <a:xfrm>
              <a:off x="22031325" y="139731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计划</a:t>
              </a:r>
            </a:p>
          </p:txBody>
        </p:sp>
        <p:sp>
          <p:nvSpPr>
            <p:cNvPr id="97" name="b5-3"/>
            <p:cNvSpPr/>
            <p:nvPr/>
          </p:nvSpPr>
          <p:spPr>
            <a:xfrm>
              <a:off x="21736050" y="14606588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5-3-1"/>
            <p:cNvSpPr txBox="1"/>
            <p:nvPr/>
          </p:nvSpPr>
          <p:spPr>
            <a:xfrm>
              <a:off x="22031325" y="14449425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加强团队协作和沟通</a:t>
              </a:r>
            </a:p>
          </p:txBody>
        </p:sp>
        <p:sp>
          <p:nvSpPr>
            <p:cNvPr id="99" name="t5-3-2"/>
            <p:cNvSpPr txBox="1"/>
            <p:nvPr/>
          </p:nvSpPr>
          <p:spPr>
            <a:xfrm>
              <a:off x="22031325" y="14925675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文化</a:t>
              </a:r>
            </a:p>
          </p:txBody>
        </p:sp>
      </p:grpSp>
      <p:grpSp>
        <p:nvGrpSpPr>
          <p:cNvPr id="117" name="col-6"/>
          <p:cNvGrpSpPr/>
          <p:nvPr/>
        </p:nvGrpSpPr>
        <p:grpSpPr>
          <a:xfrm>
            <a:off x="26279475" y="8982075"/>
            <a:ext cx="4286250" cy="6810375"/>
            <a:chOff x="26279475" y="8982075"/>
            <a:chExt cx="4286250" cy="6810375"/>
          </a:xfrm>
        </p:grpSpPr>
        <p:sp>
          <p:nvSpPr>
            <p:cNvPr id="100" name="panel-6"/>
            <p:cNvSpPr/>
            <p:nvPr/>
          </p:nvSpPr>
          <p:spPr>
            <a:xfrm>
              <a:off x="26279475" y="10410825"/>
              <a:ext cx="4286250" cy="5381625"/>
            </a:xfrm>
            <a:prstGeom prst="roundRect">
              <a:avLst>
                <a:gd name="adj" fmla="val 4888"/>
              </a:avLst>
            </a:prstGeom>
            <a:solidFill>
              <a:srgbClr val="FDE6E0"/>
            </a:solidFill>
            <a:ln w="47625">
              <a:solidFill>
                <a:srgbClr val="E2D5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1" name="badge-6" descr="_photo_badge_6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355800" y="8982075"/>
              <a:ext cx="2133600" cy="2133600"/>
            </a:xfrm>
            <a:prstGeom prst="rect">
              <a:avLst/>
            </a:prstGeom>
            <a:effectLst/>
          </p:spPr>
        </p:pic>
        <p:sp>
          <p:nvSpPr>
            <p:cNvPr id="102" name="c6-title"/>
            <p:cNvSpPr txBox="1"/>
            <p:nvPr/>
          </p:nvSpPr>
          <p:spPr>
            <a:xfrm>
              <a:off x="26517600" y="11325225"/>
              <a:ext cx="3810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6D2413"/>
                  </a:solidFill>
                  <a:latin typeface="Microsoft YaHei"/>
                  <a:ea typeface="Microsoft YaHei"/>
                  <a:cs typeface="Microsoft YaHei"/>
                </a:rPr>
                <a:t>评估改进</a:t>
              </a:r>
            </a:p>
          </p:txBody>
        </p:sp>
        <p:sp>
          <p:nvSpPr>
            <p:cNvPr id="103" name="b6-1"/>
            <p:cNvSpPr/>
            <p:nvPr/>
          </p:nvSpPr>
          <p:spPr>
            <a:xfrm>
              <a:off x="26603325" y="12939712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t6-1-1"/>
            <p:cNvSpPr txBox="1"/>
            <p:nvPr/>
          </p:nvSpPr>
          <p:spPr>
            <a:xfrm>
              <a:off x="26898600" y="12782550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建立定期检查和评估</a:t>
              </a:r>
            </a:p>
          </p:txBody>
        </p:sp>
        <p:sp>
          <p:nvSpPr>
            <p:cNvPr id="105" name="t6-1-2"/>
            <p:cNvSpPr txBox="1"/>
            <p:nvPr/>
          </p:nvSpPr>
          <p:spPr>
            <a:xfrm>
              <a:off x="26898600" y="13258800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机制</a:t>
              </a:r>
            </a:p>
          </p:txBody>
        </p:sp>
        <p:sp>
          <p:nvSpPr>
            <p:cNvPr id="106" name="b6-2"/>
            <p:cNvSpPr/>
            <p:nvPr/>
          </p:nvSpPr>
          <p:spPr>
            <a:xfrm>
              <a:off x="26603325" y="13892212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t6-2-1"/>
            <p:cNvSpPr txBox="1"/>
            <p:nvPr/>
          </p:nvSpPr>
          <p:spPr>
            <a:xfrm>
              <a:off x="26898600" y="13735050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分析数据和绩效指标</a:t>
              </a:r>
            </a:p>
          </p:txBody>
        </p:sp>
        <p:sp>
          <p:nvSpPr>
            <p:cNvPr id="108" name="b6-3"/>
            <p:cNvSpPr/>
            <p:nvPr/>
          </p:nvSpPr>
          <p:spPr>
            <a:xfrm>
              <a:off x="26603325" y="14368462"/>
              <a:ext cx="180975" cy="180975"/>
            </a:xfrm>
            <a:prstGeom prst="ellipse">
              <a:avLst/>
            </a:prstGeom>
            <a:noFill/>
            <a:ln w="23812">
              <a:solidFill>
                <a:srgbClr val="1F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t6-3-1"/>
            <p:cNvSpPr txBox="1"/>
            <p:nvPr/>
          </p:nvSpPr>
          <p:spPr>
            <a:xfrm>
              <a:off x="26898600" y="14211300"/>
              <a:ext cx="3322701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总结经验教训，持续</a:t>
              </a:r>
            </a:p>
          </p:txBody>
        </p:sp>
        <p:sp>
          <p:nvSpPr>
            <p:cNvPr id="110" name="t6-3-2"/>
            <p:cNvSpPr txBox="1"/>
            <p:nvPr/>
          </p:nvSpPr>
          <p:spPr>
            <a:xfrm>
              <a:off x="26898600" y="14687550"/>
              <a:ext cx="32861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0" i="0">
                  <a:solidFill>
                    <a:srgbClr val="1F1A17"/>
                  </a:solidFill>
                  <a:latin typeface="Microsoft YaHei"/>
                  <a:ea typeface="Microsoft YaHei"/>
                  <a:cs typeface="Microsoft YaHei"/>
                </a:rPr>
                <a:t>改进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