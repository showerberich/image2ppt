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pale-pill"/>
          <p:cNvSpPr/>
          <p:nvPr/>
        </p:nvSpPr>
        <p:spPr>
          <a:xfrm>
            <a:off x="1943100" y="1419225"/>
            <a:ext cx="26222325" cy="1600200"/>
          </a:xfrm>
          <a:prstGeom prst="roundRect">
            <a:avLst>
              <a:gd name="adj" fmla="val 50000"/>
            </a:avLst>
          </a:prstGeom>
          <a:solidFill>
            <a:srgbClr val="ED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title-pill"/>
          <p:cNvSpPr/>
          <p:nvPr/>
        </p:nvSpPr>
        <p:spPr>
          <a:xfrm>
            <a:off x="1952625" y="1419225"/>
            <a:ext cx="9820275" cy="160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B82FF"/>
              </a:gs>
              <a:gs pos="90000">
                <a:srgbClr val="3A2FC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476500" y="1638300"/>
            <a:ext cx="8782050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积极倾听的核心技巧</a:t>
            </a:r>
          </a:p>
        </p:txBody>
      </p:sp>
      <p:sp>
        <p:nvSpPr>
          <p:cNvPr id="6" name="badge-02-circle"/>
          <p:cNvSpPr/>
          <p:nvPr/>
        </p:nvSpPr>
        <p:spPr>
          <a:xfrm>
            <a:off x="26355675" y="1562100"/>
            <a:ext cx="1314450" cy="1314450"/>
          </a:xfrm>
          <a:prstGeom prst="ellipse">
            <a:avLst/>
          </a:prstGeom>
          <a:gradFill rotWithShape="1">
            <a:gsLst>
              <a:gs pos="0">
                <a:srgbClr val="3F6DF0"/>
              </a:gs>
              <a:gs pos="100000">
                <a:srgbClr val="2B34B8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-02-text"/>
          <p:cNvSpPr txBox="1"/>
          <p:nvPr/>
        </p:nvSpPr>
        <p:spPr>
          <a:xfrm>
            <a:off x="26631900" y="1800225"/>
            <a:ext cx="800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39" name="donut"/>
          <p:cNvGrpSpPr/>
          <p:nvPr/>
        </p:nvGrpSpPr>
        <p:grpSpPr>
          <a:xfrm>
            <a:off x="942975" y="3971925"/>
            <a:ext cx="10344150" cy="12001500"/>
            <a:chOff x="942975" y="3971925"/>
            <a:chExt cx="10344150" cy="12001500"/>
          </a:xfrm>
        </p:grpSpPr>
        <p:sp>
          <p:nvSpPr>
            <p:cNvPr id="8" name="donut-pale-1"/>
            <p:cNvSpPr/>
            <p:nvPr/>
          </p:nvSpPr>
          <p:spPr>
            <a:xfrm>
              <a:off x="942975" y="11169968"/>
              <a:ext cx="4248150" cy="4802504"/>
            </a:xfrm>
            <a:custGeom>
              <a:avLst/>
              <a:gdLst/>
              <a:ahLst/>
              <a:cxnLst/>
              <a:rect l="l" t="t" r="r" b="b"/>
              <a:pathLst>
                <a:path w="4248150" h="4802504">
                  <a:moveTo>
                    <a:pt x="4248150" y="4802504"/>
                  </a:moveTo>
                  <a:lnTo>
                    <a:pt x="4215765" y="4802504"/>
                  </a:lnTo>
                  <a:lnTo>
                    <a:pt x="4087177" y="4797742"/>
                  </a:lnTo>
                  <a:lnTo>
                    <a:pt x="3959543" y="4791074"/>
                  </a:lnTo>
                  <a:lnTo>
                    <a:pt x="3831907" y="4781550"/>
                  </a:lnTo>
                  <a:lnTo>
                    <a:pt x="3704273" y="4769167"/>
                  </a:lnTo>
                  <a:lnTo>
                    <a:pt x="3576637" y="4753927"/>
                  </a:lnTo>
                  <a:lnTo>
                    <a:pt x="3449955" y="4736782"/>
                  </a:lnTo>
                  <a:lnTo>
                    <a:pt x="3323273" y="4715827"/>
                  </a:lnTo>
                  <a:lnTo>
                    <a:pt x="3197543" y="4692967"/>
                  </a:lnTo>
                  <a:lnTo>
                    <a:pt x="3072765" y="4667250"/>
                  </a:lnTo>
                  <a:lnTo>
                    <a:pt x="2947035" y="4638674"/>
                  </a:lnTo>
                  <a:lnTo>
                    <a:pt x="2823210" y="4607242"/>
                  </a:lnTo>
                  <a:lnTo>
                    <a:pt x="2699385" y="4573904"/>
                  </a:lnTo>
                  <a:lnTo>
                    <a:pt x="2576513" y="4537710"/>
                  </a:lnTo>
                  <a:lnTo>
                    <a:pt x="2454593" y="4498657"/>
                  </a:lnTo>
                  <a:lnTo>
                    <a:pt x="2333625" y="4456747"/>
                  </a:lnTo>
                  <a:lnTo>
                    <a:pt x="2213610" y="4412932"/>
                  </a:lnTo>
                  <a:lnTo>
                    <a:pt x="2094547" y="4366260"/>
                  </a:lnTo>
                  <a:lnTo>
                    <a:pt x="1976437" y="4316730"/>
                  </a:lnTo>
                  <a:lnTo>
                    <a:pt x="1859280" y="4265294"/>
                  </a:lnTo>
                  <a:lnTo>
                    <a:pt x="1743075" y="4211002"/>
                  </a:lnTo>
                  <a:lnTo>
                    <a:pt x="1627823" y="4153852"/>
                  </a:lnTo>
                  <a:lnTo>
                    <a:pt x="1514475" y="4094797"/>
                  </a:lnTo>
                  <a:lnTo>
                    <a:pt x="1402080" y="4032884"/>
                  </a:lnTo>
                  <a:lnTo>
                    <a:pt x="1291590" y="3969067"/>
                  </a:lnTo>
                  <a:lnTo>
                    <a:pt x="1182053" y="3903344"/>
                  </a:lnTo>
                  <a:lnTo>
                    <a:pt x="1073467" y="3834764"/>
                  </a:lnTo>
                  <a:lnTo>
                    <a:pt x="966787" y="3763327"/>
                  </a:lnTo>
                  <a:lnTo>
                    <a:pt x="862013" y="3689984"/>
                  </a:lnTo>
                  <a:lnTo>
                    <a:pt x="758190" y="3614737"/>
                  </a:lnTo>
                  <a:lnTo>
                    <a:pt x="656273" y="3537584"/>
                  </a:lnTo>
                  <a:lnTo>
                    <a:pt x="556260" y="3457574"/>
                  </a:lnTo>
                  <a:lnTo>
                    <a:pt x="458153" y="3375660"/>
                  </a:lnTo>
                  <a:lnTo>
                    <a:pt x="360997" y="3291840"/>
                  </a:lnTo>
                  <a:lnTo>
                    <a:pt x="265747" y="3205162"/>
                  </a:lnTo>
                  <a:lnTo>
                    <a:pt x="173355" y="3117532"/>
                  </a:lnTo>
                  <a:lnTo>
                    <a:pt x="81915" y="3027044"/>
                  </a:lnTo>
                  <a:lnTo>
                    <a:pt x="0" y="2943224"/>
                  </a:lnTo>
                  <a:lnTo>
                    <a:pt x="0" y="1443990"/>
                  </a:lnTo>
                  <a:lnTo>
                    <a:pt x="2373630" y="0"/>
                  </a:lnTo>
                  <a:lnTo>
                    <a:pt x="2400300" y="41910"/>
                  </a:lnTo>
                  <a:lnTo>
                    <a:pt x="2426970" y="82867"/>
                  </a:lnTo>
                  <a:lnTo>
                    <a:pt x="2454593" y="123824"/>
                  </a:lnTo>
                  <a:lnTo>
                    <a:pt x="2483167" y="163830"/>
                  </a:lnTo>
                  <a:lnTo>
                    <a:pt x="2512695" y="202882"/>
                  </a:lnTo>
                  <a:lnTo>
                    <a:pt x="2543175" y="241934"/>
                  </a:lnTo>
                  <a:lnTo>
                    <a:pt x="2573655" y="280034"/>
                  </a:lnTo>
                  <a:lnTo>
                    <a:pt x="2606040" y="317182"/>
                  </a:lnTo>
                  <a:lnTo>
                    <a:pt x="2638425" y="354330"/>
                  </a:lnTo>
                  <a:lnTo>
                    <a:pt x="2671763" y="390524"/>
                  </a:lnTo>
                  <a:lnTo>
                    <a:pt x="2706053" y="425767"/>
                  </a:lnTo>
                  <a:lnTo>
                    <a:pt x="2741295" y="460057"/>
                  </a:lnTo>
                  <a:lnTo>
                    <a:pt x="2777490" y="494347"/>
                  </a:lnTo>
                  <a:lnTo>
                    <a:pt x="2813685" y="526732"/>
                  </a:lnTo>
                  <a:lnTo>
                    <a:pt x="2850833" y="559117"/>
                  </a:lnTo>
                  <a:lnTo>
                    <a:pt x="2888933" y="590550"/>
                  </a:lnTo>
                  <a:lnTo>
                    <a:pt x="2927033" y="621030"/>
                  </a:lnTo>
                  <a:lnTo>
                    <a:pt x="2966085" y="651510"/>
                  </a:lnTo>
                  <a:lnTo>
                    <a:pt x="3006090" y="680084"/>
                  </a:lnTo>
                  <a:lnTo>
                    <a:pt x="3046095" y="708660"/>
                  </a:lnTo>
                  <a:lnTo>
                    <a:pt x="3087053" y="735330"/>
                  </a:lnTo>
                  <a:lnTo>
                    <a:pt x="3128963" y="762000"/>
                  </a:lnTo>
                  <a:lnTo>
                    <a:pt x="3170873" y="787717"/>
                  </a:lnTo>
                  <a:lnTo>
                    <a:pt x="3213735" y="811530"/>
                  </a:lnTo>
                  <a:lnTo>
                    <a:pt x="3256597" y="835342"/>
                  </a:lnTo>
                  <a:lnTo>
                    <a:pt x="3300413" y="858202"/>
                  </a:lnTo>
                  <a:lnTo>
                    <a:pt x="3344227" y="880110"/>
                  </a:lnTo>
                  <a:lnTo>
                    <a:pt x="3388995" y="901064"/>
                  </a:lnTo>
                  <a:lnTo>
                    <a:pt x="3433763" y="921067"/>
                  </a:lnTo>
                  <a:lnTo>
                    <a:pt x="3479483" y="940117"/>
                  </a:lnTo>
                  <a:lnTo>
                    <a:pt x="3525203" y="957262"/>
                  </a:lnTo>
                  <a:lnTo>
                    <a:pt x="3571875" y="974407"/>
                  </a:lnTo>
                  <a:lnTo>
                    <a:pt x="3617595" y="990600"/>
                  </a:lnTo>
                  <a:lnTo>
                    <a:pt x="3665220" y="1005840"/>
                  </a:lnTo>
                  <a:lnTo>
                    <a:pt x="3711893" y="1019174"/>
                  </a:lnTo>
                  <a:lnTo>
                    <a:pt x="3759517" y="1032510"/>
                  </a:lnTo>
                  <a:lnTo>
                    <a:pt x="3807143" y="1044892"/>
                  </a:lnTo>
                  <a:lnTo>
                    <a:pt x="3854767" y="1055370"/>
                  </a:lnTo>
                  <a:lnTo>
                    <a:pt x="3903345" y="1064894"/>
                  </a:lnTo>
                  <a:lnTo>
                    <a:pt x="3951923" y="1074420"/>
                  </a:lnTo>
                  <a:lnTo>
                    <a:pt x="4000500" y="1082040"/>
                  </a:lnTo>
                  <a:lnTo>
                    <a:pt x="4049077" y="1088707"/>
                  </a:lnTo>
                  <a:lnTo>
                    <a:pt x="4097655" y="1094422"/>
                  </a:lnTo>
                  <a:lnTo>
                    <a:pt x="4147185" y="1099184"/>
                  </a:lnTo>
                  <a:lnTo>
                    <a:pt x="4195763" y="1102994"/>
                  </a:lnTo>
                  <a:lnTo>
                    <a:pt x="4245293" y="1105852"/>
                  </a:lnTo>
                  <a:lnTo>
                    <a:pt x="4248150" y="1105852"/>
                  </a:lnTo>
                  <a:close/>
                </a:path>
              </a:pathLst>
            </a:custGeom>
            <a:solidFill>
              <a:srgbClr val="E9E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nut-pale-2"/>
            <p:cNvSpPr/>
            <p:nvPr/>
          </p:nvSpPr>
          <p:spPr>
            <a:xfrm>
              <a:off x="942975" y="7594282"/>
              <a:ext cx="2321243" cy="4756786"/>
            </a:xfrm>
            <a:custGeom>
              <a:avLst/>
              <a:gdLst/>
              <a:ahLst/>
              <a:cxnLst/>
              <a:rect l="l" t="t" r="r" b="b"/>
              <a:pathLst>
                <a:path w="2321243" h="4756786">
                  <a:moveTo>
                    <a:pt x="0" y="0"/>
                  </a:moveTo>
                  <a:lnTo>
                    <a:pt x="2321243" y="1271588"/>
                  </a:lnTo>
                  <a:lnTo>
                    <a:pt x="2299335" y="1313498"/>
                  </a:lnTo>
                  <a:lnTo>
                    <a:pt x="2277427" y="1356360"/>
                  </a:lnTo>
                  <a:lnTo>
                    <a:pt x="2256473" y="1400176"/>
                  </a:lnTo>
                  <a:lnTo>
                    <a:pt x="2236470" y="1443990"/>
                  </a:lnTo>
                  <a:lnTo>
                    <a:pt x="2217420" y="1487806"/>
                  </a:lnTo>
                  <a:lnTo>
                    <a:pt x="2199323" y="1532573"/>
                  </a:lnTo>
                  <a:lnTo>
                    <a:pt x="2182177" y="1577340"/>
                  </a:lnTo>
                  <a:lnTo>
                    <a:pt x="2165985" y="1623060"/>
                  </a:lnTo>
                  <a:lnTo>
                    <a:pt x="2150745" y="1668780"/>
                  </a:lnTo>
                  <a:lnTo>
                    <a:pt x="2136457" y="1714500"/>
                  </a:lnTo>
                  <a:lnTo>
                    <a:pt x="2123123" y="1760220"/>
                  </a:lnTo>
                  <a:lnTo>
                    <a:pt x="2110740" y="1806893"/>
                  </a:lnTo>
                  <a:lnTo>
                    <a:pt x="2098357" y="1853566"/>
                  </a:lnTo>
                  <a:lnTo>
                    <a:pt x="2088833" y="1901190"/>
                  </a:lnTo>
                  <a:lnTo>
                    <a:pt x="2079307" y="1947863"/>
                  </a:lnTo>
                  <a:lnTo>
                    <a:pt x="2070735" y="1995488"/>
                  </a:lnTo>
                  <a:lnTo>
                    <a:pt x="2063115" y="2043113"/>
                  </a:lnTo>
                  <a:lnTo>
                    <a:pt x="2056447" y="2090738"/>
                  </a:lnTo>
                  <a:lnTo>
                    <a:pt x="2050733" y="2138363"/>
                  </a:lnTo>
                  <a:lnTo>
                    <a:pt x="2045970" y="2185988"/>
                  </a:lnTo>
                  <a:lnTo>
                    <a:pt x="2043113" y="2234566"/>
                  </a:lnTo>
                  <a:lnTo>
                    <a:pt x="2040255" y="2282190"/>
                  </a:lnTo>
                  <a:lnTo>
                    <a:pt x="2039303" y="2329816"/>
                  </a:lnTo>
                  <a:lnTo>
                    <a:pt x="2038350" y="2378393"/>
                  </a:lnTo>
                  <a:lnTo>
                    <a:pt x="2039303" y="2426970"/>
                  </a:lnTo>
                  <a:lnTo>
                    <a:pt x="2040255" y="2474596"/>
                  </a:lnTo>
                  <a:lnTo>
                    <a:pt x="2043113" y="2522220"/>
                  </a:lnTo>
                  <a:lnTo>
                    <a:pt x="2045970" y="2570798"/>
                  </a:lnTo>
                  <a:lnTo>
                    <a:pt x="2050733" y="2618423"/>
                  </a:lnTo>
                  <a:lnTo>
                    <a:pt x="2056447" y="2666048"/>
                  </a:lnTo>
                  <a:lnTo>
                    <a:pt x="2063115" y="2713673"/>
                  </a:lnTo>
                  <a:lnTo>
                    <a:pt x="2070735" y="2761298"/>
                  </a:lnTo>
                  <a:lnTo>
                    <a:pt x="2079307" y="2808923"/>
                  </a:lnTo>
                  <a:lnTo>
                    <a:pt x="2088833" y="2855596"/>
                  </a:lnTo>
                  <a:lnTo>
                    <a:pt x="2098357" y="2903220"/>
                  </a:lnTo>
                  <a:lnTo>
                    <a:pt x="2110740" y="2949893"/>
                  </a:lnTo>
                  <a:lnTo>
                    <a:pt x="2123123" y="2996566"/>
                  </a:lnTo>
                  <a:lnTo>
                    <a:pt x="2136457" y="3042286"/>
                  </a:lnTo>
                  <a:lnTo>
                    <a:pt x="2150745" y="3088006"/>
                  </a:lnTo>
                  <a:lnTo>
                    <a:pt x="2165985" y="3133726"/>
                  </a:lnTo>
                  <a:lnTo>
                    <a:pt x="2182177" y="3179446"/>
                  </a:lnTo>
                  <a:lnTo>
                    <a:pt x="2199323" y="3224213"/>
                  </a:lnTo>
                  <a:lnTo>
                    <a:pt x="2217420" y="3268980"/>
                  </a:lnTo>
                  <a:lnTo>
                    <a:pt x="2236470" y="3312796"/>
                  </a:lnTo>
                  <a:lnTo>
                    <a:pt x="2256473" y="3356610"/>
                  </a:lnTo>
                  <a:lnTo>
                    <a:pt x="2277427" y="3400426"/>
                  </a:lnTo>
                  <a:lnTo>
                    <a:pt x="2299335" y="3443288"/>
                  </a:lnTo>
                  <a:lnTo>
                    <a:pt x="2321243" y="3485198"/>
                  </a:lnTo>
                  <a:lnTo>
                    <a:pt x="0" y="4756786"/>
                  </a:lnTo>
                  <a:close/>
                </a:path>
              </a:pathLst>
            </a:custGeom>
            <a:solidFill>
              <a:srgbClr val="E9E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nut-pale-3"/>
            <p:cNvSpPr/>
            <p:nvPr/>
          </p:nvSpPr>
          <p:spPr>
            <a:xfrm>
              <a:off x="942975" y="3972878"/>
              <a:ext cx="4248150" cy="4802504"/>
            </a:xfrm>
            <a:custGeom>
              <a:avLst/>
              <a:gdLst/>
              <a:ahLst/>
              <a:cxnLst/>
              <a:rect l="l" t="t" r="r" b="b"/>
              <a:pathLst>
                <a:path w="4248150" h="4802504">
                  <a:moveTo>
                    <a:pt x="0" y="1859280"/>
                  </a:moveTo>
                  <a:lnTo>
                    <a:pt x="81915" y="1775460"/>
                  </a:lnTo>
                  <a:lnTo>
                    <a:pt x="173355" y="1684972"/>
                  </a:lnTo>
                  <a:lnTo>
                    <a:pt x="265747" y="1597342"/>
                  </a:lnTo>
                  <a:lnTo>
                    <a:pt x="360997" y="1510664"/>
                  </a:lnTo>
                  <a:lnTo>
                    <a:pt x="458153" y="1426844"/>
                  </a:lnTo>
                  <a:lnTo>
                    <a:pt x="556260" y="1344930"/>
                  </a:lnTo>
                  <a:lnTo>
                    <a:pt x="656273" y="1264920"/>
                  </a:lnTo>
                  <a:lnTo>
                    <a:pt x="758190" y="1187767"/>
                  </a:lnTo>
                  <a:lnTo>
                    <a:pt x="862013" y="1112520"/>
                  </a:lnTo>
                  <a:lnTo>
                    <a:pt x="966787" y="1039177"/>
                  </a:lnTo>
                  <a:lnTo>
                    <a:pt x="1073467" y="967740"/>
                  </a:lnTo>
                  <a:lnTo>
                    <a:pt x="1182053" y="899160"/>
                  </a:lnTo>
                  <a:lnTo>
                    <a:pt x="1291590" y="833437"/>
                  </a:lnTo>
                  <a:lnTo>
                    <a:pt x="1402080" y="769620"/>
                  </a:lnTo>
                  <a:lnTo>
                    <a:pt x="1514475" y="707707"/>
                  </a:lnTo>
                  <a:lnTo>
                    <a:pt x="1627823" y="648652"/>
                  </a:lnTo>
                  <a:lnTo>
                    <a:pt x="1743075" y="591502"/>
                  </a:lnTo>
                  <a:lnTo>
                    <a:pt x="1859280" y="537210"/>
                  </a:lnTo>
                  <a:lnTo>
                    <a:pt x="1976437" y="485774"/>
                  </a:lnTo>
                  <a:lnTo>
                    <a:pt x="2094547" y="436244"/>
                  </a:lnTo>
                  <a:lnTo>
                    <a:pt x="2213610" y="389572"/>
                  </a:lnTo>
                  <a:lnTo>
                    <a:pt x="2333625" y="345757"/>
                  </a:lnTo>
                  <a:lnTo>
                    <a:pt x="2454593" y="303847"/>
                  </a:lnTo>
                  <a:lnTo>
                    <a:pt x="2576513" y="264794"/>
                  </a:lnTo>
                  <a:lnTo>
                    <a:pt x="2699385" y="228600"/>
                  </a:lnTo>
                  <a:lnTo>
                    <a:pt x="2823210" y="195262"/>
                  </a:lnTo>
                  <a:lnTo>
                    <a:pt x="2947035" y="163830"/>
                  </a:lnTo>
                  <a:lnTo>
                    <a:pt x="3072765" y="135254"/>
                  </a:lnTo>
                  <a:lnTo>
                    <a:pt x="3197543" y="109537"/>
                  </a:lnTo>
                  <a:lnTo>
                    <a:pt x="3323273" y="86677"/>
                  </a:lnTo>
                  <a:lnTo>
                    <a:pt x="3449955" y="65722"/>
                  </a:lnTo>
                  <a:lnTo>
                    <a:pt x="3576637" y="48577"/>
                  </a:lnTo>
                  <a:lnTo>
                    <a:pt x="3704273" y="33337"/>
                  </a:lnTo>
                  <a:lnTo>
                    <a:pt x="3831907" y="20954"/>
                  </a:lnTo>
                  <a:lnTo>
                    <a:pt x="3959543" y="11430"/>
                  </a:lnTo>
                  <a:lnTo>
                    <a:pt x="4087177" y="4762"/>
                  </a:lnTo>
                  <a:lnTo>
                    <a:pt x="4215765" y="0"/>
                  </a:lnTo>
                  <a:lnTo>
                    <a:pt x="4248150" y="0"/>
                  </a:lnTo>
                  <a:lnTo>
                    <a:pt x="4248150" y="3696652"/>
                  </a:lnTo>
                  <a:lnTo>
                    <a:pt x="4245293" y="3696652"/>
                  </a:lnTo>
                  <a:lnTo>
                    <a:pt x="4195763" y="3699510"/>
                  </a:lnTo>
                  <a:lnTo>
                    <a:pt x="4147185" y="3703320"/>
                  </a:lnTo>
                  <a:lnTo>
                    <a:pt x="4097655" y="3708082"/>
                  </a:lnTo>
                  <a:lnTo>
                    <a:pt x="4049077" y="3713797"/>
                  </a:lnTo>
                  <a:lnTo>
                    <a:pt x="4000500" y="3720464"/>
                  </a:lnTo>
                  <a:lnTo>
                    <a:pt x="3951923" y="3728084"/>
                  </a:lnTo>
                  <a:lnTo>
                    <a:pt x="3903345" y="3737610"/>
                  </a:lnTo>
                  <a:lnTo>
                    <a:pt x="3854767" y="3747134"/>
                  </a:lnTo>
                  <a:lnTo>
                    <a:pt x="3807143" y="3757612"/>
                  </a:lnTo>
                  <a:lnTo>
                    <a:pt x="3759517" y="3769994"/>
                  </a:lnTo>
                  <a:lnTo>
                    <a:pt x="3711893" y="3783330"/>
                  </a:lnTo>
                  <a:lnTo>
                    <a:pt x="3665220" y="3796664"/>
                  </a:lnTo>
                  <a:lnTo>
                    <a:pt x="3617595" y="3811904"/>
                  </a:lnTo>
                  <a:lnTo>
                    <a:pt x="3571875" y="3828097"/>
                  </a:lnTo>
                  <a:lnTo>
                    <a:pt x="3525203" y="3845242"/>
                  </a:lnTo>
                  <a:lnTo>
                    <a:pt x="3479483" y="3862387"/>
                  </a:lnTo>
                  <a:lnTo>
                    <a:pt x="3433763" y="3881437"/>
                  </a:lnTo>
                  <a:lnTo>
                    <a:pt x="3388995" y="3901440"/>
                  </a:lnTo>
                  <a:lnTo>
                    <a:pt x="3344227" y="3922394"/>
                  </a:lnTo>
                  <a:lnTo>
                    <a:pt x="3300413" y="3944302"/>
                  </a:lnTo>
                  <a:lnTo>
                    <a:pt x="3256597" y="3967162"/>
                  </a:lnTo>
                  <a:lnTo>
                    <a:pt x="3213735" y="3990974"/>
                  </a:lnTo>
                  <a:lnTo>
                    <a:pt x="3170873" y="4014787"/>
                  </a:lnTo>
                  <a:lnTo>
                    <a:pt x="3128963" y="4040504"/>
                  </a:lnTo>
                  <a:lnTo>
                    <a:pt x="3087053" y="4067174"/>
                  </a:lnTo>
                  <a:lnTo>
                    <a:pt x="3046095" y="4093844"/>
                  </a:lnTo>
                  <a:lnTo>
                    <a:pt x="3006090" y="4122420"/>
                  </a:lnTo>
                  <a:lnTo>
                    <a:pt x="2966085" y="4150994"/>
                  </a:lnTo>
                  <a:lnTo>
                    <a:pt x="2927033" y="4181474"/>
                  </a:lnTo>
                  <a:lnTo>
                    <a:pt x="2888933" y="4211954"/>
                  </a:lnTo>
                  <a:lnTo>
                    <a:pt x="2850833" y="4243387"/>
                  </a:lnTo>
                  <a:lnTo>
                    <a:pt x="2813685" y="4275772"/>
                  </a:lnTo>
                  <a:lnTo>
                    <a:pt x="2777490" y="4308157"/>
                  </a:lnTo>
                  <a:lnTo>
                    <a:pt x="2741295" y="4342447"/>
                  </a:lnTo>
                  <a:lnTo>
                    <a:pt x="2706053" y="4376737"/>
                  </a:lnTo>
                  <a:lnTo>
                    <a:pt x="2671763" y="4411980"/>
                  </a:lnTo>
                  <a:lnTo>
                    <a:pt x="2638425" y="4448174"/>
                  </a:lnTo>
                  <a:lnTo>
                    <a:pt x="2606040" y="4485322"/>
                  </a:lnTo>
                  <a:lnTo>
                    <a:pt x="2573655" y="4522470"/>
                  </a:lnTo>
                  <a:lnTo>
                    <a:pt x="2543175" y="4560570"/>
                  </a:lnTo>
                  <a:lnTo>
                    <a:pt x="2512695" y="4599622"/>
                  </a:lnTo>
                  <a:lnTo>
                    <a:pt x="2483167" y="4638674"/>
                  </a:lnTo>
                  <a:lnTo>
                    <a:pt x="2454593" y="4678680"/>
                  </a:lnTo>
                  <a:lnTo>
                    <a:pt x="2426970" y="4719637"/>
                  </a:lnTo>
                  <a:lnTo>
                    <a:pt x="2400300" y="4760594"/>
                  </a:lnTo>
                  <a:lnTo>
                    <a:pt x="2373630" y="4802504"/>
                  </a:lnTo>
                  <a:lnTo>
                    <a:pt x="0" y="3358514"/>
                  </a:lnTo>
                  <a:close/>
                </a:path>
              </a:pathLst>
            </a:custGeom>
            <a:solidFill>
              <a:srgbClr val="E9E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nut-seg-focus"/>
            <p:cNvSpPr/>
            <p:nvPr/>
          </p:nvSpPr>
          <p:spPr>
            <a:xfrm>
              <a:off x="5286375" y="3971925"/>
              <a:ext cx="5133023" cy="4806315"/>
            </a:xfrm>
            <a:custGeom>
              <a:avLst/>
              <a:gdLst/>
              <a:ahLst/>
              <a:cxnLst/>
              <a:rect l="l" t="t" r="r" b="b"/>
              <a:pathLst>
                <a:path w="5133023" h="4806315">
                  <a:moveTo>
                    <a:pt x="0" y="0"/>
                  </a:moveTo>
                  <a:lnTo>
                    <a:pt x="128587" y="953"/>
                  </a:lnTo>
                  <a:lnTo>
                    <a:pt x="256223" y="5715"/>
                  </a:lnTo>
                  <a:lnTo>
                    <a:pt x="384810" y="12383"/>
                  </a:lnTo>
                  <a:lnTo>
                    <a:pt x="512445" y="21907"/>
                  </a:lnTo>
                  <a:lnTo>
                    <a:pt x="640080" y="34290"/>
                  </a:lnTo>
                  <a:lnTo>
                    <a:pt x="767715" y="49530"/>
                  </a:lnTo>
                  <a:lnTo>
                    <a:pt x="894397" y="66675"/>
                  </a:lnTo>
                  <a:lnTo>
                    <a:pt x="1021080" y="87630"/>
                  </a:lnTo>
                  <a:lnTo>
                    <a:pt x="1147763" y="110490"/>
                  </a:lnTo>
                  <a:lnTo>
                    <a:pt x="1273493" y="136207"/>
                  </a:lnTo>
                  <a:lnTo>
                    <a:pt x="1398270" y="164783"/>
                  </a:lnTo>
                  <a:lnTo>
                    <a:pt x="1523047" y="196215"/>
                  </a:lnTo>
                  <a:lnTo>
                    <a:pt x="1646873" y="230505"/>
                  </a:lnTo>
                  <a:lnTo>
                    <a:pt x="1769745" y="266700"/>
                  </a:lnTo>
                  <a:lnTo>
                    <a:pt x="1891665" y="305753"/>
                  </a:lnTo>
                  <a:lnTo>
                    <a:pt x="2012633" y="347663"/>
                  </a:lnTo>
                  <a:lnTo>
                    <a:pt x="2133600" y="392430"/>
                  </a:lnTo>
                  <a:lnTo>
                    <a:pt x="2252663" y="439103"/>
                  </a:lnTo>
                  <a:lnTo>
                    <a:pt x="2370773" y="488633"/>
                  </a:lnTo>
                  <a:lnTo>
                    <a:pt x="2488883" y="540067"/>
                  </a:lnTo>
                  <a:lnTo>
                    <a:pt x="2605087" y="594360"/>
                  </a:lnTo>
                  <a:lnTo>
                    <a:pt x="2719387" y="651510"/>
                  </a:lnTo>
                  <a:lnTo>
                    <a:pt x="2833687" y="710565"/>
                  </a:lnTo>
                  <a:lnTo>
                    <a:pt x="2946083" y="772477"/>
                  </a:lnTo>
                  <a:lnTo>
                    <a:pt x="3056573" y="837247"/>
                  </a:lnTo>
                  <a:lnTo>
                    <a:pt x="3166110" y="903923"/>
                  </a:lnTo>
                  <a:lnTo>
                    <a:pt x="3274695" y="972503"/>
                  </a:lnTo>
                  <a:lnTo>
                    <a:pt x="3381375" y="1043940"/>
                  </a:lnTo>
                  <a:lnTo>
                    <a:pt x="3487103" y="1117283"/>
                  </a:lnTo>
                  <a:lnTo>
                    <a:pt x="3589973" y="1192530"/>
                  </a:lnTo>
                  <a:lnTo>
                    <a:pt x="3692843" y="1270635"/>
                  </a:lnTo>
                  <a:lnTo>
                    <a:pt x="3792855" y="1350645"/>
                  </a:lnTo>
                  <a:lnTo>
                    <a:pt x="3890963" y="1432560"/>
                  </a:lnTo>
                  <a:lnTo>
                    <a:pt x="3988117" y="1517333"/>
                  </a:lnTo>
                  <a:lnTo>
                    <a:pt x="4083367" y="1603057"/>
                  </a:lnTo>
                  <a:lnTo>
                    <a:pt x="4175760" y="1691640"/>
                  </a:lnTo>
                  <a:lnTo>
                    <a:pt x="4267200" y="1782127"/>
                  </a:lnTo>
                  <a:lnTo>
                    <a:pt x="4356735" y="1873567"/>
                  </a:lnTo>
                  <a:lnTo>
                    <a:pt x="4443413" y="1967865"/>
                  </a:lnTo>
                  <a:lnTo>
                    <a:pt x="4529137" y="2064067"/>
                  </a:lnTo>
                  <a:lnTo>
                    <a:pt x="4612005" y="2161223"/>
                  </a:lnTo>
                  <a:lnTo>
                    <a:pt x="4692967" y="2261235"/>
                  </a:lnTo>
                  <a:lnTo>
                    <a:pt x="4772025" y="2362200"/>
                  </a:lnTo>
                  <a:lnTo>
                    <a:pt x="4848225" y="2465070"/>
                  </a:lnTo>
                  <a:lnTo>
                    <a:pt x="4923473" y="2569845"/>
                  </a:lnTo>
                  <a:lnTo>
                    <a:pt x="4994910" y="2675573"/>
                  </a:lnTo>
                  <a:lnTo>
                    <a:pt x="5065395" y="2783205"/>
                  </a:lnTo>
                  <a:lnTo>
                    <a:pt x="5133023" y="2891790"/>
                  </a:lnTo>
                  <a:lnTo>
                    <a:pt x="1971675" y="4806315"/>
                  </a:lnTo>
                  <a:lnTo>
                    <a:pt x="1945957" y="4764405"/>
                  </a:lnTo>
                  <a:lnTo>
                    <a:pt x="1918335" y="4723447"/>
                  </a:lnTo>
                  <a:lnTo>
                    <a:pt x="1890713" y="4682490"/>
                  </a:lnTo>
                  <a:lnTo>
                    <a:pt x="1862137" y="4642485"/>
                  </a:lnTo>
                  <a:lnTo>
                    <a:pt x="1832610" y="4603433"/>
                  </a:lnTo>
                  <a:lnTo>
                    <a:pt x="1803083" y="4564380"/>
                  </a:lnTo>
                  <a:lnTo>
                    <a:pt x="1771650" y="4526280"/>
                  </a:lnTo>
                  <a:lnTo>
                    <a:pt x="1739265" y="4488180"/>
                  </a:lnTo>
                  <a:lnTo>
                    <a:pt x="1706880" y="4451985"/>
                  </a:lnTo>
                  <a:lnTo>
                    <a:pt x="1673543" y="4415790"/>
                  </a:lnTo>
                  <a:lnTo>
                    <a:pt x="1639253" y="4380547"/>
                  </a:lnTo>
                  <a:lnTo>
                    <a:pt x="1604010" y="4345305"/>
                  </a:lnTo>
                  <a:lnTo>
                    <a:pt x="1568767" y="4311967"/>
                  </a:lnTo>
                  <a:lnTo>
                    <a:pt x="1531620" y="4278630"/>
                  </a:lnTo>
                  <a:lnTo>
                    <a:pt x="1494473" y="4246245"/>
                  </a:lnTo>
                  <a:lnTo>
                    <a:pt x="1457325" y="4214813"/>
                  </a:lnTo>
                  <a:lnTo>
                    <a:pt x="1418273" y="4183380"/>
                  </a:lnTo>
                  <a:lnTo>
                    <a:pt x="1379220" y="4153853"/>
                  </a:lnTo>
                  <a:lnTo>
                    <a:pt x="1339215" y="4124325"/>
                  </a:lnTo>
                  <a:lnTo>
                    <a:pt x="1299210" y="4096703"/>
                  </a:lnTo>
                  <a:lnTo>
                    <a:pt x="1258253" y="4069080"/>
                  </a:lnTo>
                  <a:lnTo>
                    <a:pt x="1216343" y="4042410"/>
                  </a:lnTo>
                  <a:lnTo>
                    <a:pt x="1174433" y="4017645"/>
                  </a:lnTo>
                  <a:lnTo>
                    <a:pt x="1131570" y="3992880"/>
                  </a:lnTo>
                  <a:lnTo>
                    <a:pt x="1088707" y="3969067"/>
                  </a:lnTo>
                  <a:lnTo>
                    <a:pt x="1044893" y="3946207"/>
                  </a:lnTo>
                  <a:lnTo>
                    <a:pt x="1000125" y="3924300"/>
                  </a:lnTo>
                  <a:lnTo>
                    <a:pt x="956310" y="3903345"/>
                  </a:lnTo>
                  <a:lnTo>
                    <a:pt x="910590" y="3883343"/>
                  </a:lnTo>
                  <a:lnTo>
                    <a:pt x="865823" y="3864293"/>
                  </a:lnTo>
                  <a:lnTo>
                    <a:pt x="819150" y="3846195"/>
                  </a:lnTo>
                  <a:lnTo>
                    <a:pt x="773430" y="3829050"/>
                  </a:lnTo>
                  <a:lnTo>
                    <a:pt x="726757" y="3812857"/>
                  </a:lnTo>
                  <a:lnTo>
                    <a:pt x="680085" y="3798570"/>
                  </a:lnTo>
                  <a:lnTo>
                    <a:pt x="632460" y="3784283"/>
                  </a:lnTo>
                  <a:lnTo>
                    <a:pt x="584835" y="3770947"/>
                  </a:lnTo>
                  <a:lnTo>
                    <a:pt x="537210" y="3759517"/>
                  </a:lnTo>
                  <a:lnTo>
                    <a:pt x="488633" y="3748087"/>
                  </a:lnTo>
                  <a:lnTo>
                    <a:pt x="441007" y="3738563"/>
                  </a:lnTo>
                  <a:lnTo>
                    <a:pt x="392430" y="3729037"/>
                  </a:lnTo>
                  <a:lnTo>
                    <a:pt x="343853" y="3721417"/>
                  </a:lnTo>
                  <a:lnTo>
                    <a:pt x="295275" y="3714750"/>
                  </a:lnTo>
                  <a:lnTo>
                    <a:pt x="245745" y="3709035"/>
                  </a:lnTo>
                  <a:lnTo>
                    <a:pt x="197167" y="3704273"/>
                  </a:lnTo>
                  <a:lnTo>
                    <a:pt x="147637" y="3700463"/>
                  </a:lnTo>
                  <a:lnTo>
                    <a:pt x="98107" y="3697605"/>
                  </a:lnTo>
                  <a:lnTo>
                    <a:pt x="49530" y="3696653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nut-seg-confirm"/>
            <p:cNvSpPr/>
            <p:nvPr/>
          </p:nvSpPr>
          <p:spPr>
            <a:xfrm>
              <a:off x="7306628" y="7081838"/>
              <a:ext cx="3980497" cy="5781674"/>
            </a:xfrm>
            <a:custGeom>
              <a:avLst/>
              <a:gdLst/>
              <a:ahLst/>
              <a:cxnLst/>
              <a:rect l="l" t="t" r="r" b="b"/>
              <a:pathLst>
                <a:path w="3980497" h="5781674">
                  <a:moveTo>
                    <a:pt x="3238500" y="0"/>
                  </a:moveTo>
                  <a:lnTo>
                    <a:pt x="3297554" y="110490"/>
                  </a:lnTo>
                  <a:lnTo>
                    <a:pt x="3354704" y="222884"/>
                  </a:lnTo>
                  <a:lnTo>
                    <a:pt x="3408997" y="336232"/>
                  </a:lnTo>
                  <a:lnTo>
                    <a:pt x="3461384" y="450532"/>
                  </a:lnTo>
                  <a:lnTo>
                    <a:pt x="3511867" y="565784"/>
                  </a:lnTo>
                  <a:lnTo>
                    <a:pt x="3559492" y="681990"/>
                  </a:lnTo>
                  <a:lnTo>
                    <a:pt x="3604260" y="799147"/>
                  </a:lnTo>
                  <a:lnTo>
                    <a:pt x="3647122" y="917257"/>
                  </a:lnTo>
                  <a:lnTo>
                    <a:pt x="3687127" y="1036320"/>
                  </a:lnTo>
                  <a:lnTo>
                    <a:pt x="3724274" y="1156334"/>
                  </a:lnTo>
                  <a:lnTo>
                    <a:pt x="3759517" y="1277302"/>
                  </a:lnTo>
                  <a:lnTo>
                    <a:pt x="3791902" y="1398270"/>
                  </a:lnTo>
                  <a:lnTo>
                    <a:pt x="3822382" y="1520190"/>
                  </a:lnTo>
                  <a:lnTo>
                    <a:pt x="3849052" y="1643062"/>
                  </a:lnTo>
                  <a:lnTo>
                    <a:pt x="3873817" y="1765934"/>
                  </a:lnTo>
                  <a:lnTo>
                    <a:pt x="3896677" y="1889760"/>
                  </a:lnTo>
                  <a:lnTo>
                    <a:pt x="3915727" y="2014537"/>
                  </a:lnTo>
                  <a:lnTo>
                    <a:pt x="3932872" y="2138362"/>
                  </a:lnTo>
                  <a:lnTo>
                    <a:pt x="3947160" y="2263140"/>
                  </a:lnTo>
                  <a:lnTo>
                    <a:pt x="3959542" y="2388870"/>
                  </a:lnTo>
                  <a:lnTo>
                    <a:pt x="3969067" y="2513647"/>
                  </a:lnTo>
                  <a:lnTo>
                    <a:pt x="3974782" y="2639377"/>
                  </a:lnTo>
                  <a:lnTo>
                    <a:pt x="3979544" y="2765107"/>
                  </a:lnTo>
                  <a:lnTo>
                    <a:pt x="3980497" y="2890837"/>
                  </a:lnTo>
                  <a:lnTo>
                    <a:pt x="3979544" y="3016567"/>
                  </a:lnTo>
                  <a:lnTo>
                    <a:pt x="3974782" y="3142297"/>
                  </a:lnTo>
                  <a:lnTo>
                    <a:pt x="3969067" y="3268027"/>
                  </a:lnTo>
                  <a:lnTo>
                    <a:pt x="3959542" y="3392804"/>
                  </a:lnTo>
                  <a:lnTo>
                    <a:pt x="3947160" y="3518534"/>
                  </a:lnTo>
                  <a:lnTo>
                    <a:pt x="3932872" y="3643312"/>
                  </a:lnTo>
                  <a:lnTo>
                    <a:pt x="3915727" y="3767137"/>
                  </a:lnTo>
                  <a:lnTo>
                    <a:pt x="3896677" y="3891914"/>
                  </a:lnTo>
                  <a:lnTo>
                    <a:pt x="3873817" y="4015740"/>
                  </a:lnTo>
                  <a:lnTo>
                    <a:pt x="3849052" y="4138612"/>
                  </a:lnTo>
                  <a:lnTo>
                    <a:pt x="3822382" y="4261484"/>
                  </a:lnTo>
                  <a:lnTo>
                    <a:pt x="3791902" y="4383404"/>
                  </a:lnTo>
                  <a:lnTo>
                    <a:pt x="3759517" y="4504372"/>
                  </a:lnTo>
                  <a:lnTo>
                    <a:pt x="3724274" y="4625340"/>
                  </a:lnTo>
                  <a:lnTo>
                    <a:pt x="3687127" y="4745354"/>
                  </a:lnTo>
                  <a:lnTo>
                    <a:pt x="3647122" y="4864417"/>
                  </a:lnTo>
                  <a:lnTo>
                    <a:pt x="3604260" y="4982527"/>
                  </a:lnTo>
                  <a:lnTo>
                    <a:pt x="3559492" y="5099684"/>
                  </a:lnTo>
                  <a:lnTo>
                    <a:pt x="3511867" y="5215890"/>
                  </a:lnTo>
                  <a:lnTo>
                    <a:pt x="3461384" y="5331142"/>
                  </a:lnTo>
                  <a:lnTo>
                    <a:pt x="3408997" y="5445442"/>
                  </a:lnTo>
                  <a:lnTo>
                    <a:pt x="3354704" y="5558790"/>
                  </a:lnTo>
                  <a:lnTo>
                    <a:pt x="3297554" y="5671184"/>
                  </a:lnTo>
                  <a:lnTo>
                    <a:pt x="3238500" y="5781674"/>
                  </a:lnTo>
                  <a:lnTo>
                    <a:pt x="0" y="4001452"/>
                  </a:lnTo>
                  <a:lnTo>
                    <a:pt x="22860" y="3958590"/>
                  </a:lnTo>
                  <a:lnTo>
                    <a:pt x="44767" y="3915727"/>
                  </a:lnTo>
                  <a:lnTo>
                    <a:pt x="65722" y="3871912"/>
                  </a:lnTo>
                  <a:lnTo>
                    <a:pt x="85724" y="3828097"/>
                  </a:lnTo>
                  <a:lnTo>
                    <a:pt x="104774" y="3784282"/>
                  </a:lnTo>
                  <a:lnTo>
                    <a:pt x="122872" y="3739514"/>
                  </a:lnTo>
                  <a:lnTo>
                    <a:pt x="140017" y="3694747"/>
                  </a:lnTo>
                  <a:lnTo>
                    <a:pt x="156210" y="3649027"/>
                  </a:lnTo>
                  <a:lnTo>
                    <a:pt x="172402" y="3603307"/>
                  </a:lnTo>
                  <a:lnTo>
                    <a:pt x="186690" y="3556634"/>
                  </a:lnTo>
                  <a:lnTo>
                    <a:pt x="200024" y="3510914"/>
                  </a:lnTo>
                  <a:lnTo>
                    <a:pt x="212407" y="3464242"/>
                  </a:lnTo>
                  <a:lnTo>
                    <a:pt x="223837" y="3417570"/>
                  </a:lnTo>
                  <a:lnTo>
                    <a:pt x="234314" y="3369944"/>
                  </a:lnTo>
                  <a:lnTo>
                    <a:pt x="243840" y="3322320"/>
                  </a:lnTo>
                  <a:lnTo>
                    <a:pt x="252412" y="3275647"/>
                  </a:lnTo>
                  <a:lnTo>
                    <a:pt x="260032" y="3228022"/>
                  </a:lnTo>
                  <a:lnTo>
                    <a:pt x="266700" y="3179444"/>
                  </a:lnTo>
                  <a:lnTo>
                    <a:pt x="272414" y="3131820"/>
                  </a:lnTo>
                  <a:lnTo>
                    <a:pt x="277177" y="3084194"/>
                  </a:lnTo>
                  <a:lnTo>
                    <a:pt x="280034" y="3035617"/>
                  </a:lnTo>
                  <a:lnTo>
                    <a:pt x="282892" y="2987040"/>
                  </a:lnTo>
                  <a:lnTo>
                    <a:pt x="283844" y="2939414"/>
                  </a:lnTo>
                  <a:lnTo>
                    <a:pt x="284797" y="2890837"/>
                  </a:lnTo>
                  <a:lnTo>
                    <a:pt x="283844" y="2842260"/>
                  </a:lnTo>
                  <a:lnTo>
                    <a:pt x="282892" y="2794634"/>
                  </a:lnTo>
                  <a:lnTo>
                    <a:pt x="280034" y="2746057"/>
                  </a:lnTo>
                  <a:lnTo>
                    <a:pt x="277177" y="2697480"/>
                  </a:lnTo>
                  <a:lnTo>
                    <a:pt x="272414" y="2649854"/>
                  </a:lnTo>
                  <a:lnTo>
                    <a:pt x="266700" y="2602230"/>
                  </a:lnTo>
                  <a:lnTo>
                    <a:pt x="260032" y="2553652"/>
                  </a:lnTo>
                  <a:lnTo>
                    <a:pt x="252412" y="2506027"/>
                  </a:lnTo>
                  <a:lnTo>
                    <a:pt x="243840" y="2459354"/>
                  </a:lnTo>
                  <a:lnTo>
                    <a:pt x="234314" y="2411730"/>
                  </a:lnTo>
                  <a:lnTo>
                    <a:pt x="223837" y="2364104"/>
                  </a:lnTo>
                  <a:lnTo>
                    <a:pt x="212407" y="2317432"/>
                  </a:lnTo>
                  <a:lnTo>
                    <a:pt x="200024" y="2270760"/>
                  </a:lnTo>
                  <a:lnTo>
                    <a:pt x="186690" y="2225040"/>
                  </a:lnTo>
                  <a:lnTo>
                    <a:pt x="172402" y="2178367"/>
                  </a:lnTo>
                  <a:lnTo>
                    <a:pt x="156210" y="2132647"/>
                  </a:lnTo>
                  <a:lnTo>
                    <a:pt x="140017" y="2086927"/>
                  </a:lnTo>
                  <a:lnTo>
                    <a:pt x="122872" y="2042160"/>
                  </a:lnTo>
                  <a:lnTo>
                    <a:pt x="104774" y="1997392"/>
                  </a:lnTo>
                  <a:lnTo>
                    <a:pt x="85724" y="1953577"/>
                  </a:lnTo>
                  <a:lnTo>
                    <a:pt x="65722" y="1909762"/>
                  </a:lnTo>
                  <a:lnTo>
                    <a:pt x="44767" y="1865947"/>
                  </a:lnTo>
                  <a:lnTo>
                    <a:pt x="22860" y="1823084"/>
                  </a:lnTo>
                  <a:lnTo>
                    <a:pt x="0" y="1780222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nut-seg-question"/>
            <p:cNvSpPr/>
            <p:nvPr/>
          </p:nvSpPr>
          <p:spPr>
            <a:xfrm>
              <a:off x="5286375" y="11167110"/>
              <a:ext cx="5133023" cy="4806315"/>
            </a:xfrm>
            <a:custGeom>
              <a:avLst/>
              <a:gdLst/>
              <a:ahLst/>
              <a:cxnLst/>
              <a:rect l="l" t="t" r="r" b="b"/>
              <a:pathLst>
                <a:path w="5133023" h="4806315">
                  <a:moveTo>
                    <a:pt x="5133023" y="1914525"/>
                  </a:moveTo>
                  <a:lnTo>
                    <a:pt x="5065395" y="2023110"/>
                  </a:lnTo>
                  <a:lnTo>
                    <a:pt x="4994910" y="2130742"/>
                  </a:lnTo>
                  <a:lnTo>
                    <a:pt x="4923473" y="2236470"/>
                  </a:lnTo>
                  <a:lnTo>
                    <a:pt x="4848225" y="2341245"/>
                  </a:lnTo>
                  <a:lnTo>
                    <a:pt x="4772025" y="2444115"/>
                  </a:lnTo>
                  <a:lnTo>
                    <a:pt x="4692967" y="2545080"/>
                  </a:lnTo>
                  <a:lnTo>
                    <a:pt x="4612005" y="2645092"/>
                  </a:lnTo>
                  <a:lnTo>
                    <a:pt x="4529137" y="2742248"/>
                  </a:lnTo>
                  <a:lnTo>
                    <a:pt x="4443413" y="2838450"/>
                  </a:lnTo>
                  <a:lnTo>
                    <a:pt x="4356735" y="2932748"/>
                  </a:lnTo>
                  <a:lnTo>
                    <a:pt x="4267200" y="3024188"/>
                  </a:lnTo>
                  <a:lnTo>
                    <a:pt x="4175760" y="3114675"/>
                  </a:lnTo>
                  <a:lnTo>
                    <a:pt x="4083367" y="3203258"/>
                  </a:lnTo>
                  <a:lnTo>
                    <a:pt x="3988117" y="3288982"/>
                  </a:lnTo>
                  <a:lnTo>
                    <a:pt x="3890963" y="3373755"/>
                  </a:lnTo>
                  <a:lnTo>
                    <a:pt x="3792855" y="3455670"/>
                  </a:lnTo>
                  <a:lnTo>
                    <a:pt x="3692843" y="3535680"/>
                  </a:lnTo>
                  <a:lnTo>
                    <a:pt x="3589973" y="3613785"/>
                  </a:lnTo>
                  <a:lnTo>
                    <a:pt x="3487103" y="3689032"/>
                  </a:lnTo>
                  <a:lnTo>
                    <a:pt x="3381375" y="3762375"/>
                  </a:lnTo>
                  <a:lnTo>
                    <a:pt x="3274695" y="3833812"/>
                  </a:lnTo>
                  <a:lnTo>
                    <a:pt x="3166110" y="3902392"/>
                  </a:lnTo>
                  <a:lnTo>
                    <a:pt x="3056573" y="3969068"/>
                  </a:lnTo>
                  <a:lnTo>
                    <a:pt x="2946083" y="4033838"/>
                  </a:lnTo>
                  <a:lnTo>
                    <a:pt x="2833687" y="4095750"/>
                  </a:lnTo>
                  <a:lnTo>
                    <a:pt x="2719387" y="4154805"/>
                  </a:lnTo>
                  <a:lnTo>
                    <a:pt x="2605087" y="4211955"/>
                  </a:lnTo>
                  <a:lnTo>
                    <a:pt x="2488883" y="4266248"/>
                  </a:lnTo>
                  <a:lnTo>
                    <a:pt x="2370773" y="4317682"/>
                  </a:lnTo>
                  <a:lnTo>
                    <a:pt x="2252663" y="4367212"/>
                  </a:lnTo>
                  <a:lnTo>
                    <a:pt x="2133600" y="4413885"/>
                  </a:lnTo>
                  <a:lnTo>
                    <a:pt x="2012633" y="4458652"/>
                  </a:lnTo>
                  <a:lnTo>
                    <a:pt x="1891665" y="4500562"/>
                  </a:lnTo>
                  <a:lnTo>
                    <a:pt x="1769745" y="4539615"/>
                  </a:lnTo>
                  <a:lnTo>
                    <a:pt x="1646873" y="4575810"/>
                  </a:lnTo>
                  <a:lnTo>
                    <a:pt x="1523047" y="4610100"/>
                  </a:lnTo>
                  <a:lnTo>
                    <a:pt x="1398270" y="4641532"/>
                  </a:lnTo>
                  <a:lnTo>
                    <a:pt x="1273493" y="4670108"/>
                  </a:lnTo>
                  <a:lnTo>
                    <a:pt x="1147763" y="4695825"/>
                  </a:lnTo>
                  <a:lnTo>
                    <a:pt x="1021080" y="4718685"/>
                  </a:lnTo>
                  <a:lnTo>
                    <a:pt x="894397" y="4739640"/>
                  </a:lnTo>
                  <a:lnTo>
                    <a:pt x="767715" y="4756785"/>
                  </a:lnTo>
                  <a:lnTo>
                    <a:pt x="640080" y="4772025"/>
                  </a:lnTo>
                  <a:lnTo>
                    <a:pt x="512445" y="4784408"/>
                  </a:lnTo>
                  <a:lnTo>
                    <a:pt x="384810" y="4793932"/>
                  </a:lnTo>
                  <a:lnTo>
                    <a:pt x="256223" y="4800600"/>
                  </a:lnTo>
                  <a:lnTo>
                    <a:pt x="128587" y="4805362"/>
                  </a:lnTo>
                  <a:lnTo>
                    <a:pt x="0" y="4806315"/>
                  </a:lnTo>
                  <a:lnTo>
                    <a:pt x="0" y="1110615"/>
                  </a:lnTo>
                  <a:lnTo>
                    <a:pt x="49530" y="1109662"/>
                  </a:lnTo>
                  <a:lnTo>
                    <a:pt x="98107" y="1108710"/>
                  </a:lnTo>
                  <a:lnTo>
                    <a:pt x="147637" y="1105852"/>
                  </a:lnTo>
                  <a:lnTo>
                    <a:pt x="197167" y="1102042"/>
                  </a:lnTo>
                  <a:lnTo>
                    <a:pt x="245745" y="1097280"/>
                  </a:lnTo>
                  <a:lnTo>
                    <a:pt x="295275" y="1091565"/>
                  </a:lnTo>
                  <a:lnTo>
                    <a:pt x="343853" y="1084898"/>
                  </a:lnTo>
                  <a:lnTo>
                    <a:pt x="392430" y="1077278"/>
                  </a:lnTo>
                  <a:lnTo>
                    <a:pt x="441007" y="1067752"/>
                  </a:lnTo>
                  <a:lnTo>
                    <a:pt x="488633" y="1058228"/>
                  </a:lnTo>
                  <a:lnTo>
                    <a:pt x="537210" y="1046798"/>
                  </a:lnTo>
                  <a:lnTo>
                    <a:pt x="584835" y="1035368"/>
                  </a:lnTo>
                  <a:lnTo>
                    <a:pt x="632460" y="1022032"/>
                  </a:lnTo>
                  <a:lnTo>
                    <a:pt x="680085" y="1007745"/>
                  </a:lnTo>
                  <a:lnTo>
                    <a:pt x="726757" y="993458"/>
                  </a:lnTo>
                  <a:lnTo>
                    <a:pt x="773430" y="977265"/>
                  </a:lnTo>
                  <a:lnTo>
                    <a:pt x="819150" y="960120"/>
                  </a:lnTo>
                  <a:lnTo>
                    <a:pt x="865823" y="942022"/>
                  </a:lnTo>
                  <a:lnTo>
                    <a:pt x="910590" y="922972"/>
                  </a:lnTo>
                  <a:lnTo>
                    <a:pt x="956310" y="902970"/>
                  </a:lnTo>
                  <a:lnTo>
                    <a:pt x="1000125" y="882015"/>
                  </a:lnTo>
                  <a:lnTo>
                    <a:pt x="1044893" y="860108"/>
                  </a:lnTo>
                  <a:lnTo>
                    <a:pt x="1088707" y="837248"/>
                  </a:lnTo>
                  <a:lnTo>
                    <a:pt x="1131570" y="813435"/>
                  </a:lnTo>
                  <a:lnTo>
                    <a:pt x="1174433" y="788670"/>
                  </a:lnTo>
                  <a:lnTo>
                    <a:pt x="1216343" y="763905"/>
                  </a:lnTo>
                  <a:lnTo>
                    <a:pt x="1258253" y="737235"/>
                  </a:lnTo>
                  <a:lnTo>
                    <a:pt x="1299210" y="709612"/>
                  </a:lnTo>
                  <a:lnTo>
                    <a:pt x="1339215" y="681990"/>
                  </a:lnTo>
                  <a:lnTo>
                    <a:pt x="1379220" y="652462"/>
                  </a:lnTo>
                  <a:lnTo>
                    <a:pt x="1418273" y="622935"/>
                  </a:lnTo>
                  <a:lnTo>
                    <a:pt x="1457325" y="591502"/>
                  </a:lnTo>
                  <a:lnTo>
                    <a:pt x="1494473" y="560070"/>
                  </a:lnTo>
                  <a:lnTo>
                    <a:pt x="1531620" y="527685"/>
                  </a:lnTo>
                  <a:lnTo>
                    <a:pt x="1568767" y="494348"/>
                  </a:lnTo>
                  <a:lnTo>
                    <a:pt x="1604010" y="461010"/>
                  </a:lnTo>
                  <a:lnTo>
                    <a:pt x="1639253" y="425768"/>
                  </a:lnTo>
                  <a:lnTo>
                    <a:pt x="1673543" y="390525"/>
                  </a:lnTo>
                  <a:lnTo>
                    <a:pt x="1706880" y="354330"/>
                  </a:lnTo>
                  <a:lnTo>
                    <a:pt x="1739265" y="318135"/>
                  </a:lnTo>
                  <a:lnTo>
                    <a:pt x="1771650" y="280035"/>
                  </a:lnTo>
                  <a:lnTo>
                    <a:pt x="1803083" y="241935"/>
                  </a:lnTo>
                  <a:lnTo>
                    <a:pt x="1832610" y="202882"/>
                  </a:lnTo>
                  <a:lnTo>
                    <a:pt x="1862137" y="163830"/>
                  </a:lnTo>
                  <a:lnTo>
                    <a:pt x="1890713" y="123825"/>
                  </a:lnTo>
                  <a:lnTo>
                    <a:pt x="1918335" y="82868"/>
                  </a:lnTo>
                  <a:lnTo>
                    <a:pt x="1945957" y="41910"/>
                  </a:lnTo>
                  <a:lnTo>
                    <a:pt x="1971675" y="0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nut-lbl-focus"/>
            <p:cNvSpPr txBox="1"/>
            <p:nvPr/>
          </p:nvSpPr>
          <p:spPr>
            <a:xfrm>
              <a:off x="5943600" y="5572125"/>
              <a:ext cx="20955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专注</a:t>
              </a:r>
            </a:p>
          </p:txBody>
        </p:sp>
        <p:sp>
          <p:nvSpPr>
            <p:cNvPr id="15" name="donut-lbl-confirm"/>
            <p:cNvSpPr txBox="1"/>
            <p:nvPr/>
          </p:nvSpPr>
          <p:spPr>
            <a:xfrm>
              <a:off x="7858125" y="9629775"/>
              <a:ext cx="20955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确认</a:t>
              </a:r>
            </a:p>
          </p:txBody>
        </p:sp>
        <p:sp>
          <p:nvSpPr>
            <p:cNvPr id="16" name="donut-lbl-question"/>
            <p:cNvSpPr txBox="1"/>
            <p:nvPr/>
          </p:nvSpPr>
          <p:spPr>
            <a:xfrm>
              <a:off x="5915025" y="13677900"/>
              <a:ext cx="20955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提问</a:t>
              </a:r>
            </a:p>
          </p:txBody>
        </p:sp>
        <p:sp>
          <p:nvSpPr>
            <p:cNvPr id="17" name="donut-core-1"/>
            <p:cNvSpPr txBox="1"/>
            <p:nvPr/>
          </p:nvSpPr>
          <p:spPr>
            <a:xfrm>
              <a:off x="3819525" y="8963025"/>
              <a:ext cx="2857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00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听思</a:t>
              </a:r>
            </a:p>
          </p:txBody>
        </p:sp>
        <p:sp>
          <p:nvSpPr>
            <p:cNvPr id="18" name="donut-core-2"/>
            <p:cNvSpPr txBox="1"/>
            <p:nvPr/>
          </p:nvSpPr>
          <p:spPr>
            <a:xfrm>
              <a:off x="3819525" y="10144125"/>
              <a:ext cx="2857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00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结合</a:t>
              </a:r>
            </a:p>
          </p:txBody>
        </p:sp>
      </p:grpSp>
      <p:sp>
        <p:nvSpPr>
          <p:cNvPr id="19" name="sep-top"/>
          <p:cNvSpPr/>
          <p:nvPr/>
        </p:nvSpPr>
        <p:spPr>
          <a:xfrm>
            <a:off x="11430000" y="3962400"/>
            <a:ext cx="16792575" cy="38100"/>
          </a:xfrm>
          <a:prstGeom prst="rect">
            <a:avLst/>
          </a:prstGeom>
          <a:solidFill>
            <a:srgbClr val="D6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p-1"/>
          <p:cNvSpPr/>
          <p:nvPr/>
        </p:nvSpPr>
        <p:spPr>
          <a:xfrm>
            <a:off x="11430000" y="7915275"/>
            <a:ext cx="16792575" cy="76200"/>
          </a:xfrm>
          <a:prstGeom prst="rect">
            <a:avLst/>
          </a:prstGeom>
          <a:solidFill>
            <a:srgbClr val="D6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p-2"/>
          <p:cNvSpPr/>
          <p:nvPr/>
        </p:nvSpPr>
        <p:spPr>
          <a:xfrm>
            <a:off x="11430000" y="11963400"/>
            <a:ext cx="16792575" cy="76200"/>
          </a:xfrm>
          <a:prstGeom prst="rect">
            <a:avLst/>
          </a:prstGeom>
          <a:solidFill>
            <a:srgbClr val="D6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p-bottom"/>
          <p:cNvSpPr/>
          <p:nvPr/>
        </p:nvSpPr>
        <p:spPr>
          <a:xfrm>
            <a:off x="11430000" y="15973425"/>
            <a:ext cx="16792575" cy="38100"/>
          </a:xfrm>
          <a:prstGeom prst="rect">
            <a:avLst/>
          </a:prstGeom>
          <a:solidFill>
            <a:srgbClr val="D6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ule-right-vertical"/>
          <p:cNvSpPr/>
          <p:nvPr/>
        </p:nvSpPr>
        <p:spPr>
          <a:xfrm>
            <a:off x="28146375" y="3981450"/>
            <a:ext cx="66675" cy="12020550"/>
          </a:xfrm>
          <a:prstGeom prst="rect">
            <a:avLst/>
          </a:prstGeom>
          <a:solidFill>
            <a:srgbClr val="447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6" name="blk-focus"/>
          <p:cNvGrpSpPr/>
          <p:nvPr/>
        </p:nvGrpSpPr>
        <p:grpSpPr>
          <a:xfrm>
            <a:off x="11458575" y="4524375"/>
            <a:ext cx="15668625" cy="2800350"/>
            <a:chOff x="11458575" y="4524375"/>
            <a:chExt cx="15668625" cy="2800350"/>
          </a:xfrm>
        </p:grpSpPr>
        <p:sp>
          <p:nvSpPr>
            <p:cNvPr id="24" name="blk-focus-head"/>
            <p:cNvSpPr txBox="1"/>
            <p:nvPr/>
          </p:nvSpPr>
          <p:spPr>
            <a:xfrm>
              <a:off x="11458575" y="4524375"/>
              <a:ext cx="504825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479F0"/>
                  </a:solidFill>
                  <a:latin typeface="Microsoft YaHei"/>
                  <a:ea typeface="Microsoft YaHei"/>
                  <a:cs typeface="Microsoft YaHei"/>
                </a:rPr>
                <a:t>专注与非语言信号</a:t>
              </a:r>
            </a:p>
          </p:txBody>
        </p:sp>
        <p:sp>
          <p:nvSpPr>
            <p:cNvPr id="25" name="blk-focus-l1"/>
            <p:cNvSpPr txBox="1"/>
            <p:nvPr/>
          </p:nvSpPr>
          <p:spPr>
            <a:xfrm>
              <a:off x="11506200" y="5476875"/>
              <a:ext cx="156210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面向对方，身体正面朝向，展示关注；保持开放的身体姿态，不交叉双臂</a:t>
              </a:r>
            </a:p>
          </p:txBody>
        </p:sp>
        <p:sp>
          <p:nvSpPr>
            <p:cNvPr id="26" name="blk-focus-l2"/>
            <p:cNvSpPr txBox="1"/>
            <p:nvPr/>
          </p:nvSpPr>
          <p:spPr>
            <a:xfrm>
              <a:off x="11506200" y="6067425"/>
              <a:ext cx="1419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身体微微前倾，靠近对方，表现兴趣；保持适当、自然的眼神接触</a:t>
              </a:r>
            </a:p>
          </p:txBody>
        </p:sp>
        <p:sp>
          <p:nvSpPr>
            <p:cNvPr id="27" name="blk-focus-l3"/>
            <p:cNvSpPr txBox="1"/>
            <p:nvPr/>
          </p:nvSpPr>
          <p:spPr>
            <a:xfrm>
              <a:off x="11506200" y="6677025"/>
              <a:ext cx="76200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放松自己，不要显得紧张或不耐烦</a:t>
              </a:r>
            </a:p>
          </p:txBody>
        </p:sp>
      </p:grpSp>
      <p:grpSp>
        <p:nvGrpSpPr>
          <p:cNvPr id="38" name="blk-paraphrase"/>
          <p:cNvGrpSpPr/>
          <p:nvPr/>
        </p:nvGrpSpPr>
        <p:grpSpPr>
          <a:xfrm>
            <a:off x="11458575" y="8858250"/>
            <a:ext cx="13287375" cy="2200275"/>
            <a:chOff x="11458575" y="8858250"/>
            <a:chExt cx="13287375" cy="2200275"/>
          </a:xfrm>
        </p:grpSpPr>
        <p:sp>
          <p:nvSpPr>
            <p:cNvPr id="28" name="blk-paraphrase-head"/>
            <p:cNvSpPr txBox="1"/>
            <p:nvPr/>
          </p:nvSpPr>
          <p:spPr>
            <a:xfrm>
              <a:off x="11458575" y="8858250"/>
              <a:ext cx="333375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479F0"/>
                  </a:solidFill>
                  <a:latin typeface="Microsoft YaHei"/>
                  <a:ea typeface="Microsoft YaHei"/>
                  <a:cs typeface="Microsoft YaHei"/>
                </a:rPr>
                <a:t>复述与确认</a:t>
              </a:r>
            </a:p>
          </p:txBody>
        </p:sp>
        <p:sp>
          <p:nvSpPr>
            <p:cNvPr id="29" name="blk-paraphrase-l1"/>
            <p:cNvSpPr txBox="1"/>
            <p:nvPr/>
          </p:nvSpPr>
          <p:spPr>
            <a:xfrm>
              <a:off x="11506200" y="9820275"/>
              <a:ext cx="83820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用自己的语言重新组织并复述对方的话</a:t>
              </a:r>
            </a:p>
          </p:txBody>
        </p:sp>
        <p:sp>
          <p:nvSpPr>
            <p:cNvPr id="30" name="blk-paraphrase-l2"/>
            <p:cNvSpPr txBox="1"/>
            <p:nvPr/>
          </p:nvSpPr>
          <p:spPr>
            <a:xfrm>
              <a:off x="11506200" y="10410825"/>
              <a:ext cx="132397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这不仅能确认你理解的准确性，还能让对方感到被重视和倾听</a:t>
              </a:r>
            </a:p>
          </p:txBody>
        </p:sp>
      </p:grpSp>
      <p:grpSp>
        <p:nvGrpSpPr>
          <p:cNvPr id="37" name="blk-ask"/>
          <p:cNvGrpSpPr/>
          <p:nvPr/>
        </p:nvGrpSpPr>
        <p:grpSpPr>
          <a:xfrm>
            <a:off x="11458575" y="12611100"/>
            <a:ext cx="17621250" cy="2790825"/>
            <a:chOff x="11458575" y="12611100"/>
            <a:chExt cx="17621250" cy="2790825"/>
          </a:xfrm>
        </p:grpSpPr>
        <p:sp>
          <p:nvSpPr>
            <p:cNvPr id="31" name="blk-ask-head"/>
            <p:cNvSpPr txBox="1"/>
            <p:nvPr/>
          </p:nvSpPr>
          <p:spPr>
            <a:xfrm>
              <a:off x="11458575" y="12611100"/>
              <a:ext cx="28575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479F0"/>
                  </a:solidFill>
                  <a:latin typeface="Microsoft YaHei"/>
                  <a:ea typeface="Microsoft YaHei"/>
                  <a:cs typeface="Microsoft YaHei"/>
                </a:rPr>
                <a:t>有效提问</a:t>
              </a:r>
            </a:p>
          </p:txBody>
        </p:sp>
        <p:sp>
          <p:nvSpPr>
            <p:cNvPr id="32" name="blk-ask-l1"/>
            <p:cNvSpPr txBox="1"/>
            <p:nvPr/>
          </p:nvSpPr>
          <p:spPr>
            <a:xfrm>
              <a:off x="11506200" y="13563600"/>
              <a:ext cx="1757362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开放式问题：鼓励对方详细表达想法，获取更多信息。你觉得这个方案的主要挑战</a:t>
              </a:r>
            </a:p>
          </p:txBody>
        </p:sp>
        <p:sp>
          <p:nvSpPr>
            <p:cNvPr id="33" name="blk-ask-l2"/>
            <p:cNvSpPr txBox="1"/>
            <p:nvPr/>
          </p:nvSpPr>
          <p:spPr>
            <a:xfrm>
              <a:off x="11506200" y="14163675"/>
              <a:ext cx="28575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是什么？”</a:t>
              </a:r>
            </a:p>
          </p:txBody>
        </p:sp>
        <p:sp>
          <p:nvSpPr>
            <p:cNvPr id="34" name="blk-ask-l3"/>
            <p:cNvSpPr txBox="1"/>
            <p:nvPr/>
          </p:nvSpPr>
          <p:spPr>
            <a:xfrm>
              <a:off x="11506200" y="14754225"/>
              <a:ext cx="1728787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封闭式问题：用于确认事实或快速达成共识。你是否同意我们下周一 开始执行？”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