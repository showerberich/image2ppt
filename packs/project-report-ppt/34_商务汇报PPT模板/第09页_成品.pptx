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nd"/>
          <p:cNvSpPr/>
          <p:nvPr/>
        </p:nvSpPr>
        <p:spPr>
          <a:xfrm>
            <a:off x="1952625" y="1447800"/>
            <a:ext cx="26146125" cy="158115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pill"/>
          <p:cNvSpPr/>
          <p:nvPr/>
        </p:nvSpPr>
        <p:spPr>
          <a:xfrm>
            <a:off x="2047875" y="1524000"/>
            <a:ext cx="10429875" cy="1447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A82FD"/>
              </a:gs>
              <a:gs pos="55000">
                <a:srgbClr val="3B57D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dr-title"/>
          <p:cNvSpPr txBox="1"/>
          <p:nvPr/>
        </p:nvSpPr>
        <p:spPr>
          <a:xfrm>
            <a:off x="2143125" y="1714500"/>
            <a:ext cx="10239375" cy="1047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特定场景下的沟通策略</a:t>
            </a:r>
          </a:p>
        </p:txBody>
      </p:sp>
      <p:sp>
        <p:nvSpPr>
          <p:cNvPr id="6" name="hdr-02-circle"/>
          <p:cNvSpPr/>
          <p:nvPr/>
        </p:nvSpPr>
        <p:spPr>
          <a:xfrm>
            <a:off x="26584275" y="1543050"/>
            <a:ext cx="971550" cy="971550"/>
          </a:xfrm>
          <a:prstGeom prst="ellipse">
            <a:avLst/>
          </a:prstGeom>
          <a:solidFill>
            <a:srgbClr val="315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dr-02"/>
          <p:cNvSpPr txBox="1"/>
          <p:nvPr/>
        </p:nvSpPr>
        <p:spPr>
          <a:xfrm>
            <a:off x="26593800" y="1600200"/>
            <a:ext cx="952500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hex-tl"/>
          <p:cNvSpPr/>
          <p:nvPr/>
        </p:nvSpPr>
        <p:spPr>
          <a:xfrm>
            <a:off x="11368088" y="4543425"/>
            <a:ext cx="3743324" cy="4343400"/>
          </a:xfrm>
          <a:custGeom>
            <a:avLst/>
            <a:gdLst/>
            <a:ahLst/>
            <a:cxnLst/>
            <a:rect l="l" t="t" r="r" b="b"/>
            <a:pathLst>
              <a:path w="3743324" h="4343400">
                <a:moveTo>
                  <a:pt x="1871662" y="0"/>
                </a:moveTo>
                <a:lnTo>
                  <a:pt x="3743324" y="1085850"/>
                </a:lnTo>
                <a:lnTo>
                  <a:pt x="3743324" y="3257550"/>
                </a:lnTo>
                <a:lnTo>
                  <a:pt x="1871662" y="4343400"/>
                </a:lnTo>
                <a:lnTo>
                  <a:pt x="0" y="3257550"/>
                </a:lnTo>
                <a:lnTo>
                  <a:pt x="0" y="1085850"/>
                </a:lnTo>
                <a:close/>
              </a:path>
            </a:pathLst>
          </a:custGeom>
          <a:solidFill>
            <a:srgbClr val="3D6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-tr"/>
          <p:cNvSpPr/>
          <p:nvPr/>
        </p:nvSpPr>
        <p:spPr>
          <a:xfrm>
            <a:off x="15273338" y="4543425"/>
            <a:ext cx="3743324" cy="4343400"/>
          </a:xfrm>
          <a:custGeom>
            <a:avLst/>
            <a:gdLst/>
            <a:ahLst/>
            <a:cxnLst/>
            <a:rect l="l" t="t" r="r" b="b"/>
            <a:pathLst>
              <a:path w="3743324" h="4343400">
                <a:moveTo>
                  <a:pt x="1871662" y="0"/>
                </a:moveTo>
                <a:lnTo>
                  <a:pt x="3743324" y="1085850"/>
                </a:lnTo>
                <a:lnTo>
                  <a:pt x="3743324" y="3257550"/>
                </a:lnTo>
                <a:lnTo>
                  <a:pt x="1871662" y="4343400"/>
                </a:lnTo>
                <a:lnTo>
                  <a:pt x="0" y="3257550"/>
                </a:lnTo>
                <a:lnTo>
                  <a:pt x="0" y="1085850"/>
                </a:lnTo>
                <a:close/>
              </a:path>
            </a:pathLst>
          </a:custGeom>
          <a:solidFill>
            <a:srgbClr val="3D6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-bl"/>
          <p:cNvSpPr/>
          <p:nvPr/>
        </p:nvSpPr>
        <p:spPr>
          <a:xfrm>
            <a:off x="11368088" y="11201400"/>
            <a:ext cx="3743324" cy="4343400"/>
          </a:xfrm>
          <a:custGeom>
            <a:avLst/>
            <a:gdLst/>
            <a:ahLst/>
            <a:cxnLst/>
            <a:rect l="l" t="t" r="r" b="b"/>
            <a:pathLst>
              <a:path w="3743324" h="4343400">
                <a:moveTo>
                  <a:pt x="1871662" y="0"/>
                </a:moveTo>
                <a:lnTo>
                  <a:pt x="3743324" y="1085850"/>
                </a:lnTo>
                <a:lnTo>
                  <a:pt x="3743324" y="3257550"/>
                </a:lnTo>
                <a:lnTo>
                  <a:pt x="1871662" y="4343400"/>
                </a:lnTo>
                <a:lnTo>
                  <a:pt x="0" y="3257550"/>
                </a:lnTo>
                <a:lnTo>
                  <a:pt x="0" y="1085850"/>
                </a:lnTo>
                <a:close/>
              </a:path>
            </a:pathLst>
          </a:custGeom>
          <a:solidFill>
            <a:srgbClr val="3D6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-br"/>
          <p:cNvSpPr/>
          <p:nvPr/>
        </p:nvSpPr>
        <p:spPr>
          <a:xfrm>
            <a:off x="15273338" y="11201400"/>
            <a:ext cx="3743324" cy="4343400"/>
          </a:xfrm>
          <a:custGeom>
            <a:avLst/>
            <a:gdLst/>
            <a:ahLst/>
            <a:cxnLst/>
            <a:rect l="l" t="t" r="r" b="b"/>
            <a:pathLst>
              <a:path w="3743324" h="4343400">
                <a:moveTo>
                  <a:pt x="1871662" y="0"/>
                </a:moveTo>
                <a:lnTo>
                  <a:pt x="3743324" y="1085850"/>
                </a:lnTo>
                <a:lnTo>
                  <a:pt x="3743324" y="3257550"/>
                </a:lnTo>
                <a:lnTo>
                  <a:pt x="1871662" y="4343400"/>
                </a:lnTo>
                <a:lnTo>
                  <a:pt x="0" y="3257550"/>
                </a:lnTo>
                <a:lnTo>
                  <a:pt x="0" y="1085850"/>
                </a:lnTo>
                <a:close/>
              </a:path>
            </a:pathLst>
          </a:custGeom>
          <a:solidFill>
            <a:srgbClr val="3D6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ng-pale"/>
          <p:cNvSpPr/>
          <p:nvPr/>
        </p:nvSpPr>
        <p:spPr>
          <a:xfrm>
            <a:off x="12163425" y="6858000"/>
            <a:ext cx="6076950" cy="6267450"/>
          </a:xfrm>
          <a:custGeom>
            <a:avLst/>
            <a:gdLst/>
            <a:ahLst/>
            <a:cxnLst/>
            <a:rect l="l" t="t" r="r" b="b"/>
            <a:pathLst>
              <a:path w="6076950" h="6267450">
                <a:moveTo>
                  <a:pt x="3038475" y="0"/>
                </a:moveTo>
                <a:lnTo>
                  <a:pt x="2447925" y="190500"/>
                </a:lnTo>
                <a:lnTo>
                  <a:pt x="1838325" y="381000"/>
                </a:lnTo>
                <a:lnTo>
                  <a:pt x="1485900" y="571500"/>
                </a:lnTo>
                <a:lnTo>
                  <a:pt x="1190625" y="762000"/>
                </a:lnTo>
                <a:lnTo>
                  <a:pt x="962025" y="952500"/>
                </a:lnTo>
                <a:lnTo>
                  <a:pt x="771525" y="1143000"/>
                </a:lnTo>
                <a:lnTo>
                  <a:pt x="685800" y="1333500"/>
                </a:lnTo>
                <a:lnTo>
                  <a:pt x="457200" y="1524000"/>
                </a:lnTo>
                <a:lnTo>
                  <a:pt x="314325" y="1714500"/>
                </a:lnTo>
                <a:lnTo>
                  <a:pt x="228600" y="1905000"/>
                </a:lnTo>
                <a:lnTo>
                  <a:pt x="200025" y="2095500"/>
                </a:lnTo>
                <a:lnTo>
                  <a:pt x="95250" y="2286000"/>
                </a:lnTo>
                <a:lnTo>
                  <a:pt x="47625" y="2476500"/>
                </a:lnTo>
                <a:lnTo>
                  <a:pt x="28575" y="2667000"/>
                </a:lnTo>
                <a:lnTo>
                  <a:pt x="9525" y="2857500"/>
                </a:lnTo>
                <a:lnTo>
                  <a:pt x="0" y="3048000"/>
                </a:lnTo>
                <a:lnTo>
                  <a:pt x="0" y="3238500"/>
                </a:lnTo>
                <a:lnTo>
                  <a:pt x="19050" y="3429000"/>
                </a:lnTo>
                <a:lnTo>
                  <a:pt x="38100" y="3619500"/>
                </a:lnTo>
                <a:lnTo>
                  <a:pt x="85725" y="3810000"/>
                </a:lnTo>
                <a:lnTo>
                  <a:pt x="123825" y="4000500"/>
                </a:lnTo>
                <a:lnTo>
                  <a:pt x="171450" y="4191000"/>
                </a:lnTo>
                <a:lnTo>
                  <a:pt x="266700" y="4381500"/>
                </a:lnTo>
                <a:lnTo>
                  <a:pt x="342900" y="4572000"/>
                </a:lnTo>
                <a:lnTo>
                  <a:pt x="476250" y="4762500"/>
                </a:lnTo>
                <a:lnTo>
                  <a:pt x="581025" y="4953000"/>
                </a:lnTo>
                <a:lnTo>
                  <a:pt x="723900" y="5143500"/>
                </a:lnTo>
                <a:lnTo>
                  <a:pt x="904875" y="5334000"/>
                </a:lnTo>
                <a:lnTo>
                  <a:pt x="1114425" y="5524500"/>
                </a:lnTo>
                <a:lnTo>
                  <a:pt x="1381125" y="5715000"/>
                </a:lnTo>
                <a:lnTo>
                  <a:pt x="1733550" y="5905500"/>
                </a:lnTo>
                <a:lnTo>
                  <a:pt x="2190750" y="6096000"/>
                </a:lnTo>
                <a:lnTo>
                  <a:pt x="3038475" y="6267450"/>
                </a:lnTo>
                <a:lnTo>
                  <a:pt x="3038475" y="6267450"/>
                </a:lnTo>
                <a:lnTo>
                  <a:pt x="3886200" y="6096000"/>
                </a:lnTo>
                <a:lnTo>
                  <a:pt x="4343400" y="5905500"/>
                </a:lnTo>
                <a:lnTo>
                  <a:pt x="4695825" y="5715000"/>
                </a:lnTo>
                <a:lnTo>
                  <a:pt x="4962525" y="5524500"/>
                </a:lnTo>
                <a:lnTo>
                  <a:pt x="5172075" y="5334000"/>
                </a:lnTo>
                <a:lnTo>
                  <a:pt x="5353050" y="5143500"/>
                </a:lnTo>
                <a:lnTo>
                  <a:pt x="5495925" y="4953000"/>
                </a:lnTo>
                <a:lnTo>
                  <a:pt x="5600700" y="4762500"/>
                </a:lnTo>
                <a:lnTo>
                  <a:pt x="5734050" y="4572000"/>
                </a:lnTo>
                <a:lnTo>
                  <a:pt x="5810250" y="4381500"/>
                </a:lnTo>
                <a:lnTo>
                  <a:pt x="5905500" y="4191000"/>
                </a:lnTo>
                <a:lnTo>
                  <a:pt x="5953125" y="4000500"/>
                </a:lnTo>
                <a:lnTo>
                  <a:pt x="5991225" y="3810000"/>
                </a:lnTo>
                <a:lnTo>
                  <a:pt x="6038850" y="3619500"/>
                </a:lnTo>
                <a:lnTo>
                  <a:pt x="6057900" y="3429000"/>
                </a:lnTo>
                <a:lnTo>
                  <a:pt x="6076950" y="3238500"/>
                </a:lnTo>
                <a:lnTo>
                  <a:pt x="6076950" y="3048000"/>
                </a:lnTo>
                <a:lnTo>
                  <a:pt x="6067425" y="2857500"/>
                </a:lnTo>
                <a:lnTo>
                  <a:pt x="6048375" y="2667000"/>
                </a:lnTo>
                <a:lnTo>
                  <a:pt x="6029325" y="2476500"/>
                </a:lnTo>
                <a:lnTo>
                  <a:pt x="5981700" y="2286000"/>
                </a:lnTo>
                <a:lnTo>
                  <a:pt x="5876925" y="2095500"/>
                </a:lnTo>
                <a:lnTo>
                  <a:pt x="5848350" y="1905000"/>
                </a:lnTo>
                <a:lnTo>
                  <a:pt x="5762625" y="1714500"/>
                </a:lnTo>
                <a:lnTo>
                  <a:pt x="5619750" y="1524000"/>
                </a:lnTo>
                <a:lnTo>
                  <a:pt x="5391150" y="1333500"/>
                </a:lnTo>
                <a:lnTo>
                  <a:pt x="5305425" y="1143000"/>
                </a:lnTo>
                <a:lnTo>
                  <a:pt x="5114925" y="952500"/>
                </a:lnTo>
                <a:lnTo>
                  <a:pt x="4886325" y="762000"/>
                </a:lnTo>
                <a:lnTo>
                  <a:pt x="4591050" y="571500"/>
                </a:lnTo>
                <a:lnTo>
                  <a:pt x="4238625" y="381000"/>
                </a:lnTo>
                <a:lnTo>
                  <a:pt x="3629025" y="190500"/>
                </a:lnTo>
                <a:lnTo>
                  <a:pt x="3038475" y="0"/>
                </a:lnTo>
                <a:close/>
              </a:path>
            </a:pathLst>
          </a:custGeom>
          <a:solidFill>
            <a:srgbClr val="EE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ng-gap"/>
          <p:cNvSpPr/>
          <p:nvPr/>
        </p:nvSpPr>
        <p:spPr>
          <a:xfrm>
            <a:off x="13144500" y="7667625"/>
            <a:ext cx="4095750" cy="4762500"/>
          </a:xfrm>
          <a:custGeom>
            <a:avLst/>
            <a:gdLst/>
            <a:ahLst/>
            <a:cxnLst/>
            <a:rect l="l" t="t" r="r" b="b"/>
            <a:pathLst>
              <a:path w="4095750" h="4762500">
                <a:moveTo>
                  <a:pt x="2047875" y="0"/>
                </a:moveTo>
                <a:lnTo>
                  <a:pt x="4095750" y="1190625"/>
                </a:lnTo>
                <a:lnTo>
                  <a:pt x="4095750" y="3571875"/>
                </a:lnTo>
                <a:lnTo>
                  <a:pt x="2047875" y="4762500"/>
                </a:lnTo>
                <a:lnTo>
                  <a:pt x="0" y="3571875"/>
                </a:lnTo>
                <a:lnTo>
                  <a:pt x="0" y="11906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-ml"/>
          <p:cNvSpPr/>
          <p:nvPr/>
        </p:nvSpPr>
        <p:spPr>
          <a:xfrm>
            <a:off x="9434512" y="8272462"/>
            <a:ext cx="2695576" cy="3648076"/>
          </a:xfrm>
          <a:custGeom>
            <a:avLst/>
            <a:gdLst/>
            <a:ahLst/>
            <a:cxnLst/>
            <a:rect l="l" t="t" r="r" b="b"/>
            <a:pathLst>
              <a:path w="2695576" h="3648076">
                <a:moveTo>
                  <a:pt x="1347788" y="0"/>
                </a:moveTo>
                <a:lnTo>
                  <a:pt x="2695576" y="912019"/>
                </a:lnTo>
                <a:lnTo>
                  <a:pt x="2695576" y="2736057"/>
                </a:lnTo>
                <a:lnTo>
                  <a:pt x="1347788" y="3648076"/>
                </a:lnTo>
                <a:lnTo>
                  <a:pt x="0" y="2736057"/>
                </a:lnTo>
                <a:lnTo>
                  <a:pt x="0" y="912019"/>
                </a:lnTo>
                <a:close/>
              </a:path>
            </a:pathLst>
          </a:custGeom>
          <a:solidFill>
            <a:srgbClr val="3D6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-mr"/>
          <p:cNvSpPr/>
          <p:nvPr/>
        </p:nvSpPr>
        <p:spPr>
          <a:xfrm>
            <a:off x="18264188" y="8272462"/>
            <a:ext cx="2695574" cy="3648076"/>
          </a:xfrm>
          <a:custGeom>
            <a:avLst/>
            <a:gdLst/>
            <a:ahLst/>
            <a:cxnLst/>
            <a:rect l="l" t="t" r="r" b="b"/>
            <a:pathLst>
              <a:path w="2695574" h="3648076">
                <a:moveTo>
                  <a:pt x="1347787" y="0"/>
                </a:moveTo>
                <a:lnTo>
                  <a:pt x="2695574" y="912019"/>
                </a:lnTo>
                <a:lnTo>
                  <a:pt x="2695574" y="2736057"/>
                </a:lnTo>
                <a:lnTo>
                  <a:pt x="1347787" y="3648076"/>
                </a:lnTo>
                <a:lnTo>
                  <a:pt x="0" y="2736057"/>
                </a:lnTo>
                <a:lnTo>
                  <a:pt x="0" y="912019"/>
                </a:lnTo>
                <a:close/>
              </a:path>
            </a:pathLst>
          </a:custGeom>
          <a:solidFill>
            <a:srgbClr val="3D6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-c"/>
          <p:cNvSpPr/>
          <p:nvPr/>
        </p:nvSpPr>
        <p:spPr>
          <a:xfrm>
            <a:off x="13544550" y="8143875"/>
            <a:ext cx="3295650" cy="3810000"/>
          </a:xfrm>
          <a:custGeom>
            <a:avLst/>
            <a:gdLst/>
            <a:ahLst/>
            <a:cxnLst/>
            <a:rect l="l" t="t" r="r" b="b"/>
            <a:pathLst>
              <a:path w="3295650" h="3810000">
                <a:moveTo>
                  <a:pt x="1647825" y="0"/>
                </a:moveTo>
                <a:lnTo>
                  <a:pt x="3295650" y="952500"/>
                </a:lnTo>
                <a:lnTo>
                  <a:pt x="3295650" y="2857500"/>
                </a:lnTo>
                <a:lnTo>
                  <a:pt x="1647825" y="3810000"/>
                </a:lnTo>
                <a:lnTo>
                  <a:pt x="0" y="2857500"/>
                </a:lnTo>
                <a:lnTo>
                  <a:pt x="0" y="952500"/>
                </a:lnTo>
                <a:close/>
              </a:path>
            </a:pathLst>
          </a:custGeom>
          <a:solidFill>
            <a:srgbClr val="3D6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2" name="hex-tl-icon"/>
          <p:cNvGrpSpPr/>
          <p:nvPr/>
        </p:nvGrpSpPr>
        <p:grpSpPr>
          <a:xfrm>
            <a:off x="13006388" y="6229350"/>
            <a:ext cx="885825" cy="942976"/>
            <a:chOff x="13006388" y="6229350"/>
            <a:chExt cx="885825" cy="942976"/>
          </a:xfrm>
        </p:grpSpPr>
        <p:sp>
          <p:nvSpPr>
            <p:cNvPr id="17" name="Rounded Rectangle 16"/>
            <p:cNvSpPr/>
            <p:nvPr/>
          </p:nvSpPr>
          <p:spPr>
            <a:xfrm>
              <a:off x="13006388" y="6757988"/>
              <a:ext cx="257175" cy="414338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3320712" y="6465094"/>
              <a:ext cx="257175" cy="707231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3635038" y="6229350"/>
              <a:ext cx="257175" cy="942975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" name="hex-tr-icon"/>
          <p:cNvGrpSpPr/>
          <p:nvPr/>
        </p:nvGrpSpPr>
        <p:grpSpPr>
          <a:xfrm>
            <a:off x="16359188" y="6043612"/>
            <a:ext cx="1314450" cy="1328738"/>
            <a:chOff x="16359188" y="6043612"/>
            <a:chExt cx="1314450" cy="1328738"/>
          </a:xfrm>
        </p:grpSpPr>
        <p:sp>
          <p:nvSpPr>
            <p:cNvPr id="20" name="Oval 19"/>
            <p:cNvSpPr/>
            <p:nvPr/>
          </p:nvSpPr>
          <p:spPr>
            <a:xfrm>
              <a:off x="16359188" y="6043612"/>
              <a:ext cx="1285875" cy="1285875"/>
            </a:xfrm>
            <a:prstGeom prst="ellipse">
              <a:avLst/>
            </a:prstGeom>
            <a:noFill/>
            <a:ln w="1524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16602075" y="6286500"/>
              <a:ext cx="800100" cy="800100"/>
            </a:xfrm>
            <a:prstGeom prst="ellipse">
              <a:avLst/>
            </a:prstGeom>
            <a:noFill/>
            <a:ln w="1524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16859250" y="6543675"/>
              <a:ext cx="285750" cy="285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17130712" y="6815138"/>
              <a:ext cx="385763" cy="385762"/>
            </a:xfrm>
            <a:prstGeom prst="line">
              <a:avLst/>
            </a:prstGeom>
            <a:ln w="111442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 23"/>
            <p:cNvSpPr/>
            <p:nvPr/>
          </p:nvSpPr>
          <p:spPr>
            <a:xfrm>
              <a:off x="17359312" y="7072312"/>
              <a:ext cx="314326" cy="300038"/>
            </a:xfrm>
            <a:custGeom>
              <a:avLst/>
              <a:gdLst/>
              <a:ahLst/>
              <a:cxnLst/>
              <a:rect l="l" t="t" r="r" b="b"/>
              <a:pathLst>
                <a:path w="314326" h="300038">
                  <a:moveTo>
                    <a:pt x="0" y="257176"/>
                  </a:moveTo>
                  <a:lnTo>
                    <a:pt x="300038" y="300038"/>
                  </a:lnTo>
                  <a:lnTo>
                    <a:pt x="3143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" name="hex-ml-icon"/>
          <p:cNvGrpSpPr/>
          <p:nvPr/>
        </p:nvGrpSpPr>
        <p:grpSpPr>
          <a:xfrm>
            <a:off x="10603230" y="9507855"/>
            <a:ext cx="1005840" cy="1005840"/>
            <a:chOff x="10603230" y="9507855"/>
            <a:chExt cx="1005840" cy="1005840"/>
          </a:xfrm>
        </p:grpSpPr>
        <p:sp>
          <p:nvSpPr>
            <p:cNvPr id="25" name="Oval 24"/>
            <p:cNvSpPr/>
            <p:nvPr/>
          </p:nvSpPr>
          <p:spPr>
            <a:xfrm>
              <a:off x="10603230" y="9507855"/>
              <a:ext cx="1005840" cy="1005840"/>
            </a:xfrm>
            <a:prstGeom prst="ellipse">
              <a:avLst/>
            </a:prstGeom>
            <a:noFill/>
            <a:ln w="1524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10866120" y="10033635"/>
              <a:ext cx="171450" cy="182880"/>
            </a:xfrm>
            <a:prstGeom prst="line">
              <a:avLst/>
            </a:prstGeom>
            <a:ln w="118872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11037570" y="9839325"/>
              <a:ext cx="320040" cy="377190"/>
            </a:xfrm>
            <a:prstGeom prst="line">
              <a:avLst/>
            </a:prstGeom>
            <a:ln w="118872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hex-mr-icon"/>
          <p:cNvGrpSpPr/>
          <p:nvPr/>
        </p:nvGrpSpPr>
        <p:grpSpPr>
          <a:xfrm>
            <a:off x="19026378" y="9805226"/>
            <a:ext cx="809244" cy="708088"/>
            <a:chOff x="19026378" y="9805226"/>
            <a:chExt cx="809244" cy="708088"/>
          </a:xfrm>
        </p:grpSpPr>
        <p:sp>
          <p:nvSpPr>
            <p:cNvPr id="28" name="Rounded Rectangle 27"/>
            <p:cNvSpPr/>
            <p:nvPr/>
          </p:nvSpPr>
          <p:spPr>
            <a:xfrm>
              <a:off x="19026378" y="9805226"/>
              <a:ext cx="809244" cy="561975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9284886" y="10311003"/>
              <a:ext cx="258509" cy="202311"/>
            </a:xfrm>
            <a:custGeom>
              <a:avLst/>
              <a:gdLst/>
              <a:ahLst/>
              <a:cxnLst/>
              <a:rect l="l" t="t" r="r" b="b"/>
              <a:pathLst>
                <a:path w="258509" h="202311">
                  <a:moveTo>
                    <a:pt x="0" y="0"/>
                  </a:moveTo>
                  <a:lnTo>
                    <a:pt x="0" y="202311"/>
                  </a:lnTo>
                  <a:lnTo>
                    <a:pt x="2585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19200590" y="10024396"/>
              <a:ext cx="123634" cy="1236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19369183" y="10024396"/>
              <a:ext cx="123634" cy="1236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9537775" y="10024396"/>
              <a:ext cx="123634" cy="1236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" name="hex-bl-icon"/>
          <p:cNvGrpSpPr/>
          <p:nvPr/>
        </p:nvGrpSpPr>
        <p:grpSpPr>
          <a:xfrm>
            <a:off x="12892088" y="12863512"/>
            <a:ext cx="1128712" cy="1128713"/>
            <a:chOff x="12892088" y="12863512"/>
            <a:chExt cx="1128712" cy="1128713"/>
          </a:xfrm>
        </p:grpSpPr>
        <p:sp>
          <p:nvSpPr>
            <p:cNvPr id="33" name="Oval 32"/>
            <p:cNvSpPr/>
            <p:nvPr/>
          </p:nvSpPr>
          <p:spPr>
            <a:xfrm>
              <a:off x="12892088" y="12863512"/>
              <a:ext cx="885825" cy="885825"/>
            </a:xfrm>
            <a:prstGeom prst="ellipse">
              <a:avLst/>
            </a:prstGeom>
            <a:noFill/>
            <a:ln w="1524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13620750" y="13592175"/>
              <a:ext cx="400050" cy="400050"/>
            </a:xfrm>
            <a:prstGeom prst="line">
              <a:avLst/>
            </a:prstGeom>
            <a:ln w="14859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hex-br-globe"/>
          <p:cNvSpPr/>
          <p:nvPr/>
        </p:nvSpPr>
        <p:spPr>
          <a:xfrm>
            <a:off x="16687800" y="13335000"/>
            <a:ext cx="1123950" cy="1123950"/>
          </a:xfrm>
          <a:prstGeom prst="ellipse">
            <a:avLst/>
          </a:prstGeom>
          <a:noFill/>
          <a:ln w="857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-br-globe-v"/>
          <p:cNvSpPr/>
          <p:nvPr/>
        </p:nvSpPr>
        <p:spPr>
          <a:xfrm>
            <a:off x="16996886" y="13335000"/>
            <a:ext cx="505778" cy="1123950"/>
          </a:xfrm>
          <a:prstGeom prst="ellipse">
            <a:avLst/>
          </a:prstGeom>
          <a:noFill/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-br-globe-h"/>
          <p:cNvSpPr/>
          <p:nvPr/>
        </p:nvSpPr>
        <p:spPr>
          <a:xfrm>
            <a:off x="16687800" y="13660946"/>
            <a:ext cx="1123950" cy="472059"/>
          </a:xfrm>
          <a:prstGeom prst="ellipse">
            <a:avLst/>
          </a:prstGeom>
          <a:noFill/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hex-br-globe-l"/>
          <p:cNvCxnSpPr/>
          <p:nvPr/>
        </p:nvCxnSpPr>
        <p:spPr>
          <a:xfrm>
            <a:off x="16687800" y="13896975"/>
            <a:ext cx="1123950" cy="0"/>
          </a:xfrm>
          <a:prstGeom prst="line">
            <a:avLst/>
          </a:prstGeom>
          <a:ln w="762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hex-c-t1"/>
          <p:cNvSpPr txBox="1"/>
          <p:nvPr/>
        </p:nvSpPr>
        <p:spPr>
          <a:xfrm>
            <a:off x="14058900" y="9029700"/>
            <a:ext cx="22860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降本</a:t>
            </a:r>
          </a:p>
        </p:txBody>
      </p:sp>
      <p:sp>
        <p:nvSpPr>
          <p:cNvPr id="40" name="hex-c-t2"/>
          <p:cNvSpPr txBox="1"/>
          <p:nvPr/>
        </p:nvSpPr>
        <p:spPr>
          <a:xfrm>
            <a:off x="14058900" y="10077450"/>
            <a:ext cx="22860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增效</a:t>
            </a:r>
          </a:p>
        </p:txBody>
      </p:sp>
      <p:sp>
        <p:nvSpPr>
          <p:cNvPr id="41" name="c1-bar"/>
          <p:cNvSpPr/>
          <p:nvPr/>
        </p:nvSpPr>
        <p:spPr>
          <a:xfrm>
            <a:off x="8963025" y="4457700"/>
            <a:ext cx="152400" cy="3314700"/>
          </a:xfrm>
          <a:prstGeom prst="rect">
            <a:avLst/>
          </a:prstGeom>
          <a:solidFill>
            <a:srgbClr val="477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1"/>
          <p:cNvSpPr/>
          <p:nvPr/>
        </p:nvSpPr>
        <p:spPr>
          <a:xfrm>
            <a:off x="2571750" y="4457700"/>
            <a:ext cx="6381750" cy="3314700"/>
          </a:xfrm>
          <a:prstGeom prst="rect">
            <a:avLst/>
          </a:prstGeom>
          <a:solidFill>
            <a:srgbClr val="FFFFFF"/>
          </a:solidFill>
          <a:ln w="23812">
            <a:solidFill>
              <a:srgbClr val="D2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7" name="c1-pill"/>
          <p:cNvGrpSpPr/>
          <p:nvPr/>
        </p:nvGrpSpPr>
        <p:grpSpPr>
          <a:xfrm>
            <a:off x="3743325" y="4743450"/>
            <a:ext cx="4038600" cy="685800"/>
            <a:chOff x="3743325" y="4743450"/>
            <a:chExt cx="4038600" cy="685800"/>
          </a:xfrm>
        </p:grpSpPr>
        <p:sp>
          <p:nvSpPr>
            <p:cNvPr id="43" name="c1-pill-bg"/>
            <p:cNvSpPr/>
            <p:nvPr/>
          </p:nvSpPr>
          <p:spPr>
            <a:xfrm>
              <a:off x="3743325" y="4743450"/>
              <a:ext cx="4038600" cy="685800"/>
            </a:xfrm>
            <a:prstGeom prst="roundRect">
              <a:avLst>
                <a:gd name="adj" fmla="val 50000"/>
              </a:avLst>
            </a:pr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c1-pill-t"/>
            <p:cNvSpPr txBox="1"/>
            <p:nvPr/>
          </p:nvSpPr>
          <p:spPr>
            <a:xfrm>
              <a:off x="3743325" y="4743450"/>
              <a:ext cx="4038600" cy="6858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汇报工作</a:t>
              </a:r>
            </a:p>
          </p:txBody>
        </p:sp>
      </p:grpSp>
      <p:sp>
        <p:nvSpPr>
          <p:cNvPr id="45" name="c1-body"/>
          <p:cNvSpPr txBox="1"/>
          <p:nvPr/>
        </p:nvSpPr>
        <p:spPr>
          <a:xfrm>
            <a:off x="2762250" y="5486400"/>
            <a:ext cx="6000750" cy="2247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采用金字塔原理，带着解决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方案去汇报问题，而非抛出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问题等待答案</a:t>
            </a:r>
          </a:p>
        </p:txBody>
      </p:sp>
      <p:sp>
        <p:nvSpPr>
          <p:cNvPr id="46" name="c2-bar"/>
          <p:cNvSpPr/>
          <p:nvPr/>
        </p:nvSpPr>
        <p:spPr>
          <a:xfrm>
            <a:off x="8963025" y="8353425"/>
            <a:ext cx="152400" cy="3314700"/>
          </a:xfrm>
          <a:prstGeom prst="rect">
            <a:avLst/>
          </a:prstGeom>
          <a:solidFill>
            <a:srgbClr val="477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2"/>
          <p:cNvSpPr/>
          <p:nvPr/>
        </p:nvSpPr>
        <p:spPr>
          <a:xfrm>
            <a:off x="2571750" y="8353425"/>
            <a:ext cx="6381750" cy="3314700"/>
          </a:xfrm>
          <a:prstGeom prst="rect">
            <a:avLst/>
          </a:prstGeom>
          <a:solidFill>
            <a:srgbClr val="FFFFFF"/>
          </a:solidFill>
          <a:ln w="23812">
            <a:solidFill>
              <a:srgbClr val="D2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8" name="c2-pill"/>
          <p:cNvGrpSpPr/>
          <p:nvPr/>
        </p:nvGrpSpPr>
        <p:grpSpPr>
          <a:xfrm>
            <a:off x="3743325" y="8639175"/>
            <a:ext cx="4038600" cy="685800"/>
            <a:chOff x="3743325" y="8639175"/>
            <a:chExt cx="4038600" cy="685800"/>
          </a:xfrm>
        </p:grpSpPr>
        <p:sp>
          <p:nvSpPr>
            <p:cNvPr id="48" name="c2-pill-bg"/>
            <p:cNvSpPr/>
            <p:nvPr/>
          </p:nvSpPr>
          <p:spPr>
            <a:xfrm>
              <a:off x="3743325" y="8639175"/>
              <a:ext cx="4038600" cy="685800"/>
            </a:xfrm>
            <a:prstGeom prst="roundRect">
              <a:avLst>
                <a:gd name="adj" fmla="val 50000"/>
              </a:avLst>
            </a:pr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c2-pill-t"/>
            <p:cNvSpPr txBox="1"/>
            <p:nvPr/>
          </p:nvSpPr>
          <p:spPr>
            <a:xfrm>
              <a:off x="3743325" y="8639175"/>
              <a:ext cx="4038600" cy="6858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请求资源</a:t>
              </a:r>
            </a:p>
          </p:txBody>
        </p:sp>
      </p:grpSp>
      <p:sp>
        <p:nvSpPr>
          <p:cNvPr id="50" name="c2-body"/>
          <p:cNvSpPr txBox="1"/>
          <p:nvPr/>
        </p:nvSpPr>
        <p:spPr>
          <a:xfrm>
            <a:off x="2762250" y="9382125"/>
            <a:ext cx="6000750" cy="2247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使用SCQA模型，清晰阐述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问题、潜在后果和投入后的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预期回报</a:t>
            </a:r>
          </a:p>
        </p:txBody>
      </p:sp>
      <p:sp>
        <p:nvSpPr>
          <p:cNvPr id="51" name="c3-bar"/>
          <p:cNvSpPr/>
          <p:nvPr/>
        </p:nvSpPr>
        <p:spPr>
          <a:xfrm>
            <a:off x="8963025" y="12258675"/>
            <a:ext cx="152400" cy="3314700"/>
          </a:xfrm>
          <a:prstGeom prst="rect">
            <a:avLst/>
          </a:prstGeom>
          <a:solidFill>
            <a:srgbClr val="477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3"/>
          <p:cNvSpPr/>
          <p:nvPr/>
        </p:nvSpPr>
        <p:spPr>
          <a:xfrm>
            <a:off x="2571750" y="12258675"/>
            <a:ext cx="6381750" cy="3314700"/>
          </a:xfrm>
          <a:prstGeom prst="rect">
            <a:avLst/>
          </a:prstGeom>
          <a:solidFill>
            <a:srgbClr val="FFFFFF"/>
          </a:solidFill>
          <a:ln w="23812">
            <a:solidFill>
              <a:srgbClr val="D2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9" name="c3-pill"/>
          <p:cNvGrpSpPr/>
          <p:nvPr/>
        </p:nvGrpSpPr>
        <p:grpSpPr>
          <a:xfrm>
            <a:off x="3743325" y="12544425"/>
            <a:ext cx="4038600" cy="685800"/>
            <a:chOff x="3743325" y="12544425"/>
            <a:chExt cx="4038600" cy="685800"/>
          </a:xfrm>
        </p:grpSpPr>
        <p:sp>
          <p:nvSpPr>
            <p:cNvPr id="53" name="c3-pill-bg"/>
            <p:cNvSpPr/>
            <p:nvPr/>
          </p:nvSpPr>
          <p:spPr>
            <a:xfrm>
              <a:off x="3743325" y="12544425"/>
              <a:ext cx="4038600" cy="685800"/>
            </a:xfrm>
            <a:prstGeom prst="roundRect">
              <a:avLst>
                <a:gd name="adj" fmla="val 50000"/>
              </a:avLst>
            </a:pr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3-pill-t"/>
            <p:cNvSpPr txBox="1"/>
            <p:nvPr/>
          </p:nvSpPr>
          <p:spPr>
            <a:xfrm>
              <a:off x="3743325" y="12544425"/>
              <a:ext cx="4038600" cy="6858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提出建议</a:t>
              </a:r>
            </a:p>
          </p:txBody>
        </p:sp>
      </p:grpSp>
      <p:sp>
        <p:nvSpPr>
          <p:cNvPr id="55" name="c3-body"/>
          <p:cNvSpPr txBox="1"/>
          <p:nvPr/>
        </p:nvSpPr>
        <p:spPr>
          <a:xfrm>
            <a:off x="2762250" y="13287375"/>
            <a:ext cx="6000750" cy="2247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肯定现状与领导的决策，再委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婉提出建议，强调方案达成团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队共同目标</a:t>
            </a:r>
          </a:p>
        </p:txBody>
      </p:sp>
      <p:sp>
        <p:nvSpPr>
          <p:cNvPr id="56" name="c4-bar"/>
          <p:cNvSpPr/>
          <p:nvPr/>
        </p:nvSpPr>
        <p:spPr>
          <a:xfrm>
            <a:off x="21364575" y="4457700"/>
            <a:ext cx="152400" cy="3314700"/>
          </a:xfrm>
          <a:prstGeom prst="rect">
            <a:avLst/>
          </a:prstGeom>
          <a:solidFill>
            <a:srgbClr val="477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4"/>
          <p:cNvSpPr/>
          <p:nvPr/>
        </p:nvSpPr>
        <p:spPr>
          <a:xfrm>
            <a:off x="21526500" y="4457700"/>
            <a:ext cx="6381750" cy="3314700"/>
          </a:xfrm>
          <a:prstGeom prst="rect">
            <a:avLst/>
          </a:prstGeom>
          <a:solidFill>
            <a:srgbClr val="FFFFFF"/>
          </a:solidFill>
          <a:ln w="23812">
            <a:solidFill>
              <a:srgbClr val="D2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0" name="c4-pill"/>
          <p:cNvGrpSpPr/>
          <p:nvPr/>
        </p:nvGrpSpPr>
        <p:grpSpPr>
          <a:xfrm>
            <a:off x="22698075" y="4743450"/>
            <a:ext cx="4038600" cy="685800"/>
            <a:chOff x="22698075" y="4743450"/>
            <a:chExt cx="4038600" cy="685800"/>
          </a:xfrm>
        </p:grpSpPr>
        <p:sp>
          <p:nvSpPr>
            <p:cNvPr id="58" name="c4-pill-bg"/>
            <p:cNvSpPr/>
            <p:nvPr/>
          </p:nvSpPr>
          <p:spPr>
            <a:xfrm>
              <a:off x="22698075" y="4743450"/>
              <a:ext cx="4038600" cy="685800"/>
            </a:xfrm>
            <a:prstGeom prst="roundRect">
              <a:avLst>
                <a:gd name="adj" fmla="val 50000"/>
              </a:avLst>
            </a:pr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c4-pill-t"/>
            <p:cNvSpPr txBox="1"/>
            <p:nvPr/>
          </p:nvSpPr>
          <p:spPr>
            <a:xfrm>
              <a:off x="22698075" y="4743450"/>
              <a:ext cx="4038600" cy="6858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建立共同目标</a:t>
              </a:r>
            </a:p>
          </p:txBody>
        </p:sp>
      </p:grpSp>
      <p:sp>
        <p:nvSpPr>
          <p:cNvPr id="60" name="c4-body"/>
          <p:cNvSpPr txBox="1"/>
          <p:nvPr/>
        </p:nvSpPr>
        <p:spPr>
          <a:xfrm>
            <a:off x="21717000" y="5486400"/>
            <a:ext cx="6000750" cy="2247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打破“部门墙”思维，将沟通语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境从“你的事”和“我的事”转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变为“我们共同的事”</a:t>
            </a:r>
          </a:p>
        </p:txBody>
      </p:sp>
      <p:sp>
        <p:nvSpPr>
          <p:cNvPr id="61" name="c5-bar"/>
          <p:cNvSpPr/>
          <p:nvPr/>
        </p:nvSpPr>
        <p:spPr>
          <a:xfrm>
            <a:off x="21364575" y="8353425"/>
            <a:ext cx="152400" cy="3314700"/>
          </a:xfrm>
          <a:prstGeom prst="rect">
            <a:avLst/>
          </a:prstGeom>
          <a:solidFill>
            <a:srgbClr val="477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5"/>
          <p:cNvSpPr/>
          <p:nvPr/>
        </p:nvSpPr>
        <p:spPr>
          <a:xfrm>
            <a:off x="21526500" y="8353425"/>
            <a:ext cx="6381750" cy="3314700"/>
          </a:xfrm>
          <a:prstGeom prst="rect">
            <a:avLst/>
          </a:prstGeom>
          <a:solidFill>
            <a:srgbClr val="FFFFFF"/>
          </a:solidFill>
          <a:ln w="23812">
            <a:solidFill>
              <a:srgbClr val="D2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c5-pill"/>
          <p:cNvGrpSpPr/>
          <p:nvPr/>
        </p:nvGrpSpPr>
        <p:grpSpPr>
          <a:xfrm>
            <a:off x="22698075" y="8639175"/>
            <a:ext cx="4038600" cy="685800"/>
            <a:chOff x="22698075" y="8639175"/>
            <a:chExt cx="4038600" cy="685800"/>
          </a:xfrm>
        </p:grpSpPr>
        <p:sp>
          <p:nvSpPr>
            <p:cNvPr id="63" name="c5-pill-bg"/>
            <p:cNvSpPr/>
            <p:nvPr/>
          </p:nvSpPr>
          <p:spPr>
            <a:xfrm>
              <a:off x="22698075" y="8639175"/>
              <a:ext cx="4038600" cy="685800"/>
            </a:xfrm>
            <a:prstGeom prst="roundRect">
              <a:avLst>
                <a:gd name="adj" fmla="val 50000"/>
              </a:avLst>
            </a:pr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c5-pill-t"/>
            <p:cNvSpPr txBox="1"/>
            <p:nvPr/>
          </p:nvSpPr>
          <p:spPr>
            <a:xfrm>
              <a:off x="22698075" y="8639175"/>
              <a:ext cx="4038600" cy="6858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明确沟通协议</a:t>
              </a:r>
            </a:p>
          </p:txBody>
        </p:sp>
      </p:grpSp>
      <p:sp>
        <p:nvSpPr>
          <p:cNvPr id="65" name="c5-body"/>
          <p:cNvSpPr txBox="1"/>
          <p:nvPr/>
        </p:nvSpPr>
        <p:spPr>
          <a:xfrm>
            <a:off x="21717000" y="9382125"/>
            <a:ext cx="6000750" cy="2247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提前建立沟通章程，明确双方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的响应时间要求、对接人、沟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通渠道以及遇到分歧时的升级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决策流程</a:t>
            </a:r>
          </a:p>
        </p:txBody>
      </p:sp>
      <p:sp>
        <p:nvSpPr>
          <p:cNvPr id="66" name="c6-bar"/>
          <p:cNvSpPr/>
          <p:nvPr/>
        </p:nvSpPr>
        <p:spPr>
          <a:xfrm>
            <a:off x="21364575" y="12258675"/>
            <a:ext cx="152400" cy="3314700"/>
          </a:xfrm>
          <a:prstGeom prst="rect">
            <a:avLst/>
          </a:prstGeom>
          <a:solidFill>
            <a:srgbClr val="477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6"/>
          <p:cNvSpPr/>
          <p:nvPr/>
        </p:nvSpPr>
        <p:spPr>
          <a:xfrm>
            <a:off x="21526500" y="12258675"/>
            <a:ext cx="6381750" cy="3314700"/>
          </a:xfrm>
          <a:prstGeom prst="rect">
            <a:avLst/>
          </a:prstGeom>
          <a:solidFill>
            <a:srgbClr val="FFFFFF"/>
          </a:solidFill>
          <a:ln w="23812">
            <a:solidFill>
              <a:srgbClr val="D2D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2" name="c6-pill"/>
          <p:cNvGrpSpPr/>
          <p:nvPr/>
        </p:nvGrpSpPr>
        <p:grpSpPr>
          <a:xfrm>
            <a:off x="22698075" y="12544425"/>
            <a:ext cx="4038600" cy="685800"/>
            <a:chOff x="22698075" y="12544425"/>
            <a:chExt cx="4038600" cy="685800"/>
          </a:xfrm>
        </p:grpSpPr>
        <p:sp>
          <p:nvSpPr>
            <p:cNvPr id="68" name="c6-pill-bg"/>
            <p:cNvSpPr/>
            <p:nvPr/>
          </p:nvSpPr>
          <p:spPr>
            <a:xfrm>
              <a:off x="22698075" y="12544425"/>
              <a:ext cx="4038600" cy="685800"/>
            </a:xfrm>
            <a:prstGeom prst="roundRect">
              <a:avLst>
                <a:gd name="adj" fmla="val 50000"/>
              </a:avLst>
            </a:pr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c6-pill-t"/>
            <p:cNvSpPr txBox="1"/>
            <p:nvPr/>
          </p:nvSpPr>
          <p:spPr>
            <a:xfrm>
              <a:off x="22698075" y="12544425"/>
              <a:ext cx="4038600" cy="6858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使用对方语言</a:t>
              </a:r>
            </a:p>
          </p:txBody>
        </p:sp>
      </p:grpSp>
      <p:sp>
        <p:nvSpPr>
          <p:cNvPr id="70" name="c6-body"/>
          <p:cNvSpPr txBox="1"/>
          <p:nvPr/>
        </p:nvSpPr>
        <p:spPr>
          <a:xfrm>
            <a:off x="21717000" y="13287375"/>
            <a:ext cx="6000750" cy="2247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主动了解对方部门的核心KPI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和业务痛点，用他们能理解的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专业语言和逻辑阐述需求，减</a:t>
            </a:r>
          </a:p>
          <a:p>
            <a:pPr algn="ctr">
              <a:lnSpc>
                <a:spcPct val="100000"/>
              </a:lnSpc>
            </a:pPr>
            <a:r>
              <a:rPr sz="3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少沟通阻力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