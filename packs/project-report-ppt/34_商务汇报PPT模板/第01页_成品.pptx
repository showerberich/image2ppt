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8651200" cy="154114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28651200" cy="15411450"/>
          </a:xfrm>
          <a:prstGeom prst="rect">
            <a:avLst/>
          </a:prstGeom>
          <a:solidFill>
            <a:srgbClr val="447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1" name="bg"/>
          <p:cNvGrpSpPr/>
          <p:nvPr/>
        </p:nvGrpSpPr>
        <p:grpSpPr>
          <a:xfrm>
            <a:off x="-571500" y="-2047875"/>
            <a:ext cx="35623500" cy="21859875"/>
            <a:chOff x="-571500" y="-2047875"/>
            <a:chExt cx="35623500" cy="21859875"/>
          </a:xfrm>
        </p:grpSpPr>
        <p:sp>
          <p:nvSpPr>
            <p:cNvPr id="3" name="bg-base"/>
            <p:cNvSpPr/>
            <p:nvPr/>
          </p:nvSpPr>
          <p:spPr>
            <a:xfrm>
              <a:off x="0" y="0"/>
              <a:ext cx="28651200" cy="15411450"/>
            </a:xfrm>
            <a:prstGeom prst="rect">
              <a:avLst/>
            </a:prstGeom>
            <a:gradFill rotWithShape="1">
              <a:gsLst>
                <a:gs pos="0">
                  <a:srgbClr val="4478F9"/>
                </a:gs>
                <a:gs pos="100000">
                  <a:srgbClr val="4464E8"/>
                </a:gs>
              </a:gsLst>
              <a:lin scaled="0" ang="189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glow-top"/>
            <p:cNvSpPr/>
            <p:nvPr/>
          </p:nvSpPr>
          <p:spPr>
            <a:xfrm>
              <a:off x="9715500" y="-2047875"/>
              <a:ext cx="5334000" cy="3524250"/>
            </a:xfrm>
            <a:prstGeom prst="ellipse">
              <a:avLst/>
            </a:prstGeom>
            <a:gradFill rotWithShape="1">
              <a:gsLst>
                <a:gs pos="0">
                  <a:srgbClr val="8ADEE8"/>
                </a:gs>
                <a:gs pos="100000">
                  <a:srgbClr val="63B4F2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glow-tr"/>
            <p:cNvSpPr/>
            <p:nvPr/>
          </p:nvSpPr>
          <p:spPr>
            <a:xfrm rot="18900000">
              <a:off x="18288000" y="571500"/>
              <a:ext cx="5905500" cy="28575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64C6DC"/>
                </a:gs>
                <a:gs pos="100000">
                  <a:srgbClr val="4A8CF2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glow-mid"/>
            <p:cNvSpPr/>
            <p:nvPr/>
          </p:nvSpPr>
          <p:spPr>
            <a:xfrm rot="18900000">
              <a:off x="8096250" y="4667250"/>
              <a:ext cx="12382500" cy="4000500"/>
            </a:xfrm>
            <a:prstGeom prst="roundRect">
              <a:avLst>
                <a:gd name="adj" fmla="val 50000"/>
              </a:avLst>
            </a:prstGeom>
            <a:solidFill>
              <a:srgbClr val="4E86FF">
                <a:alpha val="12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glow-bot"/>
            <p:cNvSpPr/>
            <p:nvPr/>
          </p:nvSpPr>
          <p:spPr>
            <a:xfrm rot="18900000">
              <a:off x="12668250" y="12287250"/>
              <a:ext cx="7429500" cy="304800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6FD2D6"/>
                </a:gs>
                <a:gs pos="100000">
                  <a:srgbClr val="5AA6EC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glow-cap-end"/>
            <p:cNvSpPr/>
            <p:nvPr/>
          </p:nvSpPr>
          <p:spPr>
            <a:xfrm>
              <a:off x="9429750" y="13049250"/>
              <a:ext cx="2000250" cy="2000250"/>
            </a:xfrm>
            <a:prstGeom prst="ellipse">
              <a:avLst/>
            </a:prstGeom>
            <a:gradFill rotWithShape="1">
              <a:gsLst>
                <a:gs pos="0">
                  <a:srgbClr val="8AE2DC"/>
                </a:gs>
                <a:gs pos="100000">
                  <a:srgbClr val="5FB4EC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glow-dark-br"/>
            <p:cNvSpPr/>
            <p:nvPr/>
          </p:nvSpPr>
          <p:spPr>
            <a:xfrm>
              <a:off x="20193000" y="9144000"/>
              <a:ext cx="14859000" cy="10668000"/>
            </a:xfrm>
            <a:prstGeom prst="ellipse">
              <a:avLst/>
            </a:prstGeom>
            <a:solidFill>
              <a:srgbClr val="2E4CAE">
                <a:alpha val="18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glow-dark-b"/>
            <p:cNvSpPr/>
            <p:nvPr/>
          </p:nvSpPr>
          <p:spPr>
            <a:xfrm>
              <a:off x="17145000" y="6667500"/>
              <a:ext cx="13335000" cy="9525000"/>
            </a:xfrm>
            <a:prstGeom prst="ellipse">
              <a:avLst/>
            </a:prstGeom>
            <a:solidFill>
              <a:srgbClr val="33529E">
                <a:alpha val="8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cap-teal-tr"/>
            <p:cNvSpPr/>
            <p:nvPr/>
          </p:nvSpPr>
          <p:spPr>
            <a:xfrm rot="18900000">
              <a:off x="16144875" y="2381250"/>
              <a:ext cx="9144000" cy="1428750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rgbClr val="6FA8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cap-big-mid"/>
            <p:cNvSpPr/>
            <p:nvPr/>
          </p:nvSpPr>
          <p:spPr>
            <a:xfrm rot="18900000">
              <a:off x="12144375" y="8620125"/>
              <a:ext cx="10953750" cy="2762250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rgbClr val="6FA8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cap-small-bc"/>
            <p:cNvSpPr/>
            <p:nvPr/>
          </p:nvSpPr>
          <p:spPr>
            <a:xfrm rot="18900000">
              <a:off x="8810625" y="11215688"/>
              <a:ext cx="4286250" cy="1381125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rgbClr val="6FA8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cap-bl"/>
            <p:cNvSpPr/>
            <p:nvPr/>
          </p:nvSpPr>
          <p:spPr>
            <a:xfrm rot="18900000">
              <a:off x="-571500" y="13811250"/>
              <a:ext cx="3048000" cy="1905000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rgbClr val="6FA8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cap-big-fill"/>
            <p:cNvSpPr/>
            <p:nvPr/>
          </p:nvSpPr>
          <p:spPr>
            <a:xfrm rot="18900000">
              <a:off x="12287250" y="8763000"/>
              <a:ext cx="10668000" cy="2476500"/>
            </a:xfrm>
            <a:prstGeom prst="roundRect">
              <a:avLst>
                <a:gd name="adj" fmla="val 50000"/>
              </a:avLst>
            </a:prstGeom>
            <a:solidFill>
              <a:srgbClr val="4E8CF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cap-teal-fill"/>
            <p:cNvSpPr/>
            <p:nvPr/>
          </p:nvSpPr>
          <p:spPr>
            <a:xfrm rot="18900000">
              <a:off x="16287750" y="2524125"/>
              <a:ext cx="8858250" cy="1143000"/>
            </a:xfrm>
            <a:prstGeom prst="roundRect">
              <a:avLst>
                <a:gd name="adj" fmla="val 50000"/>
              </a:avLst>
            </a:prstGeom>
            <a:solidFill>
              <a:srgbClr val="59C3DA">
                <a:alpha val="28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" name="line-1"/>
            <p:cNvCxnSpPr/>
            <p:nvPr/>
          </p:nvCxnSpPr>
          <p:spPr>
            <a:xfrm flipV="1">
              <a:off x="20878800" y="5181600"/>
              <a:ext cx="3886200" cy="3390900"/>
            </a:xfrm>
            <a:prstGeom prst="line">
              <a:avLst/>
            </a:prstGeom>
            <a:ln w="28575">
              <a:solidFill>
                <a:srgbClr val="9FD8E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line-2"/>
            <p:cNvCxnSpPr/>
            <p:nvPr/>
          </p:nvCxnSpPr>
          <p:spPr>
            <a:xfrm flipV="1">
              <a:off x="23241000" y="0"/>
              <a:ext cx="1143000" cy="1047750"/>
            </a:xfrm>
            <a:prstGeom prst="line">
              <a:avLst/>
            </a:prstGeom>
            <a:ln w="28575">
              <a:solidFill>
                <a:srgbClr val="9FD8E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ing-1"/>
            <p:cNvSpPr/>
            <p:nvPr/>
          </p:nvSpPr>
          <p:spPr>
            <a:xfrm>
              <a:off x="11601450" y="1619250"/>
              <a:ext cx="4800600" cy="4800600"/>
            </a:xfrm>
            <a:prstGeom prst="ellipse">
              <a:avLst/>
            </a:prstGeom>
            <a:noFill/>
            <a:ln w="28575">
              <a:solidFill>
                <a:srgbClr val="9AE4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ri-1"/>
            <p:cNvSpPr/>
            <p:nvPr/>
          </p:nvSpPr>
          <p:spPr>
            <a:xfrm>
              <a:off x="24574500" y="7239000"/>
              <a:ext cx="1047750" cy="1047750"/>
            </a:xfrm>
            <a:custGeom>
              <a:avLst/>
              <a:gdLst/>
              <a:ahLst/>
              <a:cxnLst/>
              <a:rect l="l" t="t" r="r" b="b"/>
              <a:pathLst>
                <a:path w="1047750" h="1047750">
                  <a:moveTo>
                    <a:pt x="0" y="1047750"/>
                  </a:moveTo>
                  <a:lnTo>
                    <a:pt x="1047750" y="1047750"/>
                  </a:lnTo>
                  <a:lnTo>
                    <a:pt x="523875" y="0"/>
                  </a:lnTo>
                  <a:close/>
                </a:path>
              </a:pathLst>
            </a:custGeom>
            <a:noFill/>
            <a:ln w="19050">
              <a:solidFill>
                <a:srgbClr val="A8DC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ri-2"/>
            <p:cNvSpPr/>
            <p:nvPr/>
          </p:nvSpPr>
          <p:spPr>
            <a:xfrm>
              <a:off x="19550062" y="8739188"/>
              <a:ext cx="904876" cy="904874"/>
            </a:xfrm>
            <a:custGeom>
              <a:avLst/>
              <a:gdLst/>
              <a:ahLst/>
              <a:cxnLst/>
              <a:rect l="l" t="t" r="r" b="b"/>
              <a:pathLst>
                <a:path w="904876" h="904874">
                  <a:moveTo>
                    <a:pt x="0" y="904874"/>
                  </a:moveTo>
                  <a:lnTo>
                    <a:pt x="904876" y="904874"/>
                  </a:lnTo>
                  <a:lnTo>
                    <a:pt x="452438" y="0"/>
                  </a:lnTo>
                  <a:close/>
                </a:path>
              </a:pathLst>
            </a:custGeom>
            <a:noFill/>
            <a:ln w="19050">
              <a:solidFill>
                <a:srgbClr val="A8DC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ri-3"/>
            <p:cNvSpPr/>
            <p:nvPr/>
          </p:nvSpPr>
          <p:spPr>
            <a:xfrm>
              <a:off x="24122062" y="12644438"/>
              <a:ext cx="1000126" cy="1000124"/>
            </a:xfrm>
            <a:custGeom>
              <a:avLst/>
              <a:gdLst/>
              <a:ahLst/>
              <a:cxnLst/>
              <a:rect l="l" t="t" r="r" b="b"/>
              <a:pathLst>
                <a:path w="1000126" h="1000124">
                  <a:moveTo>
                    <a:pt x="0" y="1000124"/>
                  </a:moveTo>
                  <a:lnTo>
                    <a:pt x="1000126" y="1000124"/>
                  </a:lnTo>
                  <a:lnTo>
                    <a:pt x="500063" y="0"/>
                  </a:lnTo>
                  <a:close/>
                </a:path>
              </a:pathLst>
            </a:custGeom>
            <a:noFill/>
            <a:ln w="19050">
              <a:solidFill>
                <a:srgbClr val="A8DC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ri-4"/>
            <p:cNvSpPr/>
            <p:nvPr/>
          </p:nvSpPr>
          <p:spPr>
            <a:xfrm>
              <a:off x="13620750" y="76200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762000"/>
                  </a:moveTo>
                  <a:lnTo>
                    <a:pt x="762000" y="762000"/>
                  </a:lnTo>
                  <a:lnTo>
                    <a:pt x="381000" y="0"/>
                  </a:lnTo>
                  <a:close/>
                </a:path>
              </a:pathLst>
            </a:custGeom>
            <a:noFill/>
            <a:ln w="19050">
              <a:solidFill>
                <a:srgbClr val="A8DC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2" name="texts"/>
          <p:cNvGrpSpPr/>
          <p:nvPr/>
        </p:nvGrpSpPr>
        <p:grpSpPr>
          <a:xfrm>
            <a:off x="2190750" y="2981325"/>
            <a:ext cx="15230475" cy="8886825"/>
            <a:chOff x="2190750" y="2981325"/>
            <a:chExt cx="15230475" cy="8886825"/>
          </a:xfrm>
        </p:grpSpPr>
        <p:sp>
          <p:nvSpPr>
            <p:cNvPr id="24" name="title-1"/>
            <p:cNvSpPr txBox="1"/>
            <p:nvPr/>
          </p:nvSpPr>
          <p:spPr>
            <a:xfrm>
              <a:off x="2543175" y="2981325"/>
              <a:ext cx="14859000" cy="2571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575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职场高效沟通的</a:t>
              </a:r>
            </a:p>
          </p:txBody>
        </p:sp>
        <p:sp>
          <p:nvSpPr>
            <p:cNvPr id="25" name="title-2"/>
            <p:cNvSpPr txBox="1"/>
            <p:nvPr/>
          </p:nvSpPr>
          <p:spPr>
            <a:xfrm>
              <a:off x="2562225" y="5600700"/>
              <a:ext cx="14859000" cy="2571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575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核心要素</a:t>
              </a:r>
            </a:p>
          </p:txBody>
        </p:sp>
        <p:sp>
          <p:nvSpPr>
            <p:cNvPr id="26" name="subtitle"/>
            <p:cNvSpPr txBox="1"/>
            <p:nvPr/>
          </p:nvSpPr>
          <p:spPr>
            <a:xfrm>
              <a:off x="2562225" y="8620125"/>
              <a:ext cx="14859000" cy="17621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9150" b="0" i="0" spc="105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从理论到实践的全面指南</a:t>
              </a:r>
            </a:p>
          </p:txBody>
        </p:sp>
        <p:grpSp>
          <p:nvGrpSpPr>
            <p:cNvPr id="30" name="pill"/>
            <p:cNvGrpSpPr/>
            <p:nvPr/>
          </p:nvGrpSpPr>
          <p:grpSpPr>
            <a:xfrm>
              <a:off x="2190750" y="10868025"/>
              <a:ext cx="8382000" cy="1000125"/>
              <a:chOff x="2190750" y="10868025"/>
              <a:chExt cx="8382000" cy="1000125"/>
            </a:xfrm>
          </p:grpSpPr>
          <p:sp>
            <p:nvSpPr>
              <p:cNvPr id="27" name="pill-bg"/>
              <p:cNvSpPr/>
              <p:nvPr/>
            </p:nvSpPr>
            <p:spPr>
              <a:xfrm>
                <a:off x="2190750" y="10868025"/>
                <a:ext cx="8382000" cy="1000125"/>
              </a:xfrm>
              <a:prstGeom prst="roundRect">
                <a:avLst>
                  <a:gd name="adj" fmla="val 50000"/>
                </a:avLst>
              </a:prstGeom>
              <a:noFill/>
              <a:ln w="42862">
                <a:solidFill>
                  <a:srgbClr val="FFFFF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pill-t"/>
              <p:cNvSpPr txBox="1"/>
              <p:nvPr/>
            </p:nvSpPr>
            <p:spPr>
              <a:xfrm>
                <a:off x="2190750" y="10868025"/>
                <a:ext cx="8382000" cy="1000125"/>
              </a:xfrm>
              <a:prstGeom prst="rect">
                <a:avLst/>
              </a:prstGeom>
              <a:noFill/>
              <a:effectLst/>
            </p:spPr>
            <p:txBody>
              <a:bodyPr wrap="square" lIns="0" rIns="0" t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75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演讲人：XXX | 时间：202X.XX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