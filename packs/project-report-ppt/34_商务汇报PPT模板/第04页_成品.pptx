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44" name="page-01"/>
          <p:cNvGrpSpPr/>
          <p:nvPr/>
        </p:nvGrpSpPr>
        <p:grpSpPr>
          <a:xfrm>
            <a:off x="895350" y="1447800"/>
            <a:ext cx="28670250" cy="14820900"/>
            <a:chOff x="895350" y="1447800"/>
            <a:chExt cx="28670250" cy="14820900"/>
          </a:xfrm>
        </p:grpSpPr>
        <p:sp>
          <p:nvSpPr>
            <p:cNvPr id="3" name="hdr-bg"/>
            <p:cNvSpPr/>
            <p:nvPr/>
          </p:nvSpPr>
          <p:spPr>
            <a:xfrm>
              <a:off x="1981200" y="1447800"/>
              <a:ext cx="25679400" cy="1562100"/>
            </a:xfrm>
            <a:prstGeom prst="roundRect">
              <a:avLst>
                <a:gd name="adj" fmla="val 50000"/>
              </a:avLst>
            </a:prstGeom>
            <a:solidFill>
              <a:srgbClr val="EEF0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dr-blue"/>
            <p:cNvSpPr/>
            <p:nvPr/>
          </p:nvSpPr>
          <p:spPr>
            <a:xfrm>
              <a:off x="1981200" y="1447800"/>
              <a:ext cx="13877925" cy="15621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4A80FF"/>
                </a:gs>
                <a:gs pos="100000">
                  <a:srgbClr val="342EC6"/>
                </a:gs>
              </a:gsLst>
              <a:lin scaled="0" ang="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dr-badge"/>
            <p:cNvSpPr/>
            <p:nvPr/>
          </p:nvSpPr>
          <p:spPr>
            <a:xfrm>
              <a:off x="26365200" y="1562100"/>
              <a:ext cx="1295400" cy="1295400"/>
            </a:xfrm>
            <a:prstGeom prst="ellipse">
              <a:avLst/>
            </a:prstGeom>
            <a:solidFill>
              <a:srgbClr val="385A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dr-title"/>
            <p:cNvSpPr txBox="1"/>
            <p:nvPr/>
          </p:nvSpPr>
          <p:spPr>
            <a:xfrm>
              <a:off x="2886075" y="1678305"/>
              <a:ext cx="12105132" cy="11191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70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结构化表达 — 让信息清晰有力</a:t>
              </a:r>
            </a:p>
          </p:txBody>
        </p:sp>
        <p:sp>
          <p:nvSpPr>
            <p:cNvPr id="7" name="hdr-num"/>
            <p:cNvSpPr txBox="1"/>
            <p:nvPr/>
          </p:nvSpPr>
          <p:spPr>
            <a:xfrm>
              <a:off x="26365200" y="1664970"/>
              <a:ext cx="1295400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2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8" name="desc-shadow"/>
            <p:cNvSpPr/>
            <p:nvPr/>
          </p:nvSpPr>
          <p:spPr>
            <a:xfrm>
              <a:off x="3314700" y="3790950"/>
              <a:ext cx="23964900" cy="2057400"/>
            </a:xfrm>
            <a:prstGeom prst="roundRect">
              <a:avLst>
                <a:gd name="adj" fmla="val 12037"/>
              </a:avLst>
            </a:prstGeom>
            <a:solidFill>
              <a:srgbClr val="F5F7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esc-card"/>
            <p:cNvSpPr/>
            <p:nvPr/>
          </p:nvSpPr>
          <p:spPr>
            <a:xfrm>
              <a:off x="3228975" y="3695700"/>
              <a:ext cx="24060150" cy="2114550"/>
            </a:xfrm>
            <a:prstGeom prst="roundRect">
              <a:avLst>
                <a:gd name="adj" fmla="val 11711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esc-mark"/>
            <p:cNvSpPr/>
            <p:nvPr/>
          </p:nvSpPr>
          <p:spPr>
            <a:xfrm>
              <a:off x="3390900" y="3848100"/>
              <a:ext cx="419100" cy="181927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5B8DFB"/>
                </a:gs>
                <a:gs pos="100000">
                  <a:srgbClr val="3160EF"/>
                </a:gs>
              </a:gsLst>
              <a:lin scaled="0" ang="54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esc-mark-tip"/>
            <p:cNvSpPr/>
            <p:nvPr/>
          </p:nvSpPr>
          <p:spPr>
            <a:xfrm>
              <a:off x="3790950" y="4648200"/>
              <a:ext cx="190500" cy="209550"/>
            </a:xfrm>
            <a:custGeom>
              <a:avLst/>
              <a:gdLst/>
              <a:ahLst/>
              <a:cxnLst/>
              <a:rect l="l" t="t" r="r" b="b"/>
              <a:pathLst>
                <a:path w="190500" h="209550">
                  <a:moveTo>
                    <a:pt x="0" y="0"/>
                  </a:moveTo>
                  <a:lnTo>
                    <a:pt x="190500" y="104775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rgbClr val="3A6BF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esc-l1"/>
            <p:cNvSpPr txBox="1"/>
            <p:nvPr/>
          </p:nvSpPr>
          <p:spPr>
            <a:xfrm>
              <a:off x="4333875" y="4129088"/>
              <a:ext cx="22288500" cy="56578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62" b="0" i="0">
                  <a:solidFill>
                    <a:srgbClr val="262626"/>
                  </a:solidFill>
                  <a:latin typeface="Microsoft YaHei"/>
                  <a:ea typeface="Microsoft YaHei"/>
                  <a:cs typeface="Microsoft YaHei"/>
                </a:rPr>
                <a:t>人类大脑倾向于从全局到细节、从结论到原因的方式处理信息。“结论先行”正是顺应这一认知习惯，要求我们</a:t>
              </a:r>
            </a:p>
          </p:txBody>
        </p:sp>
        <p:sp>
          <p:nvSpPr>
            <p:cNvPr id="13" name="desc-l2"/>
            <p:cNvSpPr txBox="1"/>
            <p:nvPr/>
          </p:nvSpPr>
          <p:spPr>
            <a:xfrm>
              <a:off x="4333875" y="4719638"/>
              <a:ext cx="10614184" cy="56578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62" b="0" i="0">
                  <a:solidFill>
                    <a:srgbClr val="262626"/>
                  </a:solidFill>
                  <a:latin typeface="Microsoft YaHei"/>
                  <a:ea typeface="Microsoft YaHei"/>
                  <a:cs typeface="Microsoft YaHei"/>
                </a:rPr>
                <a:t>在沟通最开始就抛出核心观点，再逐层展开支撑论据</a:t>
              </a:r>
            </a:p>
          </p:txBody>
        </p:sp>
        <p:sp>
          <p:nvSpPr>
            <p:cNvPr id="14" name="tier-1-shadow"/>
            <p:cNvSpPr/>
            <p:nvPr/>
          </p:nvSpPr>
          <p:spPr>
            <a:xfrm>
              <a:off x="14087475" y="7372350"/>
              <a:ext cx="3171825" cy="1400175"/>
            </a:xfrm>
            <a:custGeom>
              <a:avLst/>
              <a:gdLst/>
              <a:ahLst/>
              <a:cxnLst/>
              <a:rect l="l" t="t" r="r" b="b"/>
              <a:pathLst>
                <a:path w="3171825" h="1400175">
                  <a:moveTo>
                    <a:pt x="847725" y="0"/>
                  </a:moveTo>
                  <a:lnTo>
                    <a:pt x="2390775" y="0"/>
                  </a:lnTo>
                  <a:lnTo>
                    <a:pt x="3171825" y="1400175"/>
                  </a:lnTo>
                  <a:lnTo>
                    <a:pt x="0" y="1400175"/>
                  </a:lnTo>
                  <a:close/>
                </a:path>
              </a:pathLst>
            </a:custGeom>
            <a:solidFill>
              <a:srgbClr val="EFF1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ier-2-shadow"/>
            <p:cNvSpPr/>
            <p:nvPr/>
          </p:nvSpPr>
          <p:spPr>
            <a:xfrm>
              <a:off x="13011150" y="9267825"/>
              <a:ext cx="5334000" cy="1409700"/>
            </a:xfrm>
            <a:custGeom>
              <a:avLst/>
              <a:gdLst/>
              <a:ahLst/>
              <a:cxnLst/>
              <a:rect l="l" t="t" r="r" b="b"/>
              <a:pathLst>
                <a:path w="5334000" h="1409700">
                  <a:moveTo>
                    <a:pt x="781050" y="0"/>
                  </a:moveTo>
                  <a:lnTo>
                    <a:pt x="4572000" y="0"/>
                  </a:lnTo>
                  <a:lnTo>
                    <a:pt x="5334000" y="1409700"/>
                  </a:lnTo>
                  <a:lnTo>
                    <a:pt x="0" y="1409700"/>
                  </a:lnTo>
                  <a:close/>
                </a:path>
              </a:pathLst>
            </a:custGeom>
            <a:solidFill>
              <a:srgbClr val="EFF1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tier-3-shadow"/>
            <p:cNvSpPr/>
            <p:nvPr/>
          </p:nvSpPr>
          <p:spPr>
            <a:xfrm>
              <a:off x="11896725" y="11163300"/>
              <a:ext cx="7543800" cy="1409700"/>
            </a:xfrm>
            <a:custGeom>
              <a:avLst/>
              <a:gdLst/>
              <a:ahLst/>
              <a:cxnLst/>
              <a:rect l="l" t="t" r="r" b="b"/>
              <a:pathLst>
                <a:path w="7543800" h="1409700">
                  <a:moveTo>
                    <a:pt x="828675" y="0"/>
                  </a:moveTo>
                  <a:lnTo>
                    <a:pt x="6772275" y="0"/>
                  </a:lnTo>
                  <a:lnTo>
                    <a:pt x="7543800" y="1409700"/>
                  </a:lnTo>
                  <a:lnTo>
                    <a:pt x="0" y="1409700"/>
                  </a:lnTo>
                  <a:close/>
                </a:path>
              </a:pathLst>
            </a:custGeom>
            <a:solidFill>
              <a:srgbClr val="EFF1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ier-4-shadow"/>
            <p:cNvSpPr/>
            <p:nvPr/>
          </p:nvSpPr>
          <p:spPr>
            <a:xfrm>
              <a:off x="10801350" y="13068300"/>
              <a:ext cx="9734550" cy="1400175"/>
            </a:xfrm>
            <a:custGeom>
              <a:avLst/>
              <a:gdLst/>
              <a:ahLst/>
              <a:cxnLst/>
              <a:rect l="l" t="t" r="r" b="b"/>
              <a:pathLst>
                <a:path w="9734550" h="1400175">
                  <a:moveTo>
                    <a:pt x="809625" y="0"/>
                  </a:moveTo>
                  <a:lnTo>
                    <a:pt x="8972550" y="0"/>
                  </a:lnTo>
                  <a:lnTo>
                    <a:pt x="9734550" y="1400175"/>
                  </a:lnTo>
                  <a:lnTo>
                    <a:pt x="0" y="1400175"/>
                  </a:lnTo>
                  <a:close/>
                </a:path>
              </a:pathLst>
            </a:custGeom>
            <a:solidFill>
              <a:srgbClr val="EFF1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ase-shadow-2"/>
            <p:cNvSpPr/>
            <p:nvPr/>
          </p:nvSpPr>
          <p:spPr>
            <a:xfrm>
              <a:off x="10801350" y="13430250"/>
              <a:ext cx="9734550" cy="1400175"/>
            </a:xfrm>
            <a:custGeom>
              <a:avLst/>
              <a:gdLst/>
              <a:ahLst/>
              <a:cxnLst/>
              <a:rect l="l" t="t" r="r" b="b"/>
              <a:pathLst>
                <a:path w="9734550" h="1400175">
                  <a:moveTo>
                    <a:pt x="809625" y="0"/>
                  </a:moveTo>
                  <a:lnTo>
                    <a:pt x="8972550" y="0"/>
                  </a:lnTo>
                  <a:lnTo>
                    <a:pt x="9734550" y="1400175"/>
                  </a:lnTo>
                  <a:lnTo>
                    <a:pt x="0" y="1400175"/>
                  </a:lnTo>
                  <a:close/>
                </a:path>
              </a:pathLst>
            </a:custGeom>
            <a:solidFill>
              <a:srgbClr val="F7F8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ier-1"/>
            <p:cNvSpPr/>
            <p:nvPr/>
          </p:nvSpPr>
          <p:spPr>
            <a:xfrm>
              <a:off x="14087475" y="6877050"/>
              <a:ext cx="3171825" cy="1400175"/>
            </a:xfrm>
            <a:custGeom>
              <a:avLst/>
              <a:gdLst/>
              <a:ahLst/>
              <a:cxnLst/>
              <a:rect l="l" t="t" r="r" b="b"/>
              <a:pathLst>
                <a:path w="3171825" h="1400175">
                  <a:moveTo>
                    <a:pt x="847725" y="0"/>
                  </a:moveTo>
                  <a:lnTo>
                    <a:pt x="2390775" y="0"/>
                  </a:lnTo>
                  <a:lnTo>
                    <a:pt x="3171825" y="1400175"/>
                  </a:lnTo>
                  <a:lnTo>
                    <a:pt x="0" y="1400175"/>
                  </a:lnTo>
                  <a:close/>
                </a:path>
              </a:pathLst>
            </a:custGeom>
            <a:gradFill rotWithShape="1">
              <a:gsLst>
                <a:gs pos="0">
                  <a:srgbClr val="4479F9"/>
                </a:gs>
                <a:gs pos="100000">
                  <a:srgbClr val="335AE6"/>
                </a:gs>
              </a:gsLst>
              <a:lin scaled="0" ang="54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ier-1-txt"/>
            <p:cNvSpPr txBox="1"/>
            <p:nvPr/>
          </p:nvSpPr>
          <p:spPr>
            <a:xfrm>
              <a:off x="14289405" y="7493318"/>
              <a:ext cx="2823210" cy="6781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2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增强说服力</a:t>
              </a:r>
            </a:p>
          </p:txBody>
        </p:sp>
        <p:sp>
          <p:nvSpPr>
            <p:cNvPr id="21" name="tier-2"/>
            <p:cNvSpPr/>
            <p:nvPr/>
          </p:nvSpPr>
          <p:spPr>
            <a:xfrm>
              <a:off x="13011150" y="8772525"/>
              <a:ext cx="5334000" cy="1409700"/>
            </a:xfrm>
            <a:custGeom>
              <a:avLst/>
              <a:gdLst/>
              <a:ahLst/>
              <a:cxnLst/>
              <a:rect l="l" t="t" r="r" b="b"/>
              <a:pathLst>
                <a:path w="5334000" h="1409700">
                  <a:moveTo>
                    <a:pt x="781050" y="0"/>
                  </a:moveTo>
                  <a:lnTo>
                    <a:pt x="4572000" y="0"/>
                  </a:lnTo>
                  <a:lnTo>
                    <a:pt x="5334000" y="1409700"/>
                  </a:lnTo>
                  <a:lnTo>
                    <a:pt x="0" y="1409700"/>
                  </a:lnTo>
                  <a:close/>
                </a:path>
              </a:pathLst>
            </a:custGeom>
            <a:gradFill rotWithShape="1">
              <a:gsLst>
                <a:gs pos="0">
                  <a:srgbClr val="4479F9"/>
                </a:gs>
                <a:gs pos="100000">
                  <a:srgbClr val="335AE6"/>
                </a:gs>
              </a:gsLst>
              <a:lin scaled="0" ang="54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tier-2-txt"/>
            <p:cNvSpPr txBox="1"/>
            <p:nvPr/>
          </p:nvSpPr>
          <p:spPr>
            <a:xfrm>
              <a:off x="14490382" y="9079230"/>
              <a:ext cx="2417064" cy="72580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专业形象</a:t>
              </a:r>
            </a:p>
          </p:txBody>
        </p:sp>
        <p:sp>
          <p:nvSpPr>
            <p:cNvPr id="23" name="tier-3"/>
            <p:cNvSpPr/>
            <p:nvPr/>
          </p:nvSpPr>
          <p:spPr>
            <a:xfrm>
              <a:off x="11896725" y="10668000"/>
              <a:ext cx="7543800" cy="1409700"/>
            </a:xfrm>
            <a:custGeom>
              <a:avLst/>
              <a:gdLst/>
              <a:ahLst/>
              <a:cxnLst/>
              <a:rect l="l" t="t" r="r" b="b"/>
              <a:pathLst>
                <a:path w="7543800" h="1409700">
                  <a:moveTo>
                    <a:pt x="828675" y="0"/>
                  </a:moveTo>
                  <a:lnTo>
                    <a:pt x="6772275" y="0"/>
                  </a:lnTo>
                  <a:lnTo>
                    <a:pt x="7543800" y="1409700"/>
                  </a:lnTo>
                  <a:lnTo>
                    <a:pt x="0" y="1409700"/>
                  </a:lnTo>
                  <a:close/>
                </a:path>
              </a:pathLst>
            </a:custGeom>
            <a:gradFill rotWithShape="1">
              <a:gsLst>
                <a:gs pos="0">
                  <a:srgbClr val="4479F9"/>
                </a:gs>
                <a:gs pos="100000">
                  <a:srgbClr val="335AE6"/>
                </a:gs>
              </a:gsLst>
              <a:lin scaled="0" ang="54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ier-3-txt"/>
            <p:cNvSpPr txBox="1"/>
            <p:nvPr/>
          </p:nvSpPr>
          <p:spPr>
            <a:xfrm>
              <a:off x="14490382" y="11041380"/>
              <a:ext cx="2417064" cy="72580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降低负荷</a:t>
              </a:r>
            </a:p>
          </p:txBody>
        </p:sp>
        <p:sp>
          <p:nvSpPr>
            <p:cNvPr id="25" name="tier-4"/>
            <p:cNvSpPr/>
            <p:nvPr/>
          </p:nvSpPr>
          <p:spPr>
            <a:xfrm>
              <a:off x="10801350" y="12573000"/>
              <a:ext cx="9734550" cy="1400175"/>
            </a:xfrm>
            <a:custGeom>
              <a:avLst/>
              <a:gdLst/>
              <a:ahLst/>
              <a:cxnLst/>
              <a:rect l="l" t="t" r="r" b="b"/>
              <a:pathLst>
                <a:path w="9734550" h="1400175">
                  <a:moveTo>
                    <a:pt x="809625" y="0"/>
                  </a:moveTo>
                  <a:lnTo>
                    <a:pt x="8972550" y="0"/>
                  </a:lnTo>
                  <a:lnTo>
                    <a:pt x="9734550" y="1400175"/>
                  </a:lnTo>
                  <a:lnTo>
                    <a:pt x="0" y="1400175"/>
                  </a:lnTo>
                  <a:close/>
                </a:path>
              </a:pathLst>
            </a:custGeom>
            <a:gradFill rotWithShape="1">
              <a:gsLst>
                <a:gs pos="0">
                  <a:srgbClr val="4479F9"/>
                </a:gs>
                <a:gs pos="100000">
                  <a:srgbClr val="335AE6"/>
                </a:gs>
              </a:gsLst>
              <a:lin scaled="0" ang="54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ier-4-txt"/>
            <p:cNvSpPr txBox="1"/>
            <p:nvPr/>
          </p:nvSpPr>
          <p:spPr>
            <a:xfrm>
              <a:off x="14490382" y="12927330"/>
              <a:ext cx="2417064" cy="72580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节省时间</a:t>
              </a:r>
            </a:p>
          </p:txBody>
        </p:sp>
        <p:sp>
          <p:nvSpPr>
            <p:cNvPr id="27" name="arrow-1"/>
            <p:cNvSpPr/>
            <p:nvPr/>
          </p:nvSpPr>
          <p:spPr>
            <a:xfrm>
              <a:off x="17383125" y="6877050"/>
              <a:ext cx="2105025" cy="1304925"/>
            </a:xfrm>
            <a:prstGeom prst="rightArrow">
              <a:avLst/>
            </a:prstGeom>
            <a:gradFill rotWithShape="1">
              <a:gsLst>
                <a:gs pos="0">
                  <a:srgbClr val="EFF4FE"/>
                </a:gs>
                <a:gs pos="100000">
                  <a:srgbClr val="4A7CFA"/>
                </a:gs>
              </a:gsLst>
              <a:lin scaled="0" ang="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arrow-2"/>
            <p:cNvSpPr/>
            <p:nvPr/>
          </p:nvSpPr>
          <p:spPr>
            <a:xfrm>
              <a:off x="10934700" y="8743950"/>
              <a:ext cx="2647950" cy="1343025"/>
            </a:xfrm>
            <a:prstGeom prst="leftArrow">
              <a:avLst/>
            </a:prstGeom>
            <a:gradFill rotWithShape="1">
              <a:gsLst>
                <a:gs pos="0">
                  <a:srgbClr val="EFF4FE"/>
                </a:gs>
                <a:gs pos="100000">
                  <a:srgbClr val="4A7CFA"/>
                </a:gs>
              </a:gsLst>
              <a:lin scaled="0" ang="108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arrow-3"/>
            <p:cNvSpPr/>
            <p:nvPr/>
          </p:nvSpPr>
          <p:spPr>
            <a:xfrm>
              <a:off x="19621500" y="10658475"/>
              <a:ext cx="2105025" cy="1333500"/>
            </a:xfrm>
            <a:prstGeom prst="rightArrow">
              <a:avLst/>
            </a:prstGeom>
            <a:gradFill rotWithShape="1">
              <a:gsLst>
                <a:gs pos="0">
                  <a:srgbClr val="EFF4FE"/>
                </a:gs>
                <a:gs pos="100000">
                  <a:srgbClr val="4A7CFA"/>
                </a:gs>
              </a:gsLst>
              <a:lin scaled="0" ang="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arrow-4"/>
            <p:cNvSpPr/>
            <p:nvPr/>
          </p:nvSpPr>
          <p:spPr>
            <a:xfrm>
              <a:off x="8810625" y="12496800"/>
              <a:ext cx="2390775" cy="1343025"/>
            </a:xfrm>
            <a:prstGeom prst="leftArrow">
              <a:avLst/>
            </a:prstGeom>
            <a:gradFill rotWithShape="1">
              <a:gsLst>
                <a:gs pos="0">
                  <a:srgbClr val="EFF4FE"/>
                </a:gs>
                <a:gs pos="100000">
                  <a:srgbClr val="4A7CFA"/>
                </a:gs>
              </a:gsLst>
              <a:lin scaled="0" ang="108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xt-tr-1"/>
            <p:cNvSpPr txBox="1"/>
            <p:nvPr/>
          </p:nvSpPr>
          <p:spPr>
            <a:xfrm>
              <a:off x="20135850" y="6642735"/>
              <a:ext cx="4197096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62626"/>
                  </a:solidFill>
                  <a:latin typeface="Microsoft YaHei"/>
                  <a:ea typeface="Microsoft YaHei"/>
                  <a:cs typeface="Microsoft YaHei"/>
                </a:rPr>
                <a:t>结构化逻辑，精准传</a:t>
              </a:r>
            </a:p>
          </p:txBody>
        </p:sp>
        <p:sp>
          <p:nvSpPr>
            <p:cNvPr id="32" name="txt-tr-2"/>
            <p:cNvSpPr txBox="1"/>
            <p:nvPr/>
          </p:nvSpPr>
          <p:spPr>
            <a:xfrm>
              <a:off x="20135850" y="7238048"/>
              <a:ext cx="4197096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62626"/>
                  </a:solidFill>
                  <a:latin typeface="Microsoft YaHei"/>
                  <a:ea typeface="Microsoft YaHei"/>
                  <a:cs typeface="Microsoft YaHei"/>
                </a:rPr>
                <a:t>达，大幅提升沟通认</a:t>
              </a:r>
            </a:p>
          </p:txBody>
        </p:sp>
        <p:sp>
          <p:nvSpPr>
            <p:cNvPr id="33" name="txt-tr-3"/>
            <p:cNvSpPr txBox="1"/>
            <p:nvPr/>
          </p:nvSpPr>
          <p:spPr>
            <a:xfrm>
              <a:off x="20135850" y="7833360"/>
              <a:ext cx="4048125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62626"/>
                  </a:solidFill>
                  <a:latin typeface="Microsoft YaHei"/>
                  <a:ea typeface="Microsoft YaHei"/>
                  <a:cs typeface="Microsoft YaHei"/>
                </a:rPr>
                <a:t>可度</a:t>
              </a:r>
            </a:p>
          </p:txBody>
        </p:sp>
        <p:sp>
          <p:nvSpPr>
            <p:cNvPr id="34" name="txt-ml-1"/>
            <p:cNvSpPr txBox="1"/>
            <p:nvPr/>
          </p:nvSpPr>
          <p:spPr>
            <a:xfrm>
              <a:off x="6089904" y="8528685"/>
              <a:ext cx="4197096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600" b="0" i="0">
                  <a:solidFill>
                    <a:srgbClr val="262626"/>
                  </a:solidFill>
                  <a:latin typeface="Microsoft YaHei"/>
                  <a:ea typeface="Microsoft YaHei"/>
                  <a:cs typeface="Microsoft YaHei"/>
                </a:rPr>
                <a:t>展现清晰的逻辑思维</a:t>
              </a:r>
            </a:p>
          </p:txBody>
        </p:sp>
        <p:sp>
          <p:nvSpPr>
            <p:cNvPr id="35" name="txt-ml-2"/>
            <p:cNvSpPr txBox="1"/>
            <p:nvPr/>
          </p:nvSpPr>
          <p:spPr>
            <a:xfrm>
              <a:off x="6089904" y="9123998"/>
              <a:ext cx="4197096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600" b="0" i="0">
                  <a:solidFill>
                    <a:srgbClr val="262626"/>
                  </a:solidFill>
                  <a:latin typeface="Microsoft YaHei"/>
                  <a:ea typeface="Microsoft YaHei"/>
                  <a:cs typeface="Microsoft YaHei"/>
                </a:rPr>
                <a:t>能力与高度概括的职</a:t>
              </a:r>
            </a:p>
          </p:txBody>
        </p:sp>
        <p:sp>
          <p:nvSpPr>
            <p:cNvPr id="36" name="txt-ml-3"/>
            <p:cNvSpPr txBox="1"/>
            <p:nvPr/>
          </p:nvSpPr>
          <p:spPr>
            <a:xfrm>
              <a:off x="6238875" y="9719310"/>
              <a:ext cx="4048125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600" b="0" i="0">
                  <a:solidFill>
                    <a:srgbClr val="262626"/>
                  </a:solidFill>
                  <a:latin typeface="Microsoft YaHei"/>
                  <a:ea typeface="Microsoft YaHei"/>
                  <a:cs typeface="Microsoft YaHei"/>
                </a:rPr>
                <a:t>业素养</a:t>
              </a:r>
            </a:p>
          </p:txBody>
        </p:sp>
        <p:sp>
          <p:nvSpPr>
            <p:cNvPr id="37" name="txt-lr-1"/>
            <p:cNvSpPr txBox="1"/>
            <p:nvPr/>
          </p:nvSpPr>
          <p:spPr>
            <a:xfrm>
              <a:off x="22155150" y="10424160"/>
              <a:ext cx="4197096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62626"/>
                  </a:solidFill>
                  <a:latin typeface="Microsoft YaHei"/>
                  <a:ea typeface="Microsoft YaHei"/>
                  <a:cs typeface="Microsoft YaHei"/>
                </a:rPr>
                <a:t>避免听众在冗长铺垫</a:t>
              </a:r>
            </a:p>
          </p:txBody>
        </p:sp>
        <p:sp>
          <p:nvSpPr>
            <p:cNvPr id="38" name="txt-lr-2"/>
            <p:cNvSpPr txBox="1"/>
            <p:nvPr/>
          </p:nvSpPr>
          <p:spPr>
            <a:xfrm>
              <a:off x="22155150" y="11019472"/>
              <a:ext cx="4197096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62626"/>
                  </a:solidFill>
                  <a:latin typeface="Microsoft YaHei"/>
                  <a:ea typeface="Microsoft YaHei"/>
                  <a:cs typeface="Microsoft YaHei"/>
                </a:rPr>
                <a:t>中迷失方向，提升信</a:t>
              </a:r>
            </a:p>
          </p:txBody>
        </p:sp>
        <p:sp>
          <p:nvSpPr>
            <p:cNvPr id="39" name="txt-lr-3"/>
            <p:cNvSpPr txBox="1"/>
            <p:nvPr/>
          </p:nvSpPr>
          <p:spPr>
            <a:xfrm>
              <a:off x="22155150" y="11614785"/>
              <a:ext cx="405765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62626"/>
                  </a:solidFill>
                  <a:latin typeface="Microsoft YaHei"/>
                  <a:ea typeface="Microsoft YaHei"/>
                  <a:cs typeface="Microsoft YaHei"/>
                </a:rPr>
                <a:t>息接收效率</a:t>
              </a:r>
            </a:p>
          </p:txBody>
        </p:sp>
        <p:sp>
          <p:nvSpPr>
            <p:cNvPr id="40" name="txt-bl-1"/>
            <p:cNvSpPr txBox="1"/>
            <p:nvPr/>
          </p:nvSpPr>
          <p:spPr>
            <a:xfrm>
              <a:off x="4070604" y="12567285"/>
              <a:ext cx="4197096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600" b="0" i="0">
                  <a:solidFill>
                    <a:srgbClr val="262626"/>
                  </a:solidFill>
                  <a:latin typeface="Microsoft YaHei"/>
                  <a:ea typeface="Microsoft YaHei"/>
                  <a:cs typeface="Microsoft YaHei"/>
                </a:rPr>
                <a:t>让听众在最短时间内</a:t>
              </a:r>
            </a:p>
          </p:txBody>
        </p:sp>
        <p:sp>
          <p:nvSpPr>
            <p:cNvPr id="41" name="txt-bl-2"/>
            <p:cNvSpPr txBox="1"/>
            <p:nvPr/>
          </p:nvSpPr>
          <p:spPr>
            <a:xfrm>
              <a:off x="4070604" y="13162598"/>
              <a:ext cx="4197096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600" b="0" i="0">
                  <a:solidFill>
                    <a:srgbClr val="262626"/>
                  </a:solidFill>
                  <a:latin typeface="Microsoft YaHei"/>
                  <a:ea typeface="Microsoft YaHei"/>
                  <a:cs typeface="Microsoft YaHei"/>
                </a:rPr>
                <a:t>抓住沟通的核心意图</a:t>
              </a:r>
            </a:p>
          </p:txBody>
        </p:sp>
        <p:sp>
          <p:nvSpPr>
            <p:cNvPr id="42" name="footer-bar"/>
            <p:cNvSpPr/>
            <p:nvPr/>
          </p:nvSpPr>
          <p:spPr>
            <a:xfrm>
              <a:off x="895350" y="15582900"/>
              <a:ext cx="28670250" cy="685800"/>
            </a:xfrm>
            <a:prstGeom prst="rect">
              <a:avLst/>
            </a:prstGeom>
            <a:gradFill rotWithShape="1">
              <a:gsLst>
                <a:gs pos="0">
                  <a:srgbClr val="4479F9"/>
                </a:gs>
                <a:gs pos="100000">
                  <a:srgbClr val="325BE5"/>
                </a:gs>
              </a:gsLst>
              <a:lin scaled="0" ang="54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