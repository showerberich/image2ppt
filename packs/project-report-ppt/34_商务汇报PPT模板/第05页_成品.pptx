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8" name="hdr"/>
          <p:cNvGrpSpPr/>
          <p:nvPr/>
        </p:nvGrpSpPr>
        <p:grpSpPr>
          <a:xfrm>
            <a:off x="1952625" y="1428750"/>
            <a:ext cx="26327100" cy="1590675"/>
            <a:chOff x="1952625" y="1428750"/>
            <a:chExt cx="26327100" cy="1590675"/>
          </a:xfrm>
        </p:grpSpPr>
        <p:sp>
          <p:nvSpPr>
            <p:cNvPr id="3" name="hdr-band"/>
            <p:cNvSpPr/>
            <p:nvPr/>
          </p:nvSpPr>
          <p:spPr>
            <a:xfrm>
              <a:off x="1952625" y="1428750"/>
              <a:ext cx="26327100" cy="1590675"/>
            </a:xfrm>
            <a:prstGeom prst="roundRect">
              <a:avLst>
                <a:gd name="adj" fmla="val 49700"/>
              </a:avLst>
            </a:prstGeom>
            <a:solidFill>
              <a:srgbClr val="EEF0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hdr-banner"/>
            <p:cNvSpPr/>
            <p:nvPr/>
          </p:nvSpPr>
          <p:spPr>
            <a:xfrm>
              <a:off x="1952625" y="1428750"/>
              <a:ext cx="10096500" cy="1590675"/>
            </a:xfrm>
            <a:prstGeom prst="roundRect">
              <a:avLst>
                <a:gd name="adj" fmla="val 49700"/>
              </a:avLst>
            </a:prstGeom>
            <a:gradFill rotWithShape="1">
              <a:gsLst>
                <a:gs pos="0">
                  <a:srgbClr val="4A80FD"/>
                </a:gs>
                <a:gs pos="55000">
                  <a:srgbClr val="3D6BE8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hdr-title"/>
            <p:cNvSpPr txBox="1"/>
            <p:nvPr/>
          </p:nvSpPr>
          <p:spPr>
            <a:xfrm>
              <a:off x="2857500" y="1581150"/>
              <a:ext cx="8712525" cy="12763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叙事框架：PREP原则</a:t>
              </a:r>
            </a:p>
          </p:txBody>
        </p:sp>
        <p:sp>
          <p:nvSpPr>
            <p:cNvPr id="6" name="page-badge"/>
            <p:cNvSpPr/>
            <p:nvPr/>
          </p:nvSpPr>
          <p:spPr>
            <a:xfrm>
              <a:off x="26355675" y="1562100"/>
              <a:ext cx="1314450" cy="1314450"/>
            </a:xfrm>
            <a:prstGeom prst="ellipse">
              <a:avLst/>
            </a:prstGeom>
            <a:solidFill>
              <a:srgbClr val="335A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page-no"/>
            <p:cNvSpPr txBox="1"/>
            <p:nvPr/>
          </p:nvSpPr>
          <p:spPr>
            <a:xfrm>
              <a:off x="26346150" y="1663065"/>
              <a:ext cx="1333500" cy="11125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4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</p:grpSp>
      <p:grpSp>
        <p:nvGrpSpPr>
          <p:cNvPr id="89" name="cross"/>
          <p:cNvGrpSpPr/>
          <p:nvPr/>
        </p:nvGrpSpPr>
        <p:grpSpPr>
          <a:xfrm>
            <a:off x="10353675" y="4552950"/>
            <a:ext cx="9744075" cy="9944100"/>
            <a:chOff x="10353675" y="4552950"/>
            <a:chExt cx="9744075" cy="9944100"/>
          </a:xfrm>
        </p:grpSpPr>
        <p:sp>
          <p:nvSpPr>
            <p:cNvPr id="8" name="cross-top"/>
            <p:cNvSpPr/>
            <p:nvPr/>
          </p:nvSpPr>
          <p:spPr>
            <a:xfrm>
              <a:off x="10353675" y="4552950"/>
              <a:ext cx="9744075" cy="4972050"/>
            </a:xfrm>
            <a:custGeom>
              <a:avLst/>
              <a:gdLst/>
              <a:ahLst/>
              <a:cxnLst/>
              <a:rect l="l" t="t" r="r" b="b"/>
              <a:pathLst>
                <a:path w="9744075" h="4972050">
                  <a:moveTo>
                    <a:pt x="0" y="3200400"/>
                  </a:moveTo>
                  <a:lnTo>
                    <a:pt x="3429000" y="3457575"/>
                  </a:lnTo>
                  <a:lnTo>
                    <a:pt x="3114675" y="0"/>
                  </a:lnTo>
                  <a:lnTo>
                    <a:pt x="6657975" y="0"/>
                  </a:lnTo>
                  <a:lnTo>
                    <a:pt x="6343650" y="3457575"/>
                  </a:lnTo>
                  <a:lnTo>
                    <a:pt x="9744075" y="3162300"/>
                  </a:lnTo>
                  <a:lnTo>
                    <a:pt x="9744075" y="4972050"/>
                  </a:lnTo>
                  <a:lnTo>
                    <a:pt x="0" y="4972050"/>
                  </a:lnTo>
                  <a:close/>
                </a:path>
              </a:pathLst>
            </a:custGeom>
            <a:gradFill rotWithShape="1">
              <a:gsLst>
                <a:gs pos="0">
                  <a:srgbClr val="4B80FA"/>
                </a:gs>
                <a:gs pos="100000">
                  <a:srgbClr val="3156E5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ross-bottom"/>
            <p:cNvSpPr/>
            <p:nvPr/>
          </p:nvSpPr>
          <p:spPr>
            <a:xfrm>
              <a:off x="10353675" y="9525000"/>
              <a:ext cx="9744075" cy="4972050"/>
            </a:xfrm>
            <a:custGeom>
              <a:avLst/>
              <a:gdLst/>
              <a:ahLst/>
              <a:cxnLst/>
              <a:rect l="l" t="t" r="r" b="b"/>
              <a:pathLst>
                <a:path w="9744075" h="4972050">
                  <a:moveTo>
                    <a:pt x="0" y="0"/>
                  </a:moveTo>
                  <a:lnTo>
                    <a:pt x="9744075" y="0"/>
                  </a:lnTo>
                  <a:lnTo>
                    <a:pt x="9744075" y="1733550"/>
                  </a:lnTo>
                  <a:lnTo>
                    <a:pt x="6343650" y="1447800"/>
                  </a:lnTo>
                  <a:lnTo>
                    <a:pt x="6657975" y="4972050"/>
                  </a:lnTo>
                  <a:lnTo>
                    <a:pt x="3114675" y="4972050"/>
                  </a:lnTo>
                  <a:lnTo>
                    <a:pt x="3429000" y="1447800"/>
                  </a:lnTo>
                  <a:lnTo>
                    <a:pt x="0" y="1733550"/>
                  </a:lnTo>
                  <a:close/>
                </a:path>
              </a:pathLst>
            </a:custGeom>
            <a:gradFill rotWithShape="1">
              <a:gsLst>
                <a:gs pos="0">
                  <a:srgbClr val="487EFC"/>
                </a:gs>
                <a:gs pos="100000">
                  <a:srgbClr val="3351C3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cross-hole"/>
            <p:cNvSpPr/>
            <p:nvPr/>
          </p:nvSpPr>
          <p:spPr>
            <a:xfrm>
              <a:off x="14420850" y="8572500"/>
              <a:ext cx="1600200" cy="1905000"/>
            </a:xfrm>
            <a:custGeom>
              <a:avLst/>
              <a:gdLst/>
              <a:ahLst/>
              <a:cxnLst/>
              <a:rect l="l" t="t" r="r" b="b"/>
              <a:pathLst>
                <a:path w="1600200" h="1905000">
                  <a:moveTo>
                    <a:pt x="1600200" y="952500"/>
                  </a:moveTo>
                  <a:lnTo>
                    <a:pt x="1588697" y="953397"/>
                  </a:lnTo>
                  <a:lnTo>
                    <a:pt x="1554959" y="959572"/>
                  </a:lnTo>
                  <a:lnTo>
                    <a:pt x="1501230" y="975799"/>
                  </a:lnTo>
                  <a:lnTo>
                    <a:pt x="1431043" y="1005881"/>
                  </a:lnTo>
                  <a:lnTo>
                    <a:pt x="1348925" y="1052276"/>
                  </a:lnTo>
                  <a:lnTo>
                    <a:pt x="1260021" y="1115836"/>
                  </a:lnTo>
                  <a:lnTo>
                    <a:pt x="1169673" y="1195687"/>
                  </a:lnTo>
                  <a:lnTo>
                    <a:pt x="1082978" y="1289260"/>
                  </a:lnTo>
                  <a:lnTo>
                    <a:pt x="1004377" y="1392468"/>
                  </a:lnTo>
                  <a:lnTo>
                    <a:pt x="937302" y="1500025"/>
                  </a:lnTo>
                  <a:lnTo>
                    <a:pt x="883912" y="1605863"/>
                  </a:lnTo>
                  <a:lnTo>
                    <a:pt x="844940" y="1703623"/>
                  </a:lnTo>
                  <a:lnTo>
                    <a:pt x="819671" y="1787179"/>
                  </a:lnTo>
                  <a:lnTo>
                    <a:pt x="806041" y="1851142"/>
                  </a:lnTo>
                  <a:lnTo>
                    <a:pt x="800853" y="1891307"/>
                  </a:lnTo>
                  <a:lnTo>
                    <a:pt x="800100" y="1905000"/>
                  </a:lnTo>
                  <a:lnTo>
                    <a:pt x="799347" y="1891307"/>
                  </a:lnTo>
                  <a:lnTo>
                    <a:pt x="794159" y="1851142"/>
                  </a:lnTo>
                  <a:lnTo>
                    <a:pt x="780529" y="1787179"/>
                  </a:lnTo>
                  <a:lnTo>
                    <a:pt x="755260" y="1703623"/>
                  </a:lnTo>
                  <a:lnTo>
                    <a:pt x="716288" y="1605863"/>
                  </a:lnTo>
                  <a:lnTo>
                    <a:pt x="662898" y="1500025"/>
                  </a:lnTo>
                  <a:lnTo>
                    <a:pt x="595823" y="1392468"/>
                  </a:lnTo>
                  <a:lnTo>
                    <a:pt x="517222" y="1289260"/>
                  </a:lnTo>
                  <a:lnTo>
                    <a:pt x="430527" y="1195687"/>
                  </a:lnTo>
                  <a:lnTo>
                    <a:pt x="340179" y="1115836"/>
                  </a:lnTo>
                  <a:lnTo>
                    <a:pt x="251275" y="1052276"/>
                  </a:lnTo>
                  <a:lnTo>
                    <a:pt x="169157" y="1005881"/>
                  </a:lnTo>
                  <a:lnTo>
                    <a:pt x="98970" y="975799"/>
                  </a:lnTo>
                  <a:lnTo>
                    <a:pt x="45241" y="959572"/>
                  </a:lnTo>
                  <a:lnTo>
                    <a:pt x="11503" y="953397"/>
                  </a:lnTo>
                  <a:lnTo>
                    <a:pt x="0" y="952500"/>
                  </a:lnTo>
                  <a:lnTo>
                    <a:pt x="11503" y="951603"/>
                  </a:lnTo>
                  <a:lnTo>
                    <a:pt x="45241" y="945428"/>
                  </a:lnTo>
                  <a:lnTo>
                    <a:pt x="98970" y="929201"/>
                  </a:lnTo>
                  <a:lnTo>
                    <a:pt x="169157" y="899119"/>
                  </a:lnTo>
                  <a:lnTo>
                    <a:pt x="251275" y="852724"/>
                  </a:lnTo>
                  <a:lnTo>
                    <a:pt x="340179" y="789164"/>
                  </a:lnTo>
                  <a:lnTo>
                    <a:pt x="430527" y="709313"/>
                  </a:lnTo>
                  <a:lnTo>
                    <a:pt x="517222" y="615740"/>
                  </a:lnTo>
                  <a:lnTo>
                    <a:pt x="595823" y="512532"/>
                  </a:lnTo>
                  <a:lnTo>
                    <a:pt x="662898" y="404975"/>
                  </a:lnTo>
                  <a:lnTo>
                    <a:pt x="716288" y="299137"/>
                  </a:lnTo>
                  <a:lnTo>
                    <a:pt x="755260" y="201377"/>
                  </a:lnTo>
                  <a:lnTo>
                    <a:pt x="780529" y="117821"/>
                  </a:lnTo>
                  <a:lnTo>
                    <a:pt x="794159" y="53858"/>
                  </a:lnTo>
                  <a:lnTo>
                    <a:pt x="799347" y="13693"/>
                  </a:lnTo>
                  <a:lnTo>
                    <a:pt x="800100" y="0"/>
                  </a:lnTo>
                  <a:lnTo>
                    <a:pt x="800853" y="13693"/>
                  </a:lnTo>
                  <a:lnTo>
                    <a:pt x="806041" y="53858"/>
                  </a:lnTo>
                  <a:lnTo>
                    <a:pt x="819671" y="117821"/>
                  </a:lnTo>
                  <a:lnTo>
                    <a:pt x="844940" y="201377"/>
                  </a:lnTo>
                  <a:lnTo>
                    <a:pt x="883912" y="299137"/>
                  </a:lnTo>
                  <a:lnTo>
                    <a:pt x="937302" y="404975"/>
                  </a:lnTo>
                  <a:lnTo>
                    <a:pt x="1004377" y="512532"/>
                  </a:lnTo>
                  <a:lnTo>
                    <a:pt x="1082978" y="615740"/>
                  </a:lnTo>
                  <a:lnTo>
                    <a:pt x="1169673" y="709313"/>
                  </a:lnTo>
                  <a:lnTo>
                    <a:pt x="1260021" y="789164"/>
                  </a:lnTo>
                  <a:lnTo>
                    <a:pt x="1348925" y="852724"/>
                  </a:lnTo>
                  <a:lnTo>
                    <a:pt x="1431043" y="899119"/>
                  </a:lnTo>
                  <a:lnTo>
                    <a:pt x="1501230" y="929201"/>
                  </a:lnTo>
                  <a:lnTo>
                    <a:pt x="1554959" y="945428"/>
                  </a:lnTo>
                  <a:lnTo>
                    <a:pt x="1588697" y="9516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" name="circles"/>
          <p:cNvGrpSpPr/>
          <p:nvPr/>
        </p:nvGrpSpPr>
        <p:grpSpPr>
          <a:xfrm>
            <a:off x="10201275" y="4467225"/>
            <a:ext cx="10058400" cy="10058400"/>
            <a:chOff x="10201275" y="4467225"/>
            <a:chExt cx="10058400" cy="10058400"/>
          </a:xfrm>
        </p:grpSpPr>
        <p:sp>
          <p:nvSpPr>
            <p:cNvPr id="11" name="c1-disc"/>
            <p:cNvSpPr/>
            <p:nvPr/>
          </p:nvSpPr>
          <p:spPr>
            <a:xfrm>
              <a:off x="10201275" y="4467225"/>
              <a:ext cx="3124200" cy="3124200"/>
            </a:xfrm>
            <a:prstGeom prst="ellipse">
              <a:avLst/>
            </a:prstGeom>
            <a:gradFill rotWithShape="1">
              <a:gsLst>
                <a:gs pos="0">
                  <a:srgbClr val="4A80FC"/>
                </a:gs>
                <a:gs pos="100000">
                  <a:srgbClr val="335AE6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c1-page"/>
            <p:cNvSpPr/>
            <p:nvPr/>
          </p:nvSpPr>
          <p:spPr>
            <a:xfrm>
              <a:off x="10982325" y="5343525"/>
              <a:ext cx="1028700" cy="1524000"/>
            </a:xfrm>
            <a:prstGeom prst="roundRect">
              <a:avLst>
                <a:gd name="adj" fmla="val 8333"/>
              </a:avLst>
            </a:prstGeom>
            <a:noFill/>
            <a:ln w="476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1-trend"/>
            <p:cNvSpPr/>
            <p:nvPr/>
          </p:nvSpPr>
          <p:spPr>
            <a:xfrm>
              <a:off x="11096625" y="5591175"/>
              <a:ext cx="590550" cy="409575"/>
            </a:xfrm>
            <a:custGeom>
              <a:avLst/>
              <a:gdLst/>
              <a:ahLst/>
              <a:cxnLst/>
              <a:rect l="l" t="t" r="r" b="b"/>
              <a:pathLst>
                <a:path w="590550" h="409575">
                  <a:moveTo>
                    <a:pt x="0" y="409575"/>
                  </a:moveTo>
                  <a:lnTo>
                    <a:pt x="171450" y="152400"/>
                  </a:lnTo>
                  <a:lnTo>
                    <a:pt x="361950" y="285750"/>
                  </a:lnTo>
                  <a:lnTo>
                    <a:pt x="590550" y="0"/>
                  </a:lnTo>
                </a:path>
              </a:pathLst>
            </a:custGeom>
            <a:noFill/>
            <a:ln w="476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c1-arrow"/>
            <p:cNvSpPr/>
            <p:nvPr/>
          </p:nvSpPr>
          <p:spPr>
            <a:xfrm>
              <a:off x="11515725" y="5591175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171450" h="152400">
                  <a:moveTo>
                    <a:pt x="171450" y="0"/>
                  </a:moveTo>
                  <a:lnTo>
                    <a:pt x="0" y="19050"/>
                  </a:lnTo>
                  <a:lnTo>
                    <a:pt x="152400" y="1524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c1-bar1"/>
            <p:cNvSpPr/>
            <p:nvPr/>
          </p:nvSpPr>
          <p:spPr>
            <a:xfrm>
              <a:off x="11096625" y="6315075"/>
              <a:ext cx="495300" cy="8572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c1-bar2"/>
            <p:cNvSpPr/>
            <p:nvPr/>
          </p:nvSpPr>
          <p:spPr>
            <a:xfrm>
              <a:off x="11096625" y="6486525"/>
              <a:ext cx="495300" cy="8572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1-bar3"/>
            <p:cNvSpPr/>
            <p:nvPr/>
          </p:nvSpPr>
          <p:spPr>
            <a:xfrm>
              <a:off x="11096625" y="6657975"/>
              <a:ext cx="419100" cy="8572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c1-dbadge"/>
            <p:cNvSpPr/>
            <p:nvPr/>
          </p:nvSpPr>
          <p:spPr>
            <a:xfrm>
              <a:off x="11534775" y="5819775"/>
              <a:ext cx="685800" cy="685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c1-g-9-9"/>
            <p:cNvSpPr/>
            <p:nvPr/>
          </p:nvSpPr>
          <p:spPr>
            <a:xfrm>
              <a:off x="11791950" y="6076950"/>
              <a:ext cx="104775" cy="104775"/>
            </a:xfrm>
            <a:prstGeom prst="rect">
              <a:avLst/>
            </a:prstGeom>
            <a:solidFill>
              <a:srgbClr val="3C6A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c1-g5-9"/>
            <p:cNvSpPr/>
            <p:nvPr/>
          </p:nvSpPr>
          <p:spPr>
            <a:xfrm>
              <a:off x="11925300" y="6076950"/>
              <a:ext cx="104775" cy="104775"/>
            </a:xfrm>
            <a:prstGeom prst="rect">
              <a:avLst/>
            </a:prstGeom>
            <a:solidFill>
              <a:srgbClr val="3C6A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1-g-95"/>
            <p:cNvSpPr/>
            <p:nvPr/>
          </p:nvSpPr>
          <p:spPr>
            <a:xfrm>
              <a:off x="11791950" y="6210300"/>
              <a:ext cx="104775" cy="104775"/>
            </a:xfrm>
            <a:prstGeom prst="rect">
              <a:avLst/>
            </a:prstGeom>
            <a:solidFill>
              <a:srgbClr val="3C6A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c1-g55"/>
            <p:cNvSpPr/>
            <p:nvPr/>
          </p:nvSpPr>
          <p:spPr>
            <a:xfrm>
              <a:off x="11925300" y="6210300"/>
              <a:ext cx="104775" cy="104775"/>
            </a:xfrm>
            <a:prstGeom prst="rect">
              <a:avLst/>
            </a:prstGeom>
            <a:solidFill>
              <a:srgbClr val="3C6A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c2-disc"/>
            <p:cNvSpPr/>
            <p:nvPr/>
          </p:nvSpPr>
          <p:spPr>
            <a:xfrm>
              <a:off x="17135475" y="4467225"/>
              <a:ext cx="3124200" cy="3124200"/>
            </a:xfrm>
            <a:prstGeom prst="ellipse">
              <a:avLst/>
            </a:prstGeom>
            <a:gradFill rotWithShape="1">
              <a:gsLst>
                <a:gs pos="0">
                  <a:srgbClr val="4A80FC"/>
                </a:gs>
                <a:gs pos="100000">
                  <a:srgbClr val="335AE6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c2-page"/>
            <p:cNvSpPr/>
            <p:nvPr/>
          </p:nvSpPr>
          <p:spPr>
            <a:xfrm>
              <a:off x="17916525" y="5343525"/>
              <a:ext cx="1028700" cy="1524000"/>
            </a:xfrm>
            <a:prstGeom prst="roundRect">
              <a:avLst>
                <a:gd name="adj" fmla="val 8333"/>
              </a:avLst>
            </a:prstGeom>
            <a:noFill/>
            <a:ln w="476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c2-trend"/>
            <p:cNvSpPr/>
            <p:nvPr/>
          </p:nvSpPr>
          <p:spPr>
            <a:xfrm>
              <a:off x="18030825" y="5591175"/>
              <a:ext cx="590550" cy="409575"/>
            </a:xfrm>
            <a:custGeom>
              <a:avLst/>
              <a:gdLst/>
              <a:ahLst/>
              <a:cxnLst/>
              <a:rect l="l" t="t" r="r" b="b"/>
              <a:pathLst>
                <a:path w="590550" h="409575">
                  <a:moveTo>
                    <a:pt x="0" y="409575"/>
                  </a:moveTo>
                  <a:lnTo>
                    <a:pt x="171450" y="152400"/>
                  </a:lnTo>
                  <a:lnTo>
                    <a:pt x="361950" y="285750"/>
                  </a:lnTo>
                  <a:lnTo>
                    <a:pt x="590550" y="0"/>
                  </a:lnTo>
                </a:path>
              </a:pathLst>
            </a:custGeom>
            <a:noFill/>
            <a:ln w="476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c2-arrow"/>
            <p:cNvSpPr/>
            <p:nvPr/>
          </p:nvSpPr>
          <p:spPr>
            <a:xfrm>
              <a:off x="18449925" y="5591175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171450" h="152400">
                  <a:moveTo>
                    <a:pt x="171450" y="0"/>
                  </a:moveTo>
                  <a:lnTo>
                    <a:pt x="0" y="19050"/>
                  </a:lnTo>
                  <a:lnTo>
                    <a:pt x="152400" y="1524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c2-bar1"/>
            <p:cNvSpPr/>
            <p:nvPr/>
          </p:nvSpPr>
          <p:spPr>
            <a:xfrm>
              <a:off x="18030825" y="6315075"/>
              <a:ext cx="495300" cy="8572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c2-bar2"/>
            <p:cNvSpPr/>
            <p:nvPr/>
          </p:nvSpPr>
          <p:spPr>
            <a:xfrm>
              <a:off x="18030825" y="6486525"/>
              <a:ext cx="495300" cy="8572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c2-bar3"/>
            <p:cNvSpPr/>
            <p:nvPr/>
          </p:nvSpPr>
          <p:spPr>
            <a:xfrm>
              <a:off x="18030825" y="6657975"/>
              <a:ext cx="419100" cy="8572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c2-dbadge"/>
            <p:cNvSpPr/>
            <p:nvPr/>
          </p:nvSpPr>
          <p:spPr>
            <a:xfrm>
              <a:off x="18468975" y="5819775"/>
              <a:ext cx="685800" cy="685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c2-check"/>
            <p:cNvSpPr/>
            <p:nvPr/>
          </p:nvSpPr>
          <p:spPr>
            <a:xfrm>
              <a:off x="18649950" y="6029325"/>
              <a:ext cx="333375" cy="266700"/>
            </a:xfrm>
            <a:custGeom>
              <a:avLst/>
              <a:gdLst/>
              <a:ahLst/>
              <a:cxnLst/>
              <a:rect l="l" t="t" r="r" b="b"/>
              <a:pathLst>
                <a:path w="333375" h="266700">
                  <a:moveTo>
                    <a:pt x="0" y="142875"/>
                  </a:moveTo>
                  <a:lnTo>
                    <a:pt x="114300" y="266700"/>
                  </a:lnTo>
                  <a:lnTo>
                    <a:pt x="333375" y="0"/>
                  </a:lnTo>
                </a:path>
              </a:pathLst>
            </a:custGeom>
            <a:noFill/>
            <a:ln w="76200">
              <a:solidFill>
                <a:srgbClr val="3C6A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c3-disc"/>
            <p:cNvSpPr/>
            <p:nvPr/>
          </p:nvSpPr>
          <p:spPr>
            <a:xfrm>
              <a:off x="10201275" y="11401425"/>
              <a:ext cx="3124200" cy="3124200"/>
            </a:xfrm>
            <a:prstGeom prst="ellipse">
              <a:avLst/>
            </a:prstGeom>
            <a:gradFill rotWithShape="1">
              <a:gsLst>
                <a:gs pos="0">
                  <a:srgbClr val="4A80FC"/>
                </a:gs>
                <a:gs pos="100000">
                  <a:srgbClr val="335AE6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c3-page"/>
            <p:cNvSpPr/>
            <p:nvPr/>
          </p:nvSpPr>
          <p:spPr>
            <a:xfrm>
              <a:off x="10982325" y="12277725"/>
              <a:ext cx="1028700" cy="1524000"/>
            </a:xfrm>
            <a:prstGeom prst="roundRect">
              <a:avLst>
                <a:gd name="adj" fmla="val 8333"/>
              </a:avLst>
            </a:prstGeom>
            <a:noFill/>
            <a:ln w="476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c3-trend"/>
            <p:cNvSpPr/>
            <p:nvPr/>
          </p:nvSpPr>
          <p:spPr>
            <a:xfrm>
              <a:off x="11096625" y="12525375"/>
              <a:ext cx="590550" cy="409575"/>
            </a:xfrm>
            <a:custGeom>
              <a:avLst/>
              <a:gdLst/>
              <a:ahLst/>
              <a:cxnLst/>
              <a:rect l="l" t="t" r="r" b="b"/>
              <a:pathLst>
                <a:path w="590550" h="409575">
                  <a:moveTo>
                    <a:pt x="0" y="409575"/>
                  </a:moveTo>
                  <a:lnTo>
                    <a:pt x="171450" y="152400"/>
                  </a:lnTo>
                  <a:lnTo>
                    <a:pt x="361950" y="285750"/>
                  </a:lnTo>
                  <a:lnTo>
                    <a:pt x="590550" y="0"/>
                  </a:lnTo>
                </a:path>
              </a:pathLst>
            </a:custGeom>
            <a:noFill/>
            <a:ln w="476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c3-arrow"/>
            <p:cNvSpPr/>
            <p:nvPr/>
          </p:nvSpPr>
          <p:spPr>
            <a:xfrm>
              <a:off x="11515725" y="12525375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171450" h="152400">
                  <a:moveTo>
                    <a:pt x="171450" y="0"/>
                  </a:moveTo>
                  <a:lnTo>
                    <a:pt x="0" y="19050"/>
                  </a:lnTo>
                  <a:lnTo>
                    <a:pt x="152400" y="1524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c3-bar1"/>
            <p:cNvSpPr/>
            <p:nvPr/>
          </p:nvSpPr>
          <p:spPr>
            <a:xfrm>
              <a:off x="11096625" y="13249275"/>
              <a:ext cx="495300" cy="8572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c3-bar2"/>
            <p:cNvSpPr/>
            <p:nvPr/>
          </p:nvSpPr>
          <p:spPr>
            <a:xfrm>
              <a:off x="11096625" y="13420725"/>
              <a:ext cx="495300" cy="8572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c3-bar3"/>
            <p:cNvSpPr/>
            <p:nvPr/>
          </p:nvSpPr>
          <p:spPr>
            <a:xfrm>
              <a:off x="11096625" y="13592175"/>
              <a:ext cx="419100" cy="8572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c3-dbadge"/>
            <p:cNvSpPr/>
            <p:nvPr/>
          </p:nvSpPr>
          <p:spPr>
            <a:xfrm>
              <a:off x="11534775" y="12753975"/>
              <a:ext cx="685800" cy="685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c3-check"/>
            <p:cNvSpPr/>
            <p:nvPr/>
          </p:nvSpPr>
          <p:spPr>
            <a:xfrm>
              <a:off x="11715750" y="12963525"/>
              <a:ext cx="333375" cy="266700"/>
            </a:xfrm>
            <a:custGeom>
              <a:avLst/>
              <a:gdLst/>
              <a:ahLst/>
              <a:cxnLst/>
              <a:rect l="l" t="t" r="r" b="b"/>
              <a:pathLst>
                <a:path w="333375" h="266700">
                  <a:moveTo>
                    <a:pt x="0" y="142875"/>
                  </a:moveTo>
                  <a:lnTo>
                    <a:pt x="114300" y="266700"/>
                  </a:lnTo>
                  <a:lnTo>
                    <a:pt x="333375" y="0"/>
                  </a:lnTo>
                </a:path>
              </a:pathLst>
            </a:custGeom>
            <a:noFill/>
            <a:ln w="76200">
              <a:solidFill>
                <a:srgbClr val="3C6A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c4-disc"/>
            <p:cNvSpPr/>
            <p:nvPr/>
          </p:nvSpPr>
          <p:spPr>
            <a:xfrm>
              <a:off x="17135475" y="11401425"/>
              <a:ext cx="3124200" cy="3124200"/>
            </a:xfrm>
            <a:prstGeom prst="ellipse">
              <a:avLst/>
            </a:prstGeom>
            <a:gradFill rotWithShape="1">
              <a:gsLst>
                <a:gs pos="0">
                  <a:srgbClr val="4A80FC"/>
                </a:gs>
                <a:gs pos="100000">
                  <a:srgbClr val="335AE6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c4-page"/>
            <p:cNvSpPr/>
            <p:nvPr/>
          </p:nvSpPr>
          <p:spPr>
            <a:xfrm>
              <a:off x="17916525" y="12277725"/>
              <a:ext cx="1028700" cy="1524000"/>
            </a:xfrm>
            <a:custGeom>
              <a:avLst/>
              <a:gdLst/>
              <a:ahLst/>
              <a:cxnLst/>
              <a:rect l="l" t="t" r="r" b="b"/>
              <a:pathLst>
                <a:path w="1028700" h="1524000">
                  <a:moveTo>
                    <a:pt x="0" y="0"/>
                  </a:moveTo>
                  <a:lnTo>
                    <a:pt x="742950" y="0"/>
                  </a:lnTo>
                  <a:lnTo>
                    <a:pt x="1028700" y="285750"/>
                  </a:lnTo>
                  <a:lnTo>
                    <a:pt x="1028700" y="1524000"/>
                  </a:lnTo>
                  <a:lnTo>
                    <a:pt x="0" y="1524000"/>
                  </a:lnTo>
                  <a:close/>
                </a:path>
              </a:pathLst>
            </a:custGeom>
            <a:noFill/>
            <a:ln w="476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c4-fold"/>
            <p:cNvSpPr/>
            <p:nvPr/>
          </p:nvSpPr>
          <p:spPr>
            <a:xfrm>
              <a:off x="18659475" y="122777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0"/>
                  </a:moveTo>
                  <a:lnTo>
                    <a:pt x="0" y="285750"/>
                  </a:lnTo>
                  <a:lnTo>
                    <a:pt x="285750" y="285750"/>
                  </a:lnTo>
                </a:path>
              </a:pathLst>
            </a:custGeom>
            <a:noFill/>
            <a:ln w="476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c4-bar1"/>
            <p:cNvSpPr/>
            <p:nvPr/>
          </p:nvSpPr>
          <p:spPr>
            <a:xfrm>
              <a:off x="18030825" y="13249275"/>
              <a:ext cx="495300" cy="8572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c4-bar2"/>
            <p:cNvSpPr/>
            <p:nvPr/>
          </p:nvSpPr>
          <p:spPr>
            <a:xfrm>
              <a:off x="18030825" y="13420725"/>
              <a:ext cx="495300" cy="8572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c4-bar3"/>
            <p:cNvSpPr/>
            <p:nvPr/>
          </p:nvSpPr>
          <p:spPr>
            <a:xfrm>
              <a:off x="18030825" y="13592175"/>
              <a:ext cx="419100" cy="8572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c4-lens"/>
            <p:cNvSpPr/>
            <p:nvPr/>
          </p:nvSpPr>
          <p:spPr>
            <a:xfrm>
              <a:off x="18535650" y="12839700"/>
              <a:ext cx="628650" cy="628650"/>
            </a:xfrm>
            <a:prstGeom prst="ellipse">
              <a:avLst/>
            </a:prstGeom>
            <a:noFill/>
            <a:ln w="762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8" name="c4-handle"/>
            <p:cNvCxnSpPr/>
            <p:nvPr/>
          </p:nvCxnSpPr>
          <p:spPr>
            <a:xfrm>
              <a:off x="19078575" y="13382625"/>
              <a:ext cx="228600" cy="228600"/>
            </a:xfrm>
            <a:prstGeom prst="line">
              <a:avLst/>
            </a:prstGeom>
            <a:ln w="10477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blk-TL"/>
          <p:cNvGrpSpPr/>
          <p:nvPr/>
        </p:nvGrpSpPr>
        <p:grpSpPr>
          <a:xfrm>
            <a:off x="1962150" y="4371975"/>
            <a:ext cx="7477125" cy="4418647"/>
            <a:chOff x="1962150" y="4371975"/>
            <a:chExt cx="7477125" cy="4418647"/>
          </a:xfrm>
        </p:grpSpPr>
        <p:sp>
          <p:nvSpPr>
            <p:cNvPr id="49" name="TL-card"/>
            <p:cNvSpPr/>
            <p:nvPr/>
          </p:nvSpPr>
          <p:spPr>
            <a:xfrm>
              <a:off x="4038600" y="4371975"/>
              <a:ext cx="5400675" cy="2114550"/>
            </a:xfrm>
            <a:prstGeom prst="roundRect">
              <a:avLst>
                <a:gd name="adj" fmla="val 9909"/>
              </a:avLst>
            </a:prstGeom>
            <a:solidFill>
              <a:srgbClr val="FFFFFF"/>
            </a:solidFill>
            <a:ln w="19050">
              <a:solidFill>
                <a:srgbClr val="EAECF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L-title"/>
            <p:cNvSpPr txBox="1"/>
            <p:nvPr/>
          </p:nvSpPr>
          <p:spPr>
            <a:xfrm>
              <a:off x="4914900" y="4749165"/>
              <a:ext cx="1842516" cy="14173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975" b="1" i="0">
                  <a:solidFill>
                    <a:srgbClr val="477EFC"/>
                  </a:solidFill>
                  <a:latin typeface="Microsoft YaHei"/>
                  <a:ea typeface="Microsoft YaHei"/>
                  <a:cs typeface="Microsoft YaHei"/>
                </a:rPr>
                <a:t>结论</a:t>
              </a:r>
            </a:p>
          </p:txBody>
        </p:sp>
        <p:sp>
          <p:nvSpPr>
            <p:cNvPr id="51" name="TL-badge-arc-left"/>
            <p:cNvSpPr/>
            <p:nvPr/>
          </p:nvSpPr>
          <p:spPr>
            <a:xfrm>
              <a:off x="1962150" y="4381500"/>
              <a:ext cx="661906" cy="2095500"/>
            </a:xfrm>
            <a:custGeom>
              <a:avLst/>
              <a:gdLst/>
              <a:ahLst/>
              <a:cxnLst/>
              <a:rect l="l" t="t" r="r" b="b"/>
              <a:pathLst>
                <a:path w="661906" h="2095500">
                  <a:moveTo>
                    <a:pt x="540426" y="2095500"/>
                  </a:moveTo>
                  <a:lnTo>
                    <a:pt x="465734" y="2038125"/>
                  </a:lnTo>
                  <a:lnTo>
                    <a:pt x="395441" y="1975437"/>
                  </a:lnTo>
                  <a:lnTo>
                    <a:pt x="329926" y="1907771"/>
                  </a:lnTo>
                  <a:lnTo>
                    <a:pt x="269540" y="1835492"/>
                  </a:lnTo>
                  <a:lnTo>
                    <a:pt x="214606" y="1758986"/>
                  </a:lnTo>
                  <a:lnTo>
                    <a:pt x="165419" y="1678665"/>
                  </a:lnTo>
                  <a:lnTo>
                    <a:pt x="122244" y="1594959"/>
                  </a:lnTo>
                  <a:lnTo>
                    <a:pt x="85312" y="1508317"/>
                  </a:lnTo>
                  <a:lnTo>
                    <a:pt x="54820" y="1419204"/>
                  </a:lnTo>
                  <a:lnTo>
                    <a:pt x="30933" y="1328099"/>
                  </a:lnTo>
                  <a:lnTo>
                    <a:pt x="13779" y="1235489"/>
                  </a:lnTo>
                  <a:lnTo>
                    <a:pt x="3449" y="1141872"/>
                  </a:lnTo>
                  <a:lnTo>
                    <a:pt x="0" y="1047750"/>
                  </a:lnTo>
                  <a:lnTo>
                    <a:pt x="3449" y="953628"/>
                  </a:lnTo>
                  <a:lnTo>
                    <a:pt x="13779" y="860011"/>
                  </a:lnTo>
                  <a:lnTo>
                    <a:pt x="30933" y="767401"/>
                  </a:lnTo>
                  <a:lnTo>
                    <a:pt x="54820" y="676296"/>
                  </a:lnTo>
                  <a:lnTo>
                    <a:pt x="85312" y="587183"/>
                  </a:lnTo>
                  <a:lnTo>
                    <a:pt x="122244" y="500541"/>
                  </a:lnTo>
                  <a:lnTo>
                    <a:pt x="165419" y="416835"/>
                  </a:lnTo>
                  <a:lnTo>
                    <a:pt x="214606" y="336514"/>
                  </a:lnTo>
                  <a:lnTo>
                    <a:pt x="269540" y="260008"/>
                  </a:lnTo>
                  <a:lnTo>
                    <a:pt x="329926" y="187729"/>
                  </a:lnTo>
                  <a:lnTo>
                    <a:pt x="395441" y="120063"/>
                  </a:lnTo>
                  <a:lnTo>
                    <a:pt x="465734" y="57375"/>
                  </a:lnTo>
                  <a:lnTo>
                    <a:pt x="540426" y="0"/>
                  </a:lnTo>
                  <a:lnTo>
                    <a:pt x="661906" y="170744"/>
                  </a:lnTo>
                  <a:lnTo>
                    <a:pt x="599386" y="218769"/>
                  </a:lnTo>
                  <a:lnTo>
                    <a:pt x="540549" y="271242"/>
                  </a:lnTo>
                  <a:lnTo>
                    <a:pt x="485711" y="327880"/>
                  </a:lnTo>
                  <a:lnTo>
                    <a:pt x="435165" y="388381"/>
                  </a:lnTo>
                  <a:lnTo>
                    <a:pt x="389183" y="452419"/>
                  </a:lnTo>
                  <a:lnTo>
                    <a:pt x="348012" y="519651"/>
                  </a:lnTo>
                  <a:lnTo>
                    <a:pt x="311873" y="589716"/>
                  </a:lnTo>
                  <a:lnTo>
                    <a:pt x="280959" y="662238"/>
                  </a:lnTo>
                  <a:lnTo>
                    <a:pt x="255436" y="736829"/>
                  </a:lnTo>
                  <a:lnTo>
                    <a:pt x="235442" y="813088"/>
                  </a:lnTo>
                  <a:lnTo>
                    <a:pt x="221083" y="890606"/>
                  </a:lnTo>
                  <a:lnTo>
                    <a:pt x="212437" y="968966"/>
                  </a:lnTo>
                  <a:lnTo>
                    <a:pt x="209550" y="1047750"/>
                  </a:lnTo>
                  <a:lnTo>
                    <a:pt x="212437" y="1126534"/>
                  </a:lnTo>
                  <a:lnTo>
                    <a:pt x="221083" y="1204894"/>
                  </a:lnTo>
                  <a:lnTo>
                    <a:pt x="235442" y="1282412"/>
                  </a:lnTo>
                  <a:lnTo>
                    <a:pt x="255436" y="1358671"/>
                  </a:lnTo>
                  <a:lnTo>
                    <a:pt x="280959" y="1433262"/>
                  </a:lnTo>
                  <a:lnTo>
                    <a:pt x="311873" y="1505784"/>
                  </a:lnTo>
                  <a:lnTo>
                    <a:pt x="348012" y="1575849"/>
                  </a:lnTo>
                  <a:lnTo>
                    <a:pt x="389183" y="1643081"/>
                  </a:lnTo>
                  <a:lnTo>
                    <a:pt x="435165" y="1707119"/>
                  </a:lnTo>
                  <a:lnTo>
                    <a:pt x="485711" y="1767620"/>
                  </a:lnTo>
                  <a:lnTo>
                    <a:pt x="540549" y="1824258"/>
                  </a:lnTo>
                  <a:lnTo>
                    <a:pt x="599386" y="1876731"/>
                  </a:lnTo>
                  <a:lnTo>
                    <a:pt x="661906" y="1924756"/>
                  </a:lnTo>
                  <a:close/>
                </a:path>
              </a:pathLst>
            </a:cu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L-badge-arc-right"/>
            <p:cNvSpPr/>
            <p:nvPr/>
          </p:nvSpPr>
          <p:spPr>
            <a:xfrm>
              <a:off x="3871994" y="4381500"/>
              <a:ext cx="661906" cy="2095500"/>
            </a:xfrm>
            <a:custGeom>
              <a:avLst/>
              <a:gdLst/>
              <a:ahLst/>
              <a:cxnLst/>
              <a:rect l="l" t="t" r="r" b="b"/>
              <a:pathLst>
                <a:path w="661906" h="2095500">
                  <a:moveTo>
                    <a:pt x="121480" y="0"/>
                  </a:moveTo>
                  <a:lnTo>
                    <a:pt x="196172" y="57375"/>
                  </a:lnTo>
                  <a:lnTo>
                    <a:pt x="266465" y="120063"/>
                  </a:lnTo>
                  <a:lnTo>
                    <a:pt x="331980" y="187729"/>
                  </a:lnTo>
                  <a:lnTo>
                    <a:pt x="392366" y="260008"/>
                  </a:lnTo>
                  <a:lnTo>
                    <a:pt x="447300" y="336514"/>
                  </a:lnTo>
                  <a:lnTo>
                    <a:pt x="496487" y="416835"/>
                  </a:lnTo>
                  <a:lnTo>
                    <a:pt x="539662" y="500541"/>
                  </a:lnTo>
                  <a:lnTo>
                    <a:pt x="576594" y="587183"/>
                  </a:lnTo>
                  <a:lnTo>
                    <a:pt x="607086" y="676296"/>
                  </a:lnTo>
                  <a:lnTo>
                    <a:pt x="630973" y="767401"/>
                  </a:lnTo>
                  <a:lnTo>
                    <a:pt x="648127" y="860011"/>
                  </a:lnTo>
                  <a:lnTo>
                    <a:pt x="658457" y="953628"/>
                  </a:lnTo>
                  <a:lnTo>
                    <a:pt x="661906" y="1047750"/>
                  </a:lnTo>
                  <a:lnTo>
                    <a:pt x="658457" y="1141872"/>
                  </a:lnTo>
                  <a:lnTo>
                    <a:pt x="648127" y="1235489"/>
                  </a:lnTo>
                  <a:lnTo>
                    <a:pt x="630973" y="1328099"/>
                  </a:lnTo>
                  <a:lnTo>
                    <a:pt x="607086" y="1419204"/>
                  </a:lnTo>
                  <a:lnTo>
                    <a:pt x="576594" y="1508317"/>
                  </a:lnTo>
                  <a:lnTo>
                    <a:pt x="539662" y="1594959"/>
                  </a:lnTo>
                  <a:lnTo>
                    <a:pt x="496487" y="1678665"/>
                  </a:lnTo>
                  <a:lnTo>
                    <a:pt x="447300" y="1758986"/>
                  </a:lnTo>
                  <a:lnTo>
                    <a:pt x="392366" y="1835492"/>
                  </a:lnTo>
                  <a:lnTo>
                    <a:pt x="331980" y="1907771"/>
                  </a:lnTo>
                  <a:lnTo>
                    <a:pt x="266465" y="1975437"/>
                  </a:lnTo>
                  <a:lnTo>
                    <a:pt x="196172" y="2038125"/>
                  </a:lnTo>
                  <a:lnTo>
                    <a:pt x="121480" y="2095500"/>
                  </a:lnTo>
                  <a:lnTo>
                    <a:pt x="0" y="1924756"/>
                  </a:lnTo>
                  <a:lnTo>
                    <a:pt x="62520" y="1876731"/>
                  </a:lnTo>
                  <a:lnTo>
                    <a:pt x="121357" y="1824258"/>
                  </a:lnTo>
                  <a:lnTo>
                    <a:pt x="176195" y="1767620"/>
                  </a:lnTo>
                  <a:lnTo>
                    <a:pt x="226741" y="1707119"/>
                  </a:lnTo>
                  <a:lnTo>
                    <a:pt x="272723" y="1643081"/>
                  </a:lnTo>
                  <a:lnTo>
                    <a:pt x="313894" y="1575849"/>
                  </a:lnTo>
                  <a:lnTo>
                    <a:pt x="350033" y="1505784"/>
                  </a:lnTo>
                  <a:lnTo>
                    <a:pt x="380947" y="1433262"/>
                  </a:lnTo>
                  <a:lnTo>
                    <a:pt x="406470" y="1358671"/>
                  </a:lnTo>
                  <a:lnTo>
                    <a:pt x="426464" y="1282412"/>
                  </a:lnTo>
                  <a:lnTo>
                    <a:pt x="440823" y="1204894"/>
                  </a:lnTo>
                  <a:lnTo>
                    <a:pt x="449469" y="1126534"/>
                  </a:lnTo>
                  <a:lnTo>
                    <a:pt x="452356" y="1047750"/>
                  </a:lnTo>
                  <a:lnTo>
                    <a:pt x="449469" y="968966"/>
                  </a:lnTo>
                  <a:lnTo>
                    <a:pt x="440823" y="890606"/>
                  </a:lnTo>
                  <a:lnTo>
                    <a:pt x="426464" y="813088"/>
                  </a:lnTo>
                  <a:lnTo>
                    <a:pt x="406470" y="736829"/>
                  </a:lnTo>
                  <a:lnTo>
                    <a:pt x="380947" y="662238"/>
                  </a:lnTo>
                  <a:lnTo>
                    <a:pt x="350033" y="589716"/>
                  </a:lnTo>
                  <a:lnTo>
                    <a:pt x="313894" y="519651"/>
                  </a:lnTo>
                  <a:lnTo>
                    <a:pt x="272723" y="452419"/>
                  </a:lnTo>
                  <a:lnTo>
                    <a:pt x="226741" y="388381"/>
                  </a:lnTo>
                  <a:lnTo>
                    <a:pt x="176195" y="327880"/>
                  </a:lnTo>
                  <a:lnTo>
                    <a:pt x="121357" y="271242"/>
                  </a:lnTo>
                  <a:lnTo>
                    <a:pt x="62520" y="218769"/>
                  </a:lnTo>
                  <a:lnTo>
                    <a:pt x="0" y="170744"/>
                  </a:lnTo>
                  <a:close/>
                </a:path>
              </a:pathLst>
            </a:cu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L-badge-disc"/>
            <p:cNvSpPr/>
            <p:nvPr/>
          </p:nvSpPr>
          <p:spPr>
            <a:xfrm>
              <a:off x="2333625" y="4514850"/>
              <a:ext cx="1828800" cy="1828800"/>
            </a:xfrm>
            <a:prstGeom prst="ellipse">
              <a:avLst/>
            </a:pr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L-badge-letter"/>
            <p:cNvSpPr txBox="1"/>
            <p:nvPr/>
          </p:nvSpPr>
          <p:spPr>
            <a:xfrm>
              <a:off x="2676525" y="4667250"/>
              <a:ext cx="1143000" cy="1524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7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  <p:sp>
          <p:nvSpPr>
            <p:cNvPr id="55" name="TL-line1"/>
            <p:cNvSpPr txBox="1"/>
            <p:nvPr/>
          </p:nvSpPr>
          <p:spPr>
            <a:xfrm>
              <a:off x="2066925" y="6825615"/>
              <a:ext cx="6528816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开门见山，先亮出你的核心观点</a:t>
              </a:r>
            </a:p>
          </p:txBody>
        </p:sp>
        <p:sp>
          <p:nvSpPr>
            <p:cNvPr id="56" name="TL-line2"/>
            <p:cNvSpPr txBox="1"/>
            <p:nvPr/>
          </p:nvSpPr>
          <p:spPr>
            <a:xfrm>
              <a:off x="2066925" y="7573328"/>
              <a:ext cx="6995160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例：老板，我建议暂停当前渠道投</a:t>
              </a:r>
            </a:p>
          </p:txBody>
        </p:sp>
        <p:sp>
          <p:nvSpPr>
            <p:cNvPr id="57" name="TL-line3"/>
            <p:cNvSpPr txBox="1"/>
            <p:nvPr/>
          </p:nvSpPr>
          <p:spPr>
            <a:xfrm>
              <a:off x="2066925" y="8173402"/>
              <a:ext cx="4197096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放，全面转向新渠道</a:t>
              </a:r>
            </a:p>
          </p:txBody>
        </p:sp>
      </p:grpSp>
      <p:grpSp>
        <p:nvGrpSpPr>
          <p:cNvPr id="90" name="blk-TR"/>
          <p:cNvGrpSpPr/>
          <p:nvPr/>
        </p:nvGrpSpPr>
        <p:grpSpPr>
          <a:xfrm>
            <a:off x="21107400" y="4371975"/>
            <a:ext cx="7381875" cy="4418647"/>
            <a:chOff x="21107400" y="4371975"/>
            <a:chExt cx="7381875" cy="4418647"/>
          </a:xfrm>
        </p:grpSpPr>
        <p:sp>
          <p:nvSpPr>
            <p:cNvPr id="58" name="TR-card"/>
            <p:cNvSpPr/>
            <p:nvPr/>
          </p:nvSpPr>
          <p:spPr>
            <a:xfrm>
              <a:off x="21107400" y="4371975"/>
              <a:ext cx="5629275" cy="2114550"/>
            </a:xfrm>
            <a:prstGeom prst="roundRect">
              <a:avLst>
                <a:gd name="adj" fmla="val 9909"/>
              </a:avLst>
            </a:prstGeom>
            <a:solidFill>
              <a:srgbClr val="FFFFFF"/>
            </a:solidFill>
            <a:ln w="19050">
              <a:solidFill>
                <a:srgbClr val="EAECF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R-title"/>
            <p:cNvSpPr txBox="1"/>
            <p:nvPr/>
          </p:nvSpPr>
          <p:spPr>
            <a:xfrm>
              <a:off x="23669625" y="4749165"/>
              <a:ext cx="1842516" cy="14173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975" b="1" i="0">
                  <a:solidFill>
                    <a:srgbClr val="477EFC"/>
                  </a:solidFill>
                  <a:latin typeface="Microsoft YaHei"/>
                  <a:ea typeface="Microsoft YaHei"/>
                  <a:cs typeface="Microsoft YaHei"/>
                </a:rPr>
                <a:t>理由</a:t>
              </a:r>
            </a:p>
          </p:txBody>
        </p:sp>
        <p:sp>
          <p:nvSpPr>
            <p:cNvPr id="60" name="TR-badge-arc-left"/>
            <p:cNvSpPr/>
            <p:nvPr/>
          </p:nvSpPr>
          <p:spPr>
            <a:xfrm>
              <a:off x="25917525" y="4381500"/>
              <a:ext cx="661906" cy="2095500"/>
            </a:xfrm>
            <a:custGeom>
              <a:avLst/>
              <a:gdLst/>
              <a:ahLst/>
              <a:cxnLst/>
              <a:rect l="l" t="t" r="r" b="b"/>
              <a:pathLst>
                <a:path w="661906" h="2095500">
                  <a:moveTo>
                    <a:pt x="540426" y="2095500"/>
                  </a:moveTo>
                  <a:lnTo>
                    <a:pt x="465734" y="2038125"/>
                  </a:lnTo>
                  <a:lnTo>
                    <a:pt x="395441" y="1975437"/>
                  </a:lnTo>
                  <a:lnTo>
                    <a:pt x="329926" y="1907771"/>
                  </a:lnTo>
                  <a:lnTo>
                    <a:pt x="269540" y="1835492"/>
                  </a:lnTo>
                  <a:lnTo>
                    <a:pt x="214606" y="1758986"/>
                  </a:lnTo>
                  <a:lnTo>
                    <a:pt x="165419" y="1678665"/>
                  </a:lnTo>
                  <a:lnTo>
                    <a:pt x="122244" y="1594959"/>
                  </a:lnTo>
                  <a:lnTo>
                    <a:pt x="85312" y="1508317"/>
                  </a:lnTo>
                  <a:lnTo>
                    <a:pt x="54820" y="1419204"/>
                  </a:lnTo>
                  <a:lnTo>
                    <a:pt x="30933" y="1328099"/>
                  </a:lnTo>
                  <a:lnTo>
                    <a:pt x="13779" y="1235489"/>
                  </a:lnTo>
                  <a:lnTo>
                    <a:pt x="3449" y="1141872"/>
                  </a:lnTo>
                  <a:lnTo>
                    <a:pt x="0" y="1047750"/>
                  </a:lnTo>
                  <a:lnTo>
                    <a:pt x="3449" y="953628"/>
                  </a:lnTo>
                  <a:lnTo>
                    <a:pt x="13779" y="860011"/>
                  </a:lnTo>
                  <a:lnTo>
                    <a:pt x="30933" y="767401"/>
                  </a:lnTo>
                  <a:lnTo>
                    <a:pt x="54820" y="676296"/>
                  </a:lnTo>
                  <a:lnTo>
                    <a:pt x="85312" y="587183"/>
                  </a:lnTo>
                  <a:lnTo>
                    <a:pt x="122244" y="500541"/>
                  </a:lnTo>
                  <a:lnTo>
                    <a:pt x="165419" y="416835"/>
                  </a:lnTo>
                  <a:lnTo>
                    <a:pt x="214606" y="336514"/>
                  </a:lnTo>
                  <a:lnTo>
                    <a:pt x="269540" y="260008"/>
                  </a:lnTo>
                  <a:lnTo>
                    <a:pt x="329926" y="187729"/>
                  </a:lnTo>
                  <a:lnTo>
                    <a:pt x="395441" y="120063"/>
                  </a:lnTo>
                  <a:lnTo>
                    <a:pt x="465734" y="57375"/>
                  </a:lnTo>
                  <a:lnTo>
                    <a:pt x="540426" y="0"/>
                  </a:lnTo>
                  <a:lnTo>
                    <a:pt x="661906" y="170744"/>
                  </a:lnTo>
                  <a:lnTo>
                    <a:pt x="599386" y="218769"/>
                  </a:lnTo>
                  <a:lnTo>
                    <a:pt x="540549" y="271242"/>
                  </a:lnTo>
                  <a:lnTo>
                    <a:pt x="485711" y="327880"/>
                  </a:lnTo>
                  <a:lnTo>
                    <a:pt x="435165" y="388381"/>
                  </a:lnTo>
                  <a:lnTo>
                    <a:pt x="389183" y="452419"/>
                  </a:lnTo>
                  <a:lnTo>
                    <a:pt x="348012" y="519651"/>
                  </a:lnTo>
                  <a:lnTo>
                    <a:pt x="311873" y="589716"/>
                  </a:lnTo>
                  <a:lnTo>
                    <a:pt x="280959" y="662238"/>
                  </a:lnTo>
                  <a:lnTo>
                    <a:pt x="255436" y="736829"/>
                  </a:lnTo>
                  <a:lnTo>
                    <a:pt x="235442" y="813088"/>
                  </a:lnTo>
                  <a:lnTo>
                    <a:pt x="221083" y="890606"/>
                  </a:lnTo>
                  <a:lnTo>
                    <a:pt x="212437" y="968966"/>
                  </a:lnTo>
                  <a:lnTo>
                    <a:pt x="209550" y="1047750"/>
                  </a:lnTo>
                  <a:lnTo>
                    <a:pt x="212437" y="1126534"/>
                  </a:lnTo>
                  <a:lnTo>
                    <a:pt x="221083" y="1204894"/>
                  </a:lnTo>
                  <a:lnTo>
                    <a:pt x="235442" y="1282412"/>
                  </a:lnTo>
                  <a:lnTo>
                    <a:pt x="255436" y="1358671"/>
                  </a:lnTo>
                  <a:lnTo>
                    <a:pt x="280959" y="1433262"/>
                  </a:lnTo>
                  <a:lnTo>
                    <a:pt x="311873" y="1505784"/>
                  </a:lnTo>
                  <a:lnTo>
                    <a:pt x="348012" y="1575849"/>
                  </a:lnTo>
                  <a:lnTo>
                    <a:pt x="389183" y="1643081"/>
                  </a:lnTo>
                  <a:lnTo>
                    <a:pt x="435165" y="1707119"/>
                  </a:lnTo>
                  <a:lnTo>
                    <a:pt x="485711" y="1767620"/>
                  </a:lnTo>
                  <a:lnTo>
                    <a:pt x="540549" y="1824258"/>
                  </a:lnTo>
                  <a:lnTo>
                    <a:pt x="599386" y="1876731"/>
                  </a:lnTo>
                  <a:lnTo>
                    <a:pt x="661906" y="1924756"/>
                  </a:lnTo>
                  <a:close/>
                </a:path>
              </a:pathLst>
            </a:cu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R-badge-arc-right"/>
            <p:cNvSpPr/>
            <p:nvPr/>
          </p:nvSpPr>
          <p:spPr>
            <a:xfrm>
              <a:off x="27827369" y="4381500"/>
              <a:ext cx="661906" cy="2095500"/>
            </a:xfrm>
            <a:custGeom>
              <a:avLst/>
              <a:gdLst/>
              <a:ahLst/>
              <a:cxnLst/>
              <a:rect l="l" t="t" r="r" b="b"/>
              <a:pathLst>
                <a:path w="661906" h="2095500">
                  <a:moveTo>
                    <a:pt x="121480" y="0"/>
                  </a:moveTo>
                  <a:lnTo>
                    <a:pt x="196172" y="57375"/>
                  </a:lnTo>
                  <a:lnTo>
                    <a:pt x="266465" y="120063"/>
                  </a:lnTo>
                  <a:lnTo>
                    <a:pt x="331980" y="187729"/>
                  </a:lnTo>
                  <a:lnTo>
                    <a:pt x="392366" y="260008"/>
                  </a:lnTo>
                  <a:lnTo>
                    <a:pt x="447300" y="336514"/>
                  </a:lnTo>
                  <a:lnTo>
                    <a:pt x="496487" y="416835"/>
                  </a:lnTo>
                  <a:lnTo>
                    <a:pt x="539662" y="500541"/>
                  </a:lnTo>
                  <a:lnTo>
                    <a:pt x="576594" y="587183"/>
                  </a:lnTo>
                  <a:lnTo>
                    <a:pt x="607086" y="676296"/>
                  </a:lnTo>
                  <a:lnTo>
                    <a:pt x="630973" y="767401"/>
                  </a:lnTo>
                  <a:lnTo>
                    <a:pt x="648127" y="860011"/>
                  </a:lnTo>
                  <a:lnTo>
                    <a:pt x="658457" y="953628"/>
                  </a:lnTo>
                  <a:lnTo>
                    <a:pt x="661906" y="1047750"/>
                  </a:lnTo>
                  <a:lnTo>
                    <a:pt x="658457" y="1141872"/>
                  </a:lnTo>
                  <a:lnTo>
                    <a:pt x="648127" y="1235489"/>
                  </a:lnTo>
                  <a:lnTo>
                    <a:pt x="630973" y="1328099"/>
                  </a:lnTo>
                  <a:lnTo>
                    <a:pt x="607086" y="1419204"/>
                  </a:lnTo>
                  <a:lnTo>
                    <a:pt x="576594" y="1508317"/>
                  </a:lnTo>
                  <a:lnTo>
                    <a:pt x="539662" y="1594959"/>
                  </a:lnTo>
                  <a:lnTo>
                    <a:pt x="496487" y="1678665"/>
                  </a:lnTo>
                  <a:lnTo>
                    <a:pt x="447300" y="1758986"/>
                  </a:lnTo>
                  <a:lnTo>
                    <a:pt x="392366" y="1835492"/>
                  </a:lnTo>
                  <a:lnTo>
                    <a:pt x="331980" y="1907771"/>
                  </a:lnTo>
                  <a:lnTo>
                    <a:pt x="266465" y="1975437"/>
                  </a:lnTo>
                  <a:lnTo>
                    <a:pt x="196172" y="2038125"/>
                  </a:lnTo>
                  <a:lnTo>
                    <a:pt x="121480" y="2095500"/>
                  </a:lnTo>
                  <a:lnTo>
                    <a:pt x="0" y="1924756"/>
                  </a:lnTo>
                  <a:lnTo>
                    <a:pt x="62520" y="1876731"/>
                  </a:lnTo>
                  <a:lnTo>
                    <a:pt x="121357" y="1824258"/>
                  </a:lnTo>
                  <a:lnTo>
                    <a:pt x="176195" y="1767620"/>
                  </a:lnTo>
                  <a:lnTo>
                    <a:pt x="226741" y="1707119"/>
                  </a:lnTo>
                  <a:lnTo>
                    <a:pt x="272723" y="1643081"/>
                  </a:lnTo>
                  <a:lnTo>
                    <a:pt x="313894" y="1575849"/>
                  </a:lnTo>
                  <a:lnTo>
                    <a:pt x="350033" y="1505784"/>
                  </a:lnTo>
                  <a:lnTo>
                    <a:pt x="380947" y="1433262"/>
                  </a:lnTo>
                  <a:lnTo>
                    <a:pt x="406470" y="1358671"/>
                  </a:lnTo>
                  <a:lnTo>
                    <a:pt x="426464" y="1282412"/>
                  </a:lnTo>
                  <a:lnTo>
                    <a:pt x="440823" y="1204894"/>
                  </a:lnTo>
                  <a:lnTo>
                    <a:pt x="449469" y="1126534"/>
                  </a:lnTo>
                  <a:lnTo>
                    <a:pt x="452356" y="1047750"/>
                  </a:lnTo>
                  <a:lnTo>
                    <a:pt x="449469" y="968966"/>
                  </a:lnTo>
                  <a:lnTo>
                    <a:pt x="440823" y="890606"/>
                  </a:lnTo>
                  <a:lnTo>
                    <a:pt x="426464" y="813088"/>
                  </a:lnTo>
                  <a:lnTo>
                    <a:pt x="406470" y="736829"/>
                  </a:lnTo>
                  <a:lnTo>
                    <a:pt x="380947" y="662238"/>
                  </a:lnTo>
                  <a:lnTo>
                    <a:pt x="350033" y="589716"/>
                  </a:lnTo>
                  <a:lnTo>
                    <a:pt x="313894" y="519651"/>
                  </a:lnTo>
                  <a:lnTo>
                    <a:pt x="272723" y="452419"/>
                  </a:lnTo>
                  <a:lnTo>
                    <a:pt x="226741" y="388381"/>
                  </a:lnTo>
                  <a:lnTo>
                    <a:pt x="176195" y="327880"/>
                  </a:lnTo>
                  <a:lnTo>
                    <a:pt x="121357" y="271242"/>
                  </a:lnTo>
                  <a:lnTo>
                    <a:pt x="62520" y="218769"/>
                  </a:lnTo>
                  <a:lnTo>
                    <a:pt x="0" y="170744"/>
                  </a:lnTo>
                  <a:close/>
                </a:path>
              </a:pathLst>
            </a:cu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R-badge-disc"/>
            <p:cNvSpPr/>
            <p:nvPr/>
          </p:nvSpPr>
          <p:spPr>
            <a:xfrm>
              <a:off x="26289000" y="4514850"/>
              <a:ext cx="1828800" cy="1828800"/>
            </a:xfrm>
            <a:prstGeom prst="ellipse">
              <a:avLst/>
            </a:pr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R-badge-letter"/>
            <p:cNvSpPr txBox="1"/>
            <p:nvPr/>
          </p:nvSpPr>
          <p:spPr>
            <a:xfrm>
              <a:off x="26631900" y="4667250"/>
              <a:ext cx="1143000" cy="1524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7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</a:t>
              </a:r>
            </a:p>
          </p:txBody>
        </p:sp>
        <p:sp>
          <p:nvSpPr>
            <p:cNvPr id="64" name="TR-line1"/>
            <p:cNvSpPr txBox="1"/>
            <p:nvPr/>
          </p:nvSpPr>
          <p:spPr>
            <a:xfrm>
              <a:off x="21126450" y="6825615"/>
              <a:ext cx="6323625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给出1-3个支撑结论的关键依据</a:t>
              </a:r>
            </a:p>
          </p:txBody>
        </p:sp>
        <p:sp>
          <p:nvSpPr>
            <p:cNvPr id="65" name="TR-line2"/>
            <p:cNvSpPr txBox="1"/>
            <p:nvPr/>
          </p:nvSpPr>
          <p:spPr>
            <a:xfrm>
              <a:off x="21126450" y="7573328"/>
              <a:ext cx="6995160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例：因为新渠道用户匹配度更高，</a:t>
              </a:r>
            </a:p>
          </p:txBody>
        </p:sp>
        <p:sp>
          <p:nvSpPr>
            <p:cNvPr id="66" name="TR-line3"/>
            <p:cNvSpPr txBox="1"/>
            <p:nvPr/>
          </p:nvSpPr>
          <p:spPr>
            <a:xfrm>
              <a:off x="21126450" y="8173402"/>
              <a:ext cx="7228332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且上周小范围测试发现ROI高出3倍</a:t>
              </a:r>
            </a:p>
          </p:txBody>
        </p:sp>
      </p:grpSp>
      <p:grpSp>
        <p:nvGrpSpPr>
          <p:cNvPr id="93" name="blk-BL"/>
          <p:cNvGrpSpPr/>
          <p:nvPr/>
        </p:nvGrpSpPr>
        <p:grpSpPr>
          <a:xfrm>
            <a:off x="1962150" y="10178415"/>
            <a:ext cx="7477125" cy="4442460"/>
            <a:chOff x="1962150" y="10178415"/>
            <a:chExt cx="7477125" cy="4442460"/>
          </a:xfrm>
        </p:grpSpPr>
        <p:sp>
          <p:nvSpPr>
            <p:cNvPr id="67" name="BL-card"/>
            <p:cNvSpPr/>
            <p:nvPr/>
          </p:nvSpPr>
          <p:spPr>
            <a:xfrm>
              <a:off x="4038600" y="12506325"/>
              <a:ext cx="5400675" cy="2114550"/>
            </a:xfrm>
            <a:prstGeom prst="roundRect">
              <a:avLst>
                <a:gd name="adj" fmla="val 9909"/>
              </a:avLst>
            </a:prstGeom>
            <a:solidFill>
              <a:srgbClr val="FFFFFF"/>
            </a:solidFill>
            <a:ln w="19050">
              <a:solidFill>
                <a:srgbClr val="EAECF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BL-title"/>
            <p:cNvSpPr txBox="1"/>
            <p:nvPr/>
          </p:nvSpPr>
          <p:spPr>
            <a:xfrm>
              <a:off x="4924425" y="12893040"/>
              <a:ext cx="1842516" cy="14173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975" b="1" i="0">
                  <a:solidFill>
                    <a:srgbClr val="477EFC"/>
                  </a:solidFill>
                  <a:latin typeface="Microsoft YaHei"/>
                  <a:ea typeface="Microsoft YaHei"/>
                  <a:cs typeface="Microsoft YaHei"/>
                </a:rPr>
                <a:t>重申</a:t>
              </a:r>
            </a:p>
          </p:txBody>
        </p:sp>
        <p:sp>
          <p:nvSpPr>
            <p:cNvPr id="69" name="BL-badge-arc-left"/>
            <p:cNvSpPr/>
            <p:nvPr/>
          </p:nvSpPr>
          <p:spPr>
            <a:xfrm>
              <a:off x="1962150" y="12525375"/>
              <a:ext cx="661906" cy="2095500"/>
            </a:xfrm>
            <a:custGeom>
              <a:avLst/>
              <a:gdLst/>
              <a:ahLst/>
              <a:cxnLst/>
              <a:rect l="l" t="t" r="r" b="b"/>
              <a:pathLst>
                <a:path w="661906" h="2095500">
                  <a:moveTo>
                    <a:pt x="540426" y="2095500"/>
                  </a:moveTo>
                  <a:lnTo>
                    <a:pt x="465734" y="2038125"/>
                  </a:lnTo>
                  <a:lnTo>
                    <a:pt x="395441" y="1975437"/>
                  </a:lnTo>
                  <a:lnTo>
                    <a:pt x="329926" y="1907771"/>
                  </a:lnTo>
                  <a:lnTo>
                    <a:pt x="269540" y="1835492"/>
                  </a:lnTo>
                  <a:lnTo>
                    <a:pt x="214606" y="1758986"/>
                  </a:lnTo>
                  <a:lnTo>
                    <a:pt x="165419" y="1678665"/>
                  </a:lnTo>
                  <a:lnTo>
                    <a:pt x="122244" y="1594959"/>
                  </a:lnTo>
                  <a:lnTo>
                    <a:pt x="85312" y="1508317"/>
                  </a:lnTo>
                  <a:lnTo>
                    <a:pt x="54820" y="1419204"/>
                  </a:lnTo>
                  <a:lnTo>
                    <a:pt x="30933" y="1328099"/>
                  </a:lnTo>
                  <a:lnTo>
                    <a:pt x="13779" y="1235489"/>
                  </a:lnTo>
                  <a:lnTo>
                    <a:pt x="3449" y="1141872"/>
                  </a:lnTo>
                  <a:lnTo>
                    <a:pt x="0" y="1047750"/>
                  </a:lnTo>
                  <a:lnTo>
                    <a:pt x="3449" y="953628"/>
                  </a:lnTo>
                  <a:lnTo>
                    <a:pt x="13779" y="860011"/>
                  </a:lnTo>
                  <a:lnTo>
                    <a:pt x="30933" y="767401"/>
                  </a:lnTo>
                  <a:lnTo>
                    <a:pt x="54820" y="676296"/>
                  </a:lnTo>
                  <a:lnTo>
                    <a:pt x="85312" y="587183"/>
                  </a:lnTo>
                  <a:lnTo>
                    <a:pt x="122244" y="500541"/>
                  </a:lnTo>
                  <a:lnTo>
                    <a:pt x="165419" y="416835"/>
                  </a:lnTo>
                  <a:lnTo>
                    <a:pt x="214606" y="336514"/>
                  </a:lnTo>
                  <a:lnTo>
                    <a:pt x="269540" y="260008"/>
                  </a:lnTo>
                  <a:lnTo>
                    <a:pt x="329926" y="187729"/>
                  </a:lnTo>
                  <a:lnTo>
                    <a:pt x="395441" y="120063"/>
                  </a:lnTo>
                  <a:lnTo>
                    <a:pt x="465734" y="57375"/>
                  </a:lnTo>
                  <a:lnTo>
                    <a:pt x="540426" y="0"/>
                  </a:lnTo>
                  <a:lnTo>
                    <a:pt x="661906" y="170744"/>
                  </a:lnTo>
                  <a:lnTo>
                    <a:pt x="599386" y="218769"/>
                  </a:lnTo>
                  <a:lnTo>
                    <a:pt x="540549" y="271242"/>
                  </a:lnTo>
                  <a:lnTo>
                    <a:pt x="485711" y="327880"/>
                  </a:lnTo>
                  <a:lnTo>
                    <a:pt x="435165" y="388381"/>
                  </a:lnTo>
                  <a:lnTo>
                    <a:pt x="389183" y="452419"/>
                  </a:lnTo>
                  <a:lnTo>
                    <a:pt x="348012" y="519651"/>
                  </a:lnTo>
                  <a:lnTo>
                    <a:pt x="311873" y="589716"/>
                  </a:lnTo>
                  <a:lnTo>
                    <a:pt x="280959" y="662238"/>
                  </a:lnTo>
                  <a:lnTo>
                    <a:pt x="255436" y="736829"/>
                  </a:lnTo>
                  <a:lnTo>
                    <a:pt x="235442" y="813088"/>
                  </a:lnTo>
                  <a:lnTo>
                    <a:pt x="221083" y="890606"/>
                  </a:lnTo>
                  <a:lnTo>
                    <a:pt x="212437" y="968966"/>
                  </a:lnTo>
                  <a:lnTo>
                    <a:pt x="209550" y="1047750"/>
                  </a:lnTo>
                  <a:lnTo>
                    <a:pt x="212437" y="1126534"/>
                  </a:lnTo>
                  <a:lnTo>
                    <a:pt x="221083" y="1204894"/>
                  </a:lnTo>
                  <a:lnTo>
                    <a:pt x="235442" y="1282412"/>
                  </a:lnTo>
                  <a:lnTo>
                    <a:pt x="255436" y="1358671"/>
                  </a:lnTo>
                  <a:lnTo>
                    <a:pt x="280959" y="1433262"/>
                  </a:lnTo>
                  <a:lnTo>
                    <a:pt x="311873" y="1505784"/>
                  </a:lnTo>
                  <a:lnTo>
                    <a:pt x="348012" y="1575849"/>
                  </a:lnTo>
                  <a:lnTo>
                    <a:pt x="389183" y="1643081"/>
                  </a:lnTo>
                  <a:lnTo>
                    <a:pt x="435165" y="1707119"/>
                  </a:lnTo>
                  <a:lnTo>
                    <a:pt x="485711" y="1767620"/>
                  </a:lnTo>
                  <a:lnTo>
                    <a:pt x="540549" y="1824258"/>
                  </a:lnTo>
                  <a:lnTo>
                    <a:pt x="599386" y="1876731"/>
                  </a:lnTo>
                  <a:lnTo>
                    <a:pt x="661906" y="1924756"/>
                  </a:lnTo>
                  <a:close/>
                </a:path>
              </a:pathLst>
            </a:cu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BL-badge-arc-right"/>
            <p:cNvSpPr/>
            <p:nvPr/>
          </p:nvSpPr>
          <p:spPr>
            <a:xfrm>
              <a:off x="3871994" y="12525375"/>
              <a:ext cx="661906" cy="2095500"/>
            </a:xfrm>
            <a:custGeom>
              <a:avLst/>
              <a:gdLst/>
              <a:ahLst/>
              <a:cxnLst/>
              <a:rect l="l" t="t" r="r" b="b"/>
              <a:pathLst>
                <a:path w="661906" h="2095500">
                  <a:moveTo>
                    <a:pt x="121480" y="0"/>
                  </a:moveTo>
                  <a:lnTo>
                    <a:pt x="196172" y="57375"/>
                  </a:lnTo>
                  <a:lnTo>
                    <a:pt x="266465" y="120063"/>
                  </a:lnTo>
                  <a:lnTo>
                    <a:pt x="331980" y="187729"/>
                  </a:lnTo>
                  <a:lnTo>
                    <a:pt x="392366" y="260008"/>
                  </a:lnTo>
                  <a:lnTo>
                    <a:pt x="447300" y="336514"/>
                  </a:lnTo>
                  <a:lnTo>
                    <a:pt x="496487" y="416835"/>
                  </a:lnTo>
                  <a:lnTo>
                    <a:pt x="539662" y="500541"/>
                  </a:lnTo>
                  <a:lnTo>
                    <a:pt x="576594" y="587183"/>
                  </a:lnTo>
                  <a:lnTo>
                    <a:pt x="607086" y="676296"/>
                  </a:lnTo>
                  <a:lnTo>
                    <a:pt x="630973" y="767401"/>
                  </a:lnTo>
                  <a:lnTo>
                    <a:pt x="648127" y="860011"/>
                  </a:lnTo>
                  <a:lnTo>
                    <a:pt x="658457" y="953628"/>
                  </a:lnTo>
                  <a:lnTo>
                    <a:pt x="661906" y="1047750"/>
                  </a:lnTo>
                  <a:lnTo>
                    <a:pt x="658457" y="1141872"/>
                  </a:lnTo>
                  <a:lnTo>
                    <a:pt x="648127" y="1235489"/>
                  </a:lnTo>
                  <a:lnTo>
                    <a:pt x="630973" y="1328099"/>
                  </a:lnTo>
                  <a:lnTo>
                    <a:pt x="607086" y="1419204"/>
                  </a:lnTo>
                  <a:lnTo>
                    <a:pt x="576594" y="1508317"/>
                  </a:lnTo>
                  <a:lnTo>
                    <a:pt x="539662" y="1594959"/>
                  </a:lnTo>
                  <a:lnTo>
                    <a:pt x="496487" y="1678665"/>
                  </a:lnTo>
                  <a:lnTo>
                    <a:pt x="447300" y="1758986"/>
                  </a:lnTo>
                  <a:lnTo>
                    <a:pt x="392366" y="1835492"/>
                  </a:lnTo>
                  <a:lnTo>
                    <a:pt x="331980" y="1907771"/>
                  </a:lnTo>
                  <a:lnTo>
                    <a:pt x="266465" y="1975437"/>
                  </a:lnTo>
                  <a:lnTo>
                    <a:pt x="196172" y="2038125"/>
                  </a:lnTo>
                  <a:lnTo>
                    <a:pt x="121480" y="2095500"/>
                  </a:lnTo>
                  <a:lnTo>
                    <a:pt x="0" y="1924756"/>
                  </a:lnTo>
                  <a:lnTo>
                    <a:pt x="62520" y="1876731"/>
                  </a:lnTo>
                  <a:lnTo>
                    <a:pt x="121357" y="1824258"/>
                  </a:lnTo>
                  <a:lnTo>
                    <a:pt x="176195" y="1767620"/>
                  </a:lnTo>
                  <a:lnTo>
                    <a:pt x="226741" y="1707119"/>
                  </a:lnTo>
                  <a:lnTo>
                    <a:pt x="272723" y="1643081"/>
                  </a:lnTo>
                  <a:lnTo>
                    <a:pt x="313894" y="1575849"/>
                  </a:lnTo>
                  <a:lnTo>
                    <a:pt x="350033" y="1505784"/>
                  </a:lnTo>
                  <a:lnTo>
                    <a:pt x="380947" y="1433262"/>
                  </a:lnTo>
                  <a:lnTo>
                    <a:pt x="406470" y="1358671"/>
                  </a:lnTo>
                  <a:lnTo>
                    <a:pt x="426464" y="1282412"/>
                  </a:lnTo>
                  <a:lnTo>
                    <a:pt x="440823" y="1204894"/>
                  </a:lnTo>
                  <a:lnTo>
                    <a:pt x="449469" y="1126534"/>
                  </a:lnTo>
                  <a:lnTo>
                    <a:pt x="452356" y="1047750"/>
                  </a:lnTo>
                  <a:lnTo>
                    <a:pt x="449469" y="968966"/>
                  </a:lnTo>
                  <a:lnTo>
                    <a:pt x="440823" y="890606"/>
                  </a:lnTo>
                  <a:lnTo>
                    <a:pt x="426464" y="813088"/>
                  </a:lnTo>
                  <a:lnTo>
                    <a:pt x="406470" y="736829"/>
                  </a:lnTo>
                  <a:lnTo>
                    <a:pt x="380947" y="662238"/>
                  </a:lnTo>
                  <a:lnTo>
                    <a:pt x="350033" y="589716"/>
                  </a:lnTo>
                  <a:lnTo>
                    <a:pt x="313894" y="519651"/>
                  </a:lnTo>
                  <a:lnTo>
                    <a:pt x="272723" y="452419"/>
                  </a:lnTo>
                  <a:lnTo>
                    <a:pt x="226741" y="388381"/>
                  </a:lnTo>
                  <a:lnTo>
                    <a:pt x="176195" y="327880"/>
                  </a:lnTo>
                  <a:lnTo>
                    <a:pt x="121357" y="271242"/>
                  </a:lnTo>
                  <a:lnTo>
                    <a:pt x="62520" y="218769"/>
                  </a:lnTo>
                  <a:lnTo>
                    <a:pt x="0" y="170744"/>
                  </a:lnTo>
                  <a:close/>
                </a:path>
              </a:pathLst>
            </a:cu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BL-badge-disc"/>
            <p:cNvSpPr/>
            <p:nvPr/>
          </p:nvSpPr>
          <p:spPr>
            <a:xfrm>
              <a:off x="2333625" y="12658725"/>
              <a:ext cx="1828800" cy="1828800"/>
            </a:xfrm>
            <a:prstGeom prst="ellipse">
              <a:avLst/>
            </a:pr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BL-badge-letter"/>
            <p:cNvSpPr txBox="1"/>
            <p:nvPr/>
          </p:nvSpPr>
          <p:spPr>
            <a:xfrm>
              <a:off x="2676525" y="12811125"/>
              <a:ext cx="1143000" cy="1524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7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  <p:sp>
          <p:nvSpPr>
            <p:cNvPr id="73" name="BL-line1"/>
            <p:cNvSpPr txBox="1"/>
            <p:nvPr/>
          </p:nvSpPr>
          <p:spPr>
            <a:xfrm>
              <a:off x="2066925" y="10178415"/>
              <a:ext cx="6062472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再次强调观点，形成逻辑闭环</a:t>
              </a:r>
            </a:p>
          </p:txBody>
        </p:sp>
        <p:sp>
          <p:nvSpPr>
            <p:cNvPr id="74" name="BL-line2"/>
            <p:cNvSpPr txBox="1"/>
            <p:nvPr/>
          </p:nvSpPr>
          <p:spPr>
            <a:xfrm>
              <a:off x="2066925" y="10935652"/>
              <a:ext cx="6995160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例：所以我建议立即调整策略，把</a:t>
              </a:r>
            </a:p>
          </p:txBody>
        </p:sp>
        <p:sp>
          <p:nvSpPr>
            <p:cNvPr id="75" name="BL-line3"/>
            <p:cNvSpPr txBox="1"/>
            <p:nvPr/>
          </p:nvSpPr>
          <p:spPr>
            <a:xfrm>
              <a:off x="2066925" y="11526202"/>
              <a:ext cx="3730752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预算集中在新渠道</a:t>
              </a:r>
            </a:p>
          </p:txBody>
        </p:sp>
      </p:grpSp>
      <p:grpSp>
        <p:nvGrpSpPr>
          <p:cNvPr id="91" name="blk-BR"/>
          <p:cNvGrpSpPr/>
          <p:nvPr/>
        </p:nvGrpSpPr>
        <p:grpSpPr>
          <a:xfrm>
            <a:off x="21107400" y="10178415"/>
            <a:ext cx="7433920" cy="4442460"/>
            <a:chOff x="21107400" y="10178415"/>
            <a:chExt cx="7433920" cy="4442460"/>
          </a:xfrm>
        </p:grpSpPr>
        <p:sp>
          <p:nvSpPr>
            <p:cNvPr id="76" name="BR-card"/>
            <p:cNvSpPr/>
            <p:nvPr/>
          </p:nvSpPr>
          <p:spPr>
            <a:xfrm>
              <a:off x="21107400" y="12506325"/>
              <a:ext cx="5629275" cy="2114550"/>
            </a:xfrm>
            <a:prstGeom prst="roundRect">
              <a:avLst>
                <a:gd name="adj" fmla="val 9909"/>
              </a:avLst>
            </a:prstGeom>
            <a:solidFill>
              <a:srgbClr val="FFFFFF"/>
            </a:solidFill>
            <a:ln w="19050">
              <a:solidFill>
                <a:srgbClr val="EAECF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BR-title"/>
            <p:cNvSpPr txBox="1"/>
            <p:nvPr/>
          </p:nvSpPr>
          <p:spPr>
            <a:xfrm>
              <a:off x="23669625" y="12873990"/>
              <a:ext cx="1842516" cy="14173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975" b="1" i="0">
                  <a:solidFill>
                    <a:srgbClr val="477EFC"/>
                  </a:solidFill>
                  <a:latin typeface="Microsoft YaHei"/>
                  <a:ea typeface="Microsoft YaHei"/>
                  <a:cs typeface="Microsoft YaHei"/>
                </a:rPr>
                <a:t>案例</a:t>
              </a:r>
            </a:p>
          </p:txBody>
        </p:sp>
        <p:sp>
          <p:nvSpPr>
            <p:cNvPr id="78" name="BR-badge-arc-left"/>
            <p:cNvSpPr/>
            <p:nvPr/>
          </p:nvSpPr>
          <p:spPr>
            <a:xfrm>
              <a:off x="25917525" y="12525375"/>
              <a:ext cx="661906" cy="2095500"/>
            </a:xfrm>
            <a:custGeom>
              <a:avLst/>
              <a:gdLst/>
              <a:ahLst/>
              <a:cxnLst/>
              <a:rect l="l" t="t" r="r" b="b"/>
              <a:pathLst>
                <a:path w="661906" h="2095500">
                  <a:moveTo>
                    <a:pt x="540426" y="2095500"/>
                  </a:moveTo>
                  <a:lnTo>
                    <a:pt x="465734" y="2038125"/>
                  </a:lnTo>
                  <a:lnTo>
                    <a:pt x="395441" y="1975437"/>
                  </a:lnTo>
                  <a:lnTo>
                    <a:pt x="329926" y="1907771"/>
                  </a:lnTo>
                  <a:lnTo>
                    <a:pt x="269540" y="1835492"/>
                  </a:lnTo>
                  <a:lnTo>
                    <a:pt x="214606" y="1758986"/>
                  </a:lnTo>
                  <a:lnTo>
                    <a:pt x="165419" y="1678665"/>
                  </a:lnTo>
                  <a:lnTo>
                    <a:pt x="122244" y="1594959"/>
                  </a:lnTo>
                  <a:lnTo>
                    <a:pt x="85312" y="1508317"/>
                  </a:lnTo>
                  <a:lnTo>
                    <a:pt x="54820" y="1419204"/>
                  </a:lnTo>
                  <a:lnTo>
                    <a:pt x="30933" y="1328099"/>
                  </a:lnTo>
                  <a:lnTo>
                    <a:pt x="13779" y="1235489"/>
                  </a:lnTo>
                  <a:lnTo>
                    <a:pt x="3449" y="1141872"/>
                  </a:lnTo>
                  <a:lnTo>
                    <a:pt x="0" y="1047750"/>
                  </a:lnTo>
                  <a:lnTo>
                    <a:pt x="3449" y="953628"/>
                  </a:lnTo>
                  <a:lnTo>
                    <a:pt x="13779" y="860011"/>
                  </a:lnTo>
                  <a:lnTo>
                    <a:pt x="30933" y="767401"/>
                  </a:lnTo>
                  <a:lnTo>
                    <a:pt x="54820" y="676296"/>
                  </a:lnTo>
                  <a:lnTo>
                    <a:pt x="85312" y="587183"/>
                  </a:lnTo>
                  <a:lnTo>
                    <a:pt x="122244" y="500541"/>
                  </a:lnTo>
                  <a:lnTo>
                    <a:pt x="165419" y="416835"/>
                  </a:lnTo>
                  <a:lnTo>
                    <a:pt x="214606" y="336514"/>
                  </a:lnTo>
                  <a:lnTo>
                    <a:pt x="269540" y="260008"/>
                  </a:lnTo>
                  <a:lnTo>
                    <a:pt x="329926" y="187729"/>
                  </a:lnTo>
                  <a:lnTo>
                    <a:pt x="395441" y="120063"/>
                  </a:lnTo>
                  <a:lnTo>
                    <a:pt x="465734" y="57375"/>
                  </a:lnTo>
                  <a:lnTo>
                    <a:pt x="540426" y="0"/>
                  </a:lnTo>
                  <a:lnTo>
                    <a:pt x="661906" y="170744"/>
                  </a:lnTo>
                  <a:lnTo>
                    <a:pt x="599386" y="218769"/>
                  </a:lnTo>
                  <a:lnTo>
                    <a:pt x="540549" y="271242"/>
                  </a:lnTo>
                  <a:lnTo>
                    <a:pt x="485711" y="327880"/>
                  </a:lnTo>
                  <a:lnTo>
                    <a:pt x="435165" y="388381"/>
                  </a:lnTo>
                  <a:lnTo>
                    <a:pt x="389183" y="452419"/>
                  </a:lnTo>
                  <a:lnTo>
                    <a:pt x="348012" y="519651"/>
                  </a:lnTo>
                  <a:lnTo>
                    <a:pt x="311873" y="589716"/>
                  </a:lnTo>
                  <a:lnTo>
                    <a:pt x="280959" y="662238"/>
                  </a:lnTo>
                  <a:lnTo>
                    <a:pt x="255436" y="736829"/>
                  </a:lnTo>
                  <a:lnTo>
                    <a:pt x="235442" y="813088"/>
                  </a:lnTo>
                  <a:lnTo>
                    <a:pt x="221083" y="890606"/>
                  </a:lnTo>
                  <a:lnTo>
                    <a:pt x="212437" y="968966"/>
                  </a:lnTo>
                  <a:lnTo>
                    <a:pt x="209550" y="1047750"/>
                  </a:lnTo>
                  <a:lnTo>
                    <a:pt x="212437" y="1126534"/>
                  </a:lnTo>
                  <a:lnTo>
                    <a:pt x="221083" y="1204894"/>
                  </a:lnTo>
                  <a:lnTo>
                    <a:pt x="235442" y="1282412"/>
                  </a:lnTo>
                  <a:lnTo>
                    <a:pt x="255436" y="1358671"/>
                  </a:lnTo>
                  <a:lnTo>
                    <a:pt x="280959" y="1433262"/>
                  </a:lnTo>
                  <a:lnTo>
                    <a:pt x="311873" y="1505784"/>
                  </a:lnTo>
                  <a:lnTo>
                    <a:pt x="348012" y="1575849"/>
                  </a:lnTo>
                  <a:lnTo>
                    <a:pt x="389183" y="1643081"/>
                  </a:lnTo>
                  <a:lnTo>
                    <a:pt x="435165" y="1707119"/>
                  </a:lnTo>
                  <a:lnTo>
                    <a:pt x="485711" y="1767620"/>
                  </a:lnTo>
                  <a:lnTo>
                    <a:pt x="540549" y="1824258"/>
                  </a:lnTo>
                  <a:lnTo>
                    <a:pt x="599386" y="1876731"/>
                  </a:lnTo>
                  <a:lnTo>
                    <a:pt x="661906" y="1924756"/>
                  </a:lnTo>
                  <a:close/>
                </a:path>
              </a:pathLst>
            </a:cu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BR-badge-arc-right"/>
            <p:cNvSpPr/>
            <p:nvPr/>
          </p:nvSpPr>
          <p:spPr>
            <a:xfrm>
              <a:off x="27827369" y="12525375"/>
              <a:ext cx="661906" cy="2095500"/>
            </a:xfrm>
            <a:custGeom>
              <a:avLst/>
              <a:gdLst/>
              <a:ahLst/>
              <a:cxnLst/>
              <a:rect l="l" t="t" r="r" b="b"/>
              <a:pathLst>
                <a:path w="661906" h="2095500">
                  <a:moveTo>
                    <a:pt x="121480" y="0"/>
                  </a:moveTo>
                  <a:lnTo>
                    <a:pt x="196172" y="57375"/>
                  </a:lnTo>
                  <a:lnTo>
                    <a:pt x="266465" y="120063"/>
                  </a:lnTo>
                  <a:lnTo>
                    <a:pt x="331980" y="187729"/>
                  </a:lnTo>
                  <a:lnTo>
                    <a:pt x="392366" y="260008"/>
                  </a:lnTo>
                  <a:lnTo>
                    <a:pt x="447300" y="336514"/>
                  </a:lnTo>
                  <a:lnTo>
                    <a:pt x="496487" y="416835"/>
                  </a:lnTo>
                  <a:lnTo>
                    <a:pt x="539662" y="500541"/>
                  </a:lnTo>
                  <a:lnTo>
                    <a:pt x="576594" y="587183"/>
                  </a:lnTo>
                  <a:lnTo>
                    <a:pt x="607086" y="676296"/>
                  </a:lnTo>
                  <a:lnTo>
                    <a:pt x="630973" y="767401"/>
                  </a:lnTo>
                  <a:lnTo>
                    <a:pt x="648127" y="860011"/>
                  </a:lnTo>
                  <a:lnTo>
                    <a:pt x="658457" y="953628"/>
                  </a:lnTo>
                  <a:lnTo>
                    <a:pt x="661906" y="1047750"/>
                  </a:lnTo>
                  <a:lnTo>
                    <a:pt x="658457" y="1141872"/>
                  </a:lnTo>
                  <a:lnTo>
                    <a:pt x="648127" y="1235489"/>
                  </a:lnTo>
                  <a:lnTo>
                    <a:pt x="630973" y="1328099"/>
                  </a:lnTo>
                  <a:lnTo>
                    <a:pt x="607086" y="1419204"/>
                  </a:lnTo>
                  <a:lnTo>
                    <a:pt x="576594" y="1508317"/>
                  </a:lnTo>
                  <a:lnTo>
                    <a:pt x="539662" y="1594959"/>
                  </a:lnTo>
                  <a:lnTo>
                    <a:pt x="496487" y="1678665"/>
                  </a:lnTo>
                  <a:lnTo>
                    <a:pt x="447300" y="1758986"/>
                  </a:lnTo>
                  <a:lnTo>
                    <a:pt x="392366" y="1835492"/>
                  </a:lnTo>
                  <a:lnTo>
                    <a:pt x="331980" y="1907771"/>
                  </a:lnTo>
                  <a:lnTo>
                    <a:pt x="266465" y="1975437"/>
                  </a:lnTo>
                  <a:lnTo>
                    <a:pt x="196172" y="2038125"/>
                  </a:lnTo>
                  <a:lnTo>
                    <a:pt x="121480" y="2095500"/>
                  </a:lnTo>
                  <a:lnTo>
                    <a:pt x="0" y="1924756"/>
                  </a:lnTo>
                  <a:lnTo>
                    <a:pt x="62520" y="1876731"/>
                  </a:lnTo>
                  <a:lnTo>
                    <a:pt x="121357" y="1824258"/>
                  </a:lnTo>
                  <a:lnTo>
                    <a:pt x="176195" y="1767620"/>
                  </a:lnTo>
                  <a:lnTo>
                    <a:pt x="226741" y="1707119"/>
                  </a:lnTo>
                  <a:lnTo>
                    <a:pt x="272723" y="1643081"/>
                  </a:lnTo>
                  <a:lnTo>
                    <a:pt x="313894" y="1575849"/>
                  </a:lnTo>
                  <a:lnTo>
                    <a:pt x="350033" y="1505784"/>
                  </a:lnTo>
                  <a:lnTo>
                    <a:pt x="380947" y="1433262"/>
                  </a:lnTo>
                  <a:lnTo>
                    <a:pt x="406470" y="1358671"/>
                  </a:lnTo>
                  <a:lnTo>
                    <a:pt x="426464" y="1282412"/>
                  </a:lnTo>
                  <a:lnTo>
                    <a:pt x="440823" y="1204894"/>
                  </a:lnTo>
                  <a:lnTo>
                    <a:pt x="449469" y="1126534"/>
                  </a:lnTo>
                  <a:lnTo>
                    <a:pt x="452356" y="1047750"/>
                  </a:lnTo>
                  <a:lnTo>
                    <a:pt x="449469" y="968966"/>
                  </a:lnTo>
                  <a:lnTo>
                    <a:pt x="440823" y="890606"/>
                  </a:lnTo>
                  <a:lnTo>
                    <a:pt x="426464" y="813088"/>
                  </a:lnTo>
                  <a:lnTo>
                    <a:pt x="406470" y="736829"/>
                  </a:lnTo>
                  <a:lnTo>
                    <a:pt x="380947" y="662238"/>
                  </a:lnTo>
                  <a:lnTo>
                    <a:pt x="350033" y="589716"/>
                  </a:lnTo>
                  <a:lnTo>
                    <a:pt x="313894" y="519651"/>
                  </a:lnTo>
                  <a:lnTo>
                    <a:pt x="272723" y="452419"/>
                  </a:lnTo>
                  <a:lnTo>
                    <a:pt x="226741" y="388381"/>
                  </a:lnTo>
                  <a:lnTo>
                    <a:pt x="176195" y="327880"/>
                  </a:lnTo>
                  <a:lnTo>
                    <a:pt x="121357" y="271242"/>
                  </a:lnTo>
                  <a:lnTo>
                    <a:pt x="62520" y="218769"/>
                  </a:lnTo>
                  <a:lnTo>
                    <a:pt x="0" y="170744"/>
                  </a:lnTo>
                  <a:close/>
                </a:path>
              </a:pathLst>
            </a:cu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BR-badge-disc"/>
            <p:cNvSpPr/>
            <p:nvPr/>
          </p:nvSpPr>
          <p:spPr>
            <a:xfrm>
              <a:off x="26289000" y="12658725"/>
              <a:ext cx="1828800" cy="1828800"/>
            </a:xfrm>
            <a:prstGeom prst="ellipse">
              <a:avLst/>
            </a:prstGeom>
            <a:solidFill>
              <a:srgbClr val="477E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BR-badge-letter"/>
            <p:cNvSpPr txBox="1"/>
            <p:nvPr/>
          </p:nvSpPr>
          <p:spPr>
            <a:xfrm>
              <a:off x="26631900" y="12811125"/>
              <a:ext cx="1143000" cy="1524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7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E</a:t>
              </a:r>
            </a:p>
          </p:txBody>
        </p:sp>
        <p:sp>
          <p:nvSpPr>
            <p:cNvPr id="82" name="BR-line1"/>
            <p:cNvSpPr txBox="1"/>
            <p:nvPr/>
          </p:nvSpPr>
          <p:spPr>
            <a:xfrm>
              <a:off x="21126450" y="10178415"/>
              <a:ext cx="6528816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列举具体数据、事例或故事佐证</a:t>
              </a:r>
            </a:p>
          </p:txBody>
        </p:sp>
        <p:sp>
          <p:nvSpPr>
            <p:cNvPr id="83" name="BR-line2"/>
            <p:cNvSpPr txBox="1"/>
            <p:nvPr/>
          </p:nvSpPr>
          <p:spPr>
            <a:xfrm>
              <a:off x="21126450" y="10935652"/>
              <a:ext cx="7414870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例：同样500元预算，旧渠道获客10</a:t>
              </a:r>
            </a:p>
          </p:txBody>
        </p:sp>
        <p:sp>
          <p:nvSpPr>
            <p:cNvPr id="84" name="BR-line3"/>
            <p:cNvSpPr txBox="1"/>
            <p:nvPr/>
          </p:nvSpPr>
          <p:spPr>
            <a:xfrm>
              <a:off x="21126450" y="11526202"/>
              <a:ext cx="7069775" cy="6172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个，新渠道获客30个，质量也更好</a:t>
              </a:r>
            </a:p>
          </p:txBody>
        </p:sp>
      </p:grpSp>
      <p:sp>
        <p:nvSpPr>
          <p:cNvPr id="85" name="footer-bar"/>
          <p:cNvSpPr/>
          <p:nvPr/>
        </p:nvSpPr>
        <p:spPr>
          <a:xfrm>
            <a:off x="895350" y="15554325"/>
            <a:ext cx="28670250" cy="733425"/>
          </a:xfrm>
          <a:prstGeom prst="rect">
            <a:avLst/>
          </a:prstGeom>
          <a:solidFill>
            <a:srgbClr val="3B6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