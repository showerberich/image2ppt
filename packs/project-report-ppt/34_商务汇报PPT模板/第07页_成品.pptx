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capsule"/>
          <p:cNvSpPr/>
          <p:nvPr/>
        </p:nvSpPr>
        <p:spPr>
          <a:xfrm>
            <a:off x="1962150" y="1438275"/>
            <a:ext cx="26317575" cy="158115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7" name="hdr-pill"/>
          <p:cNvGrpSpPr/>
          <p:nvPr/>
        </p:nvGrpSpPr>
        <p:grpSpPr>
          <a:xfrm>
            <a:off x="1962150" y="1438275"/>
            <a:ext cx="16459200" cy="1581150"/>
            <a:chOff x="1962150" y="1438275"/>
            <a:chExt cx="16459200" cy="1581150"/>
          </a:xfrm>
        </p:grpSpPr>
        <p:sp>
          <p:nvSpPr>
            <p:cNvPr id="4" name="hdr-pill-base"/>
            <p:cNvSpPr/>
            <p:nvPr/>
          </p:nvSpPr>
          <p:spPr>
            <a:xfrm>
              <a:off x="1962150" y="1438275"/>
              <a:ext cx="16459200" cy="1581150"/>
            </a:xfrm>
            <a:prstGeom prst="roundRect">
              <a:avLst>
                <a:gd name="adj" fmla="val 50000"/>
              </a:avLst>
            </a:prstGeom>
            <a:solidFill>
              <a:srgbClr val="331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pill-b"/>
            <p:cNvSpPr/>
            <p:nvPr/>
          </p:nvSpPr>
          <p:spPr>
            <a:xfrm>
              <a:off x="5715000" y="1438275"/>
              <a:ext cx="7620000" cy="1581150"/>
            </a:xfrm>
            <a:prstGeom prst="rect">
              <a:avLst/>
            </a:prstGeom>
            <a:gradFill rotWithShape="1">
              <a:gsLst>
                <a:gs pos="0">
                  <a:srgbClr val="467BFA"/>
                </a:gs>
                <a:gs pos="100000">
                  <a:srgbClr val="3259E5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hdr-pill-c"/>
            <p:cNvSpPr/>
            <p:nvPr/>
          </p:nvSpPr>
          <p:spPr>
            <a:xfrm>
              <a:off x="12382500" y="1438275"/>
              <a:ext cx="5143500" cy="1581150"/>
            </a:xfrm>
            <a:prstGeom prst="rect">
              <a:avLst/>
            </a:prstGeom>
            <a:gradFill rotWithShape="1">
              <a:gsLst>
                <a:gs pos="0">
                  <a:srgbClr val="3259E5"/>
                </a:gs>
                <a:gs pos="100000">
                  <a:srgbClr val="331DB5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dr-pill-a"/>
            <p:cNvSpPr/>
            <p:nvPr/>
          </p:nvSpPr>
          <p:spPr>
            <a:xfrm>
              <a:off x="1962150" y="1438275"/>
              <a:ext cx="4705350" cy="1581150"/>
            </a:xfrm>
            <a:prstGeom prst="roundRect">
              <a:avLst>
                <a:gd name="adj" fmla="val 50000"/>
              </a:avLst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hdr-title"/>
          <p:cNvSpPr txBox="1"/>
          <p:nvPr/>
        </p:nvSpPr>
        <p:spPr>
          <a:xfrm>
            <a:off x="2857500" y="1752600"/>
            <a:ext cx="15049500" cy="10096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积极倾听 — 成为值得信赖的沟通对象</a:t>
            </a:r>
          </a:p>
        </p:txBody>
      </p:sp>
      <p:sp>
        <p:nvSpPr>
          <p:cNvPr id="9" name="hdr-num-bg"/>
          <p:cNvSpPr/>
          <p:nvPr/>
        </p:nvSpPr>
        <p:spPr>
          <a:xfrm>
            <a:off x="26346150" y="1562100"/>
            <a:ext cx="1314450" cy="1314450"/>
          </a:xfrm>
          <a:prstGeom prst="ellipse">
            <a:avLst/>
          </a:prstGeom>
          <a:gradFill rotWithShape="1">
            <a:gsLst>
              <a:gs pos="0">
                <a:srgbClr val="457CF9"/>
              </a:gs>
              <a:gs pos="100000">
                <a:srgbClr val="2F4AD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dr-num"/>
          <p:cNvSpPr txBox="1"/>
          <p:nvPr/>
        </p:nvSpPr>
        <p:spPr>
          <a:xfrm>
            <a:off x="26527125" y="1885950"/>
            <a:ext cx="1143000" cy="876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L-card"/>
          <p:cNvSpPr/>
          <p:nvPr/>
        </p:nvSpPr>
        <p:spPr>
          <a:xfrm>
            <a:off x="1895475" y="5419725"/>
            <a:ext cx="10315575" cy="8858250"/>
          </a:xfrm>
          <a:prstGeom prst="roundRect">
            <a:avLst>
              <a:gd name="adj" fmla="val 2580"/>
            </a:avLst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-frame"/>
          <p:cNvSpPr/>
          <p:nvPr/>
        </p:nvSpPr>
        <p:spPr>
          <a:xfrm>
            <a:off x="1895475" y="5419725"/>
            <a:ext cx="10315575" cy="2857500"/>
          </a:xfrm>
          <a:prstGeom prst="roundRect">
            <a:avLst>
              <a:gd name="adj" fmla="val 8000"/>
            </a:avLst>
          </a:prstGeom>
          <a:solidFill>
            <a:srgbClr val="3D6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-band"/>
          <p:cNvSpPr/>
          <p:nvPr/>
        </p:nvSpPr>
        <p:spPr>
          <a:xfrm>
            <a:off x="2667000" y="5953125"/>
            <a:ext cx="9544050" cy="2266950"/>
          </a:xfrm>
          <a:prstGeom prst="roundRect">
            <a:avLst>
              <a:gd name="adj" fmla="val 5882"/>
            </a:avLst>
          </a:prstGeom>
          <a:solidFill>
            <a:srgbClr val="E5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-flag"/>
          <p:cNvSpPr/>
          <p:nvPr/>
        </p:nvSpPr>
        <p:spPr>
          <a:xfrm>
            <a:off x="3467100" y="6457950"/>
            <a:ext cx="4314825" cy="1190625"/>
          </a:xfrm>
          <a:custGeom>
            <a:avLst/>
            <a:gdLst/>
            <a:ahLst/>
            <a:cxnLst/>
            <a:rect l="l" t="t" r="r" b="b"/>
            <a:pathLst>
              <a:path w="4314825" h="1190625">
                <a:moveTo>
                  <a:pt x="0" y="0"/>
                </a:moveTo>
                <a:lnTo>
                  <a:pt x="4314825" y="0"/>
                </a:lnTo>
                <a:lnTo>
                  <a:pt x="3743325" y="1190625"/>
                </a:lnTo>
                <a:lnTo>
                  <a:pt x="0" y="1190625"/>
                </a:lnTo>
                <a:close/>
              </a:path>
            </a:pathLst>
          </a:custGeom>
          <a:solidFill>
            <a:srgbClr val="3E6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-flag-text"/>
          <p:cNvSpPr txBox="1"/>
          <p:nvPr/>
        </p:nvSpPr>
        <p:spPr>
          <a:xfrm>
            <a:off x="4114800" y="6629400"/>
            <a:ext cx="249555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倾听障碍</a:t>
            </a:r>
          </a:p>
        </p:txBody>
      </p:sp>
      <p:sp>
        <p:nvSpPr>
          <p:cNvPr id="16" name="R-card"/>
          <p:cNvSpPr/>
          <p:nvPr/>
        </p:nvSpPr>
        <p:spPr>
          <a:xfrm>
            <a:off x="17897475" y="5419725"/>
            <a:ext cx="10677525" cy="8858250"/>
          </a:xfrm>
          <a:prstGeom prst="roundRect">
            <a:avLst>
              <a:gd name="adj" fmla="val 2580"/>
            </a:avLst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-frame"/>
          <p:cNvSpPr/>
          <p:nvPr/>
        </p:nvSpPr>
        <p:spPr>
          <a:xfrm>
            <a:off x="17897475" y="5419725"/>
            <a:ext cx="10677525" cy="2857500"/>
          </a:xfrm>
          <a:prstGeom prst="roundRect">
            <a:avLst>
              <a:gd name="adj" fmla="val 8000"/>
            </a:avLst>
          </a:prstGeom>
          <a:solidFill>
            <a:srgbClr val="3D6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-band"/>
          <p:cNvSpPr/>
          <p:nvPr/>
        </p:nvSpPr>
        <p:spPr>
          <a:xfrm>
            <a:off x="17897475" y="5953125"/>
            <a:ext cx="9934575" cy="2266950"/>
          </a:xfrm>
          <a:prstGeom prst="roundRect">
            <a:avLst>
              <a:gd name="adj" fmla="val 5882"/>
            </a:avLst>
          </a:prstGeom>
          <a:solidFill>
            <a:srgbClr val="E5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-flag"/>
          <p:cNvSpPr/>
          <p:nvPr/>
        </p:nvSpPr>
        <p:spPr>
          <a:xfrm>
            <a:off x="18516600" y="6457950"/>
            <a:ext cx="4314825" cy="1190625"/>
          </a:xfrm>
          <a:custGeom>
            <a:avLst/>
            <a:gdLst/>
            <a:ahLst/>
            <a:cxnLst/>
            <a:rect l="l" t="t" r="r" b="b"/>
            <a:pathLst>
              <a:path w="4314825" h="1190625">
                <a:moveTo>
                  <a:pt x="0" y="0"/>
                </a:moveTo>
                <a:lnTo>
                  <a:pt x="4314825" y="0"/>
                </a:lnTo>
                <a:lnTo>
                  <a:pt x="3733800" y="1190625"/>
                </a:lnTo>
                <a:lnTo>
                  <a:pt x="0" y="1190625"/>
                </a:lnTo>
                <a:close/>
              </a:path>
            </a:pathLst>
          </a:custGeom>
          <a:solidFill>
            <a:srgbClr val="3E6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-flag-text"/>
          <p:cNvSpPr txBox="1"/>
          <p:nvPr/>
        </p:nvSpPr>
        <p:spPr>
          <a:xfrm>
            <a:off x="19154775" y="6629400"/>
            <a:ext cx="249555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解决方法</a:t>
            </a:r>
          </a:p>
        </p:txBody>
      </p:sp>
      <p:sp>
        <p:nvSpPr>
          <p:cNvPr id="21" name="L-h1"/>
          <p:cNvSpPr txBox="1"/>
          <p:nvPr/>
        </p:nvSpPr>
        <p:spPr>
          <a:xfrm>
            <a:off x="3590925" y="8382000"/>
            <a:ext cx="2905125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1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选择性倾听</a:t>
            </a:r>
          </a:p>
        </p:txBody>
      </p:sp>
      <p:sp>
        <p:nvSpPr>
          <p:cNvPr id="22" name="L-d1"/>
          <p:cNvSpPr txBox="1"/>
          <p:nvPr/>
        </p:nvSpPr>
        <p:spPr>
          <a:xfrm>
            <a:off x="3590925" y="9229725"/>
            <a:ext cx="840105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0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只听自己想听的，过滤掉不同意见</a:t>
            </a:r>
          </a:p>
        </p:txBody>
      </p:sp>
      <p:sp>
        <p:nvSpPr>
          <p:cNvPr id="23" name="L-h2"/>
          <p:cNvSpPr txBox="1"/>
          <p:nvPr/>
        </p:nvSpPr>
        <p:spPr>
          <a:xfrm>
            <a:off x="3590925" y="10344150"/>
            <a:ext cx="236220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1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急于打断</a:t>
            </a:r>
          </a:p>
        </p:txBody>
      </p:sp>
      <p:sp>
        <p:nvSpPr>
          <p:cNvPr id="24" name="L-d2"/>
          <p:cNvSpPr txBox="1"/>
          <p:nvPr/>
        </p:nvSpPr>
        <p:spPr>
          <a:xfrm>
            <a:off x="3590925" y="11201400"/>
            <a:ext cx="784860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0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不等对方说完就急于反驳或表达</a:t>
            </a:r>
          </a:p>
        </p:txBody>
      </p:sp>
      <p:sp>
        <p:nvSpPr>
          <p:cNvPr id="25" name="L-h3"/>
          <p:cNvSpPr txBox="1"/>
          <p:nvPr/>
        </p:nvSpPr>
        <p:spPr>
          <a:xfrm>
            <a:off x="3590925" y="12306300"/>
            <a:ext cx="234315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1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心不在焉</a:t>
            </a:r>
          </a:p>
        </p:txBody>
      </p:sp>
      <p:sp>
        <p:nvSpPr>
          <p:cNvPr id="26" name="L-d3"/>
          <p:cNvSpPr txBox="1"/>
          <p:nvPr/>
        </p:nvSpPr>
        <p:spPr>
          <a:xfrm>
            <a:off x="3590925" y="13163550"/>
            <a:ext cx="8410575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0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表面在听，实则在思考自己的回答</a:t>
            </a:r>
          </a:p>
        </p:txBody>
      </p:sp>
      <p:sp>
        <p:nvSpPr>
          <p:cNvPr id="27" name="R-h1"/>
          <p:cNvSpPr txBox="1"/>
          <p:nvPr/>
        </p:nvSpPr>
        <p:spPr>
          <a:xfrm>
            <a:off x="18602325" y="8372475"/>
            <a:ext cx="2352675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1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克制本能</a:t>
            </a:r>
          </a:p>
        </p:txBody>
      </p:sp>
      <p:sp>
        <p:nvSpPr>
          <p:cNvPr id="28" name="R-d1a"/>
          <p:cNvSpPr txBox="1"/>
          <p:nvPr/>
        </p:nvSpPr>
        <p:spPr>
          <a:xfrm>
            <a:off x="18602325" y="9220200"/>
            <a:ext cx="895350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0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养成停顿习惯，耐心等待对方完整表</a:t>
            </a:r>
          </a:p>
        </p:txBody>
      </p:sp>
      <p:sp>
        <p:nvSpPr>
          <p:cNvPr id="29" name="R-d1b"/>
          <p:cNvSpPr txBox="1"/>
          <p:nvPr/>
        </p:nvSpPr>
        <p:spPr>
          <a:xfrm>
            <a:off x="18602325" y="9896475"/>
            <a:ext cx="3438525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0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达后再做回应</a:t>
            </a:r>
          </a:p>
        </p:txBody>
      </p:sp>
      <p:sp>
        <p:nvSpPr>
          <p:cNvPr id="30" name="R-h2"/>
          <p:cNvSpPr txBox="1"/>
          <p:nvPr/>
        </p:nvSpPr>
        <p:spPr>
          <a:xfrm>
            <a:off x="18592800" y="10972800"/>
            <a:ext cx="236220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1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全神贯注</a:t>
            </a:r>
          </a:p>
        </p:txBody>
      </p:sp>
      <p:sp>
        <p:nvSpPr>
          <p:cNvPr id="31" name="R-d2a"/>
          <p:cNvSpPr txBox="1"/>
          <p:nvPr/>
        </p:nvSpPr>
        <p:spPr>
          <a:xfrm>
            <a:off x="18602325" y="11830050"/>
            <a:ext cx="895350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0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放下手头杂事，在物理和心理上保持</a:t>
            </a:r>
          </a:p>
        </p:txBody>
      </p:sp>
      <p:sp>
        <p:nvSpPr>
          <p:cNvPr id="32" name="R-d2b"/>
          <p:cNvSpPr txBox="1"/>
          <p:nvPr/>
        </p:nvSpPr>
        <p:spPr>
          <a:xfrm>
            <a:off x="18602325" y="12496800"/>
            <a:ext cx="895350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0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专注，将注意力完全放在对方的语气</a:t>
            </a:r>
          </a:p>
        </p:txBody>
      </p:sp>
      <p:sp>
        <p:nvSpPr>
          <p:cNvPr id="33" name="R-d2c"/>
          <p:cNvSpPr txBox="1"/>
          <p:nvPr/>
        </p:nvSpPr>
        <p:spPr>
          <a:xfrm>
            <a:off x="18602325" y="13163550"/>
            <a:ext cx="2352675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45" b="0" i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和情绪上</a:t>
            </a:r>
          </a:p>
        </p:txBody>
      </p:sp>
      <p:pic>
        <p:nvPicPr>
          <p:cNvPr id="34" name="illustration" descr="_photo_illu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050" y="4733925"/>
            <a:ext cx="5676900" cy="10039350"/>
          </a:xfrm>
          <a:prstGeom prst="rect">
            <a:avLst/>
          </a:prstGeom>
          <a:effectLst/>
        </p:spPr>
      </p:pic>
      <p:sp>
        <p:nvSpPr>
          <p:cNvPr id="35" name="footer"/>
          <p:cNvSpPr/>
          <p:nvPr/>
        </p:nvSpPr>
        <p:spPr>
          <a:xfrm>
            <a:off x="895350" y="15544800"/>
            <a:ext cx="28679775" cy="714375"/>
          </a:xfrm>
          <a:prstGeom prst="roundRect">
            <a:avLst>
              <a:gd name="adj" fmla="val 8000"/>
            </a:avLst>
          </a:prstGeom>
          <a:solidFill>
            <a:srgbClr val="3E6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