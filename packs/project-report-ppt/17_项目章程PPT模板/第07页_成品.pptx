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6228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6228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85" name="page"/>
          <p:cNvGrpSpPr/>
          <p:nvPr/>
        </p:nvGrpSpPr>
        <p:grpSpPr>
          <a:xfrm>
            <a:off x="876300" y="1276350"/>
            <a:ext cx="28727400" cy="14954250"/>
            <a:chOff x="876300" y="1276350"/>
            <a:chExt cx="28727400" cy="14954250"/>
          </a:xfrm>
        </p:grpSpPr>
        <p:sp>
          <p:nvSpPr>
            <p:cNvPr id="3" name="title-icon"/>
            <p:cNvSpPr/>
            <p:nvPr/>
          </p:nvSpPr>
          <p:spPr>
            <a:xfrm>
              <a:off x="1771650" y="1352550"/>
              <a:ext cx="1381125" cy="1409700"/>
            </a:xfrm>
            <a:custGeom>
              <a:avLst/>
              <a:gdLst/>
              <a:ahLst/>
              <a:cxnLst/>
              <a:rect l="l" t="t" r="r" b="b"/>
              <a:pathLst>
                <a:path w="1381125" h="1409700">
                  <a:moveTo>
                    <a:pt x="1381125" y="0"/>
                  </a:moveTo>
                  <a:lnTo>
                    <a:pt x="0" y="704850"/>
                  </a:lnTo>
                  <a:lnTo>
                    <a:pt x="666750" y="1409700"/>
                  </a:lnTo>
                  <a:close/>
                </a:path>
              </a:pathLst>
            </a:custGeom>
            <a:solidFill>
              <a:srgbClr val="467D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title"/>
            <p:cNvSpPr txBox="1"/>
            <p:nvPr/>
          </p:nvSpPr>
          <p:spPr>
            <a:xfrm>
              <a:off x="3343275" y="1276350"/>
              <a:ext cx="6096000" cy="1524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75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项目总体目标</a:t>
              </a:r>
            </a:p>
          </p:txBody>
        </p:sp>
        <p:grpSp>
          <p:nvGrpSpPr>
            <p:cNvPr id="83" name="card1"/>
            <p:cNvGrpSpPr/>
            <p:nvPr/>
          </p:nvGrpSpPr>
          <p:grpSpPr>
            <a:xfrm>
              <a:off x="2105025" y="4381500"/>
              <a:ext cx="4714875" cy="9239250"/>
              <a:chOff x="2105025" y="4381500"/>
              <a:chExt cx="4714875" cy="9239250"/>
            </a:xfrm>
          </p:grpSpPr>
          <p:sp>
            <p:nvSpPr>
              <p:cNvPr id="5" name="card1-panel"/>
              <p:cNvSpPr/>
              <p:nvPr/>
            </p:nvSpPr>
            <p:spPr>
              <a:xfrm>
                <a:off x="2105025" y="4381500"/>
                <a:ext cx="4714875" cy="9220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card1-bar"/>
              <p:cNvSpPr/>
              <p:nvPr/>
            </p:nvSpPr>
            <p:spPr>
              <a:xfrm>
                <a:off x="2105025" y="4724400"/>
                <a:ext cx="471487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4714875" h="1257300">
                    <a:moveTo>
                      <a:pt x="0" y="0"/>
                    </a:moveTo>
                    <a:lnTo>
                      <a:pt x="4029075" y="0"/>
                    </a:lnTo>
                    <a:lnTo>
                      <a:pt x="4714875" y="685800"/>
                    </a:lnTo>
                    <a:lnTo>
                      <a:pt x="4714875" y="1257300"/>
                    </a:lnTo>
                    <a:lnTo>
                      <a:pt x="0" y="1257300"/>
                    </a:lnTo>
                    <a:close/>
                  </a:path>
                </a:pathLst>
              </a:custGeom>
              <a:solidFill>
                <a:srgbClr val="467DF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card1-title"/>
              <p:cNvSpPr txBox="1"/>
              <p:nvPr/>
            </p:nvSpPr>
            <p:spPr>
              <a:xfrm>
                <a:off x="2295525" y="4876800"/>
                <a:ext cx="3810000" cy="914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5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具体的</a:t>
                </a:r>
              </a:p>
            </p:txBody>
          </p:sp>
          <p:sp>
            <p:nvSpPr>
              <p:cNvPr id="8" name="card1-arrow"/>
              <p:cNvSpPr/>
              <p:nvPr/>
            </p:nvSpPr>
            <p:spPr>
              <a:xfrm>
                <a:off x="3800475" y="8858250"/>
                <a:ext cx="1009650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1123950">
                    <a:moveTo>
                      <a:pt x="238125" y="0"/>
                    </a:moveTo>
                    <a:lnTo>
                      <a:pt x="771525" y="0"/>
                    </a:lnTo>
                    <a:lnTo>
                      <a:pt x="771525" y="514350"/>
                    </a:lnTo>
                    <a:lnTo>
                      <a:pt x="1009650" y="514350"/>
                    </a:lnTo>
                    <a:lnTo>
                      <a:pt x="504825" y="1123950"/>
                    </a:lnTo>
                    <a:lnTo>
                      <a:pt x="0" y="514350"/>
                    </a:lnTo>
                    <a:lnTo>
                      <a:pt x="238125" y="5143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67DFD"/>
                  </a:gs>
                  <a:gs pos="100000">
                    <a:srgbClr val="D6E2FF"/>
                  </a:gs>
                </a:gsLst>
                <a:lin scaled="0" ang="16200000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card1-badge"/>
              <p:cNvSpPr/>
              <p:nvPr/>
            </p:nvSpPr>
            <p:spPr>
              <a:xfrm>
                <a:off x="5724525" y="13049250"/>
                <a:ext cx="1095375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1095375" h="542925">
                    <a:moveTo>
                      <a:pt x="0" y="0"/>
                    </a:moveTo>
                    <a:lnTo>
                      <a:pt x="1095375" y="0"/>
                    </a:lnTo>
                    <a:lnTo>
                      <a:pt x="1095375" y="266700"/>
                    </a:lnTo>
                    <a:lnTo>
                      <a:pt x="847725" y="542925"/>
                    </a:lnTo>
                    <a:lnTo>
                      <a:pt x="0" y="542925"/>
                    </a:lnTo>
                    <a:close/>
                  </a:path>
                </a:pathLst>
              </a:custGeom>
              <a:solidFill>
                <a:srgbClr val="467DF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card1-badge-arrow"/>
              <p:cNvSpPr/>
              <p:nvPr/>
            </p:nvSpPr>
            <p:spPr>
              <a:xfrm>
                <a:off x="5895975" y="13201650"/>
                <a:ext cx="762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66700">
                    <a:moveTo>
                      <a:pt x="0" y="95250"/>
                    </a:moveTo>
                    <a:lnTo>
                      <a:pt x="400050" y="95250"/>
                    </a:lnTo>
                    <a:lnTo>
                      <a:pt x="400050" y="0"/>
                    </a:lnTo>
                    <a:lnTo>
                      <a:pt x="762000" y="133350"/>
                    </a:lnTo>
                    <a:lnTo>
                      <a:pt x="400050" y="266700"/>
                    </a:lnTo>
                    <a:lnTo>
                      <a:pt x="400050" y="180975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" name="card1-edge"/>
              <p:cNvCxnSpPr/>
              <p:nvPr/>
            </p:nvCxnSpPr>
            <p:spPr>
              <a:xfrm>
                <a:off x="6810375" y="5410200"/>
                <a:ext cx="0" cy="8191500"/>
              </a:xfrm>
              <a:prstGeom prst="line">
                <a:avLst/>
              </a:prstGeom>
              <a:ln w="28575">
                <a:solidFill>
                  <a:srgbClr val="467DFD"/>
                </a:solidFill>
              </a:ln>
              <a:effectLst/>
            </p:spPr>
          </p:cxnSp>
          <p:sp>
            <p:nvSpPr>
              <p:cNvPr id="12" name="card1-shadow"/>
              <p:cNvSpPr/>
              <p:nvPr/>
            </p:nvSpPr>
            <p:spPr>
              <a:xfrm>
                <a:off x="2124075" y="13601700"/>
                <a:ext cx="4657725" cy="19050"/>
              </a:xfrm>
              <a:prstGeom prst="rect">
                <a:avLst/>
              </a:prstGeom>
              <a:solidFill>
                <a:srgbClr val="E5ECF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card1-body-1"/>
              <p:cNvSpPr txBox="1"/>
              <p:nvPr/>
            </p:nvSpPr>
            <p:spPr>
              <a:xfrm>
                <a:off x="2628900" y="652881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目标必须清晰明</a:t>
                </a:r>
              </a:p>
            </p:txBody>
          </p:sp>
          <p:sp>
            <p:nvSpPr>
              <p:cNvPr id="14" name="card1-body-2"/>
              <p:cNvSpPr txBox="1"/>
              <p:nvPr/>
            </p:nvSpPr>
            <p:spPr>
              <a:xfrm>
                <a:off x="2552700" y="719556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确，拒绝使用模</a:t>
                </a:r>
              </a:p>
            </p:txBody>
          </p:sp>
          <p:sp>
            <p:nvSpPr>
              <p:cNvPr id="15" name="card1-body-3"/>
              <p:cNvSpPr txBox="1"/>
              <p:nvPr/>
            </p:nvSpPr>
            <p:spPr>
              <a:xfrm>
                <a:off x="2562225" y="7852791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糊、笼统的表述</a:t>
                </a:r>
              </a:p>
            </p:txBody>
          </p:sp>
          <p:sp>
            <p:nvSpPr>
              <p:cNvPr id="16" name="card1-ex-1"/>
              <p:cNvSpPr txBox="1"/>
              <p:nvPr/>
            </p:nvSpPr>
            <p:spPr>
              <a:xfrm>
                <a:off x="2686050" y="10214991"/>
                <a:ext cx="3716655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例：26年Q4完</a:t>
                </a:r>
              </a:p>
            </p:txBody>
          </p:sp>
          <p:sp>
            <p:nvSpPr>
              <p:cNvPr id="17" name="card1-ex-2"/>
              <p:cNvSpPr txBox="1"/>
              <p:nvPr/>
            </p:nvSpPr>
            <p:spPr>
              <a:xfrm>
                <a:off x="2724150" y="10881741"/>
                <a:ext cx="356997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成新CRM系统</a:t>
                </a:r>
              </a:p>
            </p:txBody>
          </p:sp>
          <p:sp>
            <p:nvSpPr>
              <p:cNvPr id="18" name="card1-ex-3"/>
              <p:cNvSpPr txBox="1"/>
              <p:nvPr/>
            </p:nvSpPr>
            <p:spPr>
              <a:xfrm>
                <a:off x="3067050" y="11548491"/>
                <a:ext cx="285750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全流程上线</a:t>
                </a:r>
              </a:p>
            </p:txBody>
          </p:sp>
        </p:grpSp>
        <p:grpSp>
          <p:nvGrpSpPr>
            <p:cNvPr id="80" name="card2"/>
            <p:cNvGrpSpPr/>
            <p:nvPr/>
          </p:nvGrpSpPr>
          <p:grpSpPr>
            <a:xfrm>
              <a:off x="7572375" y="4381500"/>
              <a:ext cx="4714875" cy="9239250"/>
              <a:chOff x="7572375" y="4381500"/>
              <a:chExt cx="4714875" cy="9239250"/>
            </a:xfrm>
          </p:grpSpPr>
          <p:sp>
            <p:nvSpPr>
              <p:cNvPr id="19" name="card2-panel"/>
              <p:cNvSpPr/>
              <p:nvPr/>
            </p:nvSpPr>
            <p:spPr>
              <a:xfrm>
                <a:off x="7572375" y="4381500"/>
                <a:ext cx="4714875" cy="9220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card2-bar"/>
              <p:cNvSpPr/>
              <p:nvPr/>
            </p:nvSpPr>
            <p:spPr>
              <a:xfrm>
                <a:off x="7572375" y="4724400"/>
                <a:ext cx="471487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4714875" h="1257300">
                    <a:moveTo>
                      <a:pt x="0" y="0"/>
                    </a:moveTo>
                    <a:lnTo>
                      <a:pt x="4029075" y="0"/>
                    </a:lnTo>
                    <a:lnTo>
                      <a:pt x="4714875" y="685800"/>
                    </a:lnTo>
                    <a:lnTo>
                      <a:pt x="4714875" y="1257300"/>
                    </a:lnTo>
                    <a:lnTo>
                      <a:pt x="0" y="1257300"/>
                    </a:lnTo>
                    <a:close/>
                  </a:path>
                </a:pathLst>
              </a:custGeom>
              <a:solidFill>
                <a:srgbClr val="467DF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card2-title"/>
              <p:cNvSpPr txBox="1"/>
              <p:nvPr/>
            </p:nvSpPr>
            <p:spPr>
              <a:xfrm>
                <a:off x="7762875" y="4876800"/>
                <a:ext cx="3810000" cy="914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5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可衡量</a:t>
                </a:r>
              </a:p>
            </p:txBody>
          </p:sp>
          <p:sp>
            <p:nvSpPr>
              <p:cNvPr id="22" name="card2-arrow"/>
              <p:cNvSpPr/>
              <p:nvPr/>
            </p:nvSpPr>
            <p:spPr>
              <a:xfrm>
                <a:off x="9267825" y="8858250"/>
                <a:ext cx="1009650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1123950">
                    <a:moveTo>
                      <a:pt x="238125" y="0"/>
                    </a:moveTo>
                    <a:lnTo>
                      <a:pt x="771525" y="0"/>
                    </a:lnTo>
                    <a:lnTo>
                      <a:pt x="771525" y="514350"/>
                    </a:lnTo>
                    <a:lnTo>
                      <a:pt x="1009650" y="514350"/>
                    </a:lnTo>
                    <a:lnTo>
                      <a:pt x="504825" y="1123950"/>
                    </a:lnTo>
                    <a:lnTo>
                      <a:pt x="0" y="514350"/>
                    </a:lnTo>
                    <a:lnTo>
                      <a:pt x="238125" y="5143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67DFD"/>
                  </a:gs>
                  <a:gs pos="100000">
                    <a:srgbClr val="D6E2FF"/>
                  </a:gs>
                </a:gsLst>
                <a:lin scaled="0" ang="16200000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card2-badge"/>
              <p:cNvSpPr/>
              <p:nvPr/>
            </p:nvSpPr>
            <p:spPr>
              <a:xfrm>
                <a:off x="11191875" y="13049250"/>
                <a:ext cx="1095375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1095375" h="542925">
                    <a:moveTo>
                      <a:pt x="0" y="0"/>
                    </a:moveTo>
                    <a:lnTo>
                      <a:pt x="1095375" y="0"/>
                    </a:lnTo>
                    <a:lnTo>
                      <a:pt x="1095375" y="266700"/>
                    </a:lnTo>
                    <a:lnTo>
                      <a:pt x="847725" y="542925"/>
                    </a:lnTo>
                    <a:lnTo>
                      <a:pt x="0" y="542925"/>
                    </a:lnTo>
                    <a:close/>
                  </a:path>
                </a:pathLst>
              </a:custGeom>
              <a:solidFill>
                <a:srgbClr val="467DF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card2-badge-arrow"/>
              <p:cNvSpPr/>
              <p:nvPr/>
            </p:nvSpPr>
            <p:spPr>
              <a:xfrm>
                <a:off x="11363325" y="13201650"/>
                <a:ext cx="762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66700">
                    <a:moveTo>
                      <a:pt x="0" y="95250"/>
                    </a:moveTo>
                    <a:lnTo>
                      <a:pt x="400050" y="95250"/>
                    </a:lnTo>
                    <a:lnTo>
                      <a:pt x="400050" y="0"/>
                    </a:lnTo>
                    <a:lnTo>
                      <a:pt x="762000" y="133350"/>
                    </a:lnTo>
                    <a:lnTo>
                      <a:pt x="400050" y="266700"/>
                    </a:lnTo>
                    <a:lnTo>
                      <a:pt x="400050" y="180975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5" name="card2-edge"/>
              <p:cNvCxnSpPr/>
              <p:nvPr/>
            </p:nvCxnSpPr>
            <p:spPr>
              <a:xfrm>
                <a:off x="12277725" y="5410200"/>
                <a:ext cx="0" cy="8191500"/>
              </a:xfrm>
              <a:prstGeom prst="line">
                <a:avLst/>
              </a:prstGeom>
              <a:ln w="28575">
                <a:solidFill>
                  <a:srgbClr val="467DFD"/>
                </a:solidFill>
              </a:ln>
              <a:effectLst/>
            </p:spPr>
          </p:cxnSp>
          <p:sp>
            <p:nvSpPr>
              <p:cNvPr id="26" name="card2-shadow"/>
              <p:cNvSpPr/>
              <p:nvPr/>
            </p:nvSpPr>
            <p:spPr>
              <a:xfrm>
                <a:off x="7591425" y="13601700"/>
                <a:ext cx="4657725" cy="19050"/>
              </a:xfrm>
              <a:prstGeom prst="rect">
                <a:avLst/>
              </a:prstGeom>
              <a:solidFill>
                <a:srgbClr val="E5ECF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card2-body-1"/>
              <p:cNvSpPr txBox="1"/>
              <p:nvPr/>
            </p:nvSpPr>
            <p:spPr>
              <a:xfrm>
                <a:off x="8124825" y="652881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目标结果必须可</a:t>
                </a:r>
              </a:p>
            </p:txBody>
          </p:sp>
          <p:sp>
            <p:nvSpPr>
              <p:cNvPr id="28" name="card2-body-2"/>
              <p:cNvSpPr txBox="1"/>
              <p:nvPr/>
            </p:nvSpPr>
            <p:spPr>
              <a:xfrm>
                <a:off x="8058150" y="719556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量化、可验证，</a:t>
                </a:r>
              </a:p>
            </p:txBody>
          </p:sp>
          <p:sp>
            <p:nvSpPr>
              <p:cNvPr id="29" name="card2-body-3"/>
              <p:cNvSpPr txBox="1"/>
              <p:nvPr/>
            </p:nvSpPr>
            <p:spPr>
              <a:xfrm>
                <a:off x="8058150" y="786231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有明确数据指标</a:t>
                </a:r>
              </a:p>
            </p:txBody>
          </p:sp>
          <p:sp>
            <p:nvSpPr>
              <p:cNvPr id="30" name="card2-ex-1"/>
              <p:cNvSpPr txBox="1"/>
              <p:nvPr/>
            </p:nvSpPr>
            <p:spPr>
              <a:xfrm>
                <a:off x="8286750" y="10214991"/>
                <a:ext cx="340233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例：客户数据</a:t>
                </a:r>
              </a:p>
            </p:txBody>
          </p:sp>
          <p:sp>
            <p:nvSpPr>
              <p:cNvPr id="31" name="card2-ex-2"/>
              <p:cNvSpPr txBox="1"/>
              <p:nvPr/>
            </p:nvSpPr>
            <p:spPr>
              <a:xfrm>
                <a:off x="8286750" y="10881741"/>
                <a:ext cx="340233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整合准确率达</a:t>
                </a:r>
              </a:p>
            </p:txBody>
          </p:sp>
          <p:sp>
            <p:nvSpPr>
              <p:cNvPr id="32" name="card2-ex-3"/>
              <p:cNvSpPr txBox="1"/>
              <p:nvPr/>
            </p:nvSpPr>
            <p:spPr>
              <a:xfrm>
                <a:off x="8324850" y="11548491"/>
                <a:ext cx="3339465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到99.5%以上</a:t>
                </a:r>
              </a:p>
            </p:txBody>
          </p:sp>
        </p:grpSp>
        <p:grpSp>
          <p:nvGrpSpPr>
            <p:cNvPr id="81" name="card3"/>
            <p:cNvGrpSpPr/>
            <p:nvPr/>
          </p:nvGrpSpPr>
          <p:grpSpPr>
            <a:xfrm>
              <a:off x="13049250" y="4381500"/>
              <a:ext cx="4714875" cy="9239250"/>
              <a:chOff x="13049250" y="4381500"/>
              <a:chExt cx="4714875" cy="9239250"/>
            </a:xfrm>
          </p:grpSpPr>
          <p:sp>
            <p:nvSpPr>
              <p:cNvPr id="33" name="card3-panel"/>
              <p:cNvSpPr/>
              <p:nvPr/>
            </p:nvSpPr>
            <p:spPr>
              <a:xfrm>
                <a:off x="13049250" y="4381500"/>
                <a:ext cx="4714875" cy="9220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card3-bar"/>
              <p:cNvSpPr/>
              <p:nvPr/>
            </p:nvSpPr>
            <p:spPr>
              <a:xfrm>
                <a:off x="13049250" y="4724400"/>
                <a:ext cx="471487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4714875" h="1257300">
                    <a:moveTo>
                      <a:pt x="0" y="0"/>
                    </a:moveTo>
                    <a:lnTo>
                      <a:pt x="4029075" y="0"/>
                    </a:lnTo>
                    <a:lnTo>
                      <a:pt x="4714875" y="685800"/>
                    </a:lnTo>
                    <a:lnTo>
                      <a:pt x="4714875" y="1257300"/>
                    </a:lnTo>
                    <a:lnTo>
                      <a:pt x="0" y="1257300"/>
                    </a:lnTo>
                    <a:close/>
                  </a:path>
                </a:pathLst>
              </a:custGeom>
              <a:solidFill>
                <a:srgbClr val="467DF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card3-title"/>
              <p:cNvSpPr txBox="1"/>
              <p:nvPr/>
            </p:nvSpPr>
            <p:spPr>
              <a:xfrm>
                <a:off x="13239750" y="4876800"/>
                <a:ext cx="3810000" cy="914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5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可实现</a:t>
                </a:r>
              </a:p>
            </p:txBody>
          </p:sp>
          <p:sp>
            <p:nvSpPr>
              <p:cNvPr id="36" name="card3-arrow"/>
              <p:cNvSpPr/>
              <p:nvPr/>
            </p:nvSpPr>
            <p:spPr>
              <a:xfrm>
                <a:off x="14744700" y="8858250"/>
                <a:ext cx="1009650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1123950">
                    <a:moveTo>
                      <a:pt x="238125" y="0"/>
                    </a:moveTo>
                    <a:lnTo>
                      <a:pt x="771525" y="0"/>
                    </a:lnTo>
                    <a:lnTo>
                      <a:pt x="771525" y="514350"/>
                    </a:lnTo>
                    <a:lnTo>
                      <a:pt x="1009650" y="514350"/>
                    </a:lnTo>
                    <a:lnTo>
                      <a:pt x="504825" y="1123950"/>
                    </a:lnTo>
                    <a:lnTo>
                      <a:pt x="0" y="514350"/>
                    </a:lnTo>
                    <a:lnTo>
                      <a:pt x="238125" y="5143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67DFD"/>
                  </a:gs>
                  <a:gs pos="100000">
                    <a:srgbClr val="D6E2FF"/>
                  </a:gs>
                </a:gsLst>
                <a:lin scaled="0" ang="16200000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card3-badge"/>
              <p:cNvSpPr/>
              <p:nvPr/>
            </p:nvSpPr>
            <p:spPr>
              <a:xfrm>
                <a:off x="16668750" y="13049250"/>
                <a:ext cx="1095375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1095375" h="542925">
                    <a:moveTo>
                      <a:pt x="0" y="0"/>
                    </a:moveTo>
                    <a:lnTo>
                      <a:pt x="1095375" y="0"/>
                    </a:lnTo>
                    <a:lnTo>
                      <a:pt x="1095375" y="266700"/>
                    </a:lnTo>
                    <a:lnTo>
                      <a:pt x="847725" y="542925"/>
                    </a:lnTo>
                    <a:lnTo>
                      <a:pt x="0" y="542925"/>
                    </a:lnTo>
                    <a:close/>
                  </a:path>
                </a:pathLst>
              </a:custGeom>
              <a:solidFill>
                <a:srgbClr val="467DF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card3-badge-arrow"/>
              <p:cNvSpPr/>
              <p:nvPr/>
            </p:nvSpPr>
            <p:spPr>
              <a:xfrm>
                <a:off x="16840200" y="13201650"/>
                <a:ext cx="762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66700">
                    <a:moveTo>
                      <a:pt x="0" y="95250"/>
                    </a:moveTo>
                    <a:lnTo>
                      <a:pt x="400050" y="95250"/>
                    </a:lnTo>
                    <a:lnTo>
                      <a:pt x="400050" y="0"/>
                    </a:lnTo>
                    <a:lnTo>
                      <a:pt x="762000" y="133350"/>
                    </a:lnTo>
                    <a:lnTo>
                      <a:pt x="400050" y="266700"/>
                    </a:lnTo>
                    <a:lnTo>
                      <a:pt x="400050" y="180975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9" name="card3-edge"/>
              <p:cNvCxnSpPr/>
              <p:nvPr/>
            </p:nvCxnSpPr>
            <p:spPr>
              <a:xfrm>
                <a:off x="17754600" y="5410200"/>
                <a:ext cx="0" cy="8191500"/>
              </a:xfrm>
              <a:prstGeom prst="line">
                <a:avLst/>
              </a:prstGeom>
              <a:ln w="28575">
                <a:solidFill>
                  <a:srgbClr val="467DFD"/>
                </a:solidFill>
              </a:ln>
              <a:effectLst/>
            </p:spPr>
          </p:cxnSp>
          <p:sp>
            <p:nvSpPr>
              <p:cNvPr id="40" name="card3-shadow"/>
              <p:cNvSpPr/>
              <p:nvPr/>
            </p:nvSpPr>
            <p:spPr>
              <a:xfrm>
                <a:off x="13068300" y="13601700"/>
                <a:ext cx="4657725" cy="19050"/>
              </a:xfrm>
              <a:prstGeom prst="rect">
                <a:avLst/>
              </a:prstGeom>
              <a:solidFill>
                <a:srgbClr val="E5ECF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card3-body-1"/>
              <p:cNvSpPr txBox="1"/>
              <p:nvPr/>
            </p:nvSpPr>
            <p:spPr>
              <a:xfrm>
                <a:off x="13382625" y="652881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基于现有资源、</a:t>
                </a:r>
              </a:p>
            </p:txBody>
          </p:sp>
          <p:sp>
            <p:nvSpPr>
              <p:cNvPr id="42" name="card3-body-2"/>
              <p:cNvSpPr txBox="1"/>
              <p:nvPr/>
            </p:nvSpPr>
            <p:spPr>
              <a:xfrm>
                <a:off x="13382625" y="719556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技术与预算，目</a:t>
                </a:r>
              </a:p>
            </p:txBody>
          </p:sp>
          <p:sp>
            <p:nvSpPr>
              <p:cNvPr id="43" name="card3-body-3"/>
              <p:cNvSpPr txBox="1"/>
              <p:nvPr/>
            </p:nvSpPr>
            <p:spPr>
              <a:xfrm>
                <a:off x="13382625" y="786231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标是切实可行的</a:t>
                </a:r>
              </a:p>
            </p:txBody>
          </p:sp>
          <p:sp>
            <p:nvSpPr>
              <p:cNvPr id="44" name="card3-ex-1"/>
              <p:cNvSpPr txBox="1"/>
              <p:nvPr/>
            </p:nvSpPr>
            <p:spPr>
              <a:xfrm>
                <a:off x="13506450" y="10214991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例：依托现有团</a:t>
                </a:r>
              </a:p>
            </p:txBody>
          </p:sp>
          <p:sp>
            <p:nvSpPr>
              <p:cNvPr id="45" name="card3-ex-2"/>
              <p:cNvSpPr txBox="1"/>
              <p:nvPr/>
            </p:nvSpPr>
            <p:spPr>
              <a:xfrm>
                <a:off x="13535025" y="10881741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队技术储备，可</a:t>
                </a:r>
              </a:p>
            </p:txBody>
          </p:sp>
          <p:sp>
            <p:nvSpPr>
              <p:cNvPr id="46" name="card3-ex-3"/>
              <p:cNvSpPr txBox="1"/>
              <p:nvPr/>
            </p:nvSpPr>
            <p:spPr>
              <a:xfrm>
                <a:off x="14258925" y="11548491"/>
                <a:ext cx="231267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按期交付</a:t>
                </a:r>
              </a:p>
            </p:txBody>
          </p:sp>
        </p:grpSp>
        <p:grpSp>
          <p:nvGrpSpPr>
            <p:cNvPr id="82" name="card4"/>
            <p:cNvGrpSpPr/>
            <p:nvPr/>
          </p:nvGrpSpPr>
          <p:grpSpPr>
            <a:xfrm>
              <a:off x="18516600" y="4381500"/>
              <a:ext cx="4714875" cy="9239250"/>
              <a:chOff x="18516600" y="4381500"/>
              <a:chExt cx="4714875" cy="9239250"/>
            </a:xfrm>
          </p:grpSpPr>
          <p:sp>
            <p:nvSpPr>
              <p:cNvPr id="47" name="card4-panel"/>
              <p:cNvSpPr/>
              <p:nvPr/>
            </p:nvSpPr>
            <p:spPr>
              <a:xfrm>
                <a:off x="18516600" y="4381500"/>
                <a:ext cx="4714875" cy="9220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card4-bar"/>
              <p:cNvSpPr/>
              <p:nvPr/>
            </p:nvSpPr>
            <p:spPr>
              <a:xfrm>
                <a:off x="18516600" y="4724400"/>
                <a:ext cx="471487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4714875" h="1257300">
                    <a:moveTo>
                      <a:pt x="0" y="0"/>
                    </a:moveTo>
                    <a:lnTo>
                      <a:pt x="4029075" y="0"/>
                    </a:lnTo>
                    <a:lnTo>
                      <a:pt x="4714875" y="685800"/>
                    </a:lnTo>
                    <a:lnTo>
                      <a:pt x="4714875" y="1257300"/>
                    </a:lnTo>
                    <a:lnTo>
                      <a:pt x="0" y="1257300"/>
                    </a:lnTo>
                    <a:close/>
                  </a:path>
                </a:pathLst>
              </a:custGeom>
              <a:solidFill>
                <a:srgbClr val="467DF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card4-title"/>
              <p:cNvSpPr txBox="1"/>
              <p:nvPr/>
            </p:nvSpPr>
            <p:spPr>
              <a:xfrm>
                <a:off x="18707100" y="4876800"/>
                <a:ext cx="3810000" cy="914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5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相关性</a:t>
                </a:r>
              </a:p>
            </p:txBody>
          </p:sp>
          <p:sp>
            <p:nvSpPr>
              <p:cNvPr id="50" name="card4-arrow"/>
              <p:cNvSpPr/>
              <p:nvPr/>
            </p:nvSpPr>
            <p:spPr>
              <a:xfrm>
                <a:off x="20212050" y="8858250"/>
                <a:ext cx="1009650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1123950">
                    <a:moveTo>
                      <a:pt x="238125" y="0"/>
                    </a:moveTo>
                    <a:lnTo>
                      <a:pt x="771525" y="0"/>
                    </a:lnTo>
                    <a:lnTo>
                      <a:pt x="771525" y="514350"/>
                    </a:lnTo>
                    <a:lnTo>
                      <a:pt x="1009650" y="514350"/>
                    </a:lnTo>
                    <a:lnTo>
                      <a:pt x="504825" y="1123950"/>
                    </a:lnTo>
                    <a:lnTo>
                      <a:pt x="0" y="514350"/>
                    </a:lnTo>
                    <a:lnTo>
                      <a:pt x="238125" y="5143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67DFD"/>
                  </a:gs>
                  <a:gs pos="100000">
                    <a:srgbClr val="D6E2FF"/>
                  </a:gs>
                </a:gsLst>
                <a:lin scaled="0" ang="16200000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card4-badge"/>
              <p:cNvSpPr/>
              <p:nvPr/>
            </p:nvSpPr>
            <p:spPr>
              <a:xfrm>
                <a:off x="22136100" y="13049250"/>
                <a:ext cx="1095375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1095375" h="542925">
                    <a:moveTo>
                      <a:pt x="0" y="0"/>
                    </a:moveTo>
                    <a:lnTo>
                      <a:pt x="1095375" y="0"/>
                    </a:lnTo>
                    <a:lnTo>
                      <a:pt x="1095375" y="266700"/>
                    </a:lnTo>
                    <a:lnTo>
                      <a:pt x="847725" y="542925"/>
                    </a:lnTo>
                    <a:lnTo>
                      <a:pt x="0" y="542925"/>
                    </a:lnTo>
                    <a:close/>
                  </a:path>
                </a:pathLst>
              </a:custGeom>
              <a:solidFill>
                <a:srgbClr val="467DF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card4-badge-arrow"/>
              <p:cNvSpPr/>
              <p:nvPr/>
            </p:nvSpPr>
            <p:spPr>
              <a:xfrm>
                <a:off x="22307550" y="13201650"/>
                <a:ext cx="762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66700">
                    <a:moveTo>
                      <a:pt x="0" y="95250"/>
                    </a:moveTo>
                    <a:lnTo>
                      <a:pt x="400050" y="95250"/>
                    </a:lnTo>
                    <a:lnTo>
                      <a:pt x="400050" y="0"/>
                    </a:lnTo>
                    <a:lnTo>
                      <a:pt x="762000" y="133350"/>
                    </a:lnTo>
                    <a:lnTo>
                      <a:pt x="400050" y="266700"/>
                    </a:lnTo>
                    <a:lnTo>
                      <a:pt x="400050" y="180975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53" name="card4-edge"/>
              <p:cNvCxnSpPr/>
              <p:nvPr/>
            </p:nvCxnSpPr>
            <p:spPr>
              <a:xfrm>
                <a:off x="23221950" y="5410200"/>
                <a:ext cx="0" cy="8191500"/>
              </a:xfrm>
              <a:prstGeom prst="line">
                <a:avLst/>
              </a:prstGeom>
              <a:ln w="28575">
                <a:solidFill>
                  <a:srgbClr val="467DFD"/>
                </a:solidFill>
              </a:ln>
              <a:effectLst/>
            </p:spPr>
          </p:cxnSp>
          <p:sp>
            <p:nvSpPr>
              <p:cNvPr id="54" name="card4-shadow"/>
              <p:cNvSpPr/>
              <p:nvPr/>
            </p:nvSpPr>
            <p:spPr>
              <a:xfrm>
                <a:off x="18535650" y="13601700"/>
                <a:ext cx="4657725" cy="19050"/>
              </a:xfrm>
              <a:prstGeom prst="rect">
                <a:avLst/>
              </a:prstGeom>
              <a:solidFill>
                <a:srgbClr val="E5ECF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card4-body-1"/>
              <p:cNvSpPr txBox="1"/>
              <p:nvPr/>
            </p:nvSpPr>
            <p:spPr>
              <a:xfrm>
                <a:off x="18859500" y="652881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项目目标需与公</a:t>
                </a:r>
              </a:p>
            </p:txBody>
          </p:sp>
          <p:sp>
            <p:nvSpPr>
              <p:cNvPr id="56" name="card4-body-2"/>
              <p:cNvSpPr txBox="1"/>
              <p:nvPr/>
            </p:nvSpPr>
            <p:spPr>
              <a:xfrm>
                <a:off x="18869025" y="719556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司整体战略方向</a:t>
                </a:r>
              </a:p>
            </p:txBody>
          </p:sp>
          <p:sp>
            <p:nvSpPr>
              <p:cNvPr id="57" name="card4-body-3"/>
              <p:cNvSpPr txBox="1"/>
              <p:nvPr/>
            </p:nvSpPr>
            <p:spPr>
              <a:xfrm>
                <a:off x="19107150" y="7852791"/>
                <a:ext cx="340233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保持高度一致</a:t>
                </a:r>
              </a:p>
            </p:txBody>
          </p:sp>
          <p:sp>
            <p:nvSpPr>
              <p:cNvPr id="58" name="card4-ex-1"/>
              <p:cNvSpPr txBox="1"/>
              <p:nvPr/>
            </p:nvSpPr>
            <p:spPr>
              <a:xfrm>
                <a:off x="19373850" y="10214991"/>
                <a:ext cx="285750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例：支撑公</a:t>
                </a:r>
              </a:p>
            </p:txBody>
          </p:sp>
          <p:sp>
            <p:nvSpPr>
              <p:cNvPr id="59" name="card4-ex-2"/>
              <p:cNvSpPr txBox="1"/>
              <p:nvPr/>
            </p:nvSpPr>
            <p:spPr>
              <a:xfrm>
                <a:off x="19135725" y="10881741"/>
                <a:ext cx="340233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司“以客户为</a:t>
                </a:r>
              </a:p>
            </p:txBody>
          </p:sp>
          <p:sp>
            <p:nvSpPr>
              <p:cNvPr id="60" name="card4-ex-3"/>
              <p:cNvSpPr txBox="1"/>
              <p:nvPr/>
            </p:nvSpPr>
            <p:spPr>
              <a:xfrm>
                <a:off x="19154775" y="11548491"/>
                <a:ext cx="340233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中心”的年度</a:t>
                </a:r>
              </a:p>
            </p:txBody>
          </p:sp>
          <p:sp>
            <p:nvSpPr>
              <p:cNvPr id="61" name="card4-ex-4"/>
              <p:cNvSpPr txBox="1"/>
              <p:nvPr/>
            </p:nvSpPr>
            <p:spPr>
              <a:xfrm>
                <a:off x="19621500" y="12215241"/>
                <a:ext cx="231267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核心战略</a:t>
                </a:r>
              </a:p>
            </p:txBody>
          </p:sp>
        </p:grpSp>
        <p:grpSp>
          <p:nvGrpSpPr>
            <p:cNvPr id="84" name="card5"/>
            <p:cNvGrpSpPr/>
            <p:nvPr/>
          </p:nvGrpSpPr>
          <p:grpSpPr>
            <a:xfrm>
              <a:off x="24003000" y="4381500"/>
              <a:ext cx="4714875" cy="9239250"/>
              <a:chOff x="24003000" y="4381500"/>
              <a:chExt cx="4714875" cy="9239250"/>
            </a:xfrm>
          </p:grpSpPr>
          <p:sp>
            <p:nvSpPr>
              <p:cNvPr id="62" name="card5-panel"/>
              <p:cNvSpPr/>
              <p:nvPr/>
            </p:nvSpPr>
            <p:spPr>
              <a:xfrm>
                <a:off x="24003000" y="4381500"/>
                <a:ext cx="4714875" cy="9220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card5-bar"/>
              <p:cNvSpPr/>
              <p:nvPr/>
            </p:nvSpPr>
            <p:spPr>
              <a:xfrm>
                <a:off x="24003000" y="4724400"/>
                <a:ext cx="471487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4714875" h="1257300">
                    <a:moveTo>
                      <a:pt x="0" y="0"/>
                    </a:moveTo>
                    <a:lnTo>
                      <a:pt x="4029075" y="0"/>
                    </a:lnTo>
                    <a:lnTo>
                      <a:pt x="4714875" y="685800"/>
                    </a:lnTo>
                    <a:lnTo>
                      <a:pt x="4714875" y="1257300"/>
                    </a:lnTo>
                    <a:lnTo>
                      <a:pt x="0" y="1257300"/>
                    </a:lnTo>
                    <a:close/>
                  </a:path>
                </a:pathLst>
              </a:custGeom>
              <a:solidFill>
                <a:srgbClr val="467DF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card5-title"/>
              <p:cNvSpPr txBox="1"/>
              <p:nvPr/>
            </p:nvSpPr>
            <p:spPr>
              <a:xfrm>
                <a:off x="24193500" y="4876800"/>
                <a:ext cx="3810000" cy="914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5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有时限</a:t>
                </a:r>
              </a:p>
            </p:txBody>
          </p:sp>
          <p:sp>
            <p:nvSpPr>
              <p:cNvPr id="65" name="card5-arrow"/>
              <p:cNvSpPr/>
              <p:nvPr/>
            </p:nvSpPr>
            <p:spPr>
              <a:xfrm>
                <a:off x="25698450" y="8858250"/>
                <a:ext cx="1009650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1123950">
                    <a:moveTo>
                      <a:pt x="238125" y="0"/>
                    </a:moveTo>
                    <a:lnTo>
                      <a:pt x="771525" y="0"/>
                    </a:lnTo>
                    <a:lnTo>
                      <a:pt x="771525" y="514350"/>
                    </a:lnTo>
                    <a:lnTo>
                      <a:pt x="1009650" y="514350"/>
                    </a:lnTo>
                    <a:lnTo>
                      <a:pt x="504825" y="1123950"/>
                    </a:lnTo>
                    <a:lnTo>
                      <a:pt x="0" y="514350"/>
                    </a:lnTo>
                    <a:lnTo>
                      <a:pt x="238125" y="5143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67DFD"/>
                  </a:gs>
                  <a:gs pos="100000">
                    <a:srgbClr val="D6E2FF"/>
                  </a:gs>
                </a:gsLst>
                <a:lin scaled="0" ang="16200000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card5-badge"/>
              <p:cNvSpPr/>
              <p:nvPr/>
            </p:nvSpPr>
            <p:spPr>
              <a:xfrm>
                <a:off x="27622500" y="13049250"/>
                <a:ext cx="1095375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1095375" h="542925">
                    <a:moveTo>
                      <a:pt x="0" y="0"/>
                    </a:moveTo>
                    <a:lnTo>
                      <a:pt x="1095375" y="0"/>
                    </a:lnTo>
                    <a:lnTo>
                      <a:pt x="1095375" y="266700"/>
                    </a:lnTo>
                    <a:lnTo>
                      <a:pt x="847725" y="542925"/>
                    </a:lnTo>
                    <a:lnTo>
                      <a:pt x="0" y="542925"/>
                    </a:lnTo>
                    <a:close/>
                  </a:path>
                </a:pathLst>
              </a:custGeom>
              <a:solidFill>
                <a:srgbClr val="467DF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card5-badge-arrow"/>
              <p:cNvSpPr/>
              <p:nvPr/>
            </p:nvSpPr>
            <p:spPr>
              <a:xfrm>
                <a:off x="27793950" y="13201650"/>
                <a:ext cx="762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66700">
                    <a:moveTo>
                      <a:pt x="0" y="95250"/>
                    </a:moveTo>
                    <a:lnTo>
                      <a:pt x="400050" y="95250"/>
                    </a:lnTo>
                    <a:lnTo>
                      <a:pt x="400050" y="0"/>
                    </a:lnTo>
                    <a:lnTo>
                      <a:pt x="762000" y="133350"/>
                    </a:lnTo>
                    <a:lnTo>
                      <a:pt x="400050" y="266700"/>
                    </a:lnTo>
                    <a:lnTo>
                      <a:pt x="400050" y="180975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68" name="card5-edge"/>
              <p:cNvCxnSpPr/>
              <p:nvPr/>
            </p:nvCxnSpPr>
            <p:spPr>
              <a:xfrm>
                <a:off x="28708350" y="5410200"/>
                <a:ext cx="0" cy="8191500"/>
              </a:xfrm>
              <a:prstGeom prst="line">
                <a:avLst/>
              </a:prstGeom>
              <a:ln w="28575">
                <a:solidFill>
                  <a:srgbClr val="467DFD"/>
                </a:solidFill>
              </a:ln>
              <a:effectLst/>
            </p:spPr>
          </p:cxnSp>
          <p:sp>
            <p:nvSpPr>
              <p:cNvPr id="69" name="card5-shadow"/>
              <p:cNvSpPr/>
              <p:nvPr/>
            </p:nvSpPr>
            <p:spPr>
              <a:xfrm>
                <a:off x="24022050" y="13601700"/>
                <a:ext cx="4657725" cy="19050"/>
              </a:xfrm>
              <a:prstGeom prst="rect">
                <a:avLst/>
              </a:prstGeom>
              <a:solidFill>
                <a:srgbClr val="E5ECF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card5-body-1"/>
              <p:cNvSpPr txBox="1"/>
              <p:nvPr/>
            </p:nvSpPr>
            <p:spPr>
              <a:xfrm>
                <a:off x="24326850" y="652881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必须设定明确的</a:t>
                </a:r>
              </a:p>
            </p:txBody>
          </p:sp>
          <p:sp>
            <p:nvSpPr>
              <p:cNvPr id="71" name="card5-body-2"/>
              <p:cNvSpPr txBox="1"/>
              <p:nvPr/>
            </p:nvSpPr>
            <p:spPr>
              <a:xfrm>
                <a:off x="24326850" y="719556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截止日期，避免</a:t>
                </a:r>
              </a:p>
            </p:txBody>
          </p:sp>
          <p:sp>
            <p:nvSpPr>
              <p:cNvPr id="72" name="card5-body-3"/>
              <p:cNvSpPr txBox="1"/>
              <p:nvPr/>
            </p:nvSpPr>
            <p:spPr>
              <a:xfrm>
                <a:off x="24393525" y="7862316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目标无限期拖延</a:t>
                </a:r>
              </a:p>
            </p:txBody>
          </p:sp>
          <p:sp>
            <p:nvSpPr>
              <p:cNvPr id="73" name="card5-ex-1"/>
              <p:cNvSpPr txBox="1"/>
              <p:nvPr/>
            </p:nvSpPr>
            <p:spPr>
              <a:xfrm>
                <a:off x="24450675" y="10214991"/>
                <a:ext cx="394716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例：所有核心功</a:t>
                </a:r>
              </a:p>
            </p:txBody>
          </p:sp>
          <p:sp>
            <p:nvSpPr>
              <p:cNvPr id="74" name="card5-ex-2"/>
              <p:cNvSpPr txBox="1"/>
              <p:nvPr/>
            </p:nvSpPr>
            <p:spPr>
              <a:xfrm>
                <a:off x="24631650" y="10881741"/>
                <a:ext cx="3590925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能模块11月30</a:t>
                </a:r>
              </a:p>
            </p:txBody>
          </p:sp>
          <p:sp>
            <p:nvSpPr>
              <p:cNvPr id="75" name="card5-ex-3"/>
              <p:cNvSpPr txBox="1"/>
              <p:nvPr/>
            </p:nvSpPr>
            <p:spPr>
              <a:xfrm>
                <a:off x="24774525" y="11548491"/>
                <a:ext cx="3402330" cy="792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00" b="1" i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日前开发完成</a:t>
                </a:r>
              </a:p>
            </p:txBody>
          </p:sp>
        </p:grpSp>
        <p:sp>
          <p:nvSpPr>
            <p:cNvPr id="76" name="bottom-shadow-fade"/>
            <p:cNvSpPr/>
            <p:nvPr/>
          </p:nvSpPr>
          <p:spPr>
            <a:xfrm>
              <a:off x="876300" y="15354300"/>
              <a:ext cx="28727400" cy="285750"/>
            </a:xfrm>
            <a:prstGeom prst="rect">
              <a:avLst/>
            </a:prstGeom>
            <a:gradFill rotWithShape="1">
              <a:gsLst>
                <a:gs pos="0">
                  <a:srgbClr val="E9ECFF"/>
                </a:gs>
                <a:gs pos="100000">
                  <a:srgbClr val="FFFFFF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bottom-shadow"/>
            <p:cNvSpPr/>
            <p:nvPr/>
          </p:nvSpPr>
          <p:spPr>
            <a:xfrm>
              <a:off x="876300" y="15640050"/>
              <a:ext cx="28727400" cy="152400"/>
            </a:xfrm>
            <a:prstGeom prst="rect">
              <a:avLst/>
            </a:prstGeom>
            <a:solidFill>
              <a:srgbClr val="E9E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bottom-bar"/>
            <p:cNvSpPr/>
            <p:nvPr/>
          </p:nvSpPr>
          <p:spPr>
            <a:xfrm>
              <a:off x="876300" y="15792450"/>
              <a:ext cx="28727400" cy="438150"/>
            </a:xfrm>
            <a:prstGeom prst="rect">
              <a:avLst/>
            </a:prstGeom>
            <a:solidFill>
              <a:srgbClr val="467D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