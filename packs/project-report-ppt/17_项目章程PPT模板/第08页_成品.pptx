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5085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5085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hoto-body" descr="_photo_photo_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500" y="9172575"/>
            <a:ext cx="7839075" cy="7962900"/>
          </a:xfrm>
          <a:prstGeom prst="rect">
            <a:avLst/>
          </a:prstGeom>
          <a:effectLst/>
        </p:spPr>
      </p:pic>
      <p:pic>
        <p:nvPicPr>
          <p:cNvPr id="4" name="photo-head" descr="_photo_photo_he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5550" y="3695700"/>
            <a:ext cx="5153025" cy="5486400"/>
          </a:xfrm>
          <a:prstGeom prst="rect">
            <a:avLst/>
          </a:prstGeom>
          <a:effectLst/>
        </p:spPr>
      </p:pic>
      <p:sp>
        <p:nvSpPr>
          <p:cNvPr id="5" name="timeline-curve"/>
          <p:cNvSpPr/>
          <p:nvPr/>
        </p:nvSpPr>
        <p:spPr>
          <a:xfrm>
            <a:off x="2571750" y="5295900"/>
            <a:ext cx="24212550" cy="6906578"/>
          </a:xfrm>
          <a:custGeom>
            <a:avLst/>
            <a:gdLst/>
            <a:ahLst/>
            <a:cxnLst/>
            <a:rect l="l" t="t" r="r" b="b"/>
            <a:pathLst>
              <a:path w="24212550" h="6906578">
                <a:moveTo>
                  <a:pt x="0" y="4629150"/>
                </a:moveTo>
                <a:lnTo>
                  <a:pt x="93345" y="4663440"/>
                </a:lnTo>
                <a:lnTo>
                  <a:pt x="216218" y="4707255"/>
                </a:lnTo>
                <a:lnTo>
                  <a:pt x="360998" y="4759642"/>
                </a:lnTo>
                <a:lnTo>
                  <a:pt x="523875" y="4818698"/>
                </a:lnTo>
                <a:lnTo>
                  <a:pt x="698182" y="4882515"/>
                </a:lnTo>
                <a:lnTo>
                  <a:pt x="879158" y="4950142"/>
                </a:lnTo>
                <a:lnTo>
                  <a:pt x="1061085" y="5018722"/>
                </a:lnTo>
                <a:lnTo>
                  <a:pt x="1238250" y="5086350"/>
                </a:lnTo>
                <a:lnTo>
                  <a:pt x="1416368" y="5157788"/>
                </a:lnTo>
                <a:lnTo>
                  <a:pt x="1604010" y="5234940"/>
                </a:lnTo>
                <a:lnTo>
                  <a:pt x="1797368" y="5316855"/>
                </a:lnTo>
                <a:lnTo>
                  <a:pt x="1994535" y="5400675"/>
                </a:lnTo>
                <a:lnTo>
                  <a:pt x="2191702" y="5483542"/>
                </a:lnTo>
                <a:lnTo>
                  <a:pt x="2387918" y="5563552"/>
                </a:lnTo>
                <a:lnTo>
                  <a:pt x="2579370" y="5638800"/>
                </a:lnTo>
                <a:lnTo>
                  <a:pt x="2762250" y="5705475"/>
                </a:lnTo>
                <a:lnTo>
                  <a:pt x="2940368" y="5765482"/>
                </a:lnTo>
                <a:lnTo>
                  <a:pt x="3117532" y="5819775"/>
                </a:lnTo>
                <a:lnTo>
                  <a:pt x="3292792" y="5870258"/>
                </a:lnTo>
                <a:lnTo>
                  <a:pt x="3465195" y="5916930"/>
                </a:lnTo>
                <a:lnTo>
                  <a:pt x="3631882" y="5961698"/>
                </a:lnTo>
                <a:lnTo>
                  <a:pt x="3793808" y="6004560"/>
                </a:lnTo>
                <a:lnTo>
                  <a:pt x="3949065" y="6045518"/>
                </a:lnTo>
                <a:lnTo>
                  <a:pt x="4095750" y="6086475"/>
                </a:lnTo>
                <a:lnTo>
                  <a:pt x="4232910" y="6126480"/>
                </a:lnTo>
                <a:lnTo>
                  <a:pt x="4360545" y="6164580"/>
                </a:lnTo>
                <a:lnTo>
                  <a:pt x="4480560" y="6200775"/>
                </a:lnTo>
                <a:lnTo>
                  <a:pt x="4595812" y="6235065"/>
                </a:lnTo>
                <a:lnTo>
                  <a:pt x="4708208" y="6268402"/>
                </a:lnTo>
                <a:lnTo>
                  <a:pt x="4818698" y="6300788"/>
                </a:lnTo>
                <a:lnTo>
                  <a:pt x="4932045" y="6332220"/>
                </a:lnTo>
                <a:lnTo>
                  <a:pt x="5048250" y="6362700"/>
                </a:lnTo>
                <a:lnTo>
                  <a:pt x="5167312" y="6392228"/>
                </a:lnTo>
                <a:lnTo>
                  <a:pt x="5286375" y="6420802"/>
                </a:lnTo>
                <a:lnTo>
                  <a:pt x="5405438" y="6448425"/>
                </a:lnTo>
                <a:lnTo>
                  <a:pt x="5524500" y="6475095"/>
                </a:lnTo>
                <a:lnTo>
                  <a:pt x="5643562" y="6499860"/>
                </a:lnTo>
                <a:lnTo>
                  <a:pt x="5762625" y="6524625"/>
                </a:lnTo>
                <a:lnTo>
                  <a:pt x="5881688" y="6548438"/>
                </a:lnTo>
                <a:lnTo>
                  <a:pt x="6000750" y="6572250"/>
                </a:lnTo>
                <a:lnTo>
                  <a:pt x="6119812" y="6595110"/>
                </a:lnTo>
                <a:lnTo>
                  <a:pt x="6238875" y="6617018"/>
                </a:lnTo>
                <a:lnTo>
                  <a:pt x="6357938" y="6638925"/>
                </a:lnTo>
                <a:lnTo>
                  <a:pt x="6477000" y="6659880"/>
                </a:lnTo>
                <a:lnTo>
                  <a:pt x="6596062" y="6679882"/>
                </a:lnTo>
                <a:lnTo>
                  <a:pt x="6715125" y="6698932"/>
                </a:lnTo>
                <a:lnTo>
                  <a:pt x="6834188" y="6717030"/>
                </a:lnTo>
                <a:lnTo>
                  <a:pt x="6953250" y="6734175"/>
                </a:lnTo>
                <a:lnTo>
                  <a:pt x="7072312" y="6750368"/>
                </a:lnTo>
                <a:lnTo>
                  <a:pt x="7191375" y="6765608"/>
                </a:lnTo>
                <a:lnTo>
                  <a:pt x="7310438" y="6779895"/>
                </a:lnTo>
                <a:lnTo>
                  <a:pt x="7429500" y="6793230"/>
                </a:lnTo>
                <a:lnTo>
                  <a:pt x="7548562" y="6806565"/>
                </a:lnTo>
                <a:lnTo>
                  <a:pt x="7667625" y="6817995"/>
                </a:lnTo>
                <a:lnTo>
                  <a:pt x="7786688" y="6829425"/>
                </a:lnTo>
                <a:lnTo>
                  <a:pt x="7905750" y="6838950"/>
                </a:lnTo>
                <a:lnTo>
                  <a:pt x="8024812" y="6847522"/>
                </a:lnTo>
                <a:lnTo>
                  <a:pt x="8143875" y="6855142"/>
                </a:lnTo>
                <a:lnTo>
                  <a:pt x="8262938" y="6861810"/>
                </a:lnTo>
                <a:lnTo>
                  <a:pt x="8382000" y="6868478"/>
                </a:lnTo>
                <a:lnTo>
                  <a:pt x="8501062" y="6873240"/>
                </a:lnTo>
                <a:lnTo>
                  <a:pt x="8620125" y="6878002"/>
                </a:lnTo>
                <a:lnTo>
                  <a:pt x="8739188" y="6882765"/>
                </a:lnTo>
                <a:lnTo>
                  <a:pt x="8858250" y="6886575"/>
                </a:lnTo>
                <a:lnTo>
                  <a:pt x="8977312" y="6890385"/>
                </a:lnTo>
                <a:lnTo>
                  <a:pt x="9096375" y="6895148"/>
                </a:lnTo>
                <a:lnTo>
                  <a:pt x="9215438" y="6898005"/>
                </a:lnTo>
                <a:lnTo>
                  <a:pt x="9334500" y="6901815"/>
                </a:lnTo>
                <a:lnTo>
                  <a:pt x="9453562" y="6903720"/>
                </a:lnTo>
                <a:lnTo>
                  <a:pt x="9572625" y="6905625"/>
                </a:lnTo>
                <a:lnTo>
                  <a:pt x="9691688" y="6906578"/>
                </a:lnTo>
                <a:lnTo>
                  <a:pt x="9810750" y="6905625"/>
                </a:lnTo>
                <a:lnTo>
                  <a:pt x="9929812" y="6903720"/>
                </a:lnTo>
                <a:lnTo>
                  <a:pt x="10048875" y="6901815"/>
                </a:lnTo>
                <a:lnTo>
                  <a:pt x="10167938" y="6898005"/>
                </a:lnTo>
                <a:lnTo>
                  <a:pt x="10287000" y="6894195"/>
                </a:lnTo>
                <a:lnTo>
                  <a:pt x="10406062" y="6889432"/>
                </a:lnTo>
                <a:lnTo>
                  <a:pt x="10525125" y="6882765"/>
                </a:lnTo>
                <a:lnTo>
                  <a:pt x="10644188" y="6876098"/>
                </a:lnTo>
                <a:lnTo>
                  <a:pt x="10763250" y="6867525"/>
                </a:lnTo>
                <a:lnTo>
                  <a:pt x="10882312" y="6858000"/>
                </a:lnTo>
                <a:lnTo>
                  <a:pt x="11001375" y="6847522"/>
                </a:lnTo>
                <a:lnTo>
                  <a:pt x="11120438" y="6836092"/>
                </a:lnTo>
                <a:lnTo>
                  <a:pt x="11239500" y="6823710"/>
                </a:lnTo>
                <a:lnTo>
                  <a:pt x="11358562" y="6809422"/>
                </a:lnTo>
                <a:lnTo>
                  <a:pt x="11477625" y="6795135"/>
                </a:lnTo>
                <a:lnTo>
                  <a:pt x="11596688" y="6779895"/>
                </a:lnTo>
                <a:lnTo>
                  <a:pt x="11715750" y="6762750"/>
                </a:lnTo>
                <a:lnTo>
                  <a:pt x="11834812" y="6744652"/>
                </a:lnTo>
                <a:lnTo>
                  <a:pt x="11953875" y="6725602"/>
                </a:lnTo>
                <a:lnTo>
                  <a:pt x="12072938" y="6704648"/>
                </a:lnTo>
                <a:lnTo>
                  <a:pt x="12192000" y="6683692"/>
                </a:lnTo>
                <a:lnTo>
                  <a:pt x="12311062" y="6661785"/>
                </a:lnTo>
                <a:lnTo>
                  <a:pt x="12430125" y="6637972"/>
                </a:lnTo>
                <a:lnTo>
                  <a:pt x="12549188" y="6615112"/>
                </a:lnTo>
                <a:lnTo>
                  <a:pt x="12668250" y="6591300"/>
                </a:lnTo>
                <a:lnTo>
                  <a:pt x="12780645" y="6568440"/>
                </a:lnTo>
                <a:lnTo>
                  <a:pt x="12884468" y="6547485"/>
                </a:lnTo>
                <a:lnTo>
                  <a:pt x="12983528" y="6527482"/>
                </a:lnTo>
                <a:lnTo>
                  <a:pt x="13085445" y="6505575"/>
                </a:lnTo>
                <a:lnTo>
                  <a:pt x="13194030" y="6481762"/>
                </a:lnTo>
                <a:lnTo>
                  <a:pt x="13315950" y="6454140"/>
                </a:lnTo>
                <a:lnTo>
                  <a:pt x="13455968" y="6420802"/>
                </a:lnTo>
                <a:lnTo>
                  <a:pt x="13620750" y="6381750"/>
                </a:lnTo>
                <a:lnTo>
                  <a:pt x="13813155" y="6336982"/>
                </a:lnTo>
                <a:lnTo>
                  <a:pt x="14030325" y="6288405"/>
                </a:lnTo>
                <a:lnTo>
                  <a:pt x="14265592" y="6236018"/>
                </a:lnTo>
                <a:lnTo>
                  <a:pt x="14514195" y="6179820"/>
                </a:lnTo>
                <a:lnTo>
                  <a:pt x="14769465" y="6117908"/>
                </a:lnTo>
                <a:lnTo>
                  <a:pt x="15027592" y="6052185"/>
                </a:lnTo>
                <a:lnTo>
                  <a:pt x="15280958" y="5981700"/>
                </a:lnTo>
                <a:lnTo>
                  <a:pt x="15525750" y="5905500"/>
                </a:lnTo>
                <a:lnTo>
                  <a:pt x="15763875" y="5823585"/>
                </a:lnTo>
                <a:lnTo>
                  <a:pt x="16002000" y="5735955"/>
                </a:lnTo>
                <a:lnTo>
                  <a:pt x="16240125" y="5642610"/>
                </a:lnTo>
                <a:lnTo>
                  <a:pt x="16478250" y="5544502"/>
                </a:lnTo>
                <a:lnTo>
                  <a:pt x="16716375" y="5443538"/>
                </a:lnTo>
                <a:lnTo>
                  <a:pt x="16954500" y="5338762"/>
                </a:lnTo>
                <a:lnTo>
                  <a:pt x="17192625" y="5232082"/>
                </a:lnTo>
                <a:lnTo>
                  <a:pt x="17430750" y="5124450"/>
                </a:lnTo>
                <a:lnTo>
                  <a:pt x="17671732" y="5013008"/>
                </a:lnTo>
                <a:lnTo>
                  <a:pt x="17918430" y="4896802"/>
                </a:lnTo>
                <a:lnTo>
                  <a:pt x="18166080" y="4777740"/>
                </a:lnTo>
                <a:lnTo>
                  <a:pt x="18412778" y="4655820"/>
                </a:lnTo>
                <a:lnTo>
                  <a:pt x="18656618" y="4532948"/>
                </a:lnTo>
                <a:lnTo>
                  <a:pt x="18892838" y="4410075"/>
                </a:lnTo>
                <a:lnTo>
                  <a:pt x="19120485" y="4289108"/>
                </a:lnTo>
                <a:lnTo>
                  <a:pt x="19335750" y="4171950"/>
                </a:lnTo>
                <a:lnTo>
                  <a:pt x="19536728" y="4058602"/>
                </a:lnTo>
                <a:lnTo>
                  <a:pt x="19726275" y="3948112"/>
                </a:lnTo>
                <a:lnTo>
                  <a:pt x="19906298" y="3838575"/>
                </a:lnTo>
                <a:lnTo>
                  <a:pt x="20079652" y="3729990"/>
                </a:lnTo>
                <a:lnTo>
                  <a:pt x="20249198" y="3621405"/>
                </a:lnTo>
                <a:lnTo>
                  <a:pt x="20418742" y="3509962"/>
                </a:lnTo>
                <a:lnTo>
                  <a:pt x="20589240" y="3395662"/>
                </a:lnTo>
                <a:lnTo>
                  <a:pt x="20764500" y="3276600"/>
                </a:lnTo>
                <a:lnTo>
                  <a:pt x="20946428" y="3152775"/>
                </a:lnTo>
                <a:lnTo>
                  <a:pt x="21133118" y="3024188"/>
                </a:lnTo>
                <a:lnTo>
                  <a:pt x="21320760" y="2891790"/>
                </a:lnTo>
                <a:lnTo>
                  <a:pt x="21508402" y="2758440"/>
                </a:lnTo>
                <a:lnTo>
                  <a:pt x="21692235" y="2623185"/>
                </a:lnTo>
                <a:lnTo>
                  <a:pt x="21869400" y="2489835"/>
                </a:lnTo>
                <a:lnTo>
                  <a:pt x="22037040" y="2357438"/>
                </a:lnTo>
                <a:lnTo>
                  <a:pt x="22193250" y="2228850"/>
                </a:lnTo>
                <a:lnTo>
                  <a:pt x="22334220" y="2105025"/>
                </a:lnTo>
                <a:lnTo>
                  <a:pt x="22461855" y="1985010"/>
                </a:lnTo>
                <a:lnTo>
                  <a:pt x="22579965" y="1867852"/>
                </a:lnTo>
                <a:lnTo>
                  <a:pt x="22692360" y="1750695"/>
                </a:lnTo>
                <a:lnTo>
                  <a:pt x="22800945" y="1632585"/>
                </a:lnTo>
                <a:lnTo>
                  <a:pt x="22910482" y="1510665"/>
                </a:lnTo>
                <a:lnTo>
                  <a:pt x="23024782" y="1383030"/>
                </a:lnTo>
                <a:lnTo>
                  <a:pt x="23145750" y="1247775"/>
                </a:lnTo>
                <a:lnTo>
                  <a:pt x="23281005" y="1096328"/>
                </a:lnTo>
                <a:lnTo>
                  <a:pt x="23429595" y="924878"/>
                </a:lnTo>
                <a:lnTo>
                  <a:pt x="23583900" y="744855"/>
                </a:lnTo>
                <a:lnTo>
                  <a:pt x="23738205" y="562928"/>
                </a:lnTo>
                <a:lnTo>
                  <a:pt x="23885842" y="388620"/>
                </a:lnTo>
                <a:lnTo>
                  <a:pt x="24018240" y="230505"/>
                </a:lnTo>
                <a:lnTo>
                  <a:pt x="24129682" y="98108"/>
                </a:lnTo>
                <a:lnTo>
                  <a:pt x="24212550" y="0"/>
                </a:lnTo>
              </a:path>
            </a:pathLst>
          </a:custGeom>
          <a:noFill/>
          <a:ln w="190500">
            <a:solidFill>
              <a:srgbClr val="427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imeline-arrow"/>
          <p:cNvSpPr/>
          <p:nvPr/>
        </p:nvSpPr>
        <p:spPr>
          <a:xfrm>
            <a:off x="26689050" y="4419600"/>
            <a:ext cx="895350" cy="971550"/>
          </a:xfrm>
          <a:custGeom>
            <a:avLst/>
            <a:gdLst/>
            <a:ahLst/>
            <a:cxnLst/>
            <a:rect l="l" t="t" r="r" b="b"/>
            <a:pathLst>
              <a:path w="895350" h="971550">
                <a:moveTo>
                  <a:pt x="895350" y="0"/>
                </a:moveTo>
                <a:lnTo>
                  <a:pt x="0" y="457200"/>
                </a:lnTo>
                <a:lnTo>
                  <a:pt x="571500" y="971550"/>
                </a:lnTo>
                <a:close/>
              </a:path>
            </a:pathLst>
          </a:custGeom>
          <a:solidFill>
            <a:srgbClr val="427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-f1"/>
          <p:cNvSpPr/>
          <p:nvPr/>
        </p:nvSpPr>
        <p:spPr>
          <a:xfrm>
            <a:off x="1781175" y="1362075"/>
            <a:ext cx="1371600" cy="771525"/>
          </a:xfrm>
          <a:custGeom>
            <a:avLst/>
            <a:gdLst/>
            <a:ahLst/>
            <a:cxnLst/>
            <a:rect l="l" t="t" r="r" b="b"/>
            <a:pathLst>
              <a:path w="1371600" h="771525">
                <a:moveTo>
                  <a:pt x="0" y="771525"/>
                </a:moveTo>
                <a:lnTo>
                  <a:pt x="1371600" y="0"/>
                </a:lnTo>
                <a:lnTo>
                  <a:pt x="600075" y="676275"/>
                </a:lnTo>
                <a:close/>
              </a:path>
            </a:pathLst>
          </a:custGeom>
          <a:solidFill>
            <a:srgbClr val="4B8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ogo-f2"/>
          <p:cNvSpPr/>
          <p:nvPr/>
        </p:nvSpPr>
        <p:spPr>
          <a:xfrm>
            <a:off x="1781175" y="2038350"/>
            <a:ext cx="638175" cy="742950"/>
          </a:xfrm>
          <a:custGeom>
            <a:avLst/>
            <a:gdLst/>
            <a:ahLst/>
            <a:cxnLst/>
            <a:rect l="l" t="t" r="r" b="b"/>
            <a:pathLst>
              <a:path w="638175" h="742950">
                <a:moveTo>
                  <a:pt x="0" y="95250"/>
                </a:moveTo>
                <a:lnTo>
                  <a:pt x="600075" y="0"/>
                </a:lnTo>
                <a:lnTo>
                  <a:pt x="638175" y="742950"/>
                </a:lnTo>
                <a:close/>
              </a:path>
            </a:pathLst>
          </a:custGeom>
          <a:solidFill>
            <a:srgbClr val="3A7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ogo-f3"/>
          <p:cNvSpPr/>
          <p:nvPr/>
        </p:nvSpPr>
        <p:spPr>
          <a:xfrm>
            <a:off x="2381250" y="1362075"/>
            <a:ext cx="771525" cy="1419225"/>
          </a:xfrm>
          <a:custGeom>
            <a:avLst/>
            <a:gdLst/>
            <a:ahLst/>
            <a:cxnLst/>
            <a:rect l="l" t="t" r="r" b="b"/>
            <a:pathLst>
              <a:path w="771525" h="1419225">
                <a:moveTo>
                  <a:pt x="0" y="676275"/>
                </a:moveTo>
                <a:lnTo>
                  <a:pt x="771525" y="0"/>
                </a:lnTo>
                <a:lnTo>
                  <a:pt x="38100" y="1419225"/>
                </a:lnTo>
                <a:close/>
              </a:path>
            </a:pathLst>
          </a:custGeom>
          <a:solidFill>
            <a:srgbClr val="2B6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itle"/>
          <p:cNvSpPr txBox="1"/>
          <p:nvPr/>
        </p:nvSpPr>
        <p:spPr>
          <a:xfrm>
            <a:off x="3352800" y="1428750"/>
            <a:ext cx="6934200" cy="1238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总体里程碑计划</a:t>
            </a:r>
          </a:p>
        </p:txBody>
      </p:sp>
      <p:sp>
        <p:nvSpPr>
          <p:cNvPr id="11" name="q1-pill"/>
          <p:cNvSpPr/>
          <p:nvPr/>
        </p:nvSpPr>
        <p:spPr>
          <a:xfrm>
            <a:off x="3371850" y="5438775"/>
            <a:ext cx="4010025" cy="1171575"/>
          </a:xfrm>
          <a:prstGeom prst="roundRect">
            <a:avLst>
              <a:gd name="adj" fmla="val 50000"/>
            </a:avLst>
          </a:prstGeom>
          <a:solidFill>
            <a:srgbClr val="427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q1-pill-text"/>
          <p:cNvSpPr txBox="1"/>
          <p:nvPr/>
        </p:nvSpPr>
        <p:spPr>
          <a:xfrm>
            <a:off x="3371850" y="5438775"/>
            <a:ext cx="4010025" cy="1171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500" b="1" i="0" spc="2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Q1 · 2026</a:t>
            </a:r>
          </a:p>
        </p:txBody>
      </p:sp>
      <p:sp>
        <p:nvSpPr>
          <p:cNvPr id="13" name="q1-sub"/>
          <p:cNvSpPr txBox="1"/>
          <p:nvPr/>
        </p:nvSpPr>
        <p:spPr>
          <a:xfrm>
            <a:off x="3848100" y="6953250"/>
            <a:ext cx="31432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项目启动阶段</a:t>
            </a:r>
          </a:p>
        </p:txBody>
      </p:sp>
      <p:sp>
        <p:nvSpPr>
          <p:cNvPr id="14" name="q1-body-1"/>
          <p:cNvSpPr txBox="1"/>
          <p:nvPr/>
        </p:nvSpPr>
        <p:spPr>
          <a:xfrm>
            <a:off x="3619500" y="7715250"/>
            <a:ext cx="35242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完成项目立项与团队</a:t>
            </a:r>
          </a:p>
        </p:txBody>
      </p:sp>
      <p:sp>
        <p:nvSpPr>
          <p:cNvPr id="15" name="q1-body-2"/>
          <p:cNvSpPr txBox="1"/>
          <p:nvPr/>
        </p:nvSpPr>
        <p:spPr>
          <a:xfrm>
            <a:off x="3619500" y="8210550"/>
            <a:ext cx="35242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组建，确立核心目标</a:t>
            </a:r>
          </a:p>
        </p:txBody>
      </p:sp>
      <p:sp>
        <p:nvSpPr>
          <p:cNvPr id="16" name="q1-body-3"/>
          <p:cNvSpPr txBox="1"/>
          <p:nvPr/>
        </p:nvSpPr>
        <p:spPr>
          <a:xfrm>
            <a:off x="4381500" y="8715375"/>
            <a:ext cx="20002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与初步预算</a:t>
            </a:r>
          </a:p>
        </p:txBody>
      </p:sp>
      <p:sp>
        <p:nvSpPr>
          <p:cNvPr id="17" name="q1-circle"/>
          <p:cNvSpPr/>
          <p:nvPr/>
        </p:nvSpPr>
        <p:spPr>
          <a:xfrm>
            <a:off x="4076700" y="9458325"/>
            <a:ext cx="2609850" cy="2609850"/>
          </a:xfrm>
          <a:prstGeom prst="ellipse">
            <a:avLst/>
          </a:prstGeom>
          <a:solidFill>
            <a:srgbClr val="427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q1-glyph-back"/>
          <p:cNvSpPr/>
          <p:nvPr/>
        </p:nvSpPr>
        <p:spPr>
          <a:xfrm>
            <a:off x="5248275" y="10191750"/>
            <a:ext cx="723900" cy="914400"/>
          </a:xfrm>
          <a:prstGeom prst="roundRect">
            <a:avLst>
              <a:gd name="adj" fmla="val 3947"/>
            </a:avLst>
          </a:prstGeom>
          <a:noFill/>
          <a:ln w="857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q1-glyph-front"/>
          <p:cNvSpPr/>
          <p:nvPr/>
        </p:nvSpPr>
        <p:spPr>
          <a:xfrm>
            <a:off x="4867275" y="10420350"/>
            <a:ext cx="781050" cy="914400"/>
          </a:xfrm>
          <a:prstGeom prst="roundRect">
            <a:avLst>
              <a:gd name="adj" fmla="val 3658"/>
            </a:avLst>
          </a:prstGeom>
          <a:noFill/>
          <a:ln w="857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q1-glyph-bar"/>
          <p:cNvSpPr/>
          <p:nvPr/>
        </p:nvSpPr>
        <p:spPr>
          <a:xfrm>
            <a:off x="5019675" y="10591800"/>
            <a:ext cx="495300" cy="857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q1-glyph-blk1"/>
          <p:cNvSpPr/>
          <p:nvPr/>
        </p:nvSpPr>
        <p:spPr>
          <a:xfrm>
            <a:off x="5019675" y="10801350"/>
            <a:ext cx="171450" cy="190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q1-glyph-blk2"/>
          <p:cNvSpPr/>
          <p:nvPr/>
        </p:nvSpPr>
        <p:spPr>
          <a:xfrm>
            <a:off x="5248275" y="10801350"/>
            <a:ext cx="247650" cy="190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q2-pill"/>
          <p:cNvSpPr/>
          <p:nvPr/>
        </p:nvSpPr>
        <p:spPr>
          <a:xfrm>
            <a:off x="9525000" y="6724650"/>
            <a:ext cx="3971925" cy="1171575"/>
          </a:xfrm>
          <a:prstGeom prst="roundRect">
            <a:avLst>
              <a:gd name="adj" fmla="val 50000"/>
            </a:avLst>
          </a:prstGeom>
          <a:solidFill>
            <a:srgbClr val="427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q2-pill-text"/>
          <p:cNvSpPr txBox="1"/>
          <p:nvPr/>
        </p:nvSpPr>
        <p:spPr>
          <a:xfrm>
            <a:off x="9525000" y="6724650"/>
            <a:ext cx="3971925" cy="1171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500" b="1" i="0" spc="2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Q2 · 2026</a:t>
            </a:r>
          </a:p>
        </p:txBody>
      </p:sp>
      <p:sp>
        <p:nvSpPr>
          <p:cNvPr id="25" name="q2-sub"/>
          <p:cNvSpPr txBox="1"/>
          <p:nvPr/>
        </p:nvSpPr>
        <p:spPr>
          <a:xfrm>
            <a:off x="10258425" y="8201025"/>
            <a:ext cx="2619375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规划与设计</a:t>
            </a:r>
          </a:p>
        </p:txBody>
      </p:sp>
      <p:sp>
        <p:nvSpPr>
          <p:cNvPr id="26" name="q2-body-1"/>
          <p:cNvSpPr txBox="1"/>
          <p:nvPr/>
        </p:nvSpPr>
        <p:spPr>
          <a:xfrm>
            <a:off x="9763125" y="8953500"/>
            <a:ext cx="35242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输出详细架构设计方</a:t>
            </a:r>
          </a:p>
        </p:txBody>
      </p:sp>
      <p:sp>
        <p:nvSpPr>
          <p:cNvPr id="27" name="q2-body-2"/>
          <p:cNvSpPr txBox="1"/>
          <p:nvPr/>
        </p:nvSpPr>
        <p:spPr>
          <a:xfrm>
            <a:off x="9763125" y="9458325"/>
            <a:ext cx="35242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案，完成技术选型与</a:t>
            </a:r>
          </a:p>
        </p:txBody>
      </p:sp>
      <p:sp>
        <p:nvSpPr>
          <p:cNvPr id="28" name="q2-body-3"/>
          <p:cNvSpPr txBox="1"/>
          <p:nvPr/>
        </p:nvSpPr>
        <p:spPr>
          <a:xfrm>
            <a:off x="10344150" y="9953625"/>
            <a:ext cx="2352675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资源配置规划</a:t>
            </a:r>
          </a:p>
        </p:txBody>
      </p:sp>
      <p:sp>
        <p:nvSpPr>
          <p:cNvPr id="29" name="q2-circle"/>
          <p:cNvSpPr/>
          <p:nvPr/>
        </p:nvSpPr>
        <p:spPr>
          <a:xfrm>
            <a:off x="10210800" y="10553700"/>
            <a:ext cx="2609850" cy="2609850"/>
          </a:xfrm>
          <a:prstGeom prst="ellipse">
            <a:avLst/>
          </a:prstGeom>
          <a:solidFill>
            <a:srgbClr val="427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q2-glyph-top-1"/>
          <p:cNvSpPr/>
          <p:nvPr/>
        </p:nvSpPr>
        <p:spPr>
          <a:xfrm>
            <a:off x="11269980" y="11210925"/>
            <a:ext cx="491490" cy="285750"/>
          </a:xfrm>
          <a:custGeom>
            <a:avLst/>
            <a:gdLst/>
            <a:ahLst/>
            <a:cxnLst/>
            <a:rect l="l" t="t" r="r" b="b"/>
            <a:pathLst>
              <a:path w="491490" h="285750">
                <a:moveTo>
                  <a:pt x="245745" y="0"/>
                </a:moveTo>
                <a:lnTo>
                  <a:pt x="491490" y="142875"/>
                </a:lnTo>
                <a:lnTo>
                  <a:pt x="245745" y="285750"/>
                </a:lnTo>
                <a:lnTo>
                  <a:pt x="0" y="142875"/>
                </a:lnTo>
                <a:close/>
              </a:path>
            </a:pathLst>
          </a:custGeom>
          <a:noFill/>
          <a:ln w="80962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q2-glyph-top-2"/>
          <p:cNvSpPr/>
          <p:nvPr/>
        </p:nvSpPr>
        <p:spPr>
          <a:xfrm>
            <a:off x="11269980" y="11353800"/>
            <a:ext cx="245745" cy="428625"/>
          </a:xfrm>
          <a:custGeom>
            <a:avLst/>
            <a:gdLst/>
            <a:ahLst/>
            <a:cxnLst/>
            <a:rect l="l" t="t" r="r" b="b"/>
            <a:pathLst>
              <a:path w="245745" h="428625">
                <a:moveTo>
                  <a:pt x="0" y="0"/>
                </a:moveTo>
                <a:lnTo>
                  <a:pt x="245745" y="142875"/>
                </a:lnTo>
                <a:lnTo>
                  <a:pt x="245745" y="428625"/>
                </a:lnTo>
                <a:lnTo>
                  <a:pt x="0" y="285750"/>
                </a:lnTo>
                <a:close/>
              </a:path>
            </a:pathLst>
          </a:custGeom>
          <a:noFill/>
          <a:ln w="80962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q2-glyph-top-3"/>
          <p:cNvSpPr/>
          <p:nvPr/>
        </p:nvSpPr>
        <p:spPr>
          <a:xfrm>
            <a:off x="11515725" y="11353800"/>
            <a:ext cx="245745" cy="428625"/>
          </a:xfrm>
          <a:custGeom>
            <a:avLst/>
            <a:gdLst/>
            <a:ahLst/>
            <a:cxnLst/>
            <a:rect l="l" t="t" r="r" b="b"/>
            <a:pathLst>
              <a:path w="245745" h="428625">
                <a:moveTo>
                  <a:pt x="0" y="142875"/>
                </a:moveTo>
                <a:lnTo>
                  <a:pt x="245745" y="0"/>
                </a:lnTo>
                <a:lnTo>
                  <a:pt x="245745" y="285750"/>
                </a:lnTo>
                <a:lnTo>
                  <a:pt x="0" y="428625"/>
                </a:lnTo>
                <a:close/>
              </a:path>
            </a:pathLst>
          </a:custGeom>
          <a:noFill/>
          <a:ln w="80962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q2-glyph-left-1"/>
          <p:cNvSpPr/>
          <p:nvPr/>
        </p:nvSpPr>
        <p:spPr>
          <a:xfrm>
            <a:off x="10946130" y="11801475"/>
            <a:ext cx="491490" cy="285750"/>
          </a:xfrm>
          <a:custGeom>
            <a:avLst/>
            <a:gdLst/>
            <a:ahLst/>
            <a:cxnLst/>
            <a:rect l="l" t="t" r="r" b="b"/>
            <a:pathLst>
              <a:path w="491490" h="285750">
                <a:moveTo>
                  <a:pt x="245745" y="0"/>
                </a:moveTo>
                <a:lnTo>
                  <a:pt x="491490" y="142875"/>
                </a:lnTo>
                <a:lnTo>
                  <a:pt x="245745" y="285750"/>
                </a:lnTo>
                <a:lnTo>
                  <a:pt x="0" y="142875"/>
                </a:lnTo>
                <a:close/>
              </a:path>
            </a:pathLst>
          </a:custGeom>
          <a:noFill/>
          <a:ln w="80962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q2-glyph-left-2"/>
          <p:cNvSpPr/>
          <p:nvPr/>
        </p:nvSpPr>
        <p:spPr>
          <a:xfrm>
            <a:off x="10946130" y="11944350"/>
            <a:ext cx="245745" cy="428625"/>
          </a:xfrm>
          <a:custGeom>
            <a:avLst/>
            <a:gdLst/>
            <a:ahLst/>
            <a:cxnLst/>
            <a:rect l="l" t="t" r="r" b="b"/>
            <a:pathLst>
              <a:path w="245745" h="428625">
                <a:moveTo>
                  <a:pt x="0" y="0"/>
                </a:moveTo>
                <a:lnTo>
                  <a:pt x="245745" y="142875"/>
                </a:lnTo>
                <a:lnTo>
                  <a:pt x="245745" y="428625"/>
                </a:lnTo>
                <a:lnTo>
                  <a:pt x="0" y="285750"/>
                </a:lnTo>
                <a:close/>
              </a:path>
            </a:pathLst>
          </a:custGeom>
          <a:noFill/>
          <a:ln w="80962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q2-glyph-left-3"/>
          <p:cNvSpPr/>
          <p:nvPr/>
        </p:nvSpPr>
        <p:spPr>
          <a:xfrm>
            <a:off x="11191875" y="11944350"/>
            <a:ext cx="245745" cy="428625"/>
          </a:xfrm>
          <a:custGeom>
            <a:avLst/>
            <a:gdLst/>
            <a:ahLst/>
            <a:cxnLst/>
            <a:rect l="l" t="t" r="r" b="b"/>
            <a:pathLst>
              <a:path w="245745" h="428625">
                <a:moveTo>
                  <a:pt x="0" y="142875"/>
                </a:moveTo>
                <a:lnTo>
                  <a:pt x="245745" y="0"/>
                </a:lnTo>
                <a:lnTo>
                  <a:pt x="245745" y="285750"/>
                </a:lnTo>
                <a:lnTo>
                  <a:pt x="0" y="428625"/>
                </a:lnTo>
                <a:close/>
              </a:path>
            </a:pathLst>
          </a:custGeom>
          <a:noFill/>
          <a:ln w="80962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q2-glyph-right-1"/>
          <p:cNvSpPr/>
          <p:nvPr/>
        </p:nvSpPr>
        <p:spPr>
          <a:xfrm>
            <a:off x="11593830" y="11801475"/>
            <a:ext cx="491490" cy="285750"/>
          </a:xfrm>
          <a:custGeom>
            <a:avLst/>
            <a:gdLst/>
            <a:ahLst/>
            <a:cxnLst/>
            <a:rect l="l" t="t" r="r" b="b"/>
            <a:pathLst>
              <a:path w="491490" h="285750">
                <a:moveTo>
                  <a:pt x="245745" y="0"/>
                </a:moveTo>
                <a:lnTo>
                  <a:pt x="491490" y="142875"/>
                </a:lnTo>
                <a:lnTo>
                  <a:pt x="245745" y="285750"/>
                </a:lnTo>
                <a:lnTo>
                  <a:pt x="0" y="142875"/>
                </a:lnTo>
                <a:close/>
              </a:path>
            </a:pathLst>
          </a:custGeom>
          <a:noFill/>
          <a:ln w="80962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q2-glyph-right-2"/>
          <p:cNvSpPr/>
          <p:nvPr/>
        </p:nvSpPr>
        <p:spPr>
          <a:xfrm>
            <a:off x="11593830" y="11944350"/>
            <a:ext cx="245745" cy="428625"/>
          </a:xfrm>
          <a:custGeom>
            <a:avLst/>
            <a:gdLst/>
            <a:ahLst/>
            <a:cxnLst/>
            <a:rect l="l" t="t" r="r" b="b"/>
            <a:pathLst>
              <a:path w="245745" h="428625">
                <a:moveTo>
                  <a:pt x="0" y="0"/>
                </a:moveTo>
                <a:lnTo>
                  <a:pt x="245745" y="142875"/>
                </a:lnTo>
                <a:lnTo>
                  <a:pt x="245745" y="428625"/>
                </a:lnTo>
                <a:lnTo>
                  <a:pt x="0" y="285750"/>
                </a:lnTo>
                <a:close/>
              </a:path>
            </a:pathLst>
          </a:custGeom>
          <a:noFill/>
          <a:ln w="80962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q2-glyph-right-3"/>
          <p:cNvSpPr/>
          <p:nvPr/>
        </p:nvSpPr>
        <p:spPr>
          <a:xfrm>
            <a:off x="11839575" y="11944350"/>
            <a:ext cx="245745" cy="428625"/>
          </a:xfrm>
          <a:custGeom>
            <a:avLst/>
            <a:gdLst/>
            <a:ahLst/>
            <a:cxnLst/>
            <a:rect l="l" t="t" r="r" b="b"/>
            <a:pathLst>
              <a:path w="245745" h="428625">
                <a:moveTo>
                  <a:pt x="0" y="142875"/>
                </a:moveTo>
                <a:lnTo>
                  <a:pt x="245745" y="0"/>
                </a:lnTo>
                <a:lnTo>
                  <a:pt x="245745" y="285750"/>
                </a:lnTo>
                <a:lnTo>
                  <a:pt x="0" y="428625"/>
                </a:lnTo>
                <a:close/>
              </a:path>
            </a:pathLst>
          </a:custGeom>
          <a:noFill/>
          <a:ln w="80962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q3-pill"/>
          <p:cNvSpPr/>
          <p:nvPr/>
        </p:nvSpPr>
        <p:spPr>
          <a:xfrm>
            <a:off x="16078200" y="5676900"/>
            <a:ext cx="3971925" cy="1171575"/>
          </a:xfrm>
          <a:prstGeom prst="roundRect">
            <a:avLst>
              <a:gd name="adj" fmla="val 50000"/>
            </a:avLst>
          </a:prstGeom>
          <a:solidFill>
            <a:srgbClr val="427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q3-pill-text"/>
          <p:cNvSpPr txBox="1"/>
          <p:nvPr/>
        </p:nvSpPr>
        <p:spPr>
          <a:xfrm>
            <a:off x="16078200" y="5676900"/>
            <a:ext cx="3971925" cy="1171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500" b="1" i="0" spc="2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Q3 · 2026</a:t>
            </a:r>
          </a:p>
        </p:txBody>
      </p:sp>
      <p:sp>
        <p:nvSpPr>
          <p:cNvPr id="41" name="q3-sub"/>
          <p:cNvSpPr txBox="1"/>
          <p:nvPr/>
        </p:nvSpPr>
        <p:spPr>
          <a:xfrm>
            <a:off x="16535400" y="7143750"/>
            <a:ext cx="31432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核心研发执行</a:t>
            </a:r>
          </a:p>
        </p:txBody>
      </p:sp>
      <p:sp>
        <p:nvSpPr>
          <p:cNvPr id="42" name="q3-body-1"/>
          <p:cNvSpPr txBox="1"/>
          <p:nvPr/>
        </p:nvSpPr>
        <p:spPr>
          <a:xfrm>
            <a:off x="16297275" y="7905750"/>
            <a:ext cx="35242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系统功能全量开发，</a:t>
            </a:r>
          </a:p>
        </p:txBody>
      </p:sp>
      <p:sp>
        <p:nvSpPr>
          <p:cNvPr id="43" name="q3-body-2"/>
          <p:cNvSpPr txBox="1"/>
          <p:nvPr/>
        </p:nvSpPr>
        <p:spPr>
          <a:xfrm>
            <a:off x="16297275" y="8401050"/>
            <a:ext cx="35242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开展集成测试与关键</a:t>
            </a:r>
          </a:p>
        </p:txBody>
      </p:sp>
      <p:sp>
        <p:nvSpPr>
          <p:cNvPr id="44" name="q3-body-3"/>
          <p:cNvSpPr txBox="1"/>
          <p:nvPr/>
        </p:nvSpPr>
        <p:spPr>
          <a:xfrm>
            <a:off x="16878300" y="8905875"/>
            <a:ext cx="2371725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用户UAT验收</a:t>
            </a:r>
          </a:p>
        </p:txBody>
      </p:sp>
      <p:sp>
        <p:nvSpPr>
          <p:cNvPr id="45" name="q3-circle"/>
          <p:cNvSpPr/>
          <p:nvPr/>
        </p:nvSpPr>
        <p:spPr>
          <a:xfrm>
            <a:off x="16764000" y="9534525"/>
            <a:ext cx="2609850" cy="2609850"/>
          </a:xfrm>
          <a:prstGeom prst="ellipse">
            <a:avLst/>
          </a:prstGeom>
          <a:solidFill>
            <a:srgbClr val="427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q3-g-top"/>
          <p:cNvCxnSpPr/>
          <p:nvPr/>
        </p:nvCxnSpPr>
        <p:spPr>
          <a:xfrm>
            <a:off x="17535525" y="10306050"/>
            <a:ext cx="990600" cy="0"/>
          </a:xfrm>
          <a:prstGeom prst="line">
            <a:avLst/>
          </a:prstGeom>
          <a:ln w="90487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q3-g-right"/>
          <p:cNvCxnSpPr/>
          <p:nvPr/>
        </p:nvCxnSpPr>
        <p:spPr>
          <a:xfrm>
            <a:off x="18526125" y="10306050"/>
            <a:ext cx="0" cy="247650"/>
          </a:xfrm>
          <a:prstGeom prst="line">
            <a:avLst/>
          </a:prstGeom>
          <a:ln w="666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q3-g-left"/>
          <p:cNvCxnSpPr/>
          <p:nvPr/>
        </p:nvCxnSpPr>
        <p:spPr>
          <a:xfrm>
            <a:off x="17535525" y="10306050"/>
            <a:ext cx="0" cy="971550"/>
          </a:xfrm>
          <a:prstGeom prst="line">
            <a:avLst/>
          </a:prstGeom>
          <a:ln w="666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q3-g-bot"/>
          <p:cNvCxnSpPr/>
          <p:nvPr/>
        </p:nvCxnSpPr>
        <p:spPr>
          <a:xfrm>
            <a:off x="17535525" y="11277600"/>
            <a:ext cx="247650" cy="0"/>
          </a:xfrm>
          <a:prstGeom prst="line">
            <a:avLst/>
          </a:prstGeom>
          <a:ln w="666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q3-g-bar1"/>
          <p:cNvSpPr/>
          <p:nvPr/>
        </p:nvSpPr>
        <p:spPr>
          <a:xfrm>
            <a:off x="17687925" y="10515600"/>
            <a:ext cx="381000" cy="857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q3-g-bar2"/>
          <p:cNvSpPr/>
          <p:nvPr/>
        </p:nvSpPr>
        <p:spPr>
          <a:xfrm>
            <a:off x="17687925" y="10687050"/>
            <a:ext cx="247650" cy="857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q3-g-head"/>
          <p:cNvSpPr/>
          <p:nvPr/>
        </p:nvSpPr>
        <p:spPr>
          <a:xfrm>
            <a:off x="18173700" y="10791825"/>
            <a:ext cx="247650" cy="247650"/>
          </a:xfrm>
          <a:prstGeom prst="ellipse">
            <a:avLst/>
          </a:prstGeom>
          <a:noFill/>
          <a:ln w="666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q3-g-shoulder"/>
          <p:cNvSpPr/>
          <p:nvPr/>
        </p:nvSpPr>
        <p:spPr>
          <a:xfrm>
            <a:off x="17992725" y="11049000"/>
            <a:ext cx="609600" cy="266700"/>
          </a:xfrm>
          <a:custGeom>
            <a:avLst/>
            <a:gdLst/>
            <a:ahLst/>
            <a:cxnLst/>
            <a:rect l="l" t="t" r="r" b="b"/>
            <a:pathLst>
              <a:path w="609600" h="266700">
                <a:moveTo>
                  <a:pt x="0" y="266700"/>
                </a:moveTo>
                <a:lnTo>
                  <a:pt x="0" y="114300"/>
                </a:lnTo>
                <a:lnTo>
                  <a:pt x="114300" y="19050"/>
                </a:lnTo>
                <a:lnTo>
                  <a:pt x="323850" y="0"/>
                </a:lnTo>
                <a:lnTo>
                  <a:pt x="514350" y="38100"/>
                </a:lnTo>
                <a:lnTo>
                  <a:pt x="609600" y="152400"/>
                </a:lnTo>
                <a:lnTo>
                  <a:pt x="609600" y="266700"/>
                </a:lnTo>
                <a:close/>
              </a:path>
            </a:pathLst>
          </a:custGeom>
          <a:noFill/>
          <a:ln w="666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q4-pill"/>
          <p:cNvSpPr/>
          <p:nvPr/>
        </p:nvSpPr>
        <p:spPr>
          <a:xfrm>
            <a:off x="21564600" y="2514600"/>
            <a:ext cx="4010025" cy="1171575"/>
          </a:xfrm>
          <a:prstGeom prst="roundRect">
            <a:avLst>
              <a:gd name="adj" fmla="val 50000"/>
            </a:avLst>
          </a:prstGeom>
          <a:solidFill>
            <a:srgbClr val="427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q4-pill-text"/>
          <p:cNvSpPr txBox="1"/>
          <p:nvPr/>
        </p:nvSpPr>
        <p:spPr>
          <a:xfrm>
            <a:off x="21564600" y="2514600"/>
            <a:ext cx="4010025" cy="1171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500" b="1" i="0" spc="2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Q4 · 2026</a:t>
            </a:r>
          </a:p>
        </p:txBody>
      </p:sp>
      <p:sp>
        <p:nvSpPr>
          <p:cNvPr id="56" name="q4-sub"/>
          <p:cNvSpPr txBox="1"/>
          <p:nvPr/>
        </p:nvSpPr>
        <p:spPr>
          <a:xfrm>
            <a:off x="22298025" y="3990975"/>
            <a:ext cx="2619375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迭代与优化</a:t>
            </a:r>
          </a:p>
        </p:txBody>
      </p:sp>
      <p:sp>
        <p:nvSpPr>
          <p:cNvPr id="57" name="q4-body-1"/>
          <p:cNvSpPr txBox="1"/>
          <p:nvPr/>
        </p:nvSpPr>
        <p:spPr>
          <a:xfrm>
            <a:off x="21812250" y="4752975"/>
            <a:ext cx="35242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系统上线运行监控，</a:t>
            </a:r>
          </a:p>
        </p:txBody>
      </p:sp>
      <p:sp>
        <p:nvSpPr>
          <p:cNvPr id="58" name="q4-body-2"/>
          <p:cNvSpPr txBox="1"/>
          <p:nvPr/>
        </p:nvSpPr>
        <p:spPr>
          <a:xfrm>
            <a:off x="21821775" y="5248275"/>
            <a:ext cx="3514725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收集反馈进行功能迭</a:t>
            </a:r>
          </a:p>
        </p:txBody>
      </p:sp>
      <p:sp>
        <p:nvSpPr>
          <p:cNvPr id="59" name="q4-body-3"/>
          <p:cNvSpPr txBox="1"/>
          <p:nvPr/>
        </p:nvSpPr>
        <p:spPr>
          <a:xfrm>
            <a:off x="22374225" y="5753100"/>
            <a:ext cx="2390775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代与性能调优</a:t>
            </a:r>
          </a:p>
        </p:txBody>
      </p:sp>
      <p:sp>
        <p:nvSpPr>
          <p:cNvPr id="60" name="q4-circle"/>
          <p:cNvSpPr/>
          <p:nvPr/>
        </p:nvSpPr>
        <p:spPr>
          <a:xfrm>
            <a:off x="22278975" y="6572250"/>
            <a:ext cx="2590800" cy="2590800"/>
          </a:xfrm>
          <a:prstGeom prst="ellipse">
            <a:avLst/>
          </a:prstGeom>
          <a:solidFill>
            <a:srgbClr val="427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q4-g-sheet"/>
          <p:cNvSpPr/>
          <p:nvPr/>
        </p:nvSpPr>
        <p:spPr>
          <a:xfrm>
            <a:off x="23117175" y="7467600"/>
            <a:ext cx="800100" cy="857250"/>
          </a:xfrm>
          <a:prstGeom prst="roundRect">
            <a:avLst>
              <a:gd name="adj" fmla="val 9523"/>
            </a:avLst>
          </a:prstGeom>
          <a:noFill/>
          <a:ln w="762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q4-g-clip"/>
          <p:cNvSpPr/>
          <p:nvPr/>
        </p:nvSpPr>
        <p:spPr>
          <a:xfrm>
            <a:off x="23364825" y="7343775"/>
            <a:ext cx="304800" cy="171450"/>
          </a:xfrm>
          <a:prstGeom prst="roundRect">
            <a:avLst>
              <a:gd name="adj" fmla="val 33333"/>
            </a:avLst>
          </a:prstGeom>
          <a:noFill/>
          <a:ln w="666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q4-g-l1"/>
          <p:cNvSpPr/>
          <p:nvPr/>
        </p:nvSpPr>
        <p:spPr>
          <a:xfrm>
            <a:off x="23269575" y="7658100"/>
            <a:ext cx="476250" cy="95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q4-g-l2"/>
          <p:cNvSpPr/>
          <p:nvPr/>
        </p:nvSpPr>
        <p:spPr>
          <a:xfrm>
            <a:off x="23269575" y="7848600"/>
            <a:ext cx="381000" cy="95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q4-g-l3"/>
          <p:cNvSpPr/>
          <p:nvPr/>
        </p:nvSpPr>
        <p:spPr>
          <a:xfrm>
            <a:off x="23269575" y="8039100"/>
            <a:ext cx="438150" cy="95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q4-g-ring"/>
          <p:cNvSpPr/>
          <p:nvPr/>
        </p:nvSpPr>
        <p:spPr>
          <a:xfrm>
            <a:off x="23926800" y="7439025"/>
            <a:ext cx="209550" cy="209550"/>
          </a:xfrm>
          <a:prstGeom prst="ellipse">
            <a:avLst/>
          </a:prstGeom>
          <a:noFill/>
          <a:ln w="666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ap-00"/>
          <p:cNvSpPr txBox="1"/>
          <p:nvPr/>
        </p:nvSpPr>
        <p:spPr>
          <a:xfrm rot="1428000">
            <a:off x="3352800" y="12260580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系</a:t>
            </a:r>
          </a:p>
        </p:txBody>
      </p:sp>
      <p:sp>
        <p:nvSpPr>
          <p:cNvPr id="68" name="cap-01"/>
          <p:cNvSpPr txBox="1"/>
          <p:nvPr/>
        </p:nvSpPr>
        <p:spPr>
          <a:xfrm rot="1344600">
            <a:off x="3883342" y="12486322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统</a:t>
            </a:r>
          </a:p>
        </p:txBody>
      </p:sp>
      <p:sp>
        <p:nvSpPr>
          <p:cNvPr id="69" name="cap-02"/>
          <p:cNvSpPr txBox="1"/>
          <p:nvPr/>
        </p:nvSpPr>
        <p:spPr>
          <a:xfrm rot="1259400">
            <a:off x="4414838" y="12697778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正</a:t>
            </a:r>
          </a:p>
        </p:txBody>
      </p:sp>
      <p:sp>
        <p:nvSpPr>
          <p:cNvPr id="70" name="cap-03"/>
          <p:cNvSpPr txBox="1"/>
          <p:nvPr/>
        </p:nvSpPr>
        <p:spPr>
          <a:xfrm rot="1173000">
            <a:off x="4945380" y="12893992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式</a:t>
            </a:r>
          </a:p>
        </p:txBody>
      </p:sp>
      <p:sp>
        <p:nvSpPr>
          <p:cNvPr id="71" name="cap-04"/>
          <p:cNvSpPr txBox="1"/>
          <p:nvPr/>
        </p:nvSpPr>
        <p:spPr>
          <a:xfrm rot="1084800">
            <a:off x="5475922" y="13074968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部</a:t>
            </a:r>
          </a:p>
        </p:txBody>
      </p:sp>
      <p:sp>
        <p:nvSpPr>
          <p:cNvPr id="72" name="cap-05"/>
          <p:cNvSpPr txBox="1"/>
          <p:nvPr/>
        </p:nvSpPr>
        <p:spPr>
          <a:xfrm rot="994800">
            <a:off x="6007418" y="13240702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署</a:t>
            </a:r>
          </a:p>
        </p:txBody>
      </p:sp>
      <p:sp>
        <p:nvSpPr>
          <p:cNvPr id="73" name="cap-06"/>
          <p:cNvSpPr txBox="1"/>
          <p:nvPr/>
        </p:nvSpPr>
        <p:spPr>
          <a:xfrm rot="904200">
            <a:off x="6537960" y="13391198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至</a:t>
            </a:r>
          </a:p>
        </p:txBody>
      </p:sp>
      <p:sp>
        <p:nvSpPr>
          <p:cNvPr id="74" name="cap-07"/>
          <p:cNvSpPr txBox="1"/>
          <p:nvPr/>
        </p:nvSpPr>
        <p:spPr>
          <a:xfrm rot="811800">
            <a:off x="7068502" y="13526452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生</a:t>
            </a:r>
          </a:p>
        </p:txBody>
      </p:sp>
      <p:sp>
        <p:nvSpPr>
          <p:cNvPr id="75" name="cap-08"/>
          <p:cNvSpPr txBox="1"/>
          <p:nvPr/>
        </p:nvSpPr>
        <p:spPr>
          <a:xfrm rot="718200">
            <a:off x="7599998" y="13646468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产</a:t>
            </a:r>
          </a:p>
        </p:txBody>
      </p:sp>
      <p:sp>
        <p:nvSpPr>
          <p:cNvPr id="76" name="cap-09"/>
          <p:cNvSpPr txBox="1"/>
          <p:nvPr/>
        </p:nvSpPr>
        <p:spPr>
          <a:xfrm rot="623400">
            <a:off x="8130540" y="13751242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环</a:t>
            </a:r>
          </a:p>
        </p:txBody>
      </p:sp>
      <p:sp>
        <p:nvSpPr>
          <p:cNvPr id="77" name="cap-10"/>
          <p:cNvSpPr txBox="1"/>
          <p:nvPr/>
        </p:nvSpPr>
        <p:spPr>
          <a:xfrm rot="527400">
            <a:off x="8662035" y="13841730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境</a:t>
            </a:r>
          </a:p>
        </p:txBody>
      </p:sp>
      <p:sp>
        <p:nvSpPr>
          <p:cNvPr id="78" name="cap-11"/>
          <p:cNvSpPr txBox="1"/>
          <p:nvPr/>
        </p:nvSpPr>
        <p:spPr>
          <a:xfrm rot="430800">
            <a:off x="9192578" y="13916025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</p:txBody>
      </p:sp>
      <p:sp>
        <p:nvSpPr>
          <p:cNvPr id="79" name="cap-12"/>
          <p:cNvSpPr txBox="1"/>
          <p:nvPr/>
        </p:nvSpPr>
        <p:spPr>
          <a:xfrm rot="333600">
            <a:off x="9723120" y="13975080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数</a:t>
            </a:r>
          </a:p>
        </p:txBody>
      </p:sp>
      <p:sp>
        <p:nvSpPr>
          <p:cNvPr id="80" name="cap-13"/>
          <p:cNvSpPr txBox="1"/>
          <p:nvPr/>
        </p:nvSpPr>
        <p:spPr>
          <a:xfrm rot="235800">
            <a:off x="10254615" y="14018895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据</a:t>
            </a:r>
          </a:p>
        </p:txBody>
      </p:sp>
      <p:sp>
        <p:nvSpPr>
          <p:cNvPr id="81" name="cap-14"/>
          <p:cNvSpPr txBox="1"/>
          <p:nvPr/>
        </p:nvSpPr>
        <p:spPr>
          <a:xfrm rot="138000">
            <a:off x="10785158" y="14048422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迁</a:t>
            </a:r>
          </a:p>
        </p:txBody>
      </p:sp>
      <p:sp>
        <p:nvSpPr>
          <p:cNvPr id="82" name="cap-15"/>
          <p:cNvSpPr txBox="1"/>
          <p:nvPr/>
        </p:nvSpPr>
        <p:spPr>
          <a:xfrm rot="39600">
            <a:off x="11315700" y="14061758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移</a:t>
            </a:r>
          </a:p>
        </p:txBody>
      </p:sp>
      <p:sp>
        <p:nvSpPr>
          <p:cNvPr id="83" name="cap-16"/>
          <p:cNvSpPr txBox="1"/>
          <p:nvPr/>
        </p:nvSpPr>
        <p:spPr>
          <a:xfrm rot="21541200">
            <a:off x="11847195" y="14059852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完</a:t>
            </a:r>
          </a:p>
        </p:txBody>
      </p:sp>
      <p:sp>
        <p:nvSpPr>
          <p:cNvPr id="84" name="cap-17"/>
          <p:cNvSpPr txBox="1"/>
          <p:nvPr/>
        </p:nvSpPr>
        <p:spPr>
          <a:xfrm rot="21442800">
            <a:off x="12377738" y="14043660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成</a:t>
            </a:r>
          </a:p>
        </p:txBody>
      </p:sp>
      <p:sp>
        <p:nvSpPr>
          <p:cNvPr id="85" name="cap-18"/>
          <p:cNvSpPr txBox="1"/>
          <p:nvPr/>
        </p:nvSpPr>
        <p:spPr>
          <a:xfrm rot="21344400">
            <a:off x="12908280" y="14011275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</p:txBody>
      </p:sp>
      <p:sp>
        <p:nvSpPr>
          <p:cNvPr id="86" name="cap-19"/>
          <p:cNvSpPr txBox="1"/>
          <p:nvPr/>
        </p:nvSpPr>
        <p:spPr>
          <a:xfrm rot="21247200">
            <a:off x="13439775" y="13964602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用</a:t>
            </a:r>
          </a:p>
        </p:txBody>
      </p:sp>
      <p:sp>
        <p:nvSpPr>
          <p:cNvPr id="87" name="cap-20"/>
          <p:cNvSpPr txBox="1"/>
          <p:nvPr/>
        </p:nvSpPr>
        <p:spPr>
          <a:xfrm rot="21150000">
            <a:off x="13970318" y="13902690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户</a:t>
            </a:r>
          </a:p>
        </p:txBody>
      </p:sp>
      <p:sp>
        <p:nvSpPr>
          <p:cNvPr id="88" name="cap-21"/>
          <p:cNvSpPr txBox="1"/>
          <p:nvPr/>
        </p:nvSpPr>
        <p:spPr>
          <a:xfrm rot="21053400">
            <a:off x="14500860" y="13824585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开</a:t>
            </a:r>
          </a:p>
        </p:txBody>
      </p:sp>
      <p:sp>
        <p:nvSpPr>
          <p:cNvPr id="89" name="cap-22"/>
          <p:cNvSpPr txBox="1"/>
          <p:nvPr/>
        </p:nvSpPr>
        <p:spPr>
          <a:xfrm rot="20958000">
            <a:off x="15032355" y="13732192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始</a:t>
            </a:r>
          </a:p>
        </p:txBody>
      </p:sp>
      <p:sp>
        <p:nvSpPr>
          <p:cNvPr id="90" name="cap-23"/>
          <p:cNvSpPr txBox="1"/>
          <p:nvPr/>
        </p:nvSpPr>
        <p:spPr>
          <a:xfrm rot="20863800">
            <a:off x="15562898" y="13624560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正</a:t>
            </a:r>
          </a:p>
        </p:txBody>
      </p:sp>
      <p:sp>
        <p:nvSpPr>
          <p:cNvPr id="91" name="cap-24"/>
          <p:cNvSpPr txBox="1"/>
          <p:nvPr/>
        </p:nvSpPr>
        <p:spPr>
          <a:xfrm rot="20770200">
            <a:off x="16093440" y="13500735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式</a:t>
            </a:r>
          </a:p>
        </p:txBody>
      </p:sp>
      <p:sp>
        <p:nvSpPr>
          <p:cNvPr id="92" name="cap-25"/>
          <p:cNvSpPr txBox="1"/>
          <p:nvPr/>
        </p:nvSpPr>
        <p:spPr>
          <a:xfrm rot="20677800">
            <a:off x="16624935" y="13362622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使</a:t>
            </a:r>
          </a:p>
        </p:txBody>
      </p:sp>
      <p:sp>
        <p:nvSpPr>
          <p:cNvPr id="93" name="cap-26"/>
          <p:cNvSpPr txBox="1"/>
          <p:nvPr/>
        </p:nvSpPr>
        <p:spPr>
          <a:xfrm rot="20587200">
            <a:off x="17155478" y="13209270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用</a:t>
            </a:r>
          </a:p>
        </p:txBody>
      </p:sp>
      <p:sp>
        <p:nvSpPr>
          <p:cNvPr id="94" name="cap-27"/>
          <p:cNvSpPr txBox="1"/>
          <p:nvPr/>
        </p:nvSpPr>
        <p:spPr>
          <a:xfrm rot="20497800">
            <a:off x="17686972" y="13040678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系</a:t>
            </a:r>
          </a:p>
        </p:txBody>
      </p:sp>
      <p:sp>
        <p:nvSpPr>
          <p:cNvPr id="95" name="cap-28"/>
          <p:cNvSpPr txBox="1"/>
          <p:nvPr/>
        </p:nvSpPr>
        <p:spPr>
          <a:xfrm rot="20409600">
            <a:off x="18217515" y="12856845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统</a:t>
            </a:r>
          </a:p>
        </p:txBody>
      </p:sp>
      <p:sp>
        <p:nvSpPr>
          <p:cNvPr id="96" name="cap-29"/>
          <p:cNvSpPr txBox="1"/>
          <p:nvPr/>
        </p:nvSpPr>
        <p:spPr>
          <a:xfrm rot="20323800">
            <a:off x="18748058" y="12657772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进</a:t>
            </a:r>
          </a:p>
        </p:txBody>
      </p:sp>
      <p:sp>
        <p:nvSpPr>
          <p:cNvPr id="97" name="cap-30"/>
          <p:cNvSpPr txBox="1"/>
          <p:nvPr/>
        </p:nvSpPr>
        <p:spPr>
          <a:xfrm rot="20238600">
            <a:off x="19279552" y="12443460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行</a:t>
            </a:r>
          </a:p>
        </p:txBody>
      </p:sp>
      <p:sp>
        <p:nvSpPr>
          <p:cNvPr id="98" name="cap-31"/>
          <p:cNvSpPr txBox="1"/>
          <p:nvPr/>
        </p:nvSpPr>
        <p:spPr>
          <a:xfrm rot="20155800">
            <a:off x="19810095" y="12213908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业</a:t>
            </a:r>
          </a:p>
        </p:txBody>
      </p:sp>
      <p:sp>
        <p:nvSpPr>
          <p:cNvPr id="99" name="cap-32"/>
          <p:cNvSpPr txBox="1"/>
          <p:nvPr/>
        </p:nvSpPr>
        <p:spPr>
          <a:xfrm rot="20074800">
            <a:off x="20340638" y="11969115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务</a:t>
            </a:r>
          </a:p>
        </p:txBody>
      </p:sp>
      <p:sp>
        <p:nvSpPr>
          <p:cNvPr id="100" name="cap-33"/>
          <p:cNvSpPr txBox="1"/>
          <p:nvPr/>
        </p:nvSpPr>
        <p:spPr>
          <a:xfrm rot="19995600">
            <a:off x="20872132" y="11709082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操</a:t>
            </a:r>
          </a:p>
        </p:txBody>
      </p:sp>
      <p:sp>
        <p:nvSpPr>
          <p:cNvPr id="101" name="cap-34"/>
          <p:cNvSpPr txBox="1"/>
          <p:nvPr/>
        </p:nvSpPr>
        <p:spPr>
          <a:xfrm rot="19917600">
            <a:off x="21402675" y="11433810"/>
            <a:ext cx="5715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0" i="0">
                <a:solidFill>
                  <a:srgbClr val="4278F4"/>
                </a:solidFill>
                <a:latin typeface="Microsoft YaHei"/>
                <a:ea typeface="Microsoft YaHei"/>
                <a:cs typeface="Microsoft YaHei"/>
              </a:rPr>
              <a:t>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