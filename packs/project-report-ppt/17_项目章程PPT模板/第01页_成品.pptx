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scene" descr="_photo_photo_sce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47950"/>
            <a:ext cx="14897100" cy="13677900"/>
          </a:xfrm>
          <a:prstGeom prst="rect">
            <a:avLst/>
          </a:prstGeom>
          <a:effectLst/>
        </p:spPr>
      </p:pic>
      <p:sp>
        <p:nvSpPr>
          <p:cNvPr id="4" name="white-mask"/>
          <p:cNvSpPr/>
          <p:nvPr/>
        </p:nvSpPr>
        <p:spPr>
          <a:xfrm>
            <a:off x="2057400" y="2647950"/>
            <a:ext cx="14039850" cy="14039850"/>
          </a:xfrm>
          <a:custGeom>
            <a:avLst/>
            <a:gdLst/>
            <a:ahLst/>
            <a:cxnLst/>
            <a:rect l="l" t="t" r="r" b="b"/>
            <a:pathLst>
              <a:path w="14039850" h="14039850">
                <a:moveTo>
                  <a:pt x="0" y="0"/>
                </a:moveTo>
                <a:lnTo>
                  <a:pt x="14039850" y="0"/>
                </a:lnTo>
                <a:lnTo>
                  <a:pt x="14039850" y="1403985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ue-band"/>
          <p:cNvSpPr/>
          <p:nvPr/>
        </p:nvSpPr>
        <p:spPr>
          <a:xfrm>
            <a:off x="914400" y="1524000"/>
            <a:ext cx="13354050" cy="13354050"/>
          </a:xfrm>
          <a:custGeom>
            <a:avLst/>
            <a:gdLst/>
            <a:ahLst/>
            <a:cxnLst/>
            <a:rect l="l" t="t" r="r" b="b"/>
            <a:pathLst>
              <a:path w="13354050" h="13354050">
                <a:moveTo>
                  <a:pt x="0" y="0"/>
                </a:moveTo>
                <a:lnTo>
                  <a:pt x="0" y="800100"/>
                </a:lnTo>
                <a:lnTo>
                  <a:pt x="13354050" y="13354050"/>
                </a:lnTo>
                <a:close/>
              </a:path>
            </a:pathLst>
          </a:cu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ue-band-side"/>
          <p:cNvSpPr/>
          <p:nvPr/>
        </p:nvSpPr>
        <p:spPr>
          <a:xfrm>
            <a:off x="868871" y="2343150"/>
            <a:ext cx="9519094" cy="8896350"/>
          </a:xfrm>
          <a:custGeom>
            <a:avLst/>
            <a:gdLst/>
            <a:ahLst/>
            <a:cxnLst/>
            <a:rect l="l" t="t" r="r" b="b"/>
            <a:pathLst>
              <a:path w="9519094" h="8896350">
                <a:moveTo>
                  <a:pt x="45529" y="0"/>
                </a:moveTo>
                <a:lnTo>
                  <a:pt x="0" y="0"/>
                </a:lnTo>
                <a:lnTo>
                  <a:pt x="9519094" y="8896350"/>
                </a:lnTo>
                <a:lnTo>
                  <a:pt x="8867584" y="8896350"/>
                </a:lnTo>
                <a:close/>
              </a:path>
            </a:pathLst>
          </a:custGeom>
          <a:solidFill>
            <a:srgbClr val="315FBC"/>
          </a:solidFill>
          <a:ln w="9525">
            <a:solidFill>
              <a:srgbClr val="315F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ue-wedge"/>
          <p:cNvSpPr/>
          <p:nvPr/>
        </p:nvSpPr>
        <p:spPr>
          <a:xfrm>
            <a:off x="9725025" y="10896600"/>
            <a:ext cx="15344775" cy="5372100"/>
          </a:xfrm>
          <a:custGeom>
            <a:avLst/>
            <a:gdLst/>
            <a:ahLst/>
            <a:cxnLst/>
            <a:rect l="l" t="t" r="r" b="b"/>
            <a:pathLst>
              <a:path w="15344775" h="5372100">
                <a:moveTo>
                  <a:pt x="0" y="0"/>
                </a:moveTo>
                <a:lnTo>
                  <a:pt x="15344775" y="3790950"/>
                </a:lnTo>
                <a:lnTo>
                  <a:pt x="13630275" y="5372100"/>
                </a:lnTo>
                <a:lnTo>
                  <a:pt x="5657850" y="5372100"/>
                </a:lnTo>
                <a:close/>
              </a:path>
            </a:pathLst>
          </a:custGeom>
          <a:gradFill rotWithShape="1">
            <a:gsLst>
              <a:gs pos="0">
                <a:srgbClr val="467DFE"/>
              </a:gs>
              <a:gs pos="100000">
                <a:srgbClr val="3D6ED8"/>
              </a:gs>
            </a:gsLst>
            <a:lin scaled="0" ang="0"/>
          </a:gra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edge-fold-right"/>
          <p:cNvSpPr/>
          <p:nvPr/>
        </p:nvSpPr>
        <p:spPr>
          <a:xfrm>
            <a:off x="19526250" y="13335000"/>
            <a:ext cx="5543550" cy="2933700"/>
          </a:xfrm>
          <a:custGeom>
            <a:avLst/>
            <a:gdLst/>
            <a:ahLst/>
            <a:cxnLst/>
            <a:rect l="l" t="t" r="r" b="b"/>
            <a:pathLst>
              <a:path w="5543550" h="2933700">
                <a:moveTo>
                  <a:pt x="0" y="0"/>
                </a:moveTo>
                <a:lnTo>
                  <a:pt x="5543550" y="1352550"/>
                </a:lnTo>
                <a:lnTo>
                  <a:pt x="3829050" y="2933700"/>
                </a:lnTo>
                <a:lnTo>
                  <a:pt x="952500" y="2933700"/>
                </a:lnTo>
                <a:close/>
              </a:path>
            </a:pathLst>
          </a:custGeom>
          <a:gradFill rotWithShape="1">
            <a:gsLst>
              <a:gs pos="0">
                <a:srgbClr val="467DFE"/>
              </a:gs>
              <a:gs pos="100000">
                <a:srgbClr val="3559B5"/>
              </a:gs>
            </a:gsLst>
            <a:lin scaled="0" ang="20160000"/>
          </a:gradFill>
          <a:ln w="9525">
            <a:solidFill>
              <a:srgbClr val="3A68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edge-fold-left"/>
          <p:cNvSpPr/>
          <p:nvPr/>
        </p:nvSpPr>
        <p:spPr>
          <a:xfrm>
            <a:off x="13639800" y="13239750"/>
            <a:ext cx="4314825" cy="3028950"/>
          </a:xfrm>
          <a:custGeom>
            <a:avLst/>
            <a:gdLst/>
            <a:ahLst/>
            <a:cxnLst/>
            <a:rect l="l" t="t" r="r" b="b"/>
            <a:pathLst>
              <a:path w="4314825" h="3028950">
                <a:moveTo>
                  <a:pt x="0" y="0"/>
                </a:moveTo>
                <a:lnTo>
                  <a:pt x="4314825" y="2838450"/>
                </a:lnTo>
                <a:lnTo>
                  <a:pt x="3314700" y="3028950"/>
                </a:lnTo>
                <a:lnTo>
                  <a:pt x="1600200" y="3028950"/>
                </a:lnTo>
                <a:lnTo>
                  <a:pt x="0" y="1095375"/>
                </a:lnTo>
                <a:close/>
              </a:path>
            </a:pathLst>
          </a:custGeom>
          <a:solidFill>
            <a:srgbClr val="3F70E0"/>
          </a:solidFill>
          <a:ln w="9525">
            <a:solidFill>
              <a:srgbClr val="3F7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edge-face-front"/>
          <p:cNvSpPr/>
          <p:nvPr/>
        </p:nvSpPr>
        <p:spPr>
          <a:xfrm>
            <a:off x="20193000" y="14687550"/>
            <a:ext cx="4876800" cy="1581150"/>
          </a:xfrm>
          <a:custGeom>
            <a:avLst/>
            <a:gdLst/>
            <a:ahLst/>
            <a:cxnLst/>
            <a:rect l="l" t="t" r="r" b="b"/>
            <a:pathLst>
              <a:path w="4876800" h="1581150">
                <a:moveTo>
                  <a:pt x="1524000" y="57150"/>
                </a:moveTo>
                <a:lnTo>
                  <a:pt x="4876800" y="0"/>
                </a:lnTo>
                <a:lnTo>
                  <a:pt x="3162300" y="1581150"/>
                </a:lnTo>
                <a:lnTo>
                  <a:pt x="0" y="1581150"/>
                </a:lnTo>
                <a:close/>
              </a:path>
            </a:pathLst>
          </a:custGeom>
          <a:solidFill>
            <a:srgbClr val="467AEF"/>
          </a:solidFill>
          <a:ln w="9525">
            <a:solidFill>
              <a:srgbClr val="467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i-light"/>
          <p:cNvSpPr/>
          <p:nvPr/>
        </p:nvSpPr>
        <p:spPr>
          <a:xfrm>
            <a:off x="26469975" y="4114800"/>
            <a:ext cx="3124200" cy="2038350"/>
          </a:xfrm>
          <a:custGeom>
            <a:avLst/>
            <a:gdLst/>
            <a:ahLst/>
            <a:cxnLst/>
            <a:rect l="l" t="t" r="r" b="b"/>
            <a:pathLst>
              <a:path w="3124200" h="2038350">
                <a:moveTo>
                  <a:pt x="0" y="0"/>
                </a:moveTo>
                <a:lnTo>
                  <a:pt x="3124200" y="857250"/>
                </a:lnTo>
                <a:lnTo>
                  <a:pt x="3124200" y="2038350"/>
                </a:lnTo>
                <a:close/>
              </a:path>
            </a:pathLst>
          </a:custGeom>
          <a:gradFill rotWithShape="1">
            <a:gsLst>
              <a:gs pos="0">
                <a:srgbClr val="4A7CFB"/>
              </a:gs>
              <a:gs pos="100000">
                <a:srgbClr val="4470E8"/>
              </a:gs>
            </a:gsLst>
            <a:lin scaled="0" ang="16200000"/>
          </a:gradFill>
          <a:ln w="9525">
            <a:solidFill>
              <a:srgbClr val="4477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i-dark"/>
          <p:cNvSpPr/>
          <p:nvPr/>
        </p:nvSpPr>
        <p:spPr>
          <a:xfrm>
            <a:off x="26469975" y="4114800"/>
            <a:ext cx="3124200" cy="3505200"/>
          </a:xfrm>
          <a:custGeom>
            <a:avLst/>
            <a:gdLst/>
            <a:ahLst/>
            <a:cxnLst/>
            <a:rect l="l" t="t" r="r" b="b"/>
            <a:pathLst>
              <a:path w="3124200" h="3505200">
                <a:moveTo>
                  <a:pt x="0" y="0"/>
                </a:moveTo>
                <a:lnTo>
                  <a:pt x="3124200" y="2038350"/>
                </a:lnTo>
                <a:lnTo>
                  <a:pt x="3124200" y="3505200"/>
                </a:lnTo>
                <a:close/>
              </a:path>
            </a:pathLst>
          </a:custGeom>
          <a:gradFill rotWithShape="1">
            <a:gsLst>
              <a:gs pos="0">
                <a:srgbClr val="4470E8"/>
              </a:gs>
              <a:gs pos="100000">
                <a:srgbClr val="3457B8"/>
              </a:gs>
            </a:gsLst>
            <a:lin scaled="0" ang="16200000"/>
          </a:gradFill>
          <a:ln w="9525">
            <a:solidFill>
              <a:srgbClr val="386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hairline-1"/>
          <p:cNvCxnSpPr/>
          <p:nvPr/>
        </p:nvCxnSpPr>
        <p:spPr>
          <a:xfrm>
            <a:off x="5715000" y="0"/>
            <a:ext cx="7143750" cy="8953500"/>
          </a:xfrm>
          <a:prstGeom prst="line">
            <a:avLst/>
          </a:prstGeom>
          <a:ln w="19050">
            <a:solidFill>
              <a:srgbClr val="DDE4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hairline-2"/>
          <p:cNvCxnSpPr/>
          <p:nvPr/>
        </p:nvCxnSpPr>
        <p:spPr>
          <a:xfrm>
            <a:off x="23145750" y="0"/>
            <a:ext cx="4333875" cy="4362450"/>
          </a:xfrm>
          <a:prstGeom prst="line">
            <a:avLst/>
          </a:prstGeom>
          <a:ln w="19050">
            <a:solidFill>
              <a:srgbClr val="DDE4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t-00"/>
          <p:cNvSpPr/>
          <p:nvPr/>
        </p:nvSpPr>
        <p:spPr>
          <a:xfrm>
            <a:off x="6665595" y="306514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01"/>
          <p:cNvSpPr/>
          <p:nvPr/>
        </p:nvSpPr>
        <p:spPr>
          <a:xfrm>
            <a:off x="6665595" y="3265170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-02"/>
          <p:cNvSpPr/>
          <p:nvPr/>
        </p:nvSpPr>
        <p:spPr>
          <a:xfrm>
            <a:off x="6665595" y="346519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-03"/>
          <p:cNvSpPr/>
          <p:nvPr/>
        </p:nvSpPr>
        <p:spPr>
          <a:xfrm>
            <a:off x="6665595" y="3665220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-04"/>
          <p:cNvSpPr/>
          <p:nvPr/>
        </p:nvSpPr>
        <p:spPr>
          <a:xfrm>
            <a:off x="6665595" y="386524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-10"/>
          <p:cNvSpPr/>
          <p:nvPr/>
        </p:nvSpPr>
        <p:spPr>
          <a:xfrm>
            <a:off x="6879908" y="306514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t-11"/>
          <p:cNvSpPr/>
          <p:nvPr/>
        </p:nvSpPr>
        <p:spPr>
          <a:xfrm>
            <a:off x="6879908" y="3265170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t-12"/>
          <p:cNvSpPr/>
          <p:nvPr/>
        </p:nvSpPr>
        <p:spPr>
          <a:xfrm>
            <a:off x="6879908" y="346519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t-13"/>
          <p:cNvSpPr/>
          <p:nvPr/>
        </p:nvSpPr>
        <p:spPr>
          <a:xfrm>
            <a:off x="6879908" y="3665220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-14"/>
          <p:cNvSpPr/>
          <p:nvPr/>
        </p:nvSpPr>
        <p:spPr>
          <a:xfrm>
            <a:off x="6879908" y="386524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-20"/>
          <p:cNvSpPr/>
          <p:nvPr/>
        </p:nvSpPr>
        <p:spPr>
          <a:xfrm>
            <a:off x="7094220" y="306514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t-21"/>
          <p:cNvSpPr/>
          <p:nvPr/>
        </p:nvSpPr>
        <p:spPr>
          <a:xfrm>
            <a:off x="7094220" y="3265170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-22"/>
          <p:cNvSpPr/>
          <p:nvPr/>
        </p:nvSpPr>
        <p:spPr>
          <a:xfrm>
            <a:off x="7094220" y="346519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-23"/>
          <p:cNvSpPr/>
          <p:nvPr/>
        </p:nvSpPr>
        <p:spPr>
          <a:xfrm>
            <a:off x="7094220" y="3665220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t-24"/>
          <p:cNvSpPr/>
          <p:nvPr/>
        </p:nvSpPr>
        <p:spPr>
          <a:xfrm>
            <a:off x="7094220" y="3865245"/>
            <a:ext cx="80010" cy="80010"/>
          </a:xfrm>
          <a:prstGeom prst="ellipse">
            <a:avLst/>
          </a:prstGeom>
          <a:solidFill>
            <a:srgbClr val="467DFE"/>
          </a:solidFill>
          <a:ln w="9525">
            <a:solidFill>
              <a:srgbClr val="467D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am-0"/>
          <p:cNvSpPr/>
          <p:nvPr/>
        </p:nvSpPr>
        <p:spPr>
          <a:xfrm>
            <a:off x="27774900" y="1733550"/>
            <a:ext cx="742950" cy="123825"/>
          </a:xfrm>
          <a:prstGeom prst="roundRect">
            <a:avLst>
              <a:gd name="adj" fmla="val 46153"/>
            </a:avLst>
          </a:prstGeom>
          <a:solidFill>
            <a:srgbClr val="4ED7C5"/>
          </a:solidFill>
          <a:ln w="9525">
            <a:solidFill>
              <a:srgbClr val="4E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am-1"/>
          <p:cNvSpPr/>
          <p:nvPr/>
        </p:nvSpPr>
        <p:spPr>
          <a:xfrm>
            <a:off x="27774900" y="1943100"/>
            <a:ext cx="742950" cy="123825"/>
          </a:xfrm>
          <a:prstGeom prst="roundRect">
            <a:avLst>
              <a:gd name="adj" fmla="val 46153"/>
            </a:avLst>
          </a:prstGeom>
          <a:solidFill>
            <a:srgbClr val="4ED7C5"/>
          </a:solidFill>
          <a:ln w="9525">
            <a:solidFill>
              <a:srgbClr val="4E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am-2"/>
          <p:cNvSpPr/>
          <p:nvPr/>
        </p:nvSpPr>
        <p:spPr>
          <a:xfrm>
            <a:off x="27774900" y="2133600"/>
            <a:ext cx="742950" cy="123825"/>
          </a:xfrm>
          <a:prstGeom prst="roundRect">
            <a:avLst>
              <a:gd name="adj" fmla="val 46153"/>
            </a:avLst>
          </a:prstGeom>
          <a:solidFill>
            <a:srgbClr val="4ED7C5"/>
          </a:solidFill>
          <a:ln w="9525">
            <a:solidFill>
              <a:srgbClr val="4E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hev-l"/>
          <p:cNvCxnSpPr/>
          <p:nvPr/>
        </p:nvCxnSpPr>
        <p:spPr>
          <a:xfrm>
            <a:off x="28536900" y="14973300"/>
            <a:ext cx="247650" cy="266700"/>
          </a:xfrm>
          <a:prstGeom prst="line">
            <a:avLst/>
          </a:prstGeom>
          <a:ln w="114300">
            <a:solidFill>
              <a:srgbClr val="467D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hev-r"/>
          <p:cNvCxnSpPr/>
          <p:nvPr/>
        </p:nvCxnSpPr>
        <p:spPr>
          <a:xfrm flipH="1">
            <a:off x="28784550" y="14973300"/>
            <a:ext cx="247650" cy="266700"/>
          </a:xfrm>
          <a:prstGeom prst="line">
            <a:avLst/>
          </a:prstGeom>
          <a:ln w="114300">
            <a:solidFill>
              <a:srgbClr val="467D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o"/>
          <p:cNvSpPr txBox="1"/>
          <p:nvPr/>
        </p:nvSpPr>
        <p:spPr>
          <a:xfrm>
            <a:off x="3343275" y="1676400"/>
            <a:ext cx="23812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467DFE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36" name="nav-home"/>
          <p:cNvSpPr txBox="1"/>
          <p:nvPr/>
        </p:nvSpPr>
        <p:spPr>
          <a:xfrm>
            <a:off x="15173325" y="1714500"/>
            <a:ext cx="9906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467DFE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37" name="nav-about"/>
          <p:cNvSpPr txBox="1"/>
          <p:nvPr/>
        </p:nvSpPr>
        <p:spPr>
          <a:xfrm>
            <a:off x="17164050" y="1714500"/>
            <a:ext cx="18669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467DFE"/>
                </a:solidFill>
                <a:latin typeface="Microsoft YaHei"/>
                <a:ea typeface="Microsoft YaHei"/>
                <a:cs typeface="Microsoft YaHei"/>
              </a:rPr>
              <a:t>关于我们</a:t>
            </a:r>
          </a:p>
        </p:txBody>
      </p:sp>
      <p:sp>
        <p:nvSpPr>
          <p:cNvPr id="38" name="nav-search"/>
          <p:cNvSpPr txBox="1"/>
          <p:nvPr/>
        </p:nvSpPr>
        <p:spPr>
          <a:xfrm>
            <a:off x="20526375" y="1714500"/>
            <a:ext cx="10096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467DFE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39" name="title"/>
          <p:cNvSpPr txBox="1"/>
          <p:nvPr/>
        </p:nvSpPr>
        <p:spPr>
          <a:xfrm>
            <a:off x="14144625" y="6362700"/>
            <a:ext cx="14383512" cy="148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900" b="1" i="0">
                <a:solidFill>
                  <a:srgbClr val="467DFE"/>
                </a:solidFill>
                <a:latin typeface="Microsoft YaHei"/>
                <a:ea typeface="Microsoft YaHei"/>
                <a:cs typeface="Microsoft YaHei"/>
              </a:rPr>
              <a:t>从痛点到破局的增长引擎</a:t>
            </a:r>
          </a:p>
        </p:txBody>
      </p:sp>
      <p:sp>
        <p:nvSpPr>
          <p:cNvPr id="40" name="subtitle"/>
          <p:cNvSpPr txBox="1"/>
          <p:nvPr/>
        </p:nvSpPr>
        <p:spPr>
          <a:xfrm>
            <a:off x="14154150" y="8296275"/>
            <a:ext cx="14281785" cy="933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250" b="0" i="0">
                <a:solidFill>
                  <a:srgbClr val="467DFE"/>
                </a:solidFill>
                <a:latin typeface="Microsoft YaHei"/>
                <a:ea typeface="Microsoft YaHei"/>
                <a:cs typeface="Microsoft YaHei"/>
              </a:rPr>
              <a:t>数据孤岛、增长瓶颈与风险预警下的项目必要性</a:t>
            </a:r>
          </a:p>
        </p:txBody>
      </p:sp>
      <p:sp>
        <p:nvSpPr>
          <p:cNvPr id="41" name="tag-pill"/>
          <p:cNvSpPr/>
          <p:nvPr/>
        </p:nvSpPr>
        <p:spPr>
          <a:xfrm>
            <a:off x="18268950" y="9782175"/>
            <a:ext cx="5886450" cy="857250"/>
          </a:xfrm>
          <a:prstGeom prst="roundRect">
            <a:avLst>
              <a:gd name="adj" fmla="val 50000"/>
            </a:avLst>
          </a:prstGeom>
          <a:solidFill>
            <a:srgbClr val="4ED7C5"/>
          </a:solidFill>
          <a:ln w="9525">
            <a:solidFill>
              <a:srgbClr val="4E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g-text"/>
          <p:cNvSpPr txBox="1"/>
          <p:nvPr/>
        </p:nvSpPr>
        <p:spPr>
          <a:xfrm>
            <a:off x="18459450" y="9810750"/>
            <a:ext cx="550545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7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汇报人：XXX   时间：202X.XX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