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5085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5085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banner-photo" descr="_photo_banner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923925"/>
            <a:ext cx="28708350" cy="5991225"/>
          </a:xfrm>
          <a:prstGeom prst="rect">
            <a:avLst/>
          </a:prstGeom>
          <a:effectLst/>
        </p:spPr>
      </p:pic>
      <p:sp>
        <p:nvSpPr>
          <p:cNvPr id="5" name="title-cn"/>
          <p:cNvSpPr txBox="1"/>
          <p:nvPr/>
        </p:nvSpPr>
        <p:spPr>
          <a:xfrm>
            <a:off x="1895475" y="2171700"/>
            <a:ext cx="3150108" cy="27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9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6" name="rule-1"/>
          <p:cNvSpPr/>
          <p:nvPr/>
        </p:nvSpPr>
        <p:spPr>
          <a:xfrm>
            <a:off x="2028825" y="5295900"/>
            <a:ext cx="1819275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ule-2"/>
          <p:cNvSpPr/>
          <p:nvPr/>
        </p:nvSpPr>
        <p:spPr>
          <a:xfrm>
            <a:off x="2028825" y="5476875"/>
            <a:ext cx="876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ule-3"/>
          <p:cNvSpPr/>
          <p:nvPr/>
        </p:nvSpPr>
        <p:spPr>
          <a:xfrm>
            <a:off x="2028825" y="5657850"/>
            <a:ext cx="11811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-00"/>
          <p:cNvSpPr/>
          <p:nvPr/>
        </p:nvSpPr>
        <p:spPr>
          <a:xfrm>
            <a:off x="27636788" y="18240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-01"/>
          <p:cNvSpPr/>
          <p:nvPr/>
        </p:nvSpPr>
        <p:spPr>
          <a:xfrm>
            <a:off x="27849195" y="18240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-02"/>
          <p:cNvSpPr/>
          <p:nvPr/>
        </p:nvSpPr>
        <p:spPr>
          <a:xfrm>
            <a:off x="28061602" y="18240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-03"/>
          <p:cNvSpPr/>
          <p:nvPr/>
        </p:nvSpPr>
        <p:spPr>
          <a:xfrm>
            <a:off x="28274010" y="18240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-04"/>
          <p:cNvSpPr/>
          <p:nvPr/>
        </p:nvSpPr>
        <p:spPr>
          <a:xfrm>
            <a:off x="28486418" y="18240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-10"/>
          <p:cNvSpPr/>
          <p:nvPr/>
        </p:nvSpPr>
        <p:spPr>
          <a:xfrm>
            <a:off x="27636788" y="20240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t-11"/>
          <p:cNvSpPr/>
          <p:nvPr/>
        </p:nvSpPr>
        <p:spPr>
          <a:xfrm>
            <a:off x="27849195" y="20240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12"/>
          <p:cNvSpPr/>
          <p:nvPr/>
        </p:nvSpPr>
        <p:spPr>
          <a:xfrm>
            <a:off x="28061602" y="20240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-13"/>
          <p:cNvSpPr/>
          <p:nvPr/>
        </p:nvSpPr>
        <p:spPr>
          <a:xfrm>
            <a:off x="28274010" y="20240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-14"/>
          <p:cNvSpPr/>
          <p:nvPr/>
        </p:nvSpPr>
        <p:spPr>
          <a:xfrm>
            <a:off x="28486418" y="20240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-20"/>
          <p:cNvSpPr/>
          <p:nvPr/>
        </p:nvSpPr>
        <p:spPr>
          <a:xfrm>
            <a:off x="27636788" y="222408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-21"/>
          <p:cNvSpPr/>
          <p:nvPr/>
        </p:nvSpPr>
        <p:spPr>
          <a:xfrm>
            <a:off x="27849195" y="222408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t-22"/>
          <p:cNvSpPr/>
          <p:nvPr/>
        </p:nvSpPr>
        <p:spPr>
          <a:xfrm>
            <a:off x="28061602" y="222408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t-23"/>
          <p:cNvSpPr/>
          <p:nvPr/>
        </p:nvSpPr>
        <p:spPr>
          <a:xfrm>
            <a:off x="28274010" y="222408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t-24"/>
          <p:cNvSpPr/>
          <p:nvPr/>
        </p:nvSpPr>
        <p:spPr>
          <a:xfrm>
            <a:off x="28486418" y="222408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t-30"/>
          <p:cNvSpPr/>
          <p:nvPr/>
        </p:nvSpPr>
        <p:spPr>
          <a:xfrm>
            <a:off x="27636788" y="242411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t-31"/>
          <p:cNvSpPr/>
          <p:nvPr/>
        </p:nvSpPr>
        <p:spPr>
          <a:xfrm>
            <a:off x="27849195" y="242411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t-32"/>
          <p:cNvSpPr/>
          <p:nvPr/>
        </p:nvSpPr>
        <p:spPr>
          <a:xfrm>
            <a:off x="28061602" y="242411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t-33"/>
          <p:cNvSpPr/>
          <p:nvPr/>
        </p:nvSpPr>
        <p:spPr>
          <a:xfrm>
            <a:off x="28274010" y="242411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t-34"/>
          <p:cNvSpPr/>
          <p:nvPr/>
        </p:nvSpPr>
        <p:spPr>
          <a:xfrm>
            <a:off x="28486418" y="242411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t-40"/>
          <p:cNvSpPr/>
          <p:nvPr/>
        </p:nvSpPr>
        <p:spPr>
          <a:xfrm>
            <a:off x="27636788" y="26241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ot-41"/>
          <p:cNvSpPr/>
          <p:nvPr/>
        </p:nvSpPr>
        <p:spPr>
          <a:xfrm>
            <a:off x="27849195" y="26241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t-42"/>
          <p:cNvSpPr/>
          <p:nvPr/>
        </p:nvSpPr>
        <p:spPr>
          <a:xfrm>
            <a:off x="28061602" y="26241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t-43"/>
          <p:cNvSpPr/>
          <p:nvPr/>
        </p:nvSpPr>
        <p:spPr>
          <a:xfrm>
            <a:off x="28274010" y="26241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t-44"/>
          <p:cNvSpPr/>
          <p:nvPr/>
        </p:nvSpPr>
        <p:spPr>
          <a:xfrm>
            <a:off x="28486418" y="2624138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t-50"/>
          <p:cNvSpPr/>
          <p:nvPr/>
        </p:nvSpPr>
        <p:spPr>
          <a:xfrm>
            <a:off x="27636788" y="28241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ot-51"/>
          <p:cNvSpPr/>
          <p:nvPr/>
        </p:nvSpPr>
        <p:spPr>
          <a:xfrm>
            <a:off x="27849195" y="28241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t-52"/>
          <p:cNvSpPr/>
          <p:nvPr/>
        </p:nvSpPr>
        <p:spPr>
          <a:xfrm>
            <a:off x="28061602" y="28241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t-53"/>
          <p:cNvSpPr/>
          <p:nvPr/>
        </p:nvSpPr>
        <p:spPr>
          <a:xfrm>
            <a:off x="28274010" y="28241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t-54"/>
          <p:cNvSpPr/>
          <p:nvPr/>
        </p:nvSpPr>
        <p:spPr>
          <a:xfrm>
            <a:off x="28486418" y="2824162"/>
            <a:ext cx="76200" cy="76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lane" descr="_photo_pla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14420850"/>
            <a:ext cx="5029200" cy="1885950"/>
          </a:xfrm>
          <a:prstGeom prst="rect">
            <a:avLst/>
          </a:prstGeom>
          <a:effectLst/>
        </p:spPr>
      </p:pic>
      <p:pic>
        <p:nvPicPr>
          <p:cNvPr id="40" name="corner-decor" descr="_photo_corner_dec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46300" y="7439025"/>
            <a:ext cx="2124075" cy="2305050"/>
          </a:xfrm>
          <a:prstGeom prst="rect">
            <a:avLst/>
          </a:prstGeom>
          <a:effectLst/>
        </p:spPr>
      </p:pic>
      <p:sp>
        <p:nvSpPr>
          <p:cNvPr id="41" name="cyan-rule"/>
          <p:cNvSpPr/>
          <p:nvPr/>
        </p:nvSpPr>
        <p:spPr>
          <a:xfrm>
            <a:off x="26298525" y="15449550"/>
            <a:ext cx="1438275" cy="95250"/>
          </a:xfrm>
          <a:prstGeom prst="rect">
            <a:avLst/>
          </a:prstGeom>
          <a:solidFill>
            <a:srgbClr val="53D6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74" name="col-01"/>
          <p:cNvGrpSpPr/>
          <p:nvPr/>
        </p:nvGrpSpPr>
        <p:grpSpPr>
          <a:xfrm>
            <a:off x="2447925" y="7867650"/>
            <a:ext cx="5381625" cy="5267325"/>
            <a:chOff x="2447925" y="7867650"/>
            <a:chExt cx="5381625" cy="5267325"/>
          </a:xfrm>
        </p:grpSpPr>
        <p:sp>
          <p:nvSpPr>
            <p:cNvPr id="42" name="ghost-01"/>
            <p:cNvSpPr txBox="1"/>
            <p:nvPr/>
          </p:nvSpPr>
          <p:spPr>
            <a:xfrm>
              <a:off x="4800600" y="8058150"/>
              <a:ext cx="2476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9875" b="0" i="0">
                  <a:solidFill>
                    <a:srgbClr val="E6EDFC"/>
                  </a:solidFill>
                  <a:latin typeface="Microsoft YaHei"/>
                  <a:ea typeface="Microsoft YaHei"/>
                  <a:cs typeface="Microsoft YaHei"/>
                </a:rPr>
                <a:t>1</a:t>
              </a:r>
            </a:p>
          </p:txBody>
        </p:sp>
        <p:sp>
          <p:nvSpPr>
            <p:cNvPr id="43" name="num-o-01"/>
            <p:cNvSpPr txBox="1"/>
            <p:nvPr/>
          </p:nvSpPr>
          <p:spPr>
            <a:xfrm>
              <a:off x="2447925" y="7867650"/>
              <a:ext cx="2857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75" b="0" i="0" spc="-135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44" name="bar-01"/>
            <p:cNvSpPr/>
            <p:nvPr/>
          </p:nvSpPr>
          <p:spPr>
            <a:xfrm>
              <a:off x="2514600" y="10915650"/>
              <a:ext cx="5314950" cy="990600"/>
            </a:xfrm>
            <a:prstGeom prst="rect">
              <a:avLst/>
            </a:prstGeom>
            <a:gradFill rotWithShape="1">
              <a:gsLst>
                <a:gs pos="0">
                  <a:srgbClr val="497CFB"/>
                </a:gs>
                <a:gs pos="100000">
                  <a:srgbClr val="3F72E8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bar-title-01"/>
            <p:cNvSpPr txBox="1"/>
            <p:nvPr/>
          </p:nvSpPr>
          <p:spPr>
            <a:xfrm>
              <a:off x="2895600" y="11010900"/>
              <a:ext cx="45148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背景与商业论证</a:t>
              </a:r>
            </a:p>
          </p:txBody>
        </p:sp>
        <p:sp>
          <p:nvSpPr>
            <p:cNvPr id="46" name="desc-01-1"/>
            <p:cNvSpPr txBox="1"/>
            <p:nvPr/>
          </p:nvSpPr>
          <p:spPr>
            <a:xfrm>
              <a:off x="2905125" y="12101512"/>
              <a:ext cx="47815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分析项目提出动因，阐述商</a:t>
              </a:r>
            </a:p>
          </p:txBody>
        </p:sp>
        <p:sp>
          <p:nvSpPr>
            <p:cNvPr id="47" name="desc-01-2"/>
            <p:cNvSpPr txBox="1"/>
            <p:nvPr/>
          </p:nvSpPr>
          <p:spPr>
            <a:xfrm>
              <a:off x="2905125" y="12601575"/>
              <a:ext cx="40195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业价值与预期收益目标</a:t>
              </a:r>
            </a:p>
          </p:txBody>
        </p:sp>
      </p:grpSp>
      <p:grpSp>
        <p:nvGrpSpPr>
          <p:cNvPr id="76" name="col-02"/>
          <p:cNvGrpSpPr/>
          <p:nvPr/>
        </p:nvGrpSpPr>
        <p:grpSpPr>
          <a:xfrm>
            <a:off x="9163050" y="7867650"/>
            <a:ext cx="5438775" cy="5767388"/>
            <a:chOff x="9163050" y="7867650"/>
            <a:chExt cx="5438775" cy="5767388"/>
          </a:xfrm>
        </p:grpSpPr>
        <p:sp>
          <p:nvSpPr>
            <p:cNvPr id="48" name="ghost-02"/>
            <p:cNvSpPr txBox="1"/>
            <p:nvPr/>
          </p:nvSpPr>
          <p:spPr>
            <a:xfrm>
              <a:off x="11515725" y="8058150"/>
              <a:ext cx="2476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9875" b="0" i="0">
                  <a:solidFill>
                    <a:srgbClr val="E6EDFC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  <p:sp>
          <p:nvSpPr>
            <p:cNvPr id="49" name="num-o-02"/>
            <p:cNvSpPr txBox="1"/>
            <p:nvPr/>
          </p:nvSpPr>
          <p:spPr>
            <a:xfrm>
              <a:off x="9163050" y="7867650"/>
              <a:ext cx="2857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75" b="0" i="0" spc="-135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50" name="bar-02"/>
            <p:cNvSpPr/>
            <p:nvPr/>
          </p:nvSpPr>
          <p:spPr>
            <a:xfrm>
              <a:off x="9229725" y="10915650"/>
              <a:ext cx="5314950" cy="990600"/>
            </a:xfrm>
            <a:prstGeom prst="rect">
              <a:avLst/>
            </a:prstGeom>
            <a:gradFill rotWithShape="1">
              <a:gsLst>
                <a:gs pos="0">
                  <a:srgbClr val="497CFB"/>
                </a:gs>
                <a:gs pos="100000">
                  <a:srgbClr val="3F72E8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bar-title-02"/>
            <p:cNvSpPr txBox="1"/>
            <p:nvPr/>
          </p:nvSpPr>
          <p:spPr>
            <a:xfrm>
              <a:off x="9791700" y="11010900"/>
              <a:ext cx="45148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目标与成功标准</a:t>
              </a:r>
            </a:p>
          </p:txBody>
        </p:sp>
        <p:sp>
          <p:nvSpPr>
            <p:cNvPr id="52" name="desc-02-1"/>
            <p:cNvSpPr txBox="1"/>
            <p:nvPr/>
          </p:nvSpPr>
          <p:spPr>
            <a:xfrm>
              <a:off x="9877425" y="12101512"/>
              <a:ext cx="45624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基于SMART原则设定总体</a:t>
              </a:r>
            </a:p>
          </p:txBody>
        </p:sp>
        <p:sp>
          <p:nvSpPr>
            <p:cNvPr id="53" name="desc-02-2"/>
            <p:cNvSpPr txBox="1"/>
            <p:nvPr/>
          </p:nvSpPr>
          <p:spPr>
            <a:xfrm>
              <a:off x="9877425" y="12601575"/>
              <a:ext cx="47244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目标，定义项目成功的衡量</a:t>
              </a:r>
            </a:p>
          </p:txBody>
        </p:sp>
        <p:sp>
          <p:nvSpPr>
            <p:cNvPr id="54" name="desc-02-3"/>
            <p:cNvSpPr txBox="1"/>
            <p:nvPr/>
          </p:nvSpPr>
          <p:spPr>
            <a:xfrm>
              <a:off x="9877425" y="13101638"/>
              <a:ext cx="9906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指标</a:t>
              </a:r>
            </a:p>
          </p:txBody>
        </p:sp>
      </p:grpSp>
      <p:grpSp>
        <p:nvGrpSpPr>
          <p:cNvPr id="75" name="col-03"/>
          <p:cNvGrpSpPr/>
          <p:nvPr/>
        </p:nvGrpSpPr>
        <p:grpSpPr>
          <a:xfrm>
            <a:off x="15887700" y="7867650"/>
            <a:ext cx="5400675" cy="5767388"/>
            <a:chOff x="15887700" y="7867650"/>
            <a:chExt cx="5400675" cy="5767388"/>
          </a:xfrm>
        </p:grpSpPr>
        <p:sp>
          <p:nvSpPr>
            <p:cNvPr id="55" name="ghost-03"/>
            <p:cNvSpPr txBox="1"/>
            <p:nvPr/>
          </p:nvSpPr>
          <p:spPr>
            <a:xfrm>
              <a:off x="18545175" y="8058150"/>
              <a:ext cx="2476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9875" b="0" i="0">
                  <a:solidFill>
                    <a:srgbClr val="E6EDFC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  <p:sp>
          <p:nvSpPr>
            <p:cNvPr id="56" name="num-o-03"/>
            <p:cNvSpPr txBox="1"/>
            <p:nvPr/>
          </p:nvSpPr>
          <p:spPr>
            <a:xfrm>
              <a:off x="15887700" y="7867650"/>
              <a:ext cx="2857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75" b="0" i="0" spc="-135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57" name="bar-03"/>
            <p:cNvSpPr/>
            <p:nvPr/>
          </p:nvSpPr>
          <p:spPr>
            <a:xfrm>
              <a:off x="15954375" y="10915650"/>
              <a:ext cx="5314950" cy="990600"/>
            </a:xfrm>
            <a:prstGeom prst="rect">
              <a:avLst/>
            </a:prstGeom>
            <a:gradFill rotWithShape="1">
              <a:gsLst>
                <a:gs pos="0">
                  <a:srgbClr val="497CFB"/>
                </a:gs>
                <a:gs pos="100000">
                  <a:srgbClr val="3F72E8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bar-title-03"/>
            <p:cNvSpPr txBox="1"/>
            <p:nvPr/>
          </p:nvSpPr>
          <p:spPr>
            <a:xfrm>
              <a:off x="16525875" y="11010900"/>
              <a:ext cx="45148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项目范围界定</a:t>
              </a:r>
            </a:p>
          </p:txBody>
        </p:sp>
        <p:sp>
          <p:nvSpPr>
            <p:cNvPr id="59" name="desc-03-1"/>
            <p:cNvSpPr txBox="1"/>
            <p:nvPr/>
          </p:nvSpPr>
          <p:spPr>
            <a:xfrm>
              <a:off x="16506825" y="12101512"/>
              <a:ext cx="47529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明确范围说明书、核心交付</a:t>
              </a:r>
            </a:p>
          </p:txBody>
        </p:sp>
        <p:sp>
          <p:nvSpPr>
            <p:cNvPr id="60" name="desc-03-2"/>
            <p:cNvSpPr txBox="1"/>
            <p:nvPr/>
          </p:nvSpPr>
          <p:spPr>
            <a:xfrm>
              <a:off x="16506825" y="12601575"/>
              <a:ext cx="47815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物，以及清晰的范围边界与</a:t>
              </a:r>
            </a:p>
          </p:txBody>
        </p:sp>
        <p:sp>
          <p:nvSpPr>
            <p:cNvPr id="61" name="desc-03-3"/>
            <p:cNvSpPr txBox="1"/>
            <p:nvPr/>
          </p:nvSpPr>
          <p:spPr>
            <a:xfrm>
              <a:off x="16506825" y="13101638"/>
              <a:ext cx="13716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排除项</a:t>
              </a:r>
            </a:p>
          </p:txBody>
        </p:sp>
      </p:grpSp>
      <p:grpSp>
        <p:nvGrpSpPr>
          <p:cNvPr id="77" name="col-04"/>
          <p:cNvGrpSpPr/>
          <p:nvPr/>
        </p:nvGrpSpPr>
        <p:grpSpPr>
          <a:xfrm>
            <a:off x="22602825" y="7867650"/>
            <a:ext cx="5419725" cy="5767388"/>
            <a:chOff x="22602825" y="7867650"/>
            <a:chExt cx="5419725" cy="5767388"/>
          </a:xfrm>
        </p:grpSpPr>
        <p:sp>
          <p:nvSpPr>
            <p:cNvPr id="62" name="ghost-04"/>
            <p:cNvSpPr txBox="1"/>
            <p:nvPr/>
          </p:nvSpPr>
          <p:spPr>
            <a:xfrm>
              <a:off x="24726900" y="8058150"/>
              <a:ext cx="2476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9875" b="0" i="0">
                  <a:solidFill>
                    <a:srgbClr val="E6EDFC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  <p:sp>
          <p:nvSpPr>
            <p:cNvPr id="63" name="num-o-04"/>
            <p:cNvSpPr txBox="1"/>
            <p:nvPr/>
          </p:nvSpPr>
          <p:spPr>
            <a:xfrm>
              <a:off x="22602825" y="7867650"/>
              <a:ext cx="2857500" cy="3810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18075" b="0" i="0" spc="-135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64" name="bar-04"/>
            <p:cNvSpPr/>
            <p:nvPr/>
          </p:nvSpPr>
          <p:spPr>
            <a:xfrm>
              <a:off x="22669500" y="10915650"/>
              <a:ext cx="5314950" cy="990600"/>
            </a:xfrm>
            <a:prstGeom prst="rect">
              <a:avLst/>
            </a:prstGeom>
            <a:gradFill rotWithShape="1">
              <a:gsLst>
                <a:gs pos="0">
                  <a:srgbClr val="497CFB"/>
                </a:gs>
                <a:gs pos="100000">
                  <a:srgbClr val="3F72E8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bar-title-04"/>
            <p:cNvSpPr txBox="1"/>
            <p:nvPr/>
          </p:nvSpPr>
          <p:spPr>
            <a:xfrm>
              <a:off x="23250525" y="11010900"/>
              <a:ext cx="451485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初步风险评估</a:t>
              </a:r>
            </a:p>
          </p:txBody>
        </p:sp>
        <p:sp>
          <p:nvSpPr>
            <p:cNvPr id="66" name="desc-04-1"/>
            <p:cNvSpPr txBox="1"/>
            <p:nvPr/>
          </p:nvSpPr>
          <p:spPr>
            <a:xfrm>
              <a:off x="23241000" y="12101512"/>
              <a:ext cx="44100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梳理已识别的关键风险清</a:t>
              </a:r>
            </a:p>
          </p:txBody>
        </p:sp>
        <p:sp>
          <p:nvSpPr>
            <p:cNvPr id="67" name="desc-04-2"/>
            <p:cNvSpPr txBox="1"/>
            <p:nvPr/>
          </p:nvSpPr>
          <p:spPr>
            <a:xfrm>
              <a:off x="23241000" y="12601575"/>
              <a:ext cx="47815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单，并制定初步的风险应对</a:t>
              </a:r>
            </a:p>
          </p:txBody>
        </p:sp>
        <p:sp>
          <p:nvSpPr>
            <p:cNvPr id="68" name="desc-04-3"/>
            <p:cNvSpPr txBox="1"/>
            <p:nvPr/>
          </p:nvSpPr>
          <p:spPr>
            <a:xfrm>
              <a:off x="23241000" y="13101638"/>
              <a:ext cx="9906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000" b="0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策略</a:t>
              </a:r>
            </a:p>
          </p:txBody>
        </p:sp>
      </p:grpSp>
      <p:sp>
        <p:nvSpPr>
          <p:cNvPr id="69" name="hl-1"/>
          <p:cNvSpPr/>
          <p:nvPr/>
        </p:nvSpPr>
        <p:spPr>
          <a:xfrm>
            <a:off x="8515350" y="8553450"/>
            <a:ext cx="1905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5000">
                <a:srgbClr val="5789D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l-2"/>
          <p:cNvSpPr/>
          <p:nvPr/>
        </p:nvSpPr>
        <p:spPr>
          <a:xfrm>
            <a:off x="15240000" y="8553450"/>
            <a:ext cx="1905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5000">
                <a:srgbClr val="5789D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l-3"/>
          <p:cNvSpPr/>
          <p:nvPr/>
        </p:nvSpPr>
        <p:spPr>
          <a:xfrm>
            <a:off x="21955125" y="8553450"/>
            <a:ext cx="19050" cy="51435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5000">
                <a:srgbClr val="5789D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ame"/>
          <p:cNvSpPr/>
          <p:nvPr/>
        </p:nvSpPr>
        <p:spPr>
          <a:xfrm>
            <a:off x="9525" y="9525"/>
            <a:ext cx="30489525" cy="17125950"/>
          </a:xfrm>
          <a:prstGeom prst="rect">
            <a:avLst/>
          </a:prstGeom>
          <a:noFill/>
          <a:ln w="14287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