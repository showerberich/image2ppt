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5085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itle-mark-a"/>
          <p:cNvSpPr/>
          <p:nvPr/>
        </p:nvSpPr>
        <p:spPr>
          <a:xfrm>
            <a:off x="1781175" y="1352550"/>
            <a:ext cx="1381125" cy="676275"/>
          </a:xfrm>
          <a:custGeom>
            <a:avLst/>
            <a:gdLst/>
            <a:ahLst/>
            <a:cxnLst/>
            <a:rect l="l" t="t" r="r" b="b"/>
            <a:pathLst>
              <a:path w="1381125" h="676275">
                <a:moveTo>
                  <a:pt x="0" y="676275"/>
                </a:moveTo>
                <a:lnTo>
                  <a:pt x="1381125" y="0"/>
                </a:lnTo>
                <a:lnTo>
                  <a:pt x="600075" y="666750"/>
                </a:lnTo>
                <a:close/>
              </a:path>
            </a:pathLst>
          </a:custGeom>
          <a:solidFill>
            <a:srgbClr val="3E6F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itle-mark-b"/>
          <p:cNvSpPr/>
          <p:nvPr/>
        </p:nvSpPr>
        <p:spPr>
          <a:xfrm>
            <a:off x="1781175" y="2019300"/>
            <a:ext cx="676275" cy="752475"/>
          </a:xfrm>
          <a:custGeom>
            <a:avLst/>
            <a:gdLst/>
            <a:ahLst/>
            <a:cxnLst/>
            <a:rect l="l" t="t" r="r" b="b"/>
            <a:pathLst>
              <a:path w="676275" h="752475">
                <a:moveTo>
                  <a:pt x="0" y="9525"/>
                </a:moveTo>
                <a:lnTo>
                  <a:pt x="600075" y="0"/>
                </a:lnTo>
                <a:lnTo>
                  <a:pt x="676275" y="752475"/>
                </a:lnTo>
                <a:close/>
              </a:path>
            </a:pathLst>
          </a:custGeom>
          <a:solidFill>
            <a:srgbClr val="6E9B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itle-mark-c"/>
          <p:cNvSpPr/>
          <p:nvPr/>
        </p:nvSpPr>
        <p:spPr>
          <a:xfrm>
            <a:off x="2381250" y="1352550"/>
            <a:ext cx="781050" cy="1419225"/>
          </a:xfrm>
          <a:custGeom>
            <a:avLst/>
            <a:gdLst/>
            <a:ahLst/>
            <a:cxnLst/>
            <a:rect l="l" t="t" r="r" b="b"/>
            <a:pathLst>
              <a:path w="781050" h="1419225">
                <a:moveTo>
                  <a:pt x="781050" y="0"/>
                </a:moveTo>
                <a:lnTo>
                  <a:pt x="0" y="666750"/>
                </a:lnTo>
                <a:lnTo>
                  <a:pt x="76200" y="1419225"/>
                </a:lnTo>
                <a:close/>
              </a:path>
            </a:pathLst>
          </a:custGeom>
          <a:solidFill>
            <a:srgbClr val="467D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itle-text"/>
          <p:cNvSpPr txBox="1"/>
          <p:nvPr/>
        </p:nvSpPr>
        <p:spPr>
          <a:xfrm>
            <a:off x="3314700" y="1457325"/>
            <a:ext cx="6096000" cy="1181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>项目核心摘要</a:t>
            </a:r>
          </a:p>
        </p:txBody>
      </p:sp>
      <p:grpSp>
        <p:nvGrpSpPr>
          <p:cNvPr id="52" name="card-tl"/>
          <p:cNvGrpSpPr/>
          <p:nvPr/>
        </p:nvGrpSpPr>
        <p:grpSpPr>
          <a:xfrm>
            <a:off x="3457575" y="4210050"/>
            <a:ext cx="9182100" cy="4324350"/>
            <a:chOff x="3457575" y="4210050"/>
            <a:chExt cx="9182100" cy="4324350"/>
          </a:xfrm>
        </p:grpSpPr>
        <p:sp>
          <p:nvSpPr>
            <p:cNvPr id="7" name="card-tl-shadow"/>
            <p:cNvSpPr/>
            <p:nvPr/>
          </p:nvSpPr>
          <p:spPr>
            <a:xfrm>
              <a:off x="3609975" y="8439150"/>
              <a:ext cx="8801100" cy="95250"/>
            </a:xfrm>
            <a:prstGeom prst="roundRect">
              <a:avLst>
                <a:gd name="adj" fmla="val 50000"/>
              </a:avLst>
            </a:prstGeom>
            <a:solidFill>
              <a:srgbClr val="F4F7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card-tl-panel"/>
            <p:cNvSpPr/>
            <p:nvPr/>
          </p:nvSpPr>
          <p:spPr>
            <a:xfrm>
              <a:off x="3457575" y="4210050"/>
              <a:ext cx="9182100" cy="4267200"/>
            </a:xfrm>
            <a:prstGeom prst="roundRect">
              <a:avLst>
                <a:gd name="adj" fmla="val 1116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card-tl-bar"/>
            <p:cNvSpPr/>
            <p:nvPr/>
          </p:nvSpPr>
          <p:spPr>
            <a:xfrm>
              <a:off x="3457575" y="4210050"/>
              <a:ext cx="9182100" cy="200025"/>
            </a:xfrm>
            <a:prstGeom prst="roundRect">
              <a:avLst>
                <a:gd name="adj" fmla="val 23809"/>
              </a:avLst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card-tl-bar-fill"/>
            <p:cNvSpPr/>
            <p:nvPr/>
          </p:nvSpPr>
          <p:spPr>
            <a:xfrm>
              <a:off x="3457575" y="4314825"/>
              <a:ext cx="9182100" cy="95250"/>
            </a:xfrm>
            <a:prstGeom prst="rect">
              <a:avLst/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ard-tl-head"/>
            <p:cNvSpPr txBox="1"/>
            <p:nvPr/>
          </p:nvSpPr>
          <p:spPr>
            <a:xfrm>
              <a:off x="5953125" y="4838700"/>
              <a:ext cx="4191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项目愿景</a:t>
              </a:r>
            </a:p>
          </p:txBody>
        </p:sp>
        <p:sp>
          <p:nvSpPr>
            <p:cNvPr id="12" name="card-tl-rule"/>
            <p:cNvSpPr/>
            <p:nvPr/>
          </p:nvSpPr>
          <p:spPr>
            <a:xfrm>
              <a:off x="6791325" y="5915025"/>
              <a:ext cx="2514600" cy="28575"/>
            </a:xfrm>
            <a:prstGeom prst="rect">
              <a:avLst/>
            </a:prstGeom>
            <a:solidFill>
              <a:srgbClr val="BB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card-tl-diamond"/>
            <p:cNvSpPr/>
            <p:nvPr/>
          </p:nvSpPr>
          <p:spPr>
            <a:xfrm>
              <a:off x="7981950" y="584835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66675" y="0"/>
                  </a:moveTo>
                  <a:lnTo>
                    <a:pt x="133350" y="85725"/>
                  </a:lnTo>
                  <a:lnTo>
                    <a:pt x="6667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ard-tl-body-1"/>
            <p:cNvSpPr txBox="1"/>
            <p:nvPr/>
          </p:nvSpPr>
          <p:spPr>
            <a:xfrm>
              <a:off x="3971925" y="6334125"/>
              <a:ext cx="828675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建立统一的客户数据平台，打破数据孤岛，构建</a:t>
              </a:r>
            </a:p>
          </p:txBody>
        </p:sp>
        <p:sp>
          <p:nvSpPr>
            <p:cNvPr id="15" name="card-tl-body-2"/>
            <p:cNvSpPr txBox="1"/>
            <p:nvPr/>
          </p:nvSpPr>
          <p:spPr>
            <a:xfrm>
              <a:off x="3971925" y="6834188"/>
              <a:ext cx="828675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企业级360度全景客户视图，全面驱动业务增</a:t>
              </a:r>
            </a:p>
          </p:txBody>
        </p:sp>
        <p:sp>
          <p:nvSpPr>
            <p:cNvPr id="16" name="card-tl-body-3"/>
            <p:cNvSpPr txBox="1"/>
            <p:nvPr/>
          </p:nvSpPr>
          <p:spPr>
            <a:xfrm>
              <a:off x="3971925" y="7334250"/>
              <a:ext cx="828675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长，显著提升客户满意度与营销转化效率</a:t>
              </a:r>
            </a:p>
          </p:txBody>
        </p:sp>
      </p:grpSp>
      <p:grpSp>
        <p:nvGrpSpPr>
          <p:cNvPr id="51" name="card-tr"/>
          <p:cNvGrpSpPr/>
          <p:nvPr/>
        </p:nvGrpSpPr>
        <p:grpSpPr>
          <a:xfrm>
            <a:off x="17935575" y="4210050"/>
            <a:ext cx="9182100" cy="4324350"/>
            <a:chOff x="17935575" y="4210050"/>
            <a:chExt cx="9182100" cy="4324350"/>
          </a:xfrm>
        </p:grpSpPr>
        <p:sp>
          <p:nvSpPr>
            <p:cNvPr id="17" name="card-tr-shadow"/>
            <p:cNvSpPr/>
            <p:nvPr/>
          </p:nvSpPr>
          <p:spPr>
            <a:xfrm>
              <a:off x="18087975" y="8439150"/>
              <a:ext cx="8801100" cy="95250"/>
            </a:xfrm>
            <a:prstGeom prst="roundRect">
              <a:avLst>
                <a:gd name="adj" fmla="val 50000"/>
              </a:avLst>
            </a:prstGeom>
            <a:solidFill>
              <a:srgbClr val="F4F7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card-tr-panel"/>
            <p:cNvSpPr/>
            <p:nvPr/>
          </p:nvSpPr>
          <p:spPr>
            <a:xfrm>
              <a:off x="17935575" y="4210050"/>
              <a:ext cx="9182100" cy="4267200"/>
            </a:xfrm>
            <a:prstGeom prst="roundRect">
              <a:avLst>
                <a:gd name="adj" fmla="val 1116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card-tr-bar"/>
            <p:cNvSpPr/>
            <p:nvPr/>
          </p:nvSpPr>
          <p:spPr>
            <a:xfrm>
              <a:off x="17935575" y="4210050"/>
              <a:ext cx="9182100" cy="200025"/>
            </a:xfrm>
            <a:prstGeom prst="roundRect">
              <a:avLst>
                <a:gd name="adj" fmla="val 23809"/>
              </a:avLst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card-tr-bar-fill"/>
            <p:cNvSpPr/>
            <p:nvPr/>
          </p:nvSpPr>
          <p:spPr>
            <a:xfrm>
              <a:off x="17935575" y="4314825"/>
              <a:ext cx="9182100" cy="95250"/>
            </a:xfrm>
            <a:prstGeom prst="rect">
              <a:avLst/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card-tr-head"/>
            <p:cNvSpPr txBox="1"/>
            <p:nvPr/>
          </p:nvSpPr>
          <p:spPr>
            <a:xfrm>
              <a:off x="20431125" y="4838700"/>
              <a:ext cx="4191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项目使命</a:t>
              </a:r>
            </a:p>
          </p:txBody>
        </p:sp>
        <p:sp>
          <p:nvSpPr>
            <p:cNvPr id="22" name="card-tr-rule"/>
            <p:cNvSpPr/>
            <p:nvPr/>
          </p:nvSpPr>
          <p:spPr>
            <a:xfrm>
              <a:off x="21269325" y="5915025"/>
              <a:ext cx="2514600" cy="28575"/>
            </a:xfrm>
            <a:prstGeom prst="rect">
              <a:avLst/>
            </a:prstGeom>
            <a:solidFill>
              <a:srgbClr val="BB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card-tr-diamond"/>
            <p:cNvSpPr/>
            <p:nvPr/>
          </p:nvSpPr>
          <p:spPr>
            <a:xfrm>
              <a:off x="22459950" y="584835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66675" y="0"/>
                  </a:moveTo>
                  <a:lnTo>
                    <a:pt x="133350" y="85725"/>
                  </a:lnTo>
                  <a:lnTo>
                    <a:pt x="6667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card-tr-body-1"/>
            <p:cNvSpPr txBox="1"/>
            <p:nvPr/>
          </p:nvSpPr>
          <p:spPr>
            <a:xfrm>
              <a:off x="18507075" y="6334125"/>
              <a:ext cx="828675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开发并部署一套高度集成的CRM系统，无缝打通</a:t>
              </a:r>
            </a:p>
          </p:txBody>
        </p:sp>
        <p:sp>
          <p:nvSpPr>
            <p:cNvPr id="25" name="card-tr-body-2"/>
            <p:cNvSpPr txBox="1"/>
            <p:nvPr/>
          </p:nvSpPr>
          <p:spPr>
            <a:xfrm>
              <a:off x="18507075" y="6834188"/>
              <a:ext cx="828675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销售、市场与服务全链路数据；完成全员操作培</a:t>
              </a:r>
            </a:p>
          </p:txBody>
        </p:sp>
        <p:sp>
          <p:nvSpPr>
            <p:cNvPr id="26" name="card-tr-body-3"/>
            <p:cNvSpPr txBox="1"/>
            <p:nvPr/>
          </p:nvSpPr>
          <p:spPr>
            <a:xfrm>
              <a:off x="18507075" y="7334250"/>
              <a:ext cx="828675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训与上线支持，确保系统平稳落地</a:t>
              </a:r>
            </a:p>
          </p:txBody>
        </p:sp>
      </p:grpSp>
      <p:grpSp>
        <p:nvGrpSpPr>
          <p:cNvPr id="54" name="card-bl"/>
          <p:cNvGrpSpPr/>
          <p:nvPr/>
        </p:nvGrpSpPr>
        <p:grpSpPr>
          <a:xfrm>
            <a:off x="3457575" y="10172700"/>
            <a:ext cx="9182100" cy="4324350"/>
            <a:chOff x="3457575" y="10172700"/>
            <a:chExt cx="9182100" cy="4324350"/>
          </a:xfrm>
        </p:grpSpPr>
        <p:sp>
          <p:nvSpPr>
            <p:cNvPr id="27" name="card-bl-shadow"/>
            <p:cNvSpPr/>
            <p:nvPr/>
          </p:nvSpPr>
          <p:spPr>
            <a:xfrm>
              <a:off x="3609975" y="14401800"/>
              <a:ext cx="8801100" cy="95250"/>
            </a:xfrm>
            <a:prstGeom prst="roundRect">
              <a:avLst>
                <a:gd name="adj" fmla="val 50000"/>
              </a:avLst>
            </a:prstGeom>
            <a:solidFill>
              <a:srgbClr val="F4F7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card-bl-panel"/>
            <p:cNvSpPr/>
            <p:nvPr/>
          </p:nvSpPr>
          <p:spPr>
            <a:xfrm>
              <a:off x="3457575" y="10172700"/>
              <a:ext cx="9182100" cy="4267200"/>
            </a:xfrm>
            <a:prstGeom prst="roundRect">
              <a:avLst>
                <a:gd name="adj" fmla="val 1116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card-bl-bar"/>
            <p:cNvSpPr/>
            <p:nvPr/>
          </p:nvSpPr>
          <p:spPr>
            <a:xfrm>
              <a:off x="3457575" y="10172700"/>
              <a:ext cx="9182100" cy="200025"/>
            </a:xfrm>
            <a:prstGeom prst="roundRect">
              <a:avLst>
                <a:gd name="adj" fmla="val 23809"/>
              </a:avLst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card-bl-bar-fill"/>
            <p:cNvSpPr/>
            <p:nvPr/>
          </p:nvSpPr>
          <p:spPr>
            <a:xfrm>
              <a:off x="3457575" y="10277475"/>
              <a:ext cx="9182100" cy="95250"/>
            </a:xfrm>
            <a:prstGeom prst="rect">
              <a:avLst/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card-bl-head"/>
            <p:cNvSpPr txBox="1"/>
            <p:nvPr/>
          </p:nvSpPr>
          <p:spPr>
            <a:xfrm>
              <a:off x="5953125" y="10868025"/>
              <a:ext cx="4191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核心目标</a:t>
              </a:r>
            </a:p>
          </p:txBody>
        </p:sp>
        <p:sp>
          <p:nvSpPr>
            <p:cNvPr id="32" name="card-bl-rule"/>
            <p:cNvSpPr/>
            <p:nvPr/>
          </p:nvSpPr>
          <p:spPr>
            <a:xfrm>
              <a:off x="6791325" y="11944350"/>
              <a:ext cx="2514600" cy="28575"/>
            </a:xfrm>
            <a:prstGeom prst="rect">
              <a:avLst/>
            </a:prstGeom>
            <a:solidFill>
              <a:srgbClr val="BB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card-bl-diamond"/>
            <p:cNvSpPr/>
            <p:nvPr/>
          </p:nvSpPr>
          <p:spPr>
            <a:xfrm>
              <a:off x="7981950" y="1187767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66675" y="0"/>
                  </a:moveTo>
                  <a:lnTo>
                    <a:pt x="133350" y="85725"/>
                  </a:lnTo>
                  <a:lnTo>
                    <a:pt x="6667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-bl-body-1"/>
            <p:cNvSpPr txBox="1"/>
            <p:nvPr/>
          </p:nvSpPr>
          <p:spPr>
            <a:xfrm>
              <a:off x="3914775" y="12334875"/>
              <a:ext cx="83820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营销转化率提升 20%，客户留存率提升 15%</a:t>
              </a:r>
            </a:p>
          </p:txBody>
        </p:sp>
        <p:sp>
          <p:nvSpPr>
            <p:cNvPr id="35" name="card-bl-body-2"/>
            <p:cNvSpPr txBox="1"/>
            <p:nvPr/>
          </p:nvSpPr>
          <p:spPr>
            <a:xfrm>
              <a:off x="3914775" y="12834938"/>
              <a:ext cx="83820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实现跨部门数据实时共享，消除信息滞后</a:t>
              </a:r>
            </a:p>
          </p:txBody>
        </p:sp>
        <p:sp>
          <p:nvSpPr>
            <p:cNvPr id="36" name="card-bl-body-3"/>
            <p:cNvSpPr txBox="1"/>
            <p:nvPr/>
          </p:nvSpPr>
          <p:spPr>
            <a:xfrm>
              <a:off x="3914775" y="13335000"/>
              <a:ext cx="83820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销售团队人效提升 30%，自动化流程覆盖率 60%</a:t>
              </a:r>
            </a:p>
          </p:txBody>
        </p:sp>
      </p:grpSp>
      <p:grpSp>
        <p:nvGrpSpPr>
          <p:cNvPr id="53" name="card-br"/>
          <p:cNvGrpSpPr/>
          <p:nvPr/>
        </p:nvGrpSpPr>
        <p:grpSpPr>
          <a:xfrm>
            <a:off x="17935575" y="10172700"/>
            <a:ext cx="9182100" cy="4324350"/>
            <a:chOff x="17935575" y="10172700"/>
            <a:chExt cx="9182100" cy="4324350"/>
          </a:xfrm>
        </p:grpSpPr>
        <p:sp>
          <p:nvSpPr>
            <p:cNvPr id="37" name="card-br-shadow"/>
            <p:cNvSpPr/>
            <p:nvPr/>
          </p:nvSpPr>
          <p:spPr>
            <a:xfrm>
              <a:off x="18087975" y="14401800"/>
              <a:ext cx="8801100" cy="95250"/>
            </a:xfrm>
            <a:prstGeom prst="roundRect">
              <a:avLst>
                <a:gd name="adj" fmla="val 50000"/>
              </a:avLst>
            </a:prstGeom>
            <a:solidFill>
              <a:srgbClr val="F4F7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card-br-panel"/>
            <p:cNvSpPr/>
            <p:nvPr/>
          </p:nvSpPr>
          <p:spPr>
            <a:xfrm>
              <a:off x="17935575" y="10172700"/>
              <a:ext cx="9182100" cy="4267200"/>
            </a:xfrm>
            <a:prstGeom prst="roundRect">
              <a:avLst>
                <a:gd name="adj" fmla="val 1116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ard-br-bar"/>
            <p:cNvSpPr/>
            <p:nvPr/>
          </p:nvSpPr>
          <p:spPr>
            <a:xfrm>
              <a:off x="17935575" y="10172700"/>
              <a:ext cx="9182100" cy="200025"/>
            </a:xfrm>
            <a:prstGeom prst="roundRect">
              <a:avLst>
                <a:gd name="adj" fmla="val 23809"/>
              </a:avLst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card-br-bar-fill"/>
            <p:cNvSpPr/>
            <p:nvPr/>
          </p:nvSpPr>
          <p:spPr>
            <a:xfrm>
              <a:off x="17935575" y="10277475"/>
              <a:ext cx="9182100" cy="95250"/>
            </a:xfrm>
            <a:prstGeom prst="rect">
              <a:avLst/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card-br-head"/>
            <p:cNvSpPr txBox="1"/>
            <p:nvPr/>
          </p:nvSpPr>
          <p:spPr>
            <a:xfrm>
              <a:off x="20431125" y="10868025"/>
              <a:ext cx="4191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交付成果</a:t>
              </a:r>
            </a:p>
          </p:txBody>
        </p:sp>
        <p:sp>
          <p:nvSpPr>
            <p:cNvPr id="42" name="card-br-rule"/>
            <p:cNvSpPr/>
            <p:nvPr/>
          </p:nvSpPr>
          <p:spPr>
            <a:xfrm>
              <a:off x="21269325" y="11944350"/>
              <a:ext cx="2514600" cy="28575"/>
            </a:xfrm>
            <a:prstGeom prst="rect">
              <a:avLst/>
            </a:prstGeom>
            <a:solidFill>
              <a:srgbClr val="BB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card-br-diamond"/>
            <p:cNvSpPr/>
            <p:nvPr/>
          </p:nvSpPr>
          <p:spPr>
            <a:xfrm>
              <a:off x="22459950" y="1187767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66675" y="0"/>
                  </a:moveTo>
                  <a:lnTo>
                    <a:pt x="133350" y="85725"/>
                  </a:lnTo>
                  <a:lnTo>
                    <a:pt x="6667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card-br-body-1"/>
            <p:cNvSpPr txBox="1"/>
            <p:nvPr/>
          </p:nvSpPr>
          <p:spPr>
            <a:xfrm>
              <a:off x="18554700" y="12334875"/>
              <a:ext cx="83820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核心产出：CRM 系统 V1.0 正式环境部署上线文</a:t>
              </a:r>
            </a:p>
          </p:txBody>
        </p:sp>
        <p:sp>
          <p:nvSpPr>
            <p:cNvPr id="45" name="card-br-body-2"/>
            <p:cNvSpPr txBox="1"/>
            <p:nvPr/>
          </p:nvSpPr>
          <p:spPr>
            <a:xfrm>
              <a:off x="18554700" y="12834938"/>
              <a:ext cx="83820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档交付：全套用户操作手册与标准培训课件</a:t>
              </a:r>
            </a:p>
          </p:txBody>
        </p:sp>
        <p:sp>
          <p:nvSpPr>
            <p:cNvPr id="46" name="card-br-body-3"/>
            <p:cNvSpPr txBox="1"/>
            <p:nvPr/>
          </p:nvSpPr>
          <p:spPr>
            <a:xfrm>
              <a:off x="18554700" y="13335000"/>
              <a:ext cx="83820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验收报告：历史数据清洗迁移报告与系统验收单</a:t>
              </a:r>
            </a:p>
          </p:txBody>
        </p:sp>
      </p:grpSp>
      <p:sp>
        <p:nvSpPr>
          <p:cNvPr id="47" name="bottom-bar"/>
          <p:cNvSpPr/>
          <p:nvPr/>
        </p:nvSpPr>
        <p:spPr>
          <a:xfrm>
            <a:off x="904875" y="15811500"/>
            <a:ext cx="28708350" cy="438150"/>
          </a:xfrm>
          <a:prstGeom prst="roundRect">
            <a:avLst>
              <a:gd name="adj" fmla="val 8695"/>
            </a:avLst>
          </a:prstGeom>
          <a:solidFill>
            <a:srgbClr val="467D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8" name="art-top" descr="_photo_art_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675" y="5391150"/>
            <a:ext cx="5295900" cy="2552700"/>
          </a:xfrm>
          <a:prstGeom prst="rect">
            <a:avLst/>
          </a:prstGeom>
          <a:effectLst/>
        </p:spPr>
      </p:pic>
      <p:pic>
        <p:nvPicPr>
          <p:cNvPr id="49" name="art-body" descr="_photo_art_bod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7924800"/>
            <a:ext cx="7905750" cy="447675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