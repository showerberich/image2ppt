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30508575" cy="17145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30508575" cy="17145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ame"/>
          <p:cNvSpPr/>
          <p:nvPr/>
        </p:nvSpPr>
        <p:spPr>
          <a:xfrm>
            <a:off x="4762" y="4762"/>
            <a:ext cx="30499050" cy="17135475"/>
          </a:xfrm>
          <a:prstGeom prst="rect">
            <a:avLst/>
          </a:prstGeom>
          <a:noFill/>
          <a:ln w="11429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mark-a"/>
          <p:cNvSpPr/>
          <p:nvPr/>
        </p:nvSpPr>
        <p:spPr>
          <a:xfrm>
            <a:off x="1809750" y="1409700"/>
            <a:ext cx="1238250" cy="704850"/>
          </a:xfrm>
          <a:custGeom>
            <a:avLst/>
            <a:gdLst/>
            <a:ahLst/>
            <a:cxnLst/>
            <a:rect l="l" t="t" r="r" b="b"/>
            <a:pathLst>
              <a:path w="1238250" h="704850">
                <a:moveTo>
                  <a:pt x="0" y="638175"/>
                </a:moveTo>
                <a:lnTo>
                  <a:pt x="1238250" y="0"/>
                </a:lnTo>
                <a:lnTo>
                  <a:pt x="590550" y="704850"/>
                </a:lnTo>
                <a:close/>
              </a:path>
            </a:pathLst>
          </a:custGeom>
          <a:solidFill>
            <a:srgbClr val="3F6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mark-b"/>
          <p:cNvSpPr/>
          <p:nvPr/>
        </p:nvSpPr>
        <p:spPr>
          <a:xfrm>
            <a:off x="1809750" y="2047875"/>
            <a:ext cx="647700" cy="733425"/>
          </a:xfrm>
          <a:custGeom>
            <a:avLst/>
            <a:gdLst/>
            <a:ahLst/>
            <a:cxnLst/>
            <a:rect l="l" t="t" r="r" b="b"/>
            <a:pathLst>
              <a:path w="647700" h="733425">
                <a:moveTo>
                  <a:pt x="0" y="0"/>
                </a:moveTo>
                <a:lnTo>
                  <a:pt x="590550" y="66675"/>
                </a:lnTo>
                <a:lnTo>
                  <a:pt x="647700" y="733425"/>
                </a:lnTo>
                <a:close/>
              </a:path>
            </a:pathLst>
          </a:custGeom>
          <a:solidFill>
            <a:srgbClr val="5B8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mark-c"/>
          <p:cNvSpPr/>
          <p:nvPr/>
        </p:nvSpPr>
        <p:spPr>
          <a:xfrm>
            <a:off x="2400300" y="1409700"/>
            <a:ext cx="647700" cy="1371600"/>
          </a:xfrm>
          <a:custGeom>
            <a:avLst/>
            <a:gdLst/>
            <a:ahLst/>
            <a:cxnLst/>
            <a:rect l="l" t="t" r="r" b="b"/>
            <a:pathLst>
              <a:path w="647700" h="1371600">
                <a:moveTo>
                  <a:pt x="0" y="704850"/>
                </a:moveTo>
                <a:lnTo>
                  <a:pt x="647700" y="0"/>
                </a:lnTo>
                <a:lnTo>
                  <a:pt x="57150" y="1371600"/>
                </a:lnTo>
                <a:close/>
              </a:path>
            </a:pathLst>
          </a:custGeom>
          <a:solidFill>
            <a:srgbClr val="467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itle"/>
          <p:cNvSpPr txBox="1"/>
          <p:nvPr/>
        </p:nvSpPr>
        <p:spPr>
          <a:xfrm>
            <a:off x="3343275" y="1200150"/>
            <a:ext cx="8001000" cy="1619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7500" b="0" i="0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范围边界与排除项</a:t>
            </a:r>
          </a:p>
        </p:txBody>
      </p:sp>
      <p:sp>
        <p:nvSpPr>
          <p:cNvPr id="8" name="arrow-in"/>
          <p:cNvSpPr/>
          <p:nvPr/>
        </p:nvSpPr>
        <p:spPr>
          <a:xfrm>
            <a:off x="3638550" y="3648075"/>
            <a:ext cx="9829800" cy="2714625"/>
          </a:xfrm>
          <a:custGeom>
            <a:avLst/>
            <a:gdLst/>
            <a:ahLst/>
            <a:cxnLst/>
            <a:rect l="l" t="t" r="r" b="b"/>
            <a:pathLst>
              <a:path w="9829800" h="2714625">
                <a:moveTo>
                  <a:pt x="0" y="1362075"/>
                </a:moveTo>
                <a:lnTo>
                  <a:pt x="2486025" y="0"/>
                </a:lnTo>
                <a:lnTo>
                  <a:pt x="2486025" y="771525"/>
                </a:lnTo>
                <a:lnTo>
                  <a:pt x="9239250" y="771525"/>
                </a:lnTo>
                <a:lnTo>
                  <a:pt x="9239250" y="771525"/>
                </a:lnTo>
                <a:lnTo>
                  <a:pt x="9316402" y="776287"/>
                </a:lnTo>
                <a:lnTo>
                  <a:pt x="9391650" y="791527"/>
                </a:lnTo>
                <a:lnTo>
                  <a:pt x="9464992" y="816293"/>
                </a:lnTo>
                <a:lnTo>
                  <a:pt x="9534525" y="850583"/>
                </a:lnTo>
                <a:lnTo>
                  <a:pt x="9598342" y="893445"/>
                </a:lnTo>
                <a:lnTo>
                  <a:pt x="9656445" y="944880"/>
                </a:lnTo>
                <a:lnTo>
                  <a:pt x="9707880" y="1002983"/>
                </a:lnTo>
                <a:lnTo>
                  <a:pt x="9750742" y="1066800"/>
                </a:lnTo>
                <a:lnTo>
                  <a:pt x="9785032" y="1136333"/>
                </a:lnTo>
                <a:lnTo>
                  <a:pt x="9809798" y="1209675"/>
                </a:lnTo>
                <a:lnTo>
                  <a:pt x="9825038" y="1284923"/>
                </a:lnTo>
                <a:lnTo>
                  <a:pt x="9829800" y="1362075"/>
                </a:lnTo>
                <a:lnTo>
                  <a:pt x="9825038" y="1439227"/>
                </a:lnTo>
                <a:lnTo>
                  <a:pt x="9809798" y="1514475"/>
                </a:lnTo>
                <a:lnTo>
                  <a:pt x="9785032" y="1587817"/>
                </a:lnTo>
                <a:lnTo>
                  <a:pt x="9750742" y="1657350"/>
                </a:lnTo>
                <a:lnTo>
                  <a:pt x="9707880" y="1721167"/>
                </a:lnTo>
                <a:lnTo>
                  <a:pt x="9656445" y="1779270"/>
                </a:lnTo>
                <a:lnTo>
                  <a:pt x="9598342" y="1830705"/>
                </a:lnTo>
                <a:lnTo>
                  <a:pt x="9534525" y="1873567"/>
                </a:lnTo>
                <a:lnTo>
                  <a:pt x="9464992" y="1907857"/>
                </a:lnTo>
                <a:lnTo>
                  <a:pt x="9391650" y="1932623"/>
                </a:lnTo>
                <a:lnTo>
                  <a:pt x="9316402" y="1947863"/>
                </a:lnTo>
                <a:lnTo>
                  <a:pt x="9239250" y="1952625"/>
                </a:lnTo>
                <a:lnTo>
                  <a:pt x="2486025" y="1952625"/>
                </a:lnTo>
                <a:lnTo>
                  <a:pt x="2486025" y="2714625"/>
                </a:lnTo>
                <a:close/>
              </a:path>
            </a:pathLst>
          </a:custGeom>
          <a:solidFill>
            <a:srgbClr val="467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arrow-out"/>
          <p:cNvSpPr/>
          <p:nvPr/>
        </p:nvSpPr>
        <p:spPr>
          <a:xfrm>
            <a:off x="16478250" y="3667125"/>
            <a:ext cx="9915525" cy="2714625"/>
          </a:xfrm>
          <a:custGeom>
            <a:avLst/>
            <a:gdLst/>
            <a:ahLst/>
            <a:cxnLst/>
            <a:rect l="l" t="t" r="r" b="b"/>
            <a:pathLst>
              <a:path w="9915525" h="2714625">
                <a:moveTo>
                  <a:pt x="9915525" y="1352550"/>
                </a:moveTo>
                <a:lnTo>
                  <a:pt x="7448550" y="0"/>
                </a:lnTo>
                <a:lnTo>
                  <a:pt x="7448550" y="752475"/>
                </a:lnTo>
                <a:lnTo>
                  <a:pt x="600075" y="752475"/>
                </a:lnTo>
                <a:lnTo>
                  <a:pt x="600075" y="752475"/>
                </a:lnTo>
                <a:lnTo>
                  <a:pt x="521970" y="757237"/>
                </a:lnTo>
                <a:lnTo>
                  <a:pt x="444818" y="772477"/>
                </a:lnTo>
                <a:lnTo>
                  <a:pt x="370522" y="798195"/>
                </a:lnTo>
                <a:lnTo>
                  <a:pt x="300038" y="832485"/>
                </a:lnTo>
                <a:lnTo>
                  <a:pt x="234315" y="876300"/>
                </a:lnTo>
                <a:lnTo>
                  <a:pt x="176212" y="928687"/>
                </a:lnTo>
                <a:lnTo>
                  <a:pt x="123825" y="986790"/>
                </a:lnTo>
                <a:lnTo>
                  <a:pt x="80010" y="1052513"/>
                </a:lnTo>
                <a:lnTo>
                  <a:pt x="45720" y="1122997"/>
                </a:lnTo>
                <a:lnTo>
                  <a:pt x="20002" y="1197293"/>
                </a:lnTo>
                <a:lnTo>
                  <a:pt x="4762" y="1274445"/>
                </a:lnTo>
                <a:lnTo>
                  <a:pt x="0" y="1352550"/>
                </a:lnTo>
                <a:lnTo>
                  <a:pt x="4762" y="1430655"/>
                </a:lnTo>
                <a:lnTo>
                  <a:pt x="20002" y="1507807"/>
                </a:lnTo>
                <a:lnTo>
                  <a:pt x="45720" y="1582103"/>
                </a:lnTo>
                <a:lnTo>
                  <a:pt x="80010" y="1652587"/>
                </a:lnTo>
                <a:lnTo>
                  <a:pt x="123825" y="1718310"/>
                </a:lnTo>
                <a:lnTo>
                  <a:pt x="176212" y="1776413"/>
                </a:lnTo>
                <a:lnTo>
                  <a:pt x="234315" y="1828800"/>
                </a:lnTo>
                <a:lnTo>
                  <a:pt x="300038" y="1872615"/>
                </a:lnTo>
                <a:lnTo>
                  <a:pt x="370522" y="1906905"/>
                </a:lnTo>
                <a:lnTo>
                  <a:pt x="444818" y="1932623"/>
                </a:lnTo>
                <a:lnTo>
                  <a:pt x="521970" y="1947863"/>
                </a:lnTo>
                <a:lnTo>
                  <a:pt x="600075" y="1952625"/>
                </a:lnTo>
                <a:lnTo>
                  <a:pt x="7448550" y="1952625"/>
                </a:lnTo>
                <a:lnTo>
                  <a:pt x="7448550" y="2714625"/>
                </a:lnTo>
                <a:close/>
              </a:path>
            </a:pathLst>
          </a:custGeom>
          <a:solidFill>
            <a:srgbClr val="4ED7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label-in"/>
          <p:cNvSpPr txBox="1"/>
          <p:nvPr/>
        </p:nvSpPr>
        <p:spPr>
          <a:xfrm>
            <a:off x="9096375" y="4391025"/>
            <a:ext cx="3048000" cy="12573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49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范围内</a:t>
            </a:r>
          </a:p>
        </p:txBody>
      </p:sp>
      <p:sp>
        <p:nvSpPr>
          <p:cNvPr id="11" name="label-out"/>
          <p:cNvSpPr txBox="1"/>
          <p:nvPr/>
        </p:nvSpPr>
        <p:spPr>
          <a:xfrm>
            <a:off x="18335625" y="4391025"/>
            <a:ext cx="3048000" cy="12573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49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范围外</a:t>
            </a:r>
          </a:p>
        </p:txBody>
      </p:sp>
      <p:sp>
        <p:nvSpPr>
          <p:cNvPr id="12" name="vs-left"/>
          <p:cNvSpPr/>
          <p:nvPr/>
        </p:nvSpPr>
        <p:spPr>
          <a:xfrm>
            <a:off x="13773150" y="3857625"/>
            <a:ext cx="1162050" cy="2324100"/>
          </a:xfrm>
          <a:custGeom>
            <a:avLst/>
            <a:gdLst/>
            <a:ahLst/>
            <a:cxnLst/>
            <a:rect l="l" t="t" r="r" b="b"/>
            <a:pathLst>
              <a:path w="1162050" h="2324100">
                <a:moveTo>
                  <a:pt x="1162050" y="0"/>
                </a:moveTo>
                <a:lnTo>
                  <a:pt x="1162050" y="0"/>
                </a:lnTo>
                <a:lnTo>
                  <a:pt x="1010602" y="9525"/>
                </a:lnTo>
                <a:lnTo>
                  <a:pt x="861060" y="40005"/>
                </a:lnTo>
                <a:lnTo>
                  <a:pt x="717232" y="88583"/>
                </a:lnTo>
                <a:lnTo>
                  <a:pt x="581025" y="155257"/>
                </a:lnTo>
                <a:lnTo>
                  <a:pt x="454342" y="240030"/>
                </a:lnTo>
                <a:lnTo>
                  <a:pt x="340042" y="340043"/>
                </a:lnTo>
                <a:lnTo>
                  <a:pt x="240030" y="454343"/>
                </a:lnTo>
                <a:lnTo>
                  <a:pt x="155258" y="581025"/>
                </a:lnTo>
                <a:lnTo>
                  <a:pt x="88582" y="717233"/>
                </a:lnTo>
                <a:lnTo>
                  <a:pt x="40005" y="861060"/>
                </a:lnTo>
                <a:lnTo>
                  <a:pt x="9525" y="1010603"/>
                </a:lnTo>
                <a:lnTo>
                  <a:pt x="0" y="1162050"/>
                </a:lnTo>
                <a:lnTo>
                  <a:pt x="9525" y="1313497"/>
                </a:lnTo>
                <a:lnTo>
                  <a:pt x="40005" y="1463040"/>
                </a:lnTo>
                <a:lnTo>
                  <a:pt x="88582" y="1606867"/>
                </a:lnTo>
                <a:lnTo>
                  <a:pt x="155258" y="1743075"/>
                </a:lnTo>
                <a:lnTo>
                  <a:pt x="240030" y="1869757"/>
                </a:lnTo>
                <a:lnTo>
                  <a:pt x="340042" y="1984057"/>
                </a:lnTo>
                <a:lnTo>
                  <a:pt x="454342" y="2084070"/>
                </a:lnTo>
                <a:lnTo>
                  <a:pt x="581025" y="2168843"/>
                </a:lnTo>
                <a:lnTo>
                  <a:pt x="717232" y="2235517"/>
                </a:lnTo>
                <a:lnTo>
                  <a:pt x="861060" y="2284095"/>
                </a:lnTo>
                <a:lnTo>
                  <a:pt x="1010602" y="2314575"/>
                </a:lnTo>
                <a:lnTo>
                  <a:pt x="1162050" y="2324100"/>
                </a:lnTo>
                <a:lnTo>
                  <a:pt x="1162050" y="2324100"/>
                </a:lnTo>
                <a:close/>
              </a:path>
            </a:pathLst>
          </a:custGeom>
          <a:solidFill>
            <a:srgbClr val="467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vs-right"/>
          <p:cNvSpPr/>
          <p:nvPr/>
        </p:nvSpPr>
        <p:spPr>
          <a:xfrm>
            <a:off x="14935200" y="3857625"/>
            <a:ext cx="1162050" cy="2324100"/>
          </a:xfrm>
          <a:custGeom>
            <a:avLst/>
            <a:gdLst/>
            <a:ahLst/>
            <a:cxnLst/>
            <a:rect l="l" t="t" r="r" b="b"/>
            <a:pathLst>
              <a:path w="1162050" h="2324100">
                <a:moveTo>
                  <a:pt x="0" y="0"/>
                </a:moveTo>
                <a:lnTo>
                  <a:pt x="0" y="0"/>
                </a:lnTo>
                <a:lnTo>
                  <a:pt x="151448" y="9525"/>
                </a:lnTo>
                <a:lnTo>
                  <a:pt x="300990" y="40005"/>
                </a:lnTo>
                <a:lnTo>
                  <a:pt x="444818" y="88583"/>
                </a:lnTo>
                <a:lnTo>
                  <a:pt x="581025" y="155257"/>
                </a:lnTo>
                <a:lnTo>
                  <a:pt x="707708" y="240030"/>
                </a:lnTo>
                <a:lnTo>
                  <a:pt x="822008" y="340043"/>
                </a:lnTo>
                <a:lnTo>
                  <a:pt x="922020" y="454343"/>
                </a:lnTo>
                <a:lnTo>
                  <a:pt x="1006792" y="581025"/>
                </a:lnTo>
                <a:lnTo>
                  <a:pt x="1073468" y="717233"/>
                </a:lnTo>
                <a:lnTo>
                  <a:pt x="1122045" y="861060"/>
                </a:lnTo>
                <a:lnTo>
                  <a:pt x="1152525" y="1010603"/>
                </a:lnTo>
                <a:lnTo>
                  <a:pt x="1162050" y="1162050"/>
                </a:lnTo>
                <a:lnTo>
                  <a:pt x="1152525" y="1313497"/>
                </a:lnTo>
                <a:lnTo>
                  <a:pt x="1122045" y="1463040"/>
                </a:lnTo>
                <a:lnTo>
                  <a:pt x="1073468" y="1606867"/>
                </a:lnTo>
                <a:lnTo>
                  <a:pt x="1006792" y="1743075"/>
                </a:lnTo>
                <a:lnTo>
                  <a:pt x="922020" y="1869757"/>
                </a:lnTo>
                <a:lnTo>
                  <a:pt x="822008" y="1984057"/>
                </a:lnTo>
                <a:lnTo>
                  <a:pt x="707708" y="2084070"/>
                </a:lnTo>
                <a:lnTo>
                  <a:pt x="581025" y="2168843"/>
                </a:lnTo>
                <a:lnTo>
                  <a:pt x="444818" y="2235517"/>
                </a:lnTo>
                <a:lnTo>
                  <a:pt x="300990" y="2284095"/>
                </a:lnTo>
                <a:lnTo>
                  <a:pt x="151448" y="2314575"/>
                </a:lnTo>
                <a:lnTo>
                  <a:pt x="0" y="2324100"/>
                </a:lnTo>
                <a:lnTo>
                  <a:pt x="0" y="2324100"/>
                </a:lnTo>
                <a:close/>
              </a:path>
            </a:pathLst>
          </a:custGeom>
          <a:solidFill>
            <a:srgbClr val="4ED7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vs-text"/>
          <p:cNvSpPr txBox="1"/>
          <p:nvPr/>
        </p:nvSpPr>
        <p:spPr>
          <a:xfrm>
            <a:off x="13982700" y="4352925"/>
            <a:ext cx="1905000" cy="1238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03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VS</a:t>
            </a:r>
          </a:p>
        </p:txBody>
      </p:sp>
      <p:cxnSp>
        <p:nvCxnSpPr>
          <p:cNvPr id="15" name="rail-in"/>
          <p:cNvCxnSpPr/>
          <p:nvPr/>
        </p:nvCxnSpPr>
        <p:spPr>
          <a:xfrm>
            <a:off x="12773025" y="6229350"/>
            <a:ext cx="0" cy="8991600"/>
          </a:xfrm>
          <a:prstGeom prst="line">
            <a:avLst/>
          </a:prstGeom>
          <a:ln w="47625">
            <a:solidFill>
              <a:srgbClr val="467DFD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rail-out"/>
          <p:cNvCxnSpPr/>
          <p:nvPr/>
        </p:nvCxnSpPr>
        <p:spPr>
          <a:xfrm>
            <a:off x="17392650" y="6229350"/>
            <a:ext cx="0" cy="8991600"/>
          </a:xfrm>
          <a:prstGeom prst="line">
            <a:avLst/>
          </a:prstGeom>
          <a:ln w="47625">
            <a:solidFill>
              <a:srgbClr val="4ED7C5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badge-in-1-ring"/>
          <p:cNvSpPr/>
          <p:nvPr/>
        </p:nvSpPr>
        <p:spPr>
          <a:xfrm>
            <a:off x="11972925" y="6619875"/>
            <a:ext cx="1609725" cy="1609725"/>
          </a:xfrm>
          <a:prstGeom prst="ellipse">
            <a:avLst/>
          </a:prstGeom>
          <a:solidFill>
            <a:srgbClr val="467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badge-in-1"/>
          <p:cNvSpPr/>
          <p:nvPr/>
        </p:nvSpPr>
        <p:spPr>
          <a:xfrm>
            <a:off x="12177712" y="6824662"/>
            <a:ext cx="1200150" cy="1200150"/>
          </a:xfrm>
          <a:prstGeom prst="ellipse">
            <a:avLst/>
          </a:prstGeom>
          <a:solidFill>
            <a:srgbClr val="6C9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badge-in-1-num"/>
          <p:cNvSpPr txBox="1"/>
          <p:nvPr/>
        </p:nvSpPr>
        <p:spPr>
          <a:xfrm>
            <a:off x="12187238" y="6986588"/>
            <a:ext cx="1181100" cy="8763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43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0" name="badge-out-1-ring"/>
          <p:cNvSpPr/>
          <p:nvPr/>
        </p:nvSpPr>
        <p:spPr>
          <a:xfrm>
            <a:off x="16587788" y="6619875"/>
            <a:ext cx="1609725" cy="1609725"/>
          </a:xfrm>
          <a:prstGeom prst="ellipse">
            <a:avLst/>
          </a:prstGeom>
          <a:solidFill>
            <a:srgbClr val="4ED7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badge-out-1"/>
          <p:cNvSpPr/>
          <p:nvPr/>
        </p:nvSpPr>
        <p:spPr>
          <a:xfrm>
            <a:off x="16792575" y="6824662"/>
            <a:ext cx="1200150" cy="1200150"/>
          </a:xfrm>
          <a:prstGeom prst="ellipse">
            <a:avLst/>
          </a:prstGeom>
          <a:solidFill>
            <a:srgbClr val="70DF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badge-out-1-num"/>
          <p:cNvSpPr txBox="1"/>
          <p:nvPr/>
        </p:nvSpPr>
        <p:spPr>
          <a:xfrm>
            <a:off x="16802100" y="6986588"/>
            <a:ext cx="1181100" cy="8763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43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cxnSp>
        <p:nvCxnSpPr>
          <p:cNvPr id="23" name="tick-in-1"/>
          <p:cNvCxnSpPr/>
          <p:nvPr/>
        </p:nvCxnSpPr>
        <p:spPr>
          <a:xfrm>
            <a:off x="11506200" y="7424738"/>
            <a:ext cx="466725" cy="0"/>
          </a:xfrm>
          <a:prstGeom prst="line">
            <a:avLst/>
          </a:prstGeom>
          <a:ln w="28575">
            <a:solidFill>
              <a:srgbClr val="467DF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tick-out-1"/>
          <p:cNvCxnSpPr/>
          <p:nvPr/>
        </p:nvCxnSpPr>
        <p:spPr>
          <a:xfrm>
            <a:off x="18202275" y="7424738"/>
            <a:ext cx="457200" cy="0"/>
          </a:xfrm>
          <a:prstGeom prst="line">
            <a:avLst/>
          </a:prstGeom>
          <a:ln w="28575">
            <a:solidFill>
              <a:srgbClr val="4ED7C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xt-in-1-1"/>
          <p:cNvSpPr txBox="1"/>
          <p:nvPr/>
        </p:nvSpPr>
        <p:spPr>
          <a:xfrm>
            <a:off x="3019425" y="6800850"/>
            <a:ext cx="832485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3187" b="0" i="0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开发客户管理、销售机会管理、市场营</a:t>
            </a:r>
          </a:p>
        </p:txBody>
      </p:sp>
      <p:sp>
        <p:nvSpPr>
          <p:cNvPr id="26" name="txt-in-1-2"/>
          <p:cNvSpPr txBox="1"/>
          <p:nvPr/>
        </p:nvSpPr>
        <p:spPr>
          <a:xfrm>
            <a:off x="5419725" y="7353300"/>
            <a:ext cx="592455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3187" b="0" i="0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销活动管理等核心业务模块</a:t>
            </a:r>
          </a:p>
        </p:txBody>
      </p:sp>
      <p:sp>
        <p:nvSpPr>
          <p:cNvPr id="27" name="txt-out-1-1"/>
          <p:cNvSpPr txBox="1"/>
          <p:nvPr/>
        </p:nvSpPr>
        <p:spPr>
          <a:xfrm>
            <a:off x="18907125" y="6800850"/>
            <a:ext cx="8143875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3187" b="0" i="0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原生移动端 App 的开发工作，仅支持</a:t>
            </a:r>
          </a:p>
        </p:txBody>
      </p:sp>
      <p:sp>
        <p:nvSpPr>
          <p:cNvPr id="28" name="txt-out-1-2"/>
          <p:cNvSpPr txBox="1"/>
          <p:nvPr/>
        </p:nvSpPr>
        <p:spPr>
          <a:xfrm>
            <a:off x="18916650" y="7353300"/>
            <a:ext cx="3914775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3187" b="0" i="0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移动端 Web 访问</a:t>
            </a:r>
          </a:p>
        </p:txBody>
      </p:sp>
      <p:sp>
        <p:nvSpPr>
          <p:cNvPr id="29" name="badge-in-2-ring"/>
          <p:cNvSpPr/>
          <p:nvPr/>
        </p:nvSpPr>
        <p:spPr>
          <a:xfrm>
            <a:off x="11972925" y="8943975"/>
            <a:ext cx="1609725" cy="1609725"/>
          </a:xfrm>
          <a:prstGeom prst="ellipse">
            <a:avLst/>
          </a:prstGeom>
          <a:solidFill>
            <a:srgbClr val="467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badge-in-2"/>
          <p:cNvSpPr/>
          <p:nvPr/>
        </p:nvSpPr>
        <p:spPr>
          <a:xfrm>
            <a:off x="12177712" y="9148762"/>
            <a:ext cx="1200150" cy="1200150"/>
          </a:xfrm>
          <a:prstGeom prst="ellipse">
            <a:avLst/>
          </a:prstGeom>
          <a:solidFill>
            <a:srgbClr val="6C9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badge-in-2-num"/>
          <p:cNvSpPr txBox="1"/>
          <p:nvPr/>
        </p:nvSpPr>
        <p:spPr>
          <a:xfrm>
            <a:off x="12187238" y="9310688"/>
            <a:ext cx="1181100" cy="8763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43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32" name="badge-out-2-ring"/>
          <p:cNvSpPr/>
          <p:nvPr/>
        </p:nvSpPr>
        <p:spPr>
          <a:xfrm>
            <a:off x="16587788" y="8943975"/>
            <a:ext cx="1609725" cy="1609725"/>
          </a:xfrm>
          <a:prstGeom prst="ellipse">
            <a:avLst/>
          </a:prstGeom>
          <a:solidFill>
            <a:srgbClr val="4ED7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badge-out-2"/>
          <p:cNvSpPr/>
          <p:nvPr/>
        </p:nvSpPr>
        <p:spPr>
          <a:xfrm>
            <a:off x="16792575" y="9148762"/>
            <a:ext cx="1200150" cy="1200150"/>
          </a:xfrm>
          <a:prstGeom prst="ellipse">
            <a:avLst/>
          </a:prstGeom>
          <a:solidFill>
            <a:srgbClr val="70DF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badge-out-2-num"/>
          <p:cNvSpPr txBox="1"/>
          <p:nvPr/>
        </p:nvSpPr>
        <p:spPr>
          <a:xfrm>
            <a:off x="16802100" y="9310688"/>
            <a:ext cx="1181100" cy="8763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43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cxnSp>
        <p:nvCxnSpPr>
          <p:cNvPr id="35" name="tick-in-2"/>
          <p:cNvCxnSpPr/>
          <p:nvPr/>
        </p:nvCxnSpPr>
        <p:spPr>
          <a:xfrm>
            <a:off x="11506200" y="9748838"/>
            <a:ext cx="466725" cy="0"/>
          </a:xfrm>
          <a:prstGeom prst="line">
            <a:avLst/>
          </a:prstGeom>
          <a:ln w="28575">
            <a:solidFill>
              <a:srgbClr val="467DF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tick-out-2"/>
          <p:cNvCxnSpPr/>
          <p:nvPr/>
        </p:nvCxnSpPr>
        <p:spPr>
          <a:xfrm>
            <a:off x="18202275" y="9748838"/>
            <a:ext cx="457200" cy="0"/>
          </a:xfrm>
          <a:prstGeom prst="line">
            <a:avLst/>
          </a:prstGeom>
          <a:ln w="28575">
            <a:solidFill>
              <a:srgbClr val="4ED7C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xt-in-2-1"/>
          <p:cNvSpPr txBox="1"/>
          <p:nvPr/>
        </p:nvSpPr>
        <p:spPr>
          <a:xfrm>
            <a:off x="2990850" y="9124950"/>
            <a:ext cx="8353425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3187" b="0" i="0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提供标准的 RESTful API 接口，实现与</a:t>
            </a:r>
          </a:p>
        </p:txBody>
      </p:sp>
      <p:sp>
        <p:nvSpPr>
          <p:cNvPr id="38" name="txt-in-2-2"/>
          <p:cNvSpPr txBox="1"/>
          <p:nvPr/>
        </p:nvSpPr>
        <p:spPr>
          <a:xfrm>
            <a:off x="3810000" y="9667875"/>
            <a:ext cx="7534275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3187" b="0" i="0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公司现有 ERP 系统的无缝数据对接</a:t>
            </a:r>
          </a:p>
        </p:txBody>
      </p:sp>
      <p:sp>
        <p:nvSpPr>
          <p:cNvPr id="39" name="txt-out-2-1"/>
          <p:cNvSpPr txBox="1"/>
          <p:nvPr/>
        </p:nvSpPr>
        <p:spPr>
          <a:xfrm>
            <a:off x="18916650" y="9124950"/>
            <a:ext cx="8429625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3187" b="0" i="0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复杂的商业智能 (BI) 深度分析模块，仅</a:t>
            </a:r>
          </a:p>
        </p:txBody>
      </p:sp>
      <p:sp>
        <p:nvSpPr>
          <p:cNvPr id="40" name="txt-out-2-2"/>
          <p:cNvSpPr txBox="1"/>
          <p:nvPr/>
        </p:nvSpPr>
        <p:spPr>
          <a:xfrm>
            <a:off x="18916650" y="9667875"/>
            <a:ext cx="401955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3187" b="0" i="0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保留基础报表功能</a:t>
            </a:r>
          </a:p>
        </p:txBody>
      </p:sp>
      <p:sp>
        <p:nvSpPr>
          <p:cNvPr id="41" name="badge-in-3-ring"/>
          <p:cNvSpPr/>
          <p:nvPr/>
        </p:nvSpPr>
        <p:spPr>
          <a:xfrm>
            <a:off x="11972925" y="11268075"/>
            <a:ext cx="1609725" cy="1609725"/>
          </a:xfrm>
          <a:prstGeom prst="ellipse">
            <a:avLst/>
          </a:prstGeom>
          <a:solidFill>
            <a:srgbClr val="467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badge-in-3"/>
          <p:cNvSpPr/>
          <p:nvPr/>
        </p:nvSpPr>
        <p:spPr>
          <a:xfrm>
            <a:off x="12177712" y="11472862"/>
            <a:ext cx="1200150" cy="1200150"/>
          </a:xfrm>
          <a:prstGeom prst="ellipse">
            <a:avLst/>
          </a:prstGeom>
          <a:solidFill>
            <a:srgbClr val="6C9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badge-in-3-num"/>
          <p:cNvSpPr txBox="1"/>
          <p:nvPr/>
        </p:nvSpPr>
        <p:spPr>
          <a:xfrm>
            <a:off x="12187238" y="11634788"/>
            <a:ext cx="1181100" cy="8763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43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44" name="badge-out-3-ring"/>
          <p:cNvSpPr/>
          <p:nvPr/>
        </p:nvSpPr>
        <p:spPr>
          <a:xfrm>
            <a:off x="16587788" y="11268075"/>
            <a:ext cx="1609725" cy="1609725"/>
          </a:xfrm>
          <a:prstGeom prst="ellipse">
            <a:avLst/>
          </a:prstGeom>
          <a:solidFill>
            <a:srgbClr val="4ED7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badge-out-3"/>
          <p:cNvSpPr/>
          <p:nvPr/>
        </p:nvSpPr>
        <p:spPr>
          <a:xfrm>
            <a:off x="16792575" y="11472862"/>
            <a:ext cx="1200150" cy="1200150"/>
          </a:xfrm>
          <a:prstGeom prst="ellipse">
            <a:avLst/>
          </a:prstGeom>
          <a:solidFill>
            <a:srgbClr val="70DF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badge-out-3-num"/>
          <p:cNvSpPr txBox="1"/>
          <p:nvPr/>
        </p:nvSpPr>
        <p:spPr>
          <a:xfrm>
            <a:off x="16802100" y="11634788"/>
            <a:ext cx="1181100" cy="8763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43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cxnSp>
        <p:nvCxnSpPr>
          <p:cNvPr id="47" name="tick-in-3"/>
          <p:cNvCxnSpPr/>
          <p:nvPr/>
        </p:nvCxnSpPr>
        <p:spPr>
          <a:xfrm>
            <a:off x="11506200" y="12072938"/>
            <a:ext cx="466725" cy="0"/>
          </a:xfrm>
          <a:prstGeom prst="line">
            <a:avLst/>
          </a:prstGeom>
          <a:ln w="28575">
            <a:solidFill>
              <a:srgbClr val="467DF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tick-out-3"/>
          <p:cNvCxnSpPr/>
          <p:nvPr/>
        </p:nvCxnSpPr>
        <p:spPr>
          <a:xfrm>
            <a:off x="18202275" y="12072938"/>
            <a:ext cx="457200" cy="0"/>
          </a:xfrm>
          <a:prstGeom prst="line">
            <a:avLst/>
          </a:prstGeom>
          <a:ln w="28575">
            <a:solidFill>
              <a:srgbClr val="4ED7C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xt-in-3-1"/>
          <p:cNvSpPr txBox="1"/>
          <p:nvPr/>
        </p:nvSpPr>
        <p:spPr>
          <a:xfrm>
            <a:off x="3867150" y="11439525"/>
            <a:ext cx="748665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3187" b="0" i="0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系统支持 PC 端主流浏览器及 iOS/</a:t>
            </a:r>
          </a:p>
        </p:txBody>
      </p:sp>
      <p:sp>
        <p:nvSpPr>
          <p:cNvPr id="50" name="txt-in-3-2"/>
          <p:cNvSpPr txBox="1"/>
          <p:nvPr/>
        </p:nvSpPr>
        <p:spPr>
          <a:xfrm>
            <a:off x="3419475" y="11982450"/>
            <a:ext cx="790575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3187" b="0" i="0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Android 移动端浏览器的自适应访问</a:t>
            </a:r>
          </a:p>
        </p:txBody>
      </p:sp>
      <p:sp>
        <p:nvSpPr>
          <p:cNvPr id="51" name="txt-out-3-1"/>
          <p:cNvSpPr txBox="1"/>
          <p:nvPr/>
        </p:nvSpPr>
        <p:spPr>
          <a:xfrm>
            <a:off x="18916650" y="11439525"/>
            <a:ext cx="78486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3187" b="0" i="0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与第三方社交媒体平台（如微信、微</a:t>
            </a:r>
          </a:p>
        </p:txBody>
      </p:sp>
      <p:sp>
        <p:nvSpPr>
          <p:cNvPr id="52" name="txt-out-3-2"/>
          <p:cNvSpPr txBox="1"/>
          <p:nvPr/>
        </p:nvSpPr>
        <p:spPr>
          <a:xfrm>
            <a:off x="18916650" y="11982450"/>
            <a:ext cx="497205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3187" b="0" i="0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博）的自动化数据同步</a:t>
            </a:r>
          </a:p>
        </p:txBody>
      </p:sp>
      <p:sp>
        <p:nvSpPr>
          <p:cNvPr id="53" name="badge-in-4-ring"/>
          <p:cNvSpPr/>
          <p:nvPr/>
        </p:nvSpPr>
        <p:spPr>
          <a:xfrm>
            <a:off x="11972925" y="13592175"/>
            <a:ext cx="1609725" cy="1609725"/>
          </a:xfrm>
          <a:prstGeom prst="ellipse">
            <a:avLst/>
          </a:prstGeom>
          <a:solidFill>
            <a:srgbClr val="467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badge-in-4"/>
          <p:cNvSpPr/>
          <p:nvPr/>
        </p:nvSpPr>
        <p:spPr>
          <a:xfrm>
            <a:off x="12177712" y="13796962"/>
            <a:ext cx="1200150" cy="1200150"/>
          </a:xfrm>
          <a:prstGeom prst="ellipse">
            <a:avLst/>
          </a:prstGeom>
          <a:solidFill>
            <a:srgbClr val="6C9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badge-in-4-num"/>
          <p:cNvSpPr txBox="1"/>
          <p:nvPr/>
        </p:nvSpPr>
        <p:spPr>
          <a:xfrm>
            <a:off x="12187238" y="13958888"/>
            <a:ext cx="1181100" cy="8763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43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56" name="badge-out-4-ring"/>
          <p:cNvSpPr/>
          <p:nvPr/>
        </p:nvSpPr>
        <p:spPr>
          <a:xfrm>
            <a:off x="16587788" y="13592175"/>
            <a:ext cx="1609725" cy="1609725"/>
          </a:xfrm>
          <a:prstGeom prst="ellipse">
            <a:avLst/>
          </a:prstGeom>
          <a:solidFill>
            <a:srgbClr val="4ED7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badge-out-4"/>
          <p:cNvSpPr/>
          <p:nvPr/>
        </p:nvSpPr>
        <p:spPr>
          <a:xfrm>
            <a:off x="16792575" y="13796962"/>
            <a:ext cx="1200150" cy="1200150"/>
          </a:xfrm>
          <a:prstGeom prst="ellipse">
            <a:avLst/>
          </a:prstGeom>
          <a:solidFill>
            <a:srgbClr val="70DF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badge-out-4-num"/>
          <p:cNvSpPr txBox="1"/>
          <p:nvPr/>
        </p:nvSpPr>
        <p:spPr>
          <a:xfrm>
            <a:off x="16802100" y="13958888"/>
            <a:ext cx="1181100" cy="8763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43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cxnSp>
        <p:nvCxnSpPr>
          <p:cNvPr id="59" name="tick-in-4"/>
          <p:cNvCxnSpPr/>
          <p:nvPr/>
        </p:nvCxnSpPr>
        <p:spPr>
          <a:xfrm>
            <a:off x="11506200" y="14397038"/>
            <a:ext cx="466725" cy="0"/>
          </a:xfrm>
          <a:prstGeom prst="line">
            <a:avLst/>
          </a:prstGeom>
          <a:ln w="28575">
            <a:solidFill>
              <a:srgbClr val="467DF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tick-out-4"/>
          <p:cNvCxnSpPr/>
          <p:nvPr/>
        </p:nvCxnSpPr>
        <p:spPr>
          <a:xfrm>
            <a:off x="18202275" y="14397038"/>
            <a:ext cx="457200" cy="0"/>
          </a:xfrm>
          <a:prstGeom prst="line">
            <a:avLst/>
          </a:prstGeom>
          <a:ln w="28575">
            <a:solidFill>
              <a:srgbClr val="4ED7C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txt-in-4-1"/>
          <p:cNvSpPr txBox="1"/>
          <p:nvPr/>
        </p:nvSpPr>
        <p:spPr>
          <a:xfrm>
            <a:off x="3019425" y="13773150"/>
            <a:ext cx="832485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3187" b="0" i="0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提供基于业务数据的基础统计分析报表</a:t>
            </a:r>
          </a:p>
        </p:txBody>
      </p:sp>
      <p:sp>
        <p:nvSpPr>
          <p:cNvPr id="62" name="txt-in-4-2"/>
          <p:cNvSpPr txBox="1"/>
          <p:nvPr/>
        </p:nvSpPr>
        <p:spPr>
          <a:xfrm>
            <a:off x="7315200" y="14316075"/>
            <a:ext cx="4029075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3187" b="0" i="0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与可视化图表功能</a:t>
            </a:r>
          </a:p>
        </p:txBody>
      </p:sp>
      <p:sp>
        <p:nvSpPr>
          <p:cNvPr id="63" name="txt-out-4-1"/>
          <p:cNvSpPr txBox="1"/>
          <p:nvPr/>
        </p:nvSpPr>
        <p:spPr>
          <a:xfrm>
            <a:off x="18907125" y="13773150"/>
            <a:ext cx="8296275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3187" b="0" i="0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项目上线后的长期运维与技术支持（由</a:t>
            </a:r>
          </a:p>
        </p:txBody>
      </p:sp>
      <p:sp>
        <p:nvSpPr>
          <p:cNvPr id="64" name="txt-out-4-2"/>
          <p:cNvSpPr txBox="1"/>
          <p:nvPr/>
        </p:nvSpPr>
        <p:spPr>
          <a:xfrm>
            <a:off x="18916650" y="14316075"/>
            <a:ext cx="3305175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3187" b="0" i="0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IT运维部负责）</a:t>
            </a:r>
          </a:p>
        </p:txBody>
      </p:sp>
      <p:sp>
        <p:nvSpPr>
          <p:cNvPr id="65" name="footer-bar"/>
          <p:cNvSpPr/>
          <p:nvPr/>
        </p:nvSpPr>
        <p:spPr>
          <a:xfrm>
            <a:off x="895350" y="15773400"/>
            <a:ext cx="28727400" cy="457200"/>
          </a:xfrm>
          <a:prstGeom prst="rect">
            <a:avLst/>
          </a:prstGeom>
          <a:solidFill>
            <a:srgbClr val="467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