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meline-shadow"/>
          <p:cNvSpPr/>
          <p:nvPr/>
        </p:nvSpPr>
        <p:spPr>
          <a:xfrm>
            <a:off x="1333500" y="1838325"/>
            <a:ext cx="27603450" cy="5219700"/>
          </a:xfrm>
          <a:custGeom>
            <a:avLst/>
            <a:gdLst/>
            <a:ahLst/>
            <a:cxnLst/>
            <a:rect l="l" t="t" r="r" b="b"/>
            <a:pathLst>
              <a:path w="27603450" h="5219700">
                <a:moveTo>
                  <a:pt x="0" y="5219700"/>
                </a:moveTo>
                <a:lnTo>
                  <a:pt x="2495550" y="5057775"/>
                </a:lnTo>
                <a:lnTo>
                  <a:pt x="7096125" y="4667250"/>
                </a:lnTo>
                <a:lnTo>
                  <a:pt x="11982450" y="4114800"/>
                </a:lnTo>
                <a:lnTo>
                  <a:pt x="17459325" y="2771775"/>
                </a:lnTo>
                <a:lnTo>
                  <a:pt x="23002875" y="790575"/>
                </a:lnTo>
                <a:lnTo>
                  <a:pt x="27603450" y="0"/>
                </a:lnTo>
              </a:path>
            </a:pathLst>
          </a:custGeom>
          <a:noFill/>
          <a:ln w="133350">
            <a:solidFill>
              <a:srgbClr val="EA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meline"/>
          <p:cNvSpPr/>
          <p:nvPr/>
        </p:nvSpPr>
        <p:spPr>
          <a:xfrm>
            <a:off x="1333500" y="1790700"/>
            <a:ext cx="27603450" cy="5219700"/>
          </a:xfrm>
          <a:custGeom>
            <a:avLst/>
            <a:gdLst/>
            <a:ahLst/>
            <a:cxnLst/>
            <a:rect l="l" t="t" r="r" b="b"/>
            <a:pathLst>
              <a:path w="27603450" h="5219700">
                <a:moveTo>
                  <a:pt x="0" y="5219700"/>
                </a:moveTo>
                <a:lnTo>
                  <a:pt x="2495550" y="5057775"/>
                </a:lnTo>
                <a:lnTo>
                  <a:pt x="7096125" y="4667250"/>
                </a:lnTo>
                <a:lnTo>
                  <a:pt x="11982450" y="4114800"/>
                </a:lnTo>
                <a:lnTo>
                  <a:pt x="17459325" y="2771775"/>
                </a:lnTo>
                <a:lnTo>
                  <a:pt x="23002875" y="790575"/>
                </a:lnTo>
                <a:lnTo>
                  <a:pt x="27603450" y="0"/>
                </a:lnTo>
              </a:path>
            </a:pathLst>
          </a:custGeom>
          <a:noFill/>
          <a:ln w="114300">
            <a:solidFill>
              <a:srgbClr val="F2F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-1"/>
          <p:cNvSpPr/>
          <p:nvPr/>
        </p:nvSpPr>
        <p:spPr>
          <a:xfrm>
            <a:off x="1171575" y="6962775"/>
            <a:ext cx="5153025" cy="1524000"/>
          </a:xfrm>
          <a:custGeom>
            <a:avLst/>
            <a:gdLst/>
            <a:ahLst/>
            <a:cxnLst/>
            <a:rect l="l" t="t" r="r" b="b"/>
            <a:pathLst>
              <a:path w="5153025" h="1524000">
                <a:moveTo>
                  <a:pt x="0" y="200025"/>
                </a:moveTo>
                <a:lnTo>
                  <a:pt x="4924425" y="0"/>
                </a:lnTo>
                <a:lnTo>
                  <a:pt x="5153025" y="1343025"/>
                </a:lnTo>
                <a:lnTo>
                  <a:pt x="0" y="1524000"/>
                </a:lnTo>
                <a:close/>
              </a:path>
            </a:pathLst>
          </a:custGeom>
          <a:gradFill rotWithShape="1">
            <a:gsLst>
              <a:gs pos="0">
                <a:srgbClr val="2A66A6"/>
              </a:gs>
              <a:gs pos="100000">
                <a:srgbClr val="1D4C86"/>
              </a:gs>
            </a:gsLst>
            <a:lin scaled="0" ang="15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ge-1-t1"/>
          <p:cNvSpPr txBox="1"/>
          <p:nvPr/>
        </p:nvSpPr>
        <p:spPr>
          <a:xfrm>
            <a:off x="2857500" y="7200900"/>
            <a:ext cx="1905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入门阶段</a:t>
            </a:r>
          </a:p>
        </p:txBody>
      </p:sp>
      <p:sp>
        <p:nvSpPr>
          <p:cNvPr id="7" name="stage-1-t2"/>
          <p:cNvSpPr txBox="1"/>
          <p:nvPr/>
        </p:nvSpPr>
        <p:spPr>
          <a:xfrm>
            <a:off x="1524000" y="7677150"/>
            <a:ext cx="44767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编程启蒙 &amp; 基础构建</a:t>
            </a:r>
          </a:p>
        </p:txBody>
      </p:sp>
      <p:sp>
        <p:nvSpPr>
          <p:cNvPr id="8" name="stage-2"/>
          <p:cNvSpPr/>
          <p:nvPr/>
        </p:nvSpPr>
        <p:spPr>
          <a:xfrm>
            <a:off x="6248400" y="6438900"/>
            <a:ext cx="4895850" cy="1828800"/>
          </a:xfrm>
          <a:custGeom>
            <a:avLst/>
            <a:gdLst/>
            <a:ahLst/>
            <a:cxnLst/>
            <a:rect l="l" t="t" r="r" b="b"/>
            <a:pathLst>
              <a:path w="4895850" h="1828800">
                <a:moveTo>
                  <a:pt x="0" y="504825"/>
                </a:moveTo>
                <a:lnTo>
                  <a:pt x="4552950" y="0"/>
                </a:lnTo>
                <a:lnTo>
                  <a:pt x="4895850" y="1828800"/>
                </a:lnTo>
                <a:lnTo>
                  <a:pt x="304800" y="1828800"/>
                </a:lnTo>
                <a:close/>
              </a:path>
            </a:pathLst>
          </a:custGeom>
          <a:gradFill rotWithShape="1">
            <a:gsLst>
              <a:gs pos="0">
                <a:srgbClr val="2A66A6"/>
              </a:gs>
              <a:gs pos="100000">
                <a:srgbClr val="1D4C86"/>
              </a:gs>
            </a:gsLst>
            <a:lin scaled="0" ang="15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ge-2-t1"/>
          <p:cNvSpPr txBox="1"/>
          <p:nvPr/>
        </p:nvSpPr>
        <p:spPr>
          <a:xfrm>
            <a:off x="7762875" y="6858000"/>
            <a:ext cx="1905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进阶阶段</a:t>
            </a:r>
          </a:p>
        </p:txBody>
      </p:sp>
      <p:sp>
        <p:nvSpPr>
          <p:cNvPr id="10" name="stage-2-t2"/>
          <p:cNvSpPr txBox="1"/>
          <p:nvPr/>
        </p:nvSpPr>
        <p:spPr>
          <a:xfrm>
            <a:off x="6667500" y="7353300"/>
            <a:ext cx="42862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语言深化 &amp; Web开发</a:t>
            </a:r>
          </a:p>
        </p:txBody>
      </p:sp>
      <p:sp>
        <p:nvSpPr>
          <p:cNvPr id="11" name="stage-3"/>
          <p:cNvSpPr/>
          <p:nvPr/>
        </p:nvSpPr>
        <p:spPr>
          <a:xfrm>
            <a:off x="11029950" y="5943600"/>
            <a:ext cx="5095875" cy="2305050"/>
          </a:xfrm>
          <a:custGeom>
            <a:avLst/>
            <a:gdLst/>
            <a:ahLst/>
            <a:cxnLst/>
            <a:rect l="l" t="t" r="r" b="b"/>
            <a:pathLst>
              <a:path w="5095875" h="2305050">
                <a:moveTo>
                  <a:pt x="0" y="495300"/>
                </a:moveTo>
                <a:lnTo>
                  <a:pt x="4629150" y="0"/>
                </a:lnTo>
                <a:lnTo>
                  <a:pt x="5095875" y="2305050"/>
                </a:lnTo>
                <a:lnTo>
                  <a:pt x="323850" y="2305050"/>
                </a:lnTo>
                <a:close/>
              </a:path>
            </a:pathLst>
          </a:custGeom>
          <a:gradFill rotWithShape="1">
            <a:gsLst>
              <a:gs pos="0">
                <a:srgbClr val="2F6EAE"/>
              </a:gs>
              <a:gs pos="100000">
                <a:srgbClr val="1D4C86"/>
              </a:gs>
            </a:gsLst>
            <a:lin scaled="0" ang="15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ge-3-t1"/>
          <p:cNvSpPr txBox="1"/>
          <p:nvPr/>
        </p:nvSpPr>
        <p:spPr>
          <a:xfrm>
            <a:off x="12334875" y="6324600"/>
            <a:ext cx="1905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资深阶段</a:t>
            </a:r>
          </a:p>
        </p:txBody>
      </p:sp>
      <p:sp>
        <p:nvSpPr>
          <p:cNvPr id="13" name="stage-3-t2"/>
          <p:cNvSpPr txBox="1"/>
          <p:nvPr/>
        </p:nvSpPr>
        <p:spPr>
          <a:xfrm>
            <a:off x="11430000" y="6819900"/>
            <a:ext cx="43815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架构思维 &amp; 云原生转型</a:t>
            </a:r>
          </a:p>
        </p:txBody>
      </p:sp>
      <p:sp>
        <p:nvSpPr>
          <p:cNvPr id="14" name="stage-4"/>
          <p:cNvSpPr/>
          <p:nvPr/>
        </p:nvSpPr>
        <p:spPr>
          <a:xfrm>
            <a:off x="16211550" y="4286250"/>
            <a:ext cx="6448425" cy="3000375"/>
          </a:xfrm>
          <a:custGeom>
            <a:avLst/>
            <a:gdLst/>
            <a:ahLst/>
            <a:cxnLst/>
            <a:rect l="l" t="t" r="r" b="b"/>
            <a:pathLst>
              <a:path w="6448425" h="3000375">
                <a:moveTo>
                  <a:pt x="0" y="1276350"/>
                </a:moveTo>
                <a:lnTo>
                  <a:pt x="4838700" y="0"/>
                </a:lnTo>
                <a:lnTo>
                  <a:pt x="6448425" y="1866900"/>
                </a:lnTo>
                <a:lnTo>
                  <a:pt x="1419225" y="3000375"/>
                </a:lnTo>
                <a:close/>
              </a:path>
            </a:pathLst>
          </a:custGeom>
          <a:gradFill rotWithShape="1">
            <a:gsLst>
              <a:gs pos="0">
                <a:srgbClr val="356FA8"/>
              </a:gs>
              <a:gs pos="100000">
                <a:srgbClr val="1D4C86"/>
              </a:gs>
            </a:gsLst>
            <a:lin scaled="0" ang="15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-4-t1"/>
          <p:cNvSpPr txBox="1"/>
          <p:nvPr/>
        </p:nvSpPr>
        <p:spPr>
          <a:xfrm rot="20880000">
            <a:off x="17735550" y="4876800"/>
            <a:ext cx="2000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专家阶段</a:t>
            </a:r>
          </a:p>
        </p:txBody>
      </p:sp>
      <p:sp>
        <p:nvSpPr>
          <p:cNvPr id="16" name="stage-4-t2"/>
          <p:cNvSpPr txBox="1"/>
          <p:nvPr/>
        </p:nvSpPr>
        <p:spPr>
          <a:xfrm rot="20880000">
            <a:off x="16935450" y="5600700"/>
            <a:ext cx="4191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技术领导力 &amp; 领域专精</a:t>
            </a:r>
          </a:p>
        </p:txBody>
      </p:sp>
      <p:sp>
        <p:nvSpPr>
          <p:cNvPr id="17" name="stage-5"/>
          <p:cNvSpPr/>
          <p:nvPr/>
        </p:nvSpPr>
        <p:spPr>
          <a:xfrm>
            <a:off x="21336000" y="1762125"/>
            <a:ext cx="7962900" cy="4457700"/>
          </a:xfrm>
          <a:custGeom>
            <a:avLst/>
            <a:gdLst/>
            <a:ahLst/>
            <a:cxnLst/>
            <a:rect l="l" t="t" r="r" b="b"/>
            <a:pathLst>
              <a:path w="7962900" h="4457700">
                <a:moveTo>
                  <a:pt x="0" y="2085975"/>
                </a:moveTo>
                <a:lnTo>
                  <a:pt x="5638800" y="0"/>
                </a:lnTo>
                <a:lnTo>
                  <a:pt x="7962900" y="2209800"/>
                </a:lnTo>
                <a:lnTo>
                  <a:pt x="1724025" y="4457700"/>
                </a:lnTo>
                <a:close/>
              </a:path>
            </a:pathLst>
          </a:custGeom>
          <a:gradFill rotWithShape="1">
            <a:gsLst>
              <a:gs pos="0">
                <a:srgbClr val="3A5F94"/>
              </a:gs>
              <a:gs pos="100000">
                <a:srgbClr val="1D4C86"/>
              </a:gs>
            </a:gsLst>
            <a:lin scaled="0" ang="15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-5-t1"/>
          <p:cNvSpPr txBox="1"/>
          <p:nvPr/>
        </p:nvSpPr>
        <p:spPr>
          <a:xfrm rot="20580000">
            <a:off x="23812500" y="2819400"/>
            <a:ext cx="2000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前瞻阶段</a:t>
            </a:r>
          </a:p>
        </p:txBody>
      </p:sp>
      <p:sp>
        <p:nvSpPr>
          <p:cNvPr id="19" name="stage-5-t2"/>
          <p:cNvSpPr txBox="1"/>
          <p:nvPr/>
        </p:nvSpPr>
        <p:spPr>
          <a:xfrm rot="20580000">
            <a:off x="22860000" y="3562350"/>
            <a:ext cx="43815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持续进化 &amp; 前沿探索</a:t>
            </a:r>
          </a:p>
        </p:txBody>
      </p:sp>
      <p:sp>
        <p:nvSpPr>
          <p:cNvPr id="20" name="year-2018"/>
          <p:cNvSpPr txBox="1"/>
          <p:nvPr/>
        </p:nvSpPr>
        <p:spPr>
          <a:xfrm>
            <a:off x="2209800" y="6000750"/>
            <a:ext cx="171450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17335E"/>
                </a:solidFill>
                <a:latin typeface="Microsoft YaHei"/>
                <a:ea typeface="Microsoft YaHei"/>
                <a:cs typeface="Microsoft YaHei"/>
              </a:rPr>
              <a:t>2018</a:t>
            </a:r>
          </a:p>
        </p:txBody>
      </p:sp>
      <p:sp>
        <p:nvSpPr>
          <p:cNvPr id="21" name="year-2019"/>
          <p:cNvSpPr txBox="1"/>
          <p:nvPr/>
        </p:nvSpPr>
        <p:spPr>
          <a:xfrm>
            <a:off x="7810500" y="5267325"/>
            <a:ext cx="171450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17335E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22" name="year-2022"/>
          <p:cNvSpPr txBox="1"/>
          <p:nvPr/>
        </p:nvSpPr>
        <p:spPr>
          <a:xfrm>
            <a:off x="12706350" y="4810125"/>
            <a:ext cx="171450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17335E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23" name="year-2023-2024"/>
          <p:cNvSpPr txBox="1"/>
          <p:nvPr/>
        </p:nvSpPr>
        <p:spPr>
          <a:xfrm rot="20880000">
            <a:off x="17316450" y="3200400"/>
            <a:ext cx="323850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17335E"/>
                </a:solidFill>
                <a:latin typeface="Microsoft YaHei"/>
                <a:ea typeface="Microsoft YaHei"/>
                <a:cs typeface="Microsoft YaHei"/>
              </a:rPr>
              <a:t>2023-2024</a:t>
            </a:r>
          </a:p>
        </p:txBody>
      </p:sp>
      <p:sp>
        <p:nvSpPr>
          <p:cNvPr id="24" name="year-2025"/>
          <p:cNvSpPr txBox="1"/>
          <p:nvPr/>
        </p:nvSpPr>
        <p:spPr>
          <a:xfrm rot="20880000">
            <a:off x="23393400" y="1657350"/>
            <a:ext cx="171450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450" b="1" i="0">
                <a:solidFill>
                  <a:srgbClr val="17335E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5" name="node-1"/>
          <p:cNvSpPr/>
          <p:nvPr/>
        </p:nvSpPr>
        <p:spPr>
          <a:xfrm>
            <a:off x="3695700" y="6715125"/>
            <a:ext cx="266700" cy="2667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ode-2"/>
          <p:cNvSpPr/>
          <p:nvPr/>
        </p:nvSpPr>
        <p:spPr>
          <a:xfrm>
            <a:off x="8296275" y="6324600"/>
            <a:ext cx="266700" cy="2667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ode-3"/>
          <p:cNvSpPr/>
          <p:nvPr/>
        </p:nvSpPr>
        <p:spPr>
          <a:xfrm>
            <a:off x="13182600" y="5772150"/>
            <a:ext cx="266700" cy="2667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ode-4"/>
          <p:cNvSpPr/>
          <p:nvPr/>
        </p:nvSpPr>
        <p:spPr>
          <a:xfrm>
            <a:off x="18659475" y="4429125"/>
            <a:ext cx="266700" cy="2667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ode-5"/>
          <p:cNvSpPr/>
          <p:nvPr/>
        </p:nvSpPr>
        <p:spPr>
          <a:xfrm>
            <a:off x="24203025" y="2447925"/>
            <a:ext cx="266700" cy="2667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29" name="runner-1"/>
          <p:cNvGrpSpPr/>
          <p:nvPr/>
        </p:nvGrpSpPr>
        <p:grpSpPr>
          <a:xfrm>
            <a:off x="1323022" y="5823204"/>
            <a:ext cx="744856" cy="771144"/>
            <a:chOff x="1323022" y="5823204"/>
            <a:chExt cx="744856" cy="771144"/>
          </a:xfrm>
        </p:grpSpPr>
        <p:sp>
          <p:nvSpPr>
            <p:cNvPr id="30" name="Oval 29"/>
            <p:cNvSpPr/>
            <p:nvPr/>
          </p:nvSpPr>
          <p:spPr>
            <a:xfrm>
              <a:off x="1511427" y="5823204"/>
              <a:ext cx="368046" cy="368046"/>
            </a:xfrm>
            <a:prstGeom prst="ellipse">
              <a:avLst/>
            </a:prstGeom>
            <a:solidFill>
              <a:srgbClr val="0B3E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323022" y="6243828"/>
              <a:ext cx="744856" cy="350520"/>
            </a:xfrm>
            <a:custGeom>
              <a:avLst/>
              <a:gdLst/>
              <a:ahLst/>
              <a:cxnLst/>
              <a:rect l="l" t="t" r="r" b="b"/>
              <a:pathLst>
                <a:path w="744856" h="350520">
                  <a:moveTo>
                    <a:pt x="0" y="350520"/>
                  </a:moveTo>
                  <a:lnTo>
                    <a:pt x="372428" y="0"/>
                  </a:lnTo>
                  <a:lnTo>
                    <a:pt x="744856" y="350520"/>
                  </a:lnTo>
                  <a:close/>
                </a:path>
              </a:pathLst>
            </a:custGeom>
            <a:solidFill>
              <a:srgbClr val="0B3E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runner-2"/>
          <p:cNvGrpSpPr/>
          <p:nvPr/>
        </p:nvGrpSpPr>
        <p:grpSpPr>
          <a:xfrm>
            <a:off x="15657909" y="3226118"/>
            <a:ext cx="1335882" cy="1383030"/>
            <a:chOff x="15657909" y="3226118"/>
            <a:chExt cx="1335882" cy="1383030"/>
          </a:xfrm>
        </p:grpSpPr>
        <p:sp>
          <p:nvSpPr>
            <p:cNvPr id="32" name="Oval 31"/>
            <p:cNvSpPr/>
            <p:nvPr/>
          </p:nvSpPr>
          <p:spPr>
            <a:xfrm>
              <a:off x="15995809" y="3226118"/>
              <a:ext cx="660082" cy="660082"/>
            </a:xfrm>
            <a:prstGeom prst="ellipse">
              <a:avLst/>
            </a:prstGeom>
            <a:solidFill>
              <a:srgbClr val="0B3E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5657909" y="3980498"/>
              <a:ext cx="1335882" cy="628650"/>
            </a:xfrm>
            <a:custGeom>
              <a:avLst/>
              <a:gdLst/>
              <a:ahLst/>
              <a:cxnLst/>
              <a:rect l="l" t="t" r="r" b="b"/>
              <a:pathLst>
                <a:path w="1335882" h="628650">
                  <a:moveTo>
                    <a:pt x="0" y="628650"/>
                  </a:moveTo>
                  <a:lnTo>
                    <a:pt x="667941" y="0"/>
                  </a:lnTo>
                  <a:lnTo>
                    <a:pt x="1335882" y="628650"/>
                  </a:lnTo>
                  <a:close/>
                </a:path>
              </a:pathLst>
            </a:custGeom>
            <a:solidFill>
              <a:srgbClr val="0B3E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4" name="stem-1"/>
          <p:cNvCxnSpPr/>
          <p:nvPr/>
        </p:nvCxnSpPr>
        <p:spPr>
          <a:xfrm>
            <a:off x="3867150" y="8439150"/>
            <a:ext cx="0" cy="590550"/>
          </a:xfrm>
          <a:prstGeom prst="line">
            <a:avLst/>
          </a:prstGeom>
          <a:ln w="38100">
            <a:solidFill>
              <a:srgbClr val="AFC2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ot-1"/>
          <p:cNvSpPr/>
          <p:nvPr/>
        </p:nvSpPr>
        <p:spPr>
          <a:xfrm>
            <a:off x="3781425" y="8810625"/>
            <a:ext cx="171450" cy="171450"/>
          </a:xfrm>
          <a:prstGeom prst="ellipse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nel-1"/>
          <p:cNvSpPr/>
          <p:nvPr/>
        </p:nvSpPr>
        <p:spPr>
          <a:xfrm>
            <a:off x="1266825" y="9029700"/>
            <a:ext cx="5210175" cy="3419475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anel-1-l1"/>
          <p:cNvSpPr txBox="1"/>
          <p:nvPr/>
        </p:nvSpPr>
        <p:spPr>
          <a:xfrm>
            <a:off x="2105025" y="9448800"/>
            <a:ext cx="425767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●命令行版“学生成绩</a:t>
            </a:r>
          </a:p>
        </p:txBody>
      </p:sp>
      <p:sp>
        <p:nvSpPr>
          <p:cNvPr id="38" name="panel-1-l2"/>
          <p:cNvSpPr txBox="1"/>
          <p:nvPr/>
        </p:nvSpPr>
        <p:spPr>
          <a:xfrm>
            <a:off x="2105025" y="10020300"/>
            <a:ext cx="425767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管理系统”（C语言）</a:t>
            </a:r>
          </a:p>
        </p:txBody>
      </p:sp>
      <p:sp>
        <p:nvSpPr>
          <p:cNvPr id="39" name="panel-1-l3"/>
          <p:cNvSpPr txBox="1"/>
          <p:nvPr/>
        </p:nvSpPr>
        <p:spPr>
          <a:xfrm>
            <a:off x="2105025" y="10591800"/>
            <a:ext cx="425767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●静态个人博客网站</a:t>
            </a:r>
          </a:p>
        </p:txBody>
      </p:sp>
      <p:sp>
        <p:nvSpPr>
          <p:cNvPr id="40" name="panel-1-l4"/>
          <p:cNvSpPr txBox="1"/>
          <p:nvPr/>
        </p:nvSpPr>
        <p:spPr>
          <a:xfrm>
            <a:off x="2105025" y="11191875"/>
            <a:ext cx="425767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（HTML+CSS）</a:t>
            </a:r>
          </a:p>
        </p:txBody>
      </p:sp>
      <p:cxnSp>
        <p:nvCxnSpPr>
          <p:cNvPr id="41" name="stem-2"/>
          <p:cNvCxnSpPr/>
          <p:nvPr/>
        </p:nvCxnSpPr>
        <p:spPr>
          <a:xfrm>
            <a:off x="9639300" y="8248650"/>
            <a:ext cx="0" cy="781050"/>
          </a:xfrm>
          <a:prstGeom prst="line">
            <a:avLst/>
          </a:prstGeom>
          <a:ln w="38100">
            <a:solidFill>
              <a:srgbClr val="AFC2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ot-2"/>
          <p:cNvSpPr/>
          <p:nvPr/>
        </p:nvSpPr>
        <p:spPr>
          <a:xfrm>
            <a:off x="9553575" y="8810625"/>
            <a:ext cx="171450" cy="171450"/>
          </a:xfrm>
          <a:prstGeom prst="ellipse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nel-2"/>
          <p:cNvSpPr/>
          <p:nvPr/>
        </p:nvSpPr>
        <p:spPr>
          <a:xfrm>
            <a:off x="7019925" y="9029700"/>
            <a:ext cx="5238750" cy="3419475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nel-2-l1"/>
          <p:cNvSpPr txBox="1"/>
          <p:nvPr/>
        </p:nvSpPr>
        <p:spPr>
          <a:xfrm>
            <a:off x="7534275" y="9420225"/>
            <a:ext cx="46101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●校园二手书交易平台</a:t>
            </a:r>
          </a:p>
        </p:txBody>
      </p:sp>
      <p:sp>
        <p:nvSpPr>
          <p:cNvPr id="45" name="panel-2-l2"/>
          <p:cNvSpPr txBox="1"/>
          <p:nvPr/>
        </p:nvSpPr>
        <p:spPr>
          <a:xfrm>
            <a:off x="7534275" y="9991725"/>
            <a:ext cx="46101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（Django + Bootstrap +</a:t>
            </a:r>
          </a:p>
        </p:txBody>
      </p:sp>
      <p:sp>
        <p:nvSpPr>
          <p:cNvPr id="46" name="panel-2-l3"/>
          <p:cNvSpPr txBox="1"/>
          <p:nvPr/>
        </p:nvSpPr>
        <p:spPr>
          <a:xfrm>
            <a:off x="7534275" y="10572750"/>
            <a:ext cx="46101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MySQL）</a:t>
            </a:r>
          </a:p>
        </p:txBody>
      </p:sp>
      <p:sp>
        <p:nvSpPr>
          <p:cNvPr id="47" name="panel-2-l4"/>
          <p:cNvSpPr txBox="1"/>
          <p:nvPr/>
        </p:nvSpPr>
        <p:spPr>
          <a:xfrm>
            <a:off x="7534275" y="11144250"/>
            <a:ext cx="46101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●实现用户注册/登录、商品</a:t>
            </a:r>
          </a:p>
        </p:txBody>
      </p:sp>
      <p:sp>
        <p:nvSpPr>
          <p:cNvPr id="48" name="panel-2-l5"/>
          <p:cNvSpPr txBox="1"/>
          <p:nvPr/>
        </p:nvSpPr>
        <p:spPr>
          <a:xfrm>
            <a:off x="7534275" y="11715750"/>
            <a:ext cx="46101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发布、搜索功能</a:t>
            </a:r>
          </a:p>
        </p:txBody>
      </p:sp>
      <p:cxnSp>
        <p:nvCxnSpPr>
          <p:cNvPr id="49" name="stem-3"/>
          <p:cNvCxnSpPr/>
          <p:nvPr/>
        </p:nvCxnSpPr>
        <p:spPr>
          <a:xfrm>
            <a:off x="15401925" y="8058150"/>
            <a:ext cx="0" cy="971550"/>
          </a:xfrm>
          <a:prstGeom prst="line">
            <a:avLst/>
          </a:prstGeom>
          <a:ln w="38100">
            <a:solidFill>
              <a:srgbClr val="AFC2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t-3"/>
          <p:cNvSpPr/>
          <p:nvPr/>
        </p:nvSpPr>
        <p:spPr>
          <a:xfrm>
            <a:off x="15316200" y="8810625"/>
            <a:ext cx="171450" cy="171450"/>
          </a:xfrm>
          <a:prstGeom prst="ellipse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nel-3"/>
          <p:cNvSpPr/>
          <p:nvPr/>
        </p:nvSpPr>
        <p:spPr>
          <a:xfrm>
            <a:off x="12801600" y="9029700"/>
            <a:ext cx="5200650" cy="3419475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nel-3-l1"/>
          <p:cNvSpPr txBox="1"/>
          <p:nvPr/>
        </p:nvSpPr>
        <p:spPr>
          <a:xfrm>
            <a:off x="13296900" y="9401175"/>
            <a:ext cx="4591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●云原生CI/CD平台</a:t>
            </a:r>
          </a:p>
        </p:txBody>
      </p:sp>
      <p:sp>
        <p:nvSpPr>
          <p:cNvPr id="53" name="panel-3-l2"/>
          <p:cNvSpPr txBox="1"/>
          <p:nvPr/>
        </p:nvSpPr>
        <p:spPr>
          <a:xfrm>
            <a:off x="13296900" y="9982200"/>
            <a:ext cx="4591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（GitLab CI + Argo CD</a:t>
            </a:r>
          </a:p>
        </p:txBody>
      </p:sp>
      <p:sp>
        <p:nvSpPr>
          <p:cNvPr id="54" name="panel-3-l3"/>
          <p:cNvSpPr txBox="1"/>
          <p:nvPr/>
        </p:nvSpPr>
        <p:spPr>
          <a:xfrm>
            <a:off x="13296900" y="10563225"/>
            <a:ext cx="4591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+ K8s）</a:t>
            </a:r>
          </a:p>
        </p:txBody>
      </p:sp>
      <p:sp>
        <p:nvSpPr>
          <p:cNvPr id="55" name="panel-3-l4"/>
          <p:cNvSpPr txBox="1"/>
          <p:nvPr/>
        </p:nvSpPr>
        <p:spPr>
          <a:xfrm>
            <a:off x="13296900" y="11125200"/>
            <a:ext cx="4591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●主导重构核心交易系统为</a:t>
            </a:r>
          </a:p>
        </p:txBody>
      </p:sp>
      <p:sp>
        <p:nvSpPr>
          <p:cNvPr id="56" name="panel-3-l5"/>
          <p:cNvSpPr txBox="1"/>
          <p:nvPr/>
        </p:nvSpPr>
        <p:spPr>
          <a:xfrm>
            <a:off x="13296900" y="11706225"/>
            <a:ext cx="45910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微服务（Go + gRPC）</a:t>
            </a:r>
          </a:p>
        </p:txBody>
      </p:sp>
      <p:cxnSp>
        <p:nvCxnSpPr>
          <p:cNvPr id="57" name="stem-4"/>
          <p:cNvCxnSpPr/>
          <p:nvPr/>
        </p:nvCxnSpPr>
        <p:spPr>
          <a:xfrm>
            <a:off x="21183600" y="7867650"/>
            <a:ext cx="0" cy="1162050"/>
          </a:xfrm>
          <a:prstGeom prst="line">
            <a:avLst/>
          </a:prstGeom>
          <a:ln w="38100">
            <a:solidFill>
              <a:srgbClr val="AFC2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ot-4"/>
          <p:cNvSpPr/>
          <p:nvPr/>
        </p:nvSpPr>
        <p:spPr>
          <a:xfrm>
            <a:off x="21097875" y="8810625"/>
            <a:ext cx="171450" cy="171450"/>
          </a:xfrm>
          <a:prstGeom prst="ellipse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nel-4"/>
          <p:cNvSpPr/>
          <p:nvPr/>
        </p:nvSpPr>
        <p:spPr>
          <a:xfrm>
            <a:off x="18554700" y="9029700"/>
            <a:ext cx="5257800" cy="3419475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nel-4-l1"/>
          <p:cNvSpPr txBox="1"/>
          <p:nvPr/>
        </p:nvSpPr>
        <p:spPr>
          <a:xfrm>
            <a:off x="19069050" y="9420225"/>
            <a:ext cx="46291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●金融科技风控引擎（DDD</a:t>
            </a:r>
          </a:p>
        </p:txBody>
      </p:sp>
      <p:sp>
        <p:nvSpPr>
          <p:cNvPr id="61" name="panel-4-l2"/>
          <p:cNvSpPr txBox="1"/>
          <p:nvPr/>
        </p:nvSpPr>
        <p:spPr>
          <a:xfrm>
            <a:off x="19069050" y="10001250"/>
            <a:ext cx="46291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+ Event Sourcing +</a:t>
            </a:r>
          </a:p>
        </p:txBody>
      </p:sp>
      <p:sp>
        <p:nvSpPr>
          <p:cNvPr id="62" name="panel-4-l3"/>
          <p:cNvSpPr txBox="1"/>
          <p:nvPr/>
        </p:nvSpPr>
        <p:spPr>
          <a:xfrm>
            <a:off x="19069050" y="10582275"/>
            <a:ext cx="46291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Kafka）</a:t>
            </a:r>
          </a:p>
        </p:txBody>
      </p:sp>
      <p:sp>
        <p:nvSpPr>
          <p:cNvPr id="63" name="panel-4-l4"/>
          <p:cNvSpPr txBox="1"/>
          <p:nvPr/>
        </p:nvSpPr>
        <p:spPr>
          <a:xfrm>
            <a:off x="19069050" y="11144250"/>
            <a:ext cx="46291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●搭建团队技术中台（统一</a:t>
            </a:r>
          </a:p>
        </p:txBody>
      </p:sp>
      <p:sp>
        <p:nvSpPr>
          <p:cNvPr id="64" name="panel-4-l5"/>
          <p:cNvSpPr txBox="1"/>
          <p:nvPr/>
        </p:nvSpPr>
        <p:spPr>
          <a:xfrm>
            <a:off x="19069050" y="11715750"/>
            <a:ext cx="46291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网关、认证、监控）</a:t>
            </a:r>
          </a:p>
        </p:txBody>
      </p:sp>
      <p:cxnSp>
        <p:nvCxnSpPr>
          <p:cNvPr id="65" name="stem-5"/>
          <p:cNvCxnSpPr/>
          <p:nvPr/>
        </p:nvCxnSpPr>
        <p:spPr>
          <a:xfrm>
            <a:off x="26927175" y="7677150"/>
            <a:ext cx="0" cy="1352550"/>
          </a:xfrm>
          <a:prstGeom prst="line">
            <a:avLst/>
          </a:prstGeom>
          <a:ln w="38100">
            <a:solidFill>
              <a:srgbClr val="AFC2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dot-5"/>
          <p:cNvSpPr/>
          <p:nvPr/>
        </p:nvSpPr>
        <p:spPr>
          <a:xfrm>
            <a:off x="26841450" y="8810625"/>
            <a:ext cx="171450" cy="171450"/>
          </a:xfrm>
          <a:prstGeom prst="ellipse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nel-5"/>
          <p:cNvSpPr/>
          <p:nvPr/>
        </p:nvSpPr>
        <p:spPr>
          <a:xfrm>
            <a:off x="24326850" y="9029700"/>
            <a:ext cx="5210175" cy="3419475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nel-5-l1"/>
          <p:cNvSpPr txBox="1"/>
          <p:nvPr/>
        </p:nvSpPr>
        <p:spPr>
          <a:xfrm>
            <a:off x="24641175" y="9477375"/>
            <a:ext cx="47815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●智能代码助手插件</a:t>
            </a:r>
          </a:p>
        </p:txBody>
      </p:sp>
      <p:sp>
        <p:nvSpPr>
          <p:cNvPr id="69" name="panel-5-l2"/>
          <p:cNvSpPr txBox="1"/>
          <p:nvPr/>
        </p:nvSpPr>
        <p:spPr>
          <a:xfrm>
            <a:off x="24641175" y="10058400"/>
            <a:ext cx="47815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（VSCode扩展 + RAG）</a:t>
            </a:r>
          </a:p>
        </p:txBody>
      </p:sp>
      <p:sp>
        <p:nvSpPr>
          <p:cNvPr id="70" name="panel-5-l3"/>
          <p:cNvSpPr txBox="1"/>
          <p:nvPr/>
        </p:nvSpPr>
        <p:spPr>
          <a:xfrm>
            <a:off x="24641175" y="10620375"/>
            <a:ext cx="47815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●集成私有知识库，提升团队</a:t>
            </a:r>
          </a:p>
        </p:txBody>
      </p:sp>
      <p:sp>
        <p:nvSpPr>
          <p:cNvPr id="71" name="panel-5-l4"/>
          <p:cNvSpPr txBox="1"/>
          <p:nvPr/>
        </p:nvSpPr>
        <p:spPr>
          <a:xfrm>
            <a:off x="24641175" y="11191875"/>
            <a:ext cx="47815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编码效率</a:t>
            </a:r>
          </a:p>
        </p:txBody>
      </p:sp>
      <p:sp>
        <p:nvSpPr>
          <p:cNvPr id="72" name="panel-5-l5"/>
          <p:cNvSpPr txBox="1"/>
          <p:nvPr/>
        </p:nvSpPr>
        <p:spPr>
          <a:xfrm>
            <a:off x="24641175" y="11763375"/>
            <a:ext cx="47815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25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●探索AIGC在测试生成中应用</a:t>
            </a:r>
          </a:p>
        </p:txBody>
      </p:sp>
      <p:sp>
        <p:nvSpPr>
          <p:cNvPr id="73" name="ring-enter"/>
          <p:cNvSpPr/>
          <p:nvPr/>
        </p:nvSpPr>
        <p:spPr>
          <a:xfrm>
            <a:off x="3124200" y="12725400"/>
            <a:ext cx="1524000" cy="1524000"/>
          </a:xfrm>
          <a:prstGeom prst="ellipse">
            <a:avLst/>
          </a:prstGeom>
          <a:solidFill>
            <a:srgbClr val="2A6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1" name="ic-enter"/>
          <p:cNvGrpSpPr/>
          <p:nvPr/>
        </p:nvGrpSpPr>
        <p:grpSpPr>
          <a:xfrm>
            <a:off x="3618738" y="13192506"/>
            <a:ext cx="576072" cy="589788"/>
            <a:chOff x="3618738" y="13192506"/>
            <a:chExt cx="576072" cy="589788"/>
          </a:xfrm>
        </p:grpSpPr>
        <p:cxnSp>
          <p:nvCxnSpPr>
            <p:cNvPr id="74" name="Connector 73"/>
            <p:cNvCxnSpPr/>
            <p:nvPr/>
          </p:nvCxnSpPr>
          <p:spPr>
            <a:xfrm flipH="1">
              <a:off x="3618738" y="13192506"/>
              <a:ext cx="233172" cy="0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3618738" y="13192506"/>
              <a:ext cx="0" cy="589788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>
              <a:off x="3618738" y="13782294"/>
              <a:ext cx="233172" cy="0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3762756" y="13487400"/>
              <a:ext cx="336042" cy="0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reeform 77"/>
            <p:cNvSpPr/>
            <p:nvPr/>
          </p:nvSpPr>
          <p:spPr>
            <a:xfrm>
              <a:off x="4009644" y="13384530"/>
              <a:ext cx="185166" cy="205740"/>
            </a:xfrm>
            <a:custGeom>
              <a:avLst/>
              <a:gdLst/>
              <a:ahLst/>
              <a:cxnLst/>
              <a:rect l="l" t="t" r="r" b="b"/>
              <a:pathLst>
                <a:path w="185166" h="205740">
                  <a:moveTo>
                    <a:pt x="0" y="0"/>
                  </a:moveTo>
                  <a:lnTo>
                    <a:pt x="185166" y="102870"/>
                  </a:lnTo>
                  <a:lnTo>
                    <a:pt x="0" y="205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9" name="ring-chart_line"/>
          <p:cNvSpPr/>
          <p:nvPr/>
        </p:nvSpPr>
        <p:spPr>
          <a:xfrm>
            <a:off x="8877300" y="12725400"/>
            <a:ext cx="1524000" cy="1524000"/>
          </a:xfrm>
          <a:prstGeom prst="ellipse">
            <a:avLst/>
          </a:prstGeom>
          <a:solidFill>
            <a:srgbClr val="2A6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2" name="ic-chart_line"/>
          <p:cNvGrpSpPr/>
          <p:nvPr/>
        </p:nvGrpSpPr>
        <p:grpSpPr>
          <a:xfrm>
            <a:off x="9337548" y="13219938"/>
            <a:ext cx="603504" cy="534924"/>
            <a:chOff x="9337548" y="13219938"/>
            <a:chExt cx="603504" cy="534924"/>
          </a:xfrm>
        </p:grpSpPr>
        <p:cxnSp>
          <p:nvCxnSpPr>
            <p:cNvPr id="80" name="Connector 79"/>
            <p:cNvCxnSpPr/>
            <p:nvPr/>
          </p:nvCxnSpPr>
          <p:spPr>
            <a:xfrm>
              <a:off x="9337548" y="13754862"/>
              <a:ext cx="603504" cy="0"/>
            </a:xfrm>
            <a:prstGeom prst="line">
              <a:avLst/>
            </a:prstGeom>
            <a:ln w="53492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 flipV="1">
              <a:off x="9337548" y="13219938"/>
              <a:ext cx="0" cy="534924"/>
            </a:xfrm>
            <a:prstGeom prst="line">
              <a:avLst/>
            </a:prstGeom>
            <a:ln w="53492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 flipV="1">
              <a:off x="9412986" y="13453110"/>
              <a:ext cx="157734" cy="137160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9570720" y="13453110"/>
              <a:ext cx="144018" cy="75438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 flipV="1">
              <a:off x="9714738" y="13281660"/>
              <a:ext cx="157734" cy="246888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/>
            <p:cNvSpPr/>
            <p:nvPr/>
          </p:nvSpPr>
          <p:spPr>
            <a:xfrm>
              <a:off x="9824466" y="13233654"/>
              <a:ext cx="96012" cy="960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6" name="ring-person"/>
          <p:cNvSpPr/>
          <p:nvPr/>
        </p:nvSpPr>
        <p:spPr>
          <a:xfrm>
            <a:off x="14668500" y="12725400"/>
            <a:ext cx="1524000" cy="1524000"/>
          </a:xfrm>
          <a:prstGeom prst="ellipse">
            <a:avLst/>
          </a:prstGeom>
          <a:solidFill>
            <a:srgbClr val="2A6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3" name="ic-person"/>
          <p:cNvGrpSpPr/>
          <p:nvPr/>
        </p:nvGrpSpPr>
        <p:grpSpPr>
          <a:xfrm>
            <a:off x="15139035" y="13199364"/>
            <a:ext cx="582930" cy="603504"/>
            <a:chOff x="15139035" y="13199364"/>
            <a:chExt cx="582930" cy="603504"/>
          </a:xfrm>
        </p:grpSpPr>
        <p:sp>
          <p:nvSpPr>
            <p:cNvPr id="87" name="Oval 86"/>
            <p:cNvSpPr/>
            <p:nvPr/>
          </p:nvSpPr>
          <p:spPr>
            <a:xfrm>
              <a:off x="15286482" y="13199364"/>
              <a:ext cx="288036" cy="2880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15139035" y="13528548"/>
              <a:ext cx="582930" cy="274320"/>
            </a:xfrm>
            <a:custGeom>
              <a:avLst/>
              <a:gdLst/>
              <a:ahLst/>
              <a:cxnLst/>
              <a:rect l="l" t="t" r="r" b="b"/>
              <a:pathLst>
                <a:path w="582930" h="274320">
                  <a:moveTo>
                    <a:pt x="0" y="274320"/>
                  </a:moveTo>
                  <a:lnTo>
                    <a:pt x="291465" y="0"/>
                  </a:lnTo>
                  <a:lnTo>
                    <a:pt x="582930" y="2743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9" name="ring-cap"/>
          <p:cNvSpPr/>
          <p:nvPr/>
        </p:nvSpPr>
        <p:spPr>
          <a:xfrm>
            <a:off x="20421600" y="12725400"/>
            <a:ext cx="1524000" cy="1524000"/>
          </a:xfrm>
          <a:prstGeom prst="ellipse">
            <a:avLst/>
          </a:prstGeom>
          <a:solidFill>
            <a:srgbClr val="2A6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4" name="ic-cap"/>
          <p:cNvGrpSpPr/>
          <p:nvPr/>
        </p:nvGrpSpPr>
        <p:grpSpPr>
          <a:xfrm>
            <a:off x="20840700" y="13219938"/>
            <a:ext cx="685800" cy="541782"/>
            <a:chOff x="20840700" y="13219938"/>
            <a:chExt cx="685800" cy="541782"/>
          </a:xfrm>
        </p:grpSpPr>
        <p:sp>
          <p:nvSpPr>
            <p:cNvPr id="90" name="Freeform 89"/>
            <p:cNvSpPr/>
            <p:nvPr/>
          </p:nvSpPr>
          <p:spPr>
            <a:xfrm>
              <a:off x="20840700" y="13219938"/>
              <a:ext cx="685800" cy="370332"/>
            </a:xfrm>
            <a:custGeom>
              <a:avLst/>
              <a:gdLst/>
              <a:ahLst/>
              <a:cxnLst/>
              <a:rect l="l" t="t" r="r" b="b"/>
              <a:pathLst>
                <a:path w="685800" h="370332">
                  <a:moveTo>
                    <a:pt x="0" y="192024"/>
                  </a:moveTo>
                  <a:lnTo>
                    <a:pt x="342900" y="0"/>
                  </a:lnTo>
                  <a:lnTo>
                    <a:pt x="685800" y="192024"/>
                  </a:lnTo>
                  <a:lnTo>
                    <a:pt x="342900" y="3703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1" name="Connector 90"/>
            <p:cNvCxnSpPr/>
            <p:nvPr/>
          </p:nvCxnSpPr>
          <p:spPr>
            <a:xfrm>
              <a:off x="20995005" y="13528548"/>
              <a:ext cx="0" cy="147447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20995005" y="13675995"/>
              <a:ext cx="188595" cy="85725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 flipV="1">
              <a:off x="21183600" y="13675995"/>
              <a:ext cx="188595" cy="85725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V="1">
              <a:off x="21372195" y="13528548"/>
              <a:ext cx="0" cy="147447"/>
            </a:xfrm>
            <a:prstGeom prst="line">
              <a:avLst/>
            </a:prstGeom>
            <a:ln w="624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ing-sparkle"/>
          <p:cNvSpPr/>
          <p:nvPr/>
        </p:nvSpPr>
        <p:spPr>
          <a:xfrm>
            <a:off x="26174700" y="12725400"/>
            <a:ext cx="1524000" cy="1524000"/>
          </a:xfrm>
          <a:prstGeom prst="ellipse">
            <a:avLst/>
          </a:prstGeom>
          <a:solidFill>
            <a:srgbClr val="2A6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26593800" y="131445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432054" y="253746"/>
                </a:lnTo>
                <a:lnTo>
                  <a:pt x="685800" y="342900"/>
                </a:lnTo>
                <a:lnTo>
                  <a:pt x="432054" y="432054"/>
                </a:lnTo>
                <a:lnTo>
                  <a:pt x="342900" y="685800"/>
                </a:lnTo>
                <a:lnTo>
                  <a:pt x="253746" y="432054"/>
                </a:lnTo>
                <a:lnTo>
                  <a:pt x="0" y="342900"/>
                </a:lnTo>
                <a:lnTo>
                  <a:pt x="253746" y="2537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ep-arrow-700"/>
          <p:cNvSpPr/>
          <p:nvPr/>
        </p:nvSpPr>
        <p:spPr>
          <a:xfrm>
            <a:off x="6667500" y="13163550"/>
            <a:ext cx="781050" cy="647700"/>
          </a:xfrm>
          <a:prstGeom prst="rightArrow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ep-arrow-1306"/>
          <p:cNvSpPr/>
          <p:nvPr/>
        </p:nvSpPr>
        <p:spPr>
          <a:xfrm>
            <a:off x="12439650" y="13163550"/>
            <a:ext cx="781050" cy="647700"/>
          </a:xfrm>
          <a:prstGeom prst="rightArrow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ep-arrow-1912"/>
          <p:cNvSpPr/>
          <p:nvPr/>
        </p:nvSpPr>
        <p:spPr>
          <a:xfrm>
            <a:off x="18211800" y="13163550"/>
            <a:ext cx="781050" cy="647700"/>
          </a:xfrm>
          <a:prstGeom prst="rightArrow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p-arrow-2518"/>
          <p:cNvSpPr/>
          <p:nvPr/>
        </p:nvSpPr>
        <p:spPr>
          <a:xfrm>
            <a:off x="23983950" y="13163550"/>
            <a:ext cx="781050" cy="647700"/>
          </a:xfrm>
          <a:prstGeom prst="rightArrow">
            <a:avLst/>
          </a:prstGeom>
          <a:solidFill>
            <a:srgbClr val="1B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anner"/>
          <p:cNvSpPr/>
          <p:nvPr/>
        </p:nvSpPr>
        <p:spPr>
          <a:xfrm>
            <a:off x="1123950" y="14287500"/>
            <a:ext cx="28422600" cy="1885950"/>
          </a:xfrm>
          <a:prstGeom prst="roundRect">
            <a:avLst>
              <a:gd name="adj" fmla="val 4040"/>
            </a:avLst>
          </a:prstGeom>
          <a:gradFill rotWithShape="1">
            <a:gsLst>
              <a:gs pos="0">
                <a:srgbClr val="2B6FB2"/>
              </a:gs>
              <a:gs pos="100000">
                <a:srgbClr val="173A7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lv-206--1-0"/>
          <p:cNvSpPr/>
          <p:nvPr/>
        </p:nvSpPr>
        <p:spPr>
          <a:xfrm rot="19560000">
            <a:off x="1657350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lv-206--1-1"/>
          <p:cNvSpPr/>
          <p:nvPr/>
        </p:nvSpPr>
        <p:spPr>
          <a:xfrm rot="19380000">
            <a:off x="1543050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lv-206--1-2"/>
          <p:cNvSpPr/>
          <p:nvPr/>
        </p:nvSpPr>
        <p:spPr>
          <a:xfrm rot="19200000">
            <a:off x="1457325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v-206--1-3"/>
          <p:cNvSpPr/>
          <p:nvPr/>
        </p:nvSpPr>
        <p:spPr>
          <a:xfrm rot="19020000">
            <a:off x="1390650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v-206--1-4"/>
          <p:cNvSpPr/>
          <p:nvPr/>
        </p:nvSpPr>
        <p:spPr>
          <a:xfrm rot="18840000">
            <a:off x="1371600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lv-206--1-5"/>
          <p:cNvSpPr/>
          <p:nvPr/>
        </p:nvSpPr>
        <p:spPr>
          <a:xfrm rot="18660000">
            <a:off x="1390650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lv-206--1-6"/>
          <p:cNvSpPr/>
          <p:nvPr/>
        </p:nvSpPr>
        <p:spPr>
          <a:xfrm rot="18480000">
            <a:off x="1457325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lv-206--1-7"/>
          <p:cNvSpPr/>
          <p:nvPr/>
        </p:nvSpPr>
        <p:spPr>
          <a:xfrm rot="18300000">
            <a:off x="1543050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lv-206--1-8"/>
          <p:cNvSpPr/>
          <p:nvPr/>
        </p:nvSpPr>
        <p:spPr>
          <a:xfrm rot="18120000">
            <a:off x="1657350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lvstem-206--1"/>
          <p:cNvSpPr/>
          <p:nvPr/>
        </p:nvSpPr>
        <p:spPr>
          <a:xfrm>
            <a:off x="1666875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219075" y="0"/>
                </a:moveTo>
                <a:lnTo>
                  <a:pt x="123825" y="104775"/>
                </a:lnTo>
                <a:lnTo>
                  <a:pt x="57150" y="285750"/>
                </a:lnTo>
                <a:lnTo>
                  <a:pt x="9525" y="514350"/>
                </a:lnTo>
                <a:lnTo>
                  <a:pt x="0" y="781050"/>
                </a:lnTo>
                <a:lnTo>
                  <a:pt x="9525" y="1038225"/>
                </a:lnTo>
                <a:lnTo>
                  <a:pt x="57150" y="1266825"/>
                </a:lnTo>
                <a:lnTo>
                  <a:pt x="123825" y="1447800"/>
                </a:lnTo>
                <a:lnTo>
                  <a:pt x="219075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lv-555-1-0"/>
          <p:cNvSpPr/>
          <p:nvPr/>
        </p:nvSpPr>
        <p:spPr>
          <a:xfrm rot="2040000">
            <a:off x="5295900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lv-555-1-1"/>
          <p:cNvSpPr/>
          <p:nvPr/>
        </p:nvSpPr>
        <p:spPr>
          <a:xfrm rot="2220000">
            <a:off x="5410200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lv-555-1-2"/>
          <p:cNvSpPr/>
          <p:nvPr/>
        </p:nvSpPr>
        <p:spPr>
          <a:xfrm rot="2400000">
            <a:off x="5495925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lv-555-1-3"/>
          <p:cNvSpPr/>
          <p:nvPr/>
        </p:nvSpPr>
        <p:spPr>
          <a:xfrm rot="2580000">
            <a:off x="5562600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lv-555-1-4"/>
          <p:cNvSpPr/>
          <p:nvPr/>
        </p:nvSpPr>
        <p:spPr>
          <a:xfrm rot="2760000">
            <a:off x="5581650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lv-555-1-5"/>
          <p:cNvSpPr/>
          <p:nvPr/>
        </p:nvSpPr>
        <p:spPr>
          <a:xfrm rot="2940000">
            <a:off x="5562600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lv-555-1-6"/>
          <p:cNvSpPr/>
          <p:nvPr/>
        </p:nvSpPr>
        <p:spPr>
          <a:xfrm rot="3120000">
            <a:off x="5495925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lv-555-1-7"/>
          <p:cNvSpPr/>
          <p:nvPr/>
        </p:nvSpPr>
        <p:spPr>
          <a:xfrm rot="3300000">
            <a:off x="5410200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lv-555-1-8"/>
          <p:cNvSpPr/>
          <p:nvPr/>
        </p:nvSpPr>
        <p:spPr>
          <a:xfrm rot="3480000">
            <a:off x="5295900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lvstem-555-1"/>
          <p:cNvSpPr/>
          <p:nvPr/>
        </p:nvSpPr>
        <p:spPr>
          <a:xfrm>
            <a:off x="5353050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0" y="0"/>
                </a:moveTo>
                <a:lnTo>
                  <a:pt x="95250" y="104775"/>
                </a:lnTo>
                <a:lnTo>
                  <a:pt x="161925" y="285750"/>
                </a:lnTo>
                <a:lnTo>
                  <a:pt x="209550" y="514350"/>
                </a:lnTo>
                <a:lnTo>
                  <a:pt x="219075" y="781050"/>
                </a:lnTo>
                <a:lnTo>
                  <a:pt x="209550" y="1038225"/>
                </a:lnTo>
                <a:lnTo>
                  <a:pt x="161925" y="1266825"/>
                </a:lnTo>
                <a:lnTo>
                  <a:pt x="95250" y="1447800"/>
                </a:lnTo>
                <a:lnTo>
                  <a:pt x="0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ban-1-1"/>
          <p:cNvSpPr txBox="1"/>
          <p:nvPr/>
        </p:nvSpPr>
        <p:spPr>
          <a:xfrm>
            <a:off x="2209800" y="14725650"/>
            <a:ext cx="28289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蓝桥杯省赛三等奖</a:t>
            </a:r>
          </a:p>
        </p:txBody>
      </p:sp>
      <p:sp>
        <p:nvSpPr>
          <p:cNvPr id="123" name="ban-1-2"/>
          <p:cNvSpPr txBox="1"/>
          <p:nvPr/>
        </p:nvSpPr>
        <p:spPr>
          <a:xfrm>
            <a:off x="2209800" y="15259050"/>
            <a:ext cx="28289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GitHub首次提交代码</a:t>
            </a:r>
          </a:p>
        </p:txBody>
      </p:sp>
      <p:sp>
        <p:nvSpPr>
          <p:cNvPr id="124" name="lv-712--1-0"/>
          <p:cNvSpPr/>
          <p:nvPr/>
        </p:nvSpPr>
        <p:spPr>
          <a:xfrm rot="19560000">
            <a:off x="6477000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lv-712--1-1"/>
          <p:cNvSpPr/>
          <p:nvPr/>
        </p:nvSpPr>
        <p:spPr>
          <a:xfrm rot="19380000">
            <a:off x="6362700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lv-712--1-2"/>
          <p:cNvSpPr/>
          <p:nvPr/>
        </p:nvSpPr>
        <p:spPr>
          <a:xfrm rot="19200000">
            <a:off x="6276975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lv-712--1-3"/>
          <p:cNvSpPr/>
          <p:nvPr/>
        </p:nvSpPr>
        <p:spPr>
          <a:xfrm rot="19020000">
            <a:off x="6210300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lv-712--1-4"/>
          <p:cNvSpPr/>
          <p:nvPr/>
        </p:nvSpPr>
        <p:spPr>
          <a:xfrm rot="18840000">
            <a:off x="6191250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lv-712--1-5"/>
          <p:cNvSpPr/>
          <p:nvPr/>
        </p:nvSpPr>
        <p:spPr>
          <a:xfrm rot="18660000">
            <a:off x="6210300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lv-712--1-6"/>
          <p:cNvSpPr/>
          <p:nvPr/>
        </p:nvSpPr>
        <p:spPr>
          <a:xfrm rot="18480000">
            <a:off x="6276975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lv-712--1-7"/>
          <p:cNvSpPr/>
          <p:nvPr/>
        </p:nvSpPr>
        <p:spPr>
          <a:xfrm rot="18300000">
            <a:off x="6362700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lv-712--1-8"/>
          <p:cNvSpPr/>
          <p:nvPr/>
        </p:nvSpPr>
        <p:spPr>
          <a:xfrm rot="18120000">
            <a:off x="6477000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lvstem-712--1"/>
          <p:cNvSpPr/>
          <p:nvPr/>
        </p:nvSpPr>
        <p:spPr>
          <a:xfrm>
            <a:off x="6486525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219075" y="0"/>
                </a:moveTo>
                <a:lnTo>
                  <a:pt x="123825" y="104775"/>
                </a:lnTo>
                <a:lnTo>
                  <a:pt x="57150" y="285750"/>
                </a:lnTo>
                <a:lnTo>
                  <a:pt x="9525" y="514350"/>
                </a:lnTo>
                <a:lnTo>
                  <a:pt x="0" y="781050"/>
                </a:lnTo>
                <a:lnTo>
                  <a:pt x="9525" y="1038225"/>
                </a:lnTo>
                <a:lnTo>
                  <a:pt x="57150" y="1266825"/>
                </a:lnTo>
                <a:lnTo>
                  <a:pt x="123825" y="1447800"/>
                </a:lnTo>
                <a:lnTo>
                  <a:pt x="219075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lv-1261-1-0"/>
          <p:cNvSpPr/>
          <p:nvPr/>
        </p:nvSpPr>
        <p:spPr>
          <a:xfrm rot="2040000">
            <a:off x="12020550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lv-1261-1-1"/>
          <p:cNvSpPr/>
          <p:nvPr/>
        </p:nvSpPr>
        <p:spPr>
          <a:xfrm rot="2220000">
            <a:off x="12134850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lv-1261-1-2"/>
          <p:cNvSpPr/>
          <p:nvPr/>
        </p:nvSpPr>
        <p:spPr>
          <a:xfrm rot="2400000">
            <a:off x="12220575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lv-1261-1-3"/>
          <p:cNvSpPr/>
          <p:nvPr/>
        </p:nvSpPr>
        <p:spPr>
          <a:xfrm rot="2580000">
            <a:off x="12287250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lv-1261-1-4"/>
          <p:cNvSpPr/>
          <p:nvPr/>
        </p:nvSpPr>
        <p:spPr>
          <a:xfrm rot="2760000">
            <a:off x="12306300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lv-1261-1-5"/>
          <p:cNvSpPr/>
          <p:nvPr/>
        </p:nvSpPr>
        <p:spPr>
          <a:xfrm rot="2940000">
            <a:off x="12287250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lv-1261-1-6"/>
          <p:cNvSpPr/>
          <p:nvPr/>
        </p:nvSpPr>
        <p:spPr>
          <a:xfrm rot="3120000">
            <a:off x="12220575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lv-1261-1-7"/>
          <p:cNvSpPr/>
          <p:nvPr/>
        </p:nvSpPr>
        <p:spPr>
          <a:xfrm rot="3300000">
            <a:off x="12134850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lv-1261-1-8"/>
          <p:cNvSpPr/>
          <p:nvPr/>
        </p:nvSpPr>
        <p:spPr>
          <a:xfrm rot="3480000">
            <a:off x="12020550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lvstem-1261-1"/>
          <p:cNvSpPr/>
          <p:nvPr/>
        </p:nvSpPr>
        <p:spPr>
          <a:xfrm>
            <a:off x="12077700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0" y="0"/>
                </a:moveTo>
                <a:lnTo>
                  <a:pt x="95250" y="104775"/>
                </a:lnTo>
                <a:lnTo>
                  <a:pt x="161925" y="285750"/>
                </a:lnTo>
                <a:lnTo>
                  <a:pt x="209550" y="514350"/>
                </a:lnTo>
                <a:lnTo>
                  <a:pt x="219075" y="781050"/>
                </a:lnTo>
                <a:lnTo>
                  <a:pt x="209550" y="1038225"/>
                </a:lnTo>
                <a:lnTo>
                  <a:pt x="161925" y="1266825"/>
                </a:lnTo>
                <a:lnTo>
                  <a:pt x="95250" y="1447800"/>
                </a:lnTo>
                <a:lnTo>
                  <a:pt x="0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an-2-1"/>
          <p:cNvSpPr txBox="1"/>
          <p:nvPr/>
        </p:nvSpPr>
        <p:spPr>
          <a:xfrm>
            <a:off x="7029450" y="14725650"/>
            <a:ext cx="47339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Institute PCAP认证</a:t>
            </a:r>
          </a:p>
        </p:txBody>
      </p:sp>
      <p:sp>
        <p:nvSpPr>
          <p:cNvPr id="145" name="ban-2-2"/>
          <p:cNvSpPr txBox="1"/>
          <p:nvPr/>
        </p:nvSpPr>
        <p:spPr>
          <a:xfrm>
            <a:off x="7029450" y="15259050"/>
            <a:ext cx="47339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“互联网+”创新创业大赛二等奖</a:t>
            </a:r>
          </a:p>
        </p:txBody>
      </p:sp>
      <p:sp>
        <p:nvSpPr>
          <p:cNvPr id="146" name="lv-1392--1-0"/>
          <p:cNvSpPr/>
          <p:nvPr/>
        </p:nvSpPr>
        <p:spPr>
          <a:xfrm rot="19560000">
            <a:off x="12954000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lv-1392--1-1"/>
          <p:cNvSpPr/>
          <p:nvPr/>
        </p:nvSpPr>
        <p:spPr>
          <a:xfrm rot="19380000">
            <a:off x="12839700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lv-1392--1-2"/>
          <p:cNvSpPr/>
          <p:nvPr/>
        </p:nvSpPr>
        <p:spPr>
          <a:xfrm rot="19200000">
            <a:off x="12753975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lv-1392--1-3"/>
          <p:cNvSpPr/>
          <p:nvPr/>
        </p:nvSpPr>
        <p:spPr>
          <a:xfrm rot="19020000">
            <a:off x="12687300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lv-1392--1-4"/>
          <p:cNvSpPr/>
          <p:nvPr/>
        </p:nvSpPr>
        <p:spPr>
          <a:xfrm rot="18840000">
            <a:off x="12668250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lv-1392--1-5"/>
          <p:cNvSpPr/>
          <p:nvPr/>
        </p:nvSpPr>
        <p:spPr>
          <a:xfrm rot="18660000">
            <a:off x="12687300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lv-1392--1-6"/>
          <p:cNvSpPr/>
          <p:nvPr/>
        </p:nvSpPr>
        <p:spPr>
          <a:xfrm rot="18480000">
            <a:off x="12753975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lv-1392--1-7"/>
          <p:cNvSpPr/>
          <p:nvPr/>
        </p:nvSpPr>
        <p:spPr>
          <a:xfrm rot="18300000">
            <a:off x="12839700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lv-1392--1-8"/>
          <p:cNvSpPr/>
          <p:nvPr/>
        </p:nvSpPr>
        <p:spPr>
          <a:xfrm rot="18120000">
            <a:off x="12954000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lvstem-1392--1"/>
          <p:cNvSpPr/>
          <p:nvPr/>
        </p:nvSpPr>
        <p:spPr>
          <a:xfrm>
            <a:off x="12963525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219075" y="0"/>
                </a:moveTo>
                <a:lnTo>
                  <a:pt x="123825" y="104775"/>
                </a:lnTo>
                <a:lnTo>
                  <a:pt x="57150" y="285750"/>
                </a:lnTo>
                <a:lnTo>
                  <a:pt x="9525" y="514350"/>
                </a:lnTo>
                <a:lnTo>
                  <a:pt x="0" y="781050"/>
                </a:lnTo>
                <a:lnTo>
                  <a:pt x="9525" y="1038225"/>
                </a:lnTo>
                <a:lnTo>
                  <a:pt x="57150" y="1266825"/>
                </a:lnTo>
                <a:lnTo>
                  <a:pt x="123825" y="1447800"/>
                </a:lnTo>
                <a:lnTo>
                  <a:pt x="219075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lv-1832-1-0"/>
          <p:cNvSpPr/>
          <p:nvPr/>
        </p:nvSpPr>
        <p:spPr>
          <a:xfrm rot="2040000">
            <a:off x="17459325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lv-1832-1-1"/>
          <p:cNvSpPr/>
          <p:nvPr/>
        </p:nvSpPr>
        <p:spPr>
          <a:xfrm rot="2220000">
            <a:off x="17573625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lv-1832-1-2"/>
          <p:cNvSpPr/>
          <p:nvPr/>
        </p:nvSpPr>
        <p:spPr>
          <a:xfrm rot="2400000">
            <a:off x="17659350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lv-1832-1-3"/>
          <p:cNvSpPr/>
          <p:nvPr/>
        </p:nvSpPr>
        <p:spPr>
          <a:xfrm rot="2580000">
            <a:off x="17726025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lv-1832-1-4"/>
          <p:cNvSpPr/>
          <p:nvPr/>
        </p:nvSpPr>
        <p:spPr>
          <a:xfrm rot="2760000">
            <a:off x="17745075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v-1832-1-5"/>
          <p:cNvSpPr/>
          <p:nvPr/>
        </p:nvSpPr>
        <p:spPr>
          <a:xfrm rot="2940000">
            <a:off x="17726025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v-1832-1-6"/>
          <p:cNvSpPr/>
          <p:nvPr/>
        </p:nvSpPr>
        <p:spPr>
          <a:xfrm rot="3120000">
            <a:off x="17659350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lv-1832-1-7"/>
          <p:cNvSpPr/>
          <p:nvPr/>
        </p:nvSpPr>
        <p:spPr>
          <a:xfrm rot="3300000">
            <a:off x="17573625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lv-1832-1-8"/>
          <p:cNvSpPr/>
          <p:nvPr/>
        </p:nvSpPr>
        <p:spPr>
          <a:xfrm rot="3480000">
            <a:off x="17459325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lvstem-1832-1"/>
          <p:cNvSpPr/>
          <p:nvPr/>
        </p:nvSpPr>
        <p:spPr>
          <a:xfrm>
            <a:off x="17516475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0" y="0"/>
                </a:moveTo>
                <a:lnTo>
                  <a:pt x="95250" y="104775"/>
                </a:lnTo>
                <a:lnTo>
                  <a:pt x="161925" y="285750"/>
                </a:lnTo>
                <a:lnTo>
                  <a:pt x="209550" y="514350"/>
                </a:lnTo>
                <a:lnTo>
                  <a:pt x="219075" y="781050"/>
                </a:lnTo>
                <a:lnTo>
                  <a:pt x="209550" y="1038225"/>
                </a:lnTo>
                <a:lnTo>
                  <a:pt x="161925" y="1266825"/>
                </a:lnTo>
                <a:lnTo>
                  <a:pt x="95250" y="1447800"/>
                </a:lnTo>
                <a:lnTo>
                  <a:pt x="0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ban-3-1"/>
          <p:cNvSpPr txBox="1"/>
          <p:nvPr/>
        </p:nvSpPr>
        <p:spPr>
          <a:xfrm>
            <a:off x="13506450" y="14516100"/>
            <a:ext cx="36957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Certified Kubernetes</a:t>
            </a:r>
          </a:p>
        </p:txBody>
      </p:sp>
      <p:sp>
        <p:nvSpPr>
          <p:cNvPr id="167" name="ban-3-2"/>
          <p:cNvSpPr txBox="1"/>
          <p:nvPr/>
        </p:nvSpPr>
        <p:spPr>
          <a:xfrm>
            <a:off x="13506450" y="15049500"/>
            <a:ext cx="36957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Administrator (CKA)</a:t>
            </a:r>
          </a:p>
        </p:txBody>
      </p:sp>
      <p:sp>
        <p:nvSpPr>
          <p:cNvPr id="168" name="ban-3-3"/>
          <p:cNvSpPr txBox="1"/>
          <p:nvPr/>
        </p:nvSpPr>
        <p:spPr>
          <a:xfrm>
            <a:off x="13506450" y="15582900"/>
            <a:ext cx="36957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CNCF Ambassador提名</a:t>
            </a:r>
          </a:p>
        </p:txBody>
      </p:sp>
      <p:sp>
        <p:nvSpPr>
          <p:cNvPr id="169" name="lv-1983--1-0"/>
          <p:cNvSpPr/>
          <p:nvPr/>
        </p:nvSpPr>
        <p:spPr>
          <a:xfrm rot="19560000">
            <a:off x="18583275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lv-1983--1-1"/>
          <p:cNvSpPr/>
          <p:nvPr/>
        </p:nvSpPr>
        <p:spPr>
          <a:xfrm rot="19380000">
            <a:off x="18468975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lv-1983--1-2"/>
          <p:cNvSpPr/>
          <p:nvPr/>
        </p:nvSpPr>
        <p:spPr>
          <a:xfrm rot="19200000">
            <a:off x="18383250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lv-1983--1-3"/>
          <p:cNvSpPr/>
          <p:nvPr/>
        </p:nvSpPr>
        <p:spPr>
          <a:xfrm rot="19020000">
            <a:off x="18316575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lv-1983--1-4"/>
          <p:cNvSpPr/>
          <p:nvPr/>
        </p:nvSpPr>
        <p:spPr>
          <a:xfrm rot="18840000">
            <a:off x="18297525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lv-1983--1-5"/>
          <p:cNvSpPr/>
          <p:nvPr/>
        </p:nvSpPr>
        <p:spPr>
          <a:xfrm rot="18660000">
            <a:off x="18316575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lv-1983--1-6"/>
          <p:cNvSpPr/>
          <p:nvPr/>
        </p:nvSpPr>
        <p:spPr>
          <a:xfrm rot="18480000">
            <a:off x="18383250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lv-1983--1-7"/>
          <p:cNvSpPr/>
          <p:nvPr/>
        </p:nvSpPr>
        <p:spPr>
          <a:xfrm rot="18300000">
            <a:off x="18468975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v-1983--1-8"/>
          <p:cNvSpPr/>
          <p:nvPr/>
        </p:nvSpPr>
        <p:spPr>
          <a:xfrm rot="18120000">
            <a:off x="18583275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vstem-1983--1"/>
          <p:cNvSpPr/>
          <p:nvPr/>
        </p:nvSpPr>
        <p:spPr>
          <a:xfrm>
            <a:off x="18592800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219075" y="0"/>
                </a:moveTo>
                <a:lnTo>
                  <a:pt x="123825" y="104775"/>
                </a:lnTo>
                <a:lnTo>
                  <a:pt x="57150" y="285750"/>
                </a:lnTo>
                <a:lnTo>
                  <a:pt x="9525" y="514350"/>
                </a:lnTo>
                <a:lnTo>
                  <a:pt x="0" y="781050"/>
                </a:lnTo>
                <a:lnTo>
                  <a:pt x="9525" y="1038225"/>
                </a:lnTo>
                <a:lnTo>
                  <a:pt x="57150" y="1266825"/>
                </a:lnTo>
                <a:lnTo>
                  <a:pt x="123825" y="1447800"/>
                </a:lnTo>
                <a:lnTo>
                  <a:pt x="219075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lv-2440-1-0"/>
          <p:cNvSpPr/>
          <p:nvPr/>
        </p:nvSpPr>
        <p:spPr>
          <a:xfrm rot="2040000">
            <a:off x="23250525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lv-2440-1-1"/>
          <p:cNvSpPr/>
          <p:nvPr/>
        </p:nvSpPr>
        <p:spPr>
          <a:xfrm rot="2220000">
            <a:off x="23364825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v-2440-1-2"/>
          <p:cNvSpPr/>
          <p:nvPr/>
        </p:nvSpPr>
        <p:spPr>
          <a:xfrm rot="2400000">
            <a:off x="23450550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lv-2440-1-3"/>
          <p:cNvSpPr/>
          <p:nvPr/>
        </p:nvSpPr>
        <p:spPr>
          <a:xfrm rot="2580000">
            <a:off x="23517225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lv-2440-1-4"/>
          <p:cNvSpPr/>
          <p:nvPr/>
        </p:nvSpPr>
        <p:spPr>
          <a:xfrm rot="2760000">
            <a:off x="23536275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lv-2440-1-5"/>
          <p:cNvSpPr/>
          <p:nvPr/>
        </p:nvSpPr>
        <p:spPr>
          <a:xfrm rot="2940000">
            <a:off x="23517225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lv-2440-1-6"/>
          <p:cNvSpPr/>
          <p:nvPr/>
        </p:nvSpPr>
        <p:spPr>
          <a:xfrm rot="3120000">
            <a:off x="23450550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lv-2440-1-7"/>
          <p:cNvSpPr/>
          <p:nvPr/>
        </p:nvSpPr>
        <p:spPr>
          <a:xfrm rot="3300000">
            <a:off x="23364825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lv-2440-1-8"/>
          <p:cNvSpPr/>
          <p:nvPr/>
        </p:nvSpPr>
        <p:spPr>
          <a:xfrm rot="3480000">
            <a:off x="23250525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lvstem-2440-1"/>
          <p:cNvSpPr/>
          <p:nvPr/>
        </p:nvSpPr>
        <p:spPr>
          <a:xfrm>
            <a:off x="23307675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0" y="0"/>
                </a:moveTo>
                <a:lnTo>
                  <a:pt x="95250" y="104775"/>
                </a:lnTo>
                <a:lnTo>
                  <a:pt x="161925" y="285750"/>
                </a:lnTo>
                <a:lnTo>
                  <a:pt x="209550" y="514350"/>
                </a:lnTo>
                <a:lnTo>
                  <a:pt x="219075" y="781050"/>
                </a:lnTo>
                <a:lnTo>
                  <a:pt x="209550" y="1038225"/>
                </a:lnTo>
                <a:lnTo>
                  <a:pt x="161925" y="1266825"/>
                </a:lnTo>
                <a:lnTo>
                  <a:pt x="95250" y="1447800"/>
                </a:lnTo>
                <a:lnTo>
                  <a:pt x="0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ban-4-1"/>
          <p:cNvSpPr txBox="1"/>
          <p:nvPr/>
        </p:nvSpPr>
        <p:spPr>
          <a:xfrm>
            <a:off x="19120980" y="14516100"/>
            <a:ext cx="3887114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AWS Certified Solutions</a:t>
            </a:r>
          </a:p>
        </p:txBody>
      </p:sp>
      <p:sp>
        <p:nvSpPr>
          <p:cNvPr id="190" name="ban-4-2"/>
          <p:cNvSpPr txBox="1"/>
          <p:nvPr/>
        </p:nvSpPr>
        <p:spPr>
          <a:xfrm>
            <a:off x="19126295" y="15049500"/>
            <a:ext cx="3876484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Architect – Professional</a:t>
            </a:r>
          </a:p>
        </p:txBody>
      </p:sp>
      <p:sp>
        <p:nvSpPr>
          <p:cNvPr id="191" name="ban-4-3"/>
          <p:cNvSpPr txBox="1"/>
          <p:nvPr/>
        </p:nvSpPr>
        <p:spPr>
          <a:xfrm>
            <a:off x="19135725" y="15582900"/>
            <a:ext cx="38576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《从CRUD到架构师》</a:t>
            </a:r>
          </a:p>
        </p:txBody>
      </p:sp>
      <p:sp>
        <p:nvSpPr>
          <p:cNvPr id="192" name="lv-2571--1-0"/>
          <p:cNvSpPr/>
          <p:nvPr/>
        </p:nvSpPr>
        <p:spPr>
          <a:xfrm rot="19560000">
            <a:off x="24183975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lv-2571--1-1"/>
          <p:cNvSpPr/>
          <p:nvPr/>
        </p:nvSpPr>
        <p:spPr>
          <a:xfrm rot="19380000">
            <a:off x="24069675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lv-2571--1-2"/>
          <p:cNvSpPr/>
          <p:nvPr/>
        </p:nvSpPr>
        <p:spPr>
          <a:xfrm rot="19200000">
            <a:off x="23983950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lv-2571--1-3"/>
          <p:cNvSpPr/>
          <p:nvPr/>
        </p:nvSpPr>
        <p:spPr>
          <a:xfrm rot="19020000">
            <a:off x="23917275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lv-2571--1-4"/>
          <p:cNvSpPr/>
          <p:nvPr/>
        </p:nvSpPr>
        <p:spPr>
          <a:xfrm rot="18840000">
            <a:off x="23898225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lv-2571--1-5"/>
          <p:cNvSpPr/>
          <p:nvPr/>
        </p:nvSpPr>
        <p:spPr>
          <a:xfrm rot="18660000">
            <a:off x="23917275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lv-2571--1-6"/>
          <p:cNvSpPr/>
          <p:nvPr/>
        </p:nvSpPr>
        <p:spPr>
          <a:xfrm rot="18480000">
            <a:off x="23983950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lv-2571--1-7"/>
          <p:cNvSpPr/>
          <p:nvPr/>
        </p:nvSpPr>
        <p:spPr>
          <a:xfrm rot="18300000">
            <a:off x="24069675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lv-2571--1-8"/>
          <p:cNvSpPr/>
          <p:nvPr/>
        </p:nvSpPr>
        <p:spPr>
          <a:xfrm rot="18120000">
            <a:off x="24183975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lvstem-2571--1"/>
          <p:cNvSpPr/>
          <p:nvPr/>
        </p:nvSpPr>
        <p:spPr>
          <a:xfrm>
            <a:off x="24193500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219075" y="0"/>
                </a:moveTo>
                <a:lnTo>
                  <a:pt x="123825" y="104775"/>
                </a:lnTo>
                <a:lnTo>
                  <a:pt x="57150" y="285750"/>
                </a:lnTo>
                <a:lnTo>
                  <a:pt x="9525" y="514350"/>
                </a:lnTo>
                <a:lnTo>
                  <a:pt x="0" y="781050"/>
                </a:lnTo>
                <a:lnTo>
                  <a:pt x="9525" y="1038225"/>
                </a:lnTo>
                <a:lnTo>
                  <a:pt x="57150" y="1266825"/>
                </a:lnTo>
                <a:lnTo>
                  <a:pt x="123825" y="1447800"/>
                </a:lnTo>
                <a:lnTo>
                  <a:pt x="219075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lv-3046-1-0"/>
          <p:cNvSpPr/>
          <p:nvPr/>
        </p:nvSpPr>
        <p:spPr>
          <a:xfrm rot="2040000">
            <a:off x="29022675" y="143351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lv-3046-1-1"/>
          <p:cNvSpPr/>
          <p:nvPr/>
        </p:nvSpPr>
        <p:spPr>
          <a:xfrm rot="2220000">
            <a:off x="29136975" y="144494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lv-3046-1-2"/>
          <p:cNvSpPr/>
          <p:nvPr/>
        </p:nvSpPr>
        <p:spPr>
          <a:xfrm rot="2400000">
            <a:off x="29222700" y="1463992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lv-3046-1-3"/>
          <p:cNvSpPr/>
          <p:nvPr/>
        </p:nvSpPr>
        <p:spPr>
          <a:xfrm rot="2580000">
            <a:off x="29289375" y="1487805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lv-3046-1-4"/>
          <p:cNvSpPr/>
          <p:nvPr/>
        </p:nvSpPr>
        <p:spPr>
          <a:xfrm rot="2760000">
            <a:off x="29308425" y="151542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lv-3046-1-5"/>
          <p:cNvSpPr/>
          <p:nvPr/>
        </p:nvSpPr>
        <p:spPr>
          <a:xfrm rot="2940000">
            <a:off x="29289375" y="15420975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lv-3046-1-6"/>
          <p:cNvSpPr/>
          <p:nvPr/>
        </p:nvSpPr>
        <p:spPr>
          <a:xfrm rot="3120000">
            <a:off x="29222700" y="156591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lv-3046-1-7"/>
          <p:cNvSpPr/>
          <p:nvPr/>
        </p:nvSpPr>
        <p:spPr>
          <a:xfrm rot="3300000">
            <a:off x="29136975" y="158496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lv-3046-1-8"/>
          <p:cNvSpPr/>
          <p:nvPr/>
        </p:nvSpPr>
        <p:spPr>
          <a:xfrm rot="3480000">
            <a:off x="29022675" y="15963900"/>
            <a:ext cx="285750" cy="133350"/>
          </a:xfrm>
          <a:prstGeom prst="ellipse">
            <a:avLst/>
          </a:prstGeom>
          <a:solidFill>
            <a:srgbClr val="C9A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lvstem-3046-1"/>
          <p:cNvSpPr/>
          <p:nvPr/>
        </p:nvSpPr>
        <p:spPr>
          <a:xfrm>
            <a:off x="29079825" y="14439900"/>
            <a:ext cx="219075" cy="1552575"/>
          </a:xfrm>
          <a:custGeom>
            <a:avLst/>
            <a:gdLst/>
            <a:ahLst/>
            <a:cxnLst/>
            <a:rect l="l" t="t" r="r" b="b"/>
            <a:pathLst>
              <a:path w="219075" h="1552575">
                <a:moveTo>
                  <a:pt x="0" y="0"/>
                </a:moveTo>
                <a:lnTo>
                  <a:pt x="95250" y="104775"/>
                </a:lnTo>
                <a:lnTo>
                  <a:pt x="161925" y="285750"/>
                </a:lnTo>
                <a:lnTo>
                  <a:pt x="209550" y="514350"/>
                </a:lnTo>
                <a:lnTo>
                  <a:pt x="219075" y="781050"/>
                </a:lnTo>
                <a:lnTo>
                  <a:pt x="209550" y="1038225"/>
                </a:lnTo>
                <a:lnTo>
                  <a:pt x="161925" y="1266825"/>
                </a:lnTo>
                <a:lnTo>
                  <a:pt x="95250" y="1447800"/>
                </a:lnTo>
                <a:lnTo>
                  <a:pt x="0" y="1552575"/>
                </a:lnTo>
              </a:path>
            </a:pathLst>
          </a:custGeom>
          <a:noFill/>
          <a:ln w="38100">
            <a:solidFill>
              <a:srgbClr val="C9A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n-5-1"/>
          <p:cNvSpPr txBox="1"/>
          <p:nvPr/>
        </p:nvSpPr>
        <p:spPr>
          <a:xfrm>
            <a:off x="24736425" y="14725650"/>
            <a:ext cx="402907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受邀QCon分享《LLM时代</a:t>
            </a:r>
          </a:p>
        </p:txBody>
      </p:sp>
      <p:sp>
        <p:nvSpPr>
          <p:cNvPr id="213" name="ban-5-2"/>
          <p:cNvSpPr txBox="1"/>
          <p:nvPr/>
        </p:nvSpPr>
        <p:spPr>
          <a:xfrm>
            <a:off x="24736425" y="15259050"/>
            <a:ext cx="402907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开发者如何重塑技能树》</a:t>
            </a:r>
          </a:p>
        </p:txBody>
      </p:sp>
      <p:sp>
        <p:nvSpPr>
          <p:cNvPr id="214" name="logo-bar"/>
          <p:cNvSpPr/>
          <p:nvPr/>
        </p:nvSpPr>
        <p:spPr>
          <a:xfrm>
            <a:off x="1057275" y="1333500"/>
            <a:ext cx="247650" cy="933450"/>
          </a:xfrm>
          <a:prstGeom prst="roundRect">
            <a:avLst>
              <a:gd name="adj" fmla="val 15384"/>
            </a:avLst>
          </a:prstGeom>
          <a:solidFill>
            <a:srgbClr val="4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logo-flag"/>
          <p:cNvSpPr/>
          <p:nvPr/>
        </p:nvSpPr>
        <p:spPr>
          <a:xfrm>
            <a:off x="1428750" y="1333500"/>
            <a:ext cx="609600" cy="933450"/>
          </a:xfrm>
          <a:custGeom>
            <a:avLst/>
            <a:gdLst/>
            <a:ahLst/>
            <a:cxnLst/>
            <a:rect l="l" t="t" r="r" b="b"/>
            <a:pathLst>
              <a:path w="609600" h="933450">
                <a:moveTo>
                  <a:pt x="0" y="0"/>
                </a:moveTo>
                <a:lnTo>
                  <a:pt x="609600" y="0"/>
                </a:lnTo>
                <a:lnTo>
                  <a:pt x="609600" y="361950"/>
                </a:lnTo>
                <a:lnTo>
                  <a:pt x="438150" y="361950"/>
                </a:lnTo>
                <a:lnTo>
                  <a:pt x="609600" y="704850"/>
                </a:lnTo>
                <a:lnTo>
                  <a:pt x="609600" y="933450"/>
                </a:lnTo>
                <a:lnTo>
                  <a:pt x="0" y="933450"/>
                </a:lnTo>
                <a:lnTo>
                  <a:pt x="0" y="628650"/>
                </a:lnTo>
                <a:lnTo>
                  <a:pt x="152400" y="628650"/>
                </a:lnTo>
                <a:lnTo>
                  <a:pt x="0" y="304800"/>
                </a:lnTo>
                <a:close/>
              </a:path>
            </a:pathLst>
          </a:custGeom>
          <a:solidFill>
            <a:srgbClr val="0B3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main-title"/>
          <p:cNvSpPr txBox="1"/>
          <p:nvPr/>
        </p:nvSpPr>
        <p:spPr>
          <a:xfrm>
            <a:off x="2495550" y="1352550"/>
            <a:ext cx="8281416" cy="933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程序员技能树成长时间轴</a:t>
            </a:r>
          </a:p>
        </p:txBody>
      </p:sp>
      <p:sp>
        <p:nvSpPr>
          <p:cNvPr id="217" name="sub-circle"/>
          <p:cNvSpPr/>
          <p:nvPr/>
        </p:nvSpPr>
        <p:spPr>
          <a:xfrm>
            <a:off x="1085850" y="3238500"/>
            <a:ext cx="1219200" cy="1219200"/>
          </a:xfrm>
          <a:prstGeom prst="ellipse">
            <a:avLst/>
          </a:prstGeom>
          <a:solidFill>
            <a:srgbClr val="FFFFFF"/>
          </a:solidFill>
          <a:ln w="66675">
            <a:solidFill>
              <a:srgbClr val="0B3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5" name="sub-ic"/>
          <p:cNvGrpSpPr/>
          <p:nvPr/>
        </p:nvGrpSpPr>
        <p:grpSpPr>
          <a:xfrm>
            <a:off x="1424940" y="3557397"/>
            <a:ext cx="388620" cy="505206"/>
            <a:chOff x="1424940" y="3557397"/>
            <a:chExt cx="388620" cy="505206"/>
          </a:xfrm>
        </p:grpSpPr>
        <p:sp>
          <p:nvSpPr>
            <p:cNvPr id="218" name="Rounded Rectangle 217"/>
            <p:cNvSpPr/>
            <p:nvPr/>
          </p:nvSpPr>
          <p:spPr>
            <a:xfrm>
              <a:off x="1424940" y="3557397"/>
              <a:ext cx="388620" cy="505206"/>
            </a:xfrm>
            <a:prstGeom prst="roundRect">
              <a:avLst>
                <a:gd name="adj" fmla="val 18333"/>
              </a:avLst>
            </a:prstGeom>
            <a:solidFill>
              <a:srgbClr val="0B3E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9" name="Connector 218"/>
            <p:cNvCxnSpPr/>
            <p:nvPr/>
          </p:nvCxnSpPr>
          <p:spPr>
            <a:xfrm>
              <a:off x="1515618" y="3712845"/>
              <a:ext cx="207264" cy="0"/>
            </a:xfrm>
            <a:prstGeom prst="line">
              <a:avLst/>
            </a:prstGeom>
            <a:ln w="5052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ctor 219"/>
            <p:cNvCxnSpPr/>
            <p:nvPr/>
          </p:nvCxnSpPr>
          <p:spPr>
            <a:xfrm>
              <a:off x="1515618" y="3829431"/>
              <a:ext cx="207264" cy="0"/>
            </a:xfrm>
            <a:prstGeom prst="line">
              <a:avLst/>
            </a:prstGeom>
            <a:ln w="5052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>
              <a:off x="1515618" y="3946017"/>
              <a:ext cx="136017" cy="0"/>
            </a:xfrm>
            <a:prstGeom prst="line">
              <a:avLst/>
            </a:prstGeom>
            <a:ln w="5052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sub-ic2"/>
          <p:cNvGrpSpPr/>
          <p:nvPr/>
        </p:nvGrpSpPr>
        <p:grpSpPr>
          <a:xfrm>
            <a:off x="1794510" y="3913632"/>
            <a:ext cx="182880" cy="262128"/>
            <a:chOff x="1794510" y="3913632"/>
            <a:chExt cx="182880" cy="262128"/>
          </a:xfrm>
        </p:grpSpPr>
        <p:sp>
          <p:nvSpPr>
            <p:cNvPr id="222" name="Oval 221"/>
            <p:cNvSpPr/>
            <p:nvPr/>
          </p:nvSpPr>
          <p:spPr>
            <a:xfrm>
              <a:off x="1794510" y="3913632"/>
              <a:ext cx="182880" cy="182880"/>
            </a:xfrm>
            <a:prstGeom prst="ellipse">
              <a:avLst/>
            </a:prstGeom>
            <a:noFill/>
            <a:ln w="15240">
              <a:solidFill>
                <a:srgbClr val="0B3E7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Freeform 222"/>
            <p:cNvSpPr/>
            <p:nvPr/>
          </p:nvSpPr>
          <p:spPr>
            <a:xfrm>
              <a:off x="1815846" y="3944112"/>
              <a:ext cx="140208" cy="134112"/>
            </a:xfrm>
            <a:custGeom>
              <a:avLst/>
              <a:gdLst/>
              <a:ahLst/>
              <a:cxnLst/>
              <a:rect l="l" t="t" r="r" b="b"/>
              <a:pathLst>
                <a:path w="140208" h="134112">
                  <a:moveTo>
                    <a:pt x="70104" y="0"/>
                  </a:moveTo>
                  <a:lnTo>
                    <a:pt x="91440" y="45720"/>
                  </a:lnTo>
                  <a:lnTo>
                    <a:pt x="140208" y="51816"/>
                  </a:lnTo>
                  <a:lnTo>
                    <a:pt x="103632" y="85344"/>
                  </a:lnTo>
                  <a:lnTo>
                    <a:pt x="115824" y="134112"/>
                  </a:lnTo>
                  <a:lnTo>
                    <a:pt x="70104" y="109728"/>
                  </a:lnTo>
                  <a:lnTo>
                    <a:pt x="24384" y="134112"/>
                  </a:lnTo>
                  <a:lnTo>
                    <a:pt x="36576" y="85344"/>
                  </a:lnTo>
                  <a:lnTo>
                    <a:pt x="0" y="51816"/>
                  </a:lnTo>
                  <a:lnTo>
                    <a:pt x="48768" y="45720"/>
                  </a:lnTo>
                  <a:close/>
                </a:path>
              </a:pathLst>
            </a:custGeom>
            <a:solidFill>
              <a:srgbClr val="0B3E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4" name="Connector 223"/>
            <p:cNvCxnSpPr/>
            <p:nvPr/>
          </p:nvCxnSpPr>
          <p:spPr>
            <a:xfrm flipH="1">
              <a:off x="1797558" y="4078224"/>
              <a:ext cx="24384" cy="97536"/>
            </a:xfrm>
            <a:prstGeom prst="line">
              <a:avLst/>
            </a:prstGeom>
            <a:ln w="27736">
              <a:solidFill>
                <a:srgbClr val="0B3E7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ctor 224"/>
            <p:cNvCxnSpPr/>
            <p:nvPr/>
          </p:nvCxnSpPr>
          <p:spPr>
            <a:xfrm>
              <a:off x="1949958" y="4078224"/>
              <a:ext cx="24384" cy="97536"/>
            </a:xfrm>
            <a:prstGeom prst="line">
              <a:avLst/>
            </a:prstGeom>
            <a:ln w="27736">
              <a:solidFill>
                <a:srgbClr val="0B3E7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6" name="sub-ribbon"/>
          <p:cNvSpPr/>
          <p:nvPr/>
        </p:nvSpPr>
        <p:spPr>
          <a:xfrm>
            <a:off x="2105025" y="3438525"/>
            <a:ext cx="4467225" cy="819150"/>
          </a:xfrm>
          <a:custGeom>
            <a:avLst/>
            <a:gdLst/>
            <a:ahLst/>
            <a:cxnLst/>
            <a:rect l="l" t="t" r="r" b="b"/>
            <a:pathLst>
              <a:path w="4467225" h="819150">
                <a:moveTo>
                  <a:pt x="0" y="0"/>
                </a:moveTo>
                <a:lnTo>
                  <a:pt x="3876675" y="0"/>
                </a:lnTo>
                <a:lnTo>
                  <a:pt x="4467225" y="409575"/>
                </a:lnTo>
                <a:lnTo>
                  <a:pt x="3876675" y="819150"/>
                </a:lnTo>
                <a:lnTo>
                  <a:pt x="0" y="819150"/>
                </a:lnTo>
                <a:close/>
              </a:path>
            </a:pathLst>
          </a:custGeom>
          <a:solidFill>
            <a:srgbClr val="0B3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ub-text"/>
          <p:cNvSpPr txBox="1"/>
          <p:nvPr/>
        </p:nvSpPr>
        <p:spPr>
          <a:xfrm>
            <a:off x="2619375" y="3438525"/>
            <a:ext cx="3429000" cy="819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项目推进节点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