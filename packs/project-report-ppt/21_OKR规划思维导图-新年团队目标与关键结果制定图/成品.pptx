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nvas-bg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hite-panel"/>
          <p:cNvSpPr/>
          <p:nvPr/>
        </p:nvSpPr>
        <p:spPr>
          <a:xfrm>
            <a:off x="942975" y="1057275"/>
            <a:ext cx="28755975" cy="15373350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28575">
            <a:solidFill>
              <a:srgbClr val="C8D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-tl" descr="_photo_icon_t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2857500"/>
            <a:ext cx="4267200" cy="3181350"/>
          </a:xfrm>
          <a:prstGeom prst="rect">
            <a:avLst/>
          </a:prstGeom>
          <a:effectLst/>
        </p:spPr>
      </p:pic>
      <p:pic>
        <p:nvPicPr>
          <p:cNvPr id="6" name="icon-tr" descr="_photo_icon_t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8050" y="2857500"/>
            <a:ext cx="4267200" cy="3181350"/>
          </a:xfrm>
          <a:prstGeom prst="rect">
            <a:avLst/>
          </a:prstGeom>
          <a:effectLst/>
        </p:spPr>
      </p:pic>
      <p:pic>
        <p:nvPicPr>
          <p:cNvPr id="7" name="icon-bl" descr="_photo_icon_b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10515600"/>
            <a:ext cx="4267200" cy="3181350"/>
          </a:xfrm>
          <a:prstGeom prst="rect">
            <a:avLst/>
          </a:prstGeom>
          <a:effectLst/>
        </p:spPr>
      </p:pic>
      <p:pic>
        <p:nvPicPr>
          <p:cNvPr id="8" name="icon-br" descr="_photo_icon_b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88050" y="10515600"/>
            <a:ext cx="4267200" cy="3181350"/>
          </a:xfrm>
          <a:prstGeom prst="rect">
            <a:avLst/>
          </a:prstGeom>
          <a:effectLst/>
        </p:spPr>
      </p:pic>
      <p:pic>
        <p:nvPicPr>
          <p:cNvPr id="9" name="centre-gold-gears" descr="_photo_centre_gold_gear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0" y="4953000"/>
            <a:ext cx="9029700" cy="7581900"/>
          </a:xfrm>
          <a:prstGeom prst="rect">
            <a:avLst/>
          </a:prstGeom>
          <a:effectLst/>
        </p:spPr>
      </p:pic>
      <p:cxnSp>
        <p:nvCxnSpPr>
          <p:cNvPr id="10" name="conn-tl-trunk"/>
          <p:cNvCxnSpPr/>
          <p:nvPr/>
        </p:nvCxnSpPr>
        <p:spPr>
          <a:xfrm flipH="1">
            <a:off x="6858000" y="5295900"/>
            <a:ext cx="819150" cy="0"/>
          </a:xfrm>
          <a:prstGeom prst="line">
            <a:avLst/>
          </a:prstGeom>
          <a:ln w="47625">
            <a:solidFill>
              <a:srgbClr val="3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-tl-spine"/>
          <p:cNvCxnSpPr/>
          <p:nvPr/>
        </p:nvCxnSpPr>
        <p:spPr>
          <a:xfrm>
            <a:off x="6858000" y="3629025"/>
            <a:ext cx="0" cy="3333750"/>
          </a:xfrm>
          <a:prstGeom prst="line">
            <a:avLst/>
          </a:prstGeom>
          <a:ln w="47625">
            <a:solidFill>
              <a:srgbClr val="3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-tl-br1"/>
          <p:cNvCxnSpPr/>
          <p:nvPr/>
        </p:nvCxnSpPr>
        <p:spPr>
          <a:xfrm flipH="1">
            <a:off x="6610350" y="3629025"/>
            <a:ext cx="247650" cy="0"/>
          </a:xfrm>
          <a:prstGeom prst="line">
            <a:avLst/>
          </a:prstGeom>
          <a:ln w="47625">
            <a:solidFill>
              <a:srgbClr val="3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-674-381"/>
          <p:cNvSpPr/>
          <p:nvPr/>
        </p:nvSpPr>
        <p:spPr>
          <a:xfrm>
            <a:off x="6419850" y="3533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3F6FA8"/>
          </a:solidFill>
          <a:ln w="9525">
            <a:solidFill>
              <a:srgbClr val="3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-tl-br2"/>
          <p:cNvCxnSpPr/>
          <p:nvPr/>
        </p:nvCxnSpPr>
        <p:spPr>
          <a:xfrm flipH="1">
            <a:off x="6610350" y="5295900"/>
            <a:ext cx="247650" cy="0"/>
          </a:xfrm>
          <a:prstGeom prst="line">
            <a:avLst/>
          </a:prstGeom>
          <a:ln w="47625">
            <a:solidFill>
              <a:srgbClr val="3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rrow-674-556"/>
          <p:cNvSpPr/>
          <p:nvPr/>
        </p:nvSpPr>
        <p:spPr>
          <a:xfrm>
            <a:off x="6419850" y="5200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3F6FA8"/>
          </a:solidFill>
          <a:ln w="9525">
            <a:solidFill>
              <a:srgbClr val="3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-tl-br3"/>
          <p:cNvCxnSpPr/>
          <p:nvPr/>
        </p:nvCxnSpPr>
        <p:spPr>
          <a:xfrm flipH="1">
            <a:off x="6610350" y="6962775"/>
            <a:ext cx="247650" cy="0"/>
          </a:xfrm>
          <a:prstGeom prst="line">
            <a:avLst/>
          </a:prstGeom>
          <a:ln w="47625">
            <a:solidFill>
              <a:srgbClr val="3F6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-674-731"/>
          <p:cNvSpPr/>
          <p:nvPr/>
        </p:nvSpPr>
        <p:spPr>
          <a:xfrm>
            <a:off x="6419850" y="6867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3F6FA8"/>
          </a:solidFill>
          <a:ln w="9525">
            <a:solidFill>
              <a:srgbClr val="3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-tr-trunk"/>
          <p:cNvCxnSpPr/>
          <p:nvPr/>
        </p:nvCxnSpPr>
        <p:spPr>
          <a:xfrm>
            <a:off x="22936200" y="5305425"/>
            <a:ext cx="819150" cy="0"/>
          </a:xfrm>
          <a:prstGeom prst="line">
            <a:avLst/>
          </a:prstGeom>
          <a:ln w="47625">
            <a:solidFill>
              <a:srgbClr val="2C8F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-tr-spine"/>
          <p:cNvCxnSpPr/>
          <p:nvPr/>
        </p:nvCxnSpPr>
        <p:spPr>
          <a:xfrm>
            <a:off x="23755350" y="3648075"/>
            <a:ext cx="0" cy="3324225"/>
          </a:xfrm>
          <a:prstGeom prst="line">
            <a:avLst/>
          </a:prstGeom>
          <a:ln w="47625">
            <a:solidFill>
              <a:srgbClr val="2C8F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-tr-br1"/>
          <p:cNvCxnSpPr/>
          <p:nvPr/>
        </p:nvCxnSpPr>
        <p:spPr>
          <a:xfrm>
            <a:off x="23755350" y="3648075"/>
            <a:ext cx="304800" cy="0"/>
          </a:xfrm>
          <a:prstGeom prst="line">
            <a:avLst/>
          </a:prstGeom>
          <a:ln w="47625">
            <a:solidFill>
              <a:srgbClr val="2C8F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row-2546-383"/>
          <p:cNvSpPr/>
          <p:nvPr/>
        </p:nvSpPr>
        <p:spPr>
          <a:xfrm>
            <a:off x="24060150" y="3552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2C8F73"/>
          </a:solidFill>
          <a:ln w="9525">
            <a:solidFill>
              <a:srgbClr val="2C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-tr-br2"/>
          <p:cNvCxnSpPr/>
          <p:nvPr/>
        </p:nvCxnSpPr>
        <p:spPr>
          <a:xfrm>
            <a:off x="23755350" y="5305425"/>
            <a:ext cx="304800" cy="0"/>
          </a:xfrm>
          <a:prstGeom prst="line">
            <a:avLst/>
          </a:prstGeom>
          <a:ln w="47625">
            <a:solidFill>
              <a:srgbClr val="2C8F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row-2546-557"/>
          <p:cNvSpPr/>
          <p:nvPr/>
        </p:nvSpPr>
        <p:spPr>
          <a:xfrm>
            <a:off x="24060150" y="521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2C8F73"/>
          </a:solidFill>
          <a:ln w="9525">
            <a:solidFill>
              <a:srgbClr val="2C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-tr-br3"/>
          <p:cNvCxnSpPr/>
          <p:nvPr/>
        </p:nvCxnSpPr>
        <p:spPr>
          <a:xfrm>
            <a:off x="23755350" y="6972300"/>
            <a:ext cx="304800" cy="0"/>
          </a:xfrm>
          <a:prstGeom prst="line">
            <a:avLst/>
          </a:prstGeom>
          <a:ln w="47625">
            <a:solidFill>
              <a:srgbClr val="2C8F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-2546-732"/>
          <p:cNvSpPr/>
          <p:nvPr/>
        </p:nvSpPr>
        <p:spPr>
          <a:xfrm>
            <a:off x="24060150" y="6877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2C8F73"/>
          </a:solidFill>
          <a:ln w="9525">
            <a:solidFill>
              <a:srgbClr val="2C8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-bl-trunk"/>
          <p:cNvCxnSpPr/>
          <p:nvPr/>
        </p:nvCxnSpPr>
        <p:spPr>
          <a:xfrm flipH="1">
            <a:off x="6858000" y="12630150"/>
            <a:ext cx="819150" cy="0"/>
          </a:xfrm>
          <a:prstGeom prst="line">
            <a:avLst/>
          </a:prstGeom>
          <a:ln w="47625">
            <a:solidFill>
              <a:srgbClr val="8A5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-bl-spine"/>
          <p:cNvCxnSpPr/>
          <p:nvPr/>
        </p:nvCxnSpPr>
        <p:spPr>
          <a:xfrm>
            <a:off x="6858000" y="10963275"/>
            <a:ext cx="0" cy="3324225"/>
          </a:xfrm>
          <a:prstGeom prst="line">
            <a:avLst/>
          </a:prstGeom>
          <a:ln w="47625">
            <a:solidFill>
              <a:srgbClr val="8A5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-bl-br1"/>
          <p:cNvCxnSpPr/>
          <p:nvPr/>
        </p:nvCxnSpPr>
        <p:spPr>
          <a:xfrm flipH="1">
            <a:off x="6610350" y="10963275"/>
            <a:ext cx="247650" cy="0"/>
          </a:xfrm>
          <a:prstGeom prst="line">
            <a:avLst/>
          </a:prstGeom>
          <a:ln w="47625">
            <a:solidFill>
              <a:srgbClr val="8A5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row-674-1151"/>
          <p:cNvSpPr/>
          <p:nvPr/>
        </p:nvSpPr>
        <p:spPr>
          <a:xfrm>
            <a:off x="6419850" y="10868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8A5A9E"/>
          </a:solidFill>
          <a:ln w="9525">
            <a:solidFill>
              <a:srgbClr val="8A5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-bl-br2"/>
          <p:cNvCxnSpPr/>
          <p:nvPr/>
        </p:nvCxnSpPr>
        <p:spPr>
          <a:xfrm flipH="1">
            <a:off x="6610350" y="12630150"/>
            <a:ext cx="247650" cy="0"/>
          </a:xfrm>
          <a:prstGeom prst="line">
            <a:avLst/>
          </a:prstGeom>
          <a:ln w="47625">
            <a:solidFill>
              <a:srgbClr val="8A5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row-674-1326"/>
          <p:cNvSpPr/>
          <p:nvPr/>
        </p:nvSpPr>
        <p:spPr>
          <a:xfrm>
            <a:off x="6419850" y="12534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8A5A9E"/>
          </a:solidFill>
          <a:ln w="9525">
            <a:solidFill>
              <a:srgbClr val="8A5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-bl-br3"/>
          <p:cNvCxnSpPr/>
          <p:nvPr/>
        </p:nvCxnSpPr>
        <p:spPr>
          <a:xfrm flipH="1">
            <a:off x="6610350" y="14287500"/>
            <a:ext cx="247650" cy="0"/>
          </a:xfrm>
          <a:prstGeom prst="line">
            <a:avLst/>
          </a:prstGeom>
          <a:ln w="47625">
            <a:solidFill>
              <a:srgbClr val="8A5A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row-674-1500"/>
          <p:cNvSpPr/>
          <p:nvPr/>
        </p:nvSpPr>
        <p:spPr>
          <a:xfrm>
            <a:off x="6419850" y="14192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lnTo>
                  <a:pt x="190500" y="0"/>
                </a:lnTo>
                <a:lnTo>
                  <a:pt x="190500" y="190500"/>
                </a:lnTo>
                <a:close/>
              </a:path>
            </a:pathLst>
          </a:custGeom>
          <a:solidFill>
            <a:srgbClr val="8A5A9E"/>
          </a:solidFill>
          <a:ln w="9525">
            <a:solidFill>
              <a:srgbClr val="8A5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-br-trunk"/>
          <p:cNvCxnSpPr/>
          <p:nvPr/>
        </p:nvCxnSpPr>
        <p:spPr>
          <a:xfrm>
            <a:off x="22936200" y="12877800"/>
            <a:ext cx="800100" cy="0"/>
          </a:xfrm>
          <a:prstGeom prst="line">
            <a:avLst/>
          </a:prstGeom>
          <a:ln w="47625">
            <a:solidFill>
              <a:srgbClr val="B58F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-br-spine"/>
          <p:cNvCxnSpPr/>
          <p:nvPr/>
        </p:nvCxnSpPr>
        <p:spPr>
          <a:xfrm>
            <a:off x="23736300" y="11210925"/>
            <a:ext cx="0" cy="3333750"/>
          </a:xfrm>
          <a:prstGeom prst="line">
            <a:avLst/>
          </a:prstGeom>
          <a:ln w="47625">
            <a:solidFill>
              <a:srgbClr val="B58F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-br-br1"/>
          <p:cNvCxnSpPr/>
          <p:nvPr/>
        </p:nvCxnSpPr>
        <p:spPr>
          <a:xfrm>
            <a:off x="23736300" y="11210925"/>
            <a:ext cx="323850" cy="0"/>
          </a:xfrm>
          <a:prstGeom prst="line">
            <a:avLst/>
          </a:prstGeom>
          <a:ln w="47625">
            <a:solidFill>
              <a:srgbClr val="B58F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rrow-2546-1177"/>
          <p:cNvSpPr/>
          <p:nvPr/>
        </p:nvSpPr>
        <p:spPr>
          <a:xfrm>
            <a:off x="24060150" y="11115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B58F35"/>
          </a:solidFill>
          <a:ln w="9525">
            <a:solidFill>
              <a:srgbClr val="B58F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-br-br2"/>
          <p:cNvCxnSpPr/>
          <p:nvPr/>
        </p:nvCxnSpPr>
        <p:spPr>
          <a:xfrm>
            <a:off x="23736300" y="12877800"/>
            <a:ext cx="323850" cy="0"/>
          </a:xfrm>
          <a:prstGeom prst="line">
            <a:avLst/>
          </a:prstGeom>
          <a:ln w="47625">
            <a:solidFill>
              <a:srgbClr val="B58F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rrow-2546-1352"/>
          <p:cNvSpPr/>
          <p:nvPr/>
        </p:nvSpPr>
        <p:spPr>
          <a:xfrm>
            <a:off x="24060150" y="12782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B58F35"/>
          </a:solidFill>
          <a:ln w="9525">
            <a:solidFill>
              <a:srgbClr val="B58F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-br-br3"/>
          <p:cNvCxnSpPr/>
          <p:nvPr/>
        </p:nvCxnSpPr>
        <p:spPr>
          <a:xfrm>
            <a:off x="23736300" y="14544675"/>
            <a:ext cx="323850" cy="0"/>
          </a:xfrm>
          <a:prstGeom prst="line">
            <a:avLst/>
          </a:prstGeom>
          <a:ln w="47625">
            <a:solidFill>
              <a:srgbClr val="B58F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rrow-2546-1527"/>
          <p:cNvSpPr/>
          <p:nvPr/>
        </p:nvSpPr>
        <p:spPr>
          <a:xfrm>
            <a:off x="24060150" y="14449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B58F35"/>
          </a:solidFill>
          <a:ln w="9525">
            <a:solidFill>
              <a:srgbClr val="B58F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itle-box"/>
          <p:cNvSpPr/>
          <p:nvPr/>
        </p:nvSpPr>
        <p:spPr>
          <a:xfrm>
            <a:off x="10734675" y="7581900"/>
            <a:ext cx="9172575" cy="2381250"/>
          </a:xfrm>
          <a:prstGeom prst="roundRect">
            <a:avLst>
              <a:gd name="adj" fmla="val 10400"/>
            </a:avLst>
          </a:prstGeom>
          <a:solidFill>
            <a:srgbClr val="23272A"/>
          </a:solidFill>
          <a:ln w="38100">
            <a:solidFill>
              <a:srgbClr val="C9A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itle-main"/>
          <p:cNvSpPr txBox="1"/>
          <p:nvPr/>
        </p:nvSpPr>
        <p:spPr>
          <a:xfrm>
            <a:off x="10829925" y="7734300"/>
            <a:ext cx="8982075" cy="12287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450" b="1" i="0">
                <a:solidFill>
                  <a:srgbClr val="E9CB86"/>
                </a:solidFill>
                <a:latin typeface="Microsoft YaHei"/>
                <a:ea typeface="Microsoft YaHei"/>
                <a:cs typeface="Microsoft YaHei"/>
              </a:rPr>
              <a:t>OKR 规划思维导图</a:t>
            </a:r>
          </a:p>
        </p:txBody>
      </p:sp>
      <p:sp>
        <p:nvSpPr>
          <p:cNvPr id="44" name="title-rule"/>
          <p:cNvSpPr/>
          <p:nvPr/>
        </p:nvSpPr>
        <p:spPr>
          <a:xfrm>
            <a:off x="14878050" y="8972550"/>
            <a:ext cx="952500" cy="28575"/>
          </a:xfrm>
          <a:prstGeom prst="rect">
            <a:avLst/>
          </a:prstGeom>
          <a:solidFill>
            <a:srgbClr val="8A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itle-sub"/>
          <p:cNvSpPr txBox="1"/>
          <p:nvPr/>
        </p:nvSpPr>
        <p:spPr>
          <a:xfrm>
            <a:off x="10925175" y="9067800"/>
            <a:ext cx="8791575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新年团队目标与关键结果制定</a:t>
            </a:r>
          </a:p>
        </p:txBody>
      </p:sp>
      <p:grpSp>
        <p:nvGrpSpPr>
          <p:cNvPr id="93" name="grp-s-tl-1"/>
          <p:cNvGrpSpPr/>
          <p:nvPr/>
        </p:nvGrpSpPr>
        <p:grpSpPr>
          <a:xfrm>
            <a:off x="1352550" y="3048000"/>
            <a:ext cx="4962525" cy="1162050"/>
            <a:chOff x="1352550" y="3048000"/>
            <a:chExt cx="4962525" cy="1162050"/>
          </a:xfrm>
        </p:grpSpPr>
        <p:sp>
          <p:nvSpPr>
            <p:cNvPr id="46" name="s-tl-1-bg"/>
            <p:cNvSpPr/>
            <p:nvPr/>
          </p:nvSpPr>
          <p:spPr>
            <a:xfrm>
              <a:off x="1352550" y="3048000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335B98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s-tl-1-txt"/>
            <p:cNvSpPr txBox="1"/>
            <p:nvPr/>
          </p:nvSpPr>
          <p:spPr>
            <a:xfrm>
              <a:off x="2400300" y="3343275"/>
              <a:ext cx="2867025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战略方向一致性</a:t>
              </a:r>
            </a:p>
          </p:txBody>
        </p:sp>
      </p:grpSp>
      <p:grpSp>
        <p:nvGrpSpPr>
          <p:cNvPr id="81" name="grp-s-tl-2"/>
          <p:cNvGrpSpPr/>
          <p:nvPr/>
        </p:nvGrpSpPr>
        <p:grpSpPr>
          <a:xfrm>
            <a:off x="1352550" y="4714875"/>
            <a:ext cx="4962525" cy="1162050"/>
            <a:chOff x="1352550" y="4714875"/>
            <a:chExt cx="4962525" cy="1162050"/>
          </a:xfrm>
        </p:grpSpPr>
        <p:sp>
          <p:nvSpPr>
            <p:cNvPr id="48" name="s-tl-2-bg"/>
            <p:cNvSpPr/>
            <p:nvPr/>
          </p:nvSpPr>
          <p:spPr>
            <a:xfrm>
              <a:off x="1352550" y="4714875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335B98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-tl-2-txt"/>
            <p:cNvSpPr txBox="1"/>
            <p:nvPr/>
          </p:nvSpPr>
          <p:spPr>
            <a:xfrm>
              <a:off x="2600325" y="5010150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市场份额增长</a:t>
              </a:r>
            </a:p>
          </p:txBody>
        </p:sp>
      </p:grpSp>
      <p:grpSp>
        <p:nvGrpSpPr>
          <p:cNvPr id="82" name="grp-s-tl-3"/>
          <p:cNvGrpSpPr/>
          <p:nvPr/>
        </p:nvGrpSpPr>
        <p:grpSpPr>
          <a:xfrm>
            <a:off x="1352550" y="6381750"/>
            <a:ext cx="4962525" cy="1162050"/>
            <a:chOff x="1352550" y="6381750"/>
            <a:chExt cx="4962525" cy="1162050"/>
          </a:xfrm>
        </p:grpSpPr>
        <p:sp>
          <p:nvSpPr>
            <p:cNvPr id="50" name="s-tl-3-bg"/>
            <p:cNvSpPr/>
            <p:nvPr/>
          </p:nvSpPr>
          <p:spPr>
            <a:xfrm>
              <a:off x="1352550" y="6381750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335B98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-tl-3-txt"/>
            <p:cNvSpPr txBox="1"/>
            <p:nvPr/>
          </p:nvSpPr>
          <p:spPr>
            <a:xfrm>
              <a:off x="2400300" y="6677025"/>
              <a:ext cx="2867025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品牌影响力提升</a:t>
              </a:r>
            </a:p>
          </p:txBody>
        </p:sp>
      </p:grpSp>
      <p:grpSp>
        <p:nvGrpSpPr>
          <p:cNvPr id="80" name="grp-s-tr-1"/>
          <p:cNvGrpSpPr/>
          <p:nvPr/>
        </p:nvGrpSpPr>
        <p:grpSpPr>
          <a:xfrm>
            <a:off x="24355425" y="3067050"/>
            <a:ext cx="4962525" cy="1162050"/>
            <a:chOff x="24355425" y="3067050"/>
            <a:chExt cx="4962525" cy="1162050"/>
          </a:xfrm>
        </p:grpSpPr>
        <p:sp>
          <p:nvSpPr>
            <p:cNvPr id="52" name="s-tr-1-bg"/>
            <p:cNvSpPr/>
            <p:nvPr/>
          </p:nvSpPr>
          <p:spPr>
            <a:xfrm>
              <a:off x="24355425" y="3067050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198166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s-tr-1-txt"/>
            <p:cNvSpPr txBox="1"/>
            <p:nvPr/>
          </p:nvSpPr>
          <p:spPr>
            <a:xfrm>
              <a:off x="25603200" y="3362325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量化指标设定</a:t>
              </a:r>
            </a:p>
          </p:txBody>
        </p:sp>
      </p:grpSp>
      <p:grpSp>
        <p:nvGrpSpPr>
          <p:cNvPr id="90" name="grp-s-tr-2"/>
          <p:cNvGrpSpPr/>
          <p:nvPr/>
        </p:nvGrpSpPr>
        <p:grpSpPr>
          <a:xfrm>
            <a:off x="24355425" y="4724400"/>
            <a:ext cx="4962525" cy="1162050"/>
            <a:chOff x="24355425" y="4724400"/>
            <a:chExt cx="4962525" cy="1162050"/>
          </a:xfrm>
        </p:grpSpPr>
        <p:sp>
          <p:nvSpPr>
            <p:cNvPr id="54" name="s-tr-2-bg"/>
            <p:cNvSpPr/>
            <p:nvPr/>
          </p:nvSpPr>
          <p:spPr>
            <a:xfrm>
              <a:off x="24355425" y="4724400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198166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s-tr-2-txt"/>
            <p:cNvSpPr txBox="1"/>
            <p:nvPr/>
          </p:nvSpPr>
          <p:spPr>
            <a:xfrm>
              <a:off x="25793700" y="5019675"/>
              <a:ext cx="207645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里程碑事件</a:t>
              </a:r>
            </a:p>
          </p:txBody>
        </p:sp>
      </p:grpSp>
      <p:grpSp>
        <p:nvGrpSpPr>
          <p:cNvPr id="94" name="grp-s-tr-3"/>
          <p:cNvGrpSpPr/>
          <p:nvPr/>
        </p:nvGrpSpPr>
        <p:grpSpPr>
          <a:xfrm>
            <a:off x="24355425" y="6391275"/>
            <a:ext cx="4962525" cy="1162050"/>
            <a:chOff x="24355425" y="6391275"/>
            <a:chExt cx="4962525" cy="1162050"/>
          </a:xfrm>
        </p:grpSpPr>
        <p:sp>
          <p:nvSpPr>
            <p:cNvPr id="56" name="s-tr-3-bg"/>
            <p:cNvSpPr/>
            <p:nvPr/>
          </p:nvSpPr>
          <p:spPr>
            <a:xfrm>
              <a:off x="24355425" y="6391275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198166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-tr-3-txt"/>
            <p:cNvSpPr txBox="1"/>
            <p:nvPr/>
          </p:nvSpPr>
          <p:spPr>
            <a:xfrm>
              <a:off x="25603200" y="6686550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数据驱动决策</a:t>
              </a:r>
            </a:p>
          </p:txBody>
        </p:sp>
      </p:grpSp>
      <p:grpSp>
        <p:nvGrpSpPr>
          <p:cNvPr id="83" name="grp-s-bl-1"/>
          <p:cNvGrpSpPr/>
          <p:nvPr/>
        </p:nvGrpSpPr>
        <p:grpSpPr>
          <a:xfrm>
            <a:off x="1352550" y="10382250"/>
            <a:ext cx="4962525" cy="1162050"/>
            <a:chOff x="1352550" y="10382250"/>
            <a:chExt cx="4962525" cy="1162050"/>
          </a:xfrm>
        </p:grpSpPr>
        <p:sp>
          <p:nvSpPr>
            <p:cNvPr id="58" name="s-bl-1-bg"/>
            <p:cNvSpPr/>
            <p:nvPr/>
          </p:nvSpPr>
          <p:spPr>
            <a:xfrm>
              <a:off x="1352550" y="10382250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78448E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s-bl-1-txt"/>
            <p:cNvSpPr txBox="1"/>
            <p:nvPr/>
          </p:nvSpPr>
          <p:spPr>
            <a:xfrm>
              <a:off x="2600325" y="10677525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部门协同效率</a:t>
              </a:r>
            </a:p>
          </p:txBody>
        </p:sp>
      </p:grpSp>
      <p:grpSp>
        <p:nvGrpSpPr>
          <p:cNvPr id="92" name="grp-s-bl-2"/>
          <p:cNvGrpSpPr/>
          <p:nvPr/>
        </p:nvGrpSpPr>
        <p:grpSpPr>
          <a:xfrm>
            <a:off x="1352550" y="12049125"/>
            <a:ext cx="4962525" cy="1162050"/>
            <a:chOff x="1352550" y="12049125"/>
            <a:chExt cx="4962525" cy="1162050"/>
          </a:xfrm>
        </p:grpSpPr>
        <p:sp>
          <p:nvSpPr>
            <p:cNvPr id="60" name="s-bl-2-bg"/>
            <p:cNvSpPr/>
            <p:nvPr/>
          </p:nvSpPr>
          <p:spPr>
            <a:xfrm>
              <a:off x="1352550" y="12049125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78448E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-bl-2-txt"/>
            <p:cNvSpPr txBox="1"/>
            <p:nvPr/>
          </p:nvSpPr>
          <p:spPr>
            <a:xfrm>
              <a:off x="2600325" y="12344400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核心能力建设</a:t>
              </a:r>
            </a:p>
          </p:txBody>
        </p:sp>
      </p:grpSp>
      <p:grpSp>
        <p:nvGrpSpPr>
          <p:cNvPr id="89" name="grp-s-bl-3"/>
          <p:cNvGrpSpPr/>
          <p:nvPr/>
        </p:nvGrpSpPr>
        <p:grpSpPr>
          <a:xfrm>
            <a:off x="1352550" y="13706475"/>
            <a:ext cx="4962525" cy="1162050"/>
            <a:chOff x="1352550" y="13706475"/>
            <a:chExt cx="4962525" cy="1162050"/>
          </a:xfrm>
        </p:grpSpPr>
        <p:sp>
          <p:nvSpPr>
            <p:cNvPr id="62" name="s-bl-3-bg"/>
            <p:cNvSpPr/>
            <p:nvPr/>
          </p:nvSpPr>
          <p:spPr>
            <a:xfrm>
              <a:off x="1352550" y="13706475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78448E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-bl-3-txt"/>
            <p:cNvSpPr txBox="1"/>
            <p:nvPr/>
          </p:nvSpPr>
          <p:spPr>
            <a:xfrm>
              <a:off x="2600325" y="14001750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人才梯队培养</a:t>
              </a:r>
            </a:p>
          </p:txBody>
        </p:sp>
      </p:grpSp>
      <p:grpSp>
        <p:nvGrpSpPr>
          <p:cNvPr id="91" name="grp-s-br-1"/>
          <p:cNvGrpSpPr/>
          <p:nvPr/>
        </p:nvGrpSpPr>
        <p:grpSpPr>
          <a:xfrm>
            <a:off x="24355425" y="10629900"/>
            <a:ext cx="4962525" cy="1162050"/>
            <a:chOff x="24355425" y="10629900"/>
            <a:chExt cx="4962525" cy="1162050"/>
          </a:xfrm>
        </p:grpSpPr>
        <p:sp>
          <p:nvSpPr>
            <p:cNvPr id="64" name="s-br-1-bg"/>
            <p:cNvSpPr/>
            <p:nvPr/>
          </p:nvSpPr>
          <p:spPr>
            <a:xfrm>
              <a:off x="24355425" y="10629900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AE872C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s-br-1-txt"/>
            <p:cNvSpPr txBox="1"/>
            <p:nvPr/>
          </p:nvSpPr>
          <p:spPr>
            <a:xfrm>
              <a:off x="25603200" y="10925175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行动计划落地</a:t>
              </a:r>
            </a:p>
          </p:txBody>
        </p:sp>
      </p:grpSp>
      <p:grpSp>
        <p:nvGrpSpPr>
          <p:cNvPr id="79" name="grp-s-br-2"/>
          <p:cNvGrpSpPr/>
          <p:nvPr/>
        </p:nvGrpSpPr>
        <p:grpSpPr>
          <a:xfrm>
            <a:off x="24355425" y="12296775"/>
            <a:ext cx="4962525" cy="1162050"/>
            <a:chOff x="24355425" y="12296775"/>
            <a:chExt cx="4962525" cy="1162050"/>
          </a:xfrm>
        </p:grpSpPr>
        <p:sp>
          <p:nvSpPr>
            <p:cNvPr id="66" name="s-br-2-bg"/>
            <p:cNvSpPr/>
            <p:nvPr/>
          </p:nvSpPr>
          <p:spPr>
            <a:xfrm>
              <a:off x="24355425" y="12296775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AE872C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-br-2-txt"/>
            <p:cNvSpPr txBox="1"/>
            <p:nvPr/>
          </p:nvSpPr>
          <p:spPr>
            <a:xfrm>
              <a:off x="25603200" y="12592050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定期复盘机制</a:t>
              </a:r>
            </a:p>
          </p:txBody>
        </p:sp>
      </p:grpSp>
      <p:grpSp>
        <p:nvGrpSpPr>
          <p:cNvPr id="87" name="grp-s-br-3"/>
          <p:cNvGrpSpPr/>
          <p:nvPr/>
        </p:nvGrpSpPr>
        <p:grpSpPr>
          <a:xfrm>
            <a:off x="24355425" y="13963650"/>
            <a:ext cx="4962525" cy="1162050"/>
            <a:chOff x="24355425" y="13963650"/>
            <a:chExt cx="4962525" cy="1162050"/>
          </a:xfrm>
        </p:grpSpPr>
        <p:sp>
          <p:nvSpPr>
            <p:cNvPr id="68" name="s-br-3-bg"/>
            <p:cNvSpPr/>
            <p:nvPr/>
          </p:nvSpPr>
          <p:spPr>
            <a:xfrm>
              <a:off x="24355425" y="13963650"/>
              <a:ext cx="4962525" cy="1162050"/>
            </a:xfrm>
            <a:prstGeom prst="roundRect">
              <a:avLst>
                <a:gd name="adj" fmla="val 50000"/>
              </a:avLst>
            </a:prstGeom>
            <a:solidFill>
              <a:srgbClr val="AE872C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-br-3-txt"/>
            <p:cNvSpPr txBox="1"/>
            <p:nvPr/>
          </p:nvSpPr>
          <p:spPr>
            <a:xfrm>
              <a:off x="25603200" y="14258925"/>
              <a:ext cx="24765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绩效反馈优化</a:t>
              </a:r>
            </a:p>
          </p:txBody>
        </p:sp>
      </p:grpSp>
      <p:grpSp>
        <p:nvGrpSpPr>
          <p:cNvPr id="85" name="grp-m-tl"/>
          <p:cNvGrpSpPr/>
          <p:nvPr/>
        </p:nvGrpSpPr>
        <p:grpSpPr>
          <a:xfrm>
            <a:off x="7934325" y="6172200"/>
            <a:ext cx="3686175" cy="1152525"/>
            <a:chOff x="7934325" y="6172200"/>
            <a:chExt cx="3686175" cy="1152525"/>
          </a:xfrm>
        </p:grpSpPr>
        <p:sp>
          <p:nvSpPr>
            <p:cNvPr id="70" name="m-tl-bg"/>
            <p:cNvSpPr/>
            <p:nvPr/>
          </p:nvSpPr>
          <p:spPr>
            <a:xfrm>
              <a:off x="7934325" y="6172200"/>
              <a:ext cx="3686175" cy="1152525"/>
            </a:xfrm>
            <a:prstGeom prst="roundRect">
              <a:avLst>
                <a:gd name="adj" fmla="val 49586"/>
              </a:avLst>
            </a:prstGeom>
            <a:solidFill>
              <a:srgbClr val="335B98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m-tl-txt"/>
            <p:cNvSpPr txBox="1"/>
            <p:nvPr/>
          </p:nvSpPr>
          <p:spPr>
            <a:xfrm>
              <a:off x="8743950" y="6462712"/>
              <a:ext cx="207645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公司级目标</a:t>
              </a:r>
            </a:p>
          </p:txBody>
        </p:sp>
      </p:grpSp>
      <p:grpSp>
        <p:nvGrpSpPr>
          <p:cNvPr id="84" name="grp-m-tr"/>
          <p:cNvGrpSpPr/>
          <p:nvPr/>
        </p:nvGrpSpPr>
        <p:grpSpPr>
          <a:xfrm>
            <a:off x="18992850" y="6172200"/>
            <a:ext cx="3686175" cy="1152525"/>
            <a:chOff x="18992850" y="6172200"/>
            <a:chExt cx="3686175" cy="1152525"/>
          </a:xfrm>
        </p:grpSpPr>
        <p:sp>
          <p:nvSpPr>
            <p:cNvPr id="72" name="m-tr-bg"/>
            <p:cNvSpPr/>
            <p:nvPr/>
          </p:nvSpPr>
          <p:spPr>
            <a:xfrm>
              <a:off x="18992850" y="6172200"/>
              <a:ext cx="3686175" cy="1152525"/>
            </a:xfrm>
            <a:prstGeom prst="roundRect">
              <a:avLst>
                <a:gd name="adj" fmla="val 49586"/>
              </a:avLst>
            </a:prstGeom>
            <a:solidFill>
              <a:srgbClr val="198166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m-tr-txt"/>
            <p:cNvSpPr txBox="1"/>
            <p:nvPr/>
          </p:nvSpPr>
          <p:spPr>
            <a:xfrm>
              <a:off x="19992975" y="6462712"/>
              <a:ext cx="167640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关键结果</a:t>
              </a:r>
            </a:p>
          </p:txBody>
        </p:sp>
      </p:grpSp>
      <p:grpSp>
        <p:nvGrpSpPr>
          <p:cNvPr id="86" name="grp-m-bl"/>
          <p:cNvGrpSpPr/>
          <p:nvPr/>
        </p:nvGrpSpPr>
        <p:grpSpPr>
          <a:xfrm>
            <a:off x="7934325" y="13877925"/>
            <a:ext cx="3686175" cy="1152525"/>
            <a:chOff x="7934325" y="13877925"/>
            <a:chExt cx="3686175" cy="1152525"/>
          </a:xfrm>
        </p:grpSpPr>
        <p:sp>
          <p:nvSpPr>
            <p:cNvPr id="74" name="m-bl-bg"/>
            <p:cNvSpPr/>
            <p:nvPr/>
          </p:nvSpPr>
          <p:spPr>
            <a:xfrm>
              <a:off x="7934325" y="13877925"/>
              <a:ext cx="3686175" cy="1152525"/>
            </a:xfrm>
            <a:prstGeom prst="roundRect">
              <a:avLst>
                <a:gd name="adj" fmla="val 49586"/>
              </a:avLst>
            </a:prstGeom>
            <a:solidFill>
              <a:srgbClr val="78448E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m-bl-txt"/>
            <p:cNvSpPr txBox="1"/>
            <p:nvPr/>
          </p:nvSpPr>
          <p:spPr>
            <a:xfrm>
              <a:off x="8743950" y="14168438"/>
              <a:ext cx="207645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团队级目标</a:t>
              </a:r>
            </a:p>
          </p:txBody>
        </p:sp>
      </p:grpSp>
      <p:grpSp>
        <p:nvGrpSpPr>
          <p:cNvPr id="88" name="grp-m-br"/>
          <p:cNvGrpSpPr/>
          <p:nvPr/>
        </p:nvGrpSpPr>
        <p:grpSpPr>
          <a:xfrm>
            <a:off x="18983325" y="13896975"/>
            <a:ext cx="3686175" cy="1152525"/>
            <a:chOff x="18983325" y="13896975"/>
            <a:chExt cx="3686175" cy="1152525"/>
          </a:xfrm>
        </p:grpSpPr>
        <p:sp>
          <p:nvSpPr>
            <p:cNvPr id="76" name="m-br-bg"/>
            <p:cNvSpPr/>
            <p:nvPr/>
          </p:nvSpPr>
          <p:spPr>
            <a:xfrm>
              <a:off x="18983325" y="13896975"/>
              <a:ext cx="3686175" cy="1152525"/>
            </a:xfrm>
            <a:prstGeom prst="roundRect">
              <a:avLst>
                <a:gd name="adj" fmla="val 49586"/>
              </a:avLst>
            </a:prstGeom>
            <a:solidFill>
              <a:srgbClr val="AE872C"/>
            </a:solidFill>
            <a:ln w="28575">
              <a:solidFill>
                <a:srgbClr val="C8B7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m-br-txt"/>
            <p:cNvSpPr txBox="1"/>
            <p:nvPr/>
          </p:nvSpPr>
          <p:spPr>
            <a:xfrm>
              <a:off x="19792950" y="14187488"/>
              <a:ext cx="207645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执行与追踪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