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965400" cy="17564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7965400" cy="17564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-outer"/>
          <p:cNvSpPr/>
          <p:nvPr/>
        </p:nvSpPr>
        <p:spPr>
          <a:xfrm>
            <a:off x="123825" y="114300"/>
            <a:ext cx="27727275" cy="17383125"/>
          </a:xfrm>
          <a:prstGeom prst="rect">
            <a:avLst/>
          </a:prstGeom>
          <a:solidFill>
            <a:srgbClr val="FFFFFF">
              <a:alpha val="0"/>
            </a:srgbClr>
          </a:solidFill>
          <a:ln w="14287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me-inner"/>
          <p:cNvSpPr/>
          <p:nvPr/>
        </p:nvSpPr>
        <p:spPr>
          <a:xfrm>
            <a:off x="200025" y="190500"/>
            <a:ext cx="27574875" cy="17230725"/>
          </a:xfrm>
          <a:prstGeom prst="rect">
            <a:avLst/>
          </a:prstGeom>
          <a:solidFill>
            <a:srgbClr val="FFFFFF">
              <a:alpha val="0"/>
            </a:srgbClr>
          </a:solidFill>
          <a:ln w="14287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eco-tr" descr="_photo_deco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0" y="571500"/>
            <a:ext cx="3238500" cy="2286000"/>
          </a:xfrm>
          <a:prstGeom prst="rect">
            <a:avLst/>
          </a:prstGeom>
          <a:effectLst/>
        </p:spPr>
      </p:pic>
      <p:pic>
        <p:nvPicPr>
          <p:cNvPr id="6" name="deco-bl" descr="_photo_deco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811250"/>
            <a:ext cx="3048000" cy="3333750"/>
          </a:xfrm>
          <a:prstGeom prst="rect">
            <a:avLst/>
          </a:prstGeom>
          <a:effectLst/>
        </p:spPr>
      </p:pic>
      <p:sp>
        <p:nvSpPr>
          <p:cNvPr id="7" name="title"/>
          <p:cNvSpPr txBox="1"/>
          <p:nvPr/>
        </p:nvSpPr>
        <p:spPr>
          <a:xfrm>
            <a:off x="8743950" y="1924050"/>
            <a:ext cx="10477500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00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年度工作规划全景蓝图</a:t>
            </a:r>
          </a:p>
        </p:txBody>
      </p:sp>
      <p:grpSp>
        <p:nvGrpSpPr>
          <p:cNvPr id="84" name="blk-b1"/>
          <p:cNvGrpSpPr/>
          <p:nvPr/>
        </p:nvGrpSpPr>
        <p:grpSpPr>
          <a:xfrm>
            <a:off x="3333750" y="4371975"/>
            <a:ext cx="3847658" cy="5267325"/>
            <a:chOff x="3333750" y="4371975"/>
            <a:chExt cx="3847658" cy="5267325"/>
          </a:xfrm>
        </p:grpSpPr>
        <p:pic>
          <p:nvPicPr>
            <p:cNvPr id="8" name="disc-b1" descr="_photo_disc_b1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0" y="7524750"/>
              <a:ext cx="3333750" cy="2114550"/>
            </a:xfrm>
            <a:prstGeom prst="rect">
              <a:avLst/>
            </a:prstGeom>
            <a:effectLst/>
          </p:spPr>
        </p:pic>
        <p:sp>
          <p:nvSpPr>
            <p:cNvPr id="9" name="num-b1"/>
            <p:cNvSpPr txBox="1"/>
            <p:nvPr/>
          </p:nvSpPr>
          <p:spPr>
            <a:xfrm>
              <a:off x="6629842" y="8439150"/>
              <a:ext cx="551566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A39D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0" name="pill-b1"/>
            <p:cNvSpPr/>
            <p:nvPr/>
          </p:nvSpPr>
          <p:spPr>
            <a:xfrm>
              <a:off x="3419475" y="4371975"/>
              <a:ext cx="3143250" cy="800100"/>
            </a:xfrm>
            <a:prstGeom prst="roundRect">
              <a:avLst>
                <a:gd name="adj" fmla="val 50000"/>
              </a:avLst>
            </a:prstGeom>
            <a:solidFill>
              <a:srgbClr val="A39D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lltext-b1"/>
            <p:cNvSpPr txBox="1"/>
            <p:nvPr/>
          </p:nvSpPr>
          <p:spPr>
            <a:xfrm>
              <a:off x="3419475" y="4391025"/>
              <a:ext cx="314325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战略洞察</a:t>
              </a:r>
            </a:p>
          </p:txBody>
        </p:sp>
        <p:sp>
          <p:nvSpPr>
            <p:cNvPr id="12" name="dot-b1-1"/>
            <p:cNvSpPr/>
            <p:nvPr/>
          </p:nvSpPr>
          <p:spPr>
            <a:xfrm>
              <a:off x="3600450" y="561022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tem-b1-1"/>
            <p:cNvSpPr txBox="1"/>
            <p:nvPr/>
          </p:nvSpPr>
          <p:spPr>
            <a:xfrm>
              <a:off x="3752850" y="5362575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市场态势剖析</a:t>
              </a:r>
            </a:p>
          </p:txBody>
        </p:sp>
        <p:sp>
          <p:nvSpPr>
            <p:cNvPr id="14" name="dot-b1-2"/>
            <p:cNvSpPr/>
            <p:nvPr/>
          </p:nvSpPr>
          <p:spPr>
            <a:xfrm>
              <a:off x="3600450" y="626745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tem-b1-2"/>
            <p:cNvSpPr txBox="1"/>
            <p:nvPr/>
          </p:nvSpPr>
          <p:spPr>
            <a:xfrm>
              <a:off x="3752850" y="601980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目标拆解落地</a:t>
              </a:r>
            </a:p>
          </p:txBody>
        </p:sp>
        <p:sp>
          <p:nvSpPr>
            <p:cNvPr id="16" name="dot-b1-3"/>
            <p:cNvSpPr/>
            <p:nvPr/>
          </p:nvSpPr>
          <p:spPr>
            <a:xfrm>
              <a:off x="3600450" y="692467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tem-b1-3"/>
            <p:cNvSpPr txBox="1"/>
            <p:nvPr/>
          </p:nvSpPr>
          <p:spPr>
            <a:xfrm>
              <a:off x="3752850" y="6677025"/>
              <a:ext cx="319087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资源优先级排序</a:t>
              </a:r>
            </a:p>
          </p:txBody>
        </p:sp>
      </p:grpSp>
      <p:grpSp>
        <p:nvGrpSpPr>
          <p:cNvPr id="82" name="blk-b2"/>
          <p:cNvGrpSpPr/>
          <p:nvPr/>
        </p:nvGrpSpPr>
        <p:grpSpPr>
          <a:xfrm>
            <a:off x="6515100" y="8943975"/>
            <a:ext cx="4029075" cy="5686425"/>
            <a:chOff x="6515100" y="8943975"/>
            <a:chExt cx="4029075" cy="5686425"/>
          </a:xfrm>
        </p:grpSpPr>
        <p:pic>
          <p:nvPicPr>
            <p:cNvPr id="18" name="disc-b2" descr="_photo_disc_b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7550" y="9048750"/>
              <a:ext cx="2962275" cy="2305050"/>
            </a:xfrm>
            <a:prstGeom prst="rect">
              <a:avLst/>
            </a:prstGeom>
            <a:effectLst/>
          </p:spPr>
        </p:pic>
        <p:sp>
          <p:nvSpPr>
            <p:cNvPr id="19" name="patch-b2"/>
            <p:cNvSpPr/>
            <p:nvPr/>
          </p:nvSpPr>
          <p:spPr>
            <a:xfrm>
              <a:off x="9782175" y="8943975"/>
              <a:ext cx="7620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ribbon-b2"/>
            <p:cNvCxnSpPr/>
            <p:nvPr/>
          </p:nvCxnSpPr>
          <p:spPr>
            <a:xfrm>
              <a:off x="6515100" y="9048750"/>
              <a:ext cx="723900" cy="685800"/>
            </a:xfrm>
            <a:prstGeom prst="line">
              <a:avLst/>
            </a:prstGeom>
            <a:ln w="323850">
              <a:solidFill>
                <a:srgbClr val="B6C8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ash-b2"/>
            <p:cNvCxnSpPr/>
            <p:nvPr/>
          </p:nvCxnSpPr>
          <p:spPr>
            <a:xfrm>
              <a:off x="6515100" y="9048750"/>
              <a:ext cx="723900" cy="685800"/>
            </a:xfrm>
            <a:prstGeom prst="line">
              <a:avLst/>
            </a:prstGeom>
            <a:ln w="38100">
              <a:solidFill>
                <a:srgbClr val="FFFFF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num-b2"/>
            <p:cNvSpPr txBox="1"/>
            <p:nvPr/>
          </p:nvSpPr>
          <p:spPr>
            <a:xfrm>
              <a:off x="9858817" y="9058275"/>
              <a:ext cx="551566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3" name="pill-b2"/>
            <p:cNvSpPr/>
            <p:nvPr/>
          </p:nvSpPr>
          <p:spPr>
            <a:xfrm>
              <a:off x="7019925" y="11734800"/>
              <a:ext cx="3152775" cy="809625"/>
            </a:xfrm>
            <a:prstGeom prst="roundRect">
              <a:avLst>
                <a:gd name="adj" fmla="val 50000"/>
              </a:avLst>
            </a:prstGeom>
            <a:solidFill>
              <a:srgbClr val="5D8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pilltext-b2"/>
            <p:cNvSpPr txBox="1"/>
            <p:nvPr/>
          </p:nvSpPr>
          <p:spPr>
            <a:xfrm>
              <a:off x="7019925" y="11753850"/>
              <a:ext cx="3152775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创新破局</a:t>
              </a:r>
            </a:p>
          </p:txBody>
        </p:sp>
        <p:sp>
          <p:nvSpPr>
            <p:cNvPr id="25" name="dot-b2-1"/>
            <p:cNvSpPr/>
            <p:nvPr/>
          </p:nvSpPr>
          <p:spPr>
            <a:xfrm>
              <a:off x="7153275" y="1291590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item-b2-1"/>
            <p:cNvSpPr txBox="1"/>
            <p:nvPr/>
          </p:nvSpPr>
          <p:spPr>
            <a:xfrm>
              <a:off x="7305675" y="1266825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创意头脑风暴</a:t>
              </a:r>
            </a:p>
          </p:txBody>
        </p:sp>
        <p:sp>
          <p:nvSpPr>
            <p:cNvPr id="27" name="dot-b2-2"/>
            <p:cNvSpPr/>
            <p:nvPr/>
          </p:nvSpPr>
          <p:spPr>
            <a:xfrm>
              <a:off x="7153275" y="1357312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item-b2-2"/>
            <p:cNvSpPr txBox="1"/>
            <p:nvPr/>
          </p:nvSpPr>
          <p:spPr>
            <a:xfrm>
              <a:off x="7305675" y="13325475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原型快速验证</a:t>
              </a:r>
            </a:p>
          </p:txBody>
        </p:sp>
        <p:sp>
          <p:nvSpPr>
            <p:cNvPr id="29" name="dot-b2-3"/>
            <p:cNvSpPr/>
            <p:nvPr/>
          </p:nvSpPr>
          <p:spPr>
            <a:xfrm>
              <a:off x="7153275" y="1423035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item-b2-3"/>
            <p:cNvSpPr txBox="1"/>
            <p:nvPr/>
          </p:nvSpPr>
          <p:spPr>
            <a:xfrm>
              <a:off x="7305675" y="1398270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方案迭代优化</a:t>
              </a:r>
            </a:p>
          </p:txBody>
        </p:sp>
      </p:grpSp>
      <p:grpSp>
        <p:nvGrpSpPr>
          <p:cNvPr id="86" name="blk-b3"/>
          <p:cNvGrpSpPr/>
          <p:nvPr/>
        </p:nvGrpSpPr>
        <p:grpSpPr>
          <a:xfrm>
            <a:off x="9944100" y="4371975"/>
            <a:ext cx="4371533" cy="5591175"/>
            <a:chOff x="9944100" y="4371975"/>
            <a:chExt cx="4371533" cy="5591175"/>
          </a:xfrm>
        </p:grpSpPr>
        <p:pic>
          <p:nvPicPr>
            <p:cNvPr id="31" name="disc-b3" descr="_photo_disc_b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06075" y="7524750"/>
              <a:ext cx="3305175" cy="2133600"/>
            </a:xfrm>
            <a:prstGeom prst="rect">
              <a:avLst/>
            </a:prstGeom>
            <a:effectLst/>
          </p:spPr>
        </p:pic>
        <p:cxnSp>
          <p:nvCxnSpPr>
            <p:cNvPr id="32" name="ribbon-b3"/>
            <p:cNvCxnSpPr/>
            <p:nvPr/>
          </p:nvCxnSpPr>
          <p:spPr>
            <a:xfrm flipV="1">
              <a:off x="9944100" y="9296400"/>
              <a:ext cx="685800" cy="666750"/>
            </a:xfrm>
            <a:prstGeom prst="line">
              <a:avLst/>
            </a:prstGeom>
            <a:ln w="323850">
              <a:solidFill>
                <a:srgbClr val="A9F0F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ash-b3"/>
            <p:cNvCxnSpPr/>
            <p:nvPr/>
          </p:nvCxnSpPr>
          <p:spPr>
            <a:xfrm flipV="1">
              <a:off x="9944100" y="9296400"/>
              <a:ext cx="685800" cy="666750"/>
            </a:xfrm>
            <a:prstGeom prst="line">
              <a:avLst/>
            </a:prstGeom>
            <a:ln w="38100">
              <a:solidFill>
                <a:srgbClr val="FFFFF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um-b3"/>
            <p:cNvSpPr txBox="1"/>
            <p:nvPr/>
          </p:nvSpPr>
          <p:spPr>
            <a:xfrm>
              <a:off x="13764067" y="8429625"/>
              <a:ext cx="551566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40DEF9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35" name="pill-b3"/>
            <p:cNvSpPr/>
            <p:nvPr/>
          </p:nvSpPr>
          <p:spPr>
            <a:xfrm>
              <a:off x="10582275" y="4371975"/>
              <a:ext cx="3162300" cy="800100"/>
            </a:xfrm>
            <a:prstGeom prst="roundRect">
              <a:avLst>
                <a:gd name="adj" fmla="val 50000"/>
              </a:avLst>
            </a:prstGeom>
            <a:solidFill>
              <a:srgbClr val="40D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illtext-b3"/>
            <p:cNvSpPr txBox="1"/>
            <p:nvPr/>
          </p:nvSpPr>
          <p:spPr>
            <a:xfrm>
              <a:off x="10582275" y="4391025"/>
              <a:ext cx="31623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高效执行</a:t>
              </a:r>
            </a:p>
          </p:txBody>
        </p:sp>
        <p:sp>
          <p:nvSpPr>
            <p:cNvPr id="37" name="dot-b3-1"/>
            <p:cNvSpPr/>
            <p:nvPr/>
          </p:nvSpPr>
          <p:spPr>
            <a:xfrm>
              <a:off x="10563225" y="561022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item-b3-1"/>
            <p:cNvSpPr txBox="1"/>
            <p:nvPr/>
          </p:nvSpPr>
          <p:spPr>
            <a:xfrm>
              <a:off x="10715625" y="5362575"/>
              <a:ext cx="319087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项目里程碑拆解</a:t>
              </a:r>
            </a:p>
          </p:txBody>
        </p:sp>
        <p:sp>
          <p:nvSpPr>
            <p:cNvPr id="39" name="dot-b3-2"/>
            <p:cNvSpPr/>
            <p:nvPr/>
          </p:nvSpPr>
          <p:spPr>
            <a:xfrm>
              <a:off x="10563225" y="626745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tem-b3-2"/>
            <p:cNvSpPr txBox="1"/>
            <p:nvPr/>
          </p:nvSpPr>
          <p:spPr>
            <a:xfrm>
              <a:off x="10715625" y="601980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进度实时追踪</a:t>
              </a:r>
            </a:p>
          </p:txBody>
        </p:sp>
        <p:sp>
          <p:nvSpPr>
            <p:cNvPr id="41" name="dot-b3-3"/>
            <p:cNvSpPr/>
            <p:nvPr/>
          </p:nvSpPr>
          <p:spPr>
            <a:xfrm>
              <a:off x="10563225" y="692467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tem-b3-3"/>
            <p:cNvSpPr txBox="1"/>
            <p:nvPr/>
          </p:nvSpPr>
          <p:spPr>
            <a:xfrm>
              <a:off x="10715625" y="6677025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质量红线坚守</a:t>
              </a:r>
            </a:p>
          </p:txBody>
        </p:sp>
      </p:grpSp>
      <p:grpSp>
        <p:nvGrpSpPr>
          <p:cNvPr id="87" name="blk-b4"/>
          <p:cNvGrpSpPr/>
          <p:nvPr/>
        </p:nvGrpSpPr>
        <p:grpSpPr>
          <a:xfrm>
            <a:off x="13677900" y="8943975"/>
            <a:ext cx="4305300" cy="5686425"/>
            <a:chOff x="13677900" y="8943975"/>
            <a:chExt cx="4305300" cy="5686425"/>
          </a:xfrm>
        </p:grpSpPr>
        <p:pic>
          <p:nvPicPr>
            <p:cNvPr id="43" name="disc-b4" descr="_photo_disc_b4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220825" y="9048750"/>
              <a:ext cx="2943225" cy="2305050"/>
            </a:xfrm>
            <a:prstGeom prst="rect">
              <a:avLst/>
            </a:prstGeom>
            <a:effectLst/>
          </p:spPr>
        </p:pic>
        <p:sp>
          <p:nvSpPr>
            <p:cNvPr id="44" name="patch-b4"/>
            <p:cNvSpPr/>
            <p:nvPr/>
          </p:nvSpPr>
          <p:spPr>
            <a:xfrm>
              <a:off x="16916400" y="8943975"/>
              <a:ext cx="7620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ribbon-b4"/>
            <p:cNvCxnSpPr/>
            <p:nvPr/>
          </p:nvCxnSpPr>
          <p:spPr>
            <a:xfrm>
              <a:off x="13677900" y="9048750"/>
              <a:ext cx="723900" cy="685800"/>
            </a:xfrm>
            <a:prstGeom prst="line">
              <a:avLst/>
            </a:prstGeom>
            <a:ln w="323850">
              <a:solidFill>
                <a:srgbClr val="FCCCE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ash-b4"/>
            <p:cNvCxnSpPr/>
            <p:nvPr/>
          </p:nvCxnSpPr>
          <p:spPr>
            <a:xfrm>
              <a:off x="13677900" y="9048750"/>
              <a:ext cx="723900" cy="685800"/>
            </a:xfrm>
            <a:prstGeom prst="line">
              <a:avLst/>
            </a:prstGeom>
            <a:ln w="38100">
              <a:solidFill>
                <a:srgbClr val="FFFFF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num-b4"/>
            <p:cNvSpPr txBox="1"/>
            <p:nvPr/>
          </p:nvSpPr>
          <p:spPr>
            <a:xfrm>
              <a:off x="16993042" y="9058275"/>
              <a:ext cx="551566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98EC2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48" name="pill-b4"/>
            <p:cNvSpPr/>
            <p:nvPr/>
          </p:nvSpPr>
          <p:spPr>
            <a:xfrm>
              <a:off x="14392275" y="11734800"/>
              <a:ext cx="3143250" cy="809625"/>
            </a:xfrm>
            <a:prstGeom prst="roundRect">
              <a:avLst>
                <a:gd name="adj" fmla="val 50000"/>
              </a:avLst>
            </a:prstGeom>
            <a:solidFill>
              <a:srgbClr val="F98E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illtext-b4"/>
            <p:cNvSpPr txBox="1"/>
            <p:nvPr/>
          </p:nvSpPr>
          <p:spPr>
            <a:xfrm>
              <a:off x="14392275" y="11753850"/>
              <a:ext cx="3143250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数据驱动</a:t>
              </a:r>
            </a:p>
          </p:txBody>
        </p:sp>
        <p:sp>
          <p:nvSpPr>
            <p:cNvPr id="50" name="dot-b4-1"/>
            <p:cNvSpPr/>
            <p:nvPr/>
          </p:nvSpPr>
          <p:spPr>
            <a:xfrm>
              <a:off x="14211300" y="1291590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tem-b4-1"/>
            <p:cNvSpPr txBox="1"/>
            <p:nvPr/>
          </p:nvSpPr>
          <p:spPr>
            <a:xfrm>
              <a:off x="14363700" y="12668250"/>
              <a:ext cx="36195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搭建数据监测体系</a:t>
              </a:r>
            </a:p>
          </p:txBody>
        </p:sp>
        <p:sp>
          <p:nvSpPr>
            <p:cNvPr id="52" name="dot-b4-2"/>
            <p:cNvSpPr/>
            <p:nvPr/>
          </p:nvSpPr>
          <p:spPr>
            <a:xfrm>
              <a:off x="14211300" y="1357312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item-b4-2"/>
            <p:cNvSpPr txBox="1"/>
            <p:nvPr/>
          </p:nvSpPr>
          <p:spPr>
            <a:xfrm>
              <a:off x="14363700" y="13325475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数据深度分析</a:t>
              </a:r>
            </a:p>
          </p:txBody>
        </p:sp>
        <p:sp>
          <p:nvSpPr>
            <p:cNvPr id="54" name="dot-b4-3"/>
            <p:cNvSpPr/>
            <p:nvPr/>
          </p:nvSpPr>
          <p:spPr>
            <a:xfrm>
              <a:off x="14211300" y="1423035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tem-b4-3"/>
            <p:cNvSpPr txBox="1"/>
            <p:nvPr/>
          </p:nvSpPr>
          <p:spPr>
            <a:xfrm>
              <a:off x="14363700" y="1398270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策略动态调整</a:t>
              </a:r>
            </a:p>
          </p:txBody>
        </p:sp>
      </p:grpSp>
      <p:grpSp>
        <p:nvGrpSpPr>
          <p:cNvPr id="85" name="blk-b5"/>
          <p:cNvGrpSpPr/>
          <p:nvPr/>
        </p:nvGrpSpPr>
        <p:grpSpPr>
          <a:xfrm>
            <a:off x="17087850" y="4371975"/>
            <a:ext cx="4390583" cy="5591175"/>
            <a:chOff x="17087850" y="4371975"/>
            <a:chExt cx="4390583" cy="5591175"/>
          </a:xfrm>
        </p:grpSpPr>
        <p:pic>
          <p:nvPicPr>
            <p:cNvPr id="56" name="disc-b5" descr="_photo_disc_b5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59350" y="7524750"/>
              <a:ext cx="3219450" cy="2133600"/>
            </a:xfrm>
            <a:prstGeom prst="rect">
              <a:avLst/>
            </a:prstGeom>
            <a:effectLst/>
          </p:spPr>
        </p:pic>
        <p:cxnSp>
          <p:nvCxnSpPr>
            <p:cNvPr id="57" name="ribbon-b5"/>
            <p:cNvCxnSpPr/>
            <p:nvPr/>
          </p:nvCxnSpPr>
          <p:spPr>
            <a:xfrm flipV="1">
              <a:off x="17087850" y="9296400"/>
              <a:ext cx="685800" cy="666750"/>
            </a:xfrm>
            <a:prstGeom prst="line">
              <a:avLst/>
            </a:prstGeom>
            <a:ln w="323850">
              <a:solidFill>
                <a:srgbClr val="DAC4F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ash-b5"/>
            <p:cNvCxnSpPr/>
            <p:nvPr/>
          </p:nvCxnSpPr>
          <p:spPr>
            <a:xfrm flipV="1">
              <a:off x="17087850" y="9296400"/>
              <a:ext cx="685800" cy="666750"/>
            </a:xfrm>
            <a:prstGeom prst="line">
              <a:avLst/>
            </a:prstGeom>
            <a:ln w="38100">
              <a:solidFill>
                <a:srgbClr val="FFFFF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num-b5"/>
            <p:cNvSpPr txBox="1"/>
            <p:nvPr/>
          </p:nvSpPr>
          <p:spPr>
            <a:xfrm>
              <a:off x="20926867" y="8439150"/>
              <a:ext cx="551566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AD7CFC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60" name="pill-b5"/>
            <p:cNvSpPr/>
            <p:nvPr/>
          </p:nvSpPr>
          <p:spPr>
            <a:xfrm>
              <a:off x="17649825" y="4371975"/>
              <a:ext cx="3143250" cy="800100"/>
            </a:xfrm>
            <a:prstGeom prst="roundRect">
              <a:avLst>
                <a:gd name="adj" fmla="val 50000"/>
              </a:avLst>
            </a:prstGeom>
            <a:solidFill>
              <a:srgbClr val="AD7C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illtext-b5"/>
            <p:cNvSpPr txBox="1"/>
            <p:nvPr/>
          </p:nvSpPr>
          <p:spPr>
            <a:xfrm>
              <a:off x="17649825" y="4391025"/>
              <a:ext cx="314325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协同作战</a:t>
              </a:r>
            </a:p>
          </p:txBody>
        </p:sp>
        <p:sp>
          <p:nvSpPr>
            <p:cNvPr id="62" name="dot-b5-1"/>
            <p:cNvSpPr/>
            <p:nvPr/>
          </p:nvSpPr>
          <p:spPr>
            <a:xfrm>
              <a:off x="17602200" y="561022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tem-b5-1"/>
            <p:cNvSpPr txBox="1"/>
            <p:nvPr/>
          </p:nvSpPr>
          <p:spPr>
            <a:xfrm>
              <a:off x="17754600" y="5362575"/>
              <a:ext cx="319087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跨部门协作机制</a:t>
              </a:r>
            </a:p>
          </p:txBody>
        </p:sp>
        <p:sp>
          <p:nvSpPr>
            <p:cNvPr id="64" name="dot-b5-2"/>
            <p:cNvSpPr/>
            <p:nvPr/>
          </p:nvSpPr>
          <p:spPr>
            <a:xfrm>
              <a:off x="17602200" y="626745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tem-b5-2"/>
            <p:cNvSpPr txBox="1"/>
            <p:nvPr/>
          </p:nvSpPr>
          <p:spPr>
            <a:xfrm>
              <a:off x="17754600" y="601980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人才能力赋能</a:t>
              </a:r>
            </a:p>
          </p:txBody>
        </p:sp>
        <p:sp>
          <p:nvSpPr>
            <p:cNvPr id="66" name="dot-b5-3"/>
            <p:cNvSpPr/>
            <p:nvPr/>
          </p:nvSpPr>
          <p:spPr>
            <a:xfrm>
              <a:off x="17602200" y="692467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tem-b5-3"/>
            <p:cNvSpPr txBox="1"/>
            <p:nvPr/>
          </p:nvSpPr>
          <p:spPr>
            <a:xfrm>
              <a:off x="17754600" y="6677025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激励机制设计</a:t>
              </a:r>
            </a:p>
          </p:txBody>
        </p:sp>
      </p:grpSp>
      <p:grpSp>
        <p:nvGrpSpPr>
          <p:cNvPr id="83" name="blk-b6"/>
          <p:cNvGrpSpPr/>
          <p:nvPr/>
        </p:nvGrpSpPr>
        <p:grpSpPr>
          <a:xfrm>
            <a:off x="20802600" y="8943975"/>
            <a:ext cx="4019550" cy="5686425"/>
            <a:chOff x="20802600" y="8943975"/>
            <a:chExt cx="4019550" cy="5686425"/>
          </a:xfrm>
        </p:grpSpPr>
        <p:pic>
          <p:nvPicPr>
            <p:cNvPr id="68" name="disc-b6" descr="_photo_disc_b6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364575" y="9048750"/>
              <a:ext cx="2952750" cy="2305050"/>
            </a:xfrm>
            <a:prstGeom prst="rect">
              <a:avLst/>
            </a:prstGeom>
            <a:effectLst/>
          </p:spPr>
        </p:pic>
        <p:sp>
          <p:nvSpPr>
            <p:cNvPr id="69" name="patch-b6"/>
            <p:cNvSpPr/>
            <p:nvPr/>
          </p:nvSpPr>
          <p:spPr>
            <a:xfrm>
              <a:off x="24060150" y="8943975"/>
              <a:ext cx="7620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ribbon-b6"/>
            <p:cNvCxnSpPr/>
            <p:nvPr/>
          </p:nvCxnSpPr>
          <p:spPr>
            <a:xfrm>
              <a:off x="20802600" y="9048750"/>
              <a:ext cx="723900" cy="685800"/>
            </a:xfrm>
            <a:prstGeom prst="line">
              <a:avLst/>
            </a:prstGeom>
            <a:ln w="323850">
              <a:solidFill>
                <a:srgbClr val="FBBBF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dash-b6"/>
            <p:cNvCxnSpPr/>
            <p:nvPr/>
          </p:nvCxnSpPr>
          <p:spPr>
            <a:xfrm>
              <a:off x="20802600" y="9048750"/>
              <a:ext cx="723900" cy="685800"/>
            </a:xfrm>
            <a:prstGeom prst="line">
              <a:avLst/>
            </a:prstGeom>
            <a:ln w="38100">
              <a:solidFill>
                <a:srgbClr val="FFFFF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num-b6"/>
            <p:cNvSpPr txBox="1"/>
            <p:nvPr/>
          </p:nvSpPr>
          <p:spPr>
            <a:xfrm>
              <a:off x="24136792" y="9058275"/>
              <a:ext cx="551566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869E9"/>
                  </a:solidFill>
                  <a:latin typeface="Microsoft YaHei"/>
                  <a:ea typeface="Microsoft YaHei"/>
                  <a:cs typeface="Microsoft YaHei"/>
                </a:rPr>
                <a:t>06</a:t>
              </a:r>
            </a:p>
          </p:txBody>
        </p:sp>
        <p:sp>
          <p:nvSpPr>
            <p:cNvPr id="73" name="pill-b6"/>
            <p:cNvSpPr/>
            <p:nvPr/>
          </p:nvSpPr>
          <p:spPr>
            <a:xfrm>
              <a:off x="21297900" y="11734800"/>
              <a:ext cx="3152775" cy="809625"/>
            </a:xfrm>
            <a:prstGeom prst="roundRect">
              <a:avLst>
                <a:gd name="adj" fmla="val 50000"/>
              </a:avLst>
            </a:prstGeom>
            <a:solidFill>
              <a:srgbClr val="F86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pilltext-b6"/>
            <p:cNvSpPr txBox="1"/>
            <p:nvPr/>
          </p:nvSpPr>
          <p:spPr>
            <a:xfrm>
              <a:off x="21297900" y="11753850"/>
              <a:ext cx="3152775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复盘沉淀</a:t>
              </a:r>
            </a:p>
          </p:txBody>
        </p:sp>
        <p:sp>
          <p:nvSpPr>
            <p:cNvPr id="75" name="dot-b6-1"/>
            <p:cNvSpPr/>
            <p:nvPr/>
          </p:nvSpPr>
          <p:spPr>
            <a:xfrm>
              <a:off x="21459825" y="1291590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tem-b6-1"/>
            <p:cNvSpPr txBox="1"/>
            <p:nvPr/>
          </p:nvSpPr>
          <p:spPr>
            <a:xfrm>
              <a:off x="21612225" y="1266825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年度全景复盘</a:t>
              </a:r>
            </a:p>
          </p:txBody>
        </p:sp>
        <p:sp>
          <p:nvSpPr>
            <p:cNvPr id="77" name="dot-b6-2"/>
            <p:cNvSpPr/>
            <p:nvPr/>
          </p:nvSpPr>
          <p:spPr>
            <a:xfrm>
              <a:off x="21459825" y="13573125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tem-b6-2"/>
            <p:cNvSpPr txBox="1"/>
            <p:nvPr/>
          </p:nvSpPr>
          <p:spPr>
            <a:xfrm>
              <a:off x="21612225" y="13325475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经验资产沉淀</a:t>
              </a:r>
            </a:p>
          </p:txBody>
        </p:sp>
        <p:sp>
          <p:nvSpPr>
            <p:cNvPr id="79" name="dot-b6-3"/>
            <p:cNvSpPr/>
            <p:nvPr/>
          </p:nvSpPr>
          <p:spPr>
            <a:xfrm>
              <a:off x="21459825" y="14230350"/>
              <a:ext cx="133350" cy="1333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tem-b6-3"/>
            <p:cNvSpPr txBox="1"/>
            <p:nvPr/>
          </p:nvSpPr>
          <p:spPr>
            <a:xfrm>
              <a:off x="21612225" y="13982700"/>
              <a:ext cx="2762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75" b="0" i="0">
                  <a:solidFill>
                    <a:srgbClr val="0D0D0D"/>
                  </a:solidFill>
                  <a:latin typeface="Microsoft YaHei"/>
                  <a:ea typeface="Microsoft YaHei"/>
                  <a:cs typeface="Microsoft YaHei"/>
                </a:rPr>
                <a:t>下一年度预判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