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gradFill rotWithShape="1">
            <a:gsLst>
              <a:gs pos="0">
                <a:srgbClr val="FAFBFC"/>
              </a:gs>
              <a:gs pos="45000">
                <a:srgbClr val="F3F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hoto-factory" descr="_photo_photo_fac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0" y="0"/>
            <a:ext cx="23136225" cy="17135475"/>
          </a:xfrm>
          <a:prstGeom prst="rect">
            <a:avLst/>
          </a:prstGeom>
          <a:effectLst/>
        </p:spPr>
      </p:pic>
      <p:sp>
        <p:nvSpPr>
          <p:cNvPr id="5" name="mask-left"/>
          <p:cNvSpPr/>
          <p:nvPr/>
        </p:nvSpPr>
        <p:spPr>
          <a:xfrm>
            <a:off x="0" y="0"/>
            <a:ext cx="24545925" cy="17135475"/>
          </a:xfrm>
          <a:custGeom>
            <a:avLst/>
            <a:gdLst/>
            <a:ahLst/>
            <a:cxnLst/>
            <a:rect l="l" t="t" r="r" b="b"/>
            <a:pathLst>
              <a:path w="24545925" h="17135475">
                <a:moveTo>
                  <a:pt x="0" y="0"/>
                </a:moveTo>
                <a:lnTo>
                  <a:pt x="24545925" y="0"/>
                </a:lnTo>
                <a:lnTo>
                  <a:pt x="0" y="17135475"/>
                </a:lnTo>
                <a:close/>
              </a:path>
            </a:pathLst>
          </a:custGeom>
          <a:gradFill rotWithShape="1">
            <a:gsLst>
              <a:gs pos="0">
                <a:srgbClr val="FAFBFC"/>
              </a:gs>
              <a:gs pos="45000">
                <a:srgbClr val="F3F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iag-a"/>
          <p:cNvCxnSpPr/>
          <p:nvPr/>
        </p:nvCxnSpPr>
        <p:spPr>
          <a:xfrm flipH="1">
            <a:off x="7972425" y="1000125"/>
            <a:ext cx="15573375" cy="15573375"/>
          </a:xfrm>
          <a:prstGeom prst="line">
            <a:avLst/>
          </a:prstGeom>
          <a:ln w="419100">
            <a:solidFill>
              <a:srgbClr val="00E8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diag-b"/>
          <p:cNvCxnSpPr/>
          <p:nvPr/>
        </p:nvCxnSpPr>
        <p:spPr>
          <a:xfrm flipH="1">
            <a:off x="17297400" y="5476875"/>
            <a:ext cx="10429875" cy="10429875"/>
          </a:xfrm>
          <a:prstGeom prst="line">
            <a:avLst/>
          </a:prstGeom>
          <a:ln w="428625">
            <a:solidFill>
              <a:srgbClr val="00E8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iag-c"/>
          <p:cNvCxnSpPr/>
          <p:nvPr/>
        </p:nvCxnSpPr>
        <p:spPr>
          <a:xfrm flipH="1">
            <a:off x="23841075" y="9525000"/>
            <a:ext cx="5715000" cy="5715000"/>
          </a:xfrm>
          <a:prstGeom prst="line">
            <a:avLst/>
          </a:prstGeom>
          <a:ln w="419100">
            <a:solidFill>
              <a:srgbClr val="00E8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hoto-tech-inset" descr="_photo_photo_tech_ins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1858625"/>
            <a:ext cx="3581400" cy="4371975"/>
          </a:xfrm>
          <a:prstGeom prst="rect">
            <a:avLst/>
          </a:prstGeom>
          <a:effectLst/>
        </p:spPr>
      </p:pic>
      <p:sp>
        <p:nvSpPr>
          <p:cNvPr id="10" name="mask-inset-right"/>
          <p:cNvSpPr/>
          <p:nvPr/>
        </p:nvSpPr>
        <p:spPr>
          <a:xfrm>
            <a:off x="1228725" y="11858625"/>
            <a:ext cx="3171825" cy="4371975"/>
          </a:xfrm>
          <a:custGeom>
            <a:avLst/>
            <a:gdLst/>
            <a:ahLst/>
            <a:cxnLst/>
            <a:rect l="l" t="t" r="r" b="b"/>
            <a:pathLst>
              <a:path w="3171825" h="4371975">
                <a:moveTo>
                  <a:pt x="0" y="0"/>
                </a:moveTo>
                <a:lnTo>
                  <a:pt x="3038475" y="3238500"/>
                </a:lnTo>
                <a:lnTo>
                  <a:pt x="1876425" y="4371975"/>
                </a:lnTo>
                <a:lnTo>
                  <a:pt x="3171825" y="4371975"/>
                </a:lnTo>
                <a:lnTo>
                  <a:pt x="3171825" y="0"/>
                </a:lnTo>
                <a:close/>
              </a:path>
            </a:pathLst>
          </a:cu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inset-edge-top"/>
          <p:cNvCxnSpPr/>
          <p:nvPr/>
        </p:nvCxnSpPr>
        <p:spPr>
          <a:xfrm>
            <a:off x="1228725" y="11858625"/>
            <a:ext cx="3038475" cy="3238500"/>
          </a:xfrm>
          <a:prstGeom prst="line">
            <a:avLst/>
          </a:prstGeom>
          <a:ln w="190500">
            <a:solidFill>
              <a:srgbClr val="00E8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inset-edge-bottom"/>
          <p:cNvCxnSpPr/>
          <p:nvPr/>
        </p:nvCxnSpPr>
        <p:spPr>
          <a:xfrm flipH="1">
            <a:off x="3105150" y="15097125"/>
            <a:ext cx="1162050" cy="1133475"/>
          </a:xfrm>
          <a:prstGeom prst="line">
            <a:avLst/>
          </a:prstGeom>
          <a:ln w="190500">
            <a:solidFill>
              <a:srgbClr val="00E8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dot-matrix"/>
          <p:cNvGrpSpPr/>
          <p:nvPr/>
        </p:nvGrpSpPr>
        <p:grpSpPr>
          <a:xfrm>
            <a:off x="890588" y="919162"/>
            <a:ext cx="3248025" cy="1990725"/>
            <a:chOff x="890588" y="919162"/>
            <a:chExt cx="3248025" cy="1990725"/>
          </a:xfrm>
        </p:grpSpPr>
        <p:sp>
          <p:nvSpPr>
            <p:cNvPr id="13" name="dot-0-0"/>
            <p:cNvSpPr/>
            <p:nvPr/>
          </p:nvSpPr>
          <p:spPr>
            <a:xfrm>
              <a:off x="890588" y="919162"/>
              <a:ext cx="390525" cy="390525"/>
            </a:xfrm>
            <a:prstGeom prst="ellipse">
              <a:avLst/>
            </a:prstGeom>
            <a:solidFill>
              <a:srgbClr val="7CF0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ot-0-1"/>
            <p:cNvSpPr/>
            <p:nvPr/>
          </p:nvSpPr>
          <p:spPr>
            <a:xfrm>
              <a:off x="1366838" y="919162"/>
              <a:ext cx="390525" cy="390525"/>
            </a:xfrm>
            <a:prstGeom prst="ellipse">
              <a:avLst/>
            </a:prstGeom>
            <a:solidFill>
              <a:srgbClr val="80F0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ot-0-2"/>
            <p:cNvSpPr/>
            <p:nvPr/>
          </p:nvSpPr>
          <p:spPr>
            <a:xfrm>
              <a:off x="1843088" y="919162"/>
              <a:ext cx="390525" cy="390525"/>
            </a:xfrm>
            <a:prstGeom prst="ellipse">
              <a:avLst/>
            </a:prstGeom>
            <a:solidFill>
              <a:srgbClr val="89F0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ot-0-3"/>
            <p:cNvSpPr/>
            <p:nvPr/>
          </p:nvSpPr>
          <p:spPr>
            <a:xfrm>
              <a:off x="2319338" y="919162"/>
              <a:ext cx="390525" cy="390525"/>
            </a:xfrm>
            <a:prstGeom prst="ellipse">
              <a:avLst/>
            </a:prstGeom>
            <a:solidFill>
              <a:srgbClr val="95EF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ot-0-4"/>
            <p:cNvSpPr/>
            <p:nvPr/>
          </p:nvSpPr>
          <p:spPr>
            <a:xfrm>
              <a:off x="2795588" y="919162"/>
              <a:ext cx="390525" cy="390525"/>
            </a:xfrm>
            <a:prstGeom prst="ellipse">
              <a:avLst/>
            </a:prstGeom>
            <a:solidFill>
              <a:srgbClr val="A5EF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ot-0-5"/>
            <p:cNvSpPr/>
            <p:nvPr/>
          </p:nvSpPr>
          <p:spPr>
            <a:xfrm>
              <a:off x="3271838" y="919162"/>
              <a:ext cx="390525" cy="390525"/>
            </a:xfrm>
            <a:prstGeom prst="ellipse">
              <a:avLst/>
            </a:prstGeom>
            <a:solidFill>
              <a:srgbClr val="B9EE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ot-0-6"/>
            <p:cNvSpPr/>
            <p:nvPr/>
          </p:nvSpPr>
          <p:spPr>
            <a:xfrm>
              <a:off x="3748088" y="919162"/>
              <a:ext cx="390525" cy="390525"/>
            </a:xfrm>
            <a:prstGeom prst="ellipse">
              <a:avLst/>
            </a:prstGeom>
            <a:solidFill>
              <a:srgbClr val="D3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ot-1-0"/>
            <p:cNvSpPr/>
            <p:nvPr/>
          </p:nvSpPr>
          <p:spPr>
            <a:xfrm>
              <a:off x="890588" y="1452562"/>
              <a:ext cx="390525" cy="390525"/>
            </a:xfrm>
            <a:prstGeom prst="ellipse">
              <a:avLst/>
            </a:prstGeom>
            <a:solidFill>
              <a:srgbClr val="83F2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ot-1-1"/>
            <p:cNvSpPr/>
            <p:nvPr/>
          </p:nvSpPr>
          <p:spPr>
            <a:xfrm>
              <a:off x="1366838" y="1452562"/>
              <a:ext cx="390525" cy="390525"/>
            </a:xfrm>
            <a:prstGeom prst="ellipse">
              <a:avLst/>
            </a:prstGeom>
            <a:solidFill>
              <a:srgbClr val="8CF2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t-1-2"/>
            <p:cNvSpPr/>
            <p:nvPr/>
          </p:nvSpPr>
          <p:spPr>
            <a:xfrm>
              <a:off x="1843088" y="1452562"/>
              <a:ext cx="390525" cy="390525"/>
            </a:xfrm>
            <a:prstGeom prst="ellipse">
              <a:avLst/>
            </a:prstGeom>
            <a:solidFill>
              <a:srgbClr val="95EE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ot-1-3"/>
            <p:cNvSpPr/>
            <p:nvPr/>
          </p:nvSpPr>
          <p:spPr>
            <a:xfrm>
              <a:off x="2319338" y="1452562"/>
              <a:ext cx="390525" cy="390525"/>
            </a:xfrm>
            <a:prstGeom prst="ellipse">
              <a:avLst/>
            </a:prstGeom>
            <a:solidFill>
              <a:srgbClr val="A6EF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dot-1-4"/>
            <p:cNvSpPr/>
            <p:nvPr/>
          </p:nvSpPr>
          <p:spPr>
            <a:xfrm>
              <a:off x="2795588" y="1452562"/>
              <a:ext cx="390525" cy="390525"/>
            </a:xfrm>
            <a:prstGeom prst="ellipse">
              <a:avLst/>
            </a:prstGeom>
            <a:solidFill>
              <a:srgbClr val="BDEF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dot-1-5"/>
            <p:cNvSpPr/>
            <p:nvPr/>
          </p:nvSpPr>
          <p:spPr>
            <a:xfrm>
              <a:off x="3271838" y="1452562"/>
              <a:ext cx="390525" cy="390525"/>
            </a:xfrm>
            <a:prstGeom prst="ellipse">
              <a:avLst/>
            </a:prstGeom>
            <a:solidFill>
              <a:srgbClr val="D6F0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dot-1-6"/>
            <p:cNvSpPr/>
            <p:nvPr/>
          </p:nvSpPr>
          <p:spPr>
            <a:xfrm>
              <a:off x="3748088" y="1452562"/>
              <a:ext cx="390525" cy="390525"/>
            </a:xfrm>
            <a:prstGeom prst="ellipse">
              <a:avLst/>
            </a:prstGeom>
            <a:solidFill>
              <a:srgbClr val="F2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dot-2-0"/>
            <p:cNvSpPr/>
            <p:nvPr/>
          </p:nvSpPr>
          <p:spPr>
            <a:xfrm>
              <a:off x="890588" y="1985962"/>
              <a:ext cx="390525" cy="390525"/>
            </a:xfrm>
            <a:prstGeom prst="ellipse">
              <a:avLst/>
            </a:prstGeom>
            <a:solidFill>
              <a:srgbClr val="89EE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dot-2-1"/>
            <p:cNvSpPr/>
            <p:nvPr/>
          </p:nvSpPr>
          <p:spPr>
            <a:xfrm>
              <a:off x="1366838" y="1985962"/>
              <a:ext cx="390525" cy="390525"/>
            </a:xfrm>
            <a:prstGeom prst="ellipse">
              <a:avLst/>
            </a:prstGeom>
            <a:solidFill>
              <a:srgbClr val="99F0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dot-2-2"/>
            <p:cNvSpPr/>
            <p:nvPr/>
          </p:nvSpPr>
          <p:spPr>
            <a:xfrm>
              <a:off x="1843088" y="1985962"/>
              <a:ext cx="390525" cy="390525"/>
            </a:xfrm>
            <a:prstGeom prst="ellipse">
              <a:avLst/>
            </a:prstGeom>
            <a:solidFill>
              <a:srgbClr val="A6EC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dot-2-3"/>
            <p:cNvSpPr/>
            <p:nvPr/>
          </p:nvSpPr>
          <p:spPr>
            <a:xfrm>
              <a:off x="2319338" y="1985962"/>
              <a:ext cx="390525" cy="390525"/>
            </a:xfrm>
            <a:prstGeom prst="ellipse">
              <a:avLst/>
            </a:prstGeom>
            <a:solidFill>
              <a:srgbClr val="BBE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dot-2-4"/>
            <p:cNvSpPr/>
            <p:nvPr/>
          </p:nvSpPr>
          <p:spPr>
            <a:xfrm>
              <a:off x="2795588" y="1985962"/>
              <a:ext cx="390525" cy="390525"/>
            </a:xfrm>
            <a:prstGeom prst="ellipse">
              <a:avLst/>
            </a:prstGeom>
            <a:solidFill>
              <a:srgbClr val="D9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dot-2-5"/>
            <p:cNvSpPr/>
            <p:nvPr/>
          </p:nvSpPr>
          <p:spPr>
            <a:xfrm>
              <a:off x="3271838" y="1985962"/>
              <a:ext cx="390525" cy="390525"/>
            </a:xfrm>
            <a:prstGeom prst="ellipse">
              <a:avLst/>
            </a:prstGeom>
            <a:solidFill>
              <a:srgbClr val="F0F3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dot-2-6"/>
            <p:cNvSpPr/>
            <p:nvPr/>
          </p:nvSpPr>
          <p:spPr>
            <a:xfrm>
              <a:off x="3748088" y="1985962"/>
              <a:ext cx="390525" cy="390525"/>
            </a:xfrm>
            <a:prstGeom prst="ellipse">
              <a:avLst/>
            </a:prstGeom>
            <a:solidFill>
              <a:srgbClr val="F0F3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dot-3-0"/>
            <p:cNvSpPr/>
            <p:nvPr/>
          </p:nvSpPr>
          <p:spPr>
            <a:xfrm>
              <a:off x="890588" y="2519362"/>
              <a:ext cx="390525" cy="390525"/>
            </a:xfrm>
            <a:prstGeom prst="ellipse">
              <a:avLst/>
            </a:prstGeom>
            <a:solidFill>
              <a:srgbClr val="9DEF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dot-3-1"/>
            <p:cNvSpPr/>
            <p:nvPr/>
          </p:nvSpPr>
          <p:spPr>
            <a:xfrm>
              <a:off x="1366838" y="2519362"/>
              <a:ext cx="390525" cy="390525"/>
            </a:xfrm>
            <a:prstGeom prst="ellipse">
              <a:avLst/>
            </a:prstGeom>
            <a:solidFill>
              <a:srgbClr val="B0EF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dot-3-2"/>
            <p:cNvSpPr/>
            <p:nvPr/>
          </p:nvSpPr>
          <p:spPr>
            <a:xfrm>
              <a:off x="1843088" y="2519362"/>
              <a:ext cx="390525" cy="390525"/>
            </a:xfrm>
            <a:prstGeom prst="ellipse">
              <a:avLst/>
            </a:prstGeom>
            <a:solidFill>
              <a:srgbClr val="C3EE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dot-3-3"/>
            <p:cNvSpPr/>
            <p:nvPr/>
          </p:nvSpPr>
          <p:spPr>
            <a:xfrm>
              <a:off x="2319338" y="2519362"/>
              <a:ext cx="390525" cy="390525"/>
            </a:xfrm>
            <a:prstGeom prst="ellipse">
              <a:avLst/>
            </a:prstGeom>
            <a:solidFill>
              <a:srgbClr val="D9ED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dot-3-4"/>
            <p:cNvSpPr/>
            <p:nvPr/>
          </p:nvSpPr>
          <p:spPr>
            <a:xfrm>
              <a:off x="2795588" y="2519362"/>
              <a:ext cx="390525" cy="390525"/>
            </a:xfrm>
            <a:prstGeom prst="ellipse">
              <a:avLst/>
            </a:prstGeom>
            <a:solidFill>
              <a:srgbClr val="F4FC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dot-3-5"/>
            <p:cNvSpPr/>
            <p:nvPr/>
          </p:nvSpPr>
          <p:spPr>
            <a:xfrm>
              <a:off x="3271838" y="2519362"/>
              <a:ext cx="390525" cy="390525"/>
            </a:xfrm>
            <a:prstGeom prst="ellipse">
              <a:avLst/>
            </a:prstGeom>
            <a:solidFill>
              <a:srgbClr val="F3F4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dot-3-6"/>
            <p:cNvSpPr/>
            <p:nvPr/>
          </p:nvSpPr>
          <p:spPr>
            <a:xfrm>
              <a:off x="3748088" y="2519362"/>
              <a:ext cx="390525" cy="390525"/>
            </a:xfrm>
            <a:prstGeom prst="ellipse">
              <a:avLst/>
            </a:prstGeom>
            <a:solidFill>
              <a:srgbClr val="F1F4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" name="title-line1"/>
          <p:cNvSpPr txBox="1"/>
          <p:nvPr/>
        </p:nvSpPr>
        <p:spPr>
          <a:xfrm>
            <a:off x="2124075" y="2619375"/>
            <a:ext cx="14287500" cy="304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750" b="1" i="0">
                <a:solidFill>
                  <a:srgbClr val="00E8F8"/>
                </a:solidFill>
                <a:latin typeface="Microsoft YaHei"/>
                <a:ea typeface="Microsoft YaHei"/>
                <a:cs typeface="Microsoft YaHei"/>
              </a:rPr>
              <a:t>2026年中总结</a:t>
            </a:r>
          </a:p>
        </p:txBody>
      </p:sp>
      <p:sp>
        <p:nvSpPr>
          <p:cNvPr id="42" name="title-line2"/>
          <p:cNvSpPr txBox="1"/>
          <p:nvPr/>
        </p:nvSpPr>
        <p:spPr>
          <a:xfrm>
            <a:off x="2162175" y="5057775"/>
            <a:ext cx="6667500" cy="304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750" b="1" i="0">
                <a:solidFill>
                  <a:srgbClr val="00E8F8"/>
                </a:solidFill>
                <a:latin typeface="Microsoft YaHei"/>
                <a:ea typeface="Microsoft YaHei"/>
                <a:cs typeface="Microsoft YaHei"/>
              </a:rPr>
              <a:t>与规划</a:t>
            </a:r>
          </a:p>
        </p:txBody>
      </p:sp>
      <p:sp>
        <p:nvSpPr>
          <p:cNvPr id="43" name="subtitle"/>
          <p:cNvSpPr txBox="1"/>
          <p:nvPr/>
        </p:nvSpPr>
        <p:spPr>
          <a:xfrm>
            <a:off x="2152650" y="7981950"/>
            <a:ext cx="14502384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150" b="1" i="0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制造业数据驱动的专业汇报</a:t>
            </a:r>
          </a:p>
        </p:txBody>
      </p:sp>
      <p:grpSp>
        <p:nvGrpSpPr>
          <p:cNvPr id="47" name="banner"/>
          <p:cNvGrpSpPr/>
          <p:nvPr/>
        </p:nvGrpSpPr>
        <p:grpSpPr>
          <a:xfrm>
            <a:off x="2305050" y="9715500"/>
            <a:ext cx="6419850" cy="1066800"/>
            <a:chOff x="2305050" y="9715500"/>
            <a:chExt cx="6419850" cy="1066800"/>
          </a:xfrm>
        </p:grpSpPr>
        <p:sp>
          <p:nvSpPr>
            <p:cNvPr id="44" name="banner-bg"/>
            <p:cNvSpPr/>
            <p:nvPr/>
          </p:nvSpPr>
          <p:spPr>
            <a:xfrm>
              <a:off x="2305050" y="9715500"/>
              <a:ext cx="6419850" cy="1066800"/>
            </a:xfrm>
            <a:prstGeom prst="roundRect">
              <a:avLst>
                <a:gd name="adj" fmla="val 50000"/>
              </a:avLst>
            </a:prstGeom>
            <a:solidFill>
              <a:srgbClr val="00E8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banner-t"/>
            <p:cNvSpPr txBox="1"/>
            <p:nvPr/>
          </p:nvSpPr>
          <p:spPr>
            <a:xfrm>
              <a:off x="2305050" y="9715500"/>
              <a:ext cx="6419850" cy="10668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37" b="1" i="0">
                  <a:solidFill>
                    <a:srgbClr val="2E2E2E"/>
                  </a:solidFill>
                  <a:latin typeface="Microsoft YaHei"/>
                  <a:ea typeface="Microsoft YaHei"/>
                  <a:cs typeface="Microsoft YaHei"/>
                </a:rPr>
                <a:t>汇报部门：战略发展部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