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swoosh-cyan"/>
          <p:cNvSpPr/>
          <p:nvPr/>
        </p:nvSpPr>
        <p:spPr>
          <a:xfrm>
            <a:off x="1143000" y="3810000"/>
            <a:ext cx="16764000" cy="11620500"/>
          </a:xfrm>
          <a:prstGeom prst="ellipse">
            <a:avLst/>
          </a:prstGeom>
          <a:gradFill rotWithShape="1">
            <a:gsLst>
              <a:gs pos="0">
                <a:srgbClr val="E9FDFF"/>
              </a:gs>
              <a:gs pos="100000">
                <a:srgbClr val="FFFF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swoosh-blue"/>
          <p:cNvSpPr/>
          <p:nvPr/>
        </p:nvSpPr>
        <p:spPr>
          <a:xfrm>
            <a:off x="14287500" y="3810000"/>
            <a:ext cx="14859000" cy="11430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5F5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blob"/>
          <p:cNvSpPr/>
          <p:nvPr/>
        </p:nvSpPr>
        <p:spPr>
          <a:xfrm>
            <a:off x="1514475" y="1285875"/>
            <a:ext cx="1504950" cy="1476375"/>
          </a:xfrm>
          <a:prstGeom prst="roundRect">
            <a:avLst>
              <a:gd name="adj" fmla="val 30967"/>
            </a:avLst>
          </a:prstGeom>
          <a:solidFill>
            <a:srgbClr val="06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dr-num"/>
          <p:cNvSpPr txBox="1"/>
          <p:nvPr/>
        </p:nvSpPr>
        <p:spPr>
          <a:xfrm>
            <a:off x="2438400" y="1524000"/>
            <a:ext cx="123825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hdr-title"/>
          <p:cNvSpPr txBox="1"/>
          <p:nvPr/>
        </p:nvSpPr>
        <p:spPr>
          <a:xfrm>
            <a:off x="3543300" y="1504950"/>
            <a:ext cx="6858000" cy="1162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75" b="1" i="0" spc="6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内外部挑战分析</a:t>
            </a:r>
          </a:p>
        </p:txBody>
      </p:sp>
      <p:grpSp>
        <p:nvGrpSpPr>
          <p:cNvPr id="62" name="circ-internal"/>
          <p:cNvGrpSpPr/>
          <p:nvPr/>
        </p:nvGrpSpPr>
        <p:grpSpPr>
          <a:xfrm>
            <a:off x="8948738" y="6743700"/>
            <a:ext cx="5334000" cy="5334000"/>
            <a:chOff x="8948738" y="6743700"/>
            <a:chExt cx="5334000" cy="5334000"/>
          </a:xfrm>
        </p:grpSpPr>
        <p:sp>
          <p:nvSpPr>
            <p:cNvPr id="8" name="circ-internal-disk"/>
            <p:cNvSpPr/>
            <p:nvPr/>
          </p:nvSpPr>
          <p:spPr>
            <a:xfrm>
              <a:off x="8948738" y="6743700"/>
              <a:ext cx="5334000" cy="5334000"/>
            </a:xfrm>
            <a:prstGeom prst="ellipse">
              <a:avLst/>
            </a:prstGeom>
            <a:gradFill rotWithShape="1">
              <a:gsLst>
                <a:gs pos="0">
                  <a:srgbClr val="12E6FA"/>
                </a:gs>
                <a:gs pos="100000">
                  <a:srgbClr val="02CDE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58" name="circ-internal-icon"/>
            <p:cNvGrpSpPr/>
            <p:nvPr/>
          </p:nvGrpSpPr>
          <p:grpSpPr>
            <a:xfrm>
              <a:off x="11128058" y="7795260"/>
              <a:ext cx="975360" cy="1072896"/>
              <a:chOff x="11128058" y="7795260"/>
              <a:chExt cx="975360" cy="1072896"/>
            </a:xfrm>
          </p:grpSpPr>
          <p:cxnSp>
            <p:nvCxnSpPr>
              <p:cNvPr id="9" name="Connector 8"/>
              <p:cNvCxnSpPr/>
              <p:nvPr/>
            </p:nvCxnSpPr>
            <p:spPr>
              <a:xfrm flipV="1">
                <a:off x="11128058" y="7795260"/>
                <a:ext cx="487680" cy="268224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 9"/>
              <p:cNvCxnSpPr/>
              <p:nvPr/>
            </p:nvCxnSpPr>
            <p:spPr>
              <a:xfrm>
                <a:off x="11615738" y="7795260"/>
                <a:ext cx="487680" cy="268224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/>
              <p:nvPr/>
            </p:nvCxnSpPr>
            <p:spPr>
              <a:xfrm flipH="1">
                <a:off x="11615738" y="8063484"/>
                <a:ext cx="487680" cy="268224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1"/>
              <p:cNvCxnSpPr/>
              <p:nvPr/>
            </p:nvCxnSpPr>
            <p:spPr>
              <a:xfrm flipH="1" flipV="1">
                <a:off x="11128058" y="8063484"/>
                <a:ext cx="487680" cy="268224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 12"/>
              <p:cNvCxnSpPr/>
              <p:nvPr/>
            </p:nvCxnSpPr>
            <p:spPr>
              <a:xfrm>
                <a:off x="11128058" y="8063484"/>
                <a:ext cx="0" cy="536448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 13"/>
              <p:cNvCxnSpPr/>
              <p:nvPr/>
            </p:nvCxnSpPr>
            <p:spPr>
              <a:xfrm>
                <a:off x="12103418" y="8063484"/>
                <a:ext cx="0" cy="536448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 14"/>
              <p:cNvCxnSpPr/>
              <p:nvPr/>
            </p:nvCxnSpPr>
            <p:spPr>
              <a:xfrm>
                <a:off x="11615738" y="8331708"/>
                <a:ext cx="0" cy="536448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/>
              <p:nvPr/>
            </p:nvCxnSpPr>
            <p:spPr>
              <a:xfrm>
                <a:off x="11128058" y="8599932"/>
                <a:ext cx="487680" cy="268224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6"/>
              <p:cNvCxnSpPr/>
              <p:nvPr/>
            </p:nvCxnSpPr>
            <p:spPr>
              <a:xfrm flipV="1">
                <a:off x="11615738" y="8599932"/>
                <a:ext cx="487680" cy="268224"/>
              </a:xfrm>
              <a:prstGeom prst="line">
                <a:avLst/>
              </a:prstGeom>
              <a:ln w="118872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circ-internal-label"/>
            <p:cNvSpPr txBox="1"/>
            <p:nvPr/>
          </p:nvSpPr>
          <p:spPr>
            <a:xfrm>
              <a:off x="9710738" y="9620250"/>
              <a:ext cx="3810000" cy="971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0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内部挑战</a:t>
              </a:r>
            </a:p>
          </p:txBody>
        </p:sp>
      </p:grpSp>
      <p:grpSp>
        <p:nvGrpSpPr>
          <p:cNvPr id="63" name="circ-external"/>
          <p:cNvGrpSpPr/>
          <p:nvPr/>
        </p:nvGrpSpPr>
        <p:grpSpPr>
          <a:xfrm>
            <a:off x="15316200" y="6743700"/>
            <a:ext cx="5334000" cy="5334000"/>
            <a:chOff x="15316200" y="6743700"/>
            <a:chExt cx="5334000" cy="5334000"/>
          </a:xfrm>
        </p:grpSpPr>
        <p:sp>
          <p:nvSpPr>
            <p:cNvPr id="19" name="circ-external-disk"/>
            <p:cNvSpPr/>
            <p:nvPr/>
          </p:nvSpPr>
          <p:spPr>
            <a:xfrm>
              <a:off x="15316200" y="6743700"/>
              <a:ext cx="5334000" cy="5334000"/>
            </a:xfrm>
            <a:prstGeom prst="ellipse">
              <a:avLst/>
            </a:prstGeom>
            <a:gradFill rotWithShape="1">
              <a:gsLst>
                <a:gs pos="0">
                  <a:srgbClr val="2A2AE0"/>
                </a:gs>
                <a:gs pos="100000">
                  <a:srgbClr val="0200C8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59" name="circ-external-icon"/>
            <p:cNvGrpSpPr/>
            <p:nvPr/>
          </p:nvGrpSpPr>
          <p:grpSpPr>
            <a:xfrm>
              <a:off x="17404080" y="7764780"/>
              <a:ext cx="1158240" cy="1158240"/>
              <a:chOff x="17404080" y="7764780"/>
              <a:chExt cx="1158240" cy="1158240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17629632" y="7990332"/>
                <a:ext cx="707136" cy="70713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7891760" y="7764780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8239232" y="7904988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8379440" y="8252460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18239232" y="8599932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7891760" y="8740140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7544288" y="8599932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17404080" y="8252460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7544288" y="7904988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7836896" y="8197596"/>
                <a:ext cx="292608" cy="2926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" name="circ-external-label"/>
            <p:cNvSpPr txBox="1"/>
            <p:nvPr/>
          </p:nvSpPr>
          <p:spPr>
            <a:xfrm>
              <a:off x="16078200" y="9620250"/>
              <a:ext cx="3810000" cy="971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0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外部挑战</a:t>
              </a:r>
            </a:p>
          </p:txBody>
        </p:sp>
      </p:grpSp>
      <p:sp>
        <p:nvSpPr>
          <p:cNvPr id="31" name="arrow-internal"/>
          <p:cNvSpPr/>
          <p:nvPr/>
        </p:nvSpPr>
        <p:spPr>
          <a:xfrm>
            <a:off x="7139940" y="5642787"/>
            <a:ext cx="2797067" cy="6763525"/>
          </a:xfrm>
          <a:custGeom>
            <a:avLst/>
            <a:gdLst/>
            <a:ahLst/>
            <a:cxnLst/>
            <a:rect l="l" t="t" r="r" b="b"/>
            <a:pathLst>
              <a:path w="2797067" h="6763525">
                <a:moveTo>
                  <a:pt x="1792605" y="6183453"/>
                </a:moveTo>
                <a:lnTo>
                  <a:pt x="1711642" y="6090108"/>
                </a:lnTo>
                <a:lnTo>
                  <a:pt x="1634490" y="5994858"/>
                </a:lnTo>
                <a:lnTo>
                  <a:pt x="1560195" y="5895798"/>
                </a:lnTo>
                <a:lnTo>
                  <a:pt x="1488758" y="5794833"/>
                </a:lnTo>
                <a:lnTo>
                  <a:pt x="1421130" y="5691963"/>
                </a:lnTo>
                <a:lnTo>
                  <a:pt x="1357312" y="5586235"/>
                </a:lnTo>
                <a:lnTo>
                  <a:pt x="1297305" y="5478603"/>
                </a:lnTo>
                <a:lnTo>
                  <a:pt x="1240155" y="5369065"/>
                </a:lnTo>
                <a:lnTo>
                  <a:pt x="1187768" y="5257623"/>
                </a:lnTo>
                <a:lnTo>
                  <a:pt x="1138238" y="5144275"/>
                </a:lnTo>
                <a:lnTo>
                  <a:pt x="1093470" y="5029975"/>
                </a:lnTo>
                <a:lnTo>
                  <a:pt x="1052512" y="4913771"/>
                </a:lnTo>
                <a:lnTo>
                  <a:pt x="1015365" y="4795661"/>
                </a:lnTo>
                <a:lnTo>
                  <a:pt x="982028" y="4676598"/>
                </a:lnTo>
                <a:lnTo>
                  <a:pt x="953452" y="4556583"/>
                </a:lnTo>
                <a:lnTo>
                  <a:pt x="927735" y="4436568"/>
                </a:lnTo>
                <a:lnTo>
                  <a:pt x="907732" y="4314648"/>
                </a:lnTo>
                <a:lnTo>
                  <a:pt x="890588" y="4191775"/>
                </a:lnTo>
                <a:lnTo>
                  <a:pt x="878205" y="4069855"/>
                </a:lnTo>
                <a:lnTo>
                  <a:pt x="870585" y="3946031"/>
                </a:lnTo>
                <a:lnTo>
                  <a:pt x="865822" y="3823158"/>
                </a:lnTo>
                <a:lnTo>
                  <a:pt x="866775" y="3699333"/>
                </a:lnTo>
                <a:lnTo>
                  <a:pt x="870585" y="3576461"/>
                </a:lnTo>
                <a:lnTo>
                  <a:pt x="879158" y="3453588"/>
                </a:lnTo>
                <a:lnTo>
                  <a:pt x="892492" y="3330715"/>
                </a:lnTo>
                <a:lnTo>
                  <a:pt x="909638" y="3208795"/>
                </a:lnTo>
                <a:lnTo>
                  <a:pt x="930592" y="3086875"/>
                </a:lnTo>
                <a:lnTo>
                  <a:pt x="956310" y="2965908"/>
                </a:lnTo>
                <a:lnTo>
                  <a:pt x="985838" y="2845893"/>
                </a:lnTo>
                <a:lnTo>
                  <a:pt x="1019175" y="2727783"/>
                </a:lnTo>
                <a:lnTo>
                  <a:pt x="1056322" y="2609673"/>
                </a:lnTo>
                <a:lnTo>
                  <a:pt x="1098232" y="2493468"/>
                </a:lnTo>
                <a:lnTo>
                  <a:pt x="1143952" y="2379168"/>
                </a:lnTo>
                <a:lnTo>
                  <a:pt x="1193482" y="2265821"/>
                </a:lnTo>
                <a:lnTo>
                  <a:pt x="1245870" y="2154378"/>
                </a:lnTo>
                <a:lnTo>
                  <a:pt x="1303020" y="2045793"/>
                </a:lnTo>
                <a:lnTo>
                  <a:pt x="1363980" y="1938161"/>
                </a:lnTo>
                <a:lnTo>
                  <a:pt x="1428750" y="1832433"/>
                </a:lnTo>
                <a:lnTo>
                  <a:pt x="1496378" y="1729563"/>
                </a:lnTo>
                <a:lnTo>
                  <a:pt x="1567815" y="1628598"/>
                </a:lnTo>
                <a:lnTo>
                  <a:pt x="1642110" y="1530491"/>
                </a:lnTo>
                <a:lnTo>
                  <a:pt x="1720215" y="1435241"/>
                </a:lnTo>
                <a:lnTo>
                  <a:pt x="1802130" y="1342848"/>
                </a:lnTo>
                <a:lnTo>
                  <a:pt x="1885950" y="1252361"/>
                </a:lnTo>
                <a:lnTo>
                  <a:pt x="1973580" y="1165683"/>
                </a:lnTo>
                <a:lnTo>
                  <a:pt x="2064068" y="1081863"/>
                </a:lnTo>
                <a:lnTo>
                  <a:pt x="2157412" y="1000901"/>
                </a:lnTo>
                <a:lnTo>
                  <a:pt x="2253615" y="922795"/>
                </a:lnTo>
                <a:lnTo>
                  <a:pt x="2440929" y="1163400"/>
                </a:lnTo>
                <a:lnTo>
                  <a:pt x="2797067" y="84276"/>
                </a:lnTo>
                <a:lnTo>
                  <a:pt x="1531981" y="0"/>
                </a:lnTo>
                <a:lnTo>
                  <a:pt x="1719262" y="239853"/>
                </a:lnTo>
                <a:lnTo>
                  <a:pt x="1601152" y="336055"/>
                </a:lnTo>
                <a:lnTo>
                  <a:pt x="1484948" y="437021"/>
                </a:lnTo>
                <a:lnTo>
                  <a:pt x="1372552" y="540843"/>
                </a:lnTo>
                <a:lnTo>
                  <a:pt x="1264920" y="648475"/>
                </a:lnTo>
                <a:lnTo>
                  <a:pt x="1160145" y="759918"/>
                </a:lnTo>
                <a:lnTo>
                  <a:pt x="1059180" y="875171"/>
                </a:lnTo>
                <a:lnTo>
                  <a:pt x="962025" y="994233"/>
                </a:lnTo>
                <a:lnTo>
                  <a:pt x="869632" y="1115201"/>
                </a:lnTo>
                <a:lnTo>
                  <a:pt x="781050" y="1239978"/>
                </a:lnTo>
                <a:lnTo>
                  <a:pt x="696278" y="1367613"/>
                </a:lnTo>
                <a:lnTo>
                  <a:pt x="617220" y="1499058"/>
                </a:lnTo>
                <a:lnTo>
                  <a:pt x="541972" y="1631455"/>
                </a:lnTo>
                <a:lnTo>
                  <a:pt x="470535" y="1767663"/>
                </a:lnTo>
                <a:lnTo>
                  <a:pt x="404812" y="1905775"/>
                </a:lnTo>
                <a:lnTo>
                  <a:pt x="343852" y="2045793"/>
                </a:lnTo>
                <a:lnTo>
                  <a:pt x="286702" y="2187715"/>
                </a:lnTo>
                <a:lnTo>
                  <a:pt x="235268" y="2331543"/>
                </a:lnTo>
                <a:lnTo>
                  <a:pt x="188595" y="2477275"/>
                </a:lnTo>
                <a:lnTo>
                  <a:pt x="147638" y="2624913"/>
                </a:lnTo>
                <a:lnTo>
                  <a:pt x="110490" y="2773503"/>
                </a:lnTo>
                <a:lnTo>
                  <a:pt x="79058" y="2923045"/>
                </a:lnTo>
                <a:lnTo>
                  <a:pt x="53340" y="3074493"/>
                </a:lnTo>
                <a:lnTo>
                  <a:pt x="32385" y="3225941"/>
                </a:lnTo>
                <a:lnTo>
                  <a:pt x="16192" y="3377388"/>
                </a:lnTo>
                <a:lnTo>
                  <a:pt x="5715" y="3530741"/>
                </a:lnTo>
                <a:lnTo>
                  <a:pt x="0" y="3683141"/>
                </a:lnTo>
                <a:lnTo>
                  <a:pt x="0" y="3836493"/>
                </a:lnTo>
                <a:lnTo>
                  <a:pt x="4762" y="3988893"/>
                </a:lnTo>
                <a:lnTo>
                  <a:pt x="14288" y="4142245"/>
                </a:lnTo>
                <a:lnTo>
                  <a:pt x="30480" y="4293693"/>
                </a:lnTo>
                <a:lnTo>
                  <a:pt x="50482" y="4446093"/>
                </a:lnTo>
                <a:lnTo>
                  <a:pt x="76200" y="4596588"/>
                </a:lnTo>
                <a:lnTo>
                  <a:pt x="107632" y="4746131"/>
                </a:lnTo>
                <a:lnTo>
                  <a:pt x="142875" y="4894721"/>
                </a:lnTo>
                <a:lnTo>
                  <a:pt x="184785" y="5042358"/>
                </a:lnTo>
                <a:lnTo>
                  <a:pt x="230505" y="5188091"/>
                </a:lnTo>
                <a:lnTo>
                  <a:pt x="280988" y="5332871"/>
                </a:lnTo>
                <a:lnTo>
                  <a:pt x="337185" y="5474793"/>
                </a:lnTo>
                <a:lnTo>
                  <a:pt x="398145" y="5615763"/>
                </a:lnTo>
                <a:lnTo>
                  <a:pt x="463868" y="5753875"/>
                </a:lnTo>
                <a:lnTo>
                  <a:pt x="533400" y="5890083"/>
                </a:lnTo>
                <a:lnTo>
                  <a:pt x="608648" y="6023433"/>
                </a:lnTo>
                <a:lnTo>
                  <a:pt x="687705" y="6153925"/>
                </a:lnTo>
                <a:lnTo>
                  <a:pt x="771525" y="6282513"/>
                </a:lnTo>
                <a:lnTo>
                  <a:pt x="860108" y="6407291"/>
                </a:lnTo>
                <a:lnTo>
                  <a:pt x="952500" y="6529211"/>
                </a:lnTo>
                <a:lnTo>
                  <a:pt x="1048702" y="6648273"/>
                </a:lnTo>
                <a:lnTo>
                  <a:pt x="1148715" y="6763525"/>
                </a:lnTo>
                <a:close/>
              </a:path>
            </a:pathLst>
          </a:custGeom>
          <a:gradFill rotWithShape="1">
            <a:gsLst>
              <a:gs pos="0">
                <a:srgbClr val="02E4F8"/>
              </a:gs>
              <a:gs pos="100000">
                <a:srgbClr val="8EEFFB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row-external"/>
          <p:cNvSpPr/>
          <p:nvPr/>
        </p:nvSpPr>
        <p:spPr>
          <a:xfrm>
            <a:off x="19661930" y="5642787"/>
            <a:ext cx="2797068" cy="6763525"/>
          </a:xfrm>
          <a:custGeom>
            <a:avLst/>
            <a:gdLst/>
            <a:ahLst/>
            <a:cxnLst/>
            <a:rect l="l" t="t" r="r" b="b"/>
            <a:pathLst>
              <a:path w="2797068" h="6763525">
                <a:moveTo>
                  <a:pt x="1004462" y="6183453"/>
                </a:moveTo>
                <a:lnTo>
                  <a:pt x="1085425" y="6090108"/>
                </a:lnTo>
                <a:lnTo>
                  <a:pt x="1162578" y="5994858"/>
                </a:lnTo>
                <a:lnTo>
                  <a:pt x="1236872" y="5895798"/>
                </a:lnTo>
                <a:lnTo>
                  <a:pt x="1308310" y="5794833"/>
                </a:lnTo>
                <a:lnTo>
                  <a:pt x="1375938" y="5691963"/>
                </a:lnTo>
                <a:lnTo>
                  <a:pt x="1439755" y="5586235"/>
                </a:lnTo>
                <a:lnTo>
                  <a:pt x="1499762" y="5478603"/>
                </a:lnTo>
                <a:lnTo>
                  <a:pt x="1556912" y="5369065"/>
                </a:lnTo>
                <a:lnTo>
                  <a:pt x="1609300" y="5257623"/>
                </a:lnTo>
                <a:lnTo>
                  <a:pt x="1658830" y="5144275"/>
                </a:lnTo>
                <a:lnTo>
                  <a:pt x="1703598" y="5029975"/>
                </a:lnTo>
                <a:lnTo>
                  <a:pt x="1744555" y="4913771"/>
                </a:lnTo>
                <a:lnTo>
                  <a:pt x="1781702" y="4795661"/>
                </a:lnTo>
                <a:lnTo>
                  <a:pt x="1815040" y="4676598"/>
                </a:lnTo>
                <a:lnTo>
                  <a:pt x="1843615" y="4556583"/>
                </a:lnTo>
                <a:lnTo>
                  <a:pt x="1869332" y="4436568"/>
                </a:lnTo>
                <a:lnTo>
                  <a:pt x="1889335" y="4314648"/>
                </a:lnTo>
                <a:lnTo>
                  <a:pt x="1906480" y="4191775"/>
                </a:lnTo>
                <a:lnTo>
                  <a:pt x="1918862" y="4069855"/>
                </a:lnTo>
                <a:lnTo>
                  <a:pt x="1926482" y="3946031"/>
                </a:lnTo>
                <a:lnTo>
                  <a:pt x="1931245" y="3823158"/>
                </a:lnTo>
                <a:lnTo>
                  <a:pt x="1930292" y="3699333"/>
                </a:lnTo>
                <a:lnTo>
                  <a:pt x="1926482" y="3576461"/>
                </a:lnTo>
                <a:lnTo>
                  <a:pt x="1917910" y="3453588"/>
                </a:lnTo>
                <a:lnTo>
                  <a:pt x="1904575" y="3330715"/>
                </a:lnTo>
                <a:lnTo>
                  <a:pt x="1887430" y="3208795"/>
                </a:lnTo>
                <a:lnTo>
                  <a:pt x="1866475" y="3086875"/>
                </a:lnTo>
                <a:lnTo>
                  <a:pt x="1840758" y="2965908"/>
                </a:lnTo>
                <a:lnTo>
                  <a:pt x="1811230" y="2845893"/>
                </a:lnTo>
                <a:lnTo>
                  <a:pt x="1777892" y="2727783"/>
                </a:lnTo>
                <a:lnTo>
                  <a:pt x="1740745" y="2609673"/>
                </a:lnTo>
                <a:lnTo>
                  <a:pt x="1698835" y="2493468"/>
                </a:lnTo>
                <a:lnTo>
                  <a:pt x="1653115" y="2379168"/>
                </a:lnTo>
                <a:lnTo>
                  <a:pt x="1603585" y="2265821"/>
                </a:lnTo>
                <a:lnTo>
                  <a:pt x="1551198" y="2154378"/>
                </a:lnTo>
                <a:lnTo>
                  <a:pt x="1494048" y="2045793"/>
                </a:lnTo>
                <a:lnTo>
                  <a:pt x="1433088" y="1938161"/>
                </a:lnTo>
                <a:lnTo>
                  <a:pt x="1368318" y="1832433"/>
                </a:lnTo>
                <a:lnTo>
                  <a:pt x="1300690" y="1729563"/>
                </a:lnTo>
                <a:lnTo>
                  <a:pt x="1229252" y="1628598"/>
                </a:lnTo>
                <a:lnTo>
                  <a:pt x="1154958" y="1530491"/>
                </a:lnTo>
                <a:lnTo>
                  <a:pt x="1076852" y="1435241"/>
                </a:lnTo>
                <a:lnTo>
                  <a:pt x="994938" y="1342848"/>
                </a:lnTo>
                <a:lnTo>
                  <a:pt x="911118" y="1252361"/>
                </a:lnTo>
                <a:lnTo>
                  <a:pt x="823488" y="1165683"/>
                </a:lnTo>
                <a:lnTo>
                  <a:pt x="733000" y="1081863"/>
                </a:lnTo>
                <a:lnTo>
                  <a:pt x="639655" y="1000901"/>
                </a:lnTo>
                <a:lnTo>
                  <a:pt x="543452" y="922795"/>
                </a:lnTo>
                <a:lnTo>
                  <a:pt x="356139" y="1163400"/>
                </a:lnTo>
                <a:lnTo>
                  <a:pt x="0" y="84276"/>
                </a:lnTo>
                <a:lnTo>
                  <a:pt x="1265086" y="0"/>
                </a:lnTo>
                <a:lnTo>
                  <a:pt x="1077805" y="239853"/>
                </a:lnTo>
                <a:lnTo>
                  <a:pt x="1195915" y="336055"/>
                </a:lnTo>
                <a:lnTo>
                  <a:pt x="1312120" y="437021"/>
                </a:lnTo>
                <a:lnTo>
                  <a:pt x="1424515" y="540843"/>
                </a:lnTo>
                <a:lnTo>
                  <a:pt x="1532148" y="648475"/>
                </a:lnTo>
                <a:lnTo>
                  <a:pt x="1636922" y="759918"/>
                </a:lnTo>
                <a:lnTo>
                  <a:pt x="1737888" y="875171"/>
                </a:lnTo>
                <a:lnTo>
                  <a:pt x="1835042" y="994233"/>
                </a:lnTo>
                <a:lnTo>
                  <a:pt x="1927435" y="1115201"/>
                </a:lnTo>
                <a:lnTo>
                  <a:pt x="2016018" y="1239978"/>
                </a:lnTo>
                <a:lnTo>
                  <a:pt x="2100790" y="1367613"/>
                </a:lnTo>
                <a:lnTo>
                  <a:pt x="2179848" y="1499058"/>
                </a:lnTo>
                <a:lnTo>
                  <a:pt x="2255095" y="1631455"/>
                </a:lnTo>
                <a:lnTo>
                  <a:pt x="2326532" y="1767663"/>
                </a:lnTo>
                <a:lnTo>
                  <a:pt x="2392255" y="1905775"/>
                </a:lnTo>
                <a:lnTo>
                  <a:pt x="2453215" y="2045793"/>
                </a:lnTo>
                <a:lnTo>
                  <a:pt x="2510365" y="2187715"/>
                </a:lnTo>
                <a:lnTo>
                  <a:pt x="2561800" y="2331543"/>
                </a:lnTo>
                <a:lnTo>
                  <a:pt x="2608472" y="2477275"/>
                </a:lnTo>
                <a:lnTo>
                  <a:pt x="2649430" y="2624913"/>
                </a:lnTo>
                <a:lnTo>
                  <a:pt x="2686578" y="2773503"/>
                </a:lnTo>
                <a:lnTo>
                  <a:pt x="2718010" y="2923045"/>
                </a:lnTo>
                <a:lnTo>
                  <a:pt x="2743728" y="3074493"/>
                </a:lnTo>
                <a:lnTo>
                  <a:pt x="2764682" y="3225941"/>
                </a:lnTo>
                <a:lnTo>
                  <a:pt x="2780875" y="3377388"/>
                </a:lnTo>
                <a:lnTo>
                  <a:pt x="2791352" y="3530741"/>
                </a:lnTo>
                <a:lnTo>
                  <a:pt x="2797068" y="3683141"/>
                </a:lnTo>
                <a:lnTo>
                  <a:pt x="2797068" y="3836493"/>
                </a:lnTo>
                <a:lnTo>
                  <a:pt x="2792305" y="3988893"/>
                </a:lnTo>
                <a:lnTo>
                  <a:pt x="2782780" y="4142245"/>
                </a:lnTo>
                <a:lnTo>
                  <a:pt x="2766588" y="4293693"/>
                </a:lnTo>
                <a:lnTo>
                  <a:pt x="2746585" y="4446093"/>
                </a:lnTo>
                <a:lnTo>
                  <a:pt x="2720868" y="4596588"/>
                </a:lnTo>
                <a:lnTo>
                  <a:pt x="2689435" y="4746131"/>
                </a:lnTo>
                <a:lnTo>
                  <a:pt x="2654192" y="4894721"/>
                </a:lnTo>
                <a:lnTo>
                  <a:pt x="2612282" y="5042358"/>
                </a:lnTo>
                <a:lnTo>
                  <a:pt x="2566562" y="5188091"/>
                </a:lnTo>
                <a:lnTo>
                  <a:pt x="2516080" y="5332871"/>
                </a:lnTo>
                <a:lnTo>
                  <a:pt x="2459882" y="5474793"/>
                </a:lnTo>
                <a:lnTo>
                  <a:pt x="2398922" y="5615763"/>
                </a:lnTo>
                <a:lnTo>
                  <a:pt x="2333200" y="5753875"/>
                </a:lnTo>
                <a:lnTo>
                  <a:pt x="2263668" y="5890083"/>
                </a:lnTo>
                <a:lnTo>
                  <a:pt x="2188420" y="6023433"/>
                </a:lnTo>
                <a:lnTo>
                  <a:pt x="2109362" y="6153925"/>
                </a:lnTo>
                <a:lnTo>
                  <a:pt x="2025542" y="6282513"/>
                </a:lnTo>
                <a:lnTo>
                  <a:pt x="1936960" y="6407291"/>
                </a:lnTo>
                <a:lnTo>
                  <a:pt x="1844568" y="6529211"/>
                </a:lnTo>
                <a:lnTo>
                  <a:pt x="1748365" y="6648273"/>
                </a:lnTo>
                <a:lnTo>
                  <a:pt x="1648352" y="6763525"/>
                </a:lnTo>
                <a:close/>
              </a:path>
            </a:pathLst>
          </a:custGeom>
          <a:gradFill rotWithShape="1">
            <a:gsLst>
              <a:gs pos="0">
                <a:srgbClr val="2626D8"/>
              </a:gs>
              <a:gs pos="100000">
                <a:srgbClr val="C9C9F4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h-1"/>
          <p:cNvSpPr txBox="1"/>
          <p:nvPr/>
        </p:nvSpPr>
        <p:spPr>
          <a:xfrm>
            <a:off x="2724150" y="4895850"/>
            <a:ext cx="23431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06EDFD"/>
                </a:solidFill>
                <a:latin typeface="Microsoft YaHei"/>
                <a:ea typeface="Microsoft YaHei"/>
                <a:cs typeface="Microsoft YaHei"/>
              </a:rPr>
              <a:t>技术瓶颈</a:t>
            </a:r>
          </a:p>
        </p:txBody>
      </p:sp>
      <p:sp>
        <p:nvSpPr>
          <p:cNvPr id="34" name="lh-2"/>
          <p:cNvSpPr txBox="1"/>
          <p:nvPr/>
        </p:nvSpPr>
        <p:spPr>
          <a:xfrm>
            <a:off x="1781175" y="8239125"/>
            <a:ext cx="23431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06EDFD"/>
                </a:solidFill>
                <a:latin typeface="Microsoft YaHei"/>
                <a:ea typeface="Microsoft YaHei"/>
                <a:cs typeface="Microsoft YaHei"/>
              </a:rPr>
              <a:t>人才短缺</a:t>
            </a:r>
          </a:p>
        </p:txBody>
      </p:sp>
      <p:sp>
        <p:nvSpPr>
          <p:cNvPr id="35" name="lh-3"/>
          <p:cNvSpPr txBox="1"/>
          <p:nvPr/>
        </p:nvSpPr>
        <p:spPr>
          <a:xfrm>
            <a:off x="2724150" y="11791950"/>
            <a:ext cx="234315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06EDFD"/>
                </a:solidFill>
                <a:latin typeface="Microsoft YaHei"/>
                <a:ea typeface="Microsoft YaHei"/>
                <a:cs typeface="Microsoft YaHei"/>
              </a:rPr>
              <a:t>流程僵化</a:t>
            </a:r>
          </a:p>
        </p:txBody>
      </p:sp>
      <p:sp>
        <p:nvSpPr>
          <p:cNvPr id="36" name="rh-1"/>
          <p:cNvSpPr txBox="1"/>
          <p:nvPr/>
        </p:nvSpPr>
        <p:spPr>
          <a:xfrm>
            <a:off x="22393275" y="4895850"/>
            <a:ext cx="3506724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0200C4"/>
                </a:solidFill>
                <a:latin typeface="Microsoft YaHei"/>
                <a:ea typeface="Microsoft YaHei"/>
                <a:cs typeface="Microsoft YaHei"/>
              </a:rPr>
              <a:t>市场竞争加剧</a:t>
            </a:r>
          </a:p>
        </p:txBody>
      </p:sp>
      <p:sp>
        <p:nvSpPr>
          <p:cNvPr id="37" name="rh-2"/>
          <p:cNvSpPr txBox="1"/>
          <p:nvPr/>
        </p:nvSpPr>
        <p:spPr>
          <a:xfrm>
            <a:off x="22374225" y="8239125"/>
            <a:ext cx="292227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0200C4"/>
                </a:solidFill>
                <a:latin typeface="Microsoft YaHei"/>
                <a:ea typeface="Microsoft YaHei"/>
                <a:cs typeface="Microsoft YaHei"/>
              </a:rPr>
              <a:t>供应链风险</a:t>
            </a:r>
          </a:p>
        </p:txBody>
      </p:sp>
      <p:sp>
        <p:nvSpPr>
          <p:cNvPr id="38" name="rh-3"/>
          <p:cNvSpPr txBox="1"/>
          <p:nvPr/>
        </p:nvSpPr>
        <p:spPr>
          <a:xfrm>
            <a:off x="22383750" y="11791950"/>
            <a:ext cx="4675632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0200C4"/>
                </a:solidFill>
                <a:latin typeface="Microsoft YaHei"/>
                <a:ea typeface="Microsoft YaHei"/>
                <a:cs typeface="Microsoft YaHei"/>
              </a:rPr>
              <a:t>宏观经济不确定性</a:t>
            </a:r>
          </a:p>
        </p:txBody>
      </p:sp>
      <p:grpSp>
        <p:nvGrpSpPr>
          <p:cNvPr id="60" name="body-left"/>
          <p:cNvGrpSpPr/>
          <p:nvPr/>
        </p:nvGrpSpPr>
        <p:grpSpPr>
          <a:xfrm>
            <a:off x="1771650" y="5800725"/>
            <a:ext cx="6402705" cy="8467725"/>
            <a:chOff x="1771650" y="5800725"/>
            <a:chExt cx="6402705" cy="8467725"/>
          </a:xfrm>
        </p:grpSpPr>
        <p:sp>
          <p:nvSpPr>
            <p:cNvPr id="39" name="lb-1"/>
            <p:cNvSpPr txBox="1"/>
            <p:nvPr/>
          </p:nvSpPr>
          <p:spPr>
            <a:xfrm>
              <a:off x="2724150" y="580072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关键核心技术仍依赖外部供应</a:t>
              </a:r>
            </a:p>
          </p:txBody>
        </p:sp>
        <p:sp>
          <p:nvSpPr>
            <p:cNvPr id="40" name="lb-2"/>
            <p:cNvSpPr txBox="1"/>
            <p:nvPr/>
          </p:nvSpPr>
          <p:spPr>
            <a:xfrm>
              <a:off x="2724150" y="629602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商，自主研发能力有待加强，</a:t>
              </a:r>
            </a:p>
          </p:txBody>
        </p:sp>
        <p:sp>
          <p:nvSpPr>
            <p:cNvPr id="41" name="lb-3"/>
            <p:cNvSpPr txBox="1"/>
            <p:nvPr/>
          </p:nvSpPr>
          <p:spPr>
            <a:xfrm>
              <a:off x="2714625" y="6810375"/>
              <a:ext cx="31432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技术壁垒构建缓慢</a:t>
              </a:r>
            </a:p>
          </p:txBody>
        </p:sp>
        <p:sp>
          <p:nvSpPr>
            <p:cNvPr id="42" name="lb-4"/>
            <p:cNvSpPr txBox="1"/>
            <p:nvPr/>
          </p:nvSpPr>
          <p:spPr>
            <a:xfrm>
              <a:off x="1771650" y="9248775"/>
              <a:ext cx="46672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数字化转型所需的数据分析</a:t>
              </a:r>
            </a:p>
          </p:txBody>
        </p:sp>
        <p:sp>
          <p:nvSpPr>
            <p:cNvPr id="43" name="lb-5"/>
            <p:cNvSpPr txBox="1"/>
            <p:nvPr/>
          </p:nvSpPr>
          <p:spPr>
            <a:xfrm>
              <a:off x="1790700" y="974407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师、自动化工程师等高端复合</a:t>
              </a:r>
            </a:p>
          </p:txBody>
        </p:sp>
        <p:sp>
          <p:nvSpPr>
            <p:cNvPr id="44" name="lb-6"/>
            <p:cNvSpPr txBox="1"/>
            <p:nvPr/>
          </p:nvSpPr>
          <p:spPr>
            <a:xfrm>
              <a:off x="1771650" y="10248900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型人才缺口较大，招聘周期长</a:t>
              </a:r>
            </a:p>
          </p:txBody>
        </p:sp>
        <p:sp>
          <p:nvSpPr>
            <p:cNvPr id="45" name="lb-7"/>
            <p:cNvSpPr txBox="1"/>
            <p:nvPr/>
          </p:nvSpPr>
          <p:spPr>
            <a:xfrm>
              <a:off x="2733675" y="12696825"/>
              <a:ext cx="544068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部门墙依然存在，跨部门协作效</a:t>
              </a:r>
            </a:p>
          </p:txBody>
        </p:sp>
        <p:sp>
          <p:nvSpPr>
            <p:cNvPr id="46" name="lb-8"/>
            <p:cNvSpPr txBox="1"/>
            <p:nvPr/>
          </p:nvSpPr>
          <p:spPr>
            <a:xfrm>
              <a:off x="2733675" y="1319212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率有待提升，部分决策流程冗</a:t>
              </a:r>
            </a:p>
          </p:txBody>
        </p:sp>
        <p:sp>
          <p:nvSpPr>
            <p:cNvPr id="47" name="lb-9"/>
            <p:cNvSpPr txBox="1"/>
            <p:nvPr/>
          </p:nvSpPr>
          <p:spPr>
            <a:xfrm>
              <a:off x="2733675" y="13696950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长，难以适应快速变化的市场</a:t>
              </a:r>
            </a:p>
          </p:txBody>
        </p:sp>
      </p:grpSp>
      <p:grpSp>
        <p:nvGrpSpPr>
          <p:cNvPr id="61" name="body-right"/>
          <p:cNvGrpSpPr/>
          <p:nvPr/>
        </p:nvGrpSpPr>
        <p:grpSpPr>
          <a:xfrm>
            <a:off x="22364700" y="5800725"/>
            <a:ext cx="6393180" cy="8467725"/>
            <a:chOff x="22364700" y="5800725"/>
            <a:chExt cx="6393180" cy="8467725"/>
          </a:xfrm>
        </p:grpSpPr>
        <p:sp>
          <p:nvSpPr>
            <p:cNvPr id="48" name="rb-1"/>
            <p:cNvSpPr txBox="1"/>
            <p:nvPr/>
          </p:nvSpPr>
          <p:spPr>
            <a:xfrm>
              <a:off x="22374225" y="580072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竞争对手通过降价和推出替代</a:t>
              </a:r>
            </a:p>
          </p:txBody>
        </p:sp>
        <p:sp>
          <p:nvSpPr>
            <p:cNvPr id="49" name="rb-2"/>
            <p:cNvSpPr txBox="1"/>
            <p:nvPr/>
          </p:nvSpPr>
          <p:spPr>
            <a:xfrm>
              <a:off x="22374225" y="629602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产品抢占市场份额，价格战压</a:t>
              </a:r>
            </a:p>
          </p:txBody>
        </p:sp>
        <p:sp>
          <p:nvSpPr>
            <p:cNvPr id="50" name="rb-3"/>
            <p:cNvSpPr txBox="1"/>
            <p:nvPr/>
          </p:nvSpPr>
          <p:spPr>
            <a:xfrm>
              <a:off x="22383750" y="6810375"/>
              <a:ext cx="42862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力增大，利润空间被压缩</a:t>
              </a:r>
            </a:p>
          </p:txBody>
        </p:sp>
        <p:sp>
          <p:nvSpPr>
            <p:cNvPr id="51" name="rb-4"/>
            <p:cNvSpPr txBox="1"/>
            <p:nvPr/>
          </p:nvSpPr>
          <p:spPr>
            <a:xfrm>
              <a:off x="23317200" y="9248775"/>
              <a:ext cx="544068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全球地缘政治不稳定，导致部分</a:t>
              </a:r>
            </a:p>
          </p:txBody>
        </p:sp>
        <p:sp>
          <p:nvSpPr>
            <p:cNvPr id="52" name="rb-5"/>
            <p:cNvSpPr txBox="1"/>
            <p:nvPr/>
          </p:nvSpPr>
          <p:spPr>
            <a:xfrm>
              <a:off x="23317200" y="974407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原材料价格大幅波动，物流受</a:t>
              </a:r>
            </a:p>
          </p:txBody>
        </p:sp>
        <p:sp>
          <p:nvSpPr>
            <p:cNvPr id="53" name="rb-6"/>
            <p:cNvSpPr txBox="1"/>
            <p:nvPr/>
          </p:nvSpPr>
          <p:spPr>
            <a:xfrm>
              <a:off x="23336250" y="10248900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阻，库存与成本管理难度增加</a:t>
              </a:r>
            </a:p>
          </p:txBody>
        </p:sp>
        <p:sp>
          <p:nvSpPr>
            <p:cNvPr id="54" name="rb-7"/>
            <p:cNvSpPr txBox="1"/>
            <p:nvPr/>
          </p:nvSpPr>
          <p:spPr>
            <a:xfrm>
              <a:off x="22364700" y="12696825"/>
              <a:ext cx="544068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全球经济增长放缓，下游客户需</a:t>
              </a:r>
            </a:p>
          </p:txBody>
        </p:sp>
        <p:sp>
          <p:nvSpPr>
            <p:cNvPr id="55" name="rb-8"/>
            <p:cNvSpPr txBox="1"/>
            <p:nvPr/>
          </p:nvSpPr>
          <p:spPr>
            <a:xfrm>
              <a:off x="22364700" y="13192125"/>
              <a:ext cx="505206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求整体疲软，企业投资意愿降</a:t>
              </a:r>
            </a:p>
          </p:txBody>
        </p:sp>
        <p:sp>
          <p:nvSpPr>
            <p:cNvPr id="56" name="rb-9"/>
            <p:cNvSpPr txBox="1"/>
            <p:nvPr/>
          </p:nvSpPr>
          <p:spPr>
            <a:xfrm>
              <a:off x="22364700" y="13696950"/>
              <a:ext cx="39052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61A1B"/>
                  </a:solidFill>
                  <a:latin typeface="Microsoft YaHei"/>
                  <a:ea typeface="Microsoft YaHei"/>
                  <a:cs typeface="Microsoft YaHei"/>
                </a:rPr>
                <a:t>低，影响了新订单获取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