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14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"/>
          <p:cNvSpPr/>
          <p:nvPr/>
        </p:nvSpPr>
        <p:spPr>
          <a:xfrm>
            <a:off x="0" y="0"/>
            <a:ext cx="30470475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ame"/>
          <p:cNvSpPr/>
          <p:nvPr/>
        </p:nvSpPr>
        <p:spPr>
          <a:xfrm>
            <a:off x="0" y="0"/>
            <a:ext cx="30470475" cy="17145000"/>
          </a:xfrm>
          <a:prstGeom prst="rect">
            <a:avLst/>
          </a:prstGeom>
          <a:noFill/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7" name="hdr"/>
          <p:cNvGrpSpPr/>
          <p:nvPr/>
        </p:nvGrpSpPr>
        <p:grpSpPr>
          <a:xfrm>
            <a:off x="1516380" y="1276350"/>
            <a:ext cx="10704195" cy="1533525"/>
            <a:chOff x="1516380" y="1276350"/>
            <a:chExt cx="10704195" cy="1533525"/>
          </a:xfrm>
        </p:grpSpPr>
        <p:sp>
          <p:nvSpPr>
            <p:cNvPr id="5" name="hdr-blob"/>
            <p:cNvSpPr/>
            <p:nvPr/>
          </p:nvSpPr>
          <p:spPr>
            <a:xfrm>
              <a:off x="1516380" y="1276350"/>
              <a:ext cx="1633538" cy="1498282"/>
            </a:xfrm>
            <a:custGeom>
              <a:avLst/>
              <a:gdLst/>
              <a:ahLst/>
              <a:cxnLst/>
              <a:rect l="l" t="t" r="r" b="b"/>
              <a:pathLst>
                <a:path w="1633538" h="1498282">
                  <a:moveTo>
                    <a:pt x="1512570" y="742950"/>
                  </a:moveTo>
                  <a:lnTo>
                    <a:pt x="1505902" y="842010"/>
                  </a:lnTo>
                  <a:lnTo>
                    <a:pt x="1495425" y="942975"/>
                  </a:lnTo>
                  <a:lnTo>
                    <a:pt x="1472565" y="1042035"/>
                  </a:lnTo>
                  <a:lnTo>
                    <a:pt x="1435418" y="1138238"/>
                  </a:lnTo>
                  <a:lnTo>
                    <a:pt x="1377315" y="1223962"/>
                  </a:lnTo>
                  <a:lnTo>
                    <a:pt x="1309688" y="1302068"/>
                  </a:lnTo>
                  <a:lnTo>
                    <a:pt x="1231582" y="1369695"/>
                  </a:lnTo>
                  <a:lnTo>
                    <a:pt x="1145858" y="1427798"/>
                  </a:lnTo>
                  <a:lnTo>
                    <a:pt x="1049655" y="1464945"/>
                  </a:lnTo>
                  <a:lnTo>
                    <a:pt x="950595" y="1487805"/>
                  </a:lnTo>
                  <a:lnTo>
                    <a:pt x="849630" y="1498282"/>
                  </a:lnTo>
                  <a:lnTo>
                    <a:pt x="750570" y="1495425"/>
                  </a:lnTo>
                  <a:lnTo>
                    <a:pt x="653415" y="1479232"/>
                  </a:lnTo>
                  <a:lnTo>
                    <a:pt x="561022" y="1451610"/>
                  </a:lnTo>
                  <a:lnTo>
                    <a:pt x="473392" y="1411605"/>
                  </a:lnTo>
                  <a:lnTo>
                    <a:pt x="393382" y="1362075"/>
                  </a:lnTo>
                  <a:lnTo>
                    <a:pt x="321945" y="1302068"/>
                  </a:lnTo>
                  <a:lnTo>
                    <a:pt x="259080" y="1234440"/>
                  </a:lnTo>
                  <a:lnTo>
                    <a:pt x="199072" y="1165860"/>
                  </a:lnTo>
                  <a:lnTo>
                    <a:pt x="156210" y="1085850"/>
                  </a:lnTo>
                  <a:lnTo>
                    <a:pt x="108585" y="1008698"/>
                  </a:lnTo>
                  <a:lnTo>
                    <a:pt x="79058" y="922972"/>
                  </a:lnTo>
                  <a:lnTo>
                    <a:pt x="51435" y="835342"/>
                  </a:lnTo>
                  <a:lnTo>
                    <a:pt x="26670" y="742950"/>
                  </a:lnTo>
                  <a:lnTo>
                    <a:pt x="14288" y="645795"/>
                  </a:lnTo>
                  <a:lnTo>
                    <a:pt x="5715" y="542925"/>
                  </a:lnTo>
                  <a:lnTo>
                    <a:pt x="2858" y="433388"/>
                  </a:lnTo>
                  <a:lnTo>
                    <a:pt x="0" y="309562"/>
                  </a:lnTo>
                  <a:lnTo>
                    <a:pt x="32385" y="192405"/>
                  </a:lnTo>
                  <a:lnTo>
                    <a:pt x="97155" y="89535"/>
                  </a:lnTo>
                  <a:lnTo>
                    <a:pt x="211455" y="40005"/>
                  </a:lnTo>
                  <a:lnTo>
                    <a:pt x="336232" y="25718"/>
                  </a:lnTo>
                  <a:lnTo>
                    <a:pt x="447675" y="12382"/>
                  </a:lnTo>
                  <a:lnTo>
                    <a:pt x="553402" y="6668"/>
                  </a:lnTo>
                  <a:lnTo>
                    <a:pt x="653415" y="6668"/>
                  </a:lnTo>
                  <a:lnTo>
                    <a:pt x="750570" y="0"/>
                  </a:lnTo>
                  <a:lnTo>
                    <a:pt x="847725" y="6668"/>
                  </a:lnTo>
                  <a:lnTo>
                    <a:pt x="944880" y="16192"/>
                  </a:lnTo>
                  <a:lnTo>
                    <a:pt x="1045845" y="30480"/>
                  </a:lnTo>
                  <a:lnTo>
                    <a:pt x="1145858" y="58102"/>
                  </a:lnTo>
                  <a:lnTo>
                    <a:pt x="1231582" y="116205"/>
                  </a:lnTo>
                  <a:lnTo>
                    <a:pt x="1309688" y="183832"/>
                  </a:lnTo>
                  <a:lnTo>
                    <a:pt x="1377315" y="261938"/>
                  </a:lnTo>
                  <a:lnTo>
                    <a:pt x="1435418" y="347662"/>
                  </a:lnTo>
                  <a:lnTo>
                    <a:pt x="1472565" y="443865"/>
                  </a:lnTo>
                  <a:lnTo>
                    <a:pt x="1633538" y="506730"/>
                  </a:lnTo>
                  <a:lnTo>
                    <a:pt x="1563052" y="636270"/>
                  </a:lnTo>
                  <a:close/>
                </a:path>
              </a:pathLst>
            </a:custGeom>
            <a:solidFill>
              <a:srgbClr val="0CE8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hdr-num-title"/>
            <p:cNvSpPr txBox="1"/>
            <p:nvPr/>
          </p:nvSpPr>
          <p:spPr>
            <a:xfrm>
              <a:off x="2409825" y="1409700"/>
              <a:ext cx="9810750" cy="14001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6900" b="1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02 行业洞察与战略机遇</a:t>
              </a:r>
            </a:p>
          </p:txBody>
        </p:sp>
      </p:grpSp>
      <p:grpSp>
        <p:nvGrpSpPr>
          <p:cNvPr id="39" name="diagram"/>
          <p:cNvGrpSpPr/>
          <p:nvPr/>
        </p:nvGrpSpPr>
        <p:grpSpPr>
          <a:xfrm>
            <a:off x="1514475" y="4305300"/>
            <a:ext cx="9620250" cy="9620250"/>
            <a:chOff x="1514475" y="4305300"/>
            <a:chExt cx="9620250" cy="9620250"/>
          </a:xfrm>
        </p:grpSpPr>
        <p:pic>
          <p:nvPicPr>
            <p:cNvPr id="7" name="circle-photo" descr="circle_photo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90850" y="5781675"/>
              <a:ext cx="6667500" cy="6667500"/>
            </a:xfrm>
            <a:prstGeom prst="rect">
              <a:avLst/>
            </a:prstGeom>
            <a:effectLst/>
          </p:spPr>
        </p:pic>
        <p:sp>
          <p:nvSpPr>
            <p:cNvPr id="8" name="ring-outer"/>
            <p:cNvSpPr/>
            <p:nvPr/>
          </p:nvSpPr>
          <p:spPr>
            <a:xfrm>
              <a:off x="1514475" y="4305300"/>
              <a:ext cx="9620250" cy="9620250"/>
            </a:xfrm>
            <a:prstGeom prst="ellipse">
              <a:avLst/>
            </a:prstGeom>
            <a:noFill/>
            <a:ln w="57150">
              <a:solidFill>
                <a:srgbClr val="8FE4F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ing-inner"/>
            <p:cNvSpPr/>
            <p:nvPr/>
          </p:nvSpPr>
          <p:spPr>
            <a:xfrm>
              <a:off x="2295525" y="5086350"/>
              <a:ext cx="8058150" cy="8058150"/>
            </a:xfrm>
            <a:prstGeom prst="ellipse">
              <a:avLst/>
            </a:prstGeom>
            <a:noFill/>
            <a:ln w="47625">
              <a:solidFill>
                <a:srgbClr val="9FE9F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circle-rim"/>
            <p:cNvSpPr/>
            <p:nvPr/>
          </p:nvSpPr>
          <p:spPr>
            <a:xfrm>
              <a:off x="3009900" y="5800725"/>
              <a:ext cx="6629400" cy="6629400"/>
            </a:xfrm>
            <a:prstGeom prst="ellipse">
              <a:avLst/>
            </a:prstGeom>
            <a:noFill/>
            <a:ln w="38100">
              <a:solidFill>
                <a:srgbClr val="2ED9E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ct-l1"/>
            <p:cNvSpPr txBox="1"/>
            <p:nvPr/>
          </p:nvSpPr>
          <p:spPr>
            <a:xfrm>
              <a:off x="4133850" y="7839075"/>
              <a:ext cx="4381500" cy="1371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66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AI与数据</a:t>
              </a:r>
            </a:p>
          </p:txBody>
        </p:sp>
        <p:sp>
          <p:nvSpPr>
            <p:cNvPr id="12" name="ct-l2"/>
            <p:cNvSpPr txBox="1"/>
            <p:nvPr/>
          </p:nvSpPr>
          <p:spPr>
            <a:xfrm>
              <a:off x="4895850" y="9010650"/>
              <a:ext cx="2857500" cy="1371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66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驱动</a:t>
              </a:r>
            </a:p>
          </p:txBody>
        </p:sp>
      </p:grpSp>
      <p:grpSp>
        <p:nvGrpSpPr>
          <p:cNvPr id="40" name="conn"/>
          <p:cNvGrpSpPr/>
          <p:nvPr/>
        </p:nvGrpSpPr>
        <p:grpSpPr>
          <a:xfrm>
            <a:off x="8982075" y="4838700"/>
            <a:ext cx="4333875" cy="8448675"/>
            <a:chOff x="8982075" y="4838700"/>
            <a:chExt cx="4333875" cy="8448675"/>
          </a:xfrm>
        </p:grpSpPr>
        <p:cxnSp>
          <p:nvCxnSpPr>
            <p:cNvPr id="13" name="cn1-h1"/>
            <p:cNvCxnSpPr/>
            <p:nvPr/>
          </p:nvCxnSpPr>
          <p:spPr>
            <a:xfrm>
              <a:off x="10353675" y="5467350"/>
              <a:ext cx="1352550" cy="0"/>
            </a:xfrm>
            <a:prstGeom prst="line">
              <a:avLst/>
            </a:prstGeom>
            <a:ln w="47625">
              <a:solidFill>
                <a:srgbClr val="0CE8F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n1-v"/>
            <p:cNvCxnSpPr/>
            <p:nvPr/>
          </p:nvCxnSpPr>
          <p:spPr>
            <a:xfrm flipV="1">
              <a:off x="11706225" y="5019675"/>
              <a:ext cx="0" cy="447675"/>
            </a:xfrm>
            <a:prstGeom prst="line">
              <a:avLst/>
            </a:prstGeom>
            <a:ln w="47625">
              <a:solidFill>
                <a:srgbClr val="0CE8F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n1-h2"/>
            <p:cNvCxnSpPr/>
            <p:nvPr/>
          </p:nvCxnSpPr>
          <p:spPr>
            <a:xfrm>
              <a:off x="11706225" y="5019675"/>
              <a:ext cx="1609725" cy="0"/>
            </a:xfrm>
            <a:prstGeom prst="line">
              <a:avLst/>
            </a:prstGeom>
            <a:ln w="47625">
              <a:solidFill>
                <a:srgbClr val="0CE8F7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n2-h"/>
            <p:cNvCxnSpPr/>
            <p:nvPr/>
          </p:nvCxnSpPr>
          <p:spPr>
            <a:xfrm>
              <a:off x="11830050" y="9258300"/>
              <a:ext cx="1485900" cy="0"/>
            </a:xfrm>
            <a:prstGeom prst="line">
              <a:avLst/>
            </a:prstGeom>
            <a:ln w="47625">
              <a:solidFill>
                <a:srgbClr val="0CE8F7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n3-h1"/>
            <p:cNvCxnSpPr/>
            <p:nvPr/>
          </p:nvCxnSpPr>
          <p:spPr>
            <a:xfrm>
              <a:off x="10267950" y="12668250"/>
              <a:ext cx="1552575" cy="0"/>
            </a:xfrm>
            <a:prstGeom prst="line">
              <a:avLst/>
            </a:prstGeom>
            <a:ln w="47625">
              <a:solidFill>
                <a:srgbClr val="0CE8F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n3-v"/>
            <p:cNvCxnSpPr/>
            <p:nvPr/>
          </p:nvCxnSpPr>
          <p:spPr>
            <a:xfrm>
              <a:off x="11820525" y="12668250"/>
              <a:ext cx="0" cy="600075"/>
            </a:xfrm>
            <a:prstGeom prst="line">
              <a:avLst/>
            </a:prstGeom>
            <a:ln w="47625">
              <a:solidFill>
                <a:srgbClr val="0CE8F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n3-h2"/>
            <p:cNvCxnSpPr/>
            <p:nvPr/>
          </p:nvCxnSpPr>
          <p:spPr>
            <a:xfrm>
              <a:off x="11820525" y="13268325"/>
              <a:ext cx="1495425" cy="0"/>
            </a:xfrm>
            <a:prstGeom prst="line">
              <a:avLst/>
            </a:prstGeom>
            <a:ln w="47625">
              <a:solidFill>
                <a:srgbClr val="0CE8F7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node-1"/>
            <p:cNvSpPr/>
            <p:nvPr/>
          </p:nvSpPr>
          <p:spPr>
            <a:xfrm>
              <a:off x="8982075" y="4838700"/>
              <a:ext cx="1371600" cy="1371600"/>
            </a:xfrm>
            <a:prstGeom prst="ellipse">
              <a:avLst/>
            </a:prstGeom>
            <a:solidFill>
              <a:srgbClr val="0CE8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node-2"/>
            <p:cNvSpPr/>
            <p:nvPr/>
          </p:nvSpPr>
          <p:spPr>
            <a:xfrm>
              <a:off x="10629900" y="8648700"/>
              <a:ext cx="1219200" cy="1219200"/>
            </a:xfrm>
            <a:prstGeom prst="ellipse">
              <a:avLst/>
            </a:prstGeom>
            <a:solidFill>
              <a:srgbClr val="0CE8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node-3"/>
            <p:cNvSpPr/>
            <p:nvPr/>
          </p:nvSpPr>
          <p:spPr>
            <a:xfrm>
              <a:off x="9048750" y="12049125"/>
              <a:ext cx="1238250" cy="1238250"/>
            </a:xfrm>
            <a:prstGeom prst="ellipse">
              <a:avLst/>
            </a:prstGeom>
            <a:solidFill>
              <a:srgbClr val="0CE8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1" name="p-tech"/>
          <p:cNvGrpSpPr/>
          <p:nvPr/>
        </p:nvGrpSpPr>
        <p:grpSpPr>
          <a:xfrm>
            <a:off x="13373100" y="3657600"/>
            <a:ext cx="14878050" cy="3181350"/>
            <a:chOff x="13373100" y="3657600"/>
            <a:chExt cx="14878050" cy="3181350"/>
          </a:xfrm>
        </p:grpSpPr>
        <p:sp>
          <p:nvSpPr>
            <p:cNvPr id="23" name="p-tech-bg"/>
            <p:cNvSpPr/>
            <p:nvPr/>
          </p:nvSpPr>
          <p:spPr>
            <a:xfrm>
              <a:off x="13373100" y="3657600"/>
              <a:ext cx="14878050" cy="3181350"/>
            </a:xfrm>
            <a:prstGeom prst="rect">
              <a:avLst/>
            </a:prstGeom>
            <a:gradFill rotWithShape="1">
              <a:gsLst>
                <a:gs pos="0">
                  <a:srgbClr val="E7FCFF"/>
                </a:gs>
                <a:gs pos="100000">
                  <a:srgbClr val="FFFFFF"/>
                </a:gs>
              </a:gsLst>
              <a:lin scaled="0" ang="0"/>
            </a:gradFill>
            <a:ln w="28575">
              <a:solidFill>
                <a:srgbClr val="D6F7F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p-tech-head"/>
            <p:cNvSpPr txBox="1"/>
            <p:nvPr/>
          </p:nvSpPr>
          <p:spPr>
            <a:xfrm>
              <a:off x="14039850" y="3952875"/>
              <a:ext cx="7620000" cy="10953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950" b="1" i="0">
                  <a:solidFill>
                    <a:srgbClr val="1DDEF0"/>
                  </a:solidFill>
                  <a:latin typeface="Microsoft YaHei"/>
                  <a:ea typeface="Microsoft YaHei"/>
                  <a:cs typeface="Microsoft YaHei"/>
                </a:rPr>
                <a:t>技术机遇 · 核心能力跃升</a:t>
              </a:r>
            </a:p>
          </p:txBody>
        </p:sp>
        <p:sp>
          <p:nvSpPr>
            <p:cNvPr id="25" name="p-tech-b1"/>
            <p:cNvSpPr txBox="1"/>
            <p:nvPr/>
          </p:nvSpPr>
          <p:spPr>
            <a:xfrm>
              <a:off x="14049375" y="5105400"/>
              <a:ext cx="13537143" cy="8001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900" b="1" i="0">
                  <a:solidFill>
                    <a:srgbClr val="14191C"/>
                  </a:solidFill>
                  <a:latin typeface="Microsoft YaHei"/>
                  <a:ea typeface="Microsoft YaHei"/>
                  <a:cs typeface="Microsoft YaHei"/>
                </a:rPr>
                <a:t>深度应用AI、数字孪生与物联网技术，实现降本增效，构建</a:t>
              </a:r>
            </a:p>
          </p:txBody>
        </p:sp>
        <p:sp>
          <p:nvSpPr>
            <p:cNvPr id="26" name="p-tech-b2"/>
            <p:cNvSpPr txBox="1"/>
            <p:nvPr/>
          </p:nvSpPr>
          <p:spPr>
            <a:xfrm>
              <a:off x="14049375" y="5772150"/>
              <a:ext cx="3810000" cy="8001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900" b="1" i="0">
                  <a:solidFill>
                    <a:srgbClr val="14191C"/>
                  </a:solidFill>
                  <a:latin typeface="Microsoft YaHei"/>
                  <a:ea typeface="Microsoft YaHei"/>
                  <a:cs typeface="Microsoft YaHei"/>
                </a:rPr>
                <a:t>差异化竞争壁垒</a:t>
              </a:r>
            </a:p>
          </p:txBody>
        </p:sp>
      </p:grpSp>
      <p:grpSp>
        <p:nvGrpSpPr>
          <p:cNvPr id="38" name="p-market"/>
          <p:cNvGrpSpPr/>
          <p:nvPr/>
        </p:nvGrpSpPr>
        <p:grpSpPr>
          <a:xfrm>
            <a:off x="13373100" y="7724775"/>
            <a:ext cx="14878050" cy="3181350"/>
            <a:chOff x="13373100" y="7724775"/>
            <a:chExt cx="14878050" cy="3181350"/>
          </a:xfrm>
        </p:grpSpPr>
        <p:sp>
          <p:nvSpPr>
            <p:cNvPr id="27" name="p-market-bg"/>
            <p:cNvSpPr/>
            <p:nvPr/>
          </p:nvSpPr>
          <p:spPr>
            <a:xfrm>
              <a:off x="13373100" y="7724775"/>
              <a:ext cx="14878050" cy="3181350"/>
            </a:xfrm>
            <a:prstGeom prst="rect">
              <a:avLst/>
            </a:prstGeom>
            <a:gradFill rotWithShape="1">
              <a:gsLst>
                <a:gs pos="0">
                  <a:srgbClr val="E7FCFF"/>
                </a:gs>
                <a:gs pos="100000">
                  <a:srgbClr val="FFFFFF"/>
                </a:gs>
              </a:gsLst>
              <a:lin scaled="0" ang="0"/>
            </a:gradFill>
            <a:ln w="28575">
              <a:solidFill>
                <a:srgbClr val="D6F7F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p-market-head"/>
            <p:cNvSpPr txBox="1"/>
            <p:nvPr/>
          </p:nvSpPr>
          <p:spPr>
            <a:xfrm>
              <a:off x="14039850" y="8001000"/>
              <a:ext cx="7620000" cy="10953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950" b="1" i="0">
                  <a:solidFill>
                    <a:srgbClr val="1DDEF0"/>
                  </a:solidFill>
                  <a:latin typeface="Microsoft YaHei"/>
                  <a:ea typeface="Microsoft YaHei"/>
                  <a:cs typeface="Microsoft YaHei"/>
                </a:rPr>
                <a:t>市场机遇 · 拓展增长空间</a:t>
              </a:r>
            </a:p>
          </p:txBody>
        </p:sp>
        <p:sp>
          <p:nvSpPr>
            <p:cNvPr id="29" name="p-market-b1"/>
            <p:cNvSpPr txBox="1"/>
            <p:nvPr/>
          </p:nvSpPr>
          <p:spPr>
            <a:xfrm>
              <a:off x="14049375" y="9153525"/>
              <a:ext cx="13068300" cy="8001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900" b="1" i="0">
                  <a:solidFill>
                    <a:srgbClr val="14191C"/>
                  </a:solidFill>
                  <a:latin typeface="Microsoft YaHei"/>
                  <a:ea typeface="Microsoft YaHei"/>
                  <a:cs typeface="Microsoft YaHei"/>
                </a:rPr>
                <a:t>切入高增长的“专精特新”赛道，积极探索海外新兴市场与</a:t>
              </a:r>
            </a:p>
          </p:txBody>
        </p:sp>
        <p:sp>
          <p:nvSpPr>
            <p:cNvPr id="30" name="p-market-b2"/>
            <p:cNvSpPr txBox="1"/>
            <p:nvPr/>
          </p:nvSpPr>
          <p:spPr>
            <a:xfrm>
              <a:off x="14049375" y="9820275"/>
              <a:ext cx="4191000" cy="8001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900" b="1" i="0">
                  <a:solidFill>
                    <a:srgbClr val="14191C"/>
                  </a:solidFill>
                  <a:latin typeface="Microsoft YaHei"/>
                  <a:ea typeface="Microsoft YaHei"/>
                  <a:cs typeface="Microsoft YaHei"/>
                </a:rPr>
                <a:t>高端制造细分领域</a:t>
              </a:r>
            </a:p>
          </p:txBody>
        </p:sp>
      </p:grpSp>
      <p:grpSp>
        <p:nvGrpSpPr>
          <p:cNvPr id="36" name="p-policy"/>
          <p:cNvGrpSpPr/>
          <p:nvPr/>
        </p:nvGrpSpPr>
        <p:grpSpPr>
          <a:xfrm>
            <a:off x="13373100" y="11772900"/>
            <a:ext cx="14878050" cy="3181350"/>
            <a:chOff x="13373100" y="11772900"/>
            <a:chExt cx="14878050" cy="3181350"/>
          </a:xfrm>
        </p:grpSpPr>
        <p:sp>
          <p:nvSpPr>
            <p:cNvPr id="31" name="p-policy-bg"/>
            <p:cNvSpPr/>
            <p:nvPr/>
          </p:nvSpPr>
          <p:spPr>
            <a:xfrm>
              <a:off x="13373100" y="11772900"/>
              <a:ext cx="14878050" cy="3181350"/>
            </a:xfrm>
            <a:prstGeom prst="rect">
              <a:avLst/>
            </a:prstGeom>
            <a:gradFill rotWithShape="1">
              <a:gsLst>
                <a:gs pos="0">
                  <a:srgbClr val="E7FCFF"/>
                </a:gs>
                <a:gs pos="100000">
                  <a:srgbClr val="FFFFFF"/>
                </a:gs>
              </a:gsLst>
              <a:lin scaled="0" ang="0"/>
            </a:gradFill>
            <a:ln w="28575">
              <a:solidFill>
                <a:srgbClr val="D6F7F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p-policy-head"/>
            <p:cNvSpPr txBox="1"/>
            <p:nvPr/>
          </p:nvSpPr>
          <p:spPr>
            <a:xfrm>
              <a:off x="14039850" y="12020550"/>
              <a:ext cx="7620000" cy="10953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950" b="1" i="0">
                  <a:solidFill>
                    <a:srgbClr val="1DDEF0"/>
                  </a:solidFill>
                  <a:latin typeface="Microsoft YaHei"/>
                  <a:ea typeface="Microsoft YaHei"/>
                  <a:cs typeface="Microsoft YaHei"/>
                </a:rPr>
                <a:t>政策机遇 · 借势国家战略</a:t>
              </a:r>
            </a:p>
          </p:txBody>
        </p:sp>
        <p:sp>
          <p:nvSpPr>
            <p:cNvPr id="33" name="p-policy-b1"/>
            <p:cNvSpPr txBox="1"/>
            <p:nvPr/>
          </p:nvSpPr>
          <p:spPr>
            <a:xfrm>
              <a:off x="14049375" y="13173075"/>
              <a:ext cx="13068300" cy="8001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900" b="1" i="0">
                  <a:solidFill>
                    <a:srgbClr val="14191C"/>
                  </a:solidFill>
                  <a:latin typeface="Microsoft YaHei"/>
                  <a:ea typeface="Microsoft YaHei"/>
                  <a:cs typeface="Microsoft YaHei"/>
                </a:rPr>
                <a:t>把握国家对先进制造业、“智改数转”及绿色转型的政策红</a:t>
              </a:r>
            </a:p>
          </p:txBody>
        </p:sp>
        <p:sp>
          <p:nvSpPr>
            <p:cNvPr id="34" name="p-policy-b2"/>
            <p:cNvSpPr txBox="1"/>
            <p:nvPr/>
          </p:nvSpPr>
          <p:spPr>
            <a:xfrm>
              <a:off x="14049375" y="13839825"/>
              <a:ext cx="4191000" cy="8001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900" b="1" i="0">
                  <a:solidFill>
                    <a:srgbClr val="14191C"/>
                  </a:solidFill>
                  <a:latin typeface="Microsoft YaHei"/>
                  <a:ea typeface="Microsoft YaHei"/>
                  <a:cs typeface="Microsoft YaHei"/>
                </a:rPr>
                <a:t>利与产业基金支持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