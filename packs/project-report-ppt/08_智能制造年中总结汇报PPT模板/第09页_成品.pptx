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30470475" cy="17145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30470475" cy="17145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hdr-pill"/>
          <p:cNvSpPr/>
          <p:nvPr/>
        </p:nvSpPr>
        <p:spPr>
          <a:xfrm>
            <a:off x="1514475" y="1276350"/>
            <a:ext cx="1504950" cy="1485900"/>
          </a:xfrm>
          <a:prstGeom prst="ellipse">
            <a:avLst/>
          </a:prstGeom>
          <a:solidFill>
            <a:srgbClr val="03E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hdr-num"/>
          <p:cNvSpPr txBox="1"/>
          <p:nvPr/>
        </p:nvSpPr>
        <p:spPr>
          <a:xfrm>
            <a:off x="2390775" y="1533525"/>
            <a:ext cx="1143000" cy="112395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200" b="0" i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5" name="hdr-title"/>
          <p:cNvSpPr txBox="1"/>
          <p:nvPr/>
        </p:nvSpPr>
        <p:spPr>
          <a:xfrm>
            <a:off x="3286125" y="1466850"/>
            <a:ext cx="9906000" cy="12573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7350" b="0" i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下半年工作规划与目标</a:t>
            </a:r>
          </a:p>
        </p:txBody>
      </p:sp>
      <p:grpSp>
        <p:nvGrpSpPr>
          <p:cNvPr id="121" name="card-1"/>
          <p:cNvGrpSpPr/>
          <p:nvPr/>
        </p:nvGrpSpPr>
        <p:grpSpPr>
          <a:xfrm>
            <a:off x="2076450" y="3419475"/>
            <a:ext cx="6496050" cy="12172950"/>
            <a:chOff x="2076450" y="3419475"/>
            <a:chExt cx="6496050" cy="12172950"/>
          </a:xfrm>
        </p:grpSpPr>
        <p:sp>
          <p:nvSpPr>
            <p:cNvPr id="6" name="card-1-roof"/>
            <p:cNvSpPr/>
            <p:nvPr/>
          </p:nvSpPr>
          <p:spPr>
            <a:xfrm>
              <a:off x="2095500" y="4305300"/>
              <a:ext cx="5915025" cy="600075"/>
            </a:xfrm>
            <a:custGeom>
              <a:avLst/>
              <a:gdLst/>
              <a:ahLst/>
              <a:cxnLst/>
              <a:rect l="l" t="t" r="r" b="b"/>
              <a:pathLst>
                <a:path w="5915025" h="600075">
                  <a:moveTo>
                    <a:pt x="0" y="600075"/>
                  </a:moveTo>
                  <a:lnTo>
                    <a:pt x="1419225" y="0"/>
                  </a:lnTo>
                  <a:lnTo>
                    <a:pt x="4552950" y="0"/>
                  </a:lnTo>
                  <a:lnTo>
                    <a:pt x="5915025" y="600075"/>
                  </a:lnTo>
                  <a:close/>
                </a:path>
              </a:pathLst>
            </a:custGeom>
            <a:solidFill>
              <a:srgbClr val="EDFEFF"/>
            </a:solidFill>
            <a:ln w="19050">
              <a:solidFill>
                <a:srgbClr val="03EE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card-1-icon-tooth0"/>
            <p:cNvSpPr/>
            <p:nvPr/>
          </p:nvSpPr>
          <p:spPr>
            <a:xfrm rot="5400000">
              <a:off x="5495925" y="3819525"/>
              <a:ext cx="190500" cy="209550"/>
            </a:xfrm>
            <a:prstGeom prst="rect">
              <a:avLst/>
            </a:prstGeom>
            <a:solidFill>
              <a:srgbClr val="03EE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card-1-icon-tooth1"/>
            <p:cNvSpPr/>
            <p:nvPr/>
          </p:nvSpPr>
          <p:spPr>
            <a:xfrm rot="8100000">
              <a:off x="5378753" y="4102403"/>
              <a:ext cx="190500" cy="209550"/>
            </a:xfrm>
            <a:prstGeom prst="rect">
              <a:avLst/>
            </a:prstGeom>
            <a:solidFill>
              <a:srgbClr val="03EE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card-1-icon-tooth2"/>
            <p:cNvSpPr/>
            <p:nvPr/>
          </p:nvSpPr>
          <p:spPr>
            <a:xfrm rot="10800000">
              <a:off x="5095875" y="4219575"/>
              <a:ext cx="190500" cy="209550"/>
            </a:xfrm>
            <a:prstGeom prst="rect">
              <a:avLst/>
            </a:prstGeom>
            <a:solidFill>
              <a:srgbClr val="03EE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card-1-icon-tooth3"/>
            <p:cNvSpPr/>
            <p:nvPr/>
          </p:nvSpPr>
          <p:spPr>
            <a:xfrm rot="13500000">
              <a:off x="4812997" y="4102403"/>
              <a:ext cx="190500" cy="209550"/>
            </a:xfrm>
            <a:prstGeom prst="rect">
              <a:avLst/>
            </a:prstGeom>
            <a:solidFill>
              <a:srgbClr val="03EE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card-1-icon-tooth4"/>
            <p:cNvSpPr/>
            <p:nvPr/>
          </p:nvSpPr>
          <p:spPr>
            <a:xfrm rot="16200000">
              <a:off x="4695825" y="3819525"/>
              <a:ext cx="190500" cy="209550"/>
            </a:xfrm>
            <a:prstGeom prst="rect">
              <a:avLst/>
            </a:prstGeom>
            <a:solidFill>
              <a:srgbClr val="03EE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card-1-icon-tooth5"/>
            <p:cNvSpPr/>
            <p:nvPr/>
          </p:nvSpPr>
          <p:spPr>
            <a:xfrm rot="18900000">
              <a:off x="4812997" y="3536647"/>
              <a:ext cx="190500" cy="209550"/>
            </a:xfrm>
            <a:prstGeom prst="rect">
              <a:avLst/>
            </a:prstGeom>
            <a:solidFill>
              <a:srgbClr val="03EE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card-1-icon-tooth6"/>
            <p:cNvSpPr/>
            <p:nvPr/>
          </p:nvSpPr>
          <p:spPr>
            <a:xfrm rot="0">
              <a:off x="5095875" y="3419475"/>
              <a:ext cx="190500" cy="209550"/>
            </a:xfrm>
            <a:prstGeom prst="rect">
              <a:avLst/>
            </a:prstGeom>
            <a:solidFill>
              <a:srgbClr val="03EE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card-1-icon-tooth7"/>
            <p:cNvSpPr/>
            <p:nvPr/>
          </p:nvSpPr>
          <p:spPr>
            <a:xfrm rot="2700000">
              <a:off x="5378753" y="3536647"/>
              <a:ext cx="190500" cy="209550"/>
            </a:xfrm>
            <a:prstGeom prst="rect">
              <a:avLst/>
            </a:prstGeom>
            <a:solidFill>
              <a:srgbClr val="03EE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card-1-icon-disc"/>
            <p:cNvSpPr/>
            <p:nvPr/>
          </p:nvSpPr>
          <p:spPr>
            <a:xfrm>
              <a:off x="4752975" y="3486150"/>
              <a:ext cx="876300" cy="876300"/>
            </a:xfrm>
            <a:prstGeom prst="ellipse">
              <a:avLst/>
            </a:prstGeom>
            <a:solidFill>
              <a:srgbClr val="03EE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card-1-icon-hole"/>
            <p:cNvSpPr/>
            <p:nvPr/>
          </p:nvSpPr>
          <p:spPr>
            <a:xfrm>
              <a:off x="5048250" y="3781425"/>
              <a:ext cx="285750" cy="28575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card-1-icon-stooth0"/>
            <p:cNvSpPr/>
            <p:nvPr/>
          </p:nvSpPr>
          <p:spPr>
            <a:xfrm rot="6750000">
              <a:off x="5821424" y="4326106"/>
              <a:ext cx="114300" cy="133350"/>
            </a:xfrm>
            <a:prstGeom prst="rect">
              <a:avLst/>
            </a:prstGeom>
            <a:solidFill>
              <a:srgbClr val="03EE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card-1-icon-stooth1"/>
            <p:cNvSpPr/>
            <p:nvPr/>
          </p:nvSpPr>
          <p:spPr>
            <a:xfrm rot="9450000">
              <a:off x="5697706" y="4449824"/>
              <a:ext cx="114300" cy="133350"/>
            </a:xfrm>
            <a:prstGeom prst="rect">
              <a:avLst/>
            </a:prstGeom>
            <a:solidFill>
              <a:srgbClr val="03EE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card-1-icon-stooth2"/>
            <p:cNvSpPr/>
            <p:nvPr/>
          </p:nvSpPr>
          <p:spPr>
            <a:xfrm rot="12150000">
              <a:off x="5522744" y="4449824"/>
              <a:ext cx="114300" cy="133350"/>
            </a:xfrm>
            <a:prstGeom prst="rect">
              <a:avLst/>
            </a:prstGeom>
            <a:solidFill>
              <a:srgbClr val="03EE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card-1-icon-stooth3"/>
            <p:cNvSpPr/>
            <p:nvPr/>
          </p:nvSpPr>
          <p:spPr>
            <a:xfrm rot="14850000">
              <a:off x="5399026" y="4326106"/>
              <a:ext cx="114300" cy="133350"/>
            </a:xfrm>
            <a:prstGeom prst="rect">
              <a:avLst/>
            </a:prstGeom>
            <a:solidFill>
              <a:srgbClr val="03EE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" name="card-1-icon-stooth4"/>
            <p:cNvSpPr/>
            <p:nvPr/>
          </p:nvSpPr>
          <p:spPr>
            <a:xfrm rot="17550000">
              <a:off x="5399026" y="4151144"/>
              <a:ext cx="114300" cy="133350"/>
            </a:xfrm>
            <a:prstGeom prst="rect">
              <a:avLst/>
            </a:prstGeom>
            <a:solidFill>
              <a:srgbClr val="03EE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card-1-icon-stooth5"/>
            <p:cNvSpPr/>
            <p:nvPr/>
          </p:nvSpPr>
          <p:spPr>
            <a:xfrm rot="20250000">
              <a:off x="5522744" y="4027426"/>
              <a:ext cx="114300" cy="133350"/>
            </a:xfrm>
            <a:prstGeom prst="rect">
              <a:avLst/>
            </a:prstGeom>
            <a:solidFill>
              <a:srgbClr val="03EE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" name="card-1-icon-stooth6"/>
            <p:cNvSpPr/>
            <p:nvPr/>
          </p:nvSpPr>
          <p:spPr>
            <a:xfrm rot="1350000">
              <a:off x="5697706" y="4027426"/>
              <a:ext cx="114300" cy="133350"/>
            </a:xfrm>
            <a:prstGeom prst="rect">
              <a:avLst/>
            </a:prstGeom>
            <a:solidFill>
              <a:srgbClr val="03EE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" name="card-1-icon-stooth7"/>
            <p:cNvSpPr/>
            <p:nvPr/>
          </p:nvSpPr>
          <p:spPr>
            <a:xfrm rot="4050000">
              <a:off x="5821424" y="4151144"/>
              <a:ext cx="114300" cy="133350"/>
            </a:xfrm>
            <a:prstGeom prst="rect">
              <a:avLst/>
            </a:prstGeom>
            <a:solidFill>
              <a:srgbClr val="03EE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" name="card-1-icon-sdisc"/>
            <p:cNvSpPr/>
            <p:nvPr/>
          </p:nvSpPr>
          <p:spPr>
            <a:xfrm>
              <a:off x="5410200" y="4048125"/>
              <a:ext cx="514350" cy="514350"/>
            </a:xfrm>
            <a:prstGeom prst="ellipse">
              <a:avLst/>
            </a:prstGeom>
            <a:solidFill>
              <a:srgbClr val="03EE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" name="card-1-icon-shole"/>
            <p:cNvSpPr/>
            <p:nvPr/>
          </p:nvSpPr>
          <p:spPr>
            <a:xfrm>
              <a:off x="5581650" y="4219575"/>
              <a:ext cx="171450" cy="17145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" name="card-1-panel"/>
            <p:cNvSpPr/>
            <p:nvPr/>
          </p:nvSpPr>
          <p:spPr>
            <a:xfrm>
              <a:off x="2076450" y="6238875"/>
              <a:ext cx="5972175" cy="9124950"/>
            </a:xfrm>
            <a:prstGeom prst="rect">
              <a:avLst/>
            </a:prstGeom>
            <a:solidFill>
              <a:srgbClr val="E7FC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" name="card-1-panel-fade"/>
            <p:cNvSpPr/>
            <p:nvPr/>
          </p:nvSpPr>
          <p:spPr>
            <a:xfrm>
              <a:off x="2105025" y="11906250"/>
              <a:ext cx="5915025" cy="3457575"/>
            </a:xfrm>
            <a:prstGeom prst="rect">
              <a:avLst/>
            </a:prstGeom>
            <a:gradFill rotWithShape="1">
              <a:gsLst>
                <a:gs pos="0">
                  <a:srgbClr val="FFFFFF"/>
                </a:gs>
                <a:gs pos="100000">
                  <a:srgbClr val="E6FCFF"/>
                </a:gs>
              </a:gsLst>
              <a:lin scaled="0" ang="16200000"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" name="card-1-head"/>
            <p:cNvSpPr/>
            <p:nvPr/>
          </p:nvSpPr>
          <p:spPr>
            <a:xfrm>
              <a:off x="2114550" y="4905375"/>
              <a:ext cx="5895975" cy="1333500"/>
            </a:xfrm>
            <a:prstGeom prst="rect">
              <a:avLst/>
            </a:prstGeom>
            <a:solidFill>
              <a:srgbClr val="03EE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" name="card-1-headtxt"/>
            <p:cNvSpPr txBox="1"/>
            <p:nvPr/>
          </p:nvSpPr>
          <p:spPr>
            <a:xfrm>
              <a:off x="2171700" y="4905375"/>
              <a:ext cx="5972175" cy="1333500"/>
            </a:xfrm>
            <a:prstGeom prst="rect">
              <a:avLst/>
            </a:prstGeom>
            <a:noFill/>
            <a:effectLst/>
          </p:spPr>
          <p:txBody>
            <a:bodyPr wrap="squar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sz="5025" b="1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智能制造</a:t>
              </a:r>
            </a:p>
          </p:txBody>
        </p:sp>
        <p:sp>
          <p:nvSpPr>
            <p:cNvPr id="31" name="card-1-foot"/>
            <p:cNvSpPr/>
            <p:nvPr/>
          </p:nvSpPr>
          <p:spPr>
            <a:xfrm>
              <a:off x="2076450" y="15363825"/>
              <a:ext cx="5972175" cy="228600"/>
            </a:xfrm>
            <a:prstGeom prst="rect">
              <a:avLst/>
            </a:prstGeom>
            <a:solidFill>
              <a:srgbClr val="03EE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" name="card-1-sub"/>
            <p:cNvSpPr txBox="1"/>
            <p:nvPr/>
          </p:nvSpPr>
          <p:spPr>
            <a:xfrm>
              <a:off x="2486025" y="6734175"/>
              <a:ext cx="5724525" cy="742950"/>
            </a:xfrm>
            <a:prstGeom prst="rect">
              <a:avLst/>
            </a:prstGeom>
            <a:noFill/>
            <a:effectLst/>
          </p:spPr>
          <p:txBody>
            <a:bodyPr wrap="square" lIns="0" rIns="0" tIns="0" bIns="0" anchor="ctr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sz="4500" b="1" i="0">
                  <a:solidFill>
                    <a:srgbClr val="14191B"/>
                  </a:solidFill>
                  <a:latin typeface="Microsoft YaHei"/>
                  <a:ea typeface="Microsoft YaHei"/>
                  <a:cs typeface="Microsoft YaHei"/>
                </a:rPr>
                <a:t>数字化工厂二期项目</a:t>
              </a:r>
            </a:p>
          </p:txBody>
        </p:sp>
        <p:sp>
          <p:nvSpPr>
            <p:cNvPr id="33" name="card-1-l01"/>
            <p:cNvSpPr txBox="1"/>
            <p:nvPr/>
          </p:nvSpPr>
          <p:spPr>
            <a:xfrm>
              <a:off x="2705100" y="7743825"/>
              <a:ext cx="5610225" cy="533400"/>
            </a:xfrm>
            <a:prstGeom prst="rect">
              <a:avLst/>
            </a:prstGeom>
            <a:noFill/>
            <a:effectLst/>
          </p:spPr>
          <p:txBody>
            <a:bodyPr wrap="square" lIns="0" rIns="0" tIns="0" bIns="0" anchor="ctr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sz="3000" b="0" i="0">
                  <a:solidFill>
                    <a:srgbClr val="14191B"/>
                  </a:solidFill>
                  <a:latin typeface="Microsoft YaHei"/>
                  <a:ea typeface="Microsoft YaHei"/>
                  <a:cs typeface="Microsoft YaHei"/>
                </a:rPr>
                <a:t>●完成MES系统与ERP、</a:t>
              </a:r>
            </a:p>
          </p:txBody>
        </p:sp>
        <p:sp>
          <p:nvSpPr>
            <p:cNvPr id="34" name="card-1-l02"/>
            <p:cNvSpPr txBox="1"/>
            <p:nvPr/>
          </p:nvSpPr>
          <p:spPr>
            <a:xfrm>
              <a:off x="3000375" y="8239125"/>
              <a:ext cx="5572125" cy="533400"/>
            </a:xfrm>
            <a:prstGeom prst="rect">
              <a:avLst/>
            </a:prstGeom>
            <a:noFill/>
            <a:effectLst/>
          </p:spPr>
          <p:txBody>
            <a:bodyPr wrap="square" lIns="0" rIns="0" tIns="0" bIns="0" anchor="ctr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sz="3000" b="0" i="0">
                  <a:solidFill>
                    <a:srgbClr val="14191B"/>
                  </a:solidFill>
                  <a:latin typeface="Microsoft YaHei"/>
                  <a:ea typeface="Microsoft YaHei"/>
                  <a:cs typeface="Microsoft YaHei"/>
                </a:rPr>
                <a:t>WMS系统的深度集成，消</a:t>
              </a:r>
            </a:p>
          </p:txBody>
        </p:sp>
        <p:sp>
          <p:nvSpPr>
            <p:cNvPr id="35" name="card-1-l03"/>
            <p:cNvSpPr txBox="1"/>
            <p:nvPr/>
          </p:nvSpPr>
          <p:spPr>
            <a:xfrm>
              <a:off x="3019425" y="8743950"/>
              <a:ext cx="5553075" cy="533400"/>
            </a:xfrm>
            <a:prstGeom prst="rect">
              <a:avLst/>
            </a:prstGeom>
            <a:noFill/>
            <a:effectLst/>
          </p:spPr>
          <p:txBody>
            <a:bodyPr wrap="square" lIns="0" rIns="0" tIns="0" bIns="0" anchor="ctr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sz="3000" b="0" i="0">
                  <a:solidFill>
                    <a:srgbClr val="14191B"/>
                  </a:solidFill>
                  <a:latin typeface="Microsoft YaHei"/>
                  <a:ea typeface="Microsoft YaHei"/>
                  <a:cs typeface="Microsoft YaHei"/>
                </a:rPr>
                <a:t>除信息孤岛，实现从订单下</a:t>
              </a:r>
            </a:p>
          </p:txBody>
        </p:sp>
        <p:sp>
          <p:nvSpPr>
            <p:cNvPr id="36" name="card-1-l04"/>
            <p:cNvSpPr txBox="1"/>
            <p:nvPr/>
          </p:nvSpPr>
          <p:spPr>
            <a:xfrm>
              <a:off x="3000375" y="9239250"/>
              <a:ext cx="5572125" cy="533400"/>
            </a:xfrm>
            <a:prstGeom prst="rect">
              <a:avLst/>
            </a:prstGeom>
            <a:noFill/>
            <a:effectLst/>
          </p:spPr>
          <p:txBody>
            <a:bodyPr wrap="square" lIns="0" rIns="0" tIns="0" bIns="0" anchor="ctr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sz="3000" b="0" i="0">
                  <a:solidFill>
                    <a:srgbClr val="14191B"/>
                  </a:solidFill>
                  <a:latin typeface="Microsoft YaHei"/>
                  <a:ea typeface="Microsoft YaHei"/>
                  <a:cs typeface="Microsoft YaHei"/>
                </a:rPr>
                <a:t>发到成品入库的全链路数据</a:t>
              </a:r>
            </a:p>
          </p:txBody>
        </p:sp>
        <p:sp>
          <p:nvSpPr>
            <p:cNvPr id="37" name="card-1-l05"/>
            <p:cNvSpPr txBox="1"/>
            <p:nvPr/>
          </p:nvSpPr>
          <p:spPr>
            <a:xfrm>
              <a:off x="3038475" y="9744075"/>
              <a:ext cx="3276600" cy="533400"/>
            </a:xfrm>
            <a:prstGeom prst="rect">
              <a:avLst/>
            </a:prstGeom>
            <a:noFill/>
            <a:effectLst/>
          </p:spPr>
          <p:txBody>
            <a:bodyPr wrap="square" lIns="0" rIns="0" tIns="0" bIns="0" anchor="ctr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sz="3000" b="0" i="0">
                  <a:solidFill>
                    <a:srgbClr val="14191B"/>
                  </a:solidFill>
                  <a:latin typeface="Microsoft YaHei"/>
                  <a:ea typeface="Microsoft YaHei"/>
                  <a:cs typeface="Microsoft YaHei"/>
                </a:rPr>
                <a:t>自动流转</a:t>
              </a:r>
            </a:p>
          </p:txBody>
        </p:sp>
        <p:sp>
          <p:nvSpPr>
            <p:cNvPr id="38" name="card-1-l06"/>
            <p:cNvSpPr txBox="1"/>
            <p:nvPr/>
          </p:nvSpPr>
          <p:spPr>
            <a:xfrm>
              <a:off x="2705100" y="10744200"/>
              <a:ext cx="5867400" cy="533400"/>
            </a:xfrm>
            <a:prstGeom prst="rect">
              <a:avLst/>
            </a:prstGeom>
            <a:noFill/>
            <a:effectLst/>
          </p:spPr>
          <p:txBody>
            <a:bodyPr wrap="square" lIns="0" rIns="0" tIns="0" bIns="0" anchor="ctr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sz="3000" b="0" i="0">
                  <a:solidFill>
                    <a:srgbClr val="14191B"/>
                  </a:solidFill>
                  <a:latin typeface="Microsoft YaHei"/>
                  <a:ea typeface="Microsoft YaHei"/>
                  <a:cs typeface="Microsoft YaHei"/>
                </a:rPr>
                <a:t>●针对关键产线部署IoT传感</a:t>
              </a:r>
            </a:p>
          </p:txBody>
        </p:sp>
        <p:sp>
          <p:nvSpPr>
            <p:cNvPr id="39" name="card-1-l07"/>
            <p:cNvSpPr txBox="1"/>
            <p:nvPr/>
          </p:nvSpPr>
          <p:spPr>
            <a:xfrm>
              <a:off x="3000375" y="11239500"/>
              <a:ext cx="5572125" cy="533400"/>
            </a:xfrm>
            <a:prstGeom prst="rect">
              <a:avLst/>
            </a:prstGeom>
            <a:noFill/>
            <a:effectLst/>
          </p:spPr>
          <p:txBody>
            <a:bodyPr wrap="square" lIns="0" rIns="0" tIns="0" bIns="0" anchor="ctr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sz="3000" b="0" i="0">
                  <a:solidFill>
                    <a:srgbClr val="14191B"/>
                  </a:solidFill>
                  <a:latin typeface="Microsoft YaHei"/>
                  <a:ea typeface="Microsoft YaHei"/>
                  <a:cs typeface="Microsoft YaHei"/>
                </a:rPr>
                <a:t>器，实现设备状态实时监</a:t>
              </a:r>
            </a:p>
          </p:txBody>
        </p:sp>
        <p:sp>
          <p:nvSpPr>
            <p:cNvPr id="40" name="card-1-l08"/>
            <p:cNvSpPr txBox="1"/>
            <p:nvPr/>
          </p:nvSpPr>
          <p:spPr>
            <a:xfrm>
              <a:off x="3000375" y="11744325"/>
              <a:ext cx="5572125" cy="533400"/>
            </a:xfrm>
            <a:prstGeom prst="rect">
              <a:avLst/>
            </a:prstGeom>
            <a:noFill/>
            <a:effectLst/>
          </p:spPr>
          <p:txBody>
            <a:bodyPr wrap="square" lIns="0" rIns="0" tIns="0" bIns="0" anchor="ctr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sz="3000" b="0" i="0">
                  <a:solidFill>
                    <a:srgbClr val="14191B"/>
                  </a:solidFill>
                  <a:latin typeface="Microsoft YaHei"/>
                  <a:ea typeface="Microsoft YaHei"/>
                  <a:cs typeface="Microsoft YaHei"/>
                </a:rPr>
                <a:t>控，设备联网率达到 95%</a:t>
              </a:r>
            </a:p>
          </p:txBody>
        </p:sp>
        <p:sp>
          <p:nvSpPr>
            <p:cNvPr id="41" name="card-1-l09"/>
            <p:cNvSpPr txBox="1"/>
            <p:nvPr/>
          </p:nvSpPr>
          <p:spPr>
            <a:xfrm>
              <a:off x="3009900" y="12249150"/>
              <a:ext cx="2533650" cy="533400"/>
            </a:xfrm>
            <a:prstGeom prst="rect">
              <a:avLst/>
            </a:prstGeom>
            <a:noFill/>
            <a:effectLst/>
          </p:spPr>
          <p:txBody>
            <a:bodyPr wrap="square" lIns="0" rIns="0" tIns="0" bIns="0" anchor="ctr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sz="3000" b="0" i="0">
                  <a:solidFill>
                    <a:srgbClr val="14191B"/>
                  </a:solidFill>
                  <a:latin typeface="Microsoft YaHei"/>
                  <a:ea typeface="Microsoft YaHei"/>
                  <a:cs typeface="Microsoft YaHei"/>
                </a:rPr>
                <a:t>以上</a:t>
              </a:r>
            </a:p>
          </p:txBody>
        </p:sp>
        <p:sp>
          <p:nvSpPr>
            <p:cNvPr id="42" name="card-1-l10"/>
            <p:cNvSpPr txBox="1"/>
            <p:nvPr/>
          </p:nvSpPr>
          <p:spPr>
            <a:xfrm>
              <a:off x="2705100" y="13239750"/>
              <a:ext cx="5867400" cy="533400"/>
            </a:xfrm>
            <a:prstGeom prst="rect">
              <a:avLst/>
            </a:prstGeom>
            <a:noFill/>
            <a:effectLst/>
          </p:spPr>
          <p:txBody>
            <a:bodyPr wrap="square" lIns="0" rIns="0" tIns="0" bIns="0" anchor="ctr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sz="3000" b="0" i="0">
                  <a:solidFill>
                    <a:srgbClr val="14191B"/>
                  </a:solidFill>
                  <a:latin typeface="Microsoft YaHei"/>
                  <a:ea typeface="Microsoft YaHei"/>
                  <a:cs typeface="Microsoft YaHei"/>
                </a:rPr>
                <a:t>●建立车间级可视化管理驾驶</a:t>
              </a:r>
            </a:p>
          </p:txBody>
        </p:sp>
        <p:sp>
          <p:nvSpPr>
            <p:cNvPr id="43" name="card-1-l11"/>
            <p:cNvSpPr txBox="1"/>
            <p:nvPr/>
          </p:nvSpPr>
          <p:spPr>
            <a:xfrm>
              <a:off x="3000375" y="13744575"/>
              <a:ext cx="5572125" cy="533400"/>
            </a:xfrm>
            <a:prstGeom prst="rect">
              <a:avLst/>
            </a:prstGeom>
            <a:noFill/>
            <a:effectLst/>
          </p:spPr>
          <p:txBody>
            <a:bodyPr wrap="square" lIns="0" rIns="0" tIns="0" bIns="0" anchor="ctr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sz="3000" b="0" i="0">
                  <a:solidFill>
                    <a:srgbClr val="14191B"/>
                  </a:solidFill>
                  <a:latin typeface="Microsoft YaHei"/>
                  <a:ea typeface="Microsoft YaHei"/>
                  <a:cs typeface="Microsoft YaHei"/>
                </a:rPr>
                <a:t>舱，关键生产指标（OEE、</a:t>
              </a:r>
            </a:p>
          </p:txBody>
        </p:sp>
        <p:sp>
          <p:nvSpPr>
            <p:cNvPr id="44" name="card-1-l12"/>
            <p:cNvSpPr txBox="1"/>
            <p:nvPr/>
          </p:nvSpPr>
          <p:spPr>
            <a:xfrm>
              <a:off x="3028950" y="14239875"/>
              <a:ext cx="5543550" cy="533400"/>
            </a:xfrm>
            <a:prstGeom prst="rect">
              <a:avLst/>
            </a:prstGeom>
            <a:noFill/>
            <a:effectLst/>
          </p:spPr>
          <p:txBody>
            <a:bodyPr wrap="square" lIns="0" rIns="0" tIns="0" bIns="0" anchor="ctr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sz="3000" b="0" i="0">
                  <a:solidFill>
                    <a:srgbClr val="14191B"/>
                  </a:solidFill>
                  <a:latin typeface="Microsoft YaHei"/>
                  <a:ea typeface="Microsoft YaHei"/>
                  <a:cs typeface="Microsoft YaHei"/>
                </a:rPr>
                <a:t>良品率、工时）实时刷新，</a:t>
              </a:r>
            </a:p>
          </p:txBody>
        </p:sp>
        <p:sp>
          <p:nvSpPr>
            <p:cNvPr id="45" name="card-1-l13"/>
            <p:cNvSpPr txBox="1"/>
            <p:nvPr/>
          </p:nvSpPr>
          <p:spPr>
            <a:xfrm>
              <a:off x="3000375" y="14744700"/>
              <a:ext cx="4457700" cy="533400"/>
            </a:xfrm>
            <a:prstGeom prst="rect">
              <a:avLst/>
            </a:prstGeom>
            <a:noFill/>
            <a:effectLst/>
          </p:spPr>
          <p:txBody>
            <a:bodyPr wrap="square" lIns="0" rIns="0" tIns="0" bIns="0" anchor="ctr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sz="3000" b="0" i="0">
                  <a:solidFill>
                    <a:srgbClr val="14191B"/>
                  </a:solidFill>
                  <a:latin typeface="Microsoft YaHei"/>
                  <a:ea typeface="Microsoft YaHei"/>
                  <a:cs typeface="Microsoft YaHei"/>
                </a:rPr>
                <a:t>辅助管理层决策</a:t>
              </a:r>
            </a:p>
          </p:txBody>
        </p:sp>
      </p:grpSp>
      <p:grpSp>
        <p:nvGrpSpPr>
          <p:cNvPr id="123" name="card-2"/>
          <p:cNvGrpSpPr/>
          <p:nvPr/>
        </p:nvGrpSpPr>
        <p:grpSpPr>
          <a:xfrm>
            <a:off x="8629650" y="3505200"/>
            <a:ext cx="6496050" cy="12087225"/>
            <a:chOff x="8629650" y="3505200"/>
            <a:chExt cx="6496050" cy="12087225"/>
          </a:xfrm>
        </p:grpSpPr>
        <p:sp>
          <p:nvSpPr>
            <p:cNvPr id="46" name="card-2-roof"/>
            <p:cNvSpPr/>
            <p:nvPr/>
          </p:nvSpPr>
          <p:spPr>
            <a:xfrm>
              <a:off x="8648700" y="4305300"/>
              <a:ext cx="5915025" cy="600075"/>
            </a:xfrm>
            <a:custGeom>
              <a:avLst/>
              <a:gdLst/>
              <a:ahLst/>
              <a:cxnLst/>
              <a:rect l="l" t="t" r="r" b="b"/>
              <a:pathLst>
                <a:path w="5915025" h="600075">
                  <a:moveTo>
                    <a:pt x="0" y="600075"/>
                  </a:moveTo>
                  <a:lnTo>
                    <a:pt x="1419225" y="0"/>
                  </a:lnTo>
                  <a:lnTo>
                    <a:pt x="4552950" y="0"/>
                  </a:lnTo>
                  <a:lnTo>
                    <a:pt x="5915025" y="600075"/>
                  </a:lnTo>
                  <a:close/>
                </a:path>
              </a:pathLst>
            </a:custGeom>
            <a:solidFill>
              <a:srgbClr val="EDFEFF"/>
            </a:solidFill>
            <a:ln w="19050">
              <a:solidFill>
                <a:srgbClr val="03EE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7" name="card-2-icon-roof"/>
            <p:cNvSpPr/>
            <p:nvPr/>
          </p:nvSpPr>
          <p:spPr>
            <a:xfrm>
              <a:off x="11049000" y="3886200"/>
              <a:ext cx="1123950" cy="209550"/>
            </a:xfrm>
            <a:custGeom>
              <a:avLst/>
              <a:gdLst/>
              <a:ahLst/>
              <a:cxnLst/>
              <a:rect l="l" t="t" r="r" b="b"/>
              <a:pathLst>
                <a:path w="1123950" h="209550">
                  <a:moveTo>
                    <a:pt x="0" y="209550"/>
                  </a:moveTo>
                  <a:lnTo>
                    <a:pt x="206058" y="0"/>
                  </a:lnTo>
                  <a:lnTo>
                    <a:pt x="374650" y="209550"/>
                  </a:lnTo>
                  <a:lnTo>
                    <a:pt x="580708" y="0"/>
                  </a:lnTo>
                  <a:lnTo>
                    <a:pt x="749300" y="209550"/>
                  </a:lnTo>
                  <a:lnTo>
                    <a:pt x="955358" y="0"/>
                  </a:lnTo>
                  <a:lnTo>
                    <a:pt x="1123950" y="209550"/>
                  </a:lnTo>
                  <a:close/>
                </a:path>
              </a:pathLst>
            </a:custGeom>
            <a:solidFill>
              <a:srgbClr val="03EE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8" name="card-2-icon-ch1"/>
            <p:cNvSpPr/>
            <p:nvPr/>
          </p:nvSpPr>
          <p:spPr>
            <a:xfrm>
              <a:off x="11125200" y="3505200"/>
              <a:ext cx="142875" cy="400050"/>
            </a:xfrm>
            <a:prstGeom prst="rect">
              <a:avLst/>
            </a:prstGeom>
            <a:solidFill>
              <a:srgbClr val="03EE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9" name="card-2-icon-ch2"/>
            <p:cNvSpPr/>
            <p:nvPr/>
          </p:nvSpPr>
          <p:spPr>
            <a:xfrm>
              <a:off x="11334750" y="3638550"/>
              <a:ext cx="142875" cy="266700"/>
            </a:xfrm>
            <a:prstGeom prst="rect">
              <a:avLst/>
            </a:prstGeom>
            <a:solidFill>
              <a:srgbClr val="03EE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0" name="card-2-icon-base"/>
            <p:cNvSpPr/>
            <p:nvPr/>
          </p:nvSpPr>
          <p:spPr>
            <a:xfrm>
              <a:off x="11049000" y="4095750"/>
              <a:ext cx="1123950" cy="514350"/>
            </a:xfrm>
            <a:prstGeom prst="rect">
              <a:avLst/>
            </a:prstGeom>
            <a:solidFill>
              <a:srgbClr val="03EE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1" name="card-2-icon-win0"/>
            <p:cNvSpPr/>
            <p:nvPr/>
          </p:nvSpPr>
          <p:spPr>
            <a:xfrm>
              <a:off x="11182350" y="4229100"/>
              <a:ext cx="190500" cy="2286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2" name="card-2-icon-win1"/>
            <p:cNvSpPr/>
            <p:nvPr/>
          </p:nvSpPr>
          <p:spPr>
            <a:xfrm>
              <a:off x="11496675" y="4229100"/>
              <a:ext cx="190500" cy="2286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3" name="card-2-icon-win2"/>
            <p:cNvSpPr/>
            <p:nvPr/>
          </p:nvSpPr>
          <p:spPr>
            <a:xfrm>
              <a:off x="11811000" y="4229100"/>
              <a:ext cx="190500" cy="2286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4" name="card-2-panel"/>
            <p:cNvSpPr/>
            <p:nvPr/>
          </p:nvSpPr>
          <p:spPr>
            <a:xfrm>
              <a:off x="8629650" y="6238875"/>
              <a:ext cx="5972175" cy="9124950"/>
            </a:xfrm>
            <a:prstGeom prst="rect">
              <a:avLst/>
            </a:prstGeom>
            <a:solidFill>
              <a:srgbClr val="E7FC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5" name="card-2-panel-fade"/>
            <p:cNvSpPr/>
            <p:nvPr/>
          </p:nvSpPr>
          <p:spPr>
            <a:xfrm>
              <a:off x="8658225" y="11906250"/>
              <a:ext cx="5915025" cy="3457575"/>
            </a:xfrm>
            <a:prstGeom prst="rect">
              <a:avLst/>
            </a:prstGeom>
            <a:gradFill rotWithShape="1">
              <a:gsLst>
                <a:gs pos="0">
                  <a:srgbClr val="FFFFFF"/>
                </a:gs>
                <a:gs pos="100000">
                  <a:srgbClr val="E6FCFF"/>
                </a:gs>
              </a:gsLst>
              <a:lin scaled="0" ang="16200000"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6" name="card-2-head"/>
            <p:cNvSpPr/>
            <p:nvPr/>
          </p:nvSpPr>
          <p:spPr>
            <a:xfrm>
              <a:off x="8667750" y="4905375"/>
              <a:ext cx="5895975" cy="1333500"/>
            </a:xfrm>
            <a:prstGeom prst="rect">
              <a:avLst/>
            </a:prstGeom>
            <a:solidFill>
              <a:srgbClr val="03EE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7" name="card-2-headtxt"/>
            <p:cNvSpPr txBox="1"/>
            <p:nvPr/>
          </p:nvSpPr>
          <p:spPr>
            <a:xfrm>
              <a:off x="8724900" y="4905375"/>
              <a:ext cx="5972175" cy="1333500"/>
            </a:xfrm>
            <a:prstGeom prst="rect">
              <a:avLst/>
            </a:prstGeom>
            <a:noFill/>
            <a:effectLst/>
          </p:spPr>
          <p:txBody>
            <a:bodyPr wrap="squar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sz="5025" b="1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精益生产</a:t>
              </a:r>
            </a:p>
          </p:txBody>
        </p:sp>
        <p:sp>
          <p:nvSpPr>
            <p:cNvPr id="58" name="card-2-foot"/>
            <p:cNvSpPr/>
            <p:nvPr/>
          </p:nvSpPr>
          <p:spPr>
            <a:xfrm>
              <a:off x="8629650" y="15363825"/>
              <a:ext cx="5972175" cy="228600"/>
            </a:xfrm>
            <a:prstGeom prst="rect">
              <a:avLst/>
            </a:prstGeom>
            <a:solidFill>
              <a:srgbClr val="03EE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9" name="card-2-sub"/>
            <p:cNvSpPr txBox="1"/>
            <p:nvPr/>
          </p:nvSpPr>
          <p:spPr>
            <a:xfrm>
              <a:off x="9363075" y="6734175"/>
              <a:ext cx="5210175" cy="742950"/>
            </a:xfrm>
            <a:prstGeom prst="rect">
              <a:avLst/>
            </a:prstGeom>
            <a:noFill/>
            <a:effectLst/>
          </p:spPr>
          <p:txBody>
            <a:bodyPr wrap="square" lIns="0" rIns="0" tIns="0" bIns="0" anchor="ctr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sz="4500" b="1" i="0">
                  <a:solidFill>
                    <a:srgbClr val="14191B"/>
                  </a:solidFill>
                  <a:latin typeface="Microsoft YaHei"/>
                  <a:ea typeface="Microsoft YaHei"/>
                  <a:cs typeface="Microsoft YaHei"/>
                </a:rPr>
                <a:t>质量提升专项行动</a:t>
              </a:r>
            </a:p>
          </p:txBody>
        </p:sp>
        <p:sp>
          <p:nvSpPr>
            <p:cNvPr id="60" name="card-2-l01"/>
            <p:cNvSpPr txBox="1"/>
            <p:nvPr/>
          </p:nvSpPr>
          <p:spPr>
            <a:xfrm>
              <a:off x="9296400" y="7743825"/>
              <a:ext cx="5829300" cy="533400"/>
            </a:xfrm>
            <a:prstGeom prst="rect">
              <a:avLst/>
            </a:prstGeom>
            <a:noFill/>
            <a:effectLst/>
          </p:spPr>
          <p:txBody>
            <a:bodyPr wrap="square" lIns="0" rIns="0" tIns="0" bIns="0" anchor="ctr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sz="3000" b="0" i="0">
                  <a:solidFill>
                    <a:srgbClr val="14191B"/>
                  </a:solidFill>
                  <a:latin typeface="Microsoft YaHei"/>
                  <a:ea typeface="Microsoft YaHei"/>
                  <a:cs typeface="Microsoft YaHei"/>
                </a:rPr>
                <a:t>●在冲压/注塑/组装等关键工</a:t>
              </a:r>
            </a:p>
          </p:txBody>
        </p:sp>
        <p:sp>
          <p:nvSpPr>
            <p:cNvPr id="61" name="card-2-l02"/>
            <p:cNvSpPr txBox="1"/>
            <p:nvPr/>
          </p:nvSpPr>
          <p:spPr>
            <a:xfrm>
              <a:off x="9591675" y="8239125"/>
              <a:ext cx="5534025" cy="533400"/>
            </a:xfrm>
            <a:prstGeom prst="rect">
              <a:avLst/>
            </a:prstGeom>
            <a:noFill/>
            <a:effectLst/>
          </p:spPr>
          <p:txBody>
            <a:bodyPr wrap="square" lIns="0" rIns="0" tIns="0" bIns="0" anchor="ctr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sz="3000" b="0" i="0">
                  <a:solidFill>
                    <a:srgbClr val="14191B"/>
                  </a:solidFill>
                  <a:latin typeface="Microsoft YaHei"/>
                  <a:ea typeface="Microsoft YaHei"/>
                  <a:cs typeface="Microsoft YaHei"/>
                </a:rPr>
                <a:t>序引入防错工装，从源头杜</a:t>
              </a:r>
            </a:p>
          </p:txBody>
        </p:sp>
        <p:sp>
          <p:nvSpPr>
            <p:cNvPr id="62" name="card-2-l03"/>
            <p:cNvSpPr txBox="1"/>
            <p:nvPr/>
          </p:nvSpPr>
          <p:spPr>
            <a:xfrm>
              <a:off x="9591675" y="8743950"/>
              <a:ext cx="5534025" cy="533400"/>
            </a:xfrm>
            <a:prstGeom prst="rect">
              <a:avLst/>
            </a:prstGeom>
            <a:noFill/>
            <a:effectLst/>
          </p:spPr>
          <p:txBody>
            <a:bodyPr wrap="square" lIns="0" rIns="0" tIns="0" bIns="0" anchor="ctr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sz="3000" b="0" i="0">
                  <a:solidFill>
                    <a:srgbClr val="14191B"/>
                  </a:solidFill>
                  <a:latin typeface="Microsoft YaHei"/>
                  <a:ea typeface="Microsoft YaHei"/>
                  <a:cs typeface="Microsoft YaHei"/>
                </a:rPr>
                <a:t>绝装配错误，实现关键工序</a:t>
              </a:r>
            </a:p>
          </p:txBody>
        </p:sp>
        <p:sp>
          <p:nvSpPr>
            <p:cNvPr id="63" name="card-2-l04"/>
            <p:cNvSpPr txBox="1"/>
            <p:nvPr/>
          </p:nvSpPr>
          <p:spPr>
            <a:xfrm>
              <a:off x="9601200" y="9239250"/>
              <a:ext cx="3609975" cy="533400"/>
            </a:xfrm>
            <a:prstGeom prst="rect">
              <a:avLst/>
            </a:prstGeom>
            <a:noFill/>
            <a:effectLst/>
          </p:spPr>
          <p:txBody>
            <a:bodyPr wrap="square" lIns="0" rIns="0" tIns="0" bIns="0" anchor="ctr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sz="3000" b="0" i="0">
                  <a:solidFill>
                    <a:srgbClr val="14191B"/>
                  </a:solidFill>
                  <a:latin typeface="Microsoft YaHei"/>
                  <a:ea typeface="Microsoft YaHei"/>
                  <a:cs typeface="Microsoft YaHei"/>
                </a:rPr>
                <a:t>0缺陷 流出</a:t>
              </a:r>
            </a:p>
          </p:txBody>
        </p:sp>
        <p:sp>
          <p:nvSpPr>
            <p:cNvPr id="64" name="card-2-l05"/>
            <p:cNvSpPr txBox="1"/>
            <p:nvPr/>
          </p:nvSpPr>
          <p:spPr>
            <a:xfrm>
              <a:off x="9296400" y="10239375"/>
              <a:ext cx="5829300" cy="533400"/>
            </a:xfrm>
            <a:prstGeom prst="rect">
              <a:avLst/>
            </a:prstGeom>
            <a:noFill/>
            <a:effectLst/>
          </p:spPr>
          <p:txBody>
            <a:bodyPr wrap="square" lIns="0" rIns="0" tIns="0" bIns="0" anchor="ctr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sz="3000" b="0" i="0">
                  <a:solidFill>
                    <a:srgbClr val="14191B"/>
                  </a:solidFill>
                  <a:latin typeface="Microsoft YaHei"/>
                  <a:ea typeface="Microsoft YaHei"/>
                  <a:cs typeface="Microsoft YaHei"/>
                </a:rPr>
                <a:t>●开展供应商质量审核与辅</a:t>
              </a:r>
            </a:p>
          </p:txBody>
        </p:sp>
        <p:sp>
          <p:nvSpPr>
            <p:cNvPr id="65" name="card-2-l06"/>
            <p:cNvSpPr txBox="1"/>
            <p:nvPr/>
          </p:nvSpPr>
          <p:spPr>
            <a:xfrm>
              <a:off x="9591675" y="10744200"/>
              <a:ext cx="5534025" cy="533400"/>
            </a:xfrm>
            <a:prstGeom prst="rect">
              <a:avLst/>
            </a:prstGeom>
            <a:noFill/>
            <a:effectLst/>
          </p:spPr>
          <p:txBody>
            <a:bodyPr wrap="square" lIns="0" rIns="0" tIns="0" bIns="0" anchor="ctr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sz="3000" b="0" i="0">
                  <a:solidFill>
                    <a:srgbClr val="14191B"/>
                  </a:solidFill>
                  <a:latin typeface="Microsoft YaHei"/>
                  <a:ea typeface="Microsoft YaHei"/>
                  <a:cs typeface="Microsoft YaHei"/>
                </a:rPr>
                <a:t>导，推动外协件不良率下降</a:t>
              </a:r>
            </a:p>
          </p:txBody>
        </p:sp>
        <p:sp>
          <p:nvSpPr>
            <p:cNvPr id="66" name="card-2-l07"/>
            <p:cNvSpPr txBox="1"/>
            <p:nvPr/>
          </p:nvSpPr>
          <p:spPr>
            <a:xfrm>
              <a:off x="9620250" y="11239500"/>
              <a:ext cx="5505450" cy="533400"/>
            </a:xfrm>
            <a:prstGeom prst="rect">
              <a:avLst/>
            </a:prstGeom>
            <a:noFill/>
            <a:effectLst/>
          </p:spPr>
          <p:txBody>
            <a:bodyPr wrap="square" lIns="0" rIns="0" tIns="0" bIns="0" anchor="ctr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sz="3000" b="0" i="0">
                  <a:solidFill>
                    <a:srgbClr val="14191B"/>
                  </a:solidFill>
                  <a:latin typeface="Microsoft YaHei"/>
                  <a:ea typeface="Microsoft YaHei"/>
                  <a:cs typeface="Microsoft YaHei"/>
                </a:rPr>
                <a:t>5%，建立战略供应商质量</a:t>
              </a:r>
            </a:p>
          </p:txBody>
        </p:sp>
        <p:sp>
          <p:nvSpPr>
            <p:cNvPr id="67" name="card-2-l08"/>
            <p:cNvSpPr txBox="1"/>
            <p:nvPr/>
          </p:nvSpPr>
          <p:spPr>
            <a:xfrm>
              <a:off x="9591675" y="11744325"/>
              <a:ext cx="3295650" cy="533400"/>
            </a:xfrm>
            <a:prstGeom prst="rect">
              <a:avLst/>
            </a:prstGeom>
            <a:noFill/>
            <a:effectLst/>
          </p:spPr>
          <p:txBody>
            <a:bodyPr wrap="square" lIns="0" rIns="0" tIns="0" bIns="0" anchor="ctr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sz="3000" b="0" i="0">
                  <a:solidFill>
                    <a:srgbClr val="14191B"/>
                  </a:solidFill>
                  <a:latin typeface="Microsoft YaHei"/>
                  <a:ea typeface="Microsoft YaHei"/>
                  <a:cs typeface="Microsoft YaHei"/>
                </a:rPr>
                <a:t>联动机制</a:t>
              </a:r>
            </a:p>
          </p:txBody>
        </p:sp>
        <p:sp>
          <p:nvSpPr>
            <p:cNvPr id="68" name="card-2-l09"/>
            <p:cNvSpPr txBox="1"/>
            <p:nvPr/>
          </p:nvSpPr>
          <p:spPr>
            <a:xfrm>
              <a:off x="9296400" y="12744450"/>
              <a:ext cx="5829300" cy="533400"/>
            </a:xfrm>
            <a:prstGeom prst="rect">
              <a:avLst/>
            </a:prstGeom>
            <a:noFill/>
            <a:effectLst/>
          </p:spPr>
          <p:txBody>
            <a:bodyPr wrap="square" lIns="0" rIns="0" tIns="0" bIns="0" anchor="ctr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sz="3000" b="0" i="0">
                  <a:solidFill>
                    <a:srgbClr val="14191B"/>
                  </a:solidFill>
                  <a:latin typeface="Microsoft YaHei"/>
                  <a:ea typeface="Microsoft YaHei"/>
                  <a:cs typeface="Microsoft YaHei"/>
                </a:rPr>
                <a:t>●推行“全员质量责任制”，</a:t>
              </a:r>
            </a:p>
          </p:txBody>
        </p:sp>
        <p:sp>
          <p:nvSpPr>
            <p:cNvPr id="69" name="card-2-l10"/>
            <p:cNvSpPr txBox="1"/>
            <p:nvPr/>
          </p:nvSpPr>
          <p:spPr>
            <a:xfrm>
              <a:off x="9591675" y="13239750"/>
              <a:ext cx="5534025" cy="533400"/>
            </a:xfrm>
            <a:prstGeom prst="rect">
              <a:avLst/>
            </a:prstGeom>
            <a:noFill/>
            <a:effectLst/>
          </p:spPr>
          <p:txBody>
            <a:bodyPr wrap="square" lIns="0" rIns="0" tIns="0" bIns="0" anchor="ctr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sz="3000" b="0" i="0">
                  <a:solidFill>
                    <a:srgbClr val="14191B"/>
                  </a:solidFill>
                  <a:latin typeface="Microsoft YaHei"/>
                  <a:ea typeface="Microsoft YaHei"/>
                  <a:cs typeface="Microsoft YaHei"/>
                </a:rPr>
                <a:t>建立质量问题 24小时 内响</a:t>
              </a:r>
            </a:p>
          </p:txBody>
        </p:sp>
        <p:sp>
          <p:nvSpPr>
            <p:cNvPr id="70" name="card-2-l11"/>
            <p:cNvSpPr txBox="1"/>
            <p:nvPr/>
          </p:nvSpPr>
          <p:spPr>
            <a:xfrm>
              <a:off x="9582150" y="13744575"/>
              <a:ext cx="5543550" cy="533400"/>
            </a:xfrm>
            <a:prstGeom prst="rect">
              <a:avLst/>
            </a:prstGeom>
            <a:noFill/>
            <a:effectLst/>
          </p:spPr>
          <p:txBody>
            <a:bodyPr wrap="square" lIns="0" rIns="0" tIns="0" bIns="0" anchor="ctr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sz="3000" b="0" i="0">
                  <a:solidFill>
                    <a:srgbClr val="14191B"/>
                  </a:solidFill>
                  <a:latin typeface="Microsoft YaHei"/>
                  <a:ea typeface="Microsoft YaHei"/>
                  <a:cs typeface="Microsoft YaHei"/>
                </a:rPr>
                <a:t>应、72小时 内闭环的快反</a:t>
              </a:r>
            </a:p>
          </p:txBody>
        </p:sp>
        <p:sp>
          <p:nvSpPr>
            <p:cNvPr id="71" name="card-2-l12"/>
            <p:cNvSpPr txBox="1"/>
            <p:nvPr/>
          </p:nvSpPr>
          <p:spPr>
            <a:xfrm>
              <a:off x="9591675" y="14239875"/>
              <a:ext cx="2533650" cy="533400"/>
            </a:xfrm>
            <a:prstGeom prst="rect">
              <a:avLst/>
            </a:prstGeom>
            <a:noFill/>
            <a:effectLst/>
          </p:spPr>
          <p:txBody>
            <a:bodyPr wrap="square" lIns="0" rIns="0" tIns="0" bIns="0" anchor="ctr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sz="3000" b="0" i="0">
                  <a:solidFill>
                    <a:srgbClr val="14191B"/>
                  </a:solidFill>
                  <a:latin typeface="Microsoft YaHei"/>
                  <a:ea typeface="Microsoft YaHei"/>
                  <a:cs typeface="Microsoft YaHei"/>
                </a:rPr>
                <a:t>机制</a:t>
              </a:r>
            </a:p>
          </p:txBody>
        </p:sp>
      </p:grpSp>
      <p:grpSp>
        <p:nvGrpSpPr>
          <p:cNvPr id="120" name="card-3"/>
          <p:cNvGrpSpPr/>
          <p:nvPr/>
        </p:nvGrpSpPr>
        <p:grpSpPr>
          <a:xfrm>
            <a:off x="15716250" y="3409950"/>
            <a:ext cx="6496050" cy="12182475"/>
            <a:chOff x="15716250" y="3409950"/>
            <a:chExt cx="6496050" cy="12182475"/>
          </a:xfrm>
        </p:grpSpPr>
        <p:sp>
          <p:nvSpPr>
            <p:cNvPr id="72" name="card-3-roof"/>
            <p:cNvSpPr/>
            <p:nvPr/>
          </p:nvSpPr>
          <p:spPr>
            <a:xfrm>
              <a:off x="15735300" y="4305300"/>
              <a:ext cx="5915025" cy="600075"/>
            </a:xfrm>
            <a:custGeom>
              <a:avLst/>
              <a:gdLst/>
              <a:ahLst/>
              <a:cxnLst/>
              <a:rect l="l" t="t" r="r" b="b"/>
              <a:pathLst>
                <a:path w="5915025" h="600075">
                  <a:moveTo>
                    <a:pt x="0" y="600075"/>
                  </a:moveTo>
                  <a:lnTo>
                    <a:pt x="1419225" y="0"/>
                  </a:lnTo>
                  <a:lnTo>
                    <a:pt x="4552950" y="0"/>
                  </a:lnTo>
                  <a:lnTo>
                    <a:pt x="5915025" y="600075"/>
                  </a:lnTo>
                  <a:close/>
                </a:path>
              </a:pathLst>
            </a:custGeom>
            <a:solidFill>
              <a:srgbClr val="EDFEFF"/>
            </a:solidFill>
            <a:ln w="19050">
              <a:solidFill>
                <a:srgbClr val="03EE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3" name="card-3-icon-frame"/>
            <p:cNvSpPr/>
            <p:nvPr/>
          </p:nvSpPr>
          <p:spPr>
            <a:xfrm>
              <a:off x="18164175" y="3943350"/>
              <a:ext cx="1066800" cy="704850"/>
            </a:xfrm>
            <a:prstGeom prst="roundRect">
              <a:avLst>
                <a:gd name="adj" fmla="val 10810"/>
              </a:avLst>
            </a:prstGeom>
            <a:solidFill>
              <a:srgbClr val="03EE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4" name="card-3-icon-bar0"/>
            <p:cNvSpPr/>
            <p:nvPr/>
          </p:nvSpPr>
          <p:spPr>
            <a:xfrm>
              <a:off x="18316575" y="4305300"/>
              <a:ext cx="161925" cy="24765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5" name="card-3-icon-bar1"/>
            <p:cNvSpPr/>
            <p:nvPr/>
          </p:nvSpPr>
          <p:spPr>
            <a:xfrm>
              <a:off x="18602325" y="4171950"/>
              <a:ext cx="161925" cy="381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6" name="card-3-icon-bar2"/>
            <p:cNvSpPr/>
            <p:nvPr/>
          </p:nvSpPr>
          <p:spPr>
            <a:xfrm>
              <a:off x="18888075" y="4019550"/>
              <a:ext cx="161925" cy="5334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7" name="card-3-icon-line"/>
            <p:cNvSpPr/>
            <p:nvPr/>
          </p:nvSpPr>
          <p:spPr>
            <a:xfrm>
              <a:off x="18126075" y="3409950"/>
              <a:ext cx="1162050" cy="381000"/>
            </a:xfrm>
            <a:custGeom>
              <a:avLst/>
              <a:gdLst/>
              <a:ahLst/>
              <a:cxnLst/>
              <a:rect l="l" t="t" r="r" b="b"/>
              <a:pathLst>
                <a:path w="1162050" h="381000">
                  <a:moveTo>
                    <a:pt x="0" y="381000"/>
                  </a:moveTo>
                  <a:lnTo>
                    <a:pt x="361950" y="209550"/>
                  </a:lnTo>
                  <a:lnTo>
                    <a:pt x="666750" y="342900"/>
                  </a:lnTo>
                  <a:lnTo>
                    <a:pt x="1162050" y="0"/>
                  </a:lnTo>
                </a:path>
              </a:pathLst>
            </a:custGeom>
            <a:noFill/>
            <a:ln w="85725">
              <a:solidFill>
                <a:srgbClr val="03EE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8" name="card-3-panel"/>
            <p:cNvSpPr/>
            <p:nvPr/>
          </p:nvSpPr>
          <p:spPr>
            <a:xfrm>
              <a:off x="15716250" y="6238875"/>
              <a:ext cx="5972175" cy="9124950"/>
            </a:xfrm>
            <a:prstGeom prst="rect">
              <a:avLst/>
            </a:prstGeom>
            <a:solidFill>
              <a:srgbClr val="E7FC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9" name="card-3-panel-fade"/>
            <p:cNvSpPr/>
            <p:nvPr/>
          </p:nvSpPr>
          <p:spPr>
            <a:xfrm>
              <a:off x="15744825" y="11906250"/>
              <a:ext cx="5915025" cy="3457575"/>
            </a:xfrm>
            <a:prstGeom prst="rect">
              <a:avLst/>
            </a:prstGeom>
            <a:gradFill rotWithShape="1">
              <a:gsLst>
                <a:gs pos="0">
                  <a:srgbClr val="FFFFFF"/>
                </a:gs>
                <a:gs pos="100000">
                  <a:srgbClr val="E6FCFF"/>
                </a:gs>
              </a:gsLst>
              <a:lin scaled="0" ang="16200000"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0" name="card-3-head"/>
            <p:cNvSpPr/>
            <p:nvPr/>
          </p:nvSpPr>
          <p:spPr>
            <a:xfrm>
              <a:off x="15754350" y="4905375"/>
              <a:ext cx="5895975" cy="1333500"/>
            </a:xfrm>
            <a:prstGeom prst="rect">
              <a:avLst/>
            </a:prstGeom>
            <a:solidFill>
              <a:srgbClr val="03EE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1" name="card-3-headtxt"/>
            <p:cNvSpPr txBox="1"/>
            <p:nvPr/>
          </p:nvSpPr>
          <p:spPr>
            <a:xfrm>
              <a:off x="15811500" y="4905375"/>
              <a:ext cx="5972175" cy="1333500"/>
            </a:xfrm>
            <a:prstGeom prst="rect">
              <a:avLst/>
            </a:prstGeom>
            <a:noFill/>
            <a:effectLst/>
          </p:spPr>
          <p:txBody>
            <a:bodyPr wrap="squar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sz="5025" b="1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市场营销</a:t>
              </a:r>
            </a:p>
          </p:txBody>
        </p:sp>
        <p:sp>
          <p:nvSpPr>
            <p:cNvPr id="82" name="card-3-foot"/>
            <p:cNvSpPr/>
            <p:nvPr/>
          </p:nvSpPr>
          <p:spPr>
            <a:xfrm>
              <a:off x="15716250" y="15363825"/>
              <a:ext cx="5972175" cy="228600"/>
            </a:xfrm>
            <a:prstGeom prst="rect">
              <a:avLst/>
            </a:prstGeom>
            <a:solidFill>
              <a:srgbClr val="03EE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3" name="card-3-sub"/>
            <p:cNvSpPr txBox="1"/>
            <p:nvPr/>
          </p:nvSpPr>
          <p:spPr>
            <a:xfrm>
              <a:off x="17030700" y="6734175"/>
              <a:ext cx="4038600" cy="742950"/>
            </a:xfrm>
            <a:prstGeom prst="rect">
              <a:avLst/>
            </a:prstGeom>
            <a:noFill/>
            <a:effectLst/>
          </p:spPr>
          <p:txBody>
            <a:bodyPr wrap="square" lIns="0" rIns="0" tIns="0" bIns="0" anchor="ctr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sz="4500" b="1" i="0">
                  <a:solidFill>
                    <a:srgbClr val="14191B"/>
                  </a:solidFill>
                  <a:latin typeface="Microsoft YaHei"/>
                  <a:ea typeface="Microsoft YaHei"/>
                  <a:cs typeface="Microsoft YaHei"/>
                </a:rPr>
                <a:t>市场拓展计划</a:t>
              </a:r>
            </a:p>
          </p:txBody>
        </p:sp>
        <p:sp>
          <p:nvSpPr>
            <p:cNvPr id="84" name="card-3-l01"/>
            <p:cNvSpPr txBox="1"/>
            <p:nvPr/>
          </p:nvSpPr>
          <p:spPr>
            <a:xfrm>
              <a:off x="16383000" y="7743825"/>
              <a:ext cx="5829300" cy="533400"/>
            </a:xfrm>
            <a:prstGeom prst="rect">
              <a:avLst/>
            </a:prstGeom>
            <a:noFill/>
            <a:effectLst/>
          </p:spPr>
          <p:txBody>
            <a:bodyPr wrap="square" lIns="0" rIns="0" tIns="0" bIns="0" anchor="ctr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sz="3000" b="0" i="0">
                  <a:solidFill>
                    <a:srgbClr val="14191B"/>
                  </a:solidFill>
                  <a:latin typeface="Microsoft YaHei"/>
                  <a:ea typeface="Microsoft YaHei"/>
                  <a:cs typeface="Microsoft YaHei"/>
                </a:rPr>
                <a:t>●聚焦新能源、医疗器械、高</a:t>
              </a:r>
            </a:p>
          </p:txBody>
        </p:sp>
        <p:sp>
          <p:nvSpPr>
            <p:cNvPr id="85" name="card-3-l02"/>
            <p:cNvSpPr txBox="1"/>
            <p:nvPr/>
          </p:nvSpPr>
          <p:spPr>
            <a:xfrm>
              <a:off x="16668750" y="8239125"/>
              <a:ext cx="5543550" cy="533400"/>
            </a:xfrm>
            <a:prstGeom prst="rect">
              <a:avLst/>
            </a:prstGeom>
            <a:noFill/>
            <a:effectLst/>
          </p:spPr>
          <p:txBody>
            <a:bodyPr wrap="square" lIns="0" rIns="0" tIns="0" bIns="0" anchor="ctr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sz="3000" b="0" i="0">
                  <a:solidFill>
                    <a:srgbClr val="14191B"/>
                  </a:solidFill>
                  <a:latin typeface="Microsoft YaHei"/>
                  <a:ea typeface="Microsoft YaHei"/>
                  <a:cs typeface="Microsoft YaHei"/>
                </a:rPr>
                <a:t>端装备制造三大新兴领域，</a:t>
              </a:r>
            </a:p>
          </p:txBody>
        </p:sp>
        <p:sp>
          <p:nvSpPr>
            <p:cNvPr id="86" name="card-3-l03"/>
            <p:cNvSpPr txBox="1"/>
            <p:nvPr/>
          </p:nvSpPr>
          <p:spPr>
            <a:xfrm>
              <a:off x="16668750" y="8743950"/>
              <a:ext cx="5543550" cy="533400"/>
            </a:xfrm>
            <a:prstGeom prst="rect">
              <a:avLst/>
            </a:prstGeom>
            <a:noFill/>
            <a:effectLst/>
          </p:spPr>
          <p:txBody>
            <a:bodyPr wrap="square" lIns="0" rIns="0" tIns="0" bIns="0" anchor="ctr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sz="3000" b="0" i="0">
                  <a:solidFill>
                    <a:srgbClr val="14191B"/>
                  </a:solidFill>
                  <a:latin typeface="Microsoft YaHei"/>
                  <a:ea typeface="Microsoft YaHei"/>
                  <a:cs typeface="Microsoft YaHei"/>
                </a:rPr>
                <a:t>制定“一客一策”定制化解</a:t>
              </a:r>
            </a:p>
          </p:txBody>
        </p:sp>
        <p:sp>
          <p:nvSpPr>
            <p:cNvPr id="87" name="card-3-l04"/>
            <p:cNvSpPr txBox="1"/>
            <p:nvPr/>
          </p:nvSpPr>
          <p:spPr>
            <a:xfrm>
              <a:off x="16668750" y="9239250"/>
              <a:ext cx="2933700" cy="533400"/>
            </a:xfrm>
            <a:prstGeom prst="rect">
              <a:avLst/>
            </a:prstGeom>
            <a:noFill/>
            <a:effectLst/>
          </p:spPr>
          <p:txBody>
            <a:bodyPr wrap="square" lIns="0" rIns="0" tIns="0" bIns="0" anchor="ctr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sz="3000" b="0" i="0">
                  <a:solidFill>
                    <a:srgbClr val="14191B"/>
                  </a:solidFill>
                  <a:latin typeface="Microsoft YaHei"/>
                  <a:ea typeface="Microsoft YaHei"/>
                  <a:cs typeface="Microsoft YaHei"/>
                </a:rPr>
                <a:t>决方案</a:t>
              </a:r>
            </a:p>
          </p:txBody>
        </p:sp>
        <p:sp>
          <p:nvSpPr>
            <p:cNvPr id="88" name="card-3-l05"/>
            <p:cNvSpPr txBox="1"/>
            <p:nvPr/>
          </p:nvSpPr>
          <p:spPr>
            <a:xfrm>
              <a:off x="16383000" y="10239375"/>
              <a:ext cx="5829300" cy="533400"/>
            </a:xfrm>
            <a:prstGeom prst="rect">
              <a:avLst/>
            </a:prstGeom>
            <a:noFill/>
            <a:effectLst/>
          </p:spPr>
          <p:txBody>
            <a:bodyPr wrap="square" lIns="0" rIns="0" tIns="0" bIns="0" anchor="ctr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sz="3000" b="0" i="0">
                  <a:solidFill>
                    <a:srgbClr val="14191B"/>
                  </a:solidFill>
                  <a:latin typeface="Microsoft YaHei"/>
                  <a:ea typeface="Microsoft YaHei"/>
                  <a:cs typeface="Microsoft YaHei"/>
                </a:rPr>
                <a:t>●锁定行业内Top 3头部企</a:t>
              </a:r>
            </a:p>
          </p:txBody>
        </p:sp>
        <p:sp>
          <p:nvSpPr>
            <p:cNvPr id="89" name="card-3-l06"/>
            <p:cNvSpPr txBox="1"/>
            <p:nvPr/>
          </p:nvSpPr>
          <p:spPr>
            <a:xfrm>
              <a:off x="16668750" y="10744200"/>
              <a:ext cx="5543550" cy="533400"/>
            </a:xfrm>
            <a:prstGeom prst="rect">
              <a:avLst/>
            </a:prstGeom>
            <a:noFill/>
            <a:effectLst/>
          </p:spPr>
          <p:txBody>
            <a:bodyPr wrap="square" lIns="0" rIns="0" tIns="0" bIns="0" anchor="ctr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sz="3000" b="0" i="0">
                  <a:solidFill>
                    <a:srgbClr val="14191B"/>
                  </a:solidFill>
                  <a:latin typeface="Microsoft YaHei"/>
                  <a:ea typeface="Microsoft YaHei"/>
                  <a:cs typeface="Microsoft YaHei"/>
                </a:rPr>
                <a:t>业，组建专项攻坚小组，确</a:t>
              </a:r>
            </a:p>
          </p:txBody>
        </p:sp>
        <p:sp>
          <p:nvSpPr>
            <p:cNvPr id="90" name="card-3-l07"/>
            <p:cNvSpPr txBox="1"/>
            <p:nvPr/>
          </p:nvSpPr>
          <p:spPr>
            <a:xfrm>
              <a:off x="16668750" y="11239500"/>
              <a:ext cx="5543550" cy="533400"/>
            </a:xfrm>
            <a:prstGeom prst="rect">
              <a:avLst/>
            </a:prstGeom>
            <a:noFill/>
            <a:effectLst/>
          </p:spPr>
          <p:txBody>
            <a:bodyPr wrap="square" lIns="0" rIns="0" tIns="0" bIns="0" anchor="ctr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sz="3000" b="0" i="0">
                  <a:solidFill>
                    <a:srgbClr val="14191B"/>
                  </a:solidFill>
                  <a:latin typeface="Microsoft YaHei"/>
                  <a:ea typeface="Microsoft YaHei"/>
                  <a:cs typeface="Microsoft YaHei"/>
                </a:rPr>
                <a:t>保年内成功签约 3家 以上</a:t>
              </a:r>
            </a:p>
          </p:txBody>
        </p:sp>
        <p:sp>
          <p:nvSpPr>
            <p:cNvPr id="91" name="card-3-l08"/>
            <p:cNvSpPr txBox="1"/>
            <p:nvPr/>
          </p:nvSpPr>
          <p:spPr>
            <a:xfrm>
              <a:off x="16668750" y="11744325"/>
              <a:ext cx="5543550" cy="533400"/>
            </a:xfrm>
            <a:prstGeom prst="rect">
              <a:avLst/>
            </a:prstGeom>
            <a:noFill/>
            <a:effectLst/>
          </p:spPr>
          <p:txBody>
            <a:bodyPr wrap="square" lIns="0" rIns="0" tIns="0" bIns="0" anchor="ctr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sz="3000" b="0" i="0">
                  <a:solidFill>
                    <a:srgbClr val="14191B"/>
                  </a:solidFill>
                  <a:latin typeface="Microsoft YaHei"/>
                  <a:ea typeface="Microsoft YaHei"/>
                  <a:cs typeface="Microsoft YaHei"/>
                </a:rPr>
                <a:t>灯塔客户，形成示范效应</a:t>
              </a:r>
            </a:p>
          </p:txBody>
        </p:sp>
        <p:sp>
          <p:nvSpPr>
            <p:cNvPr id="92" name="card-3-l09"/>
            <p:cNvSpPr txBox="1"/>
            <p:nvPr/>
          </p:nvSpPr>
          <p:spPr>
            <a:xfrm>
              <a:off x="16383000" y="12744450"/>
              <a:ext cx="5829300" cy="533400"/>
            </a:xfrm>
            <a:prstGeom prst="rect">
              <a:avLst/>
            </a:prstGeom>
            <a:noFill/>
            <a:effectLst/>
          </p:spPr>
          <p:txBody>
            <a:bodyPr wrap="square" lIns="0" rIns="0" tIns="0" bIns="0" anchor="ctr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sz="3000" b="0" i="0">
                  <a:solidFill>
                    <a:srgbClr val="14191B"/>
                  </a:solidFill>
                  <a:latin typeface="Microsoft YaHei"/>
                  <a:ea typeface="Microsoft YaHei"/>
                  <a:cs typeface="Microsoft YaHei"/>
                </a:rPr>
                <a:t>●参加国内外知名行业展会</a:t>
              </a:r>
            </a:p>
          </p:txBody>
        </p:sp>
        <p:sp>
          <p:nvSpPr>
            <p:cNvPr id="93" name="card-3-l10"/>
            <p:cNvSpPr txBox="1"/>
            <p:nvPr/>
          </p:nvSpPr>
          <p:spPr>
            <a:xfrm>
              <a:off x="16697325" y="13239750"/>
              <a:ext cx="5514975" cy="533400"/>
            </a:xfrm>
            <a:prstGeom prst="rect">
              <a:avLst/>
            </a:prstGeom>
            <a:noFill/>
            <a:effectLst/>
          </p:spPr>
          <p:txBody>
            <a:bodyPr wrap="square" lIns="0" rIns="0" tIns="0" bIns="0" anchor="ctr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sz="3000" b="0" i="0">
                  <a:solidFill>
                    <a:srgbClr val="14191B"/>
                  </a:solidFill>
                  <a:latin typeface="Microsoft YaHei"/>
                  <a:ea typeface="Microsoft YaHei"/>
                  <a:cs typeface="Microsoft YaHei"/>
                </a:rPr>
                <a:t>10场，通过技术研讨会、</a:t>
              </a:r>
            </a:p>
          </p:txBody>
        </p:sp>
        <p:sp>
          <p:nvSpPr>
            <p:cNvPr id="94" name="card-3-l11"/>
            <p:cNvSpPr txBox="1"/>
            <p:nvPr/>
          </p:nvSpPr>
          <p:spPr>
            <a:xfrm>
              <a:off x="16668750" y="13744575"/>
              <a:ext cx="5543550" cy="533400"/>
            </a:xfrm>
            <a:prstGeom prst="rect">
              <a:avLst/>
            </a:prstGeom>
            <a:noFill/>
            <a:effectLst/>
          </p:spPr>
          <p:txBody>
            <a:bodyPr wrap="square" lIns="0" rIns="0" tIns="0" bIns="0" anchor="ctr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sz="3000" b="0" i="0">
                  <a:solidFill>
                    <a:srgbClr val="14191B"/>
                  </a:solidFill>
                  <a:latin typeface="Microsoft YaHei"/>
                  <a:ea typeface="Microsoft YaHei"/>
                  <a:cs typeface="Microsoft YaHei"/>
                </a:rPr>
                <a:t>新品发布会等形式提升品牌</a:t>
              </a:r>
            </a:p>
          </p:txBody>
        </p:sp>
        <p:sp>
          <p:nvSpPr>
            <p:cNvPr id="95" name="card-3-l12"/>
            <p:cNvSpPr txBox="1"/>
            <p:nvPr/>
          </p:nvSpPr>
          <p:spPr>
            <a:xfrm>
              <a:off x="16678275" y="14239875"/>
              <a:ext cx="3800475" cy="533400"/>
            </a:xfrm>
            <a:prstGeom prst="rect">
              <a:avLst/>
            </a:prstGeom>
            <a:noFill/>
            <a:effectLst/>
          </p:spPr>
          <p:txBody>
            <a:bodyPr wrap="square" lIns="0" rIns="0" tIns="0" bIns="0" anchor="ctr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sz="3000" b="0" i="0">
                  <a:solidFill>
                    <a:srgbClr val="14191B"/>
                  </a:solidFill>
                  <a:latin typeface="Microsoft YaHei"/>
                  <a:ea typeface="Microsoft YaHei"/>
                  <a:cs typeface="Microsoft YaHei"/>
                </a:rPr>
                <a:t>曝光度 95%</a:t>
              </a:r>
            </a:p>
          </p:txBody>
        </p:sp>
      </p:grpSp>
      <p:grpSp>
        <p:nvGrpSpPr>
          <p:cNvPr id="122" name="card-4"/>
          <p:cNvGrpSpPr/>
          <p:nvPr/>
        </p:nvGrpSpPr>
        <p:grpSpPr>
          <a:xfrm>
            <a:off x="22431375" y="3486150"/>
            <a:ext cx="6496050" cy="12106275"/>
            <a:chOff x="22431375" y="3486150"/>
            <a:chExt cx="6496050" cy="12106275"/>
          </a:xfrm>
        </p:grpSpPr>
        <p:sp>
          <p:nvSpPr>
            <p:cNvPr id="96" name="card-4-roof"/>
            <p:cNvSpPr/>
            <p:nvPr/>
          </p:nvSpPr>
          <p:spPr>
            <a:xfrm>
              <a:off x="22450425" y="4305300"/>
              <a:ext cx="5915025" cy="600075"/>
            </a:xfrm>
            <a:custGeom>
              <a:avLst/>
              <a:gdLst/>
              <a:ahLst/>
              <a:cxnLst/>
              <a:rect l="l" t="t" r="r" b="b"/>
              <a:pathLst>
                <a:path w="5915025" h="600075">
                  <a:moveTo>
                    <a:pt x="0" y="600075"/>
                  </a:moveTo>
                  <a:lnTo>
                    <a:pt x="1419225" y="0"/>
                  </a:lnTo>
                  <a:lnTo>
                    <a:pt x="4552950" y="0"/>
                  </a:lnTo>
                  <a:lnTo>
                    <a:pt x="5915025" y="600075"/>
                  </a:lnTo>
                  <a:close/>
                </a:path>
              </a:pathLst>
            </a:custGeom>
            <a:solidFill>
              <a:srgbClr val="EDFEFF"/>
            </a:solidFill>
            <a:ln w="19050">
              <a:solidFill>
                <a:srgbClr val="03EE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7" name="card-4-icon-disc"/>
            <p:cNvSpPr/>
            <p:nvPr/>
          </p:nvSpPr>
          <p:spPr>
            <a:xfrm>
              <a:off x="24860250" y="3486150"/>
              <a:ext cx="1104900" cy="1104900"/>
            </a:xfrm>
            <a:prstGeom prst="ellipse">
              <a:avLst/>
            </a:prstGeom>
            <a:solidFill>
              <a:srgbClr val="03EE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8" name="card-4-icon-blade0"/>
            <p:cNvSpPr/>
            <p:nvPr/>
          </p:nvSpPr>
          <p:spPr>
            <a:xfrm>
              <a:off x="25180171" y="3543300"/>
              <a:ext cx="465058" cy="327098"/>
            </a:xfrm>
            <a:custGeom>
              <a:avLst/>
              <a:gdLst/>
              <a:ahLst/>
              <a:cxnLst/>
              <a:rect l="l" t="t" r="r" b="b"/>
              <a:pathLst>
                <a:path w="465058" h="327098">
                  <a:moveTo>
                    <a:pt x="143095" y="327098"/>
                  </a:moveTo>
                  <a:lnTo>
                    <a:pt x="164260" y="317453"/>
                  </a:lnTo>
                  <a:lnTo>
                    <a:pt x="186443" y="310459"/>
                  </a:lnTo>
                  <a:lnTo>
                    <a:pt x="209313" y="306220"/>
                  </a:lnTo>
                  <a:lnTo>
                    <a:pt x="232529" y="304800"/>
                  </a:lnTo>
                  <a:lnTo>
                    <a:pt x="255745" y="306220"/>
                  </a:lnTo>
                  <a:lnTo>
                    <a:pt x="278615" y="310459"/>
                  </a:lnTo>
                  <a:lnTo>
                    <a:pt x="300798" y="317453"/>
                  </a:lnTo>
                  <a:lnTo>
                    <a:pt x="321963" y="327098"/>
                  </a:lnTo>
                  <a:lnTo>
                    <a:pt x="465058" y="57976"/>
                  </a:lnTo>
                  <a:lnTo>
                    <a:pt x="410029" y="32898"/>
                  </a:lnTo>
                  <a:lnTo>
                    <a:pt x="352353" y="14713"/>
                  </a:lnTo>
                  <a:lnTo>
                    <a:pt x="292891" y="3692"/>
                  </a:lnTo>
                  <a:lnTo>
                    <a:pt x="232529" y="0"/>
                  </a:lnTo>
                  <a:lnTo>
                    <a:pt x="172167" y="3692"/>
                  </a:lnTo>
                  <a:lnTo>
                    <a:pt x="112705" y="14713"/>
                  </a:lnTo>
                  <a:lnTo>
                    <a:pt x="55029" y="32898"/>
                  </a:lnTo>
                  <a:lnTo>
                    <a:pt x="0" y="5797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9" name="card-4-icon-blade1"/>
            <p:cNvSpPr/>
            <p:nvPr/>
          </p:nvSpPr>
          <p:spPr>
            <a:xfrm>
              <a:off x="25513650" y="4045248"/>
              <a:ext cx="394048" cy="413390"/>
            </a:xfrm>
            <a:custGeom>
              <a:avLst/>
              <a:gdLst/>
              <a:ahLst/>
              <a:cxnLst/>
              <a:rect l="l" t="t" r="r" b="b"/>
              <a:pathLst>
                <a:path w="394048" h="413390">
                  <a:moveTo>
                    <a:pt x="89434" y="0"/>
                  </a:moveTo>
                  <a:lnTo>
                    <a:pt x="87205" y="23153"/>
                  </a:lnTo>
                  <a:lnTo>
                    <a:pt x="82170" y="45861"/>
                  </a:lnTo>
                  <a:lnTo>
                    <a:pt x="74406" y="67786"/>
                  </a:lnTo>
                  <a:lnTo>
                    <a:pt x="64028" y="88602"/>
                  </a:lnTo>
                  <a:lnTo>
                    <a:pt x="51190" y="107998"/>
                  </a:lnTo>
                  <a:lnTo>
                    <a:pt x="36084" y="125684"/>
                  </a:lnTo>
                  <a:lnTo>
                    <a:pt x="18936" y="141398"/>
                  </a:lnTo>
                  <a:lnTo>
                    <a:pt x="0" y="154905"/>
                  </a:lnTo>
                  <a:lnTo>
                    <a:pt x="161519" y="413390"/>
                  </a:lnTo>
                  <a:lnTo>
                    <a:pt x="210752" y="378272"/>
                  </a:lnTo>
                  <a:lnTo>
                    <a:pt x="255339" y="337416"/>
                  </a:lnTo>
                  <a:lnTo>
                    <a:pt x="294614" y="291431"/>
                  </a:lnTo>
                  <a:lnTo>
                    <a:pt x="327992" y="241002"/>
                  </a:lnTo>
                  <a:lnTo>
                    <a:pt x="354976" y="186881"/>
                  </a:lnTo>
                  <a:lnTo>
                    <a:pt x="375163" y="129875"/>
                  </a:lnTo>
                  <a:lnTo>
                    <a:pt x="388252" y="70834"/>
                  </a:lnTo>
                  <a:lnTo>
                    <a:pt x="394048" y="1063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0" name="card-4-icon-blade2"/>
            <p:cNvSpPr/>
            <p:nvPr/>
          </p:nvSpPr>
          <p:spPr>
            <a:xfrm>
              <a:off x="24917702" y="4045248"/>
              <a:ext cx="394048" cy="413390"/>
            </a:xfrm>
            <a:custGeom>
              <a:avLst/>
              <a:gdLst/>
              <a:ahLst/>
              <a:cxnLst/>
              <a:rect l="l" t="t" r="r" b="b"/>
              <a:pathLst>
                <a:path w="394048" h="413390">
                  <a:moveTo>
                    <a:pt x="394048" y="154905"/>
                  </a:moveTo>
                  <a:lnTo>
                    <a:pt x="375112" y="141398"/>
                  </a:lnTo>
                  <a:lnTo>
                    <a:pt x="357964" y="125684"/>
                  </a:lnTo>
                  <a:lnTo>
                    <a:pt x="342858" y="107998"/>
                  </a:lnTo>
                  <a:lnTo>
                    <a:pt x="330020" y="88602"/>
                  </a:lnTo>
                  <a:lnTo>
                    <a:pt x="319642" y="67786"/>
                  </a:lnTo>
                  <a:lnTo>
                    <a:pt x="311878" y="45861"/>
                  </a:lnTo>
                  <a:lnTo>
                    <a:pt x="306843" y="23153"/>
                  </a:lnTo>
                  <a:lnTo>
                    <a:pt x="304614" y="0"/>
                  </a:lnTo>
                  <a:lnTo>
                    <a:pt x="0" y="10638"/>
                  </a:lnTo>
                  <a:lnTo>
                    <a:pt x="5796" y="70834"/>
                  </a:lnTo>
                  <a:lnTo>
                    <a:pt x="18885" y="129875"/>
                  </a:lnTo>
                  <a:lnTo>
                    <a:pt x="39072" y="186881"/>
                  </a:lnTo>
                  <a:lnTo>
                    <a:pt x="66056" y="241002"/>
                  </a:lnTo>
                  <a:lnTo>
                    <a:pt x="99434" y="291431"/>
                  </a:lnTo>
                  <a:lnTo>
                    <a:pt x="138709" y="337416"/>
                  </a:lnTo>
                  <a:lnTo>
                    <a:pt x="183296" y="378272"/>
                  </a:lnTo>
                  <a:lnTo>
                    <a:pt x="232529" y="41339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1" name="card-4-icon-hub"/>
            <p:cNvSpPr/>
            <p:nvPr/>
          </p:nvSpPr>
          <p:spPr>
            <a:xfrm>
              <a:off x="25269825" y="3895725"/>
              <a:ext cx="285750" cy="285750"/>
            </a:xfrm>
            <a:prstGeom prst="ellipse">
              <a:avLst/>
            </a:prstGeom>
            <a:solidFill>
              <a:srgbClr val="03EE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2" name="card-4-panel"/>
            <p:cNvSpPr/>
            <p:nvPr/>
          </p:nvSpPr>
          <p:spPr>
            <a:xfrm>
              <a:off x="22431375" y="6238875"/>
              <a:ext cx="5972175" cy="9124950"/>
            </a:xfrm>
            <a:prstGeom prst="rect">
              <a:avLst/>
            </a:prstGeom>
            <a:solidFill>
              <a:srgbClr val="E7FC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3" name="card-4-panel-fade"/>
            <p:cNvSpPr/>
            <p:nvPr/>
          </p:nvSpPr>
          <p:spPr>
            <a:xfrm>
              <a:off x="22459950" y="11906250"/>
              <a:ext cx="5915025" cy="3457575"/>
            </a:xfrm>
            <a:prstGeom prst="rect">
              <a:avLst/>
            </a:prstGeom>
            <a:gradFill rotWithShape="1">
              <a:gsLst>
                <a:gs pos="0">
                  <a:srgbClr val="FFFFFF"/>
                </a:gs>
                <a:gs pos="100000">
                  <a:srgbClr val="E6FCFF"/>
                </a:gs>
              </a:gsLst>
              <a:lin scaled="0" ang="16200000"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4" name="card-4-head"/>
            <p:cNvSpPr/>
            <p:nvPr/>
          </p:nvSpPr>
          <p:spPr>
            <a:xfrm>
              <a:off x="22469475" y="4905375"/>
              <a:ext cx="5895975" cy="1333500"/>
            </a:xfrm>
            <a:prstGeom prst="rect">
              <a:avLst/>
            </a:prstGeom>
            <a:solidFill>
              <a:srgbClr val="03EE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5" name="card-4-headtxt"/>
            <p:cNvSpPr txBox="1"/>
            <p:nvPr/>
          </p:nvSpPr>
          <p:spPr>
            <a:xfrm>
              <a:off x="22526625" y="4905375"/>
              <a:ext cx="5972175" cy="1333500"/>
            </a:xfrm>
            <a:prstGeom prst="rect">
              <a:avLst/>
            </a:prstGeom>
            <a:noFill/>
            <a:effectLst/>
          </p:spPr>
          <p:txBody>
            <a:bodyPr wrap="squar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sz="5025" b="1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风险管理</a:t>
              </a:r>
            </a:p>
          </p:txBody>
        </p:sp>
        <p:sp>
          <p:nvSpPr>
            <p:cNvPr id="106" name="card-4-foot"/>
            <p:cNvSpPr/>
            <p:nvPr/>
          </p:nvSpPr>
          <p:spPr>
            <a:xfrm>
              <a:off x="22431375" y="15363825"/>
              <a:ext cx="5972175" cy="228600"/>
            </a:xfrm>
            <a:prstGeom prst="rect">
              <a:avLst/>
            </a:prstGeom>
            <a:solidFill>
              <a:srgbClr val="03EE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7" name="card-4-sub"/>
            <p:cNvSpPr txBox="1"/>
            <p:nvPr/>
          </p:nvSpPr>
          <p:spPr>
            <a:xfrm>
              <a:off x="23679150" y="6734175"/>
              <a:ext cx="4095750" cy="742950"/>
            </a:xfrm>
            <a:prstGeom prst="rect">
              <a:avLst/>
            </a:prstGeom>
            <a:noFill/>
            <a:effectLst/>
          </p:spPr>
          <p:txBody>
            <a:bodyPr wrap="square" lIns="0" rIns="0" tIns="0" bIns="0" anchor="ctr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sz="4500" b="1" i="0">
                  <a:solidFill>
                    <a:srgbClr val="14191B"/>
                  </a:solidFill>
                  <a:latin typeface="Microsoft YaHei"/>
                  <a:ea typeface="Microsoft YaHei"/>
                  <a:cs typeface="Microsoft YaHei"/>
                </a:rPr>
                <a:t>风险防控预案</a:t>
              </a:r>
            </a:p>
          </p:txBody>
        </p:sp>
        <p:sp>
          <p:nvSpPr>
            <p:cNvPr id="108" name="card-4-l01"/>
            <p:cNvSpPr txBox="1"/>
            <p:nvPr/>
          </p:nvSpPr>
          <p:spPr>
            <a:xfrm>
              <a:off x="23040975" y="7743825"/>
              <a:ext cx="5886450" cy="533400"/>
            </a:xfrm>
            <a:prstGeom prst="rect">
              <a:avLst/>
            </a:prstGeom>
            <a:noFill/>
            <a:effectLst/>
          </p:spPr>
          <p:txBody>
            <a:bodyPr wrap="square" lIns="0" rIns="0" tIns="0" bIns="0" anchor="ctr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sz="3000" b="0" i="0">
                  <a:solidFill>
                    <a:srgbClr val="14191B"/>
                  </a:solidFill>
                  <a:latin typeface="Microsoft YaHei"/>
                  <a:ea typeface="Microsoft YaHei"/>
                  <a:cs typeface="Microsoft YaHei"/>
                </a:rPr>
                <a:t>●触发条件：单一批次不良率</a:t>
              </a:r>
            </a:p>
          </p:txBody>
        </p:sp>
        <p:sp>
          <p:nvSpPr>
            <p:cNvPr id="109" name="card-4-l02"/>
            <p:cNvSpPr txBox="1"/>
            <p:nvPr/>
          </p:nvSpPr>
          <p:spPr>
            <a:xfrm>
              <a:off x="23374350" y="8239125"/>
              <a:ext cx="5553075" cy="533400"/>
            </a:xfrm>
            <a:prstGeom prst="rect">
              <a:avLst/>
            </a:prstGeom>
            <a:noFill/>
            <a:effectLst/>
          </p:spPr>
          <p:txBody>
            <a:bodyPr wrap="square" lIns="0" rIns="0" tIns="0" bIns="0" anchor="ctr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sz="3000" b="0" i="0">
                  <a:solidFill>
                    <a:srgbClr val="14191B"/>
                  </a:solidFill>
                  <a:latin typeface="Microsoft YaHei"/>
                  <a:ea typeface="Microsoft YaHei"/>
                  <a:cs typeface="Microsoft YaHei"/>
                </a:rPr>
                <a:t>≥ 3%，或发生Ⅰ类（严</a:t>
              </a:r>
            </a:p>
          </p:txBody>
        </p:sp>
        <p:sp>
          <p:nvSpPr>
            <p:cNvPr id="110" name="card-4-l03"/>
            <p:cNvSpPr txBox="1"/>
            <p:nvPr/>
          </p:nvSpPr>
          <p:spPr>
            <a:xfrm>
              <a:off x="23336250" y="8743950"/>
              <a:ext cx="4067175" cy="533400"/>
            </a:xfrm>
            <a:prstGeom prst="rect">
              <a:avLst/>
            </a:prstGeom>
            <a:noFill/>
            <a:effectLst/>
          </p:spPr>
          <p:txBody>
            <a:bodyPr wrap="square" lIns="0" rIns="0" tIns="0" bIns="0" anchor="ctr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sz="3000" b="0" i="0">
                  <a:solidFill>
                    <a:srgbClr val="14191B"/>
                  </a:solidFill>
                  <a:latin typeface="Microsoft YaHei"/>
                  <a:ea typeface="Microsoft YaHei"/>
                  <a:cs typeface="Microsoft YaHei"/>
                </a:rPr>
                <a:t>重）客户投诉</a:t>
              </a:r>
            </a:p>
          </p:txBody>
        </p:sp>
        <p:sp>
          <p:nvSpPr>
            <p:cNvPr id="111" name="card-4-l04"/>
            <p:cNvSpPr txBox="1"/>
            <p:nvPr/>
          </p:nvSpPr>
          <p:spPr>
            <a:xfrm>
              <a:off x="23040975" y="9744075"/>
              <a:ext cx="5886450" cy="533400"/>
            </a:xfrm>
            <a:prstGeom prst="rect">
              <a:avLst/>
            </a:prstGeom>
            <a:noFill/>
            <a:effectLst/>
          </p:spPr>
          <p:txBody>
            <a:bodyPr wrap="square" lIns="0" rIns="0" tIns="0" bIns="0" anchor="ctr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sz="3000" b="0" i="0">
                  <a:solidFill>
                    <a:srgbClr val="14191B"/>
                  </a:solidFill>
                  <a:latin typeface="Microsoft YaHei"/>
                  <a:ea typeface="Microsoft YaHei"/>
                  <a:cs typeface="Microsoft YaHei"/>
                </a:rPr>
                <a:t>●即刻冻结可疑库存，暂停相</a:t>
              </a:r>
            </a:p>
          </p:txBody>
        </p:sp>
        <p:sp>
          <p:nvSpPr>
            <p:cNvPr id="112" name="card-4-l05"/>
            <p:cNvSpPr txBox="1"/>
            <p:nvPr/>
          </p:nvSpPr>
          <p:spPr>
            <a:xfrm>
              <a:off x="23336250" y="10239375"/>
              <a:ext cx="2933700" cy="533400"/>
            </a:xfrm>
            <a:prstGeom prst="rect">
              <a:avLst/>
            </a:prstGeom>
            <a:noFill/>
            <a:effectLst/>
          </p:spPr>
          <p:txBody>
            <a:bodyPr wrap="square" lIns="0" rIns="0" tIns="0" bIns="0" anchor="ctr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sz="3000" b="0" i="0">
                  <a:solidFill>
                    <a:srgbClr val="14191B"/>
                  </a:solidFill>
                  <a:latin typeface="Microsoft YaHei"/>
                  <a:ea typeface="Microsoft YaHei"/>
                  <a:cs typeface="Microsoft YaHei"/>
                </a:rPr>
                <a:t>关产线</a:t>
              </a:r>
            </a:p>
          </p:txBody>
        </p:sp>
        <p:sp>
          <p:nvSpPr>
            <p:cNvPr id="113" name="card-4-l06"/>
            <p:cNvSpPr txBox="1"/>
            <p:nvPr/>
          </p:nvSpPr>
          <p:spPr>
            <a:xfrm>
              <a:off x="23040975" y="11239500"/>
              <a:ext cx="5886450" cy="533400"/>
            </a:xfrm>
            <a:prstGeom prst="rect">
              <a:avLst/>
            </a:prstGeom>
            <a:noFill/>
            <a:effectLst/>
          </p:spPr>
          <p:txBody>
            <a:bodyPr wrap="square" lIns="0" rIns="0" tIns="0" bIns="0" anchor="ctr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sz="3000" b="0" i="0">
                  <a:solidFill>
                    <a:srgbClr val="14191B"/>
                  </a:solidFill>
                  <a:latin typeface="Microsoft YaHei"/>
                  <a:ea typeface="Microsoft YaHei"/>
                  <a:cs typeface="Microsoft YaHei"/>
                </a:rPr>
                <a:t>●成立由质量、工艺、生产组</a:t>
              </a:r>
            </a:p>
          </p:txBody>
        </p:sp>
        <p:sp>
          <p:nvSpPr>
            <p:cNvPr id="114" name="card-4-l07"/>
            <p:cNvSpPr txBox="1"/>
            <p:nvPr/>
          </p:nvSpPr>
          <p:spPr>
            <a:xfrm>
              <a:off x="23326725" y="11744325"/>
              <a:ext cx="4838700" cy="533400"/>
            </a:xfrm>
            <a:prstGeom prst="rect">
              <a:avLst/>
            </a:prstGeom>
            <a:noFill/>
            <a:effectLst/>
          </p:spPr>
          <p:txBody>
            <a:bodyPr wrap="square" lIns="0" rIns="0" tIns="0" bIns="0" anchor="ctr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sz="3000" b="0" i="0">
                  <a:solidFill>
                    <a:srgbClr val="14191B"/>
                  </a:solidFill>
                  <a:latin typeface="Microsoft YaHei"/>
                  <a:ea typeface="Microsoft YaHei"/>
                  <a:cs typeface="Microsoft YaHei"/>
                </a:rPr>
                <a:t>成的质量攻关小组</a:t>
              </a:r>
            </a:p>
          </p:txBody>
        </p:sp>
        <p:sp>
          <p:nvSpPr>
            <p:cNvPr id="115" name="card-4-l08"/>
            <p:cNvSpPr txBox="1"/>
            <p:nvPr/>
          </p:nvSpPr>
          <p:spPr>
            <a:xfrm>
              <a:off x="23040975" y="12744450"/>
              <a:ext cx="5886450" cy="533400"/>
            </a:xfrm>
            <a:prstGeom prst="rect">
              <a:avLst/>
            </a:prstGeom>
            <a:noFill/>
            <a:effectLst/>
          </p:spPr>
          <p:txBody>
            <a:bodyPr wrap="square" lIns="0" rIns="0" tIns="0" bIns="0" anchor="ctr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sz="3000" b="0" i="0">
                  <a:solidFill>
                    <a:srgbClr val="14191B"/>
                  </a:solidFill>
                  <a:latin typeface="Microsoft YaHei"/>
                  <a:ea typeface="Microsoft YaHei"/>
                  <a:cs typeface="Microsoft YaHei"/>
                </a:rPr>
                <a:t>●24 小时内出具临时遏制措</a:t>
              </a:r>
            </a:p>
          </p:txBody>
        </p:sp>
        <p:sp>
          <p:nvSpPr>
            <p:cNvPr id="116" name="card-4-l09"/>
            <p:cNvSpPr txBox="1"/>
            <p:nvPr/>
          </p:nvSpPr>
          <p:spPr>
            <a:xfrm>
              <a:off x="23326725" y="13239750"/>
              <a:ext cx="5600700" cy="533400"/>
            </a:xfrm>
            <a:prstGeom prst="rect">
              <a:avLst/>
            </a:prstGeom>
            <a:noFill/>
            <a:effectLst/>
          </p:spPr>
          <p:txBody>
            <a:bodyPr wrap="square" lIns="0" rIns="0" tIns="0" bIns="0" anchor="ctr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sz="3000" b="0" i="0">
                  <a:solidFill>
                    <a:srgbClr val="14191B"/>
                  </a:solidFill>
                  <a:latin typeface="Microsoft YaHei"/>
                  <a:ea typeface="Microsoft YaHei"/>
                  <a:cs typeface="Microsoft YaHei"/>
                </a:rPr>
                <a:t>施报告，48 小时内提交根</a:t>
              </a:r>
            </a:p>
          </p:txBody>
        </p:sp>
        <p:sp>
          <p:nvSpPr>
            <p:cNvPr id="117" name="card-4-l10"/>
            <p:cNvSpPr txBox="1"/>
            <p:nvPr/>
          </p:nvSpPr>
          <p:spPr>
            <a:xfrm>
              <a:off x="23336250" y="13744575"/>
              <a:ext cx="5591175" cy="533400"/>
            </a:xfrm>
            <a:prstGeom prst="rect">
              <a:avLst/>
            </a:prstGeom>
            <a:noFill/>
            <a:effectLst/>
          </p:spPr>
          <p:txBody>
            <a:bodyPr wrap="square" lIns="0" rIns="0" tIns="0" bIns="0" anchor="ctr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sz="3000" b="0" i="0">
                  <a:solidFill>
                    <a:srgbClr val="14191B"/>
                  </a:solidFill>
                  <a:latin typeface="Microsoft YaHei"/>
                  <a:ea typeface="Microsoft YaHei"/>
                  <a:cs typeface="Microsoft YaHei"/>
                </a:rPr>
                <a:t>本原因分析与长期整改方案</a:t>
              </a:r>
            </a:p>
          </p:txBody>
        </p:sp>
        <p:sp>
          <p:nvSpPr>
            <p:cNvPr id="118" name="card-4-l11"/>
            <p:cNvSpPr txBox="1"/>
            <p:nvPr/>
          </p:nvSpPr>
          <p:spPr>
            <a:xfrm>
              <a:off x="23326725" y="14239875"/>
              <a:ext cx="2905125" cy="533400"/>
            </a:xfrm>
            <a:prstGeom prst="rect">
              <a:avLst/>
            </a:prstGeom>
            <a:noFill/>
            <a:effectLst/>
          </p:spPr>
          <p:txBody>
            <a:bodyPr wrap="square" lIns="0" rIns="0" tIns="0" bIns="0" anchor="ctr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sz="3000" b="0" i="0">
                  <a:solidFill>
                    <a:srgbClr val="14191B"/>
                  </a:solidFill>
                  <a:latin typeface="Microsoft YaHei"/>
                  <a:ea typeface="Microsoft YaHei"/>
                  <a:cs typeface="Microsoft YaHei"/>
                </a:rPr>
                <a:t>给客户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