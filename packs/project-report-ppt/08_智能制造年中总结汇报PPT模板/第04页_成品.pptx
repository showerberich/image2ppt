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6" name="title-block"/>
          <p:cNvGrpSpPr/>
          <p:nvPr/>
        </p:nvGrpSpPr>
        <p:grpSpPr>
          <a:xfrm>
            <a:off x="1514475" y="1285875"/>
            <a:ext cx="9567291" cy="1457325"/>
            <a:chOff x="1514475" y="1285875"/>
            <a:chExt cx="9567291" cy="1457325"/>
          </a:xfrm>
        </p:grpSpPr>
        <p:sp>
          <p:nvSpPr>
            <p:cNvPr id="4" name="badge-01"/>
            <p:cNvSpPr/>
            <p:nvPr/>
          </p:nvSpPr>
          <p:spPr>
            <a:xfrm>
              <a:off x="1514475" y="1285875"/>
              <a:ext cx="1514475" cy="1457325"/>
            </a:xfrm>
            <a:custGeom>
              <a:avLst/>
              <a:gdLst/>
              <a:ahLst/>
              <a:cxnLst/>
              <a:rect l="l" t="t" r="r" b="b"/>
              <a:pathLst>
                <a:path w="1514475" h="1457325">
                  <a:moveTo>
                    <a:pt x="285750" y="0"/>
                  </a:moveTo>
                  <a:lnTo>
                    <a:pt x="85725" y="85725"/>
                  </a:lnTo>
                  <a:lnTo>
                    <a:pt x="28575" y="171450"/>
                  </a:lnTo>
                  <a:lnTo>
                    <a:pt x="9525" y="257175"/>
                  </a:lnTo>
                  <a:lnTo>
                    <a:pt x="0" y="342900"/>
                  </a:lnTo>
                  <a:lnTo>
                    <a:pt x="0" y="428625"/>
                  </a:lnTo>
                  <a:lnTo>
                    <a:pt x="0" y="514350"/>
                  </a:lnTo>
                  <a:lnTo>
                    <a:pt x="9525" y="600075"/>
                  </a:lnTo>
                  <a:lnTo>
                    <a:pt x="28575" y="685800"/>
                  </a:lnTo>
                  <a:lnTo>
                    <a:pt x="47625" y="771525"/>
                  </a:lnTo>
                  <a:lnTo>
                    <a:pt x="66675" y="857250"/>
                  </a:lnTo>
                  <a:lnTo>
                    <a:pt x="95250" y="942975"/>
                  </a:lnTo>
                  <a:lnTo>
                    <a:pt x="133350" y="1028700"/>
                  </a:lnTo>
                  <a:lnTo>
                    <a:pt x="180975" y="1114425"/>
                  </a:lnTo>
                  <a:lnTo>
                    <a:pt x="247650" y="1200150"/>
                  </a:lnTo>
                  <a:lnTo>
                    <a:pt x="333375" y="1285875"/>
                  </a:lnTo>
                  <a:lnTo>
                    <a:pt x="438150" y="1371600"/>
                  </a:lnTo>
                  <a:lnTo>
                    <a:pt x="628650" y="1457325"/>
                  </a:lnTo>
                  <a:lnTo>
                    <a:pt x="1152525" y="1400175"/>
                  </a:lnTo>
                  <a:lnTo>
                    <a:pt x="1276350" y="1314450"/>
                  </a:lnTo>
                  <a:lnTo>
                    <a:pt x="1352550" y="1228725"/>
                  </a:lnTo>
                  <a:lnTo>
                    <a:pt x="1409700" y="1143000"/>
                  </a:lnTo>
                  <a:lnTo>
                    <a:pt x="1447800" y="1057275"/>
                  </a:lnTo>
                  <a:lnTo>
                    <a:pt x="1476375" y="971550"/>
                  </a:lnTo>
                  <a:lnTo>
                    <a:pt x="1495425" y="885825"/>
                  </a:lnTo>
                  <a:lnTo>
                    <a:pt x="1504950" y="800100"/>
                  </a:lnTo>
                  <a:lnTo>
                    <a:pt x="1514475" y="714375"/>
                  </a:lnTo>
                  <a:lnTo>
                    <a:pt x="1504950" y="628650"/>
                  </a:lnTo>
                  <a:lnTo>
                    <a:pt x="1495425" y="542925"/>
                  </a:lnTo>
                  <a:lnTo>
                    <a:pt x="1476375" y="457200"/>
                  </a:lnTo>
                  <a:lnTo>
                    <a:pt x="1447800" y="371475"/>
                  </a:lnTo>
                  <a:lnTo>
                    <a:pt x="1400175" y="285750"/>
                  </a:lnTo>
                  <a:lnTo>
                    <a:pt x="1343025" y="200025"/>
                  </a:lnTo>
                  <a:lnTo>
                    <a:pt x="1266825" y="114300"/>
                  </a:lnTo>
                  <a:lnTo>
                    <a:pt x="1114425" y="28575"/>
                  </a:lnTo>
                  <a:close/>
                </a:path>
              </a:pathLst>
            </a:cu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itle-num"/>
            <p:cNvSpPr txBox="1"/>
            <p:nvPr/>
          </p:nvSpPr>
          <p:spPr>
            <a:xfrm>
              <a:off x="2400300" y="1562100"/>
              <a:ext cx="1228725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72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6" name="title-cn"/>
            <p:cNvSpPr txBox="1"/>
            <p:nvPr/>
          </p:nvSpPr>
          <p:spPr>
            <a:xfrm>
              <a:off x="3790950" y="1562100"/>
              <a:ext cx="7290816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核心运营指标概览</a:t>
              </a:r>
            </a:p>
          </p:txBody>
        </p:sp>
      </p:grpSp>
      <p:grpSp>
        <p:nvGrpSpPr>
          <p:cNvPr id="39" name="table-head"/>
          <p:cNvGrpSpPr/>
          <p:nvPr/>
        </p:nvGrpSpPr>
        <p:grpSpPr>
          <a:xfrm>
            <a:off x="2057400" y="3714750"/>
            <a:ext cx="26365200" cy="2209800"/>
            <a:chOff x="2057400" y="3714750"/>
            <a:chExt cx="26365200" cy="2209800"/>
          </a:xfrm>
        </p:grpSpPr>
        <p:sp>
          <p:nvSpPr>
            <p:cNvPr id="7" name="table-header"/>
            <p:cNvSpPr/>
            <p:nvPr/>
          </p:nvSpPr>
          <p:spPr>
            <a:xfrm>
              <a:off x="2057400" y="3714750"/>
              <a:ext cx="26365200" cy="2209800"/>
            </a:xfrm>
            <a:prstGeom prst="rect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hdr-1"/>
            <p:cNvSpPr txBox="1"/>
            <p:nvPr/>
          </p:nvSpPr>
          <p:spPr>
            <a:xfrm>
              <a:off x="4133850" y="4276725"/>
              <a:ext cx="24003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73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指标项</a:t>
              </a:r>
            </a:p>
          </p:txBody>
        </p:sp>
        <p:sp>
          <p:nvSpPr>
            <p:cNvPr id="9" name="hdr-2"/>
            <p:cNvSpPr txBox="1"/>
            <p:nvPr/>
          </p:nvSpPr>
          <p:spPr>
            <a:xfrm>
              <a:off x="10744200" y="4276725"/>
              <a:ext cx="24003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73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实际值</a:t>
              </a:r>
            </a:p>
          </p:txBody>
        </p:sp>
        <p:sp>
          <p:nvSpPr>
            <p:cNvPr id="10" name="hdr-3"/>
            <p:cNvSpPr txBox="1"/>
            <p:nvPr/>
          </p:nvSpPr>
          <p:spPr>
            <a:xfrm>
              <a:off x="17383125" y="4276725"/>
              <a:ext cx="24003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73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目标值</a:t>
              </a:r>
            </a:p>
          </p:txBody>
        </p:sp>
        <p:sp>
          <p:nvSpPr>
            <p:cNvPr id="11" name="hdr-4"/>
            <p:cNvSpPr txBox="1"/>
            <p:nvPr/>
          </p:nvSpPr>
          <p:spPr>
            <a:xfrm>
              <a:off x="23583900" y="4276725"/>
              <a:ext cx="31242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737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同比变化</a:t>
              </a:r>
            </a:p>
          </p:txBody>
        </p:sp>
      </p:grpSp>
      <p:grpSp>
        <p:nvGrpSpPr>
          <p:cNvPr id="41" name="row-1"/>
          <p:cNvGrpSpPr/>
          <p:nvPr/>
        </p:nvGrpSpPr>
        <p:grpSpPr>
          <a:xfrm>
            <a:off x="4457700" y="6624638"/>
            <a:ext cx="23602950" cy="833437"/>
            <a:chOff x="4457700" y="6624638"/>
            <a:chExt cx="23602950" cy="833437"/>
          </a:xfrm>
        </p:grpSpPr>
        <p:sp>
          <p:nvSpPr>
            <p:cNvPr id="12" name="r1-c1"/>
            <p:cNvSpPr txBox="1"/>
            <p:nvPr/>
          </p:nvSpPr>
          <p:spPr>
            <a:xfrm>
              <a:off x="4457700" y="6624638"/>
              <a:ext cx="18478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总产量</a:t>
              </a:r>
            </a:p>
          </p:txBody>
        </p:sp>
        <p:sp>
          <p:nvSpPr>
            <p:cNvPr id="13" name="r1-c2"/>
            <p:cNvSpPr txBox="1"/>
            <p:nvPr/>
          </p:nvSpPr>
          <p:spPr>
            <a:xfrm>
              <a:off x="8963025" y="6624638"/>
              <a:ext cx="6062472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125,000 件 / 8,500 吨</a:t>
              </a:r>
            </a:p>
          </p:txBody>
        </p:sp>
        <p:sp>
          <p:nvSpPr>
            <p:cNvPr id="14" name="r1-c3"/>
            <p:cNvSpPr txBox="1"/>
            <p:nvPr/>
          </p:nvSpPr>
          <p:spPr>
            <a:xfrm>
              <a:off x="16278225" y="6624638"/>
              <a:ext cx="4505325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预算完成：102%</a:t>
              </a:r>
            </a:p>
          </p:txBody>
        </p:sp>
        <p:sp>
          <p:nvSpPr>
            <p:cNvPr id="15" name="r1-c4"/>
            <p:cNvSpPr txBox="1"/>
            <p:nvPr/>
          </p:nvSpPr>
          <p:spPr>
            <a:xfrm>
              <a:off x="23088600" y="6624638"/>
              <a:ext cx="41719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同比去年：18%</a:t>
              </a:r>
            </a:p>
          </p:txBody>
        </p:sp>
        <p:sp>
          <p:nvSpPr>
            <p:cNvPr id="16" name="r1-arrow"/>
            <p:cNvSpPr/>
            <p:nvPr/>
          </p:nvSpPr>
          <p:spPr>
            <a:xfrm>
              <a:off x="27298650" y="6705600"/>
              <a:ext cx="762000" cy="752475"/>
            </a:xfrm>
            <a:prstGeom prst="upArrow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row-2"/>
          <p:cNvGrpSpPr/>
          <p:nvPr/>
        </p:nvGrpSpPr>
        <p:grpSpPr>
          <a:xfrm>
            <a:off x="4457700" y="8843962"/>
            <a:ext cx="23602950" cy="800100"/>
            <a:chOff x="4457700" y="8843962"/>
            <a:chExt cx="23602950" cy="800100"/>
          </a:xfrm>
        </p:grpSpPr>
        <p:sp>
          <p:nvSpPr>
            <p:cNvPr id="17" name="r2-c1"/>
            <p:cNvSpPr txBox="1"/>
            <p:nvPr/>
          </p:nvSpPr>
          <p:spPr>
            <a:xfrm>
              <a:off x="4457700" y="8843962"/>
              <a:ext cx="18478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总销量</a:t>
              </a:r>
            </a:p>
          </p:txBody>
        </p:sp>
        <p:sp>
          <p:nvSpPr>
            <p:cNvPr id="18" name="r2-c2"/>
            <p:cNvSpPr txBox="1"/>
            <p:nvPr/>
          </p:nvSpPr>
          <p:spPr>
            <a:xfrm>
              <a:off x="8963025" y="8843962"/>
              <a:ext cx="6062472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118,000 件 / 8,200 吨</a:t>
              </a:r>
            </a:p>
          </p:txBody>
        </p:sp>
        <p:sp>
          <p:nvSpPr>
            <p:cNvPr id="19" name="r2-c3"/>
            <p:cNvSpPr txBox="1"/>
            <p:nvPr/>
          </p:nvSpPr>
          <p:spPr>
            <a:xfrm>
              <a:off x="16459200" y="8843962"/>
              <a:ext cx="41719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预算完成：98%</a:t>
              </a:r>
            </a:p>
          </p:txBody>
        </p:sp>
        <p:sp>
          <p:nvSpPr>
            <p:cNvPr id="20" name="r2-c4"/>
            <p:cNvSpPr txBox="1"/>
            <p:nvPr/>
          </p:nvSpPr>
          <p:spPr>
            <a:xfrm>
              <a:off x="23088600" y="8843962"/>
              <a:ext cx="41719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同比去年：22%</a:t>
              </a:r>
            </a:p>
          </p:txBody>
        </p:sp>
        <p:sp>
          <p:nvSpPr>
            <p:cNvPr id="21" name="r2-arrow"/>
            <p:cNvSpPr/>
            <p:nvPr/>
          </p:nvSpPr>
          <p:spPr>
            <a:xfrm>
              <a:off x="27298650" y="8867775"/>
              <a:ext cx="762000" cy="752475"/>
            </a:xfrm>
            <a:prstGeom prst="upArrow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row-3"/>
          <p:cNvGrpSpPr/>
          <p:nvPr/>
        </p:nvGrpSpPr>
        <p:grpSpPr>
          <a:xfrm>
            <a:off x="2952750" y="11053762"/>
            <a:ext cx="24688800" cy="800100"/>
            <a:chOff x="2952750" y="11053762"/>
            <a:chExt cx="24688800" cy="800100"/>
          </a:xfrm>
        </p:grpSpPr>
        <p:sp>
          <p:nvSpPr>
            <p:cNvPr id="22" name="r3-c1"/>
            <p:cNvSpPr txBox="1"/>
            <p:nvPr/>
          </p:nvSpPr>
          <p:spPr>
            <a:xfrm>
              <a:off x="2952750" y="11053762"/>
              <a:ext cx="4766767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准时交付率 (OTD)</a:t>
              </a:r>
            </a:p>
          </p:txBody>
        </p:sp>
        <p:sp>
          <p:nvSpPr>
            <p:cNvPr id="23" name="r3-c2"/>
            <p:cNvSpPr txBox="1"/>
            <p:nvPr/>
          </p:nvSpPr>
          <p:spPr>
            <a:xfrm>
              <a:off x="9334500" y="11053762"/>
              <a:ext cx="5210175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当前达成率：96.5%</a:t>
              </a:r>
            </a:p>
          </p:txBody>
        </p:sp>
        <p:sp>
          <p:nvSpPr>
            <p:cNvPr id="24" name="r3-c3"/>
            <p:cNvSpPr txBox="1"/>
            <p:nvPr/>
          </p:nvSpPr>
          <p:spPr>
            <a:xfrm>
              <a:off x="16173450" y="11053762"/>
              <a:ext cx="47434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年度目标值：97%</a:t>
              </a:r>
            </a:p>
          </p:txBody>
        </p:sp>
        <p:sp>
          <p:nvSpPr>
            <p:cNvPr id="25" name="r3-c4"/>
            <p:cNvSpPr txBox="1"/>
            <p:nvPr/>
          </p:nvSpPr>
          <p:spPr>
            <a:xfrm>
              <a:off x="22593300" y="11053762"/>
              <a:ext cx="50482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距离目标仅差 0.5%</a:t>
              </a:r>
            </a:p>
          </p:txBody>
        </p:sp>
      </p:grpSp>
      <p:grpSp>
        <p:nvGrpSpPr>
          <p:cNvPr id="40" name="row-4"/>
          <p:cNvGrpSpPr/>
          <p:nvPr/>
        </p:nvGrpSpPr>
        <p:grpSpPr>
          <a:xfrm>
            <a:off x="3019425" y="13273088"/>
            <a:ext cx="25165050" cy="800100"/>
            <a:chOff x="3019425" y="13273088"/>
            <a:chExt cx="25165050" cy="800100"/>
          </a:xfrm>
        </p:grpSpPr>
        <p:sp>
          <p:nvSpPr>
            <p:cNvPr id="26" name="r4-c1"/>
            <p:cNvSpPr txBox="1"/>
            <p:nvPr/>
          </p:nvSpPr>
          <p:spPr>
            <a:xfrm>
              <a:off x="3019425" y="13273088"/>
              <a:ext cx="475488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成品库存周转天数</a:t>
              </a:r>
            </a:p>
          </p:txBody>
        </p:sp>
        <p:sp>
          <p:nvSpPr>
            <p:cNvPr id="27" name="r4-c2"/>
            <p:cNvSpPr txBox="1"/>
            <p:nvPr/>
          </p:nvSpPr>
          <p:spPr>
            <a:xfrm>
              <a:off x="9753600" y="13273088"/>
              <a:ext cx="4433926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实际天数：28 天</a:t>
              </a:r>
            </a:p>
          </p:txBody>
        </p:sp>
        <p:sp>
          <p:nvSpPr>
            <p:cNvPr id="28" name="r4-c3"/>
            <p:cNvSpPr txBox="1"/>
            <p:nvPr/>
          </p:nvSpPr>
          <p:spPr>
            <a:xfrm>
              <a:off x="16992600" y="13273088"/>
              <a:ext cx="32575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目标：32 天</a:t>
              </a:r>
            </a:p>
          </p:txBody>
        </p:sp>
        <p:sp>
          <p:nvSpPr>
            <p:cNvPr id="29" name="r4-c4"/>
            <p:cNvSpPr txBox="1"/>
            <p:nvPr/>
          </p:nvSpPr>
          <p:spPr>
            <a:xfrm>
              <a:off x="23155275" y="13273088"/>
              <a:ext cx="4089197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同比优化：5 天</a:t>
              </a:r>
            </a:p>
          </p:txBody>
        </p:sp>
        <p:sp>
          <p:nvSpPr>
            <p:cNvPr id="30" name="r4-arrow"/>
            <p:cNvSpPr/>
            <p:nvPr/>
          </p:nvSpPr>
          <p:spPr>
            <a:xfrm>
              <a:off x="27422475" y="13287375"/>
              <a:ext cx="762000" cy="752475"/>
            </a:xfrm>
            <a:prstGeom prst="downArrow">
              <a:avLst/>
            </a:pr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1" name="sep-1"/>
          <p:cNvSpPr/>
          <p:nvPr/>
        </p:nvSpPr>
        <p:spPr>
          <a:xfrm>
            <a:off x="2085975" y="8086725"/>
            <a:ext cx="26384250" cy="47625"/>
          </a:xfrm>
          <a:prstGeom prst="rect">
            <a:avLst/>
          </a:prstGeom>
          <a:solidFill>
            <a:srgbClr val="B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p-2"/>
          <p:cNvSpPr/>
          <p:nvPr/>
        </p:nvSpPr>
        <p:spPr>
          <a:xfrm>
            <a:off x="2085975" y="10372725"/>
            <a:ext cx="26384250" cy="47625"/>
          </a:xfrm>
          <a:prstGeom prst="rect">
            <a:avLst/>
          </a:prstGeom>
          <a:solidFill>
            <a:srgbClr val="B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ep-3"/>
          <p:cNvSpPr/>
          <p:nvPr/>
        </p:nvSpPr>
        <p:spPr>
          <a:xfrm>
            <a:off x="2085975" y="12553950"/>
            <a:ext cx="26384250" cy="47625"/>
          </a:xfrm>
          <a:prstGeom prst="rect">
            <a:avLst/>
          </a:prstGeom>
          <a:solidFill>
            <a:srgbClr val="B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ble-bottom"/>
          <p:cNvSpPr/>
          <p:nvPr/>
        </p:nvSpPr>
        <p:spPr>
          <a:xfrm>
            <a:off x="2085975" y="14744700"/>
            <a:ext cx="26384250" cy="76200"/>
          </a:xfrm>
          <a:prstGeom prst="rect">
            <a:avLst/>
          </a:prstGeom>
          <a:solidFill>
            <a:srgbClr val="03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