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250900" cy="15354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6250900" cy="15354300"/>
          </a:xfrm>
          <a:prstGeom prst="rect">
            <a:avLst/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n-L1"/>
          <p:cNvSpPr/>
          <p:nvPr/>
        </p:nvSpPr>
        <p:spPr>
          <a:xfrm>
            <a:off x="8172450" y="1543050"/>
            <a:ext cx="4971098" cy="3676650"/>
          </a:xfrm>
          <a:custGeom>
            <a:avLst/>
            <a:gdLst/>
            <a:ahLst/>
            <a:cxnLst/>
            <a:rect l="l" t="t" r="r" b="b"/>
            <a:pathLst>
              <a:path w="4971098" h="3676650">
                <a:moveTo>
                  <a:pt x="0" y="0"/>
                </a:moveTo>
                <a:lnTo>
                  <a:pt x="2423160" y="0"/>
                </a:lnTo>
                <a:lnTo>
                  <a:pt x="2460308" y="1905"/>
                </a:lnTo>
                <a:lnTo>
                  <a:pt x="2494598" y="6668"/>
                </a:lnTo>
                <a:lnTo>
                  <a:pt x="2528888" y="14288"/>
                </a:lnTo>
                <a:lnTo>
                  <a:pt x="2561272" y="26670"/>
                </a:lnTo>
                <a:lnTo>
                  <a:pt x="2591752" y="40958"/>
                </a:lnTo>
                <a:lnTo>
                  <a:pt x="2621280" y="59055"/>
                </a:lnTo>
                <a:lnTo>
                  <a:pt x="2649855" y="80010"/>
                </a:lnTo>
                <a:lnTo>
                  <a:pt x="2676525" y="104775"/>
                </a:lnTo>
                <a:lnTo>
                  <a:pt x="2676525" y="104775"/>
                </a:lnTo>
                <a:lnTo>
                  <a:pt x="2701290" y="131445"/>
                </a:lnTo>
                <a:lnTo>
                  <a:pt x="2722245" y="160020"/>
                </a:lnTo>
                <a:lnTo>
                  <a:pt x="2740342" y="189548"/>
                </a:lnTo>
                <a:lnTo>
                  <a:pt x="2754630" y="220028"/>
                </a:lnTo>
                <a:lnTo>
                  <a:pt x="2767012" y="252412"/>
                </a:lnTo>
                <a:lnTo>
                  <a:pt x="2774632" y="286702"/>
                </a:lnTo>
                <a:lnTo>
                  <a:pt x="2779395" y="320992"/>
                </a:lnTo>
                <a:lnTo>
                  <a:pt x="2781300" y="358140"/>
                </a:lnTo>
                <a:lnTo>
                  <a:pt x="2781300" y="1604010"/>
                </a:lnTo>
                <a:lnTo>
                  <a:pt x="2783205" y="1641158"/>
                </a:lnTo>
                <a:lnTo>
                  <a:pt x="2787968" y="1675448"/>
                </a:lnTo>
                <a:lnTo>
                  <a:pt x="2795588" y="1709738"/>
                </a:lnTo>
                <a:lnTo>
                  <a:pt x="2807970" y="1742122"/>
                </a:lnTo>
                <a:lnTo>
                  <a:pt x="2822258" y="1772602"/>
                </a:lnTo>
                <a:lnTo>
                  <a:pt x="2840355" y="1802130"/>
                </a:lnTo>
                <a:lnTo>
                  <a:pt x="2861310" y="1830705"/>
                </a:lnTo>
                <a:lnTo>
                  <a:pt x="2886075" y="1857375"/>
                </a:lnTo>
                <a:lnTo>
                  <a:pt x="2886075" y="1857375"/>
                </a:lnTo>
                <a:lnTo>
                  <a:pt x="2912745" y="1882140"/>
                </a:lnTo>
                <a:lnTo>
                  <a:pt x="2941320" y="1903095"/>
                </a:lnTo>
                <a:lnTo>
                  <a:pt x="2970848" y="1921192"/>
                </a:lnTo>
                <a:lnTo>
                  <a:pt x="3001328" y="1935480"/>
                </a:lnTo>
                <a:lnTo>
                  <a:pt x="3033712" y="1947862"/>
                </a:lnTo>
                <a:lnTo>
                  <a:pt x="3068002" y="1955482"/>
                </a:lnTo>
                <a:lnTo>
                  <a:pt x="3102292" y="1960245"/>
                </a:lnTo>
                <a:lnTo>
                  <a:pt x="3139440" y="1962150"/>
                </a:lnTo>
                <a:lnTo>
                  <a:pt x="4706302" y="1962150"/>
                </a:lnTo>
                <a:lnTo>
                  <a:pt x="4738688" y="1964055"/>
                </a:lnTo>
                <a:lnTo>
                  <a:pt x="4768215" y="1969770"/>
                </a:lnTo>
                <a:lnTo>
                  <a:pt x="4796790" y="1978342"/>
                </a:lnTo>
                <a:lnTo>
                  <a:pt x="4822508" y="1990725"/>
                </a:lnTo>
                <a:lnTo>
                  <a:pt x="4846320" y="2006918"/>
                </a:lnTo>
                <a:lnTo>
                  <a:pt x="4868228" y="2026920"/>
                </a:lnTo>
                <a:lnTo>
                  <a:pt x="4887278" y="2049780"/>
                </a:lnTo>
                <a:lnTo>
                  <a:pt x="4905375" y="2076450"/>
                </a:lnTo>
                <a:lnTo>
                  <a:pt x="4905375" y="2076450"/>
                </a:lnTo>
                <a:lnTo>
                  <a:pt x="4920615" y="2105025"/>
                </a:lnTo>
                <a:lnTo>
                  <a:pt x="4934902" y="2134552"/>
                </a:lnTo>
                <a:lnTo>
                  <a:pt x="4946332" y="2165032"/>
                </a:lnTo>
                <a:lnTo>
                  <a:pt x="4954905" y="2195512"/>
                </a:lnTo>
                <a:lnTo>
                  <a:pt x="4962525" y="2225992"/>
                </a:lnTo>
                <a:lnTo>
                  <a:pt x="4967288" y="2258378"/>
                </a:lnTo>
                <a:lnTo>
                  <a:pt x="4970145" y="2289810"/>
                </a:lnTo>
                <a:lnTo>
                  <a:pt x="4971098" y="2323148"/>
                </a:lnTo>
                <a:lnTo>
                  <a:pt x="4962525" y="367665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-R1"/>
          <p:cNvSpPr/>
          <p:nvPr/>
        </p:nvSpPr>
        <p:spPr>
          <a:xfrm>
            <a:off x="13107352" y="1543050"/>
            <a:ext cx="4971098" cy="3676650"/>
          </a:xfrm>
          <a:custGeom>
            <a:avLst/>
            <a:gdLst/>
            <a:ahLst/>
            <a:cxnLst/>
            <a:rect l="l" t="t" r="r" b="b"/>
            <a:pathLst>
              <a:path w="4971098" h="3676650">
                <a:moveTo>
                  <a:pt x="4971098" y="0"/>
                </a:moveTo>
                <a:lnTo>
                  <a:pt x="2547938" y="0"/>
                </a:lnTo>
                <a:lnTo>
                  <a:pt x="2510790" y="1905"/>
                </a:lnTo>
                <a:lnTo>
                  <a:pt x="2476500" y="6668"/>
                </a:lnTo>
                <a:lnTo>
                  <a:pt x="2442210" y="14288"/>
                </a:lnTo>
                <a:lnTo>
                  <a:pt x="2409826" y="26670"/>
                </a:lnTo>
                <a:lnTo>
                  <a:pt x="2379346" y="40958"/>
                </a:lnTo>
                <a:lnTo>
                  <a:pt x="2349818" y="59055"/>
                </a:lnTo>
                <a:lnTo>
                  <a:pt x="2321243" y="80010"/>
                </a:lnTo>
                <a:lnTo>
                  <a:pt x="2294573" y="104775"/>
                </a:lnTo>
                <a:lnTo>
                  <a:pt x="2294573" y="104775"/>
                </a:lnTo>
                <a:lnTo>
                  <a:pt x="2269808" y="131445"/>
                </a:lnTo>
                <a:lnTo>
                  <a:pt x="2248853" y="160020"/>
                </a:lnTo>
                <a:lnTo>
                  <a:pt x="2230756" y="189548"/>
                </a:lnTo>
                <a:lnTo>
                  <a:pt x="2216468" y="220028"/>
                </a:lnTo>
                <a:lnTo>
                  <a:pt x="2204086" y="252412"/>
                </a:lnTo>
                <a:lnTo>
                  <a:pt x="2196466" y="286702"/>
                </a:lnTo>
                <a:lnTo>
                  <a:pt x="2191703" y="320992"/>
                </a:lnTo>
                <a:lnTo>
                  <a:pt x="2189798" y="358140"/>
                </a:lnTo>
                <a:lnTo>
                  <a:pt x="2189798" y="1604010"/>
                </a:lnTo>
                <a:lnTo>
                  <a:pt x="2187893" y="1641158"/>
                </a:lnTo>
                <a:lnTo>
                  <a:pt x="2183130" y="1675448"/>
                </a:lnTo>
                <a:lnTo>
                  <a:pt x="2175510" y="1709738"/>
                </a:lnTo>
                <a:lnTo>
                  <a:pt x="2163128" y="1742122"/>
                </a:lnTo>
                <a:lnTo>
                  <a:pt x="2148840" y="1772602"/>
                </a:lnTo>
                <a:lnTo>
                  <a:pt x="2130743" y="1802130"/>
                </a:lnTo>
                <a:lnTo>
                  <a:pt x="2109788" y="1830705"/>
                </a:lnTo>
                <a:lnTo>
                  <a:pt x="2085023" y="1857375"/>
                </a:lnTo>
                <a:lnTo>
                  <a:pt x="2085023" y="1857375"/>
                </a:lnTo>
                <a:lnTo>
                  <a:pt x="2058353" y="1882140"/>
                </a:lnTo>
                <a:lnTo>
                  <a:pt x="2029778" y="1903095"/>
                </a:lnTo>
                <a:lnTo>
                  <a:pt x="2000250" y="1921192"/>
                </a:lnTo>
                <a:lnTo>
                  <a:pt x="1969770" y="1935480"/>
                </a:lnTo>
                <a:lnTo>
                  <a:pt x="1937386" y="1947862"/>
                </a:lnTo>
                <a:lnTo>
                  <a:pt x="1903096" y="1955482"/>
                </a:lnTo>
                <a:lnTo>
                  <a:pt x="1868806" y="1960245"/>
                </a:lnTo>
                <a:lnTo>
                  <a:pt x="1831658" y="1962150"/>
                </a:lnTo>
                <a:lnTo>
                  <a:pt x="264796" y="1962150"/>
                </a:lnTo>
                <a:lnTo>
                  <a:pt x="232410" y="1964055"/>
                </a:lnTo>
                <a:lnTo>
                  <a:pt x="202883" y="1969770"/>
                </a:lnTo>
                <a:lnTo>
                  <a:pt x="174308" y="1978342"/>
                </a:lnTo>
                <a:lnTo>
                  <a:pt x="148590" y="1990725"/>
                </a:lnTo>
                <a:lnTo>
                  <a:pt x="124778" y="2006918"/>
                </a:lnTo>
                <a:lnTo>
                  <a:pt x="102870" y="2026920"/>
                </a:lnTo>
                <a:lnTo>
                  <a:pt x="83820" y="2049780"/>
                </a:lnTo>
                <a:lnTo>
                  <a:pt x="65723" y="2076450"/>
                </a:lnTo>
                <a:lnTo>
                  <a:pt x="65723" y="2076450"/>
                </a:lnTo>
                <a:lnTo>
                  <a:pt x="50483" y="2105025"/>
                </a:lnTo>
                <a:lnTo>
                  <a:pt x="36196" y="2134552"/>
                </a:lnTo>
                <a:lnTo>
                  <a:pt x="24766" y="2165032"/>
                </a:lnTo>
                <a:lnTo>
                  <a:pt x="16193" y="2195512"/>
                </a:lnTo>
                <a:lnTo>
                  <a:pt x="8573" y="2225992"/>
                </a:lnTo>
                <a:lnTo>
                  <a:pt x="3810" y="2258378"/>
                </a:lnTo>
                <a:lnTo>
                  <a:pt x="953" y="2289810"/>
                </a:lnTo>
                <a:lnTo>
                  <a:pt x="0" y="2323148"/>
                </a:lnTo>
                <a:lnTo>
                  <a:pt x="8573" y="367665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n-L2"/>
          <p:cNvSpPr/>
          <p:nvPr/>
        </p:nvSpPr>
        <p:spPr>
          <a:xfrm>
            <a:off x="8172450" y="4248150"/>
            <a:ext cx="2400300" cy="2743200"/>
          </a:xfrm>
          <a:custGeom>
            <a:avLst/>
            <a:gdLst/>
            <a:ahLst/>
            <a:cxnLst/>
            <a:rect l="l" t="t" r="r" b="b"/>
            <a:pathLst>
              <a:path w="2400300" h="2743200">
                <a:moveTo>
                  <a:pt x="0" y="0"/>
                </a:moveTo>
                <a:lnTo>
                  <a:pt x="803910" y="0"/>
                </a:lnTo>
                <a:lnTo>
                  <a:pt x="841058" y="1905"/>
                </a:lnTo>
                <a:lnTo>
                  <a:pt x="875348" y="6668"/>
                </a:lnTo>
                <a:lnTo>
                  <a:pt x="909638" y="14288"/>
                </a:lnTo>
                <a:lnTo>
                  <a:pt x="942022" y="26670"/>
                </a:lnTo>
                <a:lnTo>
                  <a:pt x="972502" y="40958"/>
                </a:lnTo>
                <a:lnTo>
                  <a:pt x="1002030" y="59055"/>
                </a:lnTo>
                <a:lnTo>
                  <a:pt x="1030605" y="80010"/>
                </a:lnTo>
                <a:lnTo>
                  <a:pt x="1057275" y="104775"/>
                </a:lnTo>
                <a:lnTo>
                  <a:pt x="1057275" y="104775"/>
                </a:lnTo>
                <a:lnTo>
                  <a:pt x="1082040" y="131445"/>
                </a:lnTo>
                <a:lnTo>
                  <a:pt x="1102995" y="160020"/>
                </a:lnTo>
                <a:lnTo>
                  <a:pt x="1121092" y="189548"/>
                </a:lnTo>
                <a:lnTo>
                  <a:pt x="1135380" y="220028"/>
                </a:lnTo>
                <a:lnTo>
                  <a:pt x="1147762" y="252412"/>
                </a:lnTo>
                <a:lnTo>
                  <a:pt x="1155382" y="286702"/>
                </a:lnTo>
                <a:lnTo>
                  <a:pt x="1160145" y="320992"/>
                </a:lnTo>
                <a:lnTo>
                  <a:pt x="1162050" y="358140"/>
                </a:lnTo>
                <a:lnTo>
                  <a:pt x="1162050" y="2385060"/>
                </a:lnTo>
                <a:lnTo>
                  <a:pt x="1163955" y="2422208"/>
                </a:lnTo>
                <a:lnTo>
                  <a:pt x="1168718" y="2456498"/>
                </a:lnTo>
                <a:lnTo>
                  <a:pt x="1176338" y="2490788"/>
                </a:lnTo>
                <a:lnTo>
                  <a:pt x="1188720" y="2523172"/>
                </a:lnTo>
                <a:lnTo>
                  <a:pt x="1203008" y="2553652"/>
                </a:lnTo>
                <a:lnTo>
                  <a:pt x="1221105" y="2583180"/>
                </a:lnTo>
                <a:lnTo>
                  <a:pt x="1242060" y="2611755"/>
                </a:lnTo>
                <a:lnTo>
                  <a:pt x="1266825" y="2638425"/>
                </a:lnTo>
                <a:lnTo>
                  <a:pt x="1266825" y="2638425"/>
                </a:lnTo>
                <a:lnTo>
                  <a:pt x="1293495" y="2663190"/>
                </a:lnTo>
                <a:lnTo>
                  <a:pt x="1322070" y="2684145"/>
                </a:lnTo>
                <a:lnTo>
                  <a:pt x="1351598" y="2702242"/>
                </a:lnTo>
                <a:lnTo>
                  <a:pt x="1382078" y="2716530"/>
                </a:lnTo>
                <a:lnTo>
                  <a:pt x="1414462" y="2728912"/>
                </a:lnTo>
                <a:lnTo>
                  <a:pt x="1448752" y="2736532"/>
                </a:lnTo>
                <a:lnTo>
                  <a:pt x="1483042" y="2741295"/>
                </a:lnTo>
                <a:lnTo>
                  <a:pt x="1520190" y="2743200"/>
                </a:lnTo>
                <a:lnTo>
                  <a:pt x="2400300" y="274320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-R2"/>
          <p:cNvSpPr/>
          <p:nvPr/>
        </p:nvSpPr>
        <p:spPr>
          <a:xfrm>
            <a:off x="15678150" y="4248150"/>
            <a:ext cx="2400300" cy="2743200"/>
          </a:xfrm>
          <a:custGeom>
            <a:avLst/>
            <a:gdLst/>
            <a:ahLst/>
            <a:cxnLst/>
            <a:rect l="l" t="t" r="r" b="b"/>
            <a:pathLst>
              <a:path w="2400300" h="2743200">
                <a:moveTo>
                  <a:pt x="2400300" y="0"/>
                </a:moveTo>
                <a:lnTo>
                  <a:pt x="1596390" y="0"/>
                </a:lnTo>
                <a:lnTo>
                  <a:pt x="1559242" y="1905"/>
                </a:lnTo>
                <a:lnTo>
                  <a:pt x="1524952" y="6668"/>
                </a:lnTo>
                <a:lnTo>
                  <a:pt x="1490662" y="14288"/>
                </a:lnTo>
                <a:lnTo>
                  <a:pt x="1458278" y="26670"/>
                </a:lnTo>
                <a:lnTo>
                  <a:pt x="1427798" y="40958"/>
                </a:lnTo>
                <a:lnTo>
                  <a:pt x="1398270" y="59055"/>
                </a:lnTo>
                <a:lnTo>
                  <a:pt x="1369695" y="80010"/>
                </a:lnTo>
                <a:lnTo>
                  <a:pt x="1343025" y="104775"/>
                </a:lnTo>
                <a:lnTo>
                  <a:pt x="1343025" y="104775"/>
                </a:lnTo>
                <a:lnTo>
                  <a:pt x="1318260" y="131445"/>
                </a:lnTo>
                <a:lnTo>
                  <a:pt x="1297305" y="160020"/>
                </a:lnTo>
                <a:lnTo>
                  <a:pt x="1279208" y="189548"/>
                </a:lnTo>
                <a:lnTo>
                  <a:pt x="1264920" y="220028"/>
                </a:lnTo>
                <a:lnTo>
                  <a:pt x="1252538" y="252412"/>
                </a:lnTo>
                <a:lnTo>
                  <a:pt x="1244918" y="286702"/>
                </a:lnTo>
                <a:lnTo>
                  <a:pt x="1240155" y="320992"/>
                </a:lnTo>
                <a:lnTo>
                  <a:pt x="1238250" y="358140"/>
                </a:lnTo>
                <a:lnTo>
                  <a:pt x="1238250" y="2385060"/>
                </a:lnTo>
                <a:lnTo>
                  <a:pt x="1236345" y="2422208"/>
                </a:lnTo>
                <a:lnTo>
                  <a:pt x="1231582" y="2456498"/>
                </a:lnTo>
                <a:lnTo>
                  <a:pt x="1223962" y="2490788"/>
                </a:lnTo>
                <a:lnTo>
                  <a:pt x="1211580" y="2523172"/>
                </a:lnTo>
                <a:lnTo>
                  <a:pt x="1197292" y="2553652"/>
                </a:lnTo>
                <a:lnTo>
                  <a:pt x="1179195" y="2583180"/>
                </a:lnTo>
                <a:lnTo>
                  <a:pt x="1158240" y="2611755"/>
                </a:lnTo>
                <a:lnTo>
                  <a:pt x="1133475" y="2638425"/>
                </a:lnTo>
                <a:lnTo>
                  <a:pt x="1133475" y="2638425"/>
                </a:lnTo>
                <a:lnTo>
                  <a:pt x="1106805" y="2663190"/>
                </a:lnTo>
                <a:lnTo>
                  <a:pt x="1078230" y="2684145"/>
                </a:lnTo>
                <a:lnTo>
                  <a:pt x="1048702" y="2702242"/>
                </a:lnTo>
                <a:lnTo>
                  <a:pt x="1018222" y="2716530"/>
                </a:lnTo>
                <a:lnTo>
                  <a:pt x="985838" y="2728912"/>
                </a:lnTo>
                <a:lnTo>
                  <a:pt x="951548" y="2736532"/>
                </a:lnTo>
                <a:lnTo>
                  <a:pt x="917258" y="2741295"/>
                </a:lnTo>
                <a:lnTo>
                  <a:pt x="880110" y="2743200"/>
                </a:lnTo>
                <a:lnTo>
                  <a:pt x="0" y="274320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n-L3"/>
          <p:cNvSpPr/>
          <p:nvPr/>
        </p:nvSpPr>
        <p:spPr>
          <a:xfrm>
            <a:off x="8172450" y="6991350"/>
            <a:ext cx="2400300" cy="0"/>
          </a:xfrm>
          <a:custGeom>
            <a:avLst/>
            <a:gdLst/>
            <a:ahLst/>
            <a:cxnLst/>
            <a:rect l="l" t="t" r="r" b="b"/>
            <a:pathLst>
              <a:path w="2400300" h="0">
                <a:moveTo>
                  <a:pt x="0" y="0"/>
                </a:moveTo>
                <a:lnTo>
                  <a:pt x="2400300" y="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n-R3"/>
          <p:cNvSpPr/>
          <p:nvPr/>
        </p:nvSpPr>
        <p:spPr>
          <a:xfrm>
            <a:off x="15678150" y="6991350"/>
            <a:ext cx="2400300" cy="0"/>
          </a:xfrm>
          <a:custGeom>
            <a:avLst/>
            <a:gdLst/>
            <a:ahLst/>
            <a:cxnLst/>
            <a:rect l="l" t="t" r="r" b="b"/>
            <a:pathLst>
              <a:path w="2400300" h="0">
                <a:moveTo>
                  <a:pt x="2400300" y="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nn-L4"/>
          <p:cNvSpPr/>
          <p:nvPr/>
        </p:nvSpPr>
        <p:spPr>
          <a:xfrm>
            <a:off x="8172450" y="6991350"/>
            <a:ext cx="1371600" cy="2771775"/>
          </a:xfrm>
          <a:custGeom>
            <a:avLst/>
            <a:gdLst/>
            <a:ahLst/>
            <a:cxnLst/>
            <a:rect l="l" t="t" r="r" b="b"/>
            <a:pathLst>
              <a:path w="1371600" h="2771775">
                <a:moveTo>
                  <a:pt x="0" y="2771775"/>
                </a:moveTo>
                <a:lnTo>
                  <a:pt x="803910" y="2771775"/>
                </a:lnTo>
                <a:lnTo>
                  <a:pt x="841058" y="2769870"/>
                </a:lnTo>
                <a:lnTo>
                  <a:pt x="875348" y="2765108"/>
                </a:lnTo>
                <a:lnTo>
                  <a:pt x="909638" y="2757488"/>
                </a:lnTo>
                <a:lnTo>
                  <a:pt x="942022" y="2745105"/>
                </a:lnTo>
                <a:lnTo>
                  <a:pt x="972502" y="2730818"/>
                </a:lnTo>
                <a:lnTo>
                  <a:pt x="1002030" y="2712720"/>
                </a:lnTo>
                <a:lnTo>
                  <a:pt x="1030605" y="2691765"/>
                </a:lnTo>
                <a:lnTo>
                  <a:pt x="1057275" y="2667000"/>
                </a:lnTo>
                <a:lnTo>
                  <a:pt x="1057275" y="2667000"/>
                </a:lnTo>
                <a:lnTo>
                  <a:pt x="1082040" y="2640330"/>
                </a:lnTo>
                <a:lnTo>
                  <a:pt x="1102995" y="2611755"/>
                </a:lnTo>
                <a:lnTo>
                  <a:pt x="1121092" y="2582228"/>
                </a:lnTo>
                <a:lnTo>
                  <a:pt x="1135380" y="2551748"/>
                </a:lnTo>
                <a:lnTo>
                  <a:pt x="1147762" y="2519362"/>
                </a:lnTo>
                <a:lnTo>
                  <a:pt x="1155382" y="2485072"/>
                </a:lnTo>
                <a:lnTo>
                  <a:pt x="1160145" y="2450782"/>
                </a:lnTo>
                <a:lnTo>
                  <a:pt x="1162050" y="2413635"/>
                </a:lnTo>
                <a:lnTo>
                  <a:pt x="1162050" y="358140"/>
                </a:lnTo>
                <a:lnTo>
                  <a:pt x="1163955" y="320992"/>
                </a:lnTo>
                <a:lnTo>
                  <a:pt x="1168718" y="286702"/>
                </a:lnTo>
                <a:lnTo>
                  <a:pt x="1176338" y="252412"/>
                </a:lnTo>
                <a:lnTo>
                  <a:pt x="1188720" y="220028"/>
                </a:lnTo>
                <a:lnTo>
                  <a:pt x="1203008" y="189548"/>
                </a:lnTo>
                <a:lnTo>
                  <a:pt x="1221105" y="160020"/>
                </a:lnTo>
                <a:lnTo>
                  <a:pt x="1242060" y="131445"/>
                </a:lnTo>
                <a:lnTo>
                  <a:pt x="1266825" y="104775"/>
                </a:lnTo>
                <a:lnTo>
                  <a:pt x="1371600" y="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n-R4"/>
          <p:cNvSpPr/>
          <p:nvPr/>
        </p:nvSpPr>
        <p:spPr>
          <a:xfrm>
            <a:off x="16706850" y="6991350"/>
            <a:ext cx="1371600" cy="2771775"/>
          </a:xfrm>
          <a:custGeom>
            <a:avLst/>
            <a:gdLst/>
            <a:ahLst/>
            <a:cxnLst/>
            <a:rect l="l" t="t" r="r" b="b"/>
            <a:pathLst>
              <a:path w="1371600" h="2771775">
                <a:moveTo>
                  <a:pt x="1371600" y="2771775"/>
                </a:moveTo>
                <a:lnTo>
                  <a:pt x="567690" y="2771775"/>
                </a:lnTo>
                <a:lnTo>
                  <a:pt x="530542" y="2769870"/>
                </a:lnTo>
                <a:lnTo>
                  <a:pt x="496252" y="2765108"/>
                </a:lnTo>
                <a:lnTo>
                  <a:pt x="461962" y="2757488"/>
                </a:lnTo>
                <a:lnTo>
                  <a:pt x="429578" y="2745105"/>
                </a:lnTo>
                <a:lnTo>
                  <a:pt x="399098" y="2730818"/>
                </a:lnTo>
                <a:lnTo>
                  <a:pt x="369570" y="2712720"/>
                </a:lnTo>
                <a:lnTo>
                  <a:pt x="340995" y="2691765"/>
                </a:lnTo>
                <a:lnTo>
                  <a:pt x="314325" y="2667000"/>
                </a:lnTo>
                <a:lnTo>
                  <a:pt x="314325" y="2667000"/>
                </a:lnTo>
                <a:lnTo>
                  <a:pt x="289560" y="2640330"/>
                </a:lnTo>
                <a:lnTo>
                  <a:pt x="268605" y="2611755"/>
                </a:lnTo>
                <a:lnTo>
                  <a:pt x="250508" y="2582228"/>
                </a:lnTo>
                <a:lnTo>
                  <a:pt x="236220" y="2551748"/>
                </a:lnTo>
                <a:lnTo>
                  <a:pt x="223838" y="2519362"/>
                </a:lnTo>
                <a:lnTo>
                  <a:pt x="216218" y="2485072"/>
                </a:lnTo>
                <a:lnTo>
                  <a:pt x="211455" y="2450782"/>
                </a:lnTo>
                <a:lnTo>
                  <a:pt x="209550" y="2413635"/>
                </a:lnTo>
                <a:lnTo>
                  <a:pt x="209550" y="358140"/>
                </a:lnTo>
                <a:lnTo>
                  <a:pt x="207645" y="320992"/>
                </a:lnTo>
                <a:lnTo>
                  <a:pt x="202882" y="286702"/>
                </a:lnTo>
                <a:lnTo>
                  <a:pt x="195262" y="252412"/>
                </a:lnTo>
                <a:lnTo>
                  <a:pt x="182880" y="220028"/>
                </a:lnTo>
                <a:lnTo>
                  <a:pt x="168592" y="189548"/>
                </a:lnTo>
                <a:lnTo>
                  <a:pt x="150495" y="160020"/>
                </a:lnTo>
                <a:lnTo>
                  <a:pt x="129540" y="131445"/>
                </a:lnTo>
                <a:lnTo>
                  <a:pt x="104775" y="104775"/>
                </a:lnTo>
                <a:lnTo>
                  <a:pt x="0" y="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n-L5"/>
          <p:cNvSpPr/>
          <p:nvPr/>
        </p:nvSpPr>
        <p:spPr>
          <a:xfrm>
            <a:off x="8172450" y="8801100"/>
            <a:ext cx="4971098" cy="3743325"/>
          </a:xfrm>
          <a:custGeom>
            <a:avLst/>
            <a:gdLst/>
            <a:ahLst/>
            <a:cxnLst/>
            <a:rect l="l" t="t" r="r" b="b"/>
            <a:pathLst>
              <a:path w="4971098" h="3743325">
                <a:moveTo>
                  <a:pt x="0" y="3743325"/>
                </a:moveTo>
                <a:lnTo>
                  <a:pt x="2423160" y="3743325"/>
                </a:lnTo>
                <a:lnTo>
                  <a:pt x="2460308" y="3741420"/>
                </a:lnTo>
                <a:lnTo>
                  <a:pt x="2494598" y="3736658"/>
                </a:lnTo>
                <a:lnTo>
                  <a:pt x="2528888" y="3729038"/>
                </a:lnTo>
                <a:lnTo>
                  <a:pt x="2561272" y="3716655"/>
                </a:lnTo>
                <a:lnTo>
                  <a:pt x="2591752" y="3702368"/>
                </a:lnTo>
                <a:lnTo>
                  <a:pt x="2621280" y="3684270"/>
                </a:lnTo>
                <a:lnTo>
                  <a:pt x="2649855" y="3663315"/>
                </a:lnTo>
                <a:lnTo>
                  <a:pt x="2676525" y="3638550"/>
                </a:lnTo>
                <a:lnTo>
                  <a:pt x="2676525" y="3638550"/>
                </a:lnTo>
                <a:lnTo>
                  <a:pt x="2701290" y="3611880"/>
                </a:lnTo>
                <a:lnTo>
                  <a:pt x="2722245" y="3583305"/>
                </a:lnTo>
                <a:lnTo>
                  <a:pt x="2740342" y="3553778"/>
                </a:lnTo>
                <a:lnTo>
                  <a:pt x="2754630" y="3523298"/>
                </a:lnTo>
                <a:lnTo>
                  <a:pt x="2767012" y="3490912"/>
                </a:lnTo>
                <a:lnTo>
                  <a:pt x="2774632" y="3456622"/>
                </a:lnTo>
                <a:lnTo>
                  <a:pt x="2779395" y="3422332"/>
                </a:lnTo>
                <a:lnTo>
                  <a:pt x="2781300" y="3385185"/>
                </a:lnTo>
                <a:lnTo>
                  <a:pt x="2781300" y="2463165"/>
                </a:lnTo>
                <a:lnTo>
                  <a:pt x="2783205" y="2426018"/>
                </a:lnTo>
                <a:lnTo>
                  <a:pt x="2787968" y="2391728"/>
                </a:lnTo>
                <a:lnTo>
                  <a:pt x="2795588" y="2357438"/>
                </a:lnTo>
                <a:lnTo>
                  <a:pt x="2807970" y="2325052"/>
                </a:lnTo>
                <a:lnTo>
                  <a:pt x="2822258" y="2294572"/>
                </a:lnTo>
                <a:lnTo>
                  <a:pt x="2840355" y="2265045"/>
                </a:lnTo>
                <a:lnTo>
                  <a:pt x="2861310" y="2236470"/>
                </a:lnTo>
                <a:lnTo>
                  <a:pt x="2886075" y="2209800"/>
                </a:lnTo>
                <a:lnTo>
                  <a:pt x="2886075" y="2209800"/>
                </a:lnTo>
                <a:lnTo>
                  <a:pt x="2912745" y="2185035"/>
                </a:lnTo>
                <a:lnTo>
                  <a:pt x="2941320" y="2164080"/>
                </a:lnTo>
                <a:lnTo>
                  <a:pt x="2970848" y="2145982"/>
                </a:lnTo>
                <a:lnTo>
                  <a:pt x="3001328" y="2131695"/>
                </a:lnTo>
                <a:lnTo>
                  <a:pt x="3033712" y="2119312"/>
                </a:lnTo>
                <a:lnTo>
                  <a:pt x="3068002" y="2111692"/>
                </a:lnTo>
                <a:lnTo>
                  <a:pt x="3102292" y="2106930"/>
                </a:lnTo>
                <a:lnTo>
                  <a:pt x="3139440" y="2105025"/>
                </a:lnTo>
                <a:lnTo>
                  <a:pt x="4706302" y="2105025"/>
                </a:lnTo>
                <a:lnTo>
                  <a:pt x="4738688" y="2103120"/>
                </a:lnTo>
                <a:lnTo>
                  <a:pt x="4768215" y="2097405"/>
                </a:lnTo>
                <a:lnTo>
                  <a:pt x="4796790" y="2088832"/>
                </a:lnTo>
                <a:lnTo>
                  <a:pt x="4822508" y="2076450"/>
                </a:lnTo>
                <a:lnTo>
                  <a:pt x="4846320" y="2060258"/>
                </a:lnTo>
                <a:lnTo>
                  <a:pt x="4868228" y="2040255"/>
                </a:lnTo>
                <a:lnTo>
                  <a:pt x="4887278" y="2017395"/>
                </a:lnTo>
                <a:lnTo>
                  <a:pt x="4905375" y="1990725"/>
                </a:lnTo>
                <a:lnTo>
                  <a:pt x="4905375" y="1990725"/>
                </a:lnTo>
                <a:lnTo>
                  <a:pt x="4920615" y="1962150"/>
                </a:lnTo>
                <a:lnTo>
                  <a:pt x="4934902" y="1932622"/>
                </a:lnTo>
                <a:lnTo>
                  <a:pt x="4946332" y="1902142"/>
                </a:lnTo>
                <a:lnTo>
                  <a:pt x="4954905" y="1871662"/>
                </a:lnTo>
                <a:lnTo>
                  <a:pt x="4962525" y="1841182"/>
                </a:lnTo>
                <a:lnTo>
                  <a:pt x="4967288" y="1808798"/>
                </a:lnTo>
                <a:lnTo>
                  <a:pt x="4970145" y="1777365"/>
                </a:lnTo>
                <a:lnTo>
                  <a:pt x="4971098" y="1744028"/>
                </a:lnTo>
                <a:lnTo>
                  <a:pt x="4962525" y="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n-R5"/>
          <p:cNvSpPr/>
          <p:nvPr/>
        </p:nvSpPr>
        <p:spPr>
          <a:xfrm>
            <a:off x="13107352" y="8801100"/>
            <a:ext cx="4971098" cy="3743325"/>
          </a:xfrm>
          <a:custGeom>
            <a:avLst/>
            <a:gdLst/>
            <a:ahLst/>
            <a:cxnLst/>
            <a:rect l="l" t="t" r="r" b="b"/>
            <a:pathLst>
              <a:path w="4971098" h="3743325">
                <a:moveTo>
                  <a:pt x="4971098" y="3743325"/>
                </a:moveTo>
                <a:lnTo>
                  <a:pt x="2547938" y="3743325"/>
                </a:lnTo>
                <a:lnTo>
                  <a:pt x="2510790" y="3741420"/>
                </a:lnTo>
                <a:lnTo>
                  <a:pt x="2476500" y="3736658"/>
                </a:lnTo>
                <a:lnTo>
                  <a:pt x="2442210" y="3729038"/>
                </a:lnTo>
                <a:lnTo>
                  <a:pt x="2409826" y="3716655"/>
                </a:lnTo>
                <a:lnTo>
                  <a:pt x="2379346" y="3702368"/>
                </a:lnTo>
                <a:lnTo>
                  <a:pt x="2349818" y="3684270"/>
                </a:lnTo>
                <a:lnTo>
                  <a:pt x="2321243" y="3663315"/>
                </a:lnTo>
                <a:lnTo>
                  <a:pt x="2294573" y="3638550"/>
                </a:lnTo>
                <a:lnTo>
                  <a:pt x="2294573" y="3638550"/>
                </a:lnTo>
                <a:lnTo>
                  <a:pt x="2269808" y="3611880"/>
                </a:lnTo>
                <a:lnTo>
                  <a:pt x="2248853" y="3583305"/>
                </a:lnTo>
                <a:lnTo>
                  <a:pt x="2230756" y="3553778"/>
                </a:lnTo>
                <a:lnTo>
                  <a:pt x="2216468" y="3523298"/>
                </a:lnTo>
                <a:lnTo>
                  <a:pt x="2204086" y="3490912"/>
                </a:lnTo>
                <a:lnTo>
                  <a:pt x="2196466" y="3456622"/>
                </a:lnTo>
                <a:lnTo>
                  <a:pt x="2191703" y="3422332"/>
                </a:lnTo>
                <a:lnTo>
                  <a:pt x="2189798" y="3385185"/>
                </a:lnTo>
                <a:lnTo>
                  <a:pt x="2189798" y="2463165"/>
                </a:lnTo>
                <a:lnTo>
                  <a:pt x="2187893" y="2426018"/>
                </a:lnTo>
                <a:lnTo>
                  <a:pt x="2183130" y="2391728"/>
                </a:lnTo>
                <a:lnTo>
                  <a:pt x="2175510" y="2357438"/>
                </a:lnTo>
                <a:lnTo>
                  <a:pt x="2163128" y="2325052"/>
                </a:lnTo>
                <a:lnTo>
                  <a:pt x="2148840" y="2294572"/>
                </a:lnTo>
                <a:lnTo>
                  <a:pt x="2130743" y="2265045"/>
                </a:lnTo>
                <a:lnTo>
                  <a:pt x="2109788" y="2236470"/>
                </a:lnTo>
                <a:lnTo>
                  <a:pt x="2085023" y="2209800"/>
                </a:lnTo>
                <a:lnTo>
                  <a:pt x="2085023" y="2209800"/>
                </a:lnTo>
                <a:lnTo>
                  <a:pt x="2058353" y="2185035"/>
                </a:lnTo>
                <a:lnTo>
                  <a:pt x="2029778" y="2164080"/>
                </a:lnTo>
                <a:lnTo>
                  <a:pt x="2000250" y="2145982"/>
                </a:lnTo>
                <a:lnTo>
                  <a:pt x="1969770" y="2131695"/>
                </a:lnTo>
                <a:lnTo>
                  <a:pt x="1937386" y="2119312"/>
                </a:lnTo>
                <a:lnTo>
                  <a:pt x="1903096" y="2111692"/>
                </a:lnTo>
                <a:lnTo>
                  <a:pt x="1868806" y="2106930"/>
                </a:lnTo>
                <a:lnTo>
                  <a:pt x="1831658" y="2105025"/>
                </a:lnTo>
                <a:lnTo>
                  <a:pt x="264796" y="2105025"/>
                </a:lnTo>
                <a:lnTo>
                  <a:pt x="232410" y="2103120"/>
                </a:lnTo>
                <a:lnTo>
                  <a:pt x="202883" y="2097405"/>
                </a:lnTo>
                <a:lnTo>
                  <a:pt x="174308" y="2088832"/>
                </a:lnTo>
                <a:lnTo>
                  <a:pt x="148590" y="2076450"/>
                </a:lnTo>
                <a:lnTo>
                  <a:pt x="124778" y="2060258"/>
                </a:lnTo>
                <a:lnTo>
                  <a:pt x="102870" y="2040255"/>
                </a:lnTo>
                <a:lnTo>
                  <a:pt x="83820" y="2017395"/>
                </a:lnTo>
                <a:lnTo>
                  <a:pt x="65723" y="1990725"/>
                </a:lnTo>
                <a:lnTo>
                  <a:pt x="65723" y="1990725"/>
                </a:lnTo>
                <a:lnTo>
                  <a:pt x="50483" y="1962150"/>
                </a:lnTo>
                <a:lnTo>
                  <a:pt x="36196" y="1932622"/>
                </a:lnTo>
                <a:lnTo>
                  <a:pt x="24766" y="1902142"/>
                </a:lnTo>
                <a:lnTo>
                  <a:pt x="16193" y="1871662"/>
                </a:lnTo>
                <a:lnTo>
                  <a:pt x="8573" y="1841182"/>
                </a:lnTo>
                <a:lnTo>
                  <a:pt x="3810" y="1808798"/>
                </a:lnTo>
                <a:lnTo>
                  <a:pt x="953" y="1777365"/>
                </a:lnTo>
                <a:lnTo>
                  <a:pt x="0" y="1744028"/>
                </a:lnTo>
                <a:lnTo>
                  <a:pt x="8573" y="0"/>
                </a:lnTo>
              </a:path>
            </a:pathLst>
          </a:custGeom>
          <a:noFill/>
          <a:ln w="47625">
            <a:solidFill>
              <a:srgbClr val="F5B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-L1"/>
          <p:cNvSpPr/>
          <p:nvPr/>
        </p:nvSpPr>
        <p:spPr>
          <a:xfrm>
            <a:off x="8001000" y="137160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-R1"/>
          <p:cNvSpPr/>
          <p:nvPr/>
        </p:nvSpPr>
        <p:spPr>
          <a:xfrm>
            <a:off x="17926050" y="137160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t-L2"/>
          <p:cNvSpPr/>
          <p:nvPr/>
        </p:nvSpPr>
        <p:spPr>
          <a:xfrm>
            <a:off x="8001000" y="413385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R2"/>
          <p:cNvSpPr/>
          <p:nvPr/>
        </p:nvSpPr>
        <p:spPr>
          <a:xfrm>
            <a:off x="17926050" y="413385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-L3"/>
          <p:cNvSpPr/>
          <p:nvPr/>
        </p:nvSpPr>
        <p:spPr>
          <a:xfrm>
            <a:off x="8001000" y="689610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-R3"/>
          <p:cNvSpPr/>
          <p:nvPr/>
        </p:nvSpPr>
        <p:spPr>
          <a:xfrm>
            <a:off x="17926050" y="689610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-L4"/>
          <p:cNvSpPr/>
          <p:nvPr/>
        </p:nvSpPr>
        <p:spPr>
          <a:xfrm>
            <a:off x="8001000" y="963930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-R4"/>
          <p:cNvSpPr/>
          <p:nvPr/>
        </p:nvSpPr>
        <p:spPr>
          <a:xfrm>
            <a:off x="17926050" y="963930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t-L5"/>
          <p:cNvSpPr/>
          <p:nvPr/>
        </p:nvSpPr>
        <p:spPr>
          <a:xfrm>
            <a:off x="8001000" y="1240155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t-R5"/>
          <p:cNvSpPr/>
          <p:nvPr/>
        </p:nvSpPr>
        <p:spPr>
          <a:xfrm>
            <a:off x="17926050" y="12401550"/>
            <a:ext cx="209550" cy="209550"/>
          </a:xfrm>
          <a:prstGeom prst="ellipse">
            <a:avLst/>
          </a:prstGeom>
          <a:solidFill>
            <a:srgbClr val="F5B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enter-blob"/>
          <p:cNvSpPr/>
          <p:nvPr/>
        </p:nvSpPr>
        <p:spPr>
          <a:xfrm>
            <a:off x="10610850" y="5162550"/>
            <a:ext cx="5057775" cy="3657600"/>
          </a:xfrm>
          <a:prstGeom prst="roundRect">
            <a:avLst>
              <a:gd name="adj" fmla="val 22656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tle-1"/>
          <p:cNvSpPr txBox="1"/>
          <p:nvPr/>
        </p:nvSpPr>
        <p:spPr>
          <a:xfrm>
            <a:off x="10482262" y="5600700"/>
            <a:ext cx="53340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</a:t>
            </a:r>
          </a:p>
        </p:txBody>
      </p:sp>
      <p:sp>
        <p:nvSpPr>
          <p:cNvPr id="25" name="title-2"/>
          <p:cNvSpPr txBox="1"/>
          <p:nvPr/>
        </p:nvSpPr>
        <p:spPr>
          <a:xfrm>
            <a:off x="10482262" y="6515100"/>
            <a:ext cx="53340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营销工作计划</a:t>
            </a:r>
          </a:p>
        </p:txBody>
      </p:sp>
      <p:sp>
        <p:nvSpPr>
          <p:cNvPr id="26" name="title-3"/>
          <p:cNvSpPr txBox="1"/>
          <p:nvPr/>
        </p:nvSpPr>
        <p:spPr>
          <a:xfrm>
            <a:off x="10482262" y="7458075"/>
            <a:ext cx="53340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思维导图</a:t>
            </a:r>
          </a:p>
        </p:txBody>
      </p:sp>
      <p:grpSp>
        <p:nvGrpSpPr>
          <p:cNvPr id="69" name="branch-L1"/>
          <p:cNvGrpSpPr/>
          <p:nvPr/>
        </p:nvGrpSpPr>
        <p:grpSpPr>
          <a:xfrm>
            <a:off x="276225" y="1028700"/>
            <a:ext cx="7658100" cy="2124075"/>
            <a:chOff x="276225" y="1028700"/>
            <a:chExt cx="7658100" cy="2124075"/>
          </a:xfrm>
        </p:grpSpPr>
        <p:sp>
          <p:nvSpPr>
            <p:cNvPr id="27" name="pill-L1"/>
            <p:cNvSpPr/>
            <p:nvPr/>
          </p:nvSpPr>
          <p:spPr>
            <a:xfrm>
              <a:off x="1504950" y="102870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F5CD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pill-L1-t"/>
            <p:cNvSpPr txBox="1"/>
            <p:nvPr/>
          </p:nvSpPr>
          <p:spPr>
            <a:xfrm>
              <a:off x="1647825" y="102870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市场洞察分析</a:t>
              </a:r>
            </a:p>
          </p:txBody>
        </p:sp>
        <p:sp>
          <p:nvSpPr>
            <p:cNvPr id="29" name="desc-L1-1"/>
            <p:cNvSpPr txBox="1"/>
            <p:nvPr/>
          </p:nvSpPr>
          <p:spPr>
            <a:xfrm>
              <a:off x="276225" y="2038350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分析行业趋势与竞品动态，精准定位目</a:t>
              </a:r>
            </a:p>
          </p:txBody>
        </p:sp>
        <p:sp>
          <p:nvSpPr>
            <p:cNvPr id="30" name="desc-L1-2"/>
            <p:cNvSpPr txBox="1"/>
            <p:nvPr/>
          </p:nvSpPr>
          <p:spPr>
            <a:xfrm>
              <a:off x="276225" y="2543175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标客群，为策略制定提供数据支撑</a:t>
              </a:r>
            </a:p>
          </p:txBody>
        </p:sp>
      </p:grpSp>
      <p:grpSp>
        <p:nvGrpSpPr>
          <p:cNvPr id="68" name="branch-L2"/>
          <p:cNvGrpSpPr/>
          <p:nvPr/>
        </p:nvGrpSpPr>
        <p:grpSpPr>
          <a:xfrm>
            <a:off x="276225" y="3790950"/>
            <a:ext cx="7658100" cy="2124075"/>
            <a:chOff x="276225" y="3790950"/>
            <a:chExt cx="7658100" cy="2124075"/>
          </a:xfrm>
        </p:grpSpPr>
        <p:sp>
          <p:nvSpPr>
            <p:cNvPr id="31" name="pill-L2"/>
            <p:cNvSpPr/>
            <p:nvPr/>
          </p:nvSpPr>
          <p:spPr>
            <a:xfrm>
              <a:off x="1504950" y="379095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F187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pill-L2-t"/>
            <p:cNvSpPr txBox="1"/>
            <p:nvPr/>
          </p:nvSpPr>
          <p:spPr>
            <a:xfrm>
              <a:off x="1647825" y="379095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品牌定位升级</a:t>
              </a:r>
            </a:p>
          </p:txBody>
        </p:sp>
        <p:sp>
          <p:nvSpPr>
            <p:cNvPr id="33" name="desc-L2-1"/>
            <p:cNvSpPr txBox="1"/>
            <p:nvPr/>
          </p:nvSpPr>
          <p:spPr>
            <a:xfrm>
              <a:off x="276225" y="4800600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提炼核心价值主张，优化视觉识别系</a:t>
              </a:r>
            </a:p>
          </p:txBody>
        </p:sp>
        <p:sp>
          <p:nvSpPr>
            <p:cNvPr id="34" name="desc-L2-2"/>
            <p:cNvSpPr txBox="1"/>
            <p:nvPr/>
          </p:nvSpPr>
          <p:spPr>
            <a:xfrm>
              <a:off x="276225" y="5305425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统，强化品牌差异化记忆点</a:t>
              </a:r>
            </a:p>
          </p:txBody>
        </p:sp>
      </p:grpSp>
      <p:grpSp>
        <p:nvGrpSpPr>
          <p:cNvPr id="72" name="branch-L3"/>
          <p:cNvGrpSpPr/>
          <p:nvPr/>
        </p:nvGrpSpPr>
        <p:grpSpPr>
          <a:xfrm>
            <a:off x="276225" y="6553200"/>
            <a:ext cx="7658100" cy="2124075"/>
            <a:chOff x="276225" y="6553200"/>
            <a:chExt cx="7658100" cy="2124075"/>
          </a:xfrm>
        </p:grpSpPr>
        <p:sp>
          <p:nvSpPr>
            <p:cNvPr id="35" name="pill-L3"/>
            <p:cNvSpPr/>
            <p:nvPr/>
          </p:nvSpPr>
          <p:spPr>
            <a:xfrm>
              <a:off x="1504950" y="655320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A4CB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ill-L3-t"/>
            <p:cNvSpPr txBox="1"/>
            <p:nvPr/>
          </p:nvSpPr>
          <p:spPr>
            <a:xfrm>
              <a:off x="1647825" y="655320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产品矩阵优化</a:t>
              </a:r>
            </a:p>
          </p:txBody>
        </p:sp>
        <p:sp>
          <p:nvSpPr>
            <p:cNvPr id="37" name="desc-L3-1"/>
            <p:cNvSpPr txBox="1"/>
            <p:nvPr/>
          </p:nvSpPr>
          <p:spPr>
            <a:xfrm>
              <a:off x="276225" y="7562850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聚焦爆款打造与长尾覆盖，完善产品生</a:t>
              </a:r>
            </a:p>
          </p:txBody>
        </p:sp>
        <p:sp>
          <p:nvSpPr>
            <p:cNvPr id="38" name="desc-L3-2"/>
            <p:cNvSpPr txBox="1"/>
            <p:nvPr/>
          </p:nvSpPr>
          <p:spPr>
            <a:xfrm>
              <a:off x="276225" y="8067675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命周期管理，提升整体竞争力</a:t>
              </a:r>
            </a:p>
          </p:txBody>
        </p:sp>
      </p:grpSp>
      <p:grpSp>
        <p:nvGrpSpPr>
          <p:cNvPr id="70" name="branch-L4"/>
          <p:cNvGrpSpPr/>
          <p:nvPr/>
        </p:nvGrpSpPr>
        <p:grpSpPr>
          <a:xfrm>
            <a:off x="276225" y="9296400"/>
            <a:ext cx="7658100" cy="2171700"/>
            <a:chOff x="276225" y="9296400"/>
            <a:chExt cx="7658100" cy="2171700"/>
          </a:xfrm>
        </p:grpSpPr>
        <p:sp>
          <p:nvSpPr>
            <p:cNvPr id="39" name="pill-L4"/>
            <p:cNvSpPr/>
            <p:nvPr/>
          </p:nvSpPr>
          <p:spPr>
            <a:xfrm>
              <a:off x="1504950" y="929640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88C0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ill-L4-t"/>
            <p:cNvSpPr txBox="1"/>
            <p:nvPr/>
          </p:nvSpPr>
          <p:spPr>
            <a:xfrm>
              <a:off x="1647825" y="929640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价格体系重构</a:t>
              </a:r>
            </a:p>
          </p:txBody>
        </p:sp>
        <p:sp>
          <p:nvSpPr>
            <p:cNvPr id="41" name="desc-L4-1"/>
            <p:cNvSpPr txBox="1"/>
            <p:nvPr/>
          </p:nvSpPr>
          <p:spPr>
            <a:xfrm>
              <a:off x="276225" y="10353675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结合成本与市场接受度，设计灵活价格</a:t>
              </a:r>
            </a:p>
          </p:txBody>
        </p:sp>
        <p:sp>
          <p:nvSpPr>
            <p:cNvPr id="42" name="desc-L4-2"/>
            <p:cNvSpPr txBox="1"/>
            <p:nvPr/>
          </p:nvSpPr>
          <p:spPr>
            <a:xfrm>
              <a:off x="276225" y="10858500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策略，兼顾利润空间与市场份额</a:t>
              </a:r>
            </a:p>
          </p:txBody>
        </p:sp>
      </p:grpSp>
      <p:grpSp>
        <p:nvGrpSpPr>
          <p:cNvPr id="71" name="branch-L5"/>
          <p:cNvGrpSpPr/>
          <p:nvPr/>
        </p:nvGrpSpPr>
        <p:grpSpPr>
          <a:xfrm>
            <a:off x="276225" y="12058650"/>
            <a:ext cx="7658100" cy="2181225"/>
            <a:chOff x="276225" y="12058650"/>
            <a:chExt cx="7658100" cy="2181225"/>
          </a:xfrm>
        </p:grpSpPr>
        <p:sp>
          <p:nvSpPr>
            <p:cNvPr id="43" name="pill-L5"/>
            <p:cNvSpPr/>
            <p:nvPr/>
          </p:nvSpPr>
          <p:spPr>
            <a:xfrm>
              <a:off x="1504950" y="1205865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D1C5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ill-L5-t"/>
            <p:cNvSpPr txBox="1"/>
            <p:nvPr/>
          </p:nvSpPr>
          <p:spPr>
            <a:xfrm>
              <a:off x="1647825" y="1205865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渠道拓展深耕</a:t>
              </a:r>
            </a:p>
          </p:txBody>
        </p:sp>
        <p:sp>
          <p:nvSpPr>
            <p:cNvPr id="45" name="desc-L5-1"/>
            <p:cNvSpPr txBox="1"/>
            <p:nvPr/>
          </p:nvSpPr>
          <p:spPr>
            <a:xfrm>
              <a:off x="276225" y="13125450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开拓新兴流量平台，巩固核心线下渠</a:t>
              </a:r>
            </a:p>
          </p:txBody>
        </p:sp>
        <p:sp>
          <p:nvSpPr>
            <p:cNvPr id="46" name="desc-L5-2"/>
            <p:cNvSpPr txBox="1"/>
            <p:nvPr/>
          </p:nvSpPr>
          <p:spPr>
            <a:xfrm>
              <a:off x="276225" y="13630275"/>
              <a:ext cx="7429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道，实现线上线下高效协同触达</a:t>
              </a:r>
            </a:p>
          </p:txBody>
        </p:sp>
      </p:grpSp>
      <p:grpSp>
        <p:nvGrpSpPr>
          <p:cNvPr id="76" name="branch-R1"/>
          <p:cNvGrpSpPr/>
          <p:nvPr/>
        </p:nvGrpSpPr>
        <p:grpSpPr>
          <a:xfrm>
            <a:off x="18402300" y="1028700"/>
            <a:ext cx="7705725" cy="2124075"/>
            <a:chOff x="18402300" y="1028700"/>
            <a:chExt cx="7705725" cy="2124075"/>
          </a:xfrm>
        </p:grpSpPr>
        <p:sp>
          <p:nvSpPr>
            <p:cNvPr id="47" name="pill-R1"/>
            <p:cNvSpPr/>
            <p:nvPr/>
          </p:nvSpPr>
          <p:spPr>
            <a:xfrm>
              <a:off x="18497550" y="102870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A1C5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pill-R1-t"/>
            <p:cNvSpPr txBox="1"/>
            <p:nvPr/>
          </p:nvSpPr>
          <p:spPr>
            <a:xfrm>
              <a:off x="18402300" y="102870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数字营销提效</a:t>
              </a:r>
            </a:p>
          </p:txBody>
        </p:sp>
        <p:sp>
          <p:nvSpPr>
            <p:cNvPr id="49" name="desc-R1-1"/>
            <p:cNvSpPr txBox="1"/>
            <p:nvPr/>
          </p:nvSpPr>
          <p:spPr>
            <a:xfrm>
              <a:off x="18583275" y="2038350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深化公私域联动运营，精准投放广告素</a:t>
              </a:r>
            </a:p>
          </p:txBody>
        </p:sp>
        <p:sp>
          <p:nvSpPr>
            <p:cNvPr id="50" name="desc-R1-2"/>
            <p:cNvSpPr txBox="1"/>
            <p:nvPr/>
          </p:nvSpPr>
          <p:spPr>
            <a:xfrm>
              <a:off x="18583275" y="2543175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材，提升流量转化与用户粘性</a:t>
              </a:r>
            </a:p>
          </p:txBody>
        </p:sp>
      </p:grpSp>
      <p:grpSp>
        <p:nvGrpSpPr>
          <p:cNvPr id="74" name="branch-R2"/>
          <p:cNvGrpSpPr/>
          <p:nvPr/>
        </p:nvGrpSpPr>
        <p:grpSpPr>
          <a:xfrm>
            <a:off x="18402300" y="3790950"/>
            <a:ext cx="7705725" cy="2124075"/>
            <a:chOff x="18402300" y="3790950"/>
            <a:chExt cx="7705725" cy="2124075"/>
          </a:xfrm>
        </p:grpSpPr>
        <p:sp>
          <p:nvSpPr>
            <p:cNvPr id="51" name="pill-R2"/>
            <p:cNvSpPr/>
            <p:nvPr/>
          </p:nvSpPr>
          <p:spPr>
            <a:xfrm>
              <a:off x="18497550" y="379095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4968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pill-R2-t"/>
            <p:cNvSpPr txBox="1"/>
            <p:nvPr/>
          </p:nvSpPr>
          <p:spPr>
            <a:xfrm>
              <a:off x="18402300" y="379095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内容创意生产</a:t>
              </a:r>
            </a:p>
          </p:txBody>
        </p:sp>
        <p:sp>
          <p:nvSpPr>
            <p:cNvPr id="53" name="desc-R2-1"/>
            <p:cNvSpPr txBox="1"/>
            <p:nvPr/>
          </p:nvSpPr>
          <p:spPr>
            <a:xfrm>
              <a:off x="18583275" y="4800600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策划系列主题营销活动，产出高质量原</a:t>
              </a:r>
            </a:p>
          </p:txBody>
        </p:sp>
        <p:sp>
          <p:nvSpPr>
            <p:cNvPr id="54" name="desc-R2-2"/>
            <p:cNvSpPr txBox="1"/>
            <p:nvPr/>
          </p:nvSpPr>
          <p:spPr>
            <a:xfrm>
              <a:off x="18583275" y="5305425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创内容，引发情感共鸣与自发传播</a:t>
              </a:r>
            </a:p>
          </p:txBody>
        </p:sp>
      </p:grpSp>
      <p:grpSp>
        <p:nvGrpSpPr>
          <p:cNvPr id="77" name="branch-R3"/>
          <p:cNvGrpSpPr/>
          <p:nvPr/>
        </p:nvGrpSpPr>
        <p:grpSpPr>
          <a:xfrm>
            <a:off x="18402300" y="6553200"/>
            <a:ext cx="7705725" cy="2124075"/>
            <a:chOff x="18402300" y="6553200"/>
            <a:chExt cx="7705725" cy="2124075"/>
          </a:xfrm>
        </p:grpSpPr>
        <p:sp>
          <p:nvSpPr>
            <p:cNvPr id="55" name="pill-R3"/>
            <p:cNvSpPr/>
            <p:nvPr/>
          </p:nvSpPr>
          <p:spPr>
            <a:xfrm>
              <a:off x="18497550" y="655320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6190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pill-R3-t"/>
            <p:cNvSpPr txBox="1"/>
            <p:nvPr/>
          </p:nvSpPr>
          <p:spPr>
            <a:xfrm>
              <a:off x="18402300" y="655320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客户体验重塑</a:t>
              </a:r>
            </a:p>
          </p:txBody>
        </p:sp>
        <p:sp>
          <p:nvSpPr>
            <p:cNvPr id="57" name="desc-R3-1"/>
            <p:cNvSpPr txBox="1"/>
            <p:nvPr/>
          </p:nvSpPr>
          <p:spPr>
            <a:xfrm>
              <a:off x="18583275" y="7562850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优化售前售后全流程服务，建立会员成</a:t>
              </a:r>
            </a:p>
          </p:txBody>
        </p:sp>
        <p:sp>
          <p:nvSpPr>
            <p:cNvPr id="58" name="desc-R3-2"/>
            <p:cNvSpPr txBox="1"/>
            <p:nvPr/>
          </p:nvSpPr>
          <p:spPr>
            <a:xfrm>
              <a:off x="18583275" y="8067675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长体系，提升复购率与口碑推荐</a:t>
              </a:r>
            </a:p>
          </p:txBody>
        </p:sp>
      </p:grpSp>
      <p:grpSp>
        <p:nvGrpSpPr>
          <p:cNvPr id="75" name="branch-R4"/>
          <p:cNvGrpSpPr/>
          <p:nvPr/>
        </p:nvGrpSpPr>
        <p:grpSpPr>
          <a:xfrm>
            <a:off x="18402300" y="9296400"/>
            <a:ext cx="7705725" cy="2171700"/>
            <a:chOff x="18402300" y="9296400"/>
            <a:chExt cx="7705725" cy="2171700"/>
          </a:xfrm>
        </p:grpSpPr>
        <p:sp>
          <p:nvSpPr>
            <p:cNvPr id="59" name="pill-R4"/>
            <p:cNvSpPr/>
            <p:nvPr/>
          </p:nvSpPr>
          <p:spPr>
            <a:xfrm>
              <a:off x="18497550" y="929640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8D4D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pill-R4-t"/>
            <p:cNvSpPr txBox="1"/>
            <p:nvPr/>
          </p:nvSpPr>
          <p:spPr>
            <a:xfrm>
              <a:off x="18402300" y="929640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数据运营赋能</a:t>
              </a:r>
            </a:p>
          </p:txBody>
        </p:sp>
        <p:sp>
          <p:nvSpPr>
            <p:cNvPr id="61" name="desc-R4-1"/>
            <p:cNvSpPr txBox="1"/>
            <p:nvPr/>
          </p:nvSpPr>
          <p:spPr>
            <a:xfrm>
              <a:off x="18583275" y="10353675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搭建营销数据中台，实时监测关键指</a:t>
              </a:r>
            </a:p>
          </p:txBody>
        </p:sp>
        <p:sp>
          <p:nvSpPr>
            <p:cNvPr id="62" name="desc-R4-2"/>
            <p:cNvSpPr txBox="1"/>
            <p:nvPr/>
          </p:nvSpPr>
          <p:spPr>
            <a:xfrm>
              <a:off x="18583275" y="10858500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标，驱动策略敏捷调整与迭代</a:t>
              </a:r>
            </a:p>
          </p:txBody>
        </p:sp>
      </p:grpSp>
      <p:grpSp>
        <p:nvGrpSpPr>
          <p:cNvPr id="73" name="branch-R5"/>
          <p:cNvGrpSpPr/>
          <p:nvPr/>
        </p:nvGrpSpPr>
        <p:grpSpPr>
          <a:xfrm>
            <a:off x="18402300" y="12058650"/>
            <a:ext cx="7705725" cy="2181225"/>
            <a:chOff x="18402300" y="12058650"/>
            <a:chExt cx="7705725" cy="2181225"/>
          </a:xfrm>
        </p:grpSpPr>
        <p:sp>
          <p:nvSpPr>
            <p:cNvPr id="63" name="pill-R5"/>
            <p:cNvSpPr/>
            <p:nvPr/>
          </p:nvSpPr>
          <p:spPr>
            <a:xfrm>
              <a:off x="18497550" y="12058650"/>
              <a:ext cx="6286500" cy="895350"/>
            </a:xfrm>
            <a:prstGeom prst="roundRect">
              <a:avLst>
                <a:gd name="adj" fmla="val 50000"/>
              </a:avLst>
            </a:prstGeom>
            <a:solidFill>
              <a:srgbClr val="E246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pill-R5-t"/>
            <p:cNvSpPr txBox="1"/>
            <p:nvPr/>
          </p:nvSpPr>
          <p:spPr>
            <a:xfrm>
              <a:off x="18402300" y="12058650"/>
              <a:ext cx="6286500" cy="895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团队效能跃升</a:t>
              </a:r>
            </a:p>
          </p:txBody>
        </p:sp>
        <p:sp>
          <p:nvSpPr>
            <p:cNvPr id="65" name="desc-R5-1"/>
            <p:cNvSpPr txBox="1"/>
            <p:nvPr/>
          </p:nvSpPr>
          <p:spPr>
            <a:xfrm>
              <a:off x="18583275" y="13125450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明确岗位权责与考核标准，强化技能培</a:t>
              </a:r>
            </a:p>
          </p:txBody>
        </p:sp>
        <p:sp>
          <p:nvSpPr>
            <p:cNvPr id="66" name="desc-R5-2"/>
            <p:cNvSpPr txBox="1"/>
            <p:nvPr/>
          </p:nvSpPr>
          <p:spPr>
            <a:xfrm>
              <a:off x="18583275" y="13630275"/>
              <a:ext cx="75247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训与跨部门协作，保障目标达成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