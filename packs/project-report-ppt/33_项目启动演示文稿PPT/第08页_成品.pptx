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470475" cy="17145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0470475" cy="17145000"/>
          </a:xfrm>
          <a:prstGeom prst="rect">
            <a:avLst/>
          </a:prstGeom>
          <a:solidFill>
            <a:srgbClr val="E4E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"/>
          <p:cNvSpPr/>
          <p:nvPr/>
        </p:nvSpPr>
        <p:spPr>
          <a:xfrm>
            <a:off x="0" y="0"/>
            <a:ext cx="30470475" cy="17145000"/>
          </a:xfrm>
          <a:prstGeom prst="rect">
            <a:avLst/>
          </a:prstGeom>
          <a:gradFill rotWithShape="1">
            <a:gsLst>
              <a:gs pos="0">
                <a:srgbClr val="E3E3E5"/>
              </a:gs>
              <a:gs pos="100000">
                <a:srgbClr val="EEEEF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74" name="title-block"/>
          <p:cNvGrpSpPr/>
          <p:nvPr/>
        </p:nvGrpSpPr>
        <p:grpSpPr>
          <a:xfrm>
            <a:off x="1228725" y="1114425"/>
            <a:ext cx="12085518" cy="1447800"/>
            <a:chOff x="1228725" y="1114425"/>
            <a:chExt cx="12085518" cy="1447800"/>
          </a:xfrm>
        </p:grpSpPr>
        <p:sp>
          <p:nvSpPr>
            <p:cNvPr id="4" name="bar-1"/>
            <p:cNvSpPr/>
            <p:nvPr/>
          </p:nvSpPr>
          <p:spPr>
            <a:xfrm>
              <a:off x="1228725" y="1409700"/>
              <a:ext cx="114300" cy="914400"/>
            </a:xfrm>
            <a:prstGeom prst="rect">
              <a:avLst/>
            </a:prstGeom>
            <a:solidFill>
              <a:srgbClr val="5D85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bar-2"/>
            <p:cNvSpPr/>
            <p:nvPr/>
          </p:nvSpPr>
          <p:spPr>
            <a:xfrm>
              <a:off x="1447800" y="1409700"/>
              <a:ext cx="66675" cy="914400"/>
            </a:xfrm>
            <a:prstGeom prst="rect">
              <a:avLst/>
            </a:prstGeom>
            <a:solidFill>
              <a:srgbClr val="41D9D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itle"/>
            <p:cNvSpPr txBox="1"/>
            <p:nvPr/>
          </p:nvSpPr>
          <p:spPr>
            <a:xfrm>
              <a:off x="1847850" y="1114425"/>
              <a:ext cx="11466393" cy="14478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6825" b="1" i="0">
                  <a:solidFill>
                    <a:srgbClr val="5D85FE"/>
                  </a:solidFill>
                  <a:latin typeface="Microsoft YaHei"/>
                  <a:ea typeface="Microsoft YaHei"/>
                  <a:cs typeface="Microsoft YaHei"/>
                </a:rPr>
                <a:t>项目关键绩效指标(KPI)基线</a:t>
              </a:r>
            </a:p>
          </p:txBody>
        </p:sp>
      </p:grpSp>
      <p:grpSp>
        <p:nvGrpSpPr>
          <p:cNvPr id="72" name="kpi-table"/>
          <p:cNvGrpSpPr/>
          <p:nvPr/>
        </p:nvGrpSpPr>
        <p:grpSpPr>
          <a:xfrm>
            <a:off x="3943350" y="3552825"/>
            <a:ext cx="22555200" cy="7277100"/>
            <a:chOff x="3943350" y="3552825"/>
            <a:chExt cx="22555200" cy="7277100"/>
          </a:xfrm>
        </p:grpSpPr>
        <p:sp>
          <p:nvSpPr>
            <p:cNvPr id="7" name="kpi-panel"/>
            <p:cNvSpPr/>
            <p:nvPr/>
          </p:nvSpPr>
          <p:spPr>
            <a:xfrm>
              <a:off x="3943350" y="3552825"/>
              <a:ext cx="22555200" cy="7277100"/>
            </a:xfrm>
            <a:prstGeom prst="roundRect">
              <a:avLst>
                <a:gd name="adj" fmla="val 3403"/>
              </a:avLst>
            </a:prstGeom>
            <a:gradFill rotWithShape="1">
              <a:gsLst>
                <a:gs pos="0">
                  <a:srgbClr val="E9F9F9"/>
                </a:gs>
                <a:gs pos="100000">
                  <a:srgbClr val="F3F4F4"/>
                </a:gs>
              </a:gsLst>
              <a:lin scaled="0" ang="5400000"/>
            </a:gradFill>
            <a:ln w="47625">
              <a:solidFill>
                <a:srgbClr val="3CDA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70" name="table-head"/>
            <p:cNvGrpSpPr/>
            <p:nvPr/>
          </p:nvGrpSpPr>
          <p:grpSpPr>
            <a:xfrm>
              <a:off x="4867275" y="3990975"/>
              <a:ext cx="20897850" cy="1238250"/>
              <a:chOff x="4867275" y="3990975"/>
              <a:chExt cx="20897850" cy="1238250"/>
            </a:xfrm>
          </p:grpSpPr>
          <p:sp>
            <p:nvSpPr>
              <p:cNvPr id="8" name="th-1"/>
              <p:cNvSpPr txBox="1"/>
              <p:nvPr/>
            </p:nvSpPr>
            <p:spPr>
              <a:xfrm>
                <a:off x="5057775" y="3990975"/>
                <a:ext cx="2400300" cy="885825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sz="3975" b="1" i="0">
                    <a:solidFill>
                      <a:srgbClr val="2D3132"/>
                    </a:solidFill>
                    <a:latin typeface="Microsoft YaHei"/>
                    <a:ea typeface="Microsoft YaHei"/>
                    <a:cs typeface="Microsoft YaHei"/>
                  </a:rPr>
                  <a:t>指标维度</a:t>
                </a:r>
              </a:p>
            </p:txBody>
          </p:sp>
          <p:sp>
            <p:nvSpPr>
              <p:cNvPr id="9" name="th-2"/>
              <p:cNvSpPr txBox="1"/>
              <p:nvPr/>
            </p:nvSpPr>
            <p:spPr>
              <a:xfrm>
                <a:off x="10239375" y="3990975"/>
                <a:ext cx="2209800" cy="885825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sz="3975" b="1" i="0">
                    <a:solidFill>
                      <a:srgbClr val="2D3132"/>
                    </a:solidFill>
                    <a:latin typeface="Microsoft YaHei"/>
                    <a:ea typeface="Microsoft YaHei"/>
                    <a:cs typeface="Microsoft YaHei"/>
                  </a:rPr>
                  <a:t>当前值</a:t>
                </a:r>
              </a:p>
            </p:txBody>
          </p:sp>
          <p:sp>
            <p:nvSpPr>
              <p:cNvPr id="10" name="th-3"/>
              <p:cNvSpPr txBox="1"/>
              <p:nvPr/>
            </p:nvSpPr>
            <p:spPr>
              <a:xfrm>
                <a:off x="14144625" y="3990975"/>
                <a:ext cx="2209800" cy="885825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sz="3975" b="1" i="0">
                    <a:solidFill>
                      <a:srgbClr val="2D3132"/>
                    </a:solidFill>
                    <a:latin typeface="Microsoft YaHei"/>
                    <a:ea typeface="Microsoft YaHei"/>
                    <a:cs typeface="Microsoft YaHei"/>
                  </a:rPr>
                  <a:t>目标值</a:t>
                </a:r>
              </a:p>
            </p:txBody>
          </p:sp>
          <p:sp>
            <p:nvSpPr>
              <p:cNvPr id="11" name="th-4"/>
              <p:cNvSpPr txBox="1"/>
              <p:nvPr/>
            </p:nvSpPr>
            <p:spPr>
              <a:xfrm>
                <a:off x="18297525" y="3990975"/>
                <a:ext cx="2400300" cy="885825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sz="3975" b="1" i="0">
                    <a:solidFill>
                      <a:srgbClr val="2D3132"/>
                    </a:solidFill>
                    <a:latin typeface="Microsoft YaHei"/>
                    <a:ea typeface="Microsoft YaHei"/>
                    <a:cs typeface="Microsoft YaHei"/>
                  </a:rPr>
                  <a:t>提升幅度</a:t>
                </a:r>
              </a:p>
            </p:txBody>
          </p:sp>
          <p:sp>
            <p:nvSpPr>
              <p:cNvPr id="12" name="th-5"/>
              <p:cNvSpPr txBox="1"/>
              <p:nvPr/>
            </p:nvSpPr>
            <p:spPr>
              <a:xfrm>
                <a:off x="23364825" y="3990975"/>
                <a:ext cx="2400300" cy="885825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sz="3975" b="1" i="0">
                    <a:solidFill>
                      <a:srgbClr val="2D3132"/>
                    </a:solidFill>
                    <a:latin typeface="Microsoft YaHei"/>
                    <a:ea typeface="Microsoft YaHei"/>
                    <a:cs typeface="Microsoft YaHei"/>
                  </a:rPr>
                  <a:t>衡量周期</a:t>
                </a:r>
              </a:p>
            </p:txBody>
          </p:sp>
          <p:sp>
            <p:nvSpPr>
              <p:cNvPr id="13" name="th-rule-1"/>
              <p:cNvSpPr/>
              <p:nvPr/>
            </p:nvSpPr>
            <p:spPr>
              <a:xfrm>
                <a:off x="4867275" y="5076825"/>
                <a:ext cx="2419350" cy="152400"/>
              </a:xfrm>
              <a:prstGeom prst="roundRect">
                <a:avLst>
                  <a:gd name="adj" fmla="val 50000"/>
                </a:avLst>
              </a:prstGeom>
              <a:solidFill>
                <a:srgbClr val="3CDA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" name="th-rule-2"/>
              <p:cNvSpPr/>
              <p:nvPr/>
            </p:nvSpPr>
            <p:spPr>
              <a:xfrm>
                <a:off x="10048875" y="5076825"/>
                <a:ext cx="1876425" cy="152400"/>
              </a:xfrm>
              <a:prstGeom prst="roundRect">
                <a:avLst>
                  <a:gd name="adj" fmla="val 50000"/>
                </a:avLst>
              </a:prstGeom>
              <a:solidFill>
                <a:srgbClr val="3CDA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" name="th-rule-3"/>
              <p:cNvSpPr/>
              <p:nvPr/>
            </p:nvSpPr>
            <p:spPr>
              <a:xfrm>
                <a:off x="13925550" y="5076825"/>
                <a:ext cx="1876425" cy="152400"/>
              </a:xfrm>
              <a:prstGeom prst="roundRect">
                <a:avLst>
                  <a:gd name="adj" fmla="val 50000"/>
                </a:avLst>
              </a:prstGeom>
              <a:solidFill>
                <a:srgbClr val="3CDA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" name="th-rule-4"/>
              <p:cNvSpPr/>
              <p:nvPr/>
            </p:nvSpPr>
            <p:spPr>
              <a:xfrm>
                <a:off x="18211800" y="5076825"/>
                <a:ext cx="2143125" cy="152400"/>
              </a:xfrm>
              <a:prstGeom prst="roundRect">
                <a:avLst>
                  <a:gd name="adj" fmla="val 50000"/>
                </a:avLst>
              </a:prstGeom>
              <a:solidFill>
                <a:srgbClr val="3CDA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" name="th-rule-5"/>
              <p:cNvSpPr/>
              <p:nvPr/>
            </p:nvSpPr>
            <p:spPr>
              <a:xfrm>
                <a:off x="23183850" y="5076825"/>
                <a:ext cx="2419350" cy="152400"/>
              </a:xfrm>
              <a:prstGeom prst="roundRect">
                <a:avLst>
                  <a:gd name="adj" fmla="val 50000"/>
                </a:avLst>
              </a:prstGeom>
              <a:solidFill>
                <a:srgbClr val="3CDA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18" name="c1-1"/>
            <p:cNvSpPr txBox="1"/>
            <p:nvPr/>
          </p:nvSpPr>
          <p:spPr>
            <a:xfrm>
              <a:off x="5057775" y="5553075"/>
              <a:ext cx="2857500" cy="79057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600" b="0" i="0">
                  <a:solidFill>
                    <a:srgbClr val="2D3132"/>
                  </a:solidFill>
                  <a:latin typeface="Microsoft YaHei"/>
                  <a:ea typeface="Microsoft YaHei"/>
                  <a:cs typeface="Microsoft YaHei"/>
                </a:rPr>
                <a:t>订单处理时效</a:t>
              </a:r>
            </a:p>
          </p:txBody>
        </p:sp>
        <p:sp>
          <p:nvSpPr>
            <p:cNvPr id="19" name="c1-2"/>
            <p:cNvSpPr txBox="1"/>
            <p:nvPr/>
          </p:nvSpPr>
          <p:spPr>
            <a:xfrm>
              <a:off x="10239375" y="5553075"/>
              <a:ext cx="1905000" cy="79057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600" b="0" i="0">
                  <a:solidFill>
                    <a:srgbClr val="2D3132"/>
                  </a:solidFill>
                  <a:latin typeface="Microsoft YaHei"/>
                  <a:ea typeface="Microsoft YaHei"/>
                  <a:cs typeface="Microsoft YaHei"/>
                </a:rPr>
                <a:t>48小时</a:t>
              </a:r>
            </a:p>
          </p:txBody>
        </p:sp>
        <p:sp>
          <p:nvSpPr>
            <p:cNvPr id="20" name="c1-3"/>
            <p:cNvSpPr txBox="1"/>
            <p:nvPr/>
          </p:nvSpPr>
          <p:spPr>
            <a:xfrm>
              <a:off x="14144625" y="5553075"/>
              <a:ext cx="1905000" cy="79057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600" b="0" i="0">
                  <a:solidFill>
                    <a:srgbClr val="2D3132"/>
                  </a:solidFill>
                  <a:latin typeface="Microsoft YaHei"/>
                  <a:ea typeface="Microsoft YaHei"/>
                  <a:cs typeface="Microsoft YaHei"/>
                </a:rPr>
                <a:t>12小时</a:t>
              </a:r>
            </a:p>
          </p:txBody>
        </p:sp>
        <p:sp>
          <p:nvSpPr>
            <p:cNvPr id="21" name="c1-4"/>
            <p:cNvSpPr txBox="1"/>
            <p:nvPr/>
          </p:nvSpPr>
          <p:spPr>
            <a:xfrm>
              <a:off x="18297525" y="5553075"/>
              <a:ext cx="2286000" cy="79057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600" b="0" i="0">
                  <a:solidFill>
                    <a:srgbClr val="2D3132"/>
                  </a:solidFill>
                  <a:latin typeface="Microsoft YaHei"/>
                  <a:ea typeface="Microsoft YaHei"/>
                  <a:cs typeface="Microsoft YaHei"/>
                </a:rPr>
                <a:t>-75%</a:t>
              </a:r>
            </a:p>
          </p:txBody>
        </p:sp>
        <p:sp>
          <p:nvSpPr>
            <p:cNvPr id="22" name="c1-5"/>
            <p:cNvSpPr txBox="1"/>
            <p:nvPr/>
          </p:nvSpPr>
          <p:spPr>
            <a:xfrm>
              <a:off x="23364825" y="5553075"/>
              <a:ext cx="2476500" cy="79057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600" b="0" i="0">
                  <a:solidFill>
                    <a:srgbClr val="2D3132"/>
                  </a:solidFill>
                  <a:latin typeface="Microsoft YaHei"/>
                  <a:ea typeface="Microsoft YaHei"/>
                  <a:cs typeface="Microsoft YaHei"/>
                </a:rPr>
                <a:t>上线3个月</a:t>
              </a:r>
            </a:p>
          </p:txBody>
        </p:sp>
        <p:sp>
          <p:nvSpPr>
            <p:cNvPr id="23" name="c2-1"/>
            <p:cNvSpPr txBox="1"/>
            <p:nvPr/>
          </p:nvSpPr>
          <p:spPr>
            <a:xfrm>
              <a:off x="5057775" y="6648450"/>
              <a:ext cx="2857500" cy="79057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600" b="0" i="0">
                  <a:solidFill>
                    <a:srgbClr val="2D3132"/>
                  </a:solidFill>
                  <a:latin typeface="Microsoft YaHei"/>
                  <a:ea typeface="Microsoft YaHei"/>
                  <a:cs typeface="Microsoft YaHei"/>
                </a:rPr>
                <a:t>数据准确率</a:t>
              </a:r>
            </a:p>
          </p:txBody>
        </p:sp>
        <p:sp>
          <p:nvSpPr>
            <p:cNvPr id="24" name="c2-2"/>
            <p:cNvSpPr txBox="1"/>
            <p:nvPr/>
          </p:nvSpPr>
          <p:spPr>
            <a:xfrm>
              <a:off x="10239375" y="6648450"/>
              <a:ext cx="1905000" cy="79057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600" b="0" i="0">
                  <a:solidFill>
                    <a:srgbClr val="2D3132"/>
                  </a:solidFill>
                  <a:latin typeface="Microsoft YaHei"/>
                  <a:ea typeface="Microsoft YaHei"/>
                  <a:cs typeface="Microsoft YaHei"/>
                </a:rPr>
                <a:t>85%</a:t>
              </a:r>
            </a:p>
          </p:txBody>
        </p:sp>
        <p:sp>
          <p:nvSpPr>
            <p:cNvPr id="25" name="c2-3"/>
            <p:cNvSpPr txBox="1"/>
            <p:nvPr/>
          </p:nvSpPr>
          <p:spPr>
            <a:xfrm>
              <a:off x="14144625" y="6648450"/>
              <a:ext cx="1905000" cy="79057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600" b="0" i="0">
                  <a:solidFill>
                    <a:srgbClr val="2D3132"/>
                  </a:solidFill>
                  <a:latin typeface="Microsoft YaHei"/>
                  <a:ea typeface="Microsoft YaHei"/>
                  <a:cs typeface="Microsoft YaHei"/>
                </a:rPr>
                <a:t>99.5%</a:t>
              </a:r>
            </a:p>
          </p:txBody>
        </p:sp>
        <p:sp>
          <p:nvSpPr>
            <p:cNvPr id="26" name="c2-5"/>
            <p:cNvSpPr txBox="1"/>
            <p:nvPr/>
          </p:nvSpPr>
          <p:spPr>
            <a:xfrm>
              <a:off x="23364825" y="6648450"/>
              <a:ext cx="2476500" cy="79057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600" b="0" i="0">
                  <a:solidFill>
                    <a:srgbClr val="2D3132"/>
                  </a:solidFill>
                  <a:latin typeface="Microsoft YaHei"/>
                  <a:ea typeface="Microsoft YaHei"/>
                  <a:cs typeface="Microsoft YaHei"/>
                </a:rPr>
                <a:t>上线1个月</a:t>
              </a:r>
            </a:p>
          </p:txBody>
        </p:sp>
        <p:sp>
          <p:nvSpPr>
            <p:cNvPr id="27" name="c3-1"/>
            <p:cNvSpPr txBox="1"/>
            <p:nvPr/>
          </p:nvSpPr>
          <p:spPr>
            <a:xfrm>
              <a:off x="5057775" y="7753350"/>
              <a:ext cx="2857500" cy="79057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600" b="0" i="0">
                  <a:solidFill>
                    <a:srgbClr val="2D3132"/>
                  </a:solidFill>
                  <a:latin typeface="Microsoft YaHei"/>
                  <a:ea typeface="Microsoft YaHei"/>
                  <a:cs typeface="Microsoft YaHei"/>
                </a:rPr>
                <a:t>人工干预率</a:t>
              </a:r>
            </a:p>
          </p:txBody>
        </p:sp>
        <p:sp>
          <p:nvSpPr>
            <p:cNvPr id="28" name="c3-2"/>
            <p:cNvSpPr txBox="1"/>
            <p:nvPr/>
          </p:nvSpPr>
          <p:spPr>
            <a:xfrm>
              <a:off x="10239375" y="7753350"/>
              <a:ext cx="1905000" cy="79057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600" b="0" i="0">
                  <a:solidFill>
                    <a:srgbClr val="2D3132"/>
                  </a:solidFill>
                  <a:latin typeface="Microsoft YaHei"/>
                  <a:ea typeface="Microsoft YaHei"/>
                  <a:cs typeface="Microsoft YaHei"/>
                </a:rPr>
                <a:t>30%</a:t>
              </a:r>
            </a:p>
          </p:txBody>
        </p:sp>
        <p:sp>
          <p:nvSpPr>
            <p:cNvPr id="29" name="c3-3"/>
            <p:cNvSpPr txBox="1"/>
            <p:nvPr/>
          </p:nvSpPr>
          <p:spPr>
            <a:xfrm>
              <a:off x="14144625" y="7753350"/>
              <a:ext cx="1905000" cy="79057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600" b="0" i="0">
                  <a:solidFill>
                    <a:srgbClr val="2D3132"/>
                  </a:solidFill>
                  <a:latin typeface="Microsoft YaHei"/>
                  <a:ea typeface="Microsoft YaHei"/>
                  <a:cs typeface="Microsoft YaHei"/>
                </a:rPr>
                <a:t>5%</a:t>
              </a:r>
            </a:p>
          </p:txBody>
        </p:sp>
        <p:sp>
          <p:nvSpPr>
            <p:cNvPr id="30" name="c3-4"/>
            <p:cNvSpPr txBox="1"/>
            <p:nvPr/>
          </p:nvSpPr>
          <p:spPr>
            <a:xfrm>
              <a:off x="18297525" y="7753350"/>
              <a:ext cx="2286000" cy="79057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600" b="0" i="0">
                  <a:solidFill>
                    <a:srgbClr val="2D3132"/>
                  </a:solidFill>
                  <a:latin typeface="Microsoft YaHei"/>
                  <a:ea typeface="Microsoft YaHei"/>
                  <a:cs typeface="Microsoft YaHei"/>
                </a:rPr>
                <a:t>-83%</a:t>
              </a:r>
            </a:p>
          </p:txBody>
        </p:sp>
        <p:sp>
          <p:nvSpPr>
            <p:cNvPr id="31" name="c3-5"/>
            <p:cNvSpPr txBox="1"/>
            <p:nvPr/>
          </p:nvSpPr>
          <p:spPr>
            <a:xfrm>
              <a:off x="23364825" y="7753350"/>
              <a:ext cx="2476500" cy="79057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600" b="0" i="0">
                  <a:solidFill>
                    <a:srgbClr val="2D3132"/>
                  </a:solidFill>
                  <a:latin typeface="Microsoft YaHei"/>
                  <a:ea typeface="Microsoft YaHei"/>
                  <a:cs typeface="Microsoft YaHei"/>
                </a:rPr>
                <a:t>稳定运行期</a:t>
              </a:r>
            </a:p>
          </p:txBody>
        </p:sp>
        <p:sp>
          <p:nvSpPr>
            <p:cNvPr id="32" name="c4-1"/>
            <p:cNvSpPr txBox="1"/>
            <p:nvPr/>
          </p:nvSpPr>
          <p:spPr>
            <a:xfrm>
              <a:off x="5057775" y="8839200"/>
              <a:ext cx="2857500" cy="79057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600" b="0" i="0">
                  <a:solidFill>
                    <a:srgbClr val="2D3132"/>
                  </a:solidFill>
                  <a:latin typeface="Microsoft YaHei"/>
                  <a:ea typeface="Microsoft YaHei"/>
                  <a:cs typeface="Microsoft YaHei"/>
                </a:rPr>
                <a:t>系统并发承载</a:t>
              </a:r>
            </a:p>
          </p:txBody>
        </p:sp>
        <p:sp>
          <p:nvSpPr>
            <p:cNvPr id="33" name="c4-2"/>
            <p:cNvSpPr txBox="1"/>
            <p:nvPr/>
          </p:nvSpPr>
          <p:spPr>
            <a:xfrm>
              <a:off x="10239375" y="8839200"/>
              <a:ext cx="1905000" cy="79057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600" b="0" i="0">
                  <a:solidFill>
                    <a:srgbClr val="2D3132"/>
                  </a:solidFill>
                  <a:latin typeface="Microsoft YaHei"/>
                  <a:ea typeface="Microsoft YaHei"/>
                  <a:cs typeface="Microsoft YaHei"/>
                </a:rPr>
                <a:t>500人</a:t>
              </a:r>
            </a:p>
          </p:txBody>
        </p:sp>
        <p:sp>
          <p:nvSpPr>
            <p:cNvPr id="34" name="c4-3"/>
            <p:cNvSpPr txBox="1"/>
            <p:nvPr/>
          </p:nvSpPr>
          <p:spPr>
            <a:xfrm>
              <a:off x="14144625" y="8839200"/>
              <a:ext cx="1905000" cy="79057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600" b="0" i="0">
                  <a:solidFill>
                    <a:srgbClr val="2D3132"/>
                  </a:solidFill>
                  <a:latin typeface="Microsoft YaHei"/>
                  <a:ea typeface="Microsoft YaHei"/>
                  <a:cs typeface="Microsoft YaHei"/>
                </a:rPr>
                <a:t>2000人</a:t>
              </a:r>
            </a:p>
          </p:txBody>
        </p:sp>
        <p:sp>
          <p:nvSpPr>
            <p:cNvPr id="35" name="c4-5"/>
            <p:cNvSpPr txBox="1"/>
            <p:nvPr/>
          </p:nvSpPr>
          <p:spPr>
            <a:xfrm>
              <a:off x="23364825" y="8839200"/>
              <a:ext cx="2476500" cy="79057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600" b="0" i="0">
                  <a:solidFill>
                    <a:srgbClr val="2D3132"/>
                  </a:solidFill>
                  <a:latin typeface="Microsoft YaHei"/>
                  <a:ea typeface="Microsoft YaHei"/>
                  <a:cs typeface="Microsoft YaHei"/>
                </a:rPr>
                <a:t>压力测试值</a:t>
              </a:r>
            </a:p>
          </p:txBody>
        </p:sp>
        <p:grpSp>
          <p:nvGrpSpPr>
            <p:cNvPr id="67" name="pill-2"/>
            <p:cNvGrpSpPr/>
            <p:nvPr/>
          </p:nvGrpSpPr>
          <p:grpSpPr>
            <a:xfrm>
              <a:off x="18078450" y="6619875"/>
              <a:ext cx="2238375" cy="904875"/>
              <a:chOff x="18078450" y="6619875"/>
              <a:chExt cx="2238375" cy="904875"/>
            </a:xfrm>
          </p:grpSpPr>
          <p:sp>
            <p:nvSpPr>
              <p:cNvPr id="36" name="pill-2-bg"/>
              <p:cNvSpPr/>
              <p:nvPr/>
            </p:nvSpPr>
            <p:spPr>
              <a:xfrm>
                <a:off x="18078450" y="6619875"/>
                <a:ext cx="2238375" cy="904875"/>
              </a:xfrm>
              <a:prstGeom prst="roundRect">
                <a:avLst>
                  <a:gd name="adj" fmla="val 23157"/>
                </a:avLst>
              </a:prstGeom>
              <a:solidFill>
                <a:srgbClr val="37BDB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" name="pill-2-t"/>
              <p:cNvSpPr txBox="1"/>
              <p:nvPr/>
            </p:nvSpPr>
            <p:spPr>
              <a:xfrm>
                <a:off x="18078450" y="6696075"/>
                <a:ext cx="2238375" cy="752475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3000" b="1" i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+14.5%</a:t>
                </a:r>
              </a:p>
            </p:txBody>
          </p:sp>
        </p:grpSp>
        <p:grpSp>
          <p:nvGrpSpPr>
            <p:cNvPr id="69" name="pill-4"/>
            <p:cNvGrpSpPr/>
            <p:nvPr/>
          </p:nvGrpSpPr>
          <p:grpSpPr>
            <a:xfrm>
              <a:off x="18078450" y="8791575"/>
              <a:ext cx="2238375" cy="904875"/>
              <a:chOff x="18078450" y="8791575"/>
              <a:chExt cx="2238375" cy="904875"/>
            </a:xfrm>
          </p:grpSpPr>
          <p:sp>
            <p:nvSpPr>
              <p:cNvPr id="38" name="pill-4-bg"/>
              <p:cNvSpPr/>
              <p:nvPr/>
            </p:nvSpPr>
            <p:spPr>
              <a:xfrm>
                <a:off x="18078450" y="8791575"/>
                <a:ext cx="2238375" cy="904875"/>
              </a:xfrm>
              <a:prstGeom prst="roundRect">
                <a:avLst>
                  <a:gd name="adj" fmla="val 23157"/>
                </a:avLst>
              </a:prstGeom>
              <a:solidFill>
                <a:srgbClr val="37BDB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" name="pill-4-t"/>
              <p:cNvSpPr txBox="1"/>
              <p:nvPr/>
            </p:nvSpPr>
            <p:spPr>
              <a:xfrm>
                <a:off x="18078450" y="8867775"/>
                <a:ext cx="2238375" cy="752475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3000" b="1" i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+300%</a:t>
                </a:r>
              </a:p>
            </p:txBody>
          </p:sp>
        </p:grpSp>
      </p:grpSp>
      <p:pic>
        <p:nvPicPr>
          <p:cNvPr id="40" name="dartboard" descr="_photo_dart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6250" y="2762250"/>
            <a:ext cx="2457450" cy="2047875"/>
          </a:xfrm>
          <a:prstGeom prst="rect">
            <a:avLst/>
          </a:prstGeom>
          <a:effectLst/>
        </p:spPr>
      </p:pic>
      <p:grpSp>
        <p:nvGrpSpPr>
          <p:cNvPr id="71" name="banner"/>
          <p:cNvGrpSpPr/>
          <p:nvPr/>
        </p:nvGrpSpPr>
        <p:grpSpPr>
          <a:xfrm>
            <a:off x="3305175" y="10496550"/>
            <a:ext cx="23850600" cy="4029075"/>
            <a:chOff x="3305175" y="10496550"/>
            <a:chExt cx="23850600" cy="4029075"/>
          </a:xfrm>
        </p:grpSpPr>
        <p:sp>
          <p:nvSpPr>
            <p:cNvPr id="41" name="banner-bg"/>
            <p:cNvSpPr/>
            <p:nvPr/>
          </p:nvSpPr>
          <p:spPr>
            <a:xfrm>
              <a:off x="3305175" y="10496550"/>
              <a:ext cx="23850600" cy="4029075"/>
            </a:xfrm>
            <a:prstGeom prst="roundRect">
              <a:avLst>
                <a:gd name="adj" fmla="val 7092"/>
              </a:avLst>
            </a:prstGeom>
            <a:gradFill rotWithShape="1">
              <a:gsLst>
                <a:gs pos="0">
                  <a:srgbClr val="5E86FE"/>
                </a:gs>
                <a:gs pos="100000">
                  <a:srgbClr val="4F72E8"/>
                </a:gs>
              </a:gsLst>
              <a:lin scaled="0" ang="54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banner-gloss"/>
            <p:cNvSpPr/>
            <p:nvPr/>
          </p:nvSpPr>
          <p:spPr>
            <a:xfrm>
              <a:off x="3305175" y="10496550"/>
              <a:ext cx="23850600" cy="45720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D2E3FD"/>
                </a:gs>
                <a:gs pos="100000">
                  <a:srgbClr val="5E86FE"/>
                </a:gs>
              </a:gsLst>
              <a:lin scaled="0" ang="54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68" name="banner-dividers"/>
            <p:cNvGrpSpPr/>
            <p:nvPr/>
          </p:nvGrpSpPr>
          <p:grpSpPr>
            <a:xfrm>
              <a:off x="9677400" y="11591925"/>
              <a:ext cx="11268075" cy="2247900"/>
              <a:chOff x="9677400" y="11591925"/>
              <a:chExt cx="11268075" cy="2247900"/>
            </a:xfrm>
          </p:grpSpPr>
          <p:cxnSp>
            <p:nvCxnSpPr>
              <p:cNvPr id="43" name="div-1"/>
              <p:cNvCxnSpPr/>
              <p:nvPr/>
            </p:nvCxnSpPr>
            <p:spPr>
              <a:xfrm>
                <a:off x="9677400" y="11591925"/>
                <a:ext cx="0" cy="2247900"/>
              </a:xfrm>
              <a:prstGeom prst="line">
                <a:avLst/>
              </a:prstGeom>
              <a:ln w="19050">
                <a:solidFill>
                  <a:srgbClr val="FFFFFF"/>
                </a:solidFill>
                <a:prstDash val="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div-2"/>
              <p:cNvCxnSpPr/>
              <p:nvPr/>
            </p:nvCxnSpPr>
            <p:spPr>
              <a:xfrm>
                <a:off x="15316200" y="11591925"/>
                <a:ext cx="0" cy="2247900"/>
              </a:xfrm>
              <a:prstGeom prst="line">
                <a:avLst/>
              </a:prstGeom>
              <a:ln w="19050">
                <a:solidFill>
                  <a:srgbClr val="FFFFFF"/>
                </a:solidFill>
                <a:prstDash val="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div-3"/>
              <p:cNvCxnSpPr/>
              <p:nvPr/>
            </p:nvCxnSpPr>
            <p:spPr>
              <a:xfrm>
                <a:off x="20945475" y="11591925"/>
                <a:ext cx="0" cy="2247900"/>
              </a:xfrm>
              <a:prstGeom prst="line">
                <a:avLst/>
              </a:prstGeom>
              <a:ln w="19050">
                <a:solidFill>
                  <a:srgbClr val="FFFFFF"/>
                </a:solidFill>
                <a:prstDash val="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6" name="b1-title"/>
            <p:cNvSpPr txBox="1"/>
            <p:nvPr/>
          </p:nvSpPr>
          <p:spPr>
            <a:xfrm>
              <a:off x="4600575" y="11372850"/>
              <a:ext cx="2852928" cy="79057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6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运营成本优化</a:t>
              </a:r>
            </a:p>
          </p:txBody>
        </p:sp>
        <p:sp>
          <p:nvSpPr>
            <p:cNvPr id="47" name="b1-l1"/>
            <p:cNvSpPr txBox="1"/>
            <p:nvPr/>
          </p:nvSpPr>
          <p:spPr>
            <a:xfrm>
              <a:off x="4600575" y="12172950"/>
              <a:ext cx="4663440" cy="5715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预计每年节省纸张及仓储成</a:t>
              </a:r>
            </a:p>
          </p:txBody>
        </p:sp>
        <p:sp>
          <p:nvSpPr>
            <p:cNvPr id="48" name="b1-l2"/>
            <p:cNvSpPr txBox="1"/>
            <p:nvPr/>
          </p:nvSpPr>
          <p:spPr>
            <a:xfrm>
              <a:off x="4600575" y="12773025"/>
              <a:ext cx="4476750" cy="5715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本约80万元，人力成本节</a:t>
              </a:r>
            </a:p>
          </p:txBody>
        </p:sp>
        <p:sp>
          <p:nvSpPr>
            <p:cNvPr id="49" name="b1-l3"/>
            <p:cNvSpPr txBox="1"/>
            <p:nvPr/>
          </p:nvSpPr>
          <p:spPr>
            <a:xfrm>
              <a:off x="4600575" y="13373100"/>
              <a:ext cx="4476750" cy="5715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约120万元</a:t>
              </a:r>
            </a:p>
          </p:txBody>
        </p:sp>
        <p:sp>
          <p:nvSpPr>
            <p:cNvPr id="50" name="b2-title"/>
            <p:cNvSpPr txBox="1"/>
            <p:nvPr/>
          </p:nvSpPr>
          <p:spPr>
            <a:xfrm>
              <a:off x="10229850" y="11372850"/>
              <a:ext cx="2476500" cy="79057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6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客户满意度</a:t>
              </a:r>
            </a:p>
          </p:txBody>
        </p:sp>
        <p:sp>
          <p:nvSpPr>
            <p:cNvPr id="51" name="b2-l1"/>
            <p:cNvSpPr txBox="1"/>
            <p:nvPr/>
          </p:nvSpPr>
          <p:spPr>
            <a:xfrm>
              <a:off x="10229850" y="12172950"/>
              <a:ext cx="4476750" cy="5715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目标将客户投诉率从5%降</a:t>
              </a:r>
            </a:p>
          </p:txBody>
        </p:sp>
        <p:sp>
          <p:nvSpPr>
            <p:cNvPr id="52" name="b2-l2"/>
            <p:cNvSpPr txBox="1"/>
            <p:nvPr/>
          </p:nvSpPr>
          <p:spPr>
            <a:xfrm>
              <a:off x="10229850" y="12773025"/>
              <a:ext cx="4476750" cy="5715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至1%以内，NPS评分提升</a:t>
              </a:r>
            </a:p>
          </p:txBody>
        </p:sp>
        <p:sp>
          <p:nvSpPr>
            <p:cNvPr id="53" name="b2-l3"/>
            <p:cNvSpPr txBox="1"/>
            <p:nvPr/>
          </p:nvSpPr>
          <p:spPr>
            <a:xfrm>
              <a:off x="10229850" y="13373100"/>
              <a:ext cx="4476750" cy="5715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至40分以上</a:t>
              </a:r>
            </a:p>
          </p:txBody>
        </p:sp>
        <p:sp>
          <p:nvSpPr>
            <p:cNvPr id="54" name="b3-title"/>
            <p:cNvSpPr txBox="1"/>
            <p:nvPr/>
          </p:nvSpPr>
          <p:spPr>
            <a:xfrm>
              <a:off x="15868650" y="11372850"/>
              <a:ext cx="2852928" cy="79057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6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决策效率提升</a:t>
              </a:r>
            </a:p>
          </p:txBody>
        </p:sp>
        <p:sp>
          <p:nvSpPr>
            <p:cNvPr id="55" name="b3-l1"/>
            <p:cNvSpPr txBox="1"/>
            <p:nvPr/>
          </p:nvSpPr>
          <p:spPr>
            <a:xfrm>
              <a:off x="15868650" y="12172950"/>
              <a:ext cx="4663440" cy="5715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管理层获取数据报表的时间</a:t>
              </a:r>
            </a:p>
          </p:txBody>
        </p:sp>
        <p:sp>
          <p:nvSpPr>
            <p:cNvPr id="56" name="b3-l2"/>
            <p:cNvSpPr txBox="1"/>
            <p:nvPr/>
          </p:nvSpPr>
          <p:spPr>
            <a:xfrm>
              <a:off x="15868650" y="12773025"/>
              <a:ext cx="4500220" cy="5715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从1天缩短至实时，支持快</a:t>
              </a:r>
            </a:p>
          </p:txBody>
        </p:sp>
        <p:sp>
          <p:nvSpPr>
            <p:cNvPr id="57" name="b3-l3"/>
            <p:cNvSpPr txBox="1"/>
            <p:nvPr/>
          </p:nvSpPr>
          <p:spPr>
            <a:xfrm>
              <a:off x="15868650" y="13373100"/>
              <a:ext cx="4476750" cy="5715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速决策</a:t>
              </a:r>
            </a:p>
          </p:txBody>
        </p:sp>
        <p:sp>
          <p:nvSpPr>
            <p:cNvPr id="58" name="b4-title"/>
            <p:cNvSpPr txBox="1"/>
            <p:nvPr/>
          </p:nvSpPr>
          <p:spPr>
            <a:xfrm>
              <a:off x="21507450" y="11372850"/>
              <a:ext cx="2814889" cy="79057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6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ROI投资回报</a:t>
              </a:r>
            </a:p>
          </p:txBody>
        </p:sp>
        <p:sp>
          <p:nvSpPr>
            <p:cNvPr id="59" name="b4-l1"/>
            <p:cNvSpPr txBox="1"/>
            <p:nvPr/>
          </p:nvSpPr>
          <p:spPr>
            <a:xfrm>
              <a:off x="21507450" y="12172950"/>
              <a:ext cx="4624578" cy="5715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项目总投资800万，预计18</a:t>
              </a:r>
            </a:p>
          </p:txBody>
        </p:sp>
        <p:sp>
          <p:nvSpPr>
            <p:cNvPr id="60" name="b4-l2"/>
            <p:cNvSpPr txBox="1"/>
            <p:nvPr/>
          </p:nvSpPr>
          <p:spPr>
            <a:xfrm>
              <a:off x="21507450" y="12773025"/>
              <a:ext cx="4663440" cy="5715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个月内通过降本增效收回成</a:t>
              </a:r>
            </a:p>
          </p:txBody>
        </p:sp>
        <p:sp>
          <p:nvSpPr>
            <p:cNvPr id="61" name="b4-l3"/>
            <p:cNvSpPr txBox="1"/>
            <p:nvPr/>
          </p:nvSpPr>
          <p:spPr>
            <a:xfrm>
              <a:off x="21507450" y="13373100"/>
              <a:ext cx="4476750" cy="5715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本</a:t>
              </a:r>
            </a:p>
          </p:txBody>
        </p:sp>
      </p:grpSp>
      <p:grpSp>
        <p:nvGrpSpPr>
          <p:cNvPr id="73" name="deco-corner"/>
          <p:cNvGrpSpPr/>
          <p:nvPr/>
        </p:nvGrpSpPr>
        <p:grpSpPr>
          <a:xfrm>
            <a:off x="23660100" y="14925675"/>
            <a:ext cx="6810375" cy="2219325"/>
            <a:chOff x="23660100" y="14925675"/>
            <a:chExt cx="6810375" cy="2219325"/>
          </a:xfrm>
        </p:grpSpPr>
        <p:sp>
          <p:nvSpPr>
            <p:cNvPr id="62" name="deco-1"/>
            <p:cNvSpPr/>
            <p:nvPr/>
          </p:nvSpPr>
          <p:spPr>
            <a:xfrm>
              <a:off x="24336375" y="14925675"/>
              <a:ext cx="1771650" cy="1057275"/>
            </a:xfrm>
            <a:prstGeom prst="rect">
              <a:avLst/>
            </a:prstGeom>
            <a:solidFill>
              <a:srgbClr val="628CA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deco-2"/>
            <p:cNvSpPr/>
            <p:nvPr/>
          </p:nvSpPr>
          <p:spPr>
            <a:xfrm>
              <a:off x="26631900" y="15373350"/>
              <a:ext cx="3838575" cy="923925"/>
            </a:xfrm>
            <a:custGeom>
              <a:avLst/>
              <a:gdLst/>
              <a:ahLst/>
              <a:cxnLst/>
              <a:rect l="l" t="t" r="r" b="b"/>
              <a:pathLst>
                <a:path w="3838575" h="923925">
                  <a:moveTo>
                    <a:pt x="0" y="0"/>
                  </a:moveTo>
                  <a:lnTo>
                    <a:pt x="3838575" y="0"/>
                  </a:lnTo>
                  <a:lnTo>
                    <a:pt x="3838575" y="114300"/>
                  </a:lnTo>
                  <a:lnTo>
                    <a:pt x="1171575" y="114300"/>
                  </a:lnTo>
                  <a:lnTo>
                    <a:pt x="1171575" y="923925"/>
                  </a:lnTo>
                  <a:lnTo>
                    <a:pt x="0" y="923925"/>
                  </a:lnTo>
                  <a:close/>
                </a:path>
              </a:pathLst>
            </a:custGeom>
            <a:solidFill>
              <a:srgbClr val="628CA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deco-3"/>
            <p:cNvSpPr/>
            <p:nvPr/>
          </p:nvSpPr>
          <p:spPr>
            <a:xfrm>
              <a:off x="25069800" y="16325850"/>
              <a:ext cx="1485900" cy="819150"/>
            </a:xfrm>
            <a:prstGeom prst="rect">
              <a:avLst/>
            </a:prstGeom>
            <a:solidFill>
              <a:srgbClr val="628CA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deco-4"/>
            <p:cNvSpPr/>
            <p:nvPr/>
          </p:nvSpPr>
          <p:spPr>
            <a:xfrm>
              <a:off x="23660100" y="16344900"/>
              <a:ext cx="1133475" cy="800100"/>
            </a:xfrm>
            <a:custGeom>
              <a:avLst/>
              <a:gdLst/>
              <a:ahLst/>
              <a:cxnLst/>
              <a:rect l="l" t="t" r="r" b="b"/>
              <a:pathLst>
                <a:path w="1133475" h="800100">
                  <a:moveTo>
                    <a:pt x="0" y="0"/>
                  </a:moveTo>
                  <a:lnTo>
                    <a:pt x="266700" y="0"/>
                  </a:lnTo>
                  <a:lnTo>
                    <a:pt x="1133475" y="0"/>
                  </a:lnTo>
                  <a:lnTo>
                    <a:pt x="1133475" y="114300"/>
                  </a:lnTo>
                  <a:lnTo>
                    <a:pt x="114300" y="114300"/>
                  </a:lnTo>
                  <a:lnTo>
                    <a:pt x="114300" y="800100"/>
                  </a:lnTo>
                  <a:lnTo>
                    <a:pt x="0" y="800100"/>
                  </a:lnTo>
                  <a:close/>
                </a:path>
              </a:pathLst>
            </a:custGeom>
            <a:solidFill>
              <a:srgbClr val="628CA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