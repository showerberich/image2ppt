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E7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rid-v0"/>
          <p:cNvSpPr/>
          <p:nvPr/>
        </p:nvSpPr>
        <p:spPr>
          <a:xfrm>
            <a:off x="333375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rid-v1"/>
          <p:cNvSpPr/>
          <p:nvPr/>
        </p:nvSpPr>
        <p:spPr>
          <a:xfrm>
            <a:off x="1562100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rid-v2"/>
          <p:cNvSpPr/>
          <p:nvPr/>
        </p:nvSpPr>
        <p:spPr>
          <a:xfrm>
            <a:off x="2781300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grid-v3"/>
          <p:cNvSpPr/>
          <p:nvPr/>
        </p:nvSpPr>
        <p:spPr>
          <a:xfrm>
            <a:off x="4010025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grid-v4"/>
          <p:cNvSpPr/>
          <p:nvPr/>
        </p:nvSpPr>
        <p:spPr>
          <a:xfrm>
            <a:off x="5229225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grid-v5"/>
          <p:cNvSpPr/>
          <p:nvPr/>
        </p:nvSpPr>
        <p:spPr>
          <a:xfrm>
            <a:off x="6457950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grid-v6"/>
          <p:cNvSpPr/>
          <p:nvPr/>
        </p:nvSpPr>
        <p:spPr>
          <a:xfrm>
            <a:off x="7686675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grid-v7"/>
          <p:cNvSpPr/>
          <p:nvPr/>
        </p:nvSpPr>
        <p:spPr>
          <a:xfrm>
            <a:off x="8905875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grid-v8"/>
          <p:cNvSpPr/>
          <p:nvPr/>
        </p:nvSpPr>
        <p:spPr>
          <a:xfrm>
            <a:off x="10134600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grid-v9"/>
          <p:cNvSpPr/>
          <p:nvPr/>
        </p:nvSpPr>
        <p:spPr>
          <a:xfrm>
            <a:off x="11353800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grid-v10"/>
          <p:cNvSpPr/>
          <p:nvPr/>
        </p:nvSpPr>
        <p:spPr>
          <a:xfrm>
            <a:off x="12582525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grid-v11"/>
          <p:cNvSpPr/>
          <p:nvPr/>
        </p:nvSpPr>
        <p:spPr>
          <a:xfrm>
            <a:off x="13811250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grid-v12"/>
          <p:cNvSpPr/>
          <p:nvPr/>
        </p:nvSpPr>
        <p:spPr>
          <a:xfrm>
            <a:off x="15030450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grid-v13"/>
          <p:cNvSpPr/>
          <p:nvPr/>
        </p:nvSpPr>
        <p:spPr>
          <a:xfrm>
            <a:off x="16259175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grid-v14"/>
          <p:cNvSpPr/>
          <p:nvPr/>
        </p:nvSpPr>
        <p:spPr>
          <a:xfrm>
            <a:off x="17478375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grid-v15"/>
          <p:cNvSpPr/>
          <p:nvPr/>
        </p:nvSpPr>
        <p:spPr>
          <a:xfrm>
            <a:off x="18707100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grid-v16"/>
          <p:cNvSpPr/>
          <p:nvPr/>
        </p:nvSpPr>
        <p:spPr>
          <a:xfrm>
            <a:off x="19935825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grid-v17"/>
          <p:cNvSpPr/>
          <p:nvPr/>
        </p:nvSpPr>
        <p:spPr>
          <a:xfrm>
            <a:off x="21155025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grid-v18"/>
          <p:cNvSpPr/>
          <p:nvPr/>
        </p:nvSpPr>
        <p:spPr>
          <a:xfrm>
            <a:off x="22383750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grid-v19"/>
          <p:cNvSpPr/>
          <p:nvPr/>
        </p:nvSpPr>
        <p:spPr>
          <a:xfrm>
            <a:off x="23602950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grid-v20"/>
          <p:cNvSpPr/>
          <p:nvPr/>
        </p:nvSpPr>
        <p:spPr>
          <a:xfrm>
            <a:off x="24831675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grid-v21"/>
          <p:cNvSpPr/>
          <p:nvPr/>
        </p:nvSpPr>
        <p:spPr>
          <a:xfrm>
            <a:off x="26060400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grid-v22"/>
          <p:cNvSpPr/>
          <p:nvPr/>
        </p:nvSpPr>
        <p:spPr>
          <a:xfrm>
            <a:off x="27279600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grid-v23"/>
          <p:cNvSpPr/>
          <p:nvPr/>
        </p:nvSpPr>
        <p:spPr>
          <a:xfrm>
            <a:off x="28508325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grid-v24"/>
          <p:cNvSpPr/>
          <p:nvPr/>
        </p:nvSpPr>
        <p:spPr>
          <a:xfrm>
            <a:off x="29727525" y="0"/>
            <a:ext cx="28575" cy="17145000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grid-h0"/>
          <p:cNvSpPr/>
          <p:nvPr/>
        </p:nvSpPr>
        <p:spPr>
          <a:xfrm>
            <a:off x="0" y="771525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grid-h1"/>
          <p:cNvSpPr/>
          <p:nvPr/>
        </p:nvSpPr>
        <p:spPr>
          <a:xfrm>
            <a:off x="0" y="1857375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grid-h2"/>
          <p:cNvSpPr/>
          <p:nvPr/>
        </p:nvSpPr>
        <p:spPr>
          <a:xfrm>
            <a:off x="0" y="2952750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grid-h3"/>
          <p:cNvSpPr/>
          <p:nvPr/>
        </p:nvSpPr>
        <p:spPr>
          <a:xfrm>
            <a:off x="0" y="4048125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grid-h4"/>
          <p:cNvSpPr/>
          <p:nvPr/>
        </p:nvSpPr>
        <p:spPr>
          <a:xfrm>
            <a:off x="0" y="5133975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grid-h5"/>
          <p:cNvSpPr/>
          <p:nvPr/>
        </p:nvSpPr>
        <p:spPr>
          <a:xfrm>
            <a:off x="0" y="6219825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grid-h6"/>
          <p:cNvSpPr/>
          <p:nvPr/>
        </p:nvSpPr>
        <p:spPr>
          <a:xfrm>
            <a:off x="0" y="7315200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grid-h7"/>
          <p:cNvSpPr/>
          <p:nvPr/>
        </p:nvSpPr>
        <p:spPr>
          <a:xfrm>
            <a:off x="0" y="8410575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grid-h8"/>
          <p:cNvSpPr/>
          <p:nvPr/>
        </p:nvSpPr>
        <p:spPr>
          <a:xfrm>
            <a:off x="0" y="9496425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grid-h9"/>
          <p:cNvSpPr/>
          <p:nvPr/>
        </p:nvSpPr>
        <p:spPr>
          <a:xfrm>
            <a:off x="0" y="10582275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grid-h10"/>
          <p:cNvSpPr/>
          <p:nvPr/>
        </p:nvSpPr>
        <p:spPr>
          <a:xfrm>
            <a:off x="0" y="11677650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grid-h11"/>
          <p:cNvSpPr/>
          <p:nvPr/>
        </p:nvSpPr>
        <p:spPr>
          <a:xfrm>
            <a:off x="0" y="12773025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grid-h12"/>
          <p:cNvSpPr/>
          <p:nvPr/>
        </p:nvSpPr>
        <p:spPr>
          <a:xfrm>
            <a:off x="0" y="13858875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grid-h13"/>
          <p:cNvSpPr/>
          <p:nvPr/>
        </p:nvSpPr>
        <p:spPr>
          <a:xfrm>
            <a:off x="0" y="14944725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grid-h14"/>
          <p:cNvSpPr/>
          <p:nvPr/>
        </p:nvSpPr>
        <p:spPr>
          <a:xfrm>
            <a:off x="0" y="16040100"/>
            <a:ext cx="30470475" cy="28575"/>
          </a:xfrm>
          <a:prstGeom prst="rect">
            <a:avLst/>
          </a:prstGeom>
          <a:solidFill>
            <a:srgbClr val="E5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itle-bar1"/>
          <p:cNvSpPr/>
          <p:nvPr/>
        </p:nvSpPr>
        <p:spPr>
          <a:xfrm>
            <a:off x="1200150" y="1400175"/>
            <a:ext cx="133350" cy="933450"/>
          </a:xfrm>
          <a:prstGeom prst="roundRect">
            <a:avLst>
              <a:gd name="adj" fmla="val 42857"/>
            </a:avLst>
          </a:prstGeom>
          <a:solidFill>
            <a:srgbClr val="5D8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itle-bar2"/>
          <p:cNvSpPr/>
          <p:nvPr/>
        </p:nvSpPr>
        <p:spPr>
          <a:xfrm>
            <a:off x="1438275" y="1400175"/>
            <a:ext cx="133350" cy="933450"/>
          </a:xfrm>
          <a:prstGeom prst="roundRect">
            <a:avLst>
              <a:gd name="adj" fmla="val 42857"/>
            </a:avLst>
          </a:prstGeom>
          <a:solidFill>
            <a:srgbClr val="43D9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itle"/>
          <p:cNvSpPr txBox="1"/>
          <p:nvPr/>
        </p:nvSpPr>
        <p:spPr>
          <a:xfrm>
            <a:off x="1905000" y="1371600"/>
            <a:ext cx="11239500" cy="933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900" b="1" i="0">
                <a:solidFill>
                  <a:srgbClr val="5C84F5"/>
                </a:solidFill>
                <a:latin typeface="Microsoft YaHei"/>
                <a:ea typeface="Microsoft YaHei"/>
                <a:cs typeface="Microsoft YaHei"/>
              </a:rPr>
              <a:t>传统模式与数字化模式效能</a:t>
            </a:r>
          </a:p>
        </p:txBody>
      </p:sp>
      <p:sp>
        <p:nvSpPr>
          <p:cNvPr id="46" name="panel-left"/>
          <p:cNvSpPr/>
          <p:nvPr/>
        </p:nvSpPr>
        <p:spPr>
          <a:xfrm>
            <a:off x="4638675" y="4095750"/>
            <a:ext cx="10553700" cy="9829800"/>
          </a:xfrm>
          <a:custGeom>
            <a:avLst/>
            <a:gdLst/>
            <a:ahLst/>
            <a:cxnLst/>
            <a:rect l="l" t="t" r="r" b="b"/>
            <a:pathLst>
              <a:path w="10553700" h="9829800">
                <a:moveTo>
                  <a:pt x="1762125" y="0"/>
                </a:moveTo>
                <a:lnTo>
                  <a:pt x="10553700" y="0"/>
                </a:lnTo>
                <a:lnTo>
                  <a:pt x="8601075" y="9829800"/>
                </a:lnTo>
                <a:lnTo>
                  <a:pt x="0" y="9829800"/>
                </a:lnTo>
                <a:close/>
              </a:path>
            </a:pathLst>
          </a:custGeom>
          <a:gradFill rotWithShape="1">
            <a:gsLst>
              <a:gs pos="0">
                <a:srgbClr val="B2EBEB"/>
              </a:gs>
              <a:gs pos="100000">
                <a:srgbClr val="EBF1F1"/>
              </a:gs>
            </a:gsLst>
            <a:lin scaled="0" ang="54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anel-right"/>
          <p:cNvSpPr/>
          <p:nvPr/>
        </p:nvSpPr>
        <p:spPr>
          <a:xfrm>
            <a:off x="15849600" y="4953000"/>
            <a:ext cx="10077450" cy="8972550"/>
          </a:xfrm>
          <a:custGeom>
            <a:avLst/>
            <a:gdLst/>
            <a:ahLst/>
            <a:cxnLst/>
            <a:rect l="l" t="t" r="r" b="b"/>
            <a:pathLst>
              <a:path w="10077450" h="8972550">
                <a:moveTo>
                  <a:pt x="1600200" y="0"/>
                </a:moveTo>
                <a:lnTo>
                  <a:pt x="10077450" y="0"/>
                </a:lnTo>
                <a:lnTo>
                  <a:pt x="8753475" y="8972550"/>
                </a:lnTo>
                <a:lnTo>
                  <a:pt x="0" y="8972550"/>
                </a:lnTo>
                <a:close/>
              </a:path>
            </a:pathLst>
          </a:custGeom>
          <a:gradFill rotWithShape="1">
            <a:gsLst>
              <a:gs pos="0">
                <a:srgbClr val="E9ECF5"/>
              </a:gs>
              <a:gs pos="100000">
                <a:srgbClr val="C2CCFD"/>
              </a:gs>
            </a:gsLst>
            <a:lin scaled="0" ang="54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deco-A"/>
          <p:cNvSpPr/>
          <p:nvPr/>
        </p:nvSpPr>
        <p:spPr>
          <a:xfrm>
            <a:off x="24345900" y="14973300"/>
            <a:ext cx="1771650" cy="1028700"/>
          </a:xfrm>
          <a:prstGeom prst="rect">
            <a:avLst/>
          </a:prstGeom>
          <a:solidFill>
            <a:srgbClr val="5F8C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deco-B"/>
          <p:cNvSpPr/>
          <p:nvPr/>
        </p:nvSpPr>
        <p:spPr>
          <a:xfrm>
            <a:off x="26650950" y="15430500"/>
            <a:ext cx="3819525" cy="104775"/>
          </a:xfrm>
          <a:prstGeom prst="rect">
            <a:avLst/>
          </a:prstGeom>
          <a:solidFill>
            <a:srgbClr val="5F8C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deco-C"/>
          <p:cNvSpPr/>
          <p:nvPr/>
        </p:nvSpPr>
        <p:spPr>
          <a:xfrm>
            <a:off x="26650950" y="15430500"/>
            <a:ext cx="1143000" cy="857250"/>
          </a:xfrm>
          <a:prstGeom prst="rect">
            <a:avLst/>
          </a:prstGeom>
          <a:solidFill>
            <a:srgbClr val="6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deco-D"/>
          <p:cNvSpPr/>
          <p:nvPr/>
        </p:nvSpPr>
        <p:spPr>
          <a:xfrm>
            <a:off x="23983950" y="16344900"/>
            <a:ext cx="819150" cy="95250"/>
          </a:xfrm>
          <a:prstGeom prst="rect">
            <a:avLst/>
          </a:prstGeom>
          <a:solidFill>
            <a:srgbClr val="5F8C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deco-D2"/>
          <p:cNvSpPr/>
          <p:nvPr/>
        </p:nvSpPr>
        <p:spPr>
          <a:xfrm>
            <a:off x="23679150" y="16344900"/>
            <a:ext cx="95250" cy="800100"/>
          </a:xfrm>
          <a:prstGeom prst="rect">
            <a:avLst/>
          </a:prstGeom>
          <a:solidFill>
            <a:srgbClr val="5F8C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deco-E"/>
          <p:cNvSpPr/>
          <p:nvPr/>
        </p:nvSpPr>
        <p:spPr>
          <a:xfrm>
            <a:off x="25069800" y="16344900"/>
            <a:ext cx="1504950" cy="800100"/>
          </a:xfrm>
          <a:prstGeom prst="rect">
            <a:avLst/>
          </a:prstGeom>
          <a:solidFill>
            <a:srgbClr val="647D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84" name="ribbon-left"/>
          <p:cNvGrpSpPr/>
          <p:nvPr/>
        </p:nvGrpSpPr>
        <p:grpSpPr>
          <a:xfrm>
            <a:off x="7334250" y="3552825"/>
            <a:ext cx="6591300" cy="1114425"/>
            <a:chOff x="7334250" y="3552825"/>
            <a:chExt cx="6591300" cy="1114425"/>
          </a:xfrm>
        </p:grpSpPr>
        <p:sp>
          <p:nvSpPr>
            <p:cNvPr id="54" name="ribbon-left-bg"/>
            <p:cNvSpPr/>
            <p:nvPr/>
          </p:nvSpPr>
          <p:spPr>
            <a:xfrm>
              <a:off x="7334250" y="3552825"/>
              <a:ext cx="6591300" cy="1114425"/>
            </a:xfrm>
            <a:custGeom>
              <a:avLst/>
              <a:gdLst/>
              <a:ahLst/>
              <a:cxnLst/>
              <a:rect l="l" t="t" r="r" b="b"/>
              <a:pathLst>
                <a:path w="6591300" h="1114425">
                  <a:moveTo>
                    <a:pt x="628650" y="0"/>
                  </a:moveTo>
                  <a:lnTo>
                    <a:pt x="6591300" y="0"/>
                  </a:lnTo>
                  <a:lnTo>
                    <a:pt x="6391275" y="1114425"/>
                  </a:lnTo>
                  <a:lnTo>
                    <a:pt x="0" y="1114425"/>
                  </a:lnTo>
                  <a:close/>
                </a:path>
              </a:pathLst>
            </a:custGeom>
            <a:solidFill>
              <a:srgbClr val="30CAC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ibbon-left-text"/>
            <p:cNvSpPr txBox="1"/>
            <p:nvPr/>
          </p:nvSpPr>
          <p:spPr>
            <a:xfrm>
              <a:off x="8591550" y="3648075"/>
              <a:ext cx="421005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传统模式</a:t>
              </a:r>
            </a:p>
          </p:txBody>
        </p:sp>
      </p:grpSp>
      <p:grpSp>
        <p:nvGrpSpPr>
          <p:cNvPr id="83" name="ribbon-right"/>
          <p:cNvGrpSpPr/>
          <p:nvPr/>
        </p:nvGrpSpPr>
        <p:grpSpPr>
          <a:xfrm>
            <a:off x="16916400" y="13011150"/>
            <a:ext cx="7705725" cy="1066800"/>
            <a:chOff x="16916400" y="13011150"/>
            <a:chExt cx="7705725" cy="1066800"/>
          </a:xfrm>
        </p:grpSpPr>
        <p:sp>
          <p:nvSpPr>
            <p:cNvPr id="56" name="ribbon-right-bg"/>
            <p:cNvSpPr/>
            <p:nvPr/>
          </p:nvSpPr>
          <p:spPr>
            <a:xfrm>
              <a:off x="16916400" y="13011150"/>
              <a:ext cx="7705725" cy="1066800"/>
            </a:xfrm>
            <a:custGeom>
              <a:avLst/>
              <a:gdLst/>
              <a:ahLst/>
              <a:cxnLst/>
              <a:rect l="l" t="t" r="r" b="b"/>
              <a:pathLst>
                <a:path w="7705725" h="1066800">
                  <a:moveTo>
                    <a:pt x="457200" y="0"/>
                  </a:moveTo>
                  <a:lnTo>
                    <a:pt x="7705725" y="0"/>
                  </a:lnTo>
                  <a:lnTo>
                    <a:pt x="5991225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587FF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ibbon-right-text"/>
            <p:cNvSpPr txBox="1"/>
            <p:nvPr/>
          </p:nvSpPr>
          <p:spPr>
            <a:xfrm>
              <a:off x="17602200" y="13106400"/>
              <a:ext cx="520065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数字化模式</a:t>
              </a:r>
            </a:p>
          </p:txBody>
        </p:sp>
      </p:grpSp>
      <p:sp>
        <p:nvSpPr>
          <p:cNvPr id="58" name="L1-dot"/>
          <p:cNvSpPr/>
          <p:nvPr/>
        </p:nvSpPr>
        <p:spPr>
          <a:xfrm>
            <a:off x="7172325" y="5334000"/>
            <a:ext cx="228600" cy="228600"/>
          </a:xfrm>
          <a:prstGeom prst="ellipse">
            <a:avLst/>
          </a:prstGeom>
          <a:solidFill>
            <a:srgbClr val="2B33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L1"/>
          <p:cNvSpPr txBox="1"/>
          <p:nvPr/>
        </p:nvSpPr>
        <p:spPr>
          <a:xfrm>
            <a:off x="7534275" y="5105400"/>
            <a:ext cx="3162300" cy="638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传统运作痛点</a:t>
            </a:r>
          </a:p>
        </p:txBody>
      </p:sp>
      <p:sp>
        <p:nvSpPr>
          <p:cNvPr id="60" name="L2"/>
          <p:cNvSpPr txBox="1"/>
          <p:nvPr/>
        </p:nvSpPr>
        <p:spPr>
          <a:xfrm>
            <a:off x="7067550" y="5762625"/>
            <a:ext cx="6374534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依赖Excel手工统计，数据版本</a:t>
            </a:r>
          </a:p>
        </p:txBody>
      </p:sp>
      <p:sp>
        <p:nvSpPr>
          <p:cNvPr id="61" name="L3"/>
          <p:cNvSpPr txBox="1"/>
          <p:nvPr/>
        </p:nvSpPr>
        <p:spPr>
          <a:xfrm>
            <a:off x="7067550" y="6362700"/>
            <a:ext cx="527685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混乱，难以追溯修改记录</a:t>
            </a:r>
          </a:p>
        </p:txBody>
      </p:sp>
      <p:sp>
        <p:nvSpPr>
          <p:cNvPr id="62" name="L4-dot"/>
          <p:cNvSpPr/>
          <p:nvPr/>
        </p:nvSpPr>
        <p:spPr>
          <a:xfrm>
            <a:off x="6734175" y="7715250"/>
            <a:ext cx="228600" cy="228600"/>
          </a:xfrm>
          <a:prstGeom prst="ellipse">
            <a:avLst/>
          </a:prstGeom>
          <a:solidFill>
            <a:srgbClr val="2B33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L4"/>
          <p:cNvSpPr txBox="1"/>
          <p:nvPr/>
        </p:nvSpPr>
        <p:spPr>
          <a:xfrm>
            <a:off x="7105650" y="7486650"/>
            <a:ext cx="3162300" cy="638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信息传递滞后</a:t>
            </a:r>
          </a:p>
        </p:txBody>
      </p:sp>
      <p:sp>
        <p:nvSpPr>
          <p:cNvPr id="64" name="L5"/>
          <p:cNvSpPr txBox="1"/>
          <p:nvPr/>
        </p:nvSpPr>
        <p:spPr>
          <a:xfrm>
            <a:off x="6629400" y="8143875"/>
            <a:ext cx="66294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跨部门审批流转需线下签字，平</a:t>
            </a:r>
          </a:p>
        </p:txBody>
      </p:sp>
      <p:sp>
        <p:nvSpPr>
          <p:cNvPr id="65" name="L6"/>
          <p:cNvSpPr txBox="1"/>
          <p:nvPr/>
        </p:nvSpPr>
        <p:spPr>
          <a:xfrm>
            <a:off x="6629400" y="8734425"/>
            <a:ext cx="64389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均耗时3天，严重影响业务节奏</a:t>
            </a:r>
          </a:p>
        </p:txBody>
      </p:sp>
      <p:sp>
        <p:nvSpPr>
          <p:cNvPr id="66" name="L7-dot"/>
          <p:cNvSpPr/>
          <p:nvPr/>
        </p:nvSpPr>
        <p:spPr>
          <a:xfrm>
            <a:off x="6296025" y="10906125"/>
            <a:ext cx="228600" cy="228600"/>
          </a:xfrm>
          <a:prstGeom prst="ellipse">
            <a:avLst/>
          </a:prstGeom>
          <a:solidFill>
            <a:srgbClr val="2B33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L7"/>
          <p:cNvSpPr txBox="1"/>
          <p:nvPr/>
        </p:nvSpPr>
        <p:spPr>
          <a:xfrm>
            <a:off x="6667500" y="10677525"/>
            <a:ext cx="3162300" cy="638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经验决策局限</a:t>
            </a:r>
          </a:p>
        </p:txBody>
      </p:sp>
      <p:sp>
        <p:nvSpPr>
          <p:cNvPr id="68" name="L8"/>
          <p:cNvSpPr txBox="1"/>
          <p:nvPr/>
        </p:nvSpPr>
        <p:spPr>
          <a:xfrm>
            <a:off x="6200775" y="11325225"/>
            <a:ext cx="6392799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管理者依靠个人经验拍板，缺乏</a:t>
            </a:r>
          </a:p>
        </p:txBody>
      </p:sp>
      <p:sp>
        <p:nvSpPr>
          <p:cNvPr id="69" name="L9"/>
          <p:cNvSpPr txBox="1"/>
          <p:nvPr/>
        </p:nvSpPr>
        <p:spPr>
          <a:xfrm>
            <a:off x="6200775" y="11925300"/>
            <a:ext cx="5022914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实时数据支撑，风险较高</a:t>
            </a:r>
          </a:p>
        </p:txBody>
      </p:sp>
      <p:sp>
        <p:nvSpPr>
          <p:cNvPr id="70" name="R1-dot"/>
          <p:cNvSpPr/>
          <p:nvPr/>
        </p:nvSpPr>
        <p:spPr>
          <a:xfrm>
            <a:off x="18497550" y="5334000"/>
            <a:ext cx="228600" cy="228600"/>
          </a:xfrm>
          <a:prstGeom prst="ellipse">
            <a:avLst/>
          </a:prstGeom>
          <a:solidFill>
            <a:srgbClr val="2B33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1"/>
          <p:cNvSpPr txBox="1"/>
          <p:nvPr/>
        </p:nvSpPr>
        <p:spPr>
          <a:xfrm>
            <a:off x="18869025" y="5105400"/>
            <a:ext cx="3657600" cy="638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数字化解决方案</a:t>
            </a:r>
          </a:p>
        </p:txBody>
      </p:sp>
      <p:sp>
        <p:nvSpPr>
          <p:cNvPr id="72" name="R2"/>
          <p:cNvSpPr txBox="1"/>
          <p:nvPr/>
        </p:nvSpPr>
        <p:spPr>
          <a:xfrm>
            <a:off x="18392775" y="5762625"/>
            <a:ext cx="661035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统一数据中台管理，所有操作留</a:t>
            </a:r>
          </a:p>
        </p:txBody>
      </p:sp>
      <p:sp>
        <p:nvSpPr>
          <p:cNvPr id="73" name="R3"/>
          <p:cNvSpPr txBox="1"/>
          <p:nvPr/>
        </p:nvSpPr>
        <p:spPr>
          <a:xfrm>
            <a:off x="18392775" y="6362700"/>
            <a:ext cx="6181725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痕，确保数据唯一性与准确性</a:t>
            </a:r>
          </a:p>
        </p:txBody>
      </p:sp>
      <p:sp>
        <p:nvSpPr>
          <p:cNvPr id="74" name="R4-dot"/>
          <p:cNvSpPr/>
          <p:nvPr/>
        </p:nvSpPr>
        <p:spPr>
          <a:xfrm>
            <a:off x="18068925" y="8210550"/>
            <a:ext cx="228600" cy="228600"/>
          </a:xfrm>
          <a:prstGeom prst="ellipse">
            <a:avLst/>
          </a:prstGeom>
          <a:solidFill>
            <a:srgbClr val="2B33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4"/>
          <p:cNvSpPr txBox="1"/>
          <p:nvPr/>
        </p:nvSpPr>
        <p:spPr>
          <a:xfrm>
            <a:off x="18430875" y="7972425"/>
            <a:ext cx="3162300" cy="638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流程在线协同</a:t>
            </a:r>
          </a:p>
        </p:txBody>
      </p:sp>
      <p:sp>
        <p:nvSpPr>
          <p:cNvPr id="76" name="R5"/>
          <p:cNvSpPr txBox="1"/>
          <p:nvPr/>
        </p:nvSpPr>
        <p:spPr>
          <a:xfrm>
            <a:off x="17973675" y="8639175"/>
            <a:ext cx="6619875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审批流全线上化，移动端随时处</a:t>
            </a:r>
          </a:p>
        </p:txBody>
      </p:sp>
      <p:sp>
        <p:nvSpPr>
          <p:cNvPr id="77" name="R6"/>
          <p:cNvSpPr txBox="1"/>
          <p:nvPr/>
        </p:nvSpPr>
        <p:spPr>
          <a:xfrm>
            <a:off x="17954625" y="9239250"/>
            <a:ext cx="554355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理，平均耗时缩短至2小时</a:t>
            </a:r>
          </a:p>
        </p:txBody>
      </p:sp>
      <p:sp>
        <p:nvSpPr>
          <p:cNvPr id="78" name="R7-dot"/>
          <p:cNvSpPr/>
          <p:nvPr/>
        </p:nvSpPr>
        <p:spPr>
          <a:xfrm>
            <a:off x="17630775" y="10515600"/>
            <a:ext cx="228600" cy="228600"/>
          </a:xfrm>
          <a:prstGeom prst="ellipse">
            <a:avLst/>
          </a:prstGeom>
          <a:solidFill>
            <a:srgbClr val="2B33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7"/>
          <p:cNvSpPr txBox="1"/>
          <p:nvPr/>
        </p:nvSpPr>
        <p:spPr>
          <a:xfrm>
            <a:off x="17992725" y="10287000"/>
            <a:ext cx="3162300" cy="6381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智能辅助决策</a:t>
            </a:r>
          </a:p>
        </p:txBody>
      </p:sp>
      <p:sp>
        <p:nvSpPr>
          <p:cNvPr id="80" name="R8"/>
          <p:cNvSpPr txBox="1"/>
          <p:nvPr/>
        </p:nvSpPr>
        <p:spPr>
          <a:xfrm>
            <a:off x="17516475" y="10944225"/>
            <a:ext cx="64389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驾驶舱大屏实时展示经营指标，</a:t>
            </a:r>
          </a:p>
        </p:txBody>
      </p:sp>
      <p:sp>
        <p:nvSpPr>
          <p:cNvPr id="81" name="R9"/>
          <p:cNvSpPr txBox="1"/>
          <p:nvPr/>
        </p:nvSpPr>
        <p:spPr>
          <a:xfrm>
            <a:off x="17526000" y="11544300"/>
            <a:ext cx="66294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2B3335"/>
                </a:solidFill>
                <a:latin typeface="Microsoft YaHei"/>
                <a:ea typeface="Microsoft YaHei"/>
                <a:cs typeface="Microsoft YaHei"/>
              </a:rPr>
              <a:t>AI预警异常数据，辅助科学决策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