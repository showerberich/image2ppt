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9E9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g-gra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gradFill rotWithShape="1">
            <a:gsLst>
              <a:gs pos="0">
                <a:srgbClr val="E7E7E9"/>
              </a:gs>
              <a:gs pos="100000">
                <a:srgbClr val="EFEFEF"/>
              </a:gs>
            </a:gsLst>
            <a:lin scaled="0" ang="2088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8" name="grid"/>
          <p:cNvGrpSpPr/>
          <p:nvPr/>
        </p:nvGrpSpPr>
        <p:grpSpPr>
          <a:xfrm>
            <a:off x="0" y="0"/>
            <a:ext cx="30470475" cy="17145000"/>
            <a:chOff x="0" y="0"/>
            <a:chExt cx="30470475" cy="17145000"/>
          </a:xfrm>
        </p:grpSpPr>
        <p:sp>
          <p:nvSpPr>
            <p:cNvPr id="5" name="grid-v0"/>
            <p:cNvSpPr/>
            <p:nvPr/>
          </p:nvSpPr>
          <p:spPr>
            <a:xfrm>
              <a:off x="3524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grid-v1"/>
            <p:cNvSpPr/>
            <p:nvPr/>
          </p:nvSpPr>
          <p:spPr>
            <a:xfrm>
              <a:off x="15716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grid-v2"/>
            <p:cNvSpPr/>
            <p:nvPr/>
          </p:nvSpPr>
          <p:spPr>
            <a:xfrm>
              <a:off x="27908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grid-v3"/>
            <p:cNvSpPr/>
            <p:nvPr/>
          </p:nvSpPr>
          <p:spPr>
            <a:xfrm>
              <a:off x="40195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grid-v4"/>
            <p:cNvSpPr/>
            <p:nvPr/>
          </p:nvSpPr>
          <p:spPr>
            <a:xfrm>
              <a:off x="52387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grid-v5"/>
            <p:cNvSpPr/>
            <p:nvPr/>
          </p:nvSpPr>
          <p:spPr>
            <a:xfrm>
              <a:off x="64674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grid-v6"/>
            <p:cNvSpPr/>
            <p:nvPr/>
          </p:nvSpPr>
          <p:spPr>
            <a:xfrm>
              <a:off x="76866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grid-v7"/>
            <p:cNvSpPr/>
            <p:nvPr/>
          </p:nvSpPr>
          <p:spPr>
            <a:xfrm>
              <a:off x="89058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grid-v8"/>
            <p:cNvSpPr/>
            <p:nvPr/>
          </p:nvSpPr>
          <p:spPr>
            <a:xfrm>
              <a:off x="1013460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grid-v9"/>
            <p:cNvSpPr/>
            <p:nvPr/>
          </p:nvSpPr>
          <p:spPr>
            <a:xfrm>
              <a:off x="1135380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grid-v10"/>
            <p:cNvSpPr/>
            <p:nvPr/>
          </p:nvSpPr>
          <p:spPr>
            <a:xfrm>
              <a:off x="125825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grid-v11"/>
            <p:cNvSpPr/>
            <p:nvPr/>
          </p:nvSpPr>
          <p:spPr>
            <a:xfrm>
              <a:off x="138017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grid-v12"/>
            <p:cNvSpPr/>
            <p:nvPr/>
          </p:nvSpPr>
          <p:spPr>
            <a:xfrm>
              <a:off x="150209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grid-v13"/>
            <p:cNvSpPr/>
            <p:nvPr/>
          </p:nvSpPr>
          <p:spPr>
            <a:xfrm>
              <a:off x="162496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grid-v14"/>
            <p:cNvSpPr/>
            <p:nvPr/>
          </p:nvSpPr>
          <p:spPr>
            <a:xfrm>
              <a:off x="174688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grid-v15"/>
            <p:cNvSpPr/>
            <p:nvPr/>
          </p:nvSpPr>
          <p:spPr>
            <a:xfrm>
              <a:off x="186975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grid-v16"/>
            <p:cNvSpPr/>
            <p:nvPr/>
          </p:nvSpPr>
          <p:spPr>
            <a:xfrm>
              <a:off x="199167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grid-v17"/>
            <p:cNvSpPr/>
            <p:nvPr/>
          </p:nvSpPr>
          <p:spPr>
            <a:xfrm>
              <a:off x="2113597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grid-v18"/>
            <p:cNvSpPr/>
            <p:nvPr/>
          </p:nvSpPr>
          <p:spPr>
            <a:xfrm>
              <a:off x="2236470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grid-v19"/>
            <p:cNvSpPr/>
            <p:nvPr/>
          </p:nvSpPr>
          <p:spPr>
            <a:xfrm>
              <a:off x="2358390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grid-v20"/>
            <p:cNvSpPr/>
            <p:nvPr/>
          </p:nvSpPr>
          <p:spPr>
            <a:xfrm>
              <a:off x="248126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grid-v21"/>
            <p:cNvSpPr/>
            <p:nvPr/>
          </p:nvSpPr>
          <p:spPr>
            <a:xfrm>
              <a:off x="260318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grid-v22"/>
            <p:cNvSpPr/>
            <p:nvPr/>
          </p:nvSpPr>
          <p:spPr>
            <a:xfrm>
              <a:off x="27251025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grid-v23"/>
            <p:cNvSpPr/>
            <p:nvPr/>
          </p:nvSpPr>
          <p:spPr>
            <a:xfrm>
              <a:off x="284797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grid-v24"/>
            <p:cNvSpPr/>
            <p:nvPr/>
          </p:nvSpPr>
          <p:spPr>
            <a:xfrm>
              <a:off x="29698950" y="0"/>
              <a:ext cx="28575" cy="17145000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grid-h0"/>
            <p:cNvSpPr/>
            <p:nvPr/>
          </p:nvSpPr>
          <p:spPr>
            <a:xfrm>
              <a:off x="0" y="76200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grid-h1"/>
            <p:cNvSpPr/>
            <p:nvPr/>
          </p:nvSpPr>
          <p:spPr>
            <a:xfrm>
              <a:off x="0" y="185737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grid-h2"/>
            <p:cNvSpPr/>
            <p:nvPr/>
          </p:nvSpPr>
          <p:spPr>
            <a:xfrm>
              <a:off x="0" y="294322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grid-h3"/>
            <p:cNvSpPr/>
            <p:nvPr/>
          </p:nvSpPr>
          <p:spPr>
            <a:xfrm>
              <a:off x="0" y="403860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grid-h4"/>
            <p:cNvSpPr/>
            <p:nvPr/>
          </p:nvSpPr>
          <p:spPr>
            <a:xfrm>
              <a:off x="0" y="512445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grid-h5"/>
            <p:cNvSpPr/>
            <p:nvPr/>
          </p:nvSpPr>
          <p:spPr>
            <a:xfrm>
              <a:off x="0" y="621982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grid-h6"/>
            <p:cNvSpPr/>
            <p:nvPr/>
          </p:nvSpPr>
          <p:spPr>
            <a:xfrm>
              <a:off x="0" y="731520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grid-h7"/>
            <p:cNvSpPr/>
            <p:nvPr/>
          </p:nvSpPr>
          <p:spPr>
            <a:xfrm>
              <a:off x="0" y="840105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grid-h8"/>
            <p:cNvSpPr/>
            <p:nvPr/>
          </p:nvSpPr>
          <p:spPr>
            <a:xfrm>
              <a:off x="0" y="949642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grid-h9"/>
            <p:cNvSpPr/>
            <p:nvPr/>
          </p:nvSpPr>
          <p:spPr>
            <a:xfrm>
              <a:off x="0" y="1058227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grid-h10"/>
            <p:cNvSpPr/>
            <p:nvPr/>
          </p:nvSpPr>
          <p:spPr>
            <a:xfrm>
              <a:off x="0" y="1167765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grid-h11"/>
            <p:cNvSpPr/>
            <p:nvPr/>
          </p:nvSpPr>
          <p:spPr>
            <a:xfrm>
              <a:off x="0" y="1277302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grid-h12"/>
            <p:cNvSpPr/>
            <p:nvPr/>
          </p:nvSpPr>
          <p:spPr>
            <a:xfrm>
              <a:off x="0" y="1385887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grid-h13"/>
            <p:cNvSpPr/>
            <p:nvPr/>
          </p:nvSpPr>
          <p:spPr>
            <a:xfrm>
              <a:off x="0" y="1495425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grid-h14"/>
            <p:cNvSpPr/>
            <p:nvPr/>
          </p:nvSpPr>
          <p:spPr>
            <a:xfrm>
              <a:off x="0" y="16040100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grid-h15"/>
            <p:cNvSpPr/>
            <p:nvPr/>
          </p:nvSpPr>
          <p:spPr>
            <a:xfrm>
              <a:off x="0" y="17116425"/>
              <a:ext cx="30470475" cy="28575"/>
            </a:xfrm>
            <a:prstGeom prst="rect">
              <a:avLst/>
            </a:prstGeom>
            <a:solidFill>
              <a:srgbClr val="DEDE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-part03"/>
          <p:cNvSpPr txBox="1"/>
          <p:nvPr/>
        </p:nvSpPr>
        <p:spPr>
          <a:xfrm>
            <a:off x="12049125" y="5314950"/>
            <a:ext cx="6810375" cy="1638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750" b="1" i="0" spc="375">
                <a:ln w="40640">
                  <a:solidFill>
                    <a:srgbClr val="5D85FF"/>
                  </a:solidFill>
                </a:ln>
                <a:noFill/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47" name="t-title"/>
          <p:cNvSpPr txBox="1"/>
          <p:nvPr/>
        </p:nvSpPr>
        <p:spPr>
          <a:xfrm>
            <a:off x="9134475" y="7400925"/>
            <a:ext cx="12192000" cy="2209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0" b="1" i="0">
                <a:solidFill>
                  <a:srgbClr val="4360BC"/>
                </a:solidFill>
                <a:latin typeface="Microsoft YaHei"/>
                <a:ea typeface="Microsoft YaHei"/>
                <a:cs typeface="Microsoft YaHei"/>
              </a:rPr>
              <a:t>核心资源配置</a:t>
            </a:r>
          </a:p>
        </p:txBody>
      </p:sp>
      <p:sp>
        <p:nvSpPr>
          <p:cNvPr id="48" name="t-sub"/>
          <p:cNvSpPr txBox="1"/>
          <p:nvPr/>
        </p:nvSpPr>
        <p:spPr>
          <a:xfrm>
            <a:off x="9978085" y="9810750"/>
            <a:ext cx="1052383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7E7E7E"/>
                </a:solidFill>
                <a:latin typeface="Microsoft YaHei"/>
                <a:ea typeface="Microsoft YaHei"/>
                <a:cs typeface="Microsoft YaHei"/>
              </a:rPr>
              <a:t>Core Resource Allocation</a:t>
            </a:r>
          </a:p>
        </p:txBody>
      </p:sp>
      <p:sp>
        <p:nvSpPr>
          <p:cNvPr id="49" name="arrow-down"/>
          <p:cNvSpPr/>
          <p:nvPr/>
        </p:nvSpPr>
        <p:spPr>
          <a:xfrm>
            <a:off x="14763750" y="11744325"/>
            <a:ext cx="923925" cy="666750"/>
          </a:xfrm>
          <a:custGeom>
            <a:avLst/>
            <a:gdLst/>
            <a:ahLst/>
            <a:cxnLst/>
            <a:rect l="l" t="t" r="r" b="b"/>
            <a:pathLst>
              <a:path w="923925" h="666750">
                <a:moveTo>
                  <a:pt x="0" y="0"/>
                </a:moveTo>
                <a:lnTo>
                  <a:pt x="923925" y="0"/>
                </a:lnTo>
                <a:lnTo>
                  <a:pt x="457200" y="666750"/>
                </a:lnTo>
                <a:close/>
              </a:path>
            </a:pathLst>
          </a:custGeom>
          <a:gradFill rotWithShape="1">
            <a:gsLst>
              <a:gs pos="0">
                <a:srgbClr val="E2E6F6"/>
              </a:gs>
              <a:gs pos="100000">
                <a:srgbClr val="6B8CFF"/>
              </a:gs>
            </a:gsLst>
            <a:lin scaled="0" ang="5400000"/>
          </a:gradFill>
          <a:ln w="4762">
            <a:solidFill>
              <a:srgbClr val="E8EC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7" name="art"/>
          <p:cNvGrpSpPr/>
          <p:nvPr/>
        </p:nvGrpSpPr>
        <p:grpSpPr>
          <a:xfrm>
            <a:off x="23631525" y="14897100"/>
            <a:ext cx="6838950" cy="2247900"/>
            <a:chOff x="23631525" y="14897100"/>
            <a:chExt cx="6838950" cy="2247900"/>
          </a:xfrm>
        </p:grpSpPr>
        <p:sp>
          <p:nvSpPr>
            <p:cNvPr id="50" name="art-a"/>
            <p:cNvSpPr/>
            <p:nvPr/>
          </p:nvSpPr>
          <p:spPr>
            <a:xfrm>
              <a:off x="24298275" y="14897100"/>
              <a:ext cx="1857375" cy="1123950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art-b"/>
            <p:cNvSpPr/>
            <p:nvPr/>
          </p:nvSpPr>
          <p:spPr>
            <a:xfrm>
              <a:off x="26603325" y="15344775"/>
              <a:ext cx="1228725" cy="1000125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art-trace"/>
            <p:cNvSpPr/>
            <p:nvPr/>
          </p:nvSpPr>
          <p:spPr>
            <a:xfrm>
              <a:off x="27822525" y="15344775"/>
              <a:ext cx="2647950" cy="180975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art-d"/>
            <p:cNvSpPr/>
            <p:nvPr/>
          </p:nvSpPr>
          <p:spPr>
            <a:xfrm>
              <a:off x="25022175" y="16306800"/>
              <a:ext cx="1590675" cy="838200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art-tick-h"/>
            <p:cNvSpPr/>
            <p:nvPr/>
          </p:nvSpPr>
          <p:spPr>
            <a:xfrm>
              <a:off x="23631525" y="16278225"/>
              <a:ext cx="1209675" cy="180975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art-tick-v"/>
            <p:cNvSpPr/>
            <p:nvPr/>
          </p:nvSpPr>
          <p:spPr>
            <a:xfrm>
              <a:off x="23631525" y="16306800"/>
              <a:ext cx="190500" cy="838200"/>
            </a:xfrm>
            <a:prstGeom prst="rect">
              <a:avLst/>
            </a:prstGeom>
            <a:solidFill>
              <a:srgbClr val="5D89A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