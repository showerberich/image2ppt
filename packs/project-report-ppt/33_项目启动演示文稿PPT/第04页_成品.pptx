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EA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gradFill rotWithShape="1">
            <a:gsLst>
              <a:gs pos="0">
                <a:srgbClr val="E7E7E9"/>
              </a:gs>
              <a:gs pos="100000">
                <a:srgbClr val="F0F0F2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9" name="grid"/>
          <p:cNvGrpSpPr/>
          <p:nvPr/>
        </p:nvGrpSpPr>
        <p:grpSpPr>
          <a:xfrm>
            <a:off x="0" y="0"/>
            <a:ext cx="30470475" cy="17135475"/>
            <a:chOff x="0" y="0"/>
            <a:chExt cx="30470475" cy="17135475"/>
          </a:xfrm>
        </p:grpSpPr>
        <p:sp>
          <p:nvSpPr>
            <p:cNvPr id="4" name="grid-v1"/>
            <p:cNvSpPr/>
            <p:nvPr/>
          </p:nvSpPr>
          <p:spPr>
            <a:xfrm>
              <a:off x="333375" y="0"/>
              <a:ext cx="47625" cy="1713547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grid-v2"/>
            <p:cNvSpPr/>
            <p:nvPr/>
          </p:nvSpPr>
          <p:spPr>
            <a:xfrm>
              <a:off x="1562100" y="0"/>
              <a:ext cx="47625" cy="1713547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grid-v3"/>
            <p:cNvSpPr/>
            <p:nvPr/>
          </p:nvSpPr>
          <p:spPr>
            <a:xfrm>
              <a:off x="2790825" y="0"/>
              <a:ext cx="47625" cy="1713547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grid-v4"/>
            <p:cNvSpPr/>
            <p:nvPr/>
          </p:nvSpPr>
          <p:spPr>
            <a:xfrm>
              <a:off x="4019550" y="0"/>
              <a:ext cx="47625" cy="1713547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grid-v5"/>
            <p:cNvSpPr/>
            <p:nvPr/>
          </p:nvSpPr>
          <p:spPr>
            <a:xfrm>
              <a:off x="5248275" y="0"/>
              <a:ext cx="47625" cy="1713547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grid-v6"/>
            <p:cNvSpPr/>
            <p:nvPr/>
          </p:nvSpPr>
          <p:spPr>
            <a:xfrm>
              <a:off x="6477000" y="0"/>
              <a:ext cx="47625" cy="1713547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grid-v7"/>
            <p:cNvSpPr/>
            <p:nvPr/>
          </p:nvSpPr>
          <p:spPr>
            <a:xfrm>
              <a:off x="7705725" y="0"/>
              <a:ext cx="47625" cy="1713547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grid-v8"/>
            <p:cNvSpPr/>
            <p:nvPr/>
          </p:nvSpPr>
          <p:spPr>
            <a:xfrm>
              <a:off x="8934450" y="0"/>
              <a:ext cx="47625" cy="1713547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grid-v9"/>
            <p:cNvSpPr/>
            <p:nvPr/>
          </p:nvSpPr>
          <p:spPr>
            <a:xfrm>
              <a:off x="10163175" y="0"/>
              <a:ext cx="47625" cy="1713547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grid-v10"/>
            <p:cNvSpPr/>
            <p:nvPr/>
          </p:nvSpPr>
          <p:spPr>
            <a:xfrm>
              <a:off x="11391900" y="0"/>
              <a:ext cx="47625" cy="1713547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grid-v11"/>
            <p:cNvSpPr/>
            <p:nvPr/>
          </p:nvSpPr>
          <p:spPr>
            <a:xfrm>
              <a:off x="12620625" y="0"/>
              <a:ext cx="47625" cy="1713547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grid-v12"/>
            <p:cNvSpPr/>
            <p:nvPr/>
          </p:nvSpPr>
          <p:spPr>
            <a:xfrm>
              <a:off x="13849350" y="0"/>
              <a:ext cx="47625" cy="1713547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grid-v13"/>
            <p:cNvSpPr/>
            <p:nvPr/>
          </p:nvSpPr>
          <p:spPr>
            <a:xfrm>
              <a:off x="15078075" y="0"/>
              <a:ext cx="47625" cy="1713547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grid-v14"/>
            <p:cNvSpPr/>
            <p:nvPr/>
          </p:nvSpPr>
          <p:spPr>
            <a:xfrm>
              <a:off x="16306800" y="0"/>
              <a:ext cx="47625" cy="1713547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grid-v15"/>
            <p:cNvSpPr/>
            <p:nvPr/>
          </p:nvSpPr>
          <p:spPr>
            <a:xfrm>
              <a:off x="17535525" y="0"/>
              <a:ext cx="47625" cy="1713547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grid-v16"/>
            <p:cNvSpPr/>
            <p:nvPr/>
          </p:nvSpPr>
          <p:spPr>
            <a:xfrm>
              <a:off x="18764250" y="0"/>
              <a:ext cx="47625" cy="1713547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grid-v17"/>
            <p:cNvSpPr/>
            <p:nvPr/>
          </p:nvSpPr>
          <p:spPr>
            <a:xfrm>
              <a:off x="19992975" y="0"/>
              <a:ext cx="47625" cy="1713547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grid-v18"/>
            <p:cNvSpPr/>
            <p:nvPr/>
          </p:nvSpPr>
          <p:spPr>
            <a:xfrm>
              <a:off x="21221700" y="0"/>
              <a:ext cx="47625" cy="1713547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grid-v19"/>
            <p:cNvSpPr/>
            <p:nvPr/>
          </p:nvSpPr>
          <p:spPr>
            <a:xfrm>
              <a:off x="22450425" y="0"/>
              <a:ext cx="47625" cy="1713547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grid-v20"/>
            <p:cNvSpPr/>
            <p:nvPr/>
          </p:nvSpPr>
          <p:spPr>
            <a:xfrm>
              <a:off x="23679150" y="0"/>
              <a:ext cx="47625" cy="1713547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grid-v21"/>
            <p:cNvSpPr/>
            <p:nvPr/>
          </p:nvSpPr>
          <p:spPr>
            <a:xfrm>
              <a:off x="24907875" y="0"/>
              <a:ext cx="47625" cy="1713547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grid-v22"/>
            <p:cNvSpPr/>
            <p:nvPr/>
          </p:nvSpPr>
          <p:spPr>
            <a:xfrm>
              <a:off x="26136600" y="0"/>
              <a:ext cx="47625" cy="1713547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grid-v23"/>
            <p:cNvSpPr/>
            <p:nvPr/>
          </p:nvSpPr>
          <p:spPr>
            <a:xfrm>
              <a:off x="27365325" y="0"/>
              <a:ext cx="47625" cy="1713547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grid-v24"/>
            <p:cNvSpPr/>
            <p:nvPr/>
          </p:nvSpPr>
          <p:spPr>
            <a:xfrm>
              <a:off x="28594050" y="0"/>
              <a:ext cx="47625" cy="1713547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grid-v25"/>
            <p:cNvSpPr/>
            <p:nvPr/>
          </p:nvSpPr>
          <p:spPr>
            <a:xfrm>
              <a:off x="29822775" y="0"/>
              <a:ext cx="47625" cy="1713547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grid-h1"/>
            <p:cNvSpPr/>
            <p:nvPr/>
          </p:nvSpPr>
          <p:spPr>
            <a:xfrm>
              <a:off x="0" y="966788"/>
              <a:ext cx="30470475" cy="4762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grid-h2"/>
            <p:cNvSpPr/>
            <p:nvPr/>
          </p:nvSpPr>
          <p:spPr>
            <a:xfrm>
              <a:off x="0" y="2038350"/>
              <a:ext cx="30470475" cy="4762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grid-h3"/>
            <p:cNvSpPr/>
            <p:nvPr/>
          </p:nvSpPr>
          <p:spPr>
            <a:xfrm>
              <a:off x="0" y="3109912"/>
              <a:ext cx="30470475" cy="4762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grid-h4"/>
            <p:cNvSpPr/>
            <p:nvPr/>
          </p:nvSpPr>
          <p:spPr>
            <a:xfrm>
              <a:off x="0" y="4181475"/>
              <a:ext cx="30470475" cy="4762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grid-h5"/>
            <p:cNvSpPr/>
            <p:nvPr/>
          </p:nvSpPr>
          <p:spPr>
            <a:xfrm>
              <a:off x="0" y="5253038"/>
              <a:ext cx="30470475" cy="4762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grid-h6"/>
            <p:cNvSpPr/>
            <p:nvPr/>
          </p:nvSpPr>
          <p:spPr>
            <a:xfrm>
              <a:off x="0" y="6324600"/>
              <a:ext cx="30470475" cy="4762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grid-h7"/>
            <p:cNvSpPr/>
            <p:nvPr/>
          </p:nvSpPr>
          <p:spPr>
            <a:xfrm>
              <a:off x="0" y="7396162"/>
              <a:ext cx="30470475" cy="4762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grid-h8"/>
            <p:cNvSpPr/>
            <p:nvPr/>
          </p:nvSpPr>
          <p:spPr>
            <a:xfrm>
              <a:off x="0" y="8467725"/>
              <a:ext cx="30470475" cy="4762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grid-h9"/>
            <p:cNvSpPr/>
            <p:nvPr/>
          </p:nvSpPr>
          <p:spPr>
            <a:xfrm>
              <a:off x="0" y="9539288"/>
              <a:ext cx="30470475" cy="4762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grid-h10"/>
            <p:cNvSpPr/>
            <p:nvPr/>
          </p:nvSpPr>
          <p:spPr>
            <a:xfrm>
              <a:off x="0" y="10610850"/>
              <a:ext cx="30470475" cy="4762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grid-h11"/>
            <p:cNvSpPr/>
            <p:nvPr/>
          </p:nvSpPr>
          <p:spPr>
            <a:xfrm>
              <a:off x="0" y="11682412"/>
              <a:ext cx="30470475" cy="4762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grid-h12"/>
            <p:cNvSpPr/>
            <p:nvPr/>
          </p:nvSpPr>
          <p:spPr>
            <a:xfrm>
              <a:off x="0" y="12753975"/>
              <a:ext cx="30470475" cy="4762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grid-h13"/>
            <p:cNvSpPr/>
            <p:nvPr/>
          </p:nvSpPr>
          <p:spPr>
            <a:xfrm>
              <a:off x="0" y="13825538"/>
              <a:ext cx="30470475" cy="4762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grid-h14"/>
            <p:cNvSpPr/>
            <p:nvPr/>
          </p:nvSpPr>
          <p:spPr>
            <a:xfrm>
              <a:off x="0" y="14897100"/>
              <a:ext cx="30470475" cy="4762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grid-h15"/>
            <p:cNvSpPr/>
            <p:nvPr/>
          </p:nvSpPr>
          <p:spPr>
            <a:xfrm>
              <a:off x="0" y="15968662"/>
              <a:ext cx="30470475" cy="4762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grid-h16"/>
            <p:cNvSpPr/>
            <p:nvPr/>
          </p:nvSpPr>
          <p:spPr>
            <a:xfrm>
              <a:off x="0" y="17040225"/>
              <a:ext cx="30470475" cy="47625"/>
            </a:xfrm>
            <a:prstGeom prst="rect">
              <a:avLst/>
            </a:prstGeom>
            <a:solidFill>
              <a:srgbClr val="4A4A55">
                <a:alpha val="35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5" name="hdr"/>
          <p:cNvGrpSpPr/>
          <p:nvPr/>
        </p:nvGrpSpPr>
        <p:grpSpPr>
          <a:xfrm>
            <a:off x="1209675" y="1312545"/>
            <a:ext cx="12547282" cy="1135380"/>
            <a:chOff x="1209675" y="1312545"/>
            <a:chExt cx="12547282" cy="1135380"/>
          </a:xfrm>
        </p:grpSpPr>
        <p:sp>
          <p:nvSpPr>
            <p:cNvPr id="45" name="accent-bar-blue"/>
            <p:cNvSpPr/>
            <p:nvPr/>
          </p:nvSpPr>
          <p:spPr>
            <a:xfrm>
              <a:off x="1209675" y="1371600"/>
              <a:ext cx="161925" cy="1076325"/>
            </a:xfrm>
            <a:prstGeom prst="roundRect">
              <a:avLst>
                <a:gd name="adj" fmla="val 50000"/>
              </a:avLst>
            </a:prstGeom>
            <a:solidFill>
              <a:srgbClr val="5E85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accent-bar-cyan"/>
            <p:cNvSpPr/>
            <p:nvPr/>
          </p:nvSpPr>
          <p:spPr>
            <a:xfrm>
              <a:off x="1400175" y="1428750"/>
              <a:ext cx="104775" cy="1009650"/>
            </a:xfrm>
            <a:prstGeom prst="roundRect">
              <a:avLst>
                <a:gd name="adj" fmla="val 50000"/>
              </a:avLst>
            </a:prstGeom>
            <a:solidFill>
              <a:srgbClr val="40D8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title"/>
            <p:cNvSpPr txBox="1"/>
            <p:nvPr/>
          </p:nvSpPr>
          <p:spPr>
            <a:xfrm>
              <a:off x="1758315" y="1312545"/>
              <a:ext cx="11998642" cy="1119188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7050" b="1" i="0">
                  <a:solidFill>
                    <a:srgbClr val="5E85FE"/>
                  </a:solidFill>
                  <a:latin typeface="Noto Sans CJK SC"/>
                  <a:ea typeface="Noto Sans CJK SC"/>
                  <a:cs typeface="Noto Sans CJK SC"/>
                </a:rPr>
                <a:t>数字化转型背景与项目契机</a:t>
              </a:r>
            </a:p>
          </p:txBody>
        </p:sp>
      </p:grpSp>
      <p:grpSp>
        <p:nvGrpSpPr>
          <p:cNvPr id="96" name="p1"/>
          <p:cNvGrpSpPr/>
          <p:nvPr/>
        </p:nvGrpSpPr>
        <p:grpSpPr>
          <a:xfrm>
            <a:off x="13811250" y="3352800"/>
            <a:ext cx="13048297" cy="2400300"/>
            <a:chOff x="13811250" y="3352800"/>
            <a:chExt cx="13048297" cy="2400300"/>
          </a:xfrm>
        </p:grpSpPr>
        <p:sp>
          <p:nvSpPr>
            <p:cNvPr id="48" name="p1-card"/>
            <p:cNvSpPr/>
            <p:nvPr/>
          </p:nvSpPr>
          <p:spPr>
            <a:xfrm>
              <a:off x="14716125" y="3352800"/>
              <a:ext cx="6048375" cy="2400300"/>
            </a:xfrm>
            <a:prstGeom prst="roundRect">
              <a:avLst>
                <a:gd name="adj" fmla="val 2380"/>
              </a:avLst>
            </a:prstGeom>
            <a:gradFill rotWithShape="1">
              <a:gsLst>
                <a:gs pos="0">
                  <a:srgbClr val="DCE2FB"/>
                </a:gs>
                <a:gs pos="100000">
                  <a:srgbClr val="EDEDF1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p1-shape"/>
            <p:cNvSpPr/>
            <p:nvPr/>
          </p:nvSpPr>
          <p:spPr>
            <a:xfrm>
              <a:off x="13811250" y="3390900"/>
              <a:ext cx="2124075" cy="2247900"/>
            </a:xfrm>
            <a:custGeom>
              <a:avLst/>
              <a:gdLst/>
              <a:ahLst/>
              <a:cxnLst/>
              <a:rect l="l" t="t" r="r" b="b"/>
              <a:pathLst>
                <a:path w="2124075" h="2247900">
                  <a:moveTo>
                    <a:pt x="1057275" y="0"/>
                  </a:moveTo>
                  <a:lnTo>
                    <a:pt x="2124075" y="2247900"/>
                  </a:lnTo>
                  <a:lnTo>
                    <a:pt x="0" y="2247900"/>
                  </a:lnTo>
                  <a:close/>
                </a:path>
              </a:pathLst>
            </a:custGeom>
            <a:solidFill>
              <a:srgbClr val="5173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p1-icon-1"/>
            <p:cNvSpPr/>
            <p:nvPr/>
          </p:nvSpPr>
          <p:spPr>
            <a:xfrm>
              <a:off x="14335125" y="4924547"/>
              <a:ext cx="399563" cy="199903"/>
            </a:xfrm>
            <a:custGeom>
              <a:avLst/>
              <a:gdLst/>
              <a:ahLst/>
              <a:cxnLst/>
              <a:rect l="l" t="t" r="r" b="b"/>
              <a:pathLst>
                <a:path w="399563" h="199903">
                  <a:moveTo>
                    <a:pt x="0" y="199903"/>
                  </a:moveTo>
                  <a:lnTo>
                    <a:pt x="1947" y="172065"/>
                  </a:lnTo>
                  <a:lnTo>
                    <a:pt x="7749" y="144769"/>
                  </a:lnTo>
                  <a:lnTo>
                    <a:pt x="17293" y="118546"/>
                  </a:lnTo>
                  <a:lnTo>
                    <a:pt x="30394" y="93906"/>
                  </a:lnTo>
                  <a:lnTo>
                    <a:pt x="46797" y="71329"/>
                  </a:lnTo>
                  <a:lnTo>
                    <a:pt x="66182" y="51255"/>
                  </a:lnTo>
                  <a:lnTo>
                    <a:pt x="88172" y="34075"/>
                  </a:lnTo>
                  <a:lnTo>
                    <a:pt x="112340" y="20122"/>
                  </a:lnTo>
                  <a:lnTo>
                    <a:pt x="138214" y="9668"/>
                  </a:lnTo>
                  <a:lnTo>
                    <a:pt x="165291" y="2917"/>
                  </a:lnTo>
                  <a:lnTo>
                    <a:pt x="193044" y="0"/>
                  </a:lnTo>
                  <a:lnTo>
                    <a:pt x="220933" y="974"/>
                  </a:lnTo>
                  <a:lnTo>
                    <a:pt x="248415" y="5820"/>
                  </a:lnTo>
                  <a:lnTo>
                    <a:pt x="274956" y="14443"/>
                  </a:lnTo>
                  <a:lnTo>
                    <a:pt x="300037" y="26676"/>
                  </a:lnTo>
                  <a:lnTo>
                    <a:pt x="323173" y="42281"/>
                  </a:lnTo>
                  <a:lnTo>
                    <a:pt x="343911" y="60954"/>
                  </a:lnTo>
                  <a:lnTo>
                    <a:pt x="361849" y="82331"/>
                  </a:lnTo>
                  <a:lnTo>
                    <a:pt x="376637" y="105997"/>
                  </a:lnTo>
                  <a:lnTo>
                    <a:pt x="387987" y="131490"/>
                  </a:lnTo>
                  <a:lnTo>
                    <a:pt x="395679" y="158315"/>
                  </a:lnTo>
                  <a:lnTo>
                    <a:pt x="399563" y="185950"/>
                  </a:lnTo>
                  <a:close/>
                </a:path>
              </a:pathLst>
            </a:custGeom>
            <a:solidFill>
              <a:srgbClr val="5173DE"/>
            </a:solidFill>
            <a:ln w="52387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p1-icon-2"/>
            <p:cNvSpPr/>
            <p:nvPr/>
          </p:nvSpPr>
          <p:spPr>
            <a:xfrm>
              <a:off x="14430375" y="4733925"/>
              <a:ext cx="209550" cy="209550"/>
            </a:xfrm>
            <a:prstGeom prst="ellipse">
              <a:avLst/>
            </a:prstGeom>
            <a:noFill/>
            <a:ln w="52387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p1-icon-3"/>
            <p:cNvSpPr/>
            <p:nvPr/>
          </p:nvSpPr>
          <p:spPr>
            <a:xfrm>
              <a:off x="15059025" y="4924547"/>
              <a:ext cx="399563" cy="199903"/>
            </a:xfrm>
            <a:custGeom>
              <a:avLst/>
              <a:gdLst/>
              <a:ahLst/>
              <a:cxnLst/>
              <a:rect l="l" t="t" r="r" b="b"/>
              <a:pathLst>
                <a:path w="399563" h="199903">
                  <a:moveTo>
                    <a:pt x="0" y="199903"/>
                  </a:moveTo>
                  <a:lnTo>
                    <a:pt x="1947" y="172065"/>
                  </a:lnTo>
                  <a:lnTo>
                    <a:pt x="7749" y="144769"/>
                  </a:lnTo>
                  <a:lnTo>
                    <a:pt x="17293" y="118546"/>
                  </a:lnTo>
                  <a:lnTo>
                    <a:pt x="30394" y="93906"/>
                  </a:lnTo>
                  <a:lnTo>
                    <a:pt x="46797" y="71329"/>
                  </a:lnTo>
                  <a:lnTo>
                    <a:pt x="66182" y="51255"/>
                  </a:lnTo>
                  <a:lnTo>
                    <a:pt x="88172" y="34075"/>
                  </a:lnTo>
                  <a:lnTo>
                    <a:pt x="112340" y="20122"/>
                  </a:lnTo>
                  <a:lnTo>
                    <a:pt x="138214" y="9668"/>
                  </a:lnTo>
                  <a:lnTo>
                    <a:pt x="165291" y="2917"/>
                  </a:lnTo>
                  <a:lnTo>
                    <a:pt x="193044" y="0"/>
                  </a:lnTo>
                  <a:lnTo>
                    <a:pt x="220933" y="974"/>
                  </a:lnTo>
                  <a:lnTo>
                    <a:pt x="248415" y="5820"/>
                  </a:lnTo>
                  <a:lnTo>
                    <a:pt x="274956" y="14443"/>
                  </a:lnTo>
                  <a:lnTo>
                    <a:pt x="300037" y="26676"/>
                  </a:lnTo>
                  <a:lnTo>
                    <a:pt x="323173" y="42281"/>
                  </a:lnTo>
                  <a:lnTo>
                    <a:pt x="343911" y="60954"/>
                  </a:lnTo>
                  <a:lnTo>
                    <a:pt x="361849" y="82331"/>
                  </a:lnTo>
                  <a:lnTo>
                    <a:pt x="376637" y="105997"/>
                  </a:lnTo>
                  <a:lnTo>
                    <a:pt x="387987" y="131490"/>
                  </a:lnTo>
                  <a:lnTo>
                    <a:pt x="395679" y="158315"/>
                  </a:lnTo>
                  <a:lnTo>
                    <a:pt x="399563" y="185950"/>
                  </a:lnTo>
                  <a:close/>
                </a:path>
              </a:pathLst>
            </a:custGeom>
            <a:solidFill>
              <a:srgbClr val="5173DE"/>
            </a:solidFill>
            <a:ln w="52387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p1-icon-4"/>
            <p:cNvSpPr/>
            <p:nvPr/>
          </p:nvSpPr>
          <p:spPr>
            <a:xfrm>
              <a:off x="15154275" y="4733925"/>
              <a:ext cx="209550" cy="209550"/>
            </a:xfrm>
            <a:prstGeom prst="ellipse">
              <a:avLst/>
            </a:prstGeom>
            <a:noFill/>
            <a:ln w="52387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p1-icon-5"/>
            <p:cNvSpPr/>
            <p:nvPr/>
          </p:nvSpPr>
          <p:spPr>
            <a:xfrm>
              <a:off x="14582775" y="4867466"/>
              <a:ext cx="627884" cy="314134"/>
            </a:xfrm>
            <a:custGeom>
              <a:avLst/>
              <a:gdLst/>
              <a:ahLst/>
              <a:cxnLst/>
              <a:rect l="l" t="t" r="r" b="b"/>
              <a:pathLst>
                <a:path w="627884" h="314134">
                  <a:moveTo>
                    <a:pt x="0" y="314134"/>
                  </a:moveTo>
                  <a:lnTo>
                    <a:pt x="3059" y="270388"/>
                  </a:lnTo>
                  <a:lnTo>
                    <a:pt x="12176" y="227494"/>
                  </a:lnTo>
                  <a:lnTo>
                    <a:pt x="27175" y="186287"/>
                  </a:lnTo>
                  <a:lnTo>
                    <a:pt x="47762" y="147567"/>
                  </a:lnTo>
                  <a:lnTo>
                    <a:pt x="73538" y="112090"/>
                  </a:lnTo>
                  <a:lnTo>
                    <a:pt x="104001" y="80545"/>
                  </a:lnTo>
                  <a:lnTo>
                    <a:pt x="138557" y="53547"/>
                  </a:lnTo>
                  <a:lnTo>
                    <a:pt x="176534" y="31621"/>
                  </a:lnTo>
                  <a:lnTo>
                    <a:pt x="217193" y="15193"/>
                  </a:lnTo>
                  <a:lnTo>
                    <a:pt x="259743" y="4584"/>
                  </a:lnTo>
                  <a:lnTo>
                    <a:pt x="303355" y="0"/>
                  </a:lnTo>
                  <a:lnTo>
                    <a:pt x="347181" y="1531"/>
                  </a:lnTo>
                  <a:lnTo>
                    <a:pt x="390367" y="9146"/>
                  </a:lnTo>
                  <a:lnTo>
                    <a:pt x="432073" y="22697"/>
                  </a:lnTo>
                  <a:lnTo>
                    <a:pt x="471487" y="41921"/>
                  </a:lnTo>
                  <a:lnTo>
                    <a:pt x="507843" y="66443"/>
                  </a:lnTo>
                  <a:lnTo>
                    <a:pt x="540431" y="95786"/>
                  </a:lnTo>
                  <a:lnTo>
                    <a:pt x="568619" y="129378"/>
                  </a:lnTo>
                  <a:lnTo>
                    <a:pt x="591858" y="166567"/>
                  </a:lnTo>
                  <a:lnTo>
                    <a:pt x="609694" y="206629"/>
                  </a:lnTo>
                  <a:lnTo>
                    <a:pt x="621781" y="248782"/>
                  </a:lnTo>
                  <a:lnTo>
                    <a:pt x="627884" y="292208"/>
                  </a:lnTo>
                  <a:close/>
                </a:path>
              </a:pathLst>
            </a:custGeom>
            <a:solidFill>
              <a:srgbClr val="5173DE"/>
            </a:solidFill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p1-icon-6"/>
            <p:cNvSpPr/>
            <p:nvPr/>
          </p:nvSpPr>
          <p:spPr>
            <a:xfrm>
              <a:off x="14754225" y="4600575"/>
              <a:ext cx="285750" cy="285750"/>
            </a:xfrm>
            <a:prstGeom prst="ellipse">
              <a:avLst/>
            </a:prstGeom>
            <a:noFill/>
            <a:ln w="571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p1-head"/>
            <p:cNvSpPr txBox="1"/>
            <p:nvPr/>
          </p:nvSpPr>
          <p:spPr>
            <a:xfrm>
              <a:off x="16220122" y="3513772"/>
              <a:ext cx="4004310" cy="72485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4567" b="1" i="0">
                  <a:solidFill>
                    <a:srgbClr val="5E85FE"/>
                  </a:solidFill>
                  <a:latin typeface="Noto Sans CJK SC"/>
                  <a:ea typeface="Noto Sans CJK SC"/>
                  <a:cs typeface="Noto Sans CJK SC"/>
                </a:rPr>
                <a:t>客户需求升级</a:t>
              </a:r>
            </a:p>
          </p:txBody>
        </p:sp>
        <p:sp>
          <p:nvSpPr>
            <p:cNvPr id="57" name="p1-body1"/>
            <p:cNvSpPr txBox="1"/>
            <p:nvPr/>
          </p:nvSpPr>
          <p:spPr>
            <a:xfrm>
              <a:off x="16251555" y="4310062"/>
              <a:ext cx="10607992" cy="5715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3B3C42"/>
                  </a:solidFill>
                  <a:latin typeface="Noto Sans CJK SC"/>
                  <a:ea typeface="Noto Sans CJK SC"/>
                  <a:cs typeface="Noto Sans CJK SC"/>
                </a:rPr>
                <a:t>头部客户要求订单状态实时可视，倒逼我司必须</a:t>
              </a:r>
            </a:p>
          </p:txBody>
        </p:sp>
        <p:sp>
          <p:nvSpPr>
            <p:cNvPr id="58" name="p1-body2"/>
            <p:cNvSpPr txBox="1"/>
            <p:nvPr/>
          </p:nvSpPr>
          <p:spPr>
            <a:xfrm>
              <a:off x="16251555" y="4900612"/>
              <a:ext cx="3650932" cy="5715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600" b="0" i="0">
                  <a:solidFill>
                    <a:srgbClr val="3B3C42"/>
                  </a:solidFill>
                  <a:latin typeface="Noto Sans CJK SC"/>
                  <a:ea typeface="Noto Sans CJK SC"/>
                  <a:cs typeface="Noto Sans CJK SC"/>
                </a:rPr>
                <a:t>升级供应链系统</a:t>
              </a:r>
            </a:p>
          </p:txBody>
        </p:sp>
      </p:grpSp>
      <p:grpSp>
        <p:nvGrpSpPr>
          <p:cNvPr id="97" name="p2"/>
          <p:cNvGrpSpPr/>
          <p:nvPr/>
        </p:nvGrpSpPr>
        <p:grpSpPr>
          <a:xfrm>
            <a:off x="3400425" y="6096000"/>
            <a:ext cx="15211425" cy="2381250"/>
            <a:chOff x="3400425" y="6096000"/>
            <a:chExt cx="15211425" cy="2381250"/>
          </a:xfrm>
        </p:grpSpPr>
        <p:sp>
          <p:nvSpPr>
            <p:cNvPr id="59" name="p2-card"/>
            <p:cNvSpPr/>
            <p:nvPr/>
          </p:nvSpPr>
          <p:spPr>
            <a:xfrm>
              <a:off x="5905500" y="6096000"/>
              <a:ext cx="8143875" cy="2381250"/>
            </a:xfrm>
            <a:prstGeom prst="roundRect">
              <a:avLst>
                <a:gd name="adj" fmla="val 2400"/>
              </a:avLst>
            </a:prstGeom>
            <a:gradFill rotWithShape="1">
              <a:gsLst>
                <a:gs pos="0">
                  <a:srgbClr val="EDEDF1"/>
                </a:gs>
                <a:gs pos="100000">
                  <a:srgbClr val="DCE2FB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p2-shape"/>
            <p:cNvSpPr/>
            <p:nvPr/>
          </p:nvSpPr>
          <p:spPr>
            <a:xfrm>
              <a:off x="14258925" y="6172200"/>
              <a:ext cx="4352925" cy="2286000"/>
            </a:xfrm>
            <a:custGeom>
              <a:avLst/>
              <a:gdLst/>
              <a:ahLst/>
              <a:cxnLst/>
              <a:rect l="l" t="t" r="r" b="b"/>
              <a:pathLst>
                <a:path w="4352925" h="2286000">
                  <a:moveTo>
                    <a:pt x="1095375" y="0"/>
                  </a:moveTo>
                  <a:lnTo>
                    <a:pt x="3257550" y="0"/>
                  </a:lnTo>
                  <a:lnTo>
                    <a:pt x="4352925" y="2286000"/>
                  </a:lnTo>
                  <a:lnTo>
                    <a:pt x="0" y="2286000"/>
                  </a:lnTo>
                  <a:close/>
                </a:path>
              </a:pathLst>
            </a:custGeom>
            <a:solidFill>
              <a:srgbClr val="5173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p2-icon-1"/>
            <p:cNvSpPr/>
            <p:nvPr/>
          </p:nvSpPr>
          <p:spPr>
            <a:xfrm>
              <a:off x="16154400" y="6848475"/>
              <a:ext cx="0" cy="895350"/>
            </a:xfrm>
            <a:custGeom>
              <a:avLst/>
              <a:gdLst/>
              <a:ahLst/>
              <a:cxnLst/>
              <a:rect l="l" t="t" r="r" b="b"/>
              <a:pathLst>
                <a:path w="0" h="895350">
                  <a:moveTo>
                    <a:pt x="0" y="0"/>
                  </a:moveTo>
                  <a:lnTo>
                    <a:pt x="0" y="895350"/>
                  </a:lnTo>
                </a:path>
              </a:pathLst>
            </a:custGeom>
            <a:noFill/>
            <a:ln w="52387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2" name="p2-icon-2"/>
            <p:cNvSpPr/>
            <p:nvPr/>
          </p:nvSpPr>
          <p:spPr>
            <a:xfrm>
              <a:off x="16154400" y="7743825"/>
              <a:ext cx="1238250" cy="0"/>
            </a:xfrm>
            <a:custGeom>
              <a:avLst/>
              <a:gdLst/>
              <a:ahLst/>
              <a:cxnLst/>
              <a:rect l="l" t="t" r="r" b="b"/>
              <a:pathLst>
                <a:path w="1238250" h="0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52387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3" name="p2-icon-3"/>
            <p:cNvSpPr/>
            <p:nvPr/>
          </p:nvSpPr>
          <p:spPr>
            <a:xfrm>
              <a:off x="16287750" y="7019925"/>
              <a:ext cx="876300" cy="552450"/>
            </a:xfrm>
            <a:custGeom>
              <a:avLst/>
              <a:gdLst/>
              <a:ahLst/>
              <a:cxnLst/>
              <a:rect l="l" t="t" r="r" b="b"/>
              <a:pathLst>
                <a:path w="876300" h="552450">
                  <a:moveTo>
                    <a:pt x="0" y="552450"/>
                  </a:moveTo>
                  <a:lnTo>
                    <a:pt x="304800" y="247650"/>
                  </a:lnTo>
                  <a:lnTo>
                    <a:pt x="514350" y="400050"/>
                  </a:lnTo>
                  <a:lnTo>
                    <a:pt x="876300" y="0"/>
                  </a:lnTo>
                </a:path>
              </a:pathLst>
            </a:custGeom>
            <a:noFill/>
            <a:ln w="52387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" name="p2-icon-4"/>
            <p:cNvSpPr/>
            <p:nvPr/>
          </p:nvSpPr>
          <p:spPr>
            <a:xfrm>
              <a:off x="17125950" y="6886575"/>
              <a:ext cx="228600" cy="228600"/>
            </a:xfrm>
            <a:custGeom>
              <a:avLst/>
              <a:gdLst/>
              <a:ahLst/>
              <a:cxnLst/>
              <a:rect l="l" t="t" r="r" b="b"/>
              <a:pathLst>
                <a:path w="228600" h="228600">
                  <a:moveTo>
                    <a:pt x="114300" y="0"/>
                  </a:moveTo>
                  <a:lnTo>
                    <a:pt x="228600" y="190500"/>
                  </a:lnTo>
                  <a:lnTo>
                    <a:pt x="0" y="2286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5" name="p2-head"/>
            <p:cNvSpPr txBox="1"/>
            <p:nvPr/>
          </p:nvSpPr>
          <p:spPr>
            <a:xfrm>
              <a:off x="10105072" y="6313170"/>
              <a:ext cx="3914775" cy="70866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sz="4462" b="1" i="0">
                  <a:solidFill>
                    <a:srgbClr val="5E85FE"/>
                  </a:solidFill>
                  <a:latin typeface="Noto Sans CJK SC"/>
                  <a:ea typeface="Noto Sans CJK SC"/>
                  <a:cs typeface="Noto Sans CJK SC"/>
                </a:rPr>
                <a:t>内部效率瓶颈</a:t>
              </a:r>
            </a:p>
          </p:txBody>
        </p:sp>
        <p:sp>
          <p:nvSpPr>
            <p:cNvPr id="66" name="p2-body1"/>
            <p:cNvSpPr txBox="1"/>
            <p:nvPr/>
          </p:nvSpPr>
          <p:spPr>
            <a:xfrm>
              <a:off x="3400425" y="7091362"/>
              <a:ext cx="10618470" cy="5715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sz="3600" b="0" i="0">
                  <a:solidFill>
                    <a:srgbClr val="3B3C42"/>
                  </a:solidFill>
                  <a:latin typeface="Noto Sans CJK SC"/>
                  <a:ea typeface="Noto Sans CJK SC"/>
                  <a:cs typeface="Noto Sans CJK SC"/>
                </a:rPr>
                <a:t>现有手工报表处理耗时过长，跨部门协作存在信</a:t>
              </a:r>
            </a:p>
          </p:txBody>
        </p:sp>
        <p:sp>
          <p:nvSpPr>
            <p:cNvPr id="67" name="p2-body2"/>
            <p:cNvSpPr txBox="1"/>
            <p:nvPr/>
          </p:nvSpPr>
          <p:spPr>
            <a:xfrm>
              <a:off x="9875520" y="7691438"/>
              <a:ext cx="4143375" cy="5715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sz="3600" b="0" i="0">
                  <a:solidFill>
                    <a:srgbClr val="3B3C42"/>
                  </a:solidFill>
                  <a:latin typeface="Noto Sans CJK SC"/>
                  <a:ea typeface="Noto Sans CJK SC"/>
                  <a:cs typeface="Noto Sans CJK SC"/>
                </a:rPr>
                <a:t>息孤岛，响应滞后</a:t>
              </a:r>
            </a:p>
          </p:txBody>
        </p:sp>
      </p:grpSp>
      <p:grpSp>
        <p:nvGrpSpPr>
          <p:cNvPr id="94" name="p3"/>
          <p:cNvGrpSpPr/>
          <p:nvPr/>
        </p:nvGrpSpPr>
        <p:grpSpPr>
          <a:xfrm>
            <a:off x="11849100" y="8858250"/>
            <a:ext cx="17495520" cy="2428875"/>
            <a:chOff x="11849100" y="8858250"/>
            <a:chExt cx="17495520" cy="2428875"/>
          </a:xfrm>
        </p:grpSpPr>
        <p:sp>
          <p:nvSpPr>
            <p:cNvPr id="68" name="p3-card"/>
            <p:cNvSpPr/>
            <p:nvPr/>
          </p:nvSpPr>
          <p:spPr>
            <a:xfrm>
              <a:off x="17716500" y="8858250"/>
              <a:ext cx="5905500" cy="2428875"/>
            </a:xfrm>
            <a:prstGeom prst="roundRect">
              <a:avLst>
                <a:gd name="adj" fmla="val 2352"/>
              </a:avLst>
            </a:prstGeom>
            <a:gradFill rotWithShape="1">
              <a:gsLst>
                <a:gs pos="0">
                  <a:srgbClr val="DCE2FB"/>
                </a:gs>
                <a:gs pos="100000">
                  <a:srgbClr val="EDEDF1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" name="p3-shape"/>
            <p:cNvSpPr/>
            <p:nvPr/>
          </p:nvSpPr>
          <p:spPr>
            <a:xfrm>
              <a:off x="11849100" y="8915400"/>
              <a:ext cx="6496050" cy="2324100"/>
            </a:xfrm>
            <a:custGeom>
              <a:avLst/>
              <a:gdLst/>
              <a:ahLst/>
              <a:cxnLst/>
              <a:rect l="l" t="t" r="r" b="b"/>
              <a:pathLst>
                <a:path w="6496050" h="2324100">
                  <a:moveTo>
                    <a:pt x="1114425" y="0"/>
                  </a:moveTo>
                  <a:lnTo>
                    <a:pt x="5381625" y="0"/>
                  </a:lnTo>
                  <a:lnTo>
                    <a:pt x="6496050" y="2324100"/>
                  </a:lnTo>
                  <a:lnTo>
                    <a:pt x="0" y="2324100"/>
                  </a:lnTo>
                  <a:close/>
                </a:path>
              </a:pathLst>
            </a:custGeom>
            <a:solidFill>
              <a:srgbClr val="5173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0" name="p3-icon-1"/>
            <p:cNvSpPr/>
            <p:nvPr/>
          </p:nvSpPr>
          <p:spPr>
            <a:xfrm>
              <a:off x="14487525" y="9810750"/>
              <a:ext cx="1219200" cy="419100"/>
            </a:xfrm>
            <a:prstGeom prst="ellipse">
              <a:avLst/>
            </a:prstGeom>
            <a:noFill/>
            <a:ln w="476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p3-icon-2"/>
            <p:cNvSpPr/>
            <p:nvPr/>
          </p:nvSpPr>
          <p:spPr>
            <a:xfrm rot="3600000">
              <a:off x="14487525" y="9810750"/>
              <a:ext cx="1219200" cy="419100"/>
            </a:xfrm>
            <a:prstGeom prst="ellipse">
              <a:avLst/>
            </a:prstGeom>
            <a:noFill/>
            <a:ln w="476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p3-icon-3"/>
            <p:cNvSpPr/>
            <p:nvPr/>
          </p:nvSpPr>
          <p:spPr>
            <a:xfrm rot="7200000">
              <a:off x="14487525" y="9810750"/>
              <a:ext cx="1219200" cy="419100"/>
            </a:xfrm>
            <a:prstGeom prst="ellipse">
              <a:avLst/>
            </a:prstGeom>
            <a:noFill/>
            <a:ln w="476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p3-icon-4"/>
            <p:cNvSpPr/>
            <p:nvPr/>
          </p:nvSpPr>
          <p:spPr>
            <a:xfrm>
              <a:off x="15020925" y="9391650"/>
              <a:ext cx="152400" cy="152400"/>
            </a:xfrm>
            <a:prstGeom prst="ellipse">
              <a:avLst/>
            </a:prstGeom>
            <a:noFill/>
            <a:ln w="476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p3-icon-5"/>
            <p:cNvSpPr/>
            <p:nvPr/>
          </p:nvSpPr>
          <p:spPr>
            <a:xfrm>
              <a:off x="14706600" y="10448925"/>
              <a:ext cx="152400" cy="152400"/>
            </a:xfrm>
            <a:prstGeom prst="ellipse">
              <a:avLst/>
            </a:prstGeom>
            <a:noFill/>
            <a:ln w="476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p3-icon-6"/>
            <p:cNvSpPr/>
            <p:nvPr/>
          </p:nvSpPr>
          <p:spPr>
            <a:xfrm>
              <a:off x="15335250" y="10448925"/>
              <a:ext cx="152400" cy="152400"/>
            </a:xfrm>
            <a:prstGeom prst="ellipse">
              <a:avLst/>
            </a:prstGeom>
            <a:noFill/>
            <a:ln w="476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p3-head"/>
            <p:cNvSpPr txBox="1"/>
            <p:nvPr/>
          </p:nvSpPr>
          <p:spPr>
            <a:xfrm>
              <a:off x="18706148" y="9072562"/>
              <a:ext cx="4621530" cy="722948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4559" b="1" i="0">
                  <a:solidFill>
                    <a:srgbClr val="5E85FE"/>
                  </a:solidFill>
                  <a:latin typeface="Noto Sans CJK SC"/>
                  <a:ea typeface="Noto Sans CJK SC"/>
                  <a:cs typeface="Noto Sans CJK SC"/>
                </a:rPr>
                <a:t>技术成熟度提升</a:t>
              </a:r>
            </a:p>
          </p:txBody>
        </p:sp>
        <p:sp>
          <p:nvSpPr>
            <p:cNvPr id="77" name="p3-body1"/>
            <p:cNvSpPr txBox="1"/>
            <p:nvPr/>
          </p:nvSpPr>
          <p:spPr>
            <a:xfrm>
              <a:off x="18747105" y="9864090"/>
              <a:ext cx="10597515" cy="570548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592" b="0" i="0">
                  <a:solidFill>
                    <a:srgbClr val="3B3C42"/>
                  </a:solidFill>
                  <a:latin typeface="Noto Sans CJK SC"/>
                  <a:ea typeface="Noto Sans CJK SC"/>
                  <a:cs typeface="Noto Sans CJK SC"/>
                </a:rPr>
                <a:t>云计算与AI技术在本行业应用案例增多，实施风</a:t>
              </a:r>
            </a:p>
          </p:txBody>
        </p:sp>
        <p:sp>
          <p:nvSpPr>
            <p:cNvPr id="78" name="p3-body2"/>
            <p:cNvSpPr txBox="1"/>
            <p:nvPr/>
          </p:nvSpPr>
          <p:spPr>
            <a:xfrm>
              <a:off x="18747105" y="10468928"/>
              <a:ext cx="4604385" cy="570548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sz="3592" b="0" i="0">
                  <a:solidFill>
                    <a:srgbClr val="3B3C42"/>
                  </a:solidFill>
                  <a:latin typeface="Noto Sans CJK SC"/>
                  <a:ea typeface="Noto Sans CJK SC"/>
                  <a:cs typeface="Noto Sans CJK SC"/>
                </a:rPr>
                <a:t>险已降至可接受范围</a:t>
              </a:r>
            </a:p>
          </p:txBody>
        </p:sp>
      </p:grpSp>
      <p:grpSp>
        <p:nvGrpSpPr>
          <p:cNvPr id="100" name="p4"/>
          <p:cNvGrpSpPr/>
          <p:nvPr/>
        </p:nvGrpSpPr>
        <p:grpSpPr>
          <a:xfrm>
            <a:off x="2617470" y="11639550"/>
            <a:ext cx="19632930" cy="2438400"/>
            <a:chOff x="2617470" y="11639550"/>
            <a:chExt cx="19632930" cy="2438400"/>
          </a:xfrm>
        </p:grpSpPr>
        <p:sp>
          <p:nvSpPr>
            <p:cNvPr id="79" name="p4-card"/>
            <p:cNvSpPr/>
            <p:nvPr/>
          </p:nvSpPr>
          <p:spPr>
            <a:xfrm>
              <a:off x="5334000" y="11639550"/>
              <a:ext cx="8191500" cy="2438400"/>
            </a:xfrm>
            <a:prstGeom prst="roundRect">
              <a:avLst>
                <a:gd name="adj" fmla="val 2343"/>
              </a:avLst>
            </a:prstGeom>
            <a:gradFill rotWithShape="1">
              <a:gsLst>
                <a:gs pos="0">
                  <a:srgbClr val="EDEDF1"/>
                </a:gs>
                <a:gs pos="100000">
                  <a:srgbClr val="DCE2FB"/>
                </a:gs>
              </a:gsLst>
              <a:lin scaled="0" ang="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p4-shape"/>
            <p:cNvSpPr/>
            <p:nvPr/>
          </p:nvSpPr>
          <p:spPr>
            <a:xfrm>
              <a:off x="13601700" y="11696700"/>
              <a:ext cx="8648700" cy="2305050"/>
            </a:xfrm>
            <a:custGeom>
              <a:avLst/>
              <a:gdLst/>
              <a:ahLst/>
              <a:cxnLst/>
              <a:rect l="l" t="t" r="r" b="b"/>
              <a:pathLst>
                <a:path w="8648700" h="2305050">
                  <a:moveTo>
                    <a:pt x="1085850" y="0"/>
                  </a:moveTo>
                  <a:lnTo>
                    <a:pt x="7534275" y="0"/>
                  </a:lnTo>
                  <a:lnTo>
                    <a:pt x="8648700" y="2305050"/>
                  </a:lnTo>
                  <a:lnTo>
                    <a:pt x="0" y="2305050"/>
                  </a:lnTo>
                  <a:close/>
                </a:path>
              </a:pathLst>
            </a:custGeom>
            <a:solidFill>
              <a:srgbClr val="5173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p4-icon-1"/>
            <p:cNvSpPr/>
            <p:nvPr/>
          </p:nvSpPr>
          <p:spPr>
            <a:xfrm>
              <a:off x="17364075" y="12239625"/>
              <a:ext cx="1104900" cy="1219200"/>
            </a:xfrm>
            <a:custGeom>
              <a:avLst/>
              <a:gdLst/>
              <a:ahLst/>
              <a:cxnLst/>
              <a:rect l="l" t="t" r="r" b="b"/>
              <a:pathLst>
                <a:path w="1104900" h="1219200">
                  <a:moveTo>
                    <a:pt x="0" y="0"/>
                  </a:moveTo>
                  <a:lnTo>
                    <a:pt x="1104900" y="0"/>
                  </a:lnTo>
                  <a:lnTo>
                    <a:pt x="1104900" y="495300"/>
                  </a:lnTo>
                  <a:lnTo>
                    <a:pt x="933450" y="895350"/>
                  </a:lnTo>
                  <a:lnTo>
                    <a:pt x="552450" y="1219200"/>
                  </a:lnTo>
                  <a:lnTo>
                    <a:pt x="171450" y="895350"/>
                  </a:lnTo>
                  <a:lnTo>
                    <a:pt x="0" y="495300"/>
                  </a:lnTo>
                  <a:close/>
                </a:path>
              </a:pathLst>
            </a:custGeom>
            <a:noFill/>
            <a:ln w="52387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p4-icon-2"/>
            <p:cNvSpPr/>
            <p:nvPr/>
          </p:nvSpPr>
          <p:spPr>
            <a:xfrm>
              <a:off x="18068925" y="12887325"/>
              <a:ext cx="228600" cy="552450"/>
            </a:xfrm>
            <a:custGeom>
              <a:avLst/>
              <a:gdLst/>
              <a:ahLst/>
              <a:cxnLst/>
              <a:rect l="l" t="t" r="r" b="b"/>
              <a:pathLst>
                <a:path w="228600" h="552450">
                  <a:moveTo>
                    <a:pt x="228600" y="0"/>
                  </a:moveTo>
                  <a:lnTo>
                    <a:pt x="57150" y="266700"/>
                  </a:lnTo>
                  <a:lnTo>
                    <a:pt x="171450" y="266700"/>
                  </a:lnTo>
                  <a:lnTo>
                    <a:pt x="0" y="552450"/>
                  </a:lnTo>
                </a:path>
              </a:pathLst>
            </a:custGeom>
            <a:noFill/>
            <a:ln w="4762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p4-icon-pk"/>
            <p:cNvSpPr txBox="1"/>
            <p:nvPr/>
          </p:nvSpPr>
          <p:spPr>
            <a:xfrm>
              <a:off x="17421225" y="12468225"/>
              <a:ext cx="990600" cy="495300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sz="3150" b="1" i="0">
                  <a:solidFill>
                    <a:srgbClr val="FFFFFF"/>
                  </a:solidFill>
                  <a:latin typeface="Noto Sans CJK SC"/>
                  <a:ea typeface="Noto Sans CJK SC"/>
                  <a:cs typeface="Noto Sans CJK SC"/>
                </a:rPr>
                <a:t>PK</a:t>
              </a:r>
            </a:p>
          </p:txBody>
        </p:sp>
        <p:sp>
          <p:nvSpPr>
            <p:cNvPr id="84" name="p4-head"/>
            <p:cNvSpPr txBox="1"/>
            <p:nvPr/>
          </p:nvSpPr>
          <p:spPr>
            <a:xfrm>
              <a:off x="9286875" y="11854815"/>
              <a:ext cx="3981450" cy="72104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sz="4545" b="1" i="0">
                  <a:solidFill>
                    <a:srgbClr val="5E85FE"/>
                  </a:solidFill>
                  <a:latin typeface="Noto Sans CJK SC"/>
                  <a:ea typeface="Noto Sans CJK SC"/>
                  <a:cs typeface="Noto Sans CJK SC"/>
                </a:rPr>
                <a:t>行业竞争加剧</a:t>
              </a:r>
            </a:p>
          </p:txBody>
        </p:sp>
        <p:sp>
          <p:nvSpPr>
            <p:cNvPr id="85" name="p4-body1"/>
            <p:cNvSpPr txBox="1"/>
            <p:nvPr/>
          </p:nvSpPr>
          <p:spPr>
            <a:xfrm>
              <a:off x="2617470" y="12643485"/>
              <a:ext cx="10639425" cy="57245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sz="3607" b="0" i="0">
                  <a:solidFill>
                    <a:srgbClr val="3B3C42"/>
                  </a:solidFill>
                  <a:latin typeface="Noto Sans CJK SC"/>
                  <a:ea typeface="Noto Sans CJK SC"/>
                  <a:cs typeface="Noto Sans CJK SC"/>
                </a:rPr>
                <a:t>竞品已完成数字化升级，运营成本降低15%，对</a:t>
              </a:r>
            </a:p>
          </p:txBody>
        </p:sp>
        <p:sp>
          <p:nvSpPr>
            <p:cNvPr id="86" name="p4-body2"/>
            <p:cNvSpPr txBox="1"/>
            <p:nvPr/>
          </p:nvSpPr>
          <p:spPr>
            <a:xfrm>
              <a:off x="8118158" y="13234035"/>
              <a:ext cx="5138738" cy="572452"/>
            </a:xfrm>
            <a:prstGeom prst="rect">
              <a:avLst/>
            </a:prstGeom>
            <a:noFill/>
            <a:effectLst/>
          </p:spPr>
          <p:txBody>
            <a:bodyPr wrap="square" lIns="0" rIns="0" tIns="0" bIns="0" anchor="ctr">
              <a:spAutoFit/>
            </a:bodyPr>
            <a:lstStyle/>
            <a:p>
              <a:pPr algn="r">
                <a:lnSpc>
                  <a:spcPct val="100000"/>
                </a:lnSpc>
              </a:pPr>
              <a:r>
                <a:rPr sz="3607" b="0" i="0">
                  <a:solidFill>
                    <a:srgbClr val="3B3C42"/>
                  </a:solidFill>
                  <a:latin typeface="Noto Sans CJK SC"/>
                  <a:ea typeface="Noto Sans CJK SC"/>
                  <a:cs typeface="Noto Sans CJK SC"/>
                </a:rPr>
                <a:t>我司市场份额形成挤压</a:t>
              </a:r>
            </a:p>
          </p:txBody>
        </p:sp>
      </p:grpSp>
      <p:grpSp>
        <p:nvGrpSpPr>
          <p:cNvPr id="98" name="deco"/>
          <p:cNvGrpSpPr/>
          <p:nvPr/>
        </p:nvGrpSpPr>
        <p:grpSpPr>
          <a:xfrm>
            <a:off x="23660100" y="14906625"/>
            <a:ext cx="6800850" cy="2228850"/>
            <a:chOff x="23660100" y="14906625"/>
            <a:chExt cx="6800850" cy="2228850"/>
          </a:xfrm>
        </p:grpSpPr>
        <p:sp>
          <p:nvSpPr>
            <p:cNvPr id="87" name="deco-1"/>
            <p:cNvSpPr/>
            <p:nvPr/>
          </p:nvSpPr>
          <p:spPr>
            <a:xfrm>
              <a:off x="24317325" y="14906625"/>
              <a:ext cx="1809750" cy="1085850"/>
            </a:xfrm>
            <a:prstGeom prst="rect">
              <a:avLst/>
            </a:prstGeom>
            <a:solidFill>
              <a:srgbClr val="6289A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deco-2"/>
            <p:cNvSpPr/>
            <p:nvPr/>
          </p:nvSpPr>
          <p:spPr>
            <a:xfrm>
              <a:off x="26622375" y="15354300"/>
              <a:ext cx="1076325" cy="942975"/>
            </a:xfrm>
            <a:prstGeom prst="rect">
              <a:avLst/>
            </a:prstGeom>
            <a:solidFill>
              <a:srgbClr val="6289A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9" name="deco-3"/>
            <p:cNvSpPr/>
            <p:nvPr/>
          </p:nvSpPr>
          <p:spPr>
            <a:xfrm>
              <a:off x="27698700" y="15354300"/>
              <a:ext cx="2762250" cy="95250"/>
            </a:xfrm>
            <a:prstGeom prst="rect">
              <a:avLst/>
            </a:prstGeom>
            <a:solidFill>
              <a:srgbClr val="6289A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0" name="deco-4"/>
            <p:cNvSpPr/>
            <p:nvPr/>
          </p:nvSpPr>
          <p:spPr>
            <a:xfrm>
              <a:off x="23945850" y="16287750"/>
              <a:ext cx="876300" cy="142875"/>
            </a:xfrm>
            <a:prstGeom prst="rect">
              <a:avLst/>
            </a:prstGeom>
            <a:solidFill>
              <a:srgbClr val="6289A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deco-5"/>
            <p:cNvSpPr/>
            <p:nvPr/>
          </p:nvSpPr>
          <p:spPr>
            <a:xfrm>
              <a:off x="23660100" y="16316325"/>
              <a:ext cx="133350" cy="819150"/>
            </a:xfrm>
            <a:prstGeom prst="rect">
              <a:avLst/>
            </a:prstGeom>
            <a:solidFill>
              <a:srgbClr val="6289A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2" name="deco-6"/>
            <p:cNvSpPr/>
            <p:nvPr/>
          </p:nvSpPr>
          <p:spPr>
            <a:xfrm>
              <a:off x="25041225" y="16297275"/>
              <a:ext cx="1552575" cy="838200"/>
            </a:xfrm>
            <a:prstGeom prst="rect">
              <a:avLst/>
            </a:prstGeom>
            <a:solidFill>
              <a:srgbClr val="6289A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