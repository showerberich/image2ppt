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765750" cy="138303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765750" cy="13830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-panel"/>
          <p:cNvSpPr/>
          <p:nvPr/>
        </p:nvSpPr>
        <p:spPr>
          <a:xfrm>
            <a:off x="1028700" y="1028700"/>
            <a:ext cx="28708350" cy="11791950"/>
          </a:xfrm>
          <a:prstGeom prst="rect">
            <a:avLst/>
          </a:prstGeom>
          <a:solidFill>
            <a:srgbClr val="F8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-01"/>
          <p:cNvCxnSpPr/>
          <p:nvPr/>
        </p:nvCxnSpPr>
        <p:spPr>
          <a:xfrm>
            <a:off x="2876550" y="8724900"/>
            <a:ext cx="0" cy="276225"/>
          </a:xfrm>
          <a:prstGeom prst="line">
            <a:avLst/>
          </a:prstGeom>
          <a:ln w="38100">
            <a:solidFill>
              <a:srgbClr val="F66F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-01b"/>
          <p:cNvCxnSpPr/>
          <p:nvPr/>
        </p:nvCxnSpPr>
        <p:spPr>
          <a:xfrm>
            <a:off x="2876550" y="9363075"/>
            <a:ext cx="0" cy="304800"/>
          </a:xfrm>
          <a:prstGeom prst="line">
            <a:avLst/>
          </a:prstGeom>
          <a:ln w="38100">
            <a:solidFill>
              <a:srgbClr val="F66F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-02"/>
          <p:cNvCxnSpPr/>
          <p:nvPr/>
        </p:nvCxnSpPr>
        <p:spPr>
          <a:xfrm>
            <a:off x="5819775" y="8039100"/>
            <a:ext cx="0" cy="333375"/>
          </a:xfrm>
          <a:prstGeom prst="line">
            <a:avLst/>
          </a:prstGeom>
          <a:ln w="38100">
            <a:solidFill>
              <a:srgbClr val="F990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-02b"/>
          <p:cNvCxnSpPr/>
          <p:nvPr/>
        </p:nvCxnSpPr>
        <p:spPr>
          <a:xfrm>
            <a:off x="5819775" y="8734425"/>
            <a:ext cx="0" cy="209550"/>
          </a:xfrm>
          <a:prstGeom prst="line">
            <a:avLst/>
          </a:prstGeom>
          <a:ln w="38100">
            <a:solidFill>
              <a:srgbClr val="F990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-03"/>
          <p:cNvCxnSpPr/>
          <p:nvPr/>
        </p:nvCxnSpPr>
        <p:spPr>
          <a:xfrm>
            <a:off x="8886825" y="7315200"/>
            <a:ext cx="0" cy="238125"/>
          </a:xfrm>
          <a:prstGeom prst="line">
            <a:avLst/>
          </a:prstGeom>
          <a:ln w="38100">
            <a:solidFill>
              <a:srgbClr val="FADA4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-03b"/>
          <p:cNvCxnSpPr/>
          <p:nvPr/>
        </p:nvCxnSpPr>
        <p:spPr>
          <a:xfrm>
            <a:off x="8886825" y="7915275"/>
            <a:ext cx="0" cy="323850"/>
          </a:xfrm>
          <a:prstGeom prst="line">
            <a:avLst/>
          </a:prstGeom>
          <a:ln w="38100">
            <a:solidFill>
              <a:srgbClr val="FADA4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-04"/>
          <p:cNvCxnSpPr/>
          <p:nvPr/>
        </p:nvCxnSpPr>
        <p:spPr>
          <a:xfrm>
            <a:off x="12963525" y="6610350"/>
            <a:ext cx="0" cy="257175"/>
          </a:xfrm>
          <a:prstGeom prst="line">
            <a:avLst/>
          </a:prstGeom>
          <a:ln w="38100">
            <a:solidFill>
              <a:srgbClr val="73CA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-04b"/>
          <p:cNvCxnSpPr/>
          <p:nvPr/>
        </p:nvCxnSpPr>
        <p:spPr>
          <a:xfrm>
            <a:off x="12963525" y="7229475"/>
            <a:ext cx="0" cy="295275"/>
          </a:xfrm>
          <a:prstGeom prst="line">
            <a:avLst/>
          </a:prstGeom>
          <a:ln w="38100">
            <a:solidFill>
              <a:srgbClr val="73CA8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-05"/>
          <p:cNvCxnSpPr/>
          <p:nvPr/>
        </p:nvCxnSpPr>
        <p:spPr>
          <a:xfrm>
            <a:off x="16097250" y="7419975"/>
            <a:ext cx="0" cy="1057275"/>
          </a:xfrm>
          <a:prstGeom prst="line">
            <a:avLst/>
          </a:prstGeom>
          <a:ln w="38100">
            <a:solidFill>
              <a:srgbClr val="5396F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-05b"/>
          <p:cNvCxnSpPr/>
          <p:nvPr/>
        </p:nvCxnSpPr>
        <p:spPr>
          <a:xfrm>
            <a:off x="16097250" y="8839200"/>
            <a:ext cx="0" cy="304800"/>
          </a:xfrm>
          <a:prstGeom prst="line">
            <a:avLst/>
          </a:prstGeom>
          <a:ln w="38100">
            <a:solidFill>
              <a:srgbClr val="5396F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-06"/>
          <p:cNvCxnSpPr/>
          <p:nvPr/>
        </p:nvCxnSpPr>
        <p:spPr>
          <a:xfrm>
            <a:off x="17421225" y="4238625"/>
            <a:ext cx="0" cy="352425"/>
          </a:xfrm>
          <a:prstGeom prst="line">
            <a:avLst/>
          </a:prstGeom>
          <a:ln w="38100">
            <a:solidFill>
              <a:srgbClr val="995B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-06b"/>
          <p:cNvCxnSpPr/>
          <p:nvPr/>
        </p:nvCxnSpPr>
        <p:spPr>
          <a:xfrm>
            <a:off x="17421225" y="4953000"/>
            <a:ext cx="0" cy="1152525"/>
          </a:xfrm>
          <a:prstGeom prst="line">
            <a:avLst/>
          </a:prstGeom>
          <a:ln w="38100">
            <a:solidFill>
              <a:srgbClr val="995B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-07"/>
          <p:cNvCxnSpPr/>
          <p:nvPr/>
        </p:nvCxnSpPr>
        <p:spPr>
          <a:xfrm>
            <a:off x="22012275" y="3248025"/>
            <a:ext cx="0" cy="304800"/>
          </a:xfrm>
          <a:prstGeom prst="line">
            <a:avLst/>
          </a:prstGeom>
          <a:ln w="38100">
            <a:solidFill>
              <a:srgbClr val="3A97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-07b"/>
          <p:cNvCxnSpPr/>
          <p:nvPr/>
        </p:nvCxnSpPr>
        <p:spPr>
          <a:xfrm>
            <a:off x="22012275" y="3914775"/>
            <a:ext cx="0" cy="752475"/>
          </a:xfrm>
          <a:prstGeom prst="line">
            <a:avLst/>
          </a:prstGeom>
          <a:ln w="38100">
            <a:solidFill>
              <a:srgbClr val="3A97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-08"/>
          <p:cNvCxnSpPr/>
          <p:nvPr/>
        </p:nvCxnSpPr>
        <p:spPr>
          <a:xfrm>
            <a:off x="21459825" y="5991225"/>
            <a:ext cx="0" cy="1695450"/>
          </a:xfrm>
          <a:prstGeom prst="line">
            <a:avLst/>
          </a:prstGeom>
          <a:ln w="38100">
            <a:solidFill>
              <a:srgbClr val="4094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-08b"/>
          <p:cNvCxnSpPr/>
          <p:nvPr/>
        </p:nvCxnSpPr>
        <p:spPr>
          <a:xfrm>
            <a:off x="21459825" y="8048625"/>
            <a:ext cx="0" cy="314325"/>
          </a:xfrm>
          <a:prstGeom prst="line">
            <a:avLst/>
          </a:prstGeom>
          <a:ln w="38100">
            <a:solidFill>
              <a:srgbClr val="4094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-09"/>
          <p:cNvCxnSpPr/>
          <p:nvPr/>
        </p:nvCxnSpPr>
        <p:spPr>
          <a:xfrm>
            <a:off x="25355550" y="4562475"/>
            <a:ext cx="0" cy="981075"/>
          </a:xfrm>
          <a:prstGeom prst="line">
            <a:avLst/>
          </a:prstGeom>
          <a:ln w="38100">
            <a:solidFill>
              <a:srgbClr val="3BC4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-09b"/>
          <p:cNvCxnSpPr/>
          <p:nvPr/>
        </p:nvCxnSpPr>
        <p:spPr>
          <a:xfrm>
            <a:off x="25355550" y="5905500"/>
            <a:ext cx="0" cy="314325"/>
          </a:xfrm>
          <a:prstGeom prst="line">
            <a:avLst/>
          </a:prstGeom>
          <a:ln w="38100">
            <a:solidFill>
              <a:srgbClr val="3BC4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-10"/>
          <p:cNvCxnSpPr/>
          <p:nvPr/>
        </p:nvCxnSpPr>
        <p:spPr>
          <a:xfrm>
            <a:off x="28108275" y="3857625"/>
            <a:ext cx="0" cy="2752725"/>
          </a:xfrm>
          <a:prstGeom prst="line">
            <a:avLst/>
          </a:prstGeom>
          <a:ln w="38100">
            <a:solidFill>
              <a:srgbClr val="8D48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-10b"/>
          <p:cNvCxnSpPr/>
          <p:nvPr/>
        </p:nvCxnSpPr>
        <p:spPr>
          <a:xfrm>
            <a:off x="28108275" y="6972300"/>
            <a:ext cx="0" cy="333375"/>
          </a:xfrm>
          <a:prstGeom prst="line">
            <a:avLst/>
          </a:prstGeom>
          <a:ln w="38100">
            <a:solidFill>
              <a:srgbClr val="8D48A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5" name="g-panel-01"/>
          <p:cNvGrpSpPr/>
          <p:nvPr/>
        </p:nvGrpSpPr>
        <p:grpSpPr>
          <a:xfrm>
            <a:off x="1924050" y="7972425"/>
            <a:ext cx="1905000" cy="733425"/>
            <a:chOff x="1924050" y="7972425"/>
            <a:chExt cx="1905000" cy="733425"/>
          </a:xfrm>
        </p:grpSpPr>
        <p:sp>
          <p:nvSpPr>
            <p:cNvPr id="24" name="panel-01"/>
            <p:cNvSpPr/>
            <p:nvPr/>
          </p:nvSpPr>
          <p:spPr>
            <a:xfrm>
              <a:off x="1924050" y="7972425"/>
              <a:ext cx="1905000" cy="733425"/>
            </a:xfrm>
            <a:prstGeom prst="roundRect">
              <a:avLst>
                <a:gd name="adj" fmla="val 14285"/>
              </a:avLst>
            </a:prstGeom>
            <a:noFill/>
            <a:ln w="47625">
              <a:solidFill>
                <a:srgbClr val="F66F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ptitle-01"/>
            <p:cNvSpPr txBox="1"/>
            <p:nvPr/>
          </p:nvSpPr>
          <p:spPr>
            <a:xfrm>
              <a:off x="1952625" y="7991475"/>
              <a:ext cx="1847850" cy="695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1" i="0">
                  <a:solidFill>
                    <a:srgbClr val="F66F6B"/>
                  </a:solidFill>
                  <a:latin typeface="Microsoft YaHei"/>
                  <a:ea typeface="Microsoft YaHei"/>
                  <a:cs typeface="Microsoft YaHei"/>
                </a:rPr>
                <a:t>前期筹备启动</a:t>
              </a:r>
            </a:p>
          </p:txBody>
        </p:sp>
      </p:grpSp>
      <p:sp>
        <p:nvSpPr>
          <p:cNvPr id="26" name="dbox-01"/>
          <p:cNvSpPr/>
          <p:nvPr/>
        </p:nvSpPr>
        <p:spPr>
          <a:xfrm>
            <a:off x="1714500" y="9001125"/>
            <a:ext cx="2266950" cy="361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desc-01"/>
          <p:cNvSpPr txBox="1"/>
          <p:nvPr/>
        </p:nvSpPr>
        <p:spPr>
          <a:xfrm>
            <a:off x="1743075" y="9020175"/>
            <a:ext cx="22098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14" b="0" i="0">
                <a:solidFill>
                  <a:srgbClr val="9A9C9C"/>
                </a:solidFill>
                <a:latin typeface="Microsoft YaHei"/>
                <a:ea typeface="Microsoft YaHei"/>
                <a:cs typeface="Microsoft YaHei"/>
              </a:rPr>
              <a:t>开启项目的初始筹备工作</a:t>
            </a:r>
          </a:p>
        </p:txBody>
      </p:sp>
      <p:sp>
        <p:nvSpPr>
          <p:cNvPr id="28" name="bar-01"/>
          <p:cNvSpPr/>
          <p:nvPr/>
        </p:nvSpPr>
        <p:spPr>
          <a:xfrm>
            <a:off x="1771650" y="9667875"/>
            <a:ext cx="3590925" cy="619125"/>
          </a:xfrm>
          <a:prstGeom prst="roundRect">
            <a:avLst>
              <a:gd name="adj" fmla="val 49230"/>
            </a:avLst>
          </a:prstGeom>
          <a:gradFill rotWithShape="1">
            <a:gsLst>
              <a:gs pos="0">
                <a:srgbClr val="FC6E6D"/>
              </a:gs>
              <a:gs pos="100000">
                <a:srgbClr val="FD8E5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txt-01"/>
          <p:cNvSpPr txBox="1"/>
          <p:nvPr/>
        </p:nvSpPr>
        <p:spPr>
          <a:xfrm>
            <a:off x="2114550" y="9667875"/>
            <a:ext cx="3048000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进度100%</a:t>
            </a:r>
          </a:p>
        </p:txBody>
      </p:sp>
      <p:grpSp>
        <p:nvGrpSpPr>
          <p:cNvPr id="111" name="g-panel-02"/>
          <p:cNvGrpSpPr/>
          <p:nvPr/>
        </p:nvGrpSpPr>
        <p:grpSpPr>
          <a:xfrm>
            <a:off x="4867275" y="7286625"/>
            <a:ext cx="1905000" cy="733425"/>
            <a:chOff x="4867275" y="7286625"/>
            <a:chExt cx="1905000" cy="733425"/>
          </a:xfrm>
        </p:grpSpPr>
        <p:sp>
          <p:nvSpPr>
            <p:cNvPr id="30" name="panel-02"/>
            <p:cNvSpPr/>
            <p:nvPr/>
          </p:nvSpPr>
          <p:spPr>
            <a:xfrm>
              <a:off x="4867275" y="7286625"/>
              <a:ext cx="1905000" cy="733425"/>
            </a:xfrm>
            <a:prstGeom prst="roundRect">
              <a:avLst>
                <a:gd name="adj" fmla="val 14285"/>
              </a:avLst>
            </a:prstGeom>
            <a:noFill/>
            <a:ln w="47625">
              <a:solidFill>
                <a:srgbClr val="F990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ptitle-02"/>
            <p:cNvSpPr txBox="1"/>
            <p:nvPr/>
          </p:nvSpPr>
          <p:spPr>
            <a:xfrm>
              <a:off x="4895850" y="7305675"/>
              <a:ext cx="1847850" cy="695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1" i="0">
                  <a:solidFill>
                    <a:srgbClr val="F99059"/>
                  </a:solidFill>
                  <a:latin typeface="Microsoft YaHei"/>
                  <a:ea typeface="Microsoft YaHei"/>
                  <a:cs typeface="Microsoft YaHei"/>
                </a:rPr>
                <a:t>市场调研开展</a:t>
              </a:r>
            </a:p>
          </p:txBody>
        </p:sp>
      </p:grpSp>
      <p:sp>
        <p:nvSpPr>
          <p:cNvPr id="32" name="dbox-02"/>
          <p:cNvSpPr/>
          <p:nvPr/>
        </p:nvSpPr>
        <p:spPr>
          <a:xfrm>
            <a:off x="4476750" y="8372475"/>
            <a:ext cx="2647950" cy="361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desc-02"/>
          <p:cNvSpPr txBox="1"/>
          <p:nvPr/>
        </p:nvSpPr>
        <p:spPr>
          <a:xfrm>
            <a:off x="4505325" y="8391525"/>
            <a:ext cx="25908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14" b="0" i="0">
                <a:solidFill>
                  <a:srgbClr val="9A9C9C"/>
                </a:solidFill>
                <a:latin typeface="Microsoft YaHei"/>
                <a:ea typeface="Microsoft YaHei"/>
                <a:cs typeface="Microsoft YaHei"/>
              </a:rPr>
              <a:t>对目标市场进行详细调研分析</a:t>
            </a:r>
          </a:p>
        </p:txBody>
      </p:sp>
      <p:sp>
        <p:nvSpPr>
          <p:cNvPr id="34" name="bar-02"/>
          <p:cNvSpPr/>
          <p:nvPr/>
        </p:nvSpPr>
        <p:spPr>
          <a:xfrm>
            <a:off x="4143375" y="8943975"/>
            <a:ext cx="4314825" cy="6286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A9150"/>
              </a:gs>
              <a:gs pos="100000">
                <a:srgbClr val="FBD83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txt-02"/>
          <p:cNvSpPr txBox="1"/>
          <p:nvPr/>
        </p:nvSpPr>
        <p:spPr>
          <a:xfrm>
            <a:off x="4486275" y="8943975"/>
            <a:ext cx="3048000" cy="628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进度100%</a:t>
            </a:r>
          </a:p>
        </p:txBody>
      </p:sp>
      <p:grpSp>
        <p:nvGrpSpPr>
          <p:cNvPr id="114" name="g-panel-03"/>
          <p:cNvGrpSpPr/>
          <p:nvPr/>
        </p:nvGrpSpPr>
        <p:grpSpPr>
          <a:xfrm>
            <a:off x="7934325" y="6562725"/>
            <a:ext cx="1905000" cy="733425"/>
            <a:chOff x="7934325" y="6562725"/>
            <a:chExt cx="1905000" cy="733425"/>
          </a:xfrm>
        </p:grpSpPr>
        <p:sp>
          <p:nvSpPr>
            <p:cNvPr id="36" name="panel-03"/>
            <p:cNvSpPr/>
            <p:nvPr/>
          </p:nvSpPr>
          <p:spPr>
            <a:xfrm>
              <a:off x="7934325" y="6562725"/>
              <a:ext cx="1905000" cy="733425"/>
            </a:xfrm>
            <a:prstGeom prst="roundRect">
              <a:avLst>
                <a:gd name="adj" fmla="val 14285"/>
              </a:avLst>
            </a:prstGeom>
            <a:noFill/>
            <a:ln w="47625">
              <a:solidFill>
                <a:srgbClr val="FADA4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ptitle-03"/>
            <p:cNvSpPr txBox="1"/>
            <p:nvPr/>
          </p:nvSpPr>
          <p:spPr>
            <a:xfrm>
              <a:off x="7962900" y="6581775"/>
              <a:ext cx="1847850" cy="695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1" i="0">
                  <a:solidFill>
                    <a:srgbClr val="FADA49"/>
                  </a:solidFill>
                  <a:latin typeface="Microsoft YaHei"/>
                  <a:ea typeface="Microsoft YaHei"/>
                  <a:cs typeface="Microsoft YaHei"/>
                </a:rPr>
                <a:t>产品设计规划</a:t>
              </a:r>
            </a:p>
          </p:txBody>
        </p:sp>
      </p:grpSp>
      <p:sp>
        <p:nvSpPr>
          <p:cNvPr id="38" name="dbox-03"/>
          <p:cNvSpPr/>
          <p:nvPr/>
        </p:nvSpPr>
        <p:spPr>
          <a:xfrm>
            <a:off x="7553325" y="7553325"/>
            <a:ext cx="2638425" cy="361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desc-03"/>
          <p:cNvSpPr txBox="1"/>
          <p:nvPr/>
        </p:nvSpPr>
        <p:spPr>
          <a:xfrm>
            <a:off x="7581900" y="7572375"/>
            <a:ext cx="2581275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7" b="0" i="0">
                <a:solidFill>
                  <a:srgbClr val="9A9C9C"/>
                </a:solidFill>
                <a:latin typeface="Microsoft YaHei"/>
                <a:ea typeface="Microsoft YaHei"/>
                <a:cs typeface="Microsoft YaHei"/>
              </a:rPr>
              <a:t>构思并规划产品整体设计方案</a:t>
            </a:r>
          </a:p>
        </p:txBody>
      </p:sp>
      <p:sp>
        <p:nvSpPr>
          <p:cNvPr id="40" name="bar-03"/>
          <p:cNvSpPr/>
          <p:nvPr/>
        </p:nvSpPr>
        <p:spPr>
          <a:xfrm>
            <a:off x="7239000" y="8239125"/>
            <a:ext cx="4781550" cy="609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BD83E"/>
              </a:gs>
              <a:gs pos="100000">
                <a:srgbClr val="72CF7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txt-03"/>
          <p:cNvSpPr txBox="1"/>
          <p:nvPr/>
        </p:nvSpPr>
        <p:spPr>
          <a:xfrm>
            <a:off x="7581900" y="8239125"/>
            <a:ext cx="3048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进度100%</a:t>
            </a:r>
          </a:p>
        </p:txBody>
      </p:sp>
      <p:grpSp>
        <p:nvGrpSpPr>
          <p:cNvPr id="116" name="g-panel-04"/>
          <p:cNvGrpSpPr/>
          <p:nvPr/>
        </p:nvGrpSpPr>
        <p:grpSpPr>
          <a:xfrm>
            <a:off x="12011025" y="5857875"/>
            <a:ext cx="1905000" cy="733425"/>
            <a:chOff x="12011025" y="5857875"/>
            <a:chExt cx="1905000" cy="733425"/>
          </a:xfrm>
        </p:grpSpPr>
        <p:sp>
          <p:nvSpPr>
            <p:cNvPr id="42" name="panel-04"/>
            <p:cNvSpPr/>
            <p:nvPr/>
          </p:nvSpPr>
          <p:spPr>
            <a:xfrm>
              <a:off x="12011025" y="5857875"/>
              <a:ext cx="1905000" cy="733425"/>
            </a:xfrm>
            <a:prstGeom prst="roundRect">
              <a:avLst>
                <a:gd name="adj" fmla="val 14285"/>
              </a:avLst>
            </a:prstGeom>
            <a:noFill/>
            <a:ln w="47625">
              <a:solidFill>
                <a:srgbClr val="73CA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ptitle-04"/>
            <p:cNvSpPr txBox="1"/>
            <p:nvPr/>
          </p:nvSpPr>
          <p:spPr>
            <a:xfrm>
              <a:off x="12039600" y="5876925"/>
              <a:ext cx="1847850" cy="695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1" i="0">
                  <a:solidFill>
                    <a:srgbClr val="73CA85"/>
                  </a:solidFill>
                  <a:latin typeface="Microsoft YaHei"/>
                  <a:ea typeface="Microsoft YaHei"/>
                  <a:cs typeface="Microsoft YaHei"/>
                </a:rPr>
                <a:t>技术研发推进</a:t>
              </a:r>
            </a:p>
          </p:txBody>
        </p:sp>
      </p:grpSp>
      <p:sp>
        <p:nvSpPr>
          <p:cNvPr id="44" name="dbox-04"/>
          <p:cNvSpPr/>
          <p:nvPr/>
        </p:nvSpPr>
        <p:spPr>
          <a:xfrm>
            <a:off x="11811000" y="6867525"/>
            <a:ext cx="2266950" cy="361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desc-04"/>
          <p:cNvSpPr txBox="1"/>
          <p:nvPr/>
        </p:nvSpPr>
        <p:spPr>
          <a:xfrm>
            <a:off x="11839575" y="6886575"/>
            <a:ext cx="22098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14" b="0" i="0">
                <a:solidFill>
                  <a:srgbClr val="9A9C9C"/>
                </a:solidFill>
                <a:latin typeface="Microsoft YaHei"/>
                <a:ea typeface="Microsoft YaHei"/>
                <a:cs typeface="Microsoft YaHei"/>
              </a:rPr>
              <a:t>开展核心技术的研发工作</a:t>
            </a:r>
          </a:p>
        </p:txBody>
      </p:sp>
      <p:sp>
        <p:nvSpPr>
          <p:cNvPr id="46" name="bar-04"/>
          <p:cNvSpPr/>
          <p:nvPr/>
        </p:nvSpPr>
        <p:spPr>
          <a:xfrm>
            <a:off x="10582275" y="7524750"/>
            <a:ext cx="5534025" cy="609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DCF84"/>
              </a:gs>
              <a:gs pos="100000">
                <a:srgbClr val="54A2E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btxt-04"/>
          <p:cNvSpPr txBox="1"/>
          <p:nvPr/>
        </p:nvSpPr>
        <p:spPr>
          <a:xfrm>
            <a:off x="10925175" y="7524750"/>
            <a:ext cx="3048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进度90%</a:t>
            </a:r>
          </a:p>
        </p:txBody>
      </p:sp>
      <p:grpSp>
        <p:nvGrpSpPr>
          <p:cNvPr id="107" name="g-panel-05"/>
          <p:cNvGrpSpPr/>
          <p:nvPr/>
        </p:nvGrpSpPr>
        <p:grpSpPr>
          <a:xfrm>
            <a:off x="15144750" y="9163050"/>
            <a:ext cx="1905000" cy="733425"/>
            <a:chOff x="15144750" y="9163050"/>
            <a:chExt cx="1905000" cy="733425"/>
          </a:xfrm>
        </p:grpSpPr>
        <p:sp>
          <p:nvSpPr>
            <p:cNvPr id="48" name="panel-05"/>
            <p:cNvSpPr/>
            <p:nvPr/>
          </p:nvSpPr>
          <p:spPr>
            <a:xfrm>
              <a:off x="15144750" y="9163050"/>
              <a:ext cx="1905000" cy="733425"/>
            </a:xfrm>
            <a:prstGeom prst="roundRect">
              <a:avLst>
                <a:gd name="adj" fmla="val 14285"/>
              </a:avLst>
            </a:prstGeom>
            <a:noFill/>
            <a:ln w="47625">
              <a:solidFill>
                <a:srgbClr val="5396F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ptitle-05"/>
            <p:cNvSpPr txBox="1"/>
            <p:nvPr/>
          </p:nvSpPr>
          <p:spPr>
            <a:xfrm>
              <a:off x="15173325" y="9182100"/>
              <a:ext cx="1847850" cy="695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1" i="0">
                  <a:solidFill>
                    <a:srgbClr val="5396F1"/>
                  </a:solidFill>
                  <a:latin typeface="Microsoft YaHei"/>
                  <a:ea typeface="Microsoft YaHei"/>
                  <a:cs typeface="Microsoft YaHei"/>
                </a:rPr>
                <a:t>测试优化调整</a:t>
              </a:r>
            </a:p>
          </p:txBody>
        </p:sp>
      </p:grpSp>
      <p:sp>
        <p:nvSpPr>
          <p:cNvPr id="50" name="dbox-05"/>
          <p:cNvSpPr/>
          <p:nvPr/>
        </p:nvSpPr>
        <p:spPr>
          <a:xfrm>
            <a:off x="14849475" y="8477250"/>
            <a:ext cx="2457450" cy="361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pdesc-05"/>
          <p:cNvSpPr txBox="1"/>
          <p:nvPr/>
        </p:nvSpPr>
        <p:spPr>
          <a:xfrm>
            <a:off x="14878050" y="8496300"/>
            <a:ext cx="24003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14" b="0" i="0">
                <a:solidFill>
                  <a:srgbClr val="9A9C9C"/>
                </a:solidFill>
                <a:latin typeface="Microsoft YaHei"/>
                <a:ea typeface="Microsoft YaHei"/>
                <a:cs typeface="Microsoft YaHei"/>
              </a:rPr>
              <a:t>对研发成果进行测试并优化</a:t>
            </a:r>
          </a:p>
        </p:txBody>
      </p:sp>
      <p:sp>
        <p:nvSpPr>
          <p:cNvPr id="52" name="bar-05"/>
          <p:cNvSpPr/>
          <p:nvPr/>
        </p:nvSpPr>
        <p:spPr>
          <a:xfrm>
            <a:off x="14382750" y="6819900"/>
            <a:ext cx="5734050" cy="600075"/>
          </a:xfrm>
          <a:prstGeom prst="roundRect">
            <a:avLst>
              <a:gd name="adj" fmla="val 49206"/>
            </a:avLst>
          </a:prstGeom>
          <a:gradFill rotWithShape="1">
            <a:gsLst>
              <a:gs pos="0">
                <a:srgbClr val="4C95FC"/>
              </a:gs>
              <a:gs pos="100000">
                <a:srgbClr val="985BB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txt-05"/>
          <p:cNvSpPr txBox="1"/>
          <p:nvPr/>
        </p:nvSpPr>
        <p:spPr>
          <a:xfrm>
            <a:off x="14725650" y="6819900"/>
            <a:ext cx="30480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进度70%</a:t>
            </a:r>
          </a:p>
        </p:txBody>
      </p:sp>
      <p:grpSp>
        <p:nvGrpSpPr>
          <p:cNvPr id="108" name="g-panel-06"/>
          <p:cNvGrpSpPr/>
          <p:nvPr/>
        </p:nvGrpSpPr>
        <p:grpSpPr>
          <a:xfrm>
            <a:off x="16468725" y="3486150"/>
            <a:ext cx="1905000" cy="733425"/>
            <a:chOff x="16468725" y="3486150"/>
            <a:chExt cx="1905000" cy="733425"/>
          </a:xfrm>
        </p:grpSpPr>
        <p:sp>
          <p:nvSpPr>
            <p:cNvPr id="54" name="panel-06"/>
            <p:cNvSpPr/>
            <p:nvPr/>
          </p:nvSpPr>
          <p:spPr>
            <a:xfrm>
              <a:off x="16468725" y="3486150"/>
              <a:ext cx="1905000" cy="733425"/>
            </a:xfrm>
            <a:prstGeom prst="roundRect">
              <a:avLst>
                <a:gd name="adj" fmla="val 14285"/>
              </a:avLst>
            </a:prstGeom>
            <a:noFill/>
            <a:ln w="47625">
              <a:solidFill>
                <a:srgbClr val="995BB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ptitle-06"/>
            <p:cNvSpPr txBox="1"/>
            <p:nvPr/>
          </p:nvSpPr>
          <p:spPr>
            <a:xfrm>
              <a:off x="16497300" y="3505200"/>
              <a:ext cx="1847850" cy="695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1" i="0">
                  <a:solidFill>
                    <a:srgbClr val="995BB0"/>
                  </a:solidFill>
                  <a:latin typeface="Microsoft YaHei"/>
                  <a:ea typeface="Microsoft YaHei"/>
                  <a:cs typeface="Microsoft YaHei"/>
                </a:rPr>
                <a:t>营销策略制定</a:t>
              </a:r>
            </a:p>
          </p:txBody>
        </p:sp>
      </p:grpSp>
      <p:sp>
        <p:nvSpPr>
          <p:cNvPr id="56" name="dbox-06"/>
          <p:cNvSpPr/>
          <p:nvPr/>
        </p:nvSpPr>
        <p:spPr>
          <a:xfrm>
            <a:off x="16259175" y="4591050"/>
            <a:ext cx="2266950" cy="361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desc-06"/>
          <p:cNvSpPr txBox="1"/>
          <p:nvPr/>
        </p:nvSpPr>
        <p:spPr>
          <a:xfrm>
            <a:off x="16287750" y="4610100"/>
            <a:ext cx="22098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14" b="0" i="0">
                <a:solidFill>
                  <a:srgbClr val="9A9C9C"/>
                </a:solidFill>
                <a:latin typeface="Microsoft YaHei"/>
                <a:ea typeface="Microsoft YaHei"/>
                <a:cs typeface="Microsoft YaHei"/>
              </a:rPr>
              <a:t>制定产品推广的营销策略</a:t>
            </a:r>
          </a:p>
        </p:txBody>
      </p:sp>
      <p:sp>
        <p:nvSpPr>
          <p:cNvPr id="58" name="bar-06"/>
          <p:cNvSpPr/>
          <p:nvPr/>
        </p:nvSpPr>
        <p:spPr>
          <a:xfrm>
            <a:off x="16059150" y="6105525"/>
            <a:ext cx="4762500" cy="600075"/>
          </a:xfrm>
          <a:prstGeom prst="roundRect">
            <a:avLst>
              <a:gd name="adj" fmla="val 49206"/>
            </a:avLst>
          </a:prstGeom>
          <a:gradFill rotWithShape="1">
            <a:gsLst>
              <a:gs pos="0">
                <a:srgbClr val="9E59B2"/>
              </a:gs>
              <a:gs pos="100000">
                <a:srgbClr val="E64C42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btxt-06"/>
          <p:cNvSpPr txBox="1"/>
          <p:nvPr/>
        </p:nvSpPr>
        <p:spPr>
          <a:xfrm>
            <a:off x="16402050" y="6105525"/>
            <a:ext cx="30480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进度60%</a:t>
            </a:r>
          </a:p>
        </p:txBody>
      </p:sp>
      <p:grpSp>
        <p:nvGrpSpPr>
          <p:cNvPr id="110" name="g-panel-07"/>
          <p:cNvGrpSpPr/>
          <p:nvPr/>
        </p:nvGrpSpPr>
        <p:grpSpPr>
          <a:xfrm>
            <a:off x="21059775" y="2495550"/>
            <a:ext cx="1905000" cy="733425"/>
            <a:chOff x="21059775" y="2495550"/>
            <a:chExt cx="1905000" cy="733425"/>
          </a:xfrm>
        </p:grpSpPr>
        <p:sp>
          <p:nvSpPr>
            <p:cNvPr id="60" name="panel-07"/>
            <p:cNvSpPr/>
            <p:nvPr/>
          </p:nvSpPr>
          <p:spPr>
            <a:xfrm>
              <a:off x="21059775" y="2495550"/>
              <a:ext cx="1905000" cy="733425"/>
            </a:xfrm>
            <a:prstGeom prst="roundRect">
              <a:avLst>
                <a:gd name="adj" fmla="val 14285"/>
              </a:avLst>
            </a:prstGeom>
            <a:noFill/>
            <a:ln w="47625">
              <a:solidFill>
                <a:srgbClr val="3A97D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ptitle-07"/>
            <p:cNvSpPr txBox="1"/>
            <p:nvPr/>
          </p:nvSpPr>
          <p:spPr>
            <a:xfrm>
              <a:off x="21088350" y="2514600"/>
              <a:ext cx="1847850" cy="695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1" i="0">
                  <a:solidFill>
                    <a:srgbClr val="3A97D2"/>
                  </a:solidFill>
                  <a:latin typeface="Microsoft YaHei"/>
                  <a:ea typeface="Microsoft YaHei"/>
                  <a:cs typeface="Microsoft YaHei"/>
                </a:rPr>
                <a:t>客户关系维护</a:t>
              </a:r>
            </a:p>
          </p:txBody>
        </p:sp>
      </p:grpSp>
      <p:sp>
        <p:nvSpPr>
          <p:cNvPr id="62" name="dbox-07"/>
          <p:cNvSpPr/>
          <p:nvPr/>
        </p:nvSpPr>
        <p:spPr>
          <a:xfrm>
            <a:off x="20764500" y="3552825"/>
            <a:ext cx="2447925" cy="361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pdesc-07"/>
          <p:cNvSpPr txBox="1"/>
          <p:nvPr/>
        </p:nvSpPr>
        <p:spPr>
          <a:xfrm>
            <a:off x="20793075" y="3571875"/>
            <a:ext cx="2390775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7" b="0" i="0">
                <a:solidFill>
                  <a:srgbClr val="9A9C9C"/>
                </a:solidFill>
                <a:latin typeface="Microsoft YaHei"/>
                <a:ea typeface="Microsoft YaHei"/>
                <a:cs typeface="Microsoft YaHei"/>
              </a:rPr>
              <a:t>建立并维护良好的客户关系</a:t>
            </a:r>
          </a:p>
        </p:txBody>
      </p:sp>
      <p:sp>
        <p:nvSpPr>
          <p:cNvPr id="64" name="bar-07"/>
          <p:cNvSpPr/>
          <p:nvPr/>
        </p:nvSpPr>
        <p:spPr>
          <a:xfrm>
            <a:off x="20812125" y="4667250"/>
            <a:ext cx="4029075" cy="609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399DB"/>
              </a:gs>
              <a:gs pos="100000">
                <a:srgbClr val="2EC276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btxt-07"/>
          <p:cNvSpPr txBox="1"/>
          <p:nvPr/>
        </p:nvSpPr>
        <p:spPr>
          <a:xfrm>
            <a:off x="21155025" y="4667250"/>
            <a:ext cx="3048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进度25%</a:t>
            </a:r>
          </a:p>
        </p:txBody>
      </p:sp>
      <p:grpSp>
        <p:nvGrpSpPr>
          <p:cNvPr id="112" name="g-panel-08"/>
          <p:cNvGrpSpPr/>
          <p:nvPr/>
        </p:nvGrpSpPr>
        <p:grpSpPr>
          <a:xfrm>
            <a:off x="20507325" y="8382000"/>
            <a:ext cx="1905000" cy="733425"/>
            <a:chOff x="20507325" y="8382000"/>
            <a:chExt cx="1905000" cy="733425"/>
          </a:xfrm>
        </p:grpSpPr>
        <p:sp>
          <p:nvSpPr>
            <p:cNvPr id="66" name="panel-08"/>
            <p:cNvSpPr/>
            <p:nvPr/>
          </p:nvSpPr>
          <p:spPr>
            <a:xfrm>
              <a:off x="20507325" y="8382000"/>
              <a:ext cx="1905000" cy="733425"/>
            </a:xfrm>
            <a:prstGeom prst="roundRect">
              <a:avLst>
                <a:gd name="adj" fmla="val 14285"/>
              </a:avLst>
            </a:prstGeom>
            <a:noFill/>
            <a:ln w="47625">
              <a:solidFill>
                <a:srgbClr val="4094D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ptitle-08"/>
            <p:cNvSpPr txBox="1"/>
            <p:nvPr/>
          </p:nvSpPr>
          <p:spPr>
            <a:xfrm>
              <a:off x="20535900" y="8401050"/>
              <a:ext cx="1847850" cy="695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1" i="0">
                  <a:solidFill>
                    <a:srgbClr val="4094D0"/>
                  </a:solidFill>
                  <a:latin typeface="Microsoft YaHei"/>
                  <a:ea typeface="Microsoft YaHei"/>
                  <a:cs typeface="Microsoft YaHei"/>
                </a:rPr>
                <a:t>渠道拓展建设</a:t>
              </a:r>
            </a:p>
          </p:txBody>
        </p:sp>
      </p:grpSp>
      <p:sp>
        <p:nvSpPr>
          <p:cNvPr id="68" name="dbox-08"/>
          <p:cNvSpPr/>
          <p:nvPr/>
        </p:nvSpPr>
        <p:spPr>
          <a:xfrm>
            <a:off x="20307300" y="7686675"/>
            <a:ext cx="2266950" cy="361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pdesc-08"/>
          <p:cNvSpPr txBox="1"/>
          <p:nvPr/>
        </p:nvSpPr>
        <p:spPr>
          <a:xfrm>
            <a:off x="20335875" y="7705725"/>
            <a:ext cx="2209800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14" b="0" i="0">
                <a:solidFill>
                  <a:srgbClr val="9A9C9C"/>
                </a:solidFill>
                <a:latin typeface="Microsoft YaHei"/>
                <a:ea typeface="Microsoft YaHei"/>
                <a:cs typeface="Microsoft YaHei"/>
              </a:rPr>
              <a:t>开拓产品销售的相关渠道</a:t>
            </a:r>
          </a:p>
        </p:txBody>
      </p:sp>
      <p:sp>
        <p:nvSpPr>
          <p:cNvPr id="70" name="bar-08"/>
          <p:cNvSpPr/>
          <p:nvPr/>
        </p:nvSpPr>
        <p:spPr>
          <a:xfrm>
            <a:off x="18440400" y="5391150"/>
            <a:ext cx="4295775" cy="600075"/>
          </a:xfrm>
          <a:prstGeom prst="roundRect">
            <a:avLst>
              <a:gd name="adj" fmla="val 49206"/>
            </a:avLst>
          </a:prstGeom>
          <a:gradFill rotWithShape="1">
            <a:gsLst>
              <a:gs pos="0">
                <a:srgbClr val="DE4B41"/>
              </a:gs>
              <a:gs pos="100000">
                <a:srgbClr val="3D95D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btxt-08"/>
          <p:cNvSpPr txBox="1"/>
          <p:nvPr/>
        </p:nvSpPr>
        <p:spPr>
          <a:xfrm>
            <a:off x="18783300" y="5391150"/>
            <a:ext cx="3048000" cy="6000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进度80%</a:t>
            </a:r>
          </a:p>
        </p:txBody>
      </p:sp>
      <p:grpSp>
        <p:nvGrpSpPr>
          <p:cNvPr id="113" name="g-panel-09"/>
          <p:cNvGrpSpPr/>
          <p:nvPr/>
        </p:nvGrpSpPr>
        <p:grpSpPr>
          <a:xfrm>
            <a:off x="24403050" y="6238875"/>
            <a:ext cx="1905000" cy="733425"/>
            <a:chOff x="24403050" y="6238875"/>
            <a:chExt cx="1905000" cy="733425"/>
          </a:xfrm>
        </p:grpSpPr>
        <p:sp>
          <p:nvSpPr>
            <p:cNvPr id="72" name="panel-09"/>
            <p:cNvSpPr/>
            <p:nvPr/>
          </p:nvSpPr>
          <p:spPr>
            <a:xfrm>
              <a:off x="24403050" y="6238875"/>
              <a:ext cx="1905000" cy="733425"/>
            </a:xfrm>
            <a:prstGeom prst="roundRect">
              <a:avLst>
                <a:gd name="adj" fmla="val 14285"/>
              </a:avLst>
            </a:prstGeom>
            <a:noFill/>
            <a:ln w="47625">
              <a:solidFill>
                <a:srgbClr val="3BC47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ptitle-09"/>
            <p:cNvSpPr txBox="1"/>
            <p:nvPr/>
          </p:nvSpPr>
          <p:spPr>
            <a:xfrm>
              <a:off x="24431625" y="6257925"/>
              <a:ext cx="1847850" cy="695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1" i="0">
                  <a:solidFill>
                    <a:srgbClr val="3BC472"/>
                  </a:solidFill>
                  <a:latin typeface="Microsoft YaHei"/>
                  <a:ea typeface="Microsoft YaHei"/>
                  <a:cs typeface="Microsoft YaHei"/>
                </a:rPr>
                <a:t>数据分析评估</a:t>
              </a:r>
            </a:p>
          </p:txBody>
        </p:sp>
      </p:grpSp>
      <p:sp>
        <p:nvSpPr>
          <p:cNvPr id="74" name="dbox-09"/>
          <p:cNvSpPr/>
          <p:nvPr/>
        </p:nvSpPr>
        <p:spPr>
          <a:xfrm>
            <a:off x="24250650" y="5543550"/>
            <a:ext cx="2257425" cy="361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pdesc-09"/>
          <p:cNvSpPr txBox="1"/>
          <p:nvPr/>
        </p:nvSpPr>
        <p:spPr>
          <a:xfrm>
            <a:off x="24279225" y="5562600"/>
            <a:ext cx="2200275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7" b="0" i="0">
                <a:solidFill>
                  <a:srgbClr val="9A9C9C"/>
                </a:solidFill>
                <a:latin typeface="Microsoft YaHei"/>
                <a:ea typeface="Microsoft YaHei"/>
                <a:cs typeface="Microsoft YaHei"/>
              </a:rPr>
              <a:t>分析项目数据并评估效果</a:t>
            </a:r>
          </a:p>
        </p:txBody>
      </p:sp>
      <p:sp>
        <p:nvSpPr>
          <p:cNvPr id="76" name="bar-09"/>
          <p:cNvSpPr/>
          <p:nvPr/>
        </p:nvSpPr>
        <p:spPr>
          <a:xfrm>
            <a:off x="23193375" y="3952875"/>
            <a:ext cx="4171950" cy="6096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8C96C"/>
              </a:gs>
              <a:gs pos="100000">
                <a:srgbClr val="E7A01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btxt-09"/>
          <p:cNvSpPr txBox="1"/>
          <p:nvPr/>
        </p:nvSpPr>
        <p:spPr>
          <a:xfrm>
            <a:off x="23536275" y="3952875"/>
            <a:ext cx="3048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进度10%</a:t>
            </a:r>
          </a:p>
        </p:txBody>
      </p:sp>
      <p:grpSp>
        <p:nvGrpSpPr>
          <p:cNvPr id="109" name="g-panel-10"/>
          <p:cNvGrpSpPr/>
          <p:nvPr/>
        </p:nvGrpSpPr>
        <p:grpSpPr>
          <a:xfrm>
            <a:off x="27155775" y="7324725"/>
            <a:ext cx="1905000" cy="733425"/>
            <a:chOff x="27155775" y="7324725"/>
            <a:chExt cx="1905000" cy="733425"/>
          </a:xfrm>
        </p:grpSpPr>
        <p:sp>
          <p:nvSpPr>
            <p:cNvPr id="78" name="panel-10"/>
            <p:cNvSpPr/>
            <p:nvPr/>
          </p:nvSpPr>
          <p:spPr>
            <a:xfrm>
              <a:off x="27155775" y="7324725"/>
              <a:ext cx="1905000" cy="733425"/>
            </a:xfrm>
            <a:prstGeom prst="roundRect">
              <a:avLst>
                <a:gd name="adj" fmla="val 14285"/>
              </a:avLst>
            </a:prstGeom>
            <a:noFill/>
            <a:ln w="47625">
              <a:solidFill>
                <a:srgbClr val="8D48A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ptitle-10"/>
            <p:cNvSpPr txBox="1"/>
            <p:nvPr/>
          </p:nvSpPr>
          <p:spPr>
            <a:xfrm>
              <a:off x="27184350" y="7343775"/>
              <a:ext cx="1847850" cy="69532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250" b="1" i="0">
                  <a:solidFill>
                    <a:srgbClr val="8D48A1"/>
                  </a:solidFill>
                  <a:latin typeface="Microsoft YaHei"/>
                  <a:ea typeface="Microsoft YaHei"/>
                  <a:cs typeface="Microsoft YaHei"/>
                </a:rPr>
                <a:t>后续规划筹备</a:t>
              </a:r>
            </a:p>
          </p:txBody>
        </p:sp>
      </p:grpSp>
      <p:sp>
        <p:nvSpPr>
          <p:cNvPr id="80" name="dbox-10"/>
          <p:cNvSpPr/>
          <p:nvPr/>
        </p:nvSpPr>
        <p:spPr>
          <a:xfrm>
            <a:off x="26917650" y="6610350"/>
            <a:ext cx="2257425" cy="361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pdesc-10"/>
          <p:cNvSpPr txBox="1"/>
          <p:nvPr/>
        </p:nvSpPr>
        <p:spPr>
          <a:xfrm>
            <a:off x="26946225" y="6629400"/>
            <a:ext cx="2200275" cy="3238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7" b="0" i="0">
                <a:solidFill>
                  <a:srgbClr val="9A9C9C"/>
                </a:solidFill>
                <a:latin typeface="Microsoft YaHei"/>
                <a:ea typeface="Microsoft YaHei"/>
                <a:cs typeface="Microsoft YaHei"/>
              </a:rPr>
              <a:t>为项目的后续发展做准备</a:t>
            </a:r>
          </a:p>
        </p:txBody>
      </p:sp>
      <p:sp>
        <p:nvSpPr>
          <p:cNvPr id="82" name="bar-10"/>
          <p:cNvSpPr/>
          <p:nvPr/>
        </p:nvSpPr>
        <p:spPr>
          <a:xfrm>
            <a:off x="25574625" y="3238500"/>
            <a:ext cx="3581400" cy="619125"/>
          </a:xfrm>
          <a:prstGeom prst="roundRect">
            <a:avLst>
              <a:gd name="adj" fmla="val 49230"/>
            </a:avLst>
          </a:prstGeom>
          <a:gradFill rotWithShape="1">
            <a:gsLst>
              <a:gs pos="0">
                <a:srgbClr val="E99A23"/>
              </a:gs>
              <a:gs pos="100000">
                <a:srgbClr val="9348A7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btxt-10"/>
          <p:cNvSpPr txBox="1"/>
          <p:nvPr/>
        </p:nvSpPr>
        <p:spPr>
          <a:xfrm>
            <a:off x="25917525" y="3238500"/>
            <a:ext cx="3048000" cy="6191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1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进度0%</a:t>
            </a:r>
          </a:p>
        </p:txBody>
      </p:sp>
      <p:sp>
        <p:nvSpPr>
          <p:cNvPr id="84" name="title"/>
          <p:cNvSpPr txBox="1"/>
          <p:nvPr/>
        </p:nvSpPr>
        <p:spPr>
          <a:xfrm>
            <a:off x="1714500" y="1638300"/>
            <a:ext cx="6477000" cy="1066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75" b="1" i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年度项目进度规划</a:t>
            </a:r>
          </a:p>
        </p:txBody>
      </p:sp>
      <p:cxnSp>
        <p:nvCxnSpPr>
          <p:cNvPr id="85" name="axis"/>
          <p:cNvCxnSpPr/>
          <p:nvPr/>
        </p:nvCxnSpPr>
        <p:spPr>
          <a:xfrm>
            <a:off x="1200150" y="11334750"/>
            <a:ext cx="28355925" cy="0"/>
          </a:xfrm>
          <a:prstGeom prst="line">
            <a:avLst/>
          </a:prstGeom>
          <a:ln w="57150">
            <a:solidFill>
              <a:srgbClr val="BFC3C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dot-1"/>
          <p:cNvSpPr/>
          <p:nvPr/>
        </p:nvSpPr>
        <p:spPr>
          <a:xfrm>
            <a:off x="1776412" y="11053762"/>
            <a:ext cx="581025" cy="581025"/>
          </a:xfrm>
          <a:prstGeom prst="ellipse">
            <a:avLst/>
          </a:prstGeom>
          <a:solidFill>
            <a:srgbClr val="26A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otchk-1"/>
          <p:cNvSpPr/>
          <p:nvPr/>
        </p:nvSpPr>
        <p:spPr>
          <a:xfrm>
            <a:off x="1952625" y="11277600"/>
            <a:ext cx="219075" cy="152400"/>
          </a:xfrm>
          <a:custGeom>
            <a:avLst/>
            <a:gdLst/>
            <a:ahLst/>
            <a:cxnLst/>
            <a:rect l="l" t="t" r="r" b="b"/>
            <a:pathLst>
              <a:path w="219075" h="152400">
                <a:moveTo>
                  <a:pt x="0" y="76200"/>
                </a:moveTo>
                <a:lnTo>
                  <a:pt x="76200" y="152400"/>
                </a:lnTo>
                <a:lnTo>
                  <a:pt x="219075" y="0"/>
                </a:lnTo>
              </a:path>
            </a:pathLst>
          </a:custGeom>
          <a:noFill/>
          <a:ln w="476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ot-2"/>
          <p:cNvSpPr/>
          <p:nvPr/>
        </p:nvSpPr>
        <p:spPr>
          <a:xfrm>
            <a:off x="4205288" y="11053762"/>
            <a:ext cx="581025" cy="581025"/>
          </a:xfrm>
          <a:prstGeom prst="ellipse">
            <a:avLst/>
          </a:prstGeom>
          <a:solidFill>
            <a:srgbClr val="26A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dotchk-2"/>
          <p:cNvSpPr/>
          <p:nvPr/>
        </p:nvSpPr>
        <p:spPr>
          <a:xfrm>
            <a:off x="4381500" y="11277600"/>
            <a:ext cx="219075" cy="152400"/>
          </a:xfrm>
          <a:custGeom>
            <a:avLst/>
            <a:gdLst/>
            <a:ahLst/>
            <a:cxnLst/>
            <a:rect l="l" t="t" r="r" b="b"/>
            <a:pathLst>
              <a:path w="219075" h="152400">
                <a:moveTo>
                  <a:pt x="0" y="76200"/>
                </a:moveTo>
                <a:lnTo>
                  <a:pt x="76200" y="152400"/>
                </a:lnTo>
                <a:lnTo>
                  <a:pt x="219075" y="0"/>
                </a:lnTo>
              </a:path>
            </a:pathLst>
          </a:custGeom>
          <a:noFill/>
          <a:ln w="476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ot-3"/>
          <p:cNvSpPr/>
          <p:nvPr/>
        </p:nvSpPr>
        <p:spPr>
          <a:xfrm>
            <a:off x="6643688" y="11053762"/>
            <a:ext cx="581025" cy="581025"/>
          </a:xfrm>
          <a:prstGeom prst="ellipse">
            <a:avLst/>
          </a:prstGeom>
          <a:solidFill>
            <a:srgbClr val="26A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dotchk-3"/>
          <p:cNvSpPr/>
          <p:nvPr/>
        </p:nvSpPr>
        <p:spPr>
          <a:xfrm>
            <a:off x="6819900" y="11277600"/>
            <a:ext cx="219075" cy="152400"/>
          </a:xfrm>
          <a:custGeom>
            <a:avLst/>
            <a:gdLst/>
            <a:ahLst/>
            <a:cxnLst/>
            <a:rect l="l" t="t" r="r" b="b"/>
            <a:pathLst>
              <a:path w="219075" h="152400">
                <a:moveTo>
                  <a:pt x="0" y="76200"/>
                </a:moveTo>
                <a:lnTo>
                  <a:pt x="76200" y="152400"/>
                </a:lnTo>
                <a:lnTo>
                  <a:pt x="219075" y="0"/>
                </a:lnTo>
              </a:path>
            </a:pathLst>
          </a:custGeom>
          <a:noFill/>
          <a:ln w="476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dot-4"/>
          <p:cNvSpPr/>
          <p:nvPr/>
        </p:nvSpPr>
        <p:spPr>
          <a:xfrm>
            <a:off x="9082088" y="11053762"/>
            <a:ext cx="581025" cy="581025"/>
          </a:xfrm>
          <a:prstGeom prst="ellipse">
            <a:avLst/>
          </a:prstGeom>
          <a:solidFill>
            <a:srgbClr val="26A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dotchk-4"/>
          <p:cNvSpPr/>
          <p:nvPr/>
        </p:nvSpPr>
        <p:spPr>
          <a:xfrm>
            <a:off x="9258300" y="11277600"/>
            <a:ext cx="219075" cy="152400"/>
          </a:xfrm>
          <a:custGeom>
            <a:avLst/>
            <a:gdLst/>
            <a:ahLst/>
            <a:cxnLst/>
            <a:rect l="l" t="t" r="r" b="b"/>
            <a:pathLst>
              <a:path w="219075" h="152400">
                <a:moveTo>
                  <a:pt x="0" y="76200"/>
                </a:moveTo>
                <a:lnTo>
                  <a:pt x="76200" y="152400"/>
                </a:lnTo>
                <a:lnTo>
                  <a:pt x="219075" y="0"/>
                </a:lnTo>
              </a:path>
            </a:pathLst>
          </a:custGeom>
          <a:noFill/>
          <a:ln w="476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dot-5"/>
          <p:cNvSpPr/>
          <p:nvPr/>
        </p:nvSpPr>
        <p:spPr>
          <a:xfrm>
            <a:off x="11520488" y="11053762"/>
            <a:ext cx="581025" cy="581025"/>
          </a:xfrm>
          <a:prstGeom prst="ellipse">
            <a:avLst/>
          </a:prstGeom>
          <a:solidFill>
            <a:srgbClr val="EA1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dot-6"/>
          <p:cNvSpPr/>
          <p:nvPr/>
        </p:nvSpPr>
        <p:spPr>
          <a:xfrm>
            <a:off x="13958888" y="11053762"/>
            <a:ext cx="581025" cy="581025"/>
          </a:xfrm>
          <a:prstGeom prst="ellipse">
            <a:avLst/>
          </a:prstGeom>
          <a:solidFill>
            <a:srgbClr val="9C28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dot-7"/>
          <p:cNvSpPr/>
          <p:nvPr/>
        </p:nvSpPr>
        <p:spPr>
          <a:xfrm>
            <a:off x="16397288" y="11053762"/>
            <a:ext cx="581025" cy="581025"/>
          </a:xfrm>
          <a:prstGeom prst="ellipse">
            <a:avLst/>
          </a:prstGeom>
          <a:solidFill>
            <a:srgbClr val="673B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dot-8"/>
          <p:cNvSpPr/>
          <p:nvPr/>
        </p:nvSpPr>
        <p:spPr>
          <a:xfrm>
            <a:off x="18826162" y="11053762"/>
            <a:ext cx="581025" cy="581025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dot-9"/>
          <p:cNvSpPr/>
          <p:nvPr/>
        </p:nvSpPr>
        <p:spPr>
          <a:xfrm>
            <a:off x="21255038" y="11053762"/>
            <a:ext cx="581025" cy="581025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dot-10"/>
          <p:cNvSpPr/>
          <p:nvPr/>
        </p:nvSpPr>
        <p:spPr>
          <a:xfrm>
            <a:off x="23702962" y="11053762"/>
            <a:ext cx="581025" cy="581025"/>
          </a:xfrm>
          <a:prstGeom prst="ellipse">
            <a:avLst/>
          </a:prstGeom>
          <a:solidFill>
            <a:srgbClr val="4C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dot-11"/>
          <p:cNvSpPr/>
          <p:nvPr/>
        </p:nvSpPr>
        <p:spPr>
          <a:xfrm>
            <a:off x="26141362" y="11053762"/>
            <a:ext cx="581025" cy="581025"/>
          </a:xfrm>
          <a:prstGeom prst="ellipse">
            <a:avLst/>
          </a:prstGeom>
          <a:solidFill>
            <a:srgbClr val="8BC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dot-12"/>
          <p:cNvSpPr/>
          <p:nvPr/>
        </p:nvSpPr>
        <p:spPr>
          <a:xfrm>
            <a:off x="28570238" y="11053762"/>
            <a:ext cx="581025" cy="581025"/>
          </a:xfrm>
          <a:prstGeom prst="ellipse">
            <a:avLst/>
          </a:prstGeom>
          <a:solidFill>
            <a:srgbClr val="CDD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q-Q1"/>
          <p:cNvSpPr txBox="1"/>
          <p:nvPr/>
        </p:nvSpPr>
        <p:spPr>
          <a:xfrm>
            <a:off x="1562100" y="11963400"/>
            <a:ext cx="85725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675" b="1" i="0">
                <a:solidFill>
                  <a:srgbClr val="A9AEB3"/>
                </a:solidFill>
                <a:latin typeface="Microsoft YaHei"/>
                <a:ea typeface="Microsoft YaHei"/>
                <a:cs typeface="Microsoft YaHei"/>
              </a:rPr>
              <a:t>Q1</a:t>
            </a:r>
          </a:p>
        </p:txBody>
      </p:sp>
      <p:sp>
        <p:nvSpPr>
          <p:cNvPr id="103" name="q-Q2"/>
          <p:cNvSpPr txBox="1"/>
          <p:nvPr/>
        </p:nvSpPr>
        <p:spPr>
          <a:xfrm>
            <a:off x="8867775" y="11963400"/>
            <a:ext cx="85725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675" b="1" i="0">
                <a:solidFill>
                  <a:srgbClr val="A9AEB3"/>
                </a:solidFill>
                <a:latin typeface="Microsoft YaHei"/>
                <a:ea typeface="Microsoft YaHei"/>
                <a:cs typeface="Microsoft YaHei"/>
              </a:rPr>
              <a:t>Q2</a:t>
            </a:r>
          </a:p>
        </p:txBody>
      </p:sp>
      <p:sp>
        <p:nvSpPr>
          <p:cNvPr id="104" name="q-Q3"/>
          <p:cNvSpPr txBox="1"/>
          <p:nvPr/>
        </p:nvSpPr>
        <p:spPr>
          <a:xfrm>
            <a:off x="16182975" y="11963400"/>
            <a:ext cx="85725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675" b="1" i="0">
                <a:solidFill>
                  <a:srgbClr val="A9AEB3"/>
                </a:solidFill>
                <a:latin typeface="Microsoft YaHei"/>
                <a:ea typeface="Microsoft YaHei"/>
                <a:cs typeface="Microsoft YaHei"/>
              </a:rPr>
              <a:t>Q3</a:t>
            </a:r>
          </a:p>
        </p:txBody>
      </p:sp>
      <p:sp>
        <p:nvSpPr>
          <p:cNvPr id="105" name="q-Q4"/>
          <p:cNvSpPr txBox="1"/>
          <p:nvPr/>
        </p:nvSpPr>
        <p:spPr>
          <a:xfrm>
            <a:off x="23498175" y="11963400"/>
            <a:ext cx="857250" cy="533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675" b="1" i="0">
                <a:solidFill>
                  <a:srgbClr val="A9AEB3"/>
                </a:solidFill>
                <a:latin typeface="Microsoft YaHei"/>
                <a:ea typeface="Microsoft YaHei"/>
                <a:cs typeface="Microsoft YaHei"/>
              </a:rPr>
              <a:t>Q4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