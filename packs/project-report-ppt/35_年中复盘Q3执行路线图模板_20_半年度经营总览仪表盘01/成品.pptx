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537900" cy="27908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6537900" cy="27908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6537900" cy="27908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-wash-header"/>
          <p:cNvSpPr/>
          <p:nvPr/>
        </p:nvSpPr>
        <p:spPr>
          <a:xfrm>
            <a:off x="571500" y="571500"/>
            <a:ext cx="35394900" cy="4095750"/>
          </a:xfrm>
          <a:prstGeom prst="rect">
            <a:avLst/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g-wash-footer"/>
          <p:cNvSpPr/>
          <p:nvPr/>
        </p:nvSpPr>
        <p:spPr>
          <a:xfrm>
            <a:off x="571500" y="24384000"/>
            <a:ext cx="35394900" cy="2571750"/>
          </a:xfrm>
          <a:prstGeom prst="rect">
            <a:avLst/>
          </a:prstGeom>
          <a:solidFill>
            <a:srgbClr val="F1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81" name="logo"/>
          <p:cNvGrpSpPr/>
          <p:nvPr/>
        </p:nvGrpSpPr>
        <p:grpSpPr>
          <a:xfrm>
            <a:off x="1028700" y="1019175"/>
            <a:ext cx="5562600" cy="3524250"/>
            <a:chOff x="1028700" y="1019175"/>
            <a:chExt cx="5562600" cy="3524250"/>
          </a:xfrm>
        </p:grpSpPr>
        <p:sp>
          <p:nvSpPr>
            <p:cNvPr id="6" name="logo-band-1"/>
            <p:cNvSpPr/>
            <p:nvPr/>
          </p:nvSpPr>
          <p:spPr>
            <a:xfrm>
              <a:off x="1028700" y="1019175"/>
              <a:ext cx="2514600" cy="3524250"/>
            </a:xfrm>
            <a:custGeom>
              <a:avLst/>
              <a:gdLst/>
              <a:ahLst/>
              <a:cxnLst/>
              <a:rect l="l" t="t" r="r" b="b"/>
              <a:pathLst>
                <a:path w="2514600" h="3524250">
                  <a:moveTo>
                    <a:pt x="0" y="0"/>
                  </a:moveTo>
                  <a:lnTo>
                    <a:pt x="2514600" y="0"/>
                  </a:lnTo>
                  <a:lnTo>
                    <a:pt x="1190625" y="352425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006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ogo-gap-1"/>
            <p:cNvSpPr/>
            <p:nvPr/>
          </p:nvSpPr>
          <p:spPr>
            <a:xfrm>
              <a:off x="2219325" y="1019175"/>
              <a:ext cx="1876425" cy="3524250"/>
            </a:xfrm>
            <a:custGeom>
              <a:avLst/>
              <a:gdLst/>
              <a:ahLst/>
              <a:cxnLst/>
              <a:rect l="l" t="t" r="r" b="b"/>
              <a:pathLst>
                <a:path w="1876425" h="3524250">
                  <a:moveTo>
                    <a:pt x="1362075" y="0"/>
                  </a:moveTo>
                  <a:lnTo>
                    <a:pt x="1876425" y="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EF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ogo-band-2"/>
            <p:cNvSpPr/>
            <p:nvPr/>
          </p:nvSpPr>
          <p:spPr>
            <a:xfrm>
              <a:off x="2219325" y="1019175"/>
              <a:ext cx="2276475" cy="3524250"/>
            </a:xfrm>
            <a:custGeom>
              <a:avLst/>
              <a:gdLst/>
              <a:ahLst/>
              <a:cxnLst/>
              <a:rect l="l" t="t" r="r" b="b"/>
              <a:pathLst>
                <a:path w="2276475" h="3524250">
                  <a:moveTo>
                    <a:pt x="1895475" y="0"/>
                  </a:moveTo>
                  <a:lnTo>
                    <a:pt x="2276475" y="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006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ogo-band-3"/>
            <p:cNvSpPr/>
            <p:nvPr/>
          </p:nvSpPr>
          <p:spPr>
            <a:xfrm>
              <a:off x="2219325" y="1019175"/>
              <a:ext cx="3971925" cy="3524250"/>
            </a:xfrm>
            <a:custGeom>
              <a:avLst/>
              <a:gdLst/>
              <a:ahLst/>
              <a:cxnLst/>
              <a:rect l="l" t="t" r="r" b="b"/>
              <a:pathLst>
                <a:path w="3971925" h="3524250">
                  <a:moveTo>
                    <a:pt x="2314575" y="0"/>
                  </a:moveTo>
                  <a:lnTo>
                    <a:pt x="3971925" y="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8AB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ogo-band-4"/>
            <p:cNvSpPr/>
            <p:nvPr/>
          </p:nvSpPr>
          <p:spPr>
            <a:xfrm>
              <a:off x="2219325" y="1019175"/>
              <a:ext cx="4371975" cy="3524250"/>
            </a:xfrm>
            <a:custGeom>
              <a:avLst/>
              <a:gdLst/>
              <a:ahLst/>
              <a:cxnLst/>
              <a:rect l="l" t="t" r="r" b="b"/>
              <a:pathLst>
                <a:path w="4371975" h="3524250">
                  <a:moveTo>
                    <a:pt x="4010025" y="0"/>
                  </a:moveTo>
                  <a:lnTo>
                    <a:pt x="4371975" y="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006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" name="title"/>
          <p:cNvSpPr txBox="1"/>
          <p:nvPr/>
        </p:nvSpPr>
        <p:spPr>
          <a:xfrm>
            <a:off x="10629900" y="1682701"/>
            <a:ext cx="11327130" cy="138757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07" b="1" i="0">
                <a:solidFill>
                  <a:srgbClr val="173D78"/>
                </a:solidFill>
                <a:latin typeface="Microsoft YaHei"/>
                <a:ea typeface="Microsoft YaHei"/>
                <a:cs typeface="Microsoft YaHei"/>
              </a:rPr>
              <a:t>半年度经营总览仪表盘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15800" y="3558374"/>
            <a:ext cx="11247882" cy="6651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42" b="0" i="0">
                <a:solidFill>
                  <a:srgbClr val="1E4068"/>
                </a:solidFill>
                <a:latin typeface="Microsoft YaHei"/>
                <a:ea typeface="Microsoft YaHei"/>
                <a:cs typeface="Microsoft YaHei"/>
              </a:rPr>
              <a:t>核心指标 | 经营表现 | 结构分析 | 下半年展望</a:t>
            </a:r>
          </a:p>
        </p:txBody>
      </p:sp>
      <p:grpSp>
        <p:nvGrpSpPr>
          <p:cNvPr id="290" name="kpi-1"/>
          <p:cNvGrpSpPr/>
          <p:nvPr/>
        </p:nvGrpSpPr>
        <p:grpSpPr>
          <a:xfrm>
            <a:off x="1485900" y="4819650"/>
            <a:ext cx="8830437" cy="3000375"/>
            <a:chOff x="1485900" y="4819650"/>
            <a:chExt cx="8830437" cy="3000375"/>
          </a:xfrm>
        </p:grpSpPr>
        <p:sp>
          <p:nvSpPr>
            <p:cNvPr id="13" name="kpi1-card"/>
            <p:cNvSpPr/>
            <p:nvPr/>
          </p:nvSpPr>
          <p:spPr>
            <a:xfrm>
              <a:off x="1485900" y="4819650"/>
              <a:ext cx="8134350" cy="3000375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E6EDF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kpi1-icbg"/>
            <p:cNvSpPr/>
            <p:nvPr/>
          </p:nvSpPr>
          <p:spPr>
            <a:xfrm>
              <a:off x="2209800" y="5248275"/>
              <a:ext cx="1809750" cy="1809750"/>
            </a:xfrm>
            <a:prstGeom prst="ellipse">
              <a:avLst/>
            </a:prstGeom>
            <a:solidFill>
              <a:srgbClr val="006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74" name="kpi1-icon"/>
            <p:cNvGrpSpPr/>
            <p:nvPr/>
          </p:nvGrpSpPr>
          <p:grpSpPr>
            <a:xfrm>
              <a:off x="2706052" y="5702618"/>
              <a:ext cx="817246" cy="827722"/>
              <a:chOff x="2706052" y="5702618"/>
              <a:chExt cx="817246" cy="827722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2706052" y="5796915"/>
                <a:ext cx="817245" cy="733425"/>
              </a:xfrm>
              <a:prstGeom prst="roundRect">
                <a:avLst>
                  <a:gd name="adj" fmla="val 11428"/>
                </a:avLst>
              </a:prstGeom>
              <a:noFill/>
              <a:ln w="1524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6" name="Connector 15"/>
              <p:cNvCxnSpPr/>
              <p:nvPr/>
            </p:nvCxnSpPr>
            <p:spPr>
              <a:xfrm>
                <a:off x="2706052" y="5985510"/>
                <a:ext cx="817246" cy="0"/>
              </a:xfrm>
              <a:prstGeom prst="line">
                <a:avLst/>
              </a:prstGeom>
              <a:ln w="81724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or 16"/>
              <p:cNvCxnSpPr/>
              <p:nvPr/>
            </p:nvCxnSpPr>
            <p:spPr>
              <a:xfrm>
                <a:off x="2905125" y="5702618"/>
                <a:ext cx="0" cy="136207"/>
              </a:xfrm>
              <a:prstGeom prst="line">
                <a:avLst/>
              </a:prstGeom>
              <a:ln w="81724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 17"/>
              <p:cNvCxnSpPr/>
              <p:nvPr/>
            </p:nvCxnSpPr>
            <p:spPr>
              <a:xfrm>
                <a:off x="3324225" y="5702618"/>
                <a:ext cx="0" cy="136207"/>
              </a:xfrm>
              <a:prstGeom prst="line">
                <a:avLst/>
              </a:prstGeom>
              <a:ln w="81724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/>
              <p:cNvSpPr/>
              <p:nvPr/>
            </p:nvSpPr>
            <p:spPr>
              <a:xfrm>
                <a:off x="2868454" y="6095524"/>
                <a:ext cx="136208" cy="13620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3078004" y="6095524"/>
                <a:ext cx="136208" cy="13620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2868454" y="6305074"/>
                <a:ext cx="136208" cy="13620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3078004" y="6305074"/>
                <a:ext cx="136208" cy="13620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" name="kpi1-label"/>
            <p:cNvSpPr txBox="1"/>
            <p:nvPr/>
          </p:nvSpPr>
          <p:spPr>
            <a:xfrm>
              <a:off x="4610100" y="5455958"/>
              <a:ext cx="2940368" cy="47045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1" i="0">
                  <a:solidFill>
                    <a:srgbClr val="0064E8"/>
                  </a:solidFill>
                  <a:latin typeface="Microsoft YaHei"/>
                  <a:ea typeface="Microsoft YaHei"/>
                  <a:cs typeface="Microsoft YaHei"/>
                </a:rPr>
                <a:t>统计周期</a:t>
              </a:r>
            </a:p>
          </p:txBody>
        </p:sp>
        <p:sp>
          <p:nvSpPr>
            <p:cNvPr id="24" name="kpi1-value"/>
            <p:cNvSpPr txBox="1"/>
            <p:nvPr/>
          </p:nvSpPr>
          <p:spPr>
            <a:xfrm>
              <a:off x="4600575" y="6307703"/>
              <a:ext cx="5715762" cy="68149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465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2024年1月—2024年6月</a:t>
              </a:r>
            </a:p>
          </p:txBody>
        </p:sp>
      </p:grpSp>
      <p:grpSp>
        <p:nvGrpSpPr>
          <p:cNvPr id="287" name="kpi-2"/>
          <p:cNvGrpSpPr/>
          <p:nvPr/>
        </p:nvGrpSpPr>
        <p:grpSpPr>
          <a:xfrm>
            <a:off x="10058400" y="4819650"/>
            <a:ext cx="8086725" cy="3000375"/>
            <a:chOff x="10058400" y="4819650"/>
            <a:chExt cx="8086725" cy="3000375"/>
          </a:xfrm>
        </p:grpSpPr>
        <p:sp>
          <p:nvSpPr>
            <p:cNvPr id="25" name="kpi2-card"/>
            <p:cNvSpPr/>
            <p:nvPr/>
          </p:nvSpPr>
          <p:spPr>
            <a:xfrm>
              <a:off x="10058400" y="4819650"/>
              <a:ext cx="8086725" cy="3000375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E6EDF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kpi2-ring1"/>
            <p:cNvSpPr/>
            <p:nvPr/>
          </p:nvSpPr>
          <p:spPr>
            <a:xfrm>
              <a:off x="10839450" y="5334000"/>
              <a:ext cx="1714500" cy="1714500"/>
            </a:xfrm>
            <a:prstGeom prst="ellipse">
              <a:avLst/>
            </a:prstGeom>
            <a:noFill/>
            <a:ln w="152400">
              <a:solidFill>
                <a:srgbClr val="0064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kpi2-ring2"/>
            <p:cNvSpPr/>
            <p:nvPr/>
          </p:nvSpPr>
          <p:spPr>
            <a:xfrm>
              <a:off x="11201400" y="5695950"/>
              <a:ext cx="990600" cy="990600"/>
            </a:xfrm>
            <a:prstGeom prst="ellipse">
              <a:avLst/>
            </a:prstGeom>
            <a:noFill/>
            <a:ln w="133350">
              <a:solidFill>
                <a:srgbClr val="0064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kpi2-dot"/>
            <p:cNvSpPr/>
            <p:nvPr/>
          </p:nvSpPr>
          <p:spPr>
            <a:xfrm>
              <a:off x="11525250" y="6019800"/>
              <a:ext cx="342900" cy="342900"/>
            </a:xfrm>
            <a:prstGeom prst="ellipse">
              <a:avLst/>
            </a:prstGeom>
            <a:solidFill>
              <a:srgbClr val="006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9" name="kpi2-arrow"/>
            <p:cNvCxnSpPr/>
            <p:nvPr/>
          </p:nvCxnSpPr>
          <p:spPr>
            <a:xfrm flipV="1">
              <a:off x="11772900" y="5448300"/>
              <a:ext cx="666750" cy="666750"/>
            </a:xfrm>
            <a:prstGeom prst="line">
              <a:avLst/>
            </a:prstGeom>
            <a:ln w="152400">
              <a:solidFill>
                <a:srgbClr val="0064E8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kpi2-label"/>
            <p:cNvSpPr txBox="1"/>
            <p:nvPr/>
          </p:nvSpPr>
          <p:spPr>
            <a:xfrm>
              <a:off x="13658850" y="5351183"/>
              <a:ext cx="2940368" cy="47045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1" i="0">
                  <a:solidFill>
                    <a:srgbClr val="0064E8"/>
                  </a:solidFill>
                  <a:latin typeface="Microsoft YaHei"/>
                  <a:ea typeface="Microsoft YaHei"/>
                  <a:cs typeface="Microsoft YaHei"/>
                </a:rPr>
                <a:t>总体达成率</a:t>
              </a:r>
            </a:p>
          </p:txBody>
        </p:sp>
        <p:sp>
          <p:nvSpPr>
            <p:cNvPr id="31" name="kpi2-value"/>
            <p:cNvSpPr txBox="1"/>
            <p:nvPr/>
          </p:nvSpPr>
          <p:spPr>
            <a:xfrm>
              <a:off x="13668375" y="5879592"/>
              <a:ext cx="3102388" cy="112814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292" b="1" i="0">
                  <a:solidFill>
                    <a:srgbClr val="0064E8"/>
                  </a:solidFill>
                  <a:latin typeface="Microsoft YaHei"/>
                  <a:ea typeface="Microsoft YaHei"/>
                  <a:cs typeface="Microsoft YaHei"/>
                </a:rPr>
                <a:t>82%</a:t>
              </a:r>
            </a:p>
          </p:txBody>
        </p:sp>
        <p:sp>
          <p:nvSpPr>
            <p:cNvPr id="32" name="kpi2-cap-a"/>
            <p:cNvSpPr txBox="1"/>
            <p:nvPr/>
          </p:nvSpPr>
          <p:spPr>
            <a:xfrm>
              <a:off x="12573000" y="7280377"/>
              <a:ext cx="1798320" cy="43159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75" b="0" i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较去年同期</a:t>
              </a:r>
            </a:p>
          </p:txBody>
        </p:sp>
        <p:sp>
          <p:nvSpPr>
            <p:cNvPr id="33" name="kpi2-cap-b"/>
            <p:cNvSpPr txBox="1"/>
            <p:nvPr/>
          </p:nvSpPr>
          <p:spPr>
            <a:xfrm>
              <a:off x="15049500" y="7261288"/>
              <a:ext cx="1102995" cy="44119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535" b="0" i="0">
                  <a:solidFill>
                    <a:srgbClr val="0064E8"/>
                  </a:solidFill>
                  <a:latin typeface="Microsoft YaHei"/>
                  <a:ea typeface="Microsoft YaHei"/>
                  <a:cs typeface="Microsoft YaHei"/>
                </a:rPr>
                <a:t>+5.6</a:t>
              </a:r>
            </a:p>
          </p:txBody>
        </p:sp>
        <p:sp>
          <p:nvSpPr>
            <p:cNvPr id="34" name="kpi2-cap-c"/>
            <p:cNvSpPr txBox="1"/>
            <p:nvPr/>
          </p:nvSpPr>
          <p:spPr>
            <a:xfrm>
              <a:off x="16163925" y="7269442"/>
              <a:ext cx="1849755" cy="44394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550" b="0" i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个百分点</a:t>
              </a:r>
            </a:p>
          </p:txBody>
        </p:sp>
      </p:grpSp>
      <p:grpSp>
        <p:nvGrpSpPr>
          <p:cNvPr id="285" name="kpi-3"/>
          <p:cNvGrpSpPr/>
          <p:nvPr/>
        </p:nvGrpSpPr>
        <p:grpSpPr>
          <a:xfrm>
            <a:off x="18583275" y="4819650"/>
            <a:ext cx="7915275" cy="3000375"/>
            <a:chOff x="18583275" y="4819650"/>
            <a:chExt cx="7915275" cy="3000375"/>
          </a:xfrm>
        </p:grpSpPr>
        <p:sp>
          <p:nvSpPr>
            <p:cNvPr id="35" name="kpi3-card"/>
            <p:cNvSpPr/>
            <p:nvPr/>
          </p:nvSpPr>
          <p:spPr>
            <a:xfrm>
              <a:off x="18583275" y="4819650"/>
              <a:ext cx="7915275" cy="3000375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E6EDF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kpi3-coin0"/>
            <p:cNvSpPr/>
            <p:nvPr/>
          </p:nvSpPr>
          <p:spPr>
            <a:xfrm>
              <a:off x="19335750" y="5429250"/>
              <a:ext cx="1447800" cy="533400"/>
            </a:xfrm>
            <a:prstGeom prst="ellipse">
              <a:avLst/>
            </a:prstGeom>
            <a:solidFill>
              <a:srgbClr val="EAF3FF"/>
            </a:solidFill>
            <a:ln w="85725">
              <a:solidFill>
                <a:srgbClr val="0064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kpi3-coin1"/>
            <p:cNvSpPr/>
            <p:nvPr/>
          </p:nvSpPr>
          <p:spPr>
            <a:xfrm>
              <a:off x="19335750" y="5829300"/>
              <a:ext cx="1447800" cy="5334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0064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kpi3-coin2"/>
            <p:cNvSpPr/>
            <p:nvPr/>
          </p:nvSpPr>
          <p:spPr>
            <a:xfrm>
              <a:off x="19335750" y="6229350"/>
              <a:ext cx="1447800" cy="5334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0064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kpi3-badge"/>
            <p:cNvSpPr/>
            <p:nvPr/>
          </p:nvSpPr>
          <p:spPr>
            <a:xfrm>
              <a:off x="20288250" y="6229350"/>
              <a:ext cx="952500" cy="952500"/>
            </a:xfrm>
            <a:prstGeom prst="ellipse">
              <a:avLst/>
            </a:prstGeom>
            <a:solidFill>
              <a:srgbClr val="006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kpi3-yen"/>
            <p:cNvSpPr txBox="1"/>
            <p:nvPr/>
          </p:nvSpPr>
          <p:spPr>
            <a:xfrm>
              <a:off x="20497800" y="6400800"/>
              <a:ext cx="533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¥</a:t>
              </a:r>
            </a:p>
          </p:txBody>
        </p:sp>
        <p:sp>
          <p:nvSpPr>
            <p:cNvPr id="41" name="kpi3-label"/>
            <p:cNvSpPr txBox="1"/>
            <p:nvPr/>
          </p:nvSpPr>
          <p:spPr>
            <a:xfrm>
              <a:off x="21859875" y="5336781"/>
              <a:ext cx="3120390" cy="49926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1" i="0">
                  <a:solidFill>
                    <a:srgbClr val="0064E8"/>
                  </a:solidFill>
                  <a:latin typeface="Microsoft YaHei"/>
                  <a:ea typeface="Microsoft YaHei"/>
                  <a:cs typeface="Microsoft YaHei"/>
                </a:rPr>
                <a:t>营业收入</a:t>
              </a:r>
            </a:p>
          </p:txBody>
        </p:sp>
        <p:sp>
          <p:nvSpPr>
            <p:cNvPr id="42" name="kpi3-value-a"/>
            <p:cNvSpPr txBox="1"/>
            <p:nvPr/>
          </p:nvSpPr>
          <p:spPr>
            <a:xfrm>
              <a:off x="21878925" y="6081712"/>
              <a:ext cx="1809750" cy="7429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650" b="1" i="0">
                  <a:solidFill>
                    <a:srgbClr val="0064E8"/>
                  </a:solidFill>
                  <a:latin typeface="Microsoft YaHei"/>
                  <a:ea typeface="Microsoft YaHei"/>
                  <a:cs typeface="Microsoft YaHei"/>
                </a:rPr>
                <a:t>¥5.2</a:t>
              </a:r>
            </a:p>
          </p:txBody>
        </p:sp>
        <p:sp>
          <p:nvSpPr>
            <p:cNvPr id="43" name="kpi3-value-b"/>
            <p:cNvSpPr txBox="1"/>
            <p:nvPr/>
          </p:nvSpPr>
          <p:spPr>
            <a:xfrm>
              <a:off x="24679275" y="6176962"/>
              <a:ext cx="762000" cy="7429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650" b="1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亿</a:t>
              </a:r>
            </a:p>
          </p:txBody>
        </p:sp>
        <p:sp>
          <p:nvSpPr>
            <p:cNvPr id="44" name="kpi3-cap-a"/>
            <p:cNvSpPr txBox="1"/>
            <p:nvPr/>
          </p:nvSpPr>
          <p:spPr>
            <a:xfrm>
              <a:off x="21859875" y="7250821"/>
              <a:ext cx="885539" cy="45260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557" b="0" i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同比</a:t>
              </a:r>
            </a:p>
          </p:txBody>
        </p:sp>
        <p:sp>
          <p:nvSpPr>
            <p:cNvPr id="45" name="kpi3-cap-b"/>
            <p:cNvSpPr txBox="1"/>
            <p:nvPr/>
          </p:nvSpPr>
          <p:spPr>
            <a:xfrm>
              <a:off x="22860000" y="7254488"/>
              <a:ext cx="1680782" cy="454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572" b="0" i="0">
                  <a:solidFill>
                    <a:srgbClr val="0064E8"/>
                  </a:solidFill>
                  <a:latin typeface="Microsoft YaHei"/>
                  <a:ea typeface="Microsoft YaHei"/>
                  <a:cs typeface="Microsoft YaHei"/>
                </a:rPr>
                <a:t>+12.4%</a:t>
              </a:r>
            </a:p>
          </p:txBody>
        </p:sp>
      </p:grpSp>
      <p:grpSp>
        <p:nvGrpSpPr>
          <p:cNvPr id="283" name="kpi-4"/>
          <p:cNvGrpSpPr/>
          <p:nvPr/>
        </p:nvGrpSpPr>
        <p:grpSpPr>
          <a:xfrm>
            <a:off x="26917650" y="4819650"/>
            <a:ext cx="8134350" cy="3000375"/>
            <a:chOff x="26917650" y="4819650"/>
            <a:chExt cx="8134350" cy="3000375"/>
          </a:xfrm>
        </p:grpSpPr>
        <p:sp>
          <p:nvSpPr>
            <p:cNvPr id="46" name="kpi4-card"/>
            <p:cNvSpPr/>
            <p:nvPr/>
          </p:nvSpPr>
          <p:spPr>
            <a:xfrm>
              <a:off x="26917650" y="4819650"/>
              <a:ext cx="8134350" cy="3000375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E6EDF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kpi4-tri0"/>
            <p:cNvCxnSpPr/>
            <p:nvPr/>
          </p:nvCxnSpPr>
          <p:spPr>
            <a:xfrm flipH="1">
              <a:off x="27632025" y="5219700"/>
              <a:ext cx="1000125" cy="1600200"/>
            </a:xfrm>
            <a:prstGeom prst="line">
              <a:avLst/>
            </a:prstGeom>
            <a:ln w="114300">
              <a:solidFill>
                <a:srgbClr val="F26A2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kpi4-tri1"/>
            <p:cNvCxnSpPr/>
            <p:nvPr/>
          </p:nvCxnSpPr>
          <p:spPr>
            <a:xfrm>
              <a:off x="28632150" y="5219700"/>
              <a:ext cx="1000125" cy="1600200"/>
            </a:xfrm>
            <a:prstGeom prst="line">
              <a:avLst/>
            </a:prstGeom>
            <a:ln w="114300">
              <a:solidFill>
                <a:srgbClr val="F26A2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kpi4-tri2"/>
            <p:cNvCxnSpPr/>
            <p:nvPr/>
          </p:nvCxnSpPr>
          <p:spPr>
            <a:xfrm>
              <a:off x="27632025" y="6819900"/>
              <a:ext cx="2000250" cy="0"/>
            </a:xfrm>
            <a:prstGeom prst="line">
              <a:avLst/>
            </a:prstGeom>
            <a:ln w="114300">
              <a:solidFill>
                <a:srgbClr val="F26A2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kpi4-icon-mark"/>
            <p:cNvSpPr txBox="1"/>
            <p:nvPr/>
          </p:nvSpPr>
          <p:spPr>
            <a:xfrm>
              <a:off x="28206954" y="5698808"/>
              <a:ext cx="850392" cy="129921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815" b="1" i="0">
                  <a:solidFill>
                    <a:srgbClr val="F26A21"/>
                  </a:solidFill>
                  <a:latin typeface="Microsoft YaHei"/>
                  <a:ea typeface="Microsoft YaHei"/>
                  <a:cs typeface="Microsoft YaHei"/>
                </a:rPr>
                <a:t>!</a:t>
              </a:r>
            </a:p>
          </p:txBody>
        </p:sp>
        <p:sp>
          <p:nvSpPr>
            <p:cNvPr id="51" name="kpi4-label"/>
            <p:cNvSpPr txBox="1"/>
            <p:nvPr/>
          </p:nvSpPr>
          <p:spPr>
            <a:xfrm>
              <a:off x="30489525" y="5348630"/>
              <a:ext cx="3031807" cy="48508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1" i="0">
                  <a:solidFill>
                    <a:srgbClr val="0064E8"/>
                  </a:solidFill>
                  <a:latin typeface="Microsoft YaHei"/>
                  <a:ea typeface="Microsoft YaHei"/>
                  <a:cs typeface="Microsoft YaHei"/>
                </a:rPr>
                <a:t>重点风险</a:t>
              </a:r>
            </a:p>
          </p:txBody>
        </p:sp>
        <p:sp>
          <p:nvSpPr>
            <p:cNvPr id="52" name="kpi4-value-a"/>
            <p:cNvSpPr txBox="1"/>
            <p:nvPr/>
          </p:nvSpPr>
          <p:spPr>
            <a:xfrm>
              <a:off x="30508575" y="6067425"/>
              <a:ext cx="762000" cy="7429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650" b="1" i="0">
                  <a:solidFill>
                    <a:srgbClr val="F08C00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53" name="kpi4-value-b"/>
            <p:cNvSpPr txBox="1"/>
            <p:nvPr/>
          </p:nvSpPr>
          <p:spPr>
            <a:xfrm>
              <a:off x="31556325" y="6167438"/>
              <a:ext cx="762000" cy="7429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650" b="1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项</a:t>
              </a:r>
            </a:p>
          </p:txBody>
        </p:sp>
        <p:sp>
          <p:nvSpPr>
            <p:cNvPr id="54" name="kpi4-cap-a"/>
            <p:cNvSpPr txBox="1"/>
            <p:nvPr/>
          </p:nvSpPr>
          <p:spPr>
            <a:xfrm>
              <a:off x="30480000" y="7324725"/>
              <a:ext cx="1905000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175" b="0" i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较上期减少</a:t>
              </a:r>
            </a:p>
          </p:txBody>
        </p:sp>
        <p:sp>
          <p:nvSpPr>
            <p:cNvPr id="55" name="kpi4-cap-b"/>
            <p:cNvSpPr txBox="1"/>
            <p:nvPr/>
          </p:nvSpPr>
          <p:spPr>
            <a:xfrm>
              <a:off x="32242125" y="7200900"/>
              <a:ext cx="381000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175" b="0" i="0">
                  <a:solidFill>
                    <a:srgbClr val="F08C00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56" name="kpi4-cap-c"/>
            <p:cNvSpPr txBox="1"/>
            <p:nvPr/>
          </p:nvSpPr>
          <p:spPr>
            <a:xfrm>
              <a:off x="33242250" y="7281862"/>
              <a:ext cx="571500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175" b="0" i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项</a:t>
              </a:r>
            </a:p>
          </p:txBody>
        </p:sp>
      </p:grpSp>
      <p:grpSp>
        <p:nvGrpSpPr>
          <p:cNvPr id="289" name="mid-left"/>
          <p:cNvGrpSpPr/>
          <p:nvPr/>
        </p:nvGrpSpPr>
        <p:grpSpPr>
          <a:xfrm>
            <a:off x="1485900" y="8296275"/>
            <a:ext cx="8591550" cy="8867775"/>
            <a:chOff x="1485900" y="8296275"/>
            <a:chExt cx="8591550" cy="8867775"/>
          </a:xfrm>
        </p:grpSpPr>
        <p:sp>
          <p:nvSpPr>
            <p:cNvPr id="57" name="midL-panel"/>
            <p:cNvSpPr/>
            <p:nvPr/>
          </p:nvSpPr>
          <p:spPr>
            <a:xfrm>
              <a:off x="1485900" y="8296275"/>
              <a:ext cx="8591550" cy="8867775"/>
            </a:xfrm>
            <a:prstGeom prst="roundRect">
              <a:avLst>
                <a:gd name="adj" fmla="val 2439"/>
              </a:avLst>
            </a:prstGeom>
            <a:solidFill>
              <a:srgbClr val="FFFFFF"/>
            </a:solidFill>
            <a:ln w="19050">
              <a:solidFill>
                <a:srgbClr val="E3EA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midL-title"/>
            <p:cNvSpPr txBox="1"/>
            <p:nvPr/>
          </p:nvSpPr>
          <p:spPr>
            <a:xfrm>
              <a:off x="4067442" y="8652175"/>
              <a:ext cx="2933167" cy="56455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172" b="1" i="0">
                  <a:solidFill>
                    <a:srgbClr val="1677FF"/>
                  </a:solidFill>
                  <a:latin typeface="Microsoft YaHei"/>
                  <a:ea typeface="Microsoft YaHei"/>
                  <a:cs typeface="Microsoft YaHei"/>
                </a:rPr>
                <a:t>总体经营完成率</a:t>
              </a:r>
            </a:p>
          </p:txBody>
        </p:sp>
        <p:cxnSp>
          <p:nvCxnSpPr>
            <p:cNvPr id="59" name="midL-rule-l"/>
            <p:cNvCxnSpPr/>
            <p:nvPr/>
          </p:nvCxnSpPr>
          <p:spPr>
            <a:xfrm>
              <a:off x="1895475" y="8943975"/>
              <a:ext cx="2266950" cy="0"/>
            </a:xfrm>
            <a:prstGeom prst="line">
              <a:avLst/>
            </a:prstGeom>
            <a:ln w="28575">
              <a:solidFill>
                <a:srgbClr val="1677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idL-dot-l"/>
            <p:cNvSpPr/>
            <p:nvPr/>
          </p:nvSpPr>
          <p:spPr>
            <a:xfrm>
              <a:off x="4105275" y="8886825"/>
              <a:ext cx="114300" cy="1143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1" name="midL-rule-r"/>
            <p:cNvCxnSpPr/>
            <p:nvPr/>
          </p:nvCxnSpPr>
          <p:spPr>
            <a:xfrm>
              <a:off x="7381875" y="8943975"/>
              <a:ext cx="2324100" cy="0"/>
            </a:xfrm>
            <a:prstGeom prst="line">
              <a:avLst/>
            </a:prstGeom>
            <a:ln w="28575">
              <a:solidFill>
                <a:srgbClr val="1677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idL-dot-r"/>
            <p:cNvSpPr/>
            <p:nvPr/>
          </p:nvSpPr>
          <p:spPr>
            <a:xfrm>
              <a:off x="7324725" y="8886825"/>
              <a:ext cx="114300" cy="1143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donut-track"/>
            <p:cNvSpPr/>
            <p:nvPr/>
          </p:nvSpPr>
          <p:spPr>
            <a:xfrm>
              <a:off x="2590800" y="9610725"/>
              <a:ext cx="6286500" cy="6286500"/>
            </a:xfrm>
            <a:custGeom>
              <a:avLst/>
              <a:gdLst/>
              <a:ahLst/>
              <a:cxnLst/>
              <a:rect l="l" t="t" r="r" b="b"/>
              <a:pathLst>
                <a:path w="6286500" h="6286500">
                  <a:moveTo>
                    <a:pt x="3143250" y="0"/>
                  </a:moveTo>
                  <a:lnTo>
                    <a:pt x="3307755" y="4308"/>
                  </a:lnTo>
                  <a:lnTo>
                    <a:pt x="3471809" y="17219"/>
                  </a:lnTo>
                  <a:lnTo>
                    <a:pt x="3634963" y="38699"/>
                  </a:lnTo>
                  <a:lnTo>
                    <a:pt x="3796768" y="68688"/>
                  </a:lnTo>
                  <a:lnTo>
                    <a:pt x="3956783" y="107104"/>
                  </a:lnTo>
                  <a:lnTo>
                    <a:pt x="4114568" y="153842"/>
                  </a:lnTo>
                  <a:lnTo>
                    <a:pt x="4269690" y="208773"/>
                  </a:lnTo>
                  <a:lnTo>
                    <a:pt x="4421725" y="271748"/>
                  </a:lnTo>
                  <a:lnTo>
                    <a:pt x="4570256" y="342594"/>
                  </a:lnTo>
                  <a:lnTo>
                    <a:pt x="4714875" y="421116"/>
                  </a:lnTo>
                  <a:lnTo>
                    <a:pt x="4855187" y="507099"/>
                  </a:lnTo>
                  <a:lnTo>
                    <a:pt x="4990806" y="600307"/>
                  </a:lnTo>
                  <a:lnTo>
                    <a:pt x="5121361" y="700486"/>
                  </a:lnTo>
                  <a:lnTo>
                    <a:pt x="5246495" y="807360"/>
                  </a:lnTo>
                  <a:lnTo>
                    <a:pt x="5365863" y="920637"/>
                  </a:lnTo>
                  <a:lnTo>
                    <a:pt x="5479140" y="1040005"/>
                  </a:lnTo>
                  <a:lnTo>
                    <a:pt x="5586014" y="1165139"/>
                  </a:lnTo>
                  <a:lnTo>
                    <a:pt x="5686193" y="1295694"/>
                  </a:lnTo>
                  <a:lnTo>
                    <a:pt x="5779401" y="1431313"/>
                  </a:lnTo>
                  <a:lnTo>
                    <a:pt x="5865384" y="1571625"/>
                  </a:lnTo>
                  <a:lnTo>
                    <a:pt x="5943906" y="1716244"/>
                  </a:lnTo>
                  <a:lnTo>
                    <a:pt x="6014752" y="1864775"/>
                  </a:lnTo>
                  <a:lnTo>
                    <a:pt x="6077727" y="2016810"/>
                  </a:lnTo>
                  <a:lnTo>
                    <a:pt x="6132658" y="2171932"/>
                  </a:lnTo>
                  <a:lnTo>
                    <a:pt x="6179396" y="2329717"/>
                  </a:lnTo>
                  <a:lnTo>
                    <a:pt x="6217812" y="2489732"/>
                  </a:lnTo>
                  <a:lnTo>
                    <a:pt x="6247801" y="2651537"/>
                  </a:lnTo>
                  <a:lnTo>
                    <a:pt x="6269281" y="2814691"/>
                  </a:lnTo>
                  <a:lnTo>
                    <a:pt x="6282192" y="2978745"/>
                  </a:lnTo>
                  <a:lnTo>
                    <a:pt x="6286500" y="3143250"/>
                  </a:lnTo>
                  <a:lnTo>
                    <a:pt x="6282192" y="3307755"/>
                  </a:lnTo>
                  <a:lnTo>
                    <a:pt x="6269281" y="3471809"/>
                  </a:lnTo>
                  <a:lnTo>
                    <a:pt x="6247801" y="3634963"/>
                  </a:lnTo>
                  <a:lnTo>
                    <a:pt x="6217812" y="3796768"/>
                  </a:lnTo>
                  <a:lnTo>
                    <a:pt x="6179396" y="3956783"/>
                  </a:lnTo>
                  <a:lnTo>
                    <a:pt x="6132658" y="4114568"/>
                  </a:lnTo>
                  <a:lnTo>
                    <a:pt x="6077727" y="4269690"/>
                  </a:lnTo>
                  <a:lnTo>
                    <a:pt x="6014752" y="4421725"/>
                  </a:lnTo>
                  <a:lnTo>
                    <a:pt x="5943906" y="4570256"/>
                  </a:lnTo>
                  <a:lnTo>
                    <a:pt x="5865384" y="4714875"/>
                  </a:lnTo>
                  <a:lnTo>
                    <a:pt x="5779401" y="4855187"/>
                  </a:lnTo>
                  <a:lnTo>
                    <a:pt x="5686193" y="4990806"/>
                  </a:lnTo>
                  <a:lnTo>
                    <a:pt x="5586014" y="5121361"/>
                  </a:lnTo>
                  <a:lnTo>
                    <a:pt x="5479140" y="5246495"/>
                  </a:lnTo>
                  <a:lnTo>
                    <a:pt x="5365863" y="5365863"/>
                  </a:lnTo>
                  <a:lnTo>
                    <a:pt x="5246495" y="5479140"/>
                  </a:lnTo>
                  <a:lnTo>
                    <a:pt x="5121361" y="5586014"/>
                  </a:lnTo>
                  <a:lnTo>
                    <a:pt x="4990806" y="5686193"/>
                  </a:lnTo>
                  <a:lnTo>
                    <a:pt x="4855187" y="5779401"/>
                  </a:lnTo>
                  <a:lnTo>
                    <a:pt x="4714875" y="5865384"/>
                  </a:lnTo>
                  <a:lnTo>
                    <a:pt x="4570256" y="5943906"/>
                  </a:lnTo>
                  <a:lnTo>
                    <a:pt x="4421725" y="6014752"/>
                  </a:lnTo>
                  <a:lnTo>
                    <a:pt x="4269690" y="6077727"/>
                  </a:lnTo>
                  <a:lnTo>
                    <a:pt x="4114568" y="6132658"/>
                  </a:lnTo>
                  <a:lnTo>
                    <a:pt x="3956783" y="6179396"/>
                  </a:lnTo>
                  <a:lnTo>
                    <a:pt x="3796768" y="6217812"/>
                  </a:lnTo>
                  <a:lnTo>
                    <a:pt x="3634963" y="6247801"/>
                  </a:lnTo>
                  <a:lnTo>
                    <a:pt x="3471809" y="6269281"/>
                  </a:lnTo>
                  <a:lnTo>
                    <a:pt x="3307755" y="6282192"/>
                  </a:lnTo>
                  <a:lnTo>
                    <a:pt x="3143250" y="6286500"/>
                  </a:lnTo>
                  <a:lnTo>
                    <a:pt x="2978745" y="6282192"/>
                  </a:lnTo>
                  <a:lnTo>
                    <a:pt x="2814691" y="6269281"/>
                  </a:lnTo>
                  <a:lnTo>
                    <a:pt x="2651537" y="6247801"/>
                  </a:lnTo>
                  <a:lnTo>
                    <a:pt x="2489732" y="6217812"/>
                  </a:lnTo>
                  <a:lnTo>
                    <a:pt x="2329717" y="6179396"/>
                  </a:lnTo>
                  <a:lnTo>
                    <a:pt x="2171932" y="6132658"/>
                  </a:lnTo>
                  <a:lnTo>
                    <a:pt x="2016810" y="6077727"/>
                  </a:lnTo>
                  <a:lnTo>
                    <a:pt x="1864775" y="6014752"/>
                  </a:lnTo>
                  <a:lnTo>
                    <a:pt x="1716244" y="5943906"/>
                  </a:lnTo>
                  <a:lnTo>
                    <a:pt x="1571625" y="5865384"/>
                  </a:lnTo>
                  <a:lnTo>
                    <a:pt x="1431313" y="5779401"/>
                  </a:lnTo>
                  <a:lnTo>
                    <a:pt x="1295694" y="5686193"/>
                  </a:lnTo>
                  <a:lnTo>
                    <a:pt x="1165139" y="5586014"/>
                  </a:lnTo>
                  <a:lnTo>
                    <a:pt x="1040005" y="5479140"/>
                  </a:lnTo>
                  <a:lnTo>
                    <a:pt x="920637" y="5365863"/>
                  </a:lnTo>
                  <a:lnTo>
                    <a:pt x="807360" y="5246495"/>
                  </a:lnTo>
                  <a:lnTo>
                    <a:pt x="700486" y="5121361"/>
                  </a:lnTo>
                  <a:lnTo>
                    <a:pt x="600307" y="4990806"/>
                  </a:lnTo>
                  <a:lnTo>
                    <a:pt x="507099" y="4855187"/>
                  </a:lnTo>
                  <a:lnTo>
                    <a:pt x="421116" y="4714875"/>
                  </a:lnTo>
                  <a:lnTo>
                    <a:pt x="342594" y="4570256"/>
                  </a:lnTo>
                  <a:lnTo>
                    <a:pt x="271748" y="4421725"/>
                  </a:lnTo>
                  <a:lnTo>
                    <a:pt x="208773" y="4269690"/>
                  </a:lnTo>
                  <a:lnTo>
                    <a:pt x="153842" y="4114568"/>
                  </a:lnTo>
                  <a:lnTo>
                    <a:pt x="107104" y="3956783"/>
                  </a:lnTo>
                  <a:lnTo>
                    <a:pt x="68688" y="3796768"/>
                  </a:lnTo>
                  <a:lnTo>
                    <a:pt x="38699" y="3634963"/>
                  </a:lnTo>
                  <a:lnTo>
                    <a:pt x="17219" y="3471809"/>
                  </a:lnTo>
                  <a:lnTo>
                    <a:pt x="4308" y="3307755"/>
                  </a:lnTo>
                  <a:lnTo>
                    <a:pt x="0" y="3143250"/>
                  </a:lnTo>
                  <a:lnTo>
                    <a:pt x="4308" y="2978745"/>
                  </a:lnTo>
                  <a:lnTo>
                    <a:pt x="17219" y="2814691"/>
                  </a:lnTo>
                  <a:lnTo>
                    <a:pt x="38699" y="2651537"/>
                  </a:lnTo>
                  <a:lnTo>
                    <a:pt x="68688" y="2489732"/>
                  </a:lnTo>
                  <a:lnTo>
                    <a:pt x="107104" y="2329717"/>
                  </a:lnTo>
                  <a:lnTo>
                    <a:pt x="153842" y="2171932"/>
                  </a:lnTo>
                  <a:lnTo>
                    <a:pt x="208773" y="2016810"/>
                  </a:lnTo>
                  <a:lnTo>
                    <a:pt x="271748" y="1864775"/>
                  </a:lnTo>
                  <a:lnTo>
                    <a:pt x="342594" y="1716244"/>
                  </a:lnTo>
                  <a:lnTo>
                    <a:pt x="421116" y="1571625"/>
                  </a:lnTo>
                  <a:lnTo>
                    <a:pt x="507099" y="1431313"/>
                  </a:lnTo>
                  <a:lnTo>
                    <a:pt x="600307" y="1295694"/>
                  </a:lnTo>
                  <a:lnTo>
                    <a:pt x="700486" y="1165139"/>
                  </a:lnTo>
                  <a:lnTo>
                    <a:pt x="807360" y="1040005"/>
                  </a:lnTo>
                  <a:lnTo>
                    <a:pt x="920637" y="920637"/>
                  </a:lnTo>
                  <a:lnTo>
                    <a:pt x="1040005" y="807360"/>
                  </a:lnTo>
                  <a:lnTo>
                    <a:pt x="1165139" y="700486"/>
                  </a:lnTo>
                  <a:lnTo>
                    <a:pt x="1295694" y="600307"/>
                  </a:lnTo>
                  <a:lnTo>
                    <a:pt x="1431313" y="507099"/>
                  </a:lnTo>
                  <a:lnTo>
                    <a:pt x="1571625" y="421116"/>
                  </a:lnTo>
                  <a:lnTo>
                    <a:pt x="1716244" y="342594"/>
                  </a:lnTo>
                  <a:lnTo>
                    <a:pt x="1864775" y="271748"/>
                  </a:lnTo>
                  <a:lnTo>
                    <a:pt x="2016810" y="208773"/>
                  </a:lnTo>
                  <a:lnTo>
                    <a:pt x="2171932" y="153842"/>
                  </a:lnTo>
                  <a:lnTo>
                    <a:pt x="2329717" y="107104"/>
                  </a:lnTo>
                  <a:lnTo>
                    <a:pt x="2489732" y="68688"/>
                  </a:lnTo>
                  <a:lnTo>
                    <a:pt x="2651537" y="38699"/>
                  </a:lnTo>
                  <a:lnTo>
                    <a:pt x="2814691" y="17219"/>
                  </a:lnTo>
                  <a:lnTo>
                    <a:pt x="2978745" y="4308"/>
                  </a:lnTo>
                  <a:lnTo>
                    <a:pt x="3143250" y="0"/>
                  </a:lnTo>
                  <a:lnTo>
                    <a:pt x="3143250" y="981075"/>
                  </a:lnTo>
                  <a:lnTo>
                    <a:pt x="3030091" y="984038"/>
                  </a:lnTo>
                  <a:lnTo>
                    <a:pt x="2917241" y="992920"/>
                  </a:lnTo>
                  <a:lnTo>
                    <a:pt x="2805011" y="1007695"/>
                  </a:lnTo>
                  <a:lnTo>
                    <a:pt x="2693709" y="1028324"/>
                  </a:lnTo>
                  <a:lnTo>
                    <a:pt x="2583638" y="1054749"/>
                  </a:lnTo>
                  <a:lnTo>
                    <a:pt x="2475101" y="1086899"/>
                  </a:lnTo>
                  <a:lnTo>
                    <a:pt x="2368396" y="1124686"/>
                  </a:lnTo>
                  <a:lnTo>
                    <a:pt x="2263814" y="1168005"/>
                  </a:lnTo>
                  <a:lnTo>
                    <a:pt x="2161643" y="1216738"/>
                  </a:lnTo>
                  <a:lnTo>
                    <a:pt x="2062162" y="1270752"/>
                  </a:lnTo>
                  <a:lnTo>
                    <a:pt x="1965645" y="1329897"/>
                  </a:lnTo>
                  <a:lnTo>
                    <a:pt x="1872355" y="1394014"/>
                  </a:lnTo>
                  <a:lnTo>
                    <a:pt x="1782549" y="1462924"/>
                  </a:lnTo>
                  <a:lnTo>
                    <a:pt x="1696473" y="1536441"/>
                  </a:lnTo>
                  <a:lnTo>
                    <a:pt x="1614361" y="1614361"/>
                  </a:lnTo>
                  <a:lnTo>
                    <a:pt x="1536441" y="1696473"/>
                  </a:lnTo>
                  <a:lnTo>
                    <a:pt x="1462924" y="1782549"/>
                  </a:lnTo>
                  <a:lnTo>
                    <a:pt x="1394014" y="1872355"/>
                  </a:lnTo>
                  <a:lnTo>
                    <a:pt x="1329897" y="1965645"/>
                  </a:lnTo>
                  <a:lnTo>
                    <a:pt x="1270752" y="2062163"/>
                  </a:lnTo>
                  <a:lnTo>
                    <a:pt x="1216738" y="2161643"/>
                  </a:lnTo>
                  <a:lnTo>
                    <a:pt x="1168005" y="2263814"/>
                  </a:lnTo>
                  <a:lnTo>
                    <a:pt x="1124686" y="2368396"/>
                  </a:lnTo>
                  <a:lnTo>
                    <a:pt x="1086899" y="2475101"/>
                  </a:lnTo>
                  <a:lnTo>
                    <a:pt x="1054749" y="2583638"/>
                  </a:lnTo>
                  <a:lnTo>
                    <a:pt x="1028324" y="2693709"/>
                  </a:lnTo>
                  <a:lnTo>
                    <a:pt x="1007695" y="2805011"/>
                  </a:lnTo>
                  <a:lnTo>
                    <a:pt x="992920" y="2917241"/>
                  </a:lnTo>
                  <a:lnTo>
                    <a:pt x="984038" y="3030091"/>
                  </a:lnTo>
                  <a:lnTo>
                    <a:pt x="981075" y="3143250"/>
                  </a:lnTo>
                  <a:lnTo>
                    <a:pt x="984038" y="3256409"/>
                  </a:lnTo>
                  <a:lnTo>
                    <a:pt x="992920" y="3369259"/>
                  </a:lnTo>
                  <a:lnTo>
                    <a:pt x="1007695" y="3481489"/>
                  </a:lnTo>
                  <a:lnTo>
                    <a:pt x="1028324" y="3592791"/>
                  </a:lnTo>
                  <a:lnTo>
                    <a:pt x="1054749" y="3702862"/>
                  </a:lnTo>
                  <a:lnTo>
                    <a:pt x="1086899" y="3811399"/>
                  </a:lnTo>
                  <a:lnTo>
                    <a:pt x="1124686" y="3918104"/>
                  </a:lnTo>
                  <a:lnTo>
                    <a:pt x="1168005" y="4022686"/>
                  </a:lnTo>
                  <a:lnTo>
                    <a:pt x="1216738" y="4124857"/>
                  </a:lnTo>
                  <a:lnTo>
                    <a:pt x="1270752" y="4224337"/>
                  </a:lnTo>
                  <a:lnTo>
                    <a:pt x="1329897" y="4320855"/>
                  </a:lnTo>
                  <a:lnTo>
                    <a:pt x="1394014" y="4414145"/>
                  </a:lnTo>
                  <a:lnTo>
                    <a:pt x="1462924" y="4503951"/>
                  </a:lnTo>
                  <a:lnTo>
                    <a:pt x="1536441" y="4590027"/>
                  </a:lnTo>
                  <a:lnTo>
                    <a:pt x="1614361" y="4672139"/>
                  </a:lnTo>
                  <a:lnTo>
                    <a:pt x="1696473" y="4750059"/>
                  </a:lnTo>
                  <a:lnTo>
                    <a:pt x="1782549" y="4823576"/>
                  </a:lnTo>
                  <a:lnTo>
                    <a:pt x="1872355" y="4892486"/>
                  </a:lnTo>
                  <a:lnTo>
                    <a:pt x="1965645" y="4956603"/>
                  </a:lnTo>
                  <a:lnTo>
                    <a:pt x="2062163" y="5015748"/>
                  </a:lnTo>
                  <a:lnTo>
                    <a:pt x="2161643" y="5069762"/>
                  </a:lnTo>
                  <a:lnTo>
                    <a:pt x="2263814" y="5118495"/>
                  </a:lnTo>
                  <a:lnTo>
                    <a:pt x="2368396" y="5161814"/>
                  </a:lnTo>
                  <a:lnTo>
                    <a:pt x="2475101" y="5199601"/>
                  </a:lnTo>
                  <a:lnTo>
                    <a:pt x="2583638" y="5231751"/>
                  </a:lnTo>
                  <a:lnTo>
                    <a:pt x="2693709" y="5258176"/>
                  </a:lnTo>
                  <a:lnTo>
                    <a:pt x="2805011" y="5278805"/>
                  </a:lnTo>
                  <a:lnTo>
                    <a:pt x="2917241" y="5293580"/>
                  </a:lnTo>
                  <a:lnTo>
                    <a:pt x="3030091" y="5302462"/>
                  </a:lnTo>
                  <a:lnTo>
                    <a:pt x="3143250" y="5305425"/>
                  </a:lnTo>
                  <a:lnTo>
                    <a:pt x="3256409" y="5302462"/>
                  </a:lnTo>
                  <a:lnTo>
                    <a:pt x="3369259" y="5293580"/>
                  </a:lnTo>
                  <a:lnTo>
                    <a:pt x="3481489" y="5278805"/>
                  </a:lnTo>
                  <a:lnTo>
                    <a:pt x="3592791" y="5258176"/>
                  </a:lnTo>
                  <a:lnTo>
                    <a:pt x="3702862" y="5231751"/>
                  </a:lnTo>
                  <a:lnTo>
                    <a:pt x="3811399" y="5199601"/>
                  </a:lnTo>
                  <a:lnTo>
                    <a:pt x="3918104" y="5161814"/>
                  </a:lnTo>
                  <a:lnTo>
                    <a:pt x="4022686" y="5118495"/>
                  </a:lnTo>
                  <a:lnTo>
                    <a:pt x="4124857" y="5069762"/>
                  </a:lnTo>
                  <a:lnTo>
                    <a:pt x="4224338" y="5015748"/>
                  </a:lnTo>
                  <a:lnTo>
                    <a:pt x="4320855" y="4956603"/>
                  </a:lnTo>
                  <a:lnTo>
                    <a:pt x="4414145" y="4892486"/>
                  </a:lnTo>
                  <a:lnTo>
                    <a:pt x="4503951" y="4823576"/>
                  </a:lnTo>
                  <a:lnTo>
                    <a:pt x="4590027" y="4750059"/>
                  </a:lnTo>
                  <a:lnTo>
                    <a:pt x="4672139" y="4672139"/>
                  </a:lnTo>
                  <a:lnTo>
                    <a:pt x="4750059" y="4590027"/>
                  </a:lnTo>
                  <a:lnTo>
                    <a:pt x="4823576" y="4503951"/>
                  </a:lnTo>
                  <a:lnTo>
                    <a:pt x="4892486" y="4414145"/>
                  </a:lnTo>
                  <a:lnTo>
                    <a:pt x="4956603" y="4320855"/>
                  </a:lnTo>
                  <a:lnTo>
                    <a:pt x="5015748" y="4224337"/>
                  </a:lnTo>
                  <a:lnTo>
                    <a:pt x="5069762" y="4124857"/>
                  </a:lnTo>
                  <a:lnTo>
                    <a:pt x="5118495" y="4022686"/>
                  </a:lnTo>
                  <a:lnTo>
                    <a:pt x="5161814" y="3918104"/>
                  </a:lnTo>
                  <a:lnTo>
                    <a:pt x="5199601" y="3811399"/>
                  </a:lnTo>
                  <a:lnTo>
                    <a:pt x="5231751" y="3702862"/>
                  </a:lnTo>
                  <a:lnTo>
                    <a:pt x="5258176" y="3592791"/>
                  </a:lnTo>
                  <a:lnTo>
                    <a:pt x="5278805" y="3481489"/>
                  </a:lnTo>
                  <a:lnTo>
                    <a:pt x="5293580" y="3369259"/>
                  </a:lnTo>
                  <a:lnTo>
                    <a:pt x="5302462" y="3256409"/>
                  </a:lnTo>
                  <a:lnTo>
                    <a:pt x="5305425" y="3143250"/>
                  </a:lnTo>
                  <a:lnTo>
                    <a:pt x="5302462" y="3030091"/>
                  </a:lnTo>
                  <a:lnTo>
                    <a:pt x="5293580" y="2917241"/>
                  </a:lnTo>
                  <a:lnTo>
                    <a:pt x="5278805" y="2805011"/>
                  </a:lnTo>
                  <a:lnTo>
                    <a:pt x="5258176" y="2693709"/>
                  </a:lnTo>
                  <a:lnTo>
                    <a:pt x="5231751" y="2583638"/>
                  </a:lnTo>
                  <a:lnTo>
                    <a:pt x="5199601" y="2475101"/>
                  </a:lnTo>
                  <a:lnTo>
                    <a:pt x="5161814" y="2368396"/>
                  </a:lnTo>
                  <a:lnTo>
                    <a:pt x="5118495" y="2263814"/>
                  </a:lnTo>
                  <a:lnTo>
                    <a:pt x="5069762" y="2161643"/>
                  </a:lnTo>
                  <a:lnTo>
                    <a:pt x="5015748" y="2062163"/>
                  </a:lnTo>
                  <a:lnTo>
                    <a:pt x="4956603" y="1965645"/>
                  </a:lnTo>
                  <a:lnTo>
                    <a:pt x="4892486" y="1872355"/>
                  </a:lnTo>
                  <a:lnTo>
                    <a:pt x="4823576" y="1782549"/>
                  </a:lnTo>
                  <a:lnTo>
                    <a:pt x="4750059" y="1696473"/>
                  </a:lnTo>
                  <a:lnTo>
                    <a:pt x="4672139" y="1614361"/>
                  </a:lnTo>
                  <a:lnTo>
                    <a:pt x="4590027" y="1536441"/>
                  </a:lnTo>
                  <a:lnTo>
                    <a:pt x="4503951" y="1462924"/>
                  </a:lnTo>
                  <a:lnTo>
                    <a:pt x="4414145" y="1394014"/>
                  </a:lnTo>
                  <a:lnTo>
                    <a:pt x="4320855" y="1329897"/>
                  </a:lnTo>
                  <a:lnTo>
                    <a:pt x="4224338" y="1270752"/>
                  </a:lnTo>
                  <a:lnTo>
                    <a:pt x="4124857" y="1216738"/>
                  </a:lnTo>
                  <a:lnTo>
                    <a:pt x="4022686" y="1168005"/>
                  </a:lnTo>
                  <a:lnTo>
                    <a:pt x="3918104" y="1124686"/>
                  </a:lnTo>
                  <a:lnTo>
                    <a:pt x="3811399" y="1086899"/>
                  </a:lnTo>
                  <a:lnTo>
                    <a:pt x="3702862" y="1054749"/>
                  </a:lnTo>
                  <a:lnTo>
                    <a:pt x="3592791" y="1028324"/>
                  </a:lnTo>
                  <a:lnTo>
                    <a:pt x="3481489" y="1007695"/>
                  </a:lnTo>
                  <a:lnTo>
                    <a:pt x="3369259" y="992920"/>
                  </a:lnTo>
                  <a:lnTo>
                    <a:pt x="3256409" y="984038"/>
                  </a:lnTo>
                  <a:lnTo>
                    <a:pt x="3143250" y="981075"/>
                  </a:lnTo>
                  <a:close/>
                </a:path>
              </a:pathLst>
            </a:custGeom>
            <a:solidFill>
              <a:srgbClr val="DCE8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donut-arc"/>
            <p:cNvSpPr/>
            <p:nvPr/>
          </p:nvSpPr>
          <p:spPr>
            <a:xfrm>
              <a:off x="2591381" y="9610725"/>
              <a:ext cx="6285854" cy="6286242"/>
            </a:xfrm>
            <a:custGeom>
              <a:avLst/>
              <a:gdLst/>
              <a:ahLst/>
              <a:cxnLst/>
              <a:rect l="l" t="t" r="r" b="b"/>
              <a:pathLst>
                <a:path w="6285854" h="6286242">
                  <a:moveTo>
                    <a:pt x="3142669" y="0"/>
                  </a:moveTo>
                  <a:lnTo>
                    <a:pt x="3307845" y="4343"/>
                  </a:lnTo>
                  <a:lnTo>
                    <a:pt x="3472564" y="17360"/>
                  </a:lnTo>
                  <a:lnTo>
                    <a:pt x="3636372" y="39015"/>
                  </a:lnTo>
                  <a:lnTo>
                    <a:pt x="3798815" y="69247"/>
                  </a:lnTo>
                  <a:lnTo>
                    <a:pt x="3959446" y="107975"/>
                  </a:lnTo>
                  <a:lnTo>
                    <a:pt x="4117819" y="155090"/>
                  </a:lnTo>
                  <a:lnTo>
                    <a:pt x="4273498" y="210462"/>
                  </a:lnTo>
                  <a:lnTo>
                    <a:pt x="4426052" y="273938"/>
                  </a:lnTo>
                  <a:lnTo>
                    <a:pt x="4575059" y="345344"/>
                  </a:lnTo>
                  <a:lnTo>
                    <a:pt x="4720108" y="424481"/>
                  </a:lnTo>
                  <a:lnTo>
                    <a:pt x="4860798" y="511131"/>
                  </a:lnTo>
                  <a:lnTo>
                    <a:pt x="4996740" y="605054"/>
                  </a:lnTo>
                  <a:lnTo>
                    <a:pt x="5127559" y="705991"/>
                  </a:lnTo>
                  <a:lnTo>
                    <a:pt x="5252893" y="813663"/>
                  </a:lnTo>
                  <a:lnTo>
                    <a:pt x="5372396" y="927773"/>
                  </a:lnTo>
                  <a:lnTo>
                    <a:pt x="5485737" y="1048005"/>
                  </a:lnTo>
                  <a:lnTo>
                    <a:pt x="5592604" y="1174027"/>
                  </a:lnTo>
                  <a:lnTo>
                    <a:pt x="5692700" y="1305490"/>
                  </a:lnTo>
                  <a:lnTo>
                    <a:pt x="5785750" y="1442032"/>
                  </a:lnTo>
                  <a:lnTo>
                    <a:pt x="5871496" y="1583274"/>
                  </a:lnTo>
                  <a:lnTo>
                    <a:pt x="5949701" y="1728828"/>
                  </a:lnTo>
                  <a:lnTo>
                    <a:pt x="6020150" y="1878290"/>
                  </a:lnTo>
                  <a:lnTo>
                    <a:pt x="6082647" y="2031248"/>
                  </a:lnTo>
                  <a:lnTo>
                    <a:pt x="6137020" y="2187278"/>
                  </a:lnTo>
                  <a:lnTo>
                    <a:pt x="6183119" y="2345950"/>
                  </a:lnTo>
                  <a:lnTo>
                    <a:pt x="6220815" y="2506826"/>
                  </a:lnTo>
                  <a:lnTo>
                    <a:pt x="6250006" y="2669460"/>
                  </a:lnTo>
                  <a:lnTo>
                    <a:pt x="6270610" y="2833403"/>
                  </a:lnTo>
                  <a:lnTo>
                    <a:pt x="6282571" y="2998202"/>
                  </a:lnTo>
                  <a:lnTo>
                    <a:pt x="6285854" y="3163403"/>
                  </a:lnTo>
                  <a:lnTo>
                    <a:pt x="6280453" y="3328547"/>
                  </a:lnTo>
                  <a:lnTo>
                    <a:pt x="6266380" y="3493180"/>
                  </a:lnTo>
                  <a:lnTo>
                    <a:pt x="6243675" y="3656845"/>
                  </a:lnTo>
                  <a:lnTo>
                    <a:pt x="6212402" y="3819092"/>
                  </a:lnTo>
                  <a:lnTo>
                    <a:pt x="6172645" y="3979470"/>
                  </a:lnTo>
                  <a:lnTo>
                    <a:pt x="6124516" y="4137538"/>
                  </a:lnTo>
                  <a:lnTo>
                    <a:pt x="6068147" y="4292859"/>
                  </a:lnTo>
                  <a:lnTo>
                    <a:pt x="6003694" y="4445002"/>
                  </a:lnTo>
                  <a:lnTo>
                    <a:pt x="5931334" y="4593549"/>
                  </a:lnTo>
                  <a:lnTo>
                    <a:pt x="5851269" y="4738088"/>
                  </a:lnTo>
                  <a:lnTo>
                    <a:pt x="5763719" y="4878219"/>
                  </a:lnTo>
                  <a:lnTo>
                    <a:pt x="5668926" y="5013557"/>
                  </a:lnTo>
                  <a:lnTo>
                    <a:pt x="5567152" y="5143726"/>
                  </a:lnTo>
                  <a:lnTo>
                    <a:pt x="5458678" y="5268367"/>
                  </a:lnTo>
                  <a:lnTo>
                    <a:pt x="5343805" y="5387135"/>
                  </a:lnTo>
                  <a:lnTo>
                    <a:pt x="5222849" y="5499703"/>
                  </a:lnTo>
                  <a:lnTo>
                    <a:pt x="5096144" y="5605760"/>
                  </a:lnTo>
                  <a:lnTo>
                    <a:pt x="4964042" y="5705011"/>
                  </a:lnTo>
                  <a:lnTo>
                    <a:pt x="4826907" y="5797184"/>
                  </a:lnTo>
                  <a:lnTo>
                    <a:pt x="4685117" y="5882023"/>
                  </a:lnTo>
                  <a:lnTo>
                    <a:pt x="4539065" y="5959293"/>
                  </a:lnTo>
                  <a:lnTo>
                    <a:pt x="4389154" y="6028782"/>
                  </a:lnTo>
                  <a:lnTo>
                    <a:pt x="4235799" y="6090297"/>
                  </a:lnTo>
                  <a:lnTo>
                    <a:pt x="4079423" y="6143669"/>
                  </a:lnTo>
                  <a:lnTo>
                    <a:pt x="3920459" y="6188749"/>
                  </a:lnTo>
                  <a:lnTo>
                    <a:pt x="3759345" y="6225413"/>
                  </a:lnTo>
                  <a:lnTo>
                    <a:pt x="3596527" y="6253561"/>
                  </a:lnTo>
                  <a:lnTo>
                    <a:pt x="3432455" y="6273113"/>
                  </a:lnTo>
                  <a:lnTo>
                    <a:pt x="3267583" y="6284017"/>
                  </a:lnTo>
                  <a:lnTo>
                    <a:pt x="3102365" y="6286242"/>
                  </a:lnTo>
                  <a:lnTo>
                    <a:pt x="2937258" y="6279781"/>
                  </a:lnTo>
                  <a:lnTo>
                    <a:pt x="2772719" y="6264653"/>
                  </a:lnTo>
                  <a:lnTo>
                    <a:pt x="2609203" y="6240900"/>
                  </a:lnTo>
                  <a:lnTo>
                    <a:pt x="2447160" y="6208587"/>
                  </a:lnTo>
                  <a:lnTo>
                    <a:pt x="2287040" y="6167803"/>
                  </a:lnTo>
                  <a:lnTo>
                    <a:pt x="2129283" y="6118661"/>
                  </a:lnTo>
                  <a:lnTo>
                    <a:pt x="1974328" y="6061297"/>
                  </a:lnTo>
                  <a:lnTo>
                    <a:pt x="1822600" y="5995870"/>
                  </a:lnTo>
                  <a:lnTo>
                    <a:pt x="1674521" y="5922560"/>
                  </a:lnTo>
                  <a:lnTo>
                    <a:pt x="1530498" y="5841569"/>
                  </a:lnTo>
                  <a:lnTo>
                    <a:pt x="1390931" y="5753122"/>
                  </a:lnTo>
                  <a:lnTo>
                    <a:pt x="1256204" y="5657464"/>
                  </a:lnTo>
                  <a:lnTo>
                    <a:pt x="1126690" y="5554857"/>
                  </a:lnTo>
                  <a:lnTo>
                    <a:pt x="1002747" y="5445587"/>
                  </a:lnTo>
                  <a:lnTo>
                    <a:pt x="884717" y="5329954"/>
                  </a:lnTo>
                  <a:lnTo>
                    <a:pt x="772927" y="5208279"/>
                  </a:lnTo>
                  <a:lnTo>
                    <a:pt x="667685" y="5080897"/>
                  </a:lnTo>
                  <a:lnTo>
                    <a:pt x="569283" y="4948161"/>
                  </a:lnTo>
                  <a:lnTo>
                    <a:pt x="477992" y="4810438"/>
                  </a:lnTo>
                  <a:lnTo>
                    <a:pt x="394064" y="4668107"/>
                  </a:lnTo>
                  <a:lnTo>
                    <a:pt x="317731" y="4521563"/>
                  </a:lnTo>
                  <a:lnTo>
                    <a:pt x="249205" y="4371209"/>
                  </a:lnTo>
                  <a:lnTo>
                    <a:pt x="188674" y="4217463"/>
                  </a:lnTo>
                  <a:lnTo>
                    <a:pt x="136306" y="4060748"/>
                  </a:lnTo>
                  <a:lnTo>
                    <a:pt x="92246" y="3901498"/>
                  </a:lnTo>
                  <a:lnTo>
                    <a:pt x="56615" y="3740153"/>
                  </a:lnTo>
                  <a:lnTo>
                    <a:pt x="29512" y="3577158"/>
                  </a:lnTo>
                  <a:lnTo>
                    <a:pt x="11012" y="3412964"/>
                  </a:lnTo>
                  <a:lnTo>
                    <a:pt x="1166" y="3248025"/>
                  </a:lnTo>
                  <a:lnTo>
                    <a:pt x="0" y="3082796"/>
                  </a:lnTo>
                  <a:lnTo>
                    <a:pt x="7519" y="2917734"/>
                  </a:lnTo>
                  <a:lnTo>
                    <a:pt x="23702" y="2753295"/>
                  </a:lnTo>
                  <a:lnTo>
                    <a:pt x="48503" y="2589934"/>
                  </a:lnTo>
                  <a:lnTo>
                    <a:pt x="81855" y="2428102"/>
                  </a:lnTo>
                  <a:lnTo>
                    <a:pt x="123664" y="2268247"/>
                  </a:lnTo>
                  <a:lnTo>
                    <a:pt x="173816" y="2110809"/>
                  </a:lnTo>
                  <a:lnTo>
                    <a:pt x="232173" y="1956224"/>
                  </a:lnTo>
                  <a:lnTo>
                    <a:pt x="298571" y="1804919"/>
                  </a:lnTo>
                  <a:lnTo>
                    <a:pt x="1186275" y="2222641"/>
                  </a:lnTo>
                  <a:lnTo>
                    <a:pt x="1140600" y="2326720"/>
                  </a:lnTo>
                  <a:lnTo>
                    <a:pt x="1100458" y="2433056"/>
                  </a:lnTo>
                  <a:lnTo>
                    <a:pt x="1065960" y="2541354"/>
                  </a:lnTo>
                  <a:lnTo>
                    <a:pt x="1037200" y="2651315"/>
                  </a:lnTo>
                  <a:lnTo>
                    <a:pt x="1014258" y="2762636"/>
                  </a:lnTo>
                  <a:lnTo>
                    <a:pt x="997198" y="2875008"/>
                  </a:lnTo>
                  <a:lnTo>
                    <a:pt x="986066" y="2988122"/>
                  </a:lnTo>
                  <a:lnTo>
                    <a:pt x="980894" y="3101665"/>
                  </a:lnTo>
                  <a:lnTo>
                    <a:pt x="981696" y="3215322"/>
                  </a:lnTo>
                  <a:lnTo>
                    <a:pt x="988469" y="3328780"/>
                  </a:lnTo>
                  <a:lnTo>
                    <a:pt x="1001195" y="3441726"/>
                  </a:lnTo>
                  <a:lnTo>
                    <a:pt x="1019838" y="3553847"/>
                  </a:lnTo>
                  <a:lnTo>
                    <a:pt x="1044348" y="3664833"/>
                  </a:lnTo>
                  <a:lnTo>
                    <a:pt x="1074656" y="3774378"/>
                  </a:lnTo>
                  <a:lnTo>
                    <a:pt x="1110678" y="3882178"/>
                  </a:lnTo>
                  <a:lnTo>
                    <a:pt x="1152316" y="3987937"/>
                  </a:lnTo>
                  <a:lnTo>
                    <a:pt x="1199454" y="4091362"/>
                  </a:lnTo>
                  <a:lnTo>
                    <a:pt x="1251962" y="4192167"/>
                  </a:lnTo>
                  <a:lnTo>
                    <a:pt x="1309694" y="4290073"/>
                  </a:lnTo>
                  <a:lnTo>
                    <a:pt x="1372491" y="4384810"/>
                  </a:lnTo>
                  <a:lnTo>
                    <a:pt x="1440180" y="4476116"/>
                  </a:lnTo>
                  <a:lnTo>
                    <a:pt x="1512574" y="4563740"/>
                  </a:lnTo>
                  <a:lnTo>
                    <a:pt x="1589472" y="4647437"/>
                  </a:lnTo>
                  <a:lnTo>
                    <a:pt x="1670662" y="4726979"/>
                  </a:lnTo>
                  <a:lnTo>
                    <a:pt x="1755920" y="4802144"/>
                  </a:lnTo>
                  <a:lnTo>
                    <a:pt x="1845010" y="4872724"/>
                  </a:lnTo>
                  <a:lnTo>
                    <a:pt x="1937685" y="4938526"/>
                  </a:lnTo>
                  <a:lnTo>
                    <a:pt x="2033691" y="4999367"/>
                  </a:lnTo>
                  <a:lnTo>
                    <a:pt x="2132761" y="5055078"/>
                  </a:lnTo>
                  <a:lnTo>
                    <a:pt x="2234622" y="5105507"/>
                  </a:lnTo>
                  <a:lnTo>
                    <a:pt x="2338992" y="5150513"/>
                  </a:lnTo>
                  <a:lnTo>
                    <a:pt x="2445583" y="5189972"/>
                  </a:lnTo>
                  <a:lnTo>
                    <a:pt x="2554100" y="5223776"/>
                  </a:lnTo>
                  <a:lnTo>
                    <a:pt x="2664243" y="5251830"/>
                  </a:lnTo>
                  <a:lnTo>
                    <a:pt x="2775709" y="5274058"/>
                  </a:lnTo>
                  <a:lnTo>
                    <a:pt x="2888188" y="5290397"/>
                  </a:lnTo>
                  <a:lnTo>
                    <a:pt x="3001371" y="5300803"/>
                  </a:lnTo>
                  <a:lnTo>
                    <a:pt x="3114945" y="5305247"/>
                  </a:lnTo>
                  <a:lnTo>
                    <a:pt x="3228594" y="5303717"/>
                  </a:lnTo>
                  <a:lnTo>
                    <a:pt x="3342007" y="5296217"/>
                  </a:lnTo>
                  <a:lnTo>
                    <a:pt x="3454869" y="5282767"/>
                  </a:lnTo>
                  <a:lnTo>
                    <a:pt x="3566867" y="5263405"/>
                  </a:lnTo>
                  <a:lnTo>
                    <a:pt x="3677694" y="5238184"/>
                  </a:lnTo>
                  <a:lnTo>
                    <a:pt x="3787042" y="5207174"/>
                  </a:lnTo>
                  <a:lnTo>
                    <a:pt x="3894610" y="5170461"/>
                  </a:lnTo>
                  <a:lnTo>
                    <a:pt x="4000100" y="5128146"/>
                  </a:lnTo>
                  <a:lnTo>
                    <a:pt x="4103220" y="5080346"/>
                  </a:lnTo>
                  <a:lnTo>
                    <a:pt x="4203686" y="5027194"/>
                  </a:lnTo>
                  <a:lnTo>
                    <a:pt x="4301220" y="4968835"/>
                  </a:lnTo>
                  <a:lnTo>
                    <a:pt x="4395553" y="4905431"/>
                  </a:lnTo>
                  <a:lnTo>
                    <a:pt x="4486423" y="4837158"/>
                  </a:lnTo>
                  <a:lnTo>
                    <a:pt x="4573581" y="4764204"/>
                  </a:lnTo>
                  <a:lnTo>
                    <a:pt x="4656784" y="4686771"/>
                  </a:lnTo>
                  <a:lnTo>
                    <a:pt x="4735803" y="4605073"/>
                  </a:lnTo>
                  <a:lnTo>
                    <a:pt x="4810419" y="4519335"/>
                  </a:lnTo>
                  <a:lnTo>
                    <a:pt x="4880427" y="4429794"/>
                  </a:lnTo>
                  <a:lnTo>
                    <a:pt x="4945634" y="4336699"/>
                  </a:lnTo>
                  <a:lnTo>
                    <a:pt x="5005857" y="4240305"/>
                  </a:lnTo>
                  <a:lnTo>
                    <a:pt x="5060933" y="4140880"/>
                  </a:lnTo>
                  <a:lnTo>
                    <a:pt x="5110707" y="4038698"/>
                  </a:lnTo>
                  <a:lnTo>
                    <a:pt x="5155043" y="3934041"/>
                  </a:lnTo>
                  <a:lnTo>
                    <a:pt x="5193818" y="3827200"/>
                  </a:lnTo>
                  <a:lnTo>
                    <a:pt x="5226925" y="3718468"/>
                  </a:lnTo>
                  <a:lnTo>
                    <a:pt x="5254273" y="3608147"/>
                  </a:lnTo>
                  <a:lnTo>
                    <a:pt x="5275786" y="3496541"/>
                  </a:lnTo>
                  <a:lnTo>
                    <a:pt x="5291403" y="3383959"/>
                  </a:lnTo>
                  <a:lnTo>
                    <a:pt x="5301084" y="3270712"/>
                  </a:lnTo>
                  <a:lnTo>
                    <a:pt x="5304800" y="3157113"/>
                  </a:lnTo>
                  <a:lnTo>
                    <a:pt x="5302541" y="3043475"/>
                  </a:lnTo>
                  <a:lnTo>
                    <a:pt x="5294313" y="2930113"/>
                  </a:lnTo>
                  <a:lnTo>
                    <a:pt x="5280140" y="2817340"/>
                  </a:lnTo>
                  <a:lnTo>
                    <a:pt x="5260061" y="2705467"/>
                  </a:lnTo>
                  <a:lnTo>
                    <a:pt x="5234130" y="2594804"/>
                  </a:lnTo>
                  <a:lnTo>
                    <a:pt x="5202420" y="2485657"/>
                  </a:lnTo>
                  <a:lnTo>
                    <a:pt x="5165018" y="2378327"/>
                  </a:lnTo>
                  <a:lnTo>
                    <a:pt x="5122027" y="2273111"/>
                  </a:lnTo>
                  <a:lnTo>
                    <a:pt x="5073567" y="2170299"/>
                  </a:lnTo>
                  <a:lnTo>
                    <a:pt x="5019771" y="2070176"/>
                  </a:lnTo>
                  <a:lnTo>
                    <a:pt x="4960788" y="1973018"/>
                  </a:lnTo>
                  <a:lnTo>
                    <a:pt x="4896781" y="1879094"/>
                  </a:lnTo>
                  <a:lnTo>
                    <a:pt x="4827927" y="1788663"/>
                  </a:lnTo>
                  <a:lnTo>
                    <a:pt x="4754416" y="1701975"/>
                  </a:lnTo>
                  <a:lnTo>
                    <a:pt x="4676451" y="1619270"/>
                  </a:lnTo>
                  <a:lnTo>
                    <a:pt x="4594248" y="1540777"/>
                  </a:lnTo>
                  <a:lnTo>
                    <a:pt x="4508033" y="1466711"/>
                  </a:lnTo>
                  <a:lnTo>
                    <a:pt x="4418045" y="1397279"/>
                  </a:lnTo>
                  <a:lnTo>
                    <a:pt x="4324534" y="1332671"/>
                  </a:lnTo>
                  <a:lnTo>
                    <a:pt x="4227756" y="1273066"/>
                  </a:lnTo>
                  <a:lnTo>
                    <a:pt x="4127980" y="1218630"/>
                  </a:lnTo>
                  <a:lnTo>
                    <a:pt x="4025481" y="1169511"/>
                  </a:lnTo>
                  <a:lnTo>
                    <a:pt x="3920542" y="1125847"/>
                  </a:lnTo>
                  <a:lnTo>
                    <a:pt x="3813454" y="1087758"/>
                  </a:lnTo>
                  <a:lnTo>
                    <a:pt x="3704512" y="1055349"/>
                  </a:lnTo>
                  <a:lnTo>
                    <a:pt x="3594018" y="1028709"/>
                  </a:lnTo>
                  <a:lnTo>
                    <a:pt x="3482277" y="1007912"/>
                  </a:lnTo>
                  <a:lnTo>
                    <a:pt x="3369597" y="993016"/>
                  </a:lnTo>
                  <a:lnTo>
                    <a:pt x="3256290" y="984062"/>
                  </a:lnTo>
                  <a:lnTo>
                    <a:pt x="3142669" y="981075"/>
                  </a:lnTo>
                  <a:close/>
                </a:path>
              </a:pathLst>
            </a:custGeom>
            <a:solidFill>
              <a:srgbClr val="006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donut-num"/>
            <p:cNvSpPr txBox="1"/>
            <p:nvPr/>
          </p:nvSpPr>
          <p:spPr>
            <a:xfrm>
              <a:off x="4606881" y="11681346"/>
              <a:ext cx="1755819" cy="205953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1460" b="1" i="0">
                  <a:solidFill>
                    <a:srgbClr val="0064E8"/>
                  </a:solidFill>
                  <a:latin typeface="Microsoft YaHei"/>
                  <a:ea typeface="Microsoft YaHei"/>
                  <a:cs typeface="Microsoft YaHei"/>
                </a:rPr>
                <a:t>82</a:t>
              </a:r>
            </a:p>
          </p:txBody>
        </p:sp>
        <p:sp>
          <p:nvSpPr>
            <p:cNvPr id="66" name="donut-pct"/>
            <p:cNvSpPr txBox="1"/>
            <p:nvPr/>
          </p:nvSpPr>
          <p:spPr>
            <a:xfrm>
              <a:off x="6610350" y="12687300"/>
              <a:ext cx="91440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7200" b="1" i="0">
                  <a:solidFill>
                    <a:srgbClr val="0064E8"/>
                  </a:solidFill>
                  <a:latin typeface="Microsoft YaHei"/>
                  <a:ea typeface="Microsoft YaHei"/>
                  <a:cs typeface="Microsoft YaHei"/>
                </a:rPr>
                <a:t>%</a:t>
              </a:r>
            </a:p>
          </p:txBody>
        </p:sp>
        <p:sp>
          <p:nvSpPr>
            <p:cNvPr id="67" name="donut-target"/>
            <p:cNvSpPr txBox="1"/>
            <p:nvPr/>
          </p:nvSpPr>
          <p:spPr>
            <a:xfrm>
              <a:off x="4543425" y="16103803"/>
              <a:ext cx="2545842" cy="56791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82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目标：100%</a:t>
              </a:r>
            </a:p>
          </p:txBody>
        </p:sp>
      </p:grpSp>
      <p:grpSp>
        <p:nvGrpSpPr>
          <p:cNvPr id="282" name="mid-center"/>
          <p:cNvGrpSpPr/>
          <p:nvPr/>
        </p:nvGrpSpPr>
        <p:grpSpPr>
          <a:xfrm>
            <a:off x="10344150" y="8296275"/>
            <a:ext cx="14020800" cy="8867775"/>
            <a:chOff x="10344150" y="8296275"/>
            <a:chExt cx="14020800" cy="8867775"/>
          </a:xfrm>
        </p:grpSpPr>
        <p:sp>
          <p:nvSpPr>
            <p:cNvPr id="68" name="midC-panel"/>
            <p:cNvSpPr/>
            <p:nvPr/>
          </p:nvSpPr>
          <p:spPr>
            <a:xfrm>
              <a:off x="10344150" y="8296275"/>
              <a:ext cx="14020800" cy="8867775"/>
            </a:xfrm>
            <a:prstGeom prst="roundRect">
              <a:avLst>
                <a:gd name="adj" fmla="val 2363"/>
              </a:avLst>
            </a:prstGeom>
            <a:solidFill>
              <a:srgbClr val="FFFFFF"/>
            </a:solidFill>
            <a:ln w="19050">
              <a:solidFill>
                <a:srgbClr val="E3EA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midC-title"/>
            <p:cNvSpPr txBox="1"/>
            <p:nvPr/>
          </p:nvSpPr>
          <p:spPr>
            <a:xfrm>
              <a:off x="15858744" y="8644890"/>
              <a:ext cx="2496312" cy="56007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1677FF"/>
                  </a:solidFill>
                  <a:latin typeface="Microsoft YaHei"/>
                  <a:ea typeface="Microsoft YaHei"/>
                  <a:cs typeface="Microsoft YaHei"/>
                </a:rPr>
                <a:t>核心经营指标</a:t>
              </a:r>
            </a:p>
          </p:txBody>
        </p:sp>
        <p:cxnSp>
          <p:nvCxnSpPr>
            <p:cNvPr id="70" name="midC-rule-l"/>
            <p:cNvCxnSpPr/>
            <p:nvPr/>
          </p:nvCxnSpPr>
          <p:spPr>
            <a:xfrm>
              <a:off x="11087100" y="8943975"/>
              <a:ext cx="4772025" cy="0"/>
            </a:xfrm>
            <a:prstGeom prst="line">
              <a:avLst/>
            </a:prstGeom>
            <a:ln w="28575">
              <a:solidFill>
                <a:srgbClr val="1677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midC-dot-l"/>
            <p:cNvSpPr/>
            <p:nvPr/>
          </p:nvSpPr>
          <p:spPr>
            <a:xfrm>
              <a:off x="15801975" y="8886825"/>
              <a:ext cx="114300" cy="1143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2" name="midC-rule-r"/>
            <p:cNvCxnSpPr/>
            <p:nvPr/>
          </p:nvCxnSpPr>
          <p:spPr>
            <a:xfrm>
              <a:off x="18678525" y="8943975"/>
              <a:ext cx="4772025" cy="0"/>
            </a:xfrm>
            <a:prstGeom prst="line">
              <a:avLst/>
            </a:prstGeom>
            <a:ln w="28575">
              <a:solidFill>
                <a:srgbClr val="1677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midC-dot-r"/>
            <p:cNvSpPr/>
            <p:nvPr/>
          </p:nvSpPr>
          <p:spPr>
            <a:xfrm>
              <a:off x="18621375" y="8886825"/>
              <a:ext cx="114300" cy="1143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table-head"/>
            <p:cNvSpPr/>
            <p:nvPr/>
          </p:nvSpPr>
          <p:spPr>
            <a:xfrm>
              <a:off x="10610850" y="9391650"/>
              <a:ext cx="13468350" cy="876300"/>
            </a:xfrm>
            <a:prstGeom prst="roundRect">
              <a:avLst>
                <a:gd name="adj" fmla="val 10869"/>
              </a:avLst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able-h0"/>
            <p:cNvSpPr txBox="1"/>
            <p:nvPr/>
          </p:nvSpPr>
          <p:spPr>
            <a:xfrm>
              <a:off x="11287125" y="9391650"/>
              <a:ext cx="14859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指标名称</a:t>
              </a:r>
            </a:p>
          </p:txBody>
        </p:sp>
        <p:sp>
          <p:nvSpPr>
            <p:cNvPr id="76" name="table-h1"/>
            <p:cNvSpPr txBox="1"/>
            <p:nvPr/>
          </p:nvSpPr>
          <p:spPr>
            <a:xfrm>
              <a:off x="14082712" y="9391650"/>
              <a:ext cx="116205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目标值</a:t>
              </a:r>
            </a:p>
          </p:txBody>
        </p:sp>
        <p:sp>
          <p:nvSpPr>
            <p:cNvPr id="77" name="table-h2"/>
            <p:cNvSpPr txBox="1"/>
            <p:nvPr/>
          </p:nvSpPr>
          <p:spPr>
            <a:xfrm>
              <a:off x="16640175" y="9391650"/>
              <a:ext cx="116205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实际值</a:t>
              </a:r>
            </a:p>
          </p:txBody>
        </p:sp>
        <p:sp>
          <p:nvSpPr>
            <p:cNvPr id="78" name="table-h3"/>
            <p:cNvSpPr txBox="1"/>
            <p:nvPr/>
          </p:nvSpPr>
          <p:spPr>
            <a:xfrm>
              <a:off x="20740688" y="9391650"/>
              <a:ext cx="116205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完成率</a:t>
              </a:r>
            </a:p>
          </p:txBody>
        </p:sp>
        <p:cxnSp>
          <p:nvCxnSpPr>
            <p:cNvPr id="79" name="table-row-l1"/>
            <p:cNvCxnSpPr/>
            <p:nvPr/>
          </p:nvCxnSpPr>
          <p:spPr>
            <a:xfrm>
              <a:off x="10610850" y="11296650"/>
              <a:ext cx="13468350" cy="0"/>
            </a:xfrm>
            <a:prstGeom prst="line">
              <a:avLst/>
            </a:prstGeom>
            <a:ln w="19050">
              <a:solidFill>
                <a:srgbClr val="EDF1F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table-row-l2"/>
            <p:cNvCxnSpPr/>
            <p:nvPr/>
          </p:nvCxnSpPr>
          <p:spPr>
            <a:xfrm>
              <a:off x="10610850" y="12334875"/>
              <a:ext cx="13468350" cy="0"/>
            </a:xfrm>
            <a:prstGeom prst="line">
              <a:avLst/>
            </a:prstGeom>
            <a:ln w="19050">
              <a:solidFill>
                <a:srgbClr val="EDF1F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table-row-l3"/>
            <p:cNvCxnSpPr/>
            <p:nvPr/>
          </p:nvCxnSpPr>
          <p:spPr>
            <a:xfrm>
              <a:off x="10610850" y="13363575"/>
              <a:ext cx="13468350" cy="0"/>
            </a:xfrm>
            <a:prstGeom prst="line">
              <a:avLst/>
            </a:prstGeom>
            <a:ln w="19050">
              <a:solidFill>
                <a:srgbClr val="EDF1F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table-row-l4"/>
            <p:cNvCxnSpPr/>
            <p:nvPr/>
          </p:nvCxnSpPr>
          <p:spPr>
            <a:xfrm>
              <a:off x="10610850" y="14401800"/>
              <a:ext cx="13468350" cy="0"/>
            </a:xfrm>
            <a:prstGeom prst="line">
              <a:avLst/>
            </a:prstGeom>
            <a:ln w="19050">
              <a:solidFill>
                <a:srgbClr val="EDF1F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table-row-l5"/>
            <p:cNvCxnSpPr/>
            <p:nvPr/>
          </p:nvCxnSpPr>
          <p:spPr>
            <a:xfrm>
              <a:off x="10610850" y="15440025"/>
              <a:ext cx="13468350" cy="0"/>
            </a:xfrm>
            <a:prstGeom prst="line">
              <a:avLst/>
            </a:prstGeom>
            <a:ln w="19050">
              <a:solidFill>
                <a:srgbClr val="EDF1F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table-row-l6"/>
            <p:cNvCxnSpPr/>
            <p:nvPr/>
          </p:nvCxnSpPr>
          <p:spPr>
            <a:xfrm>
              <a:off x="10610850" y="16478250"/>
              <a:ext cx="13468350" cy="0"/>
            </a:xfrm>
            <a:prstGeom prst="line">
              <a:avLst/>
            </a:prstGeom>
            <a:ln w="19050">
              <a:solidFill>
                <a:srgbClr val="EDF1F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table-col-l1"/>
            <p:cNvCxnSpPr/>
            <p:nvPr/>
          </p:nvCxnSpPr>
          <p:spPr>
            <a:xfrm>
              <a:off x="13449300" y="10287000"/>
              <a:ext cx="0" cy="6191250"/>
            </a:xfrm>
            <a:prstGeom prst="line">
              <a:avLst/>
            </a:prstGeom>
            <a:ln w="19050">
              <a:solidFill>
                <a:srgbClr val="F1F4F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table-col-l2"/>
            <p:cNvCxnSpPr/>
            <p:nvPr/>
          </p:nvCxnSpPr>
          <p:spPr>
            <a:xfrm>
              <a:off x="15878175" y="10287000"/>
              <a:ext cx="0" cy="6191250"/>
            </a:xfrm>
            <a:prstGeom prst="line">
              <a:avLst/>
            </a:prstGeom>
            <a:ln w="19050">
              <a:solidFill>
                <a:srgbClr val="F1F4F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table-col-l3"/>
            <p:cNvCxnSpPr/>
            <p:nvPr/>
          </p:nvCxnSpPr>
          <p:spPr>
            <a:xfrm>
              <a:off x="18564225" y="10287000"/>
              <a:ext cx="0" cy="6191250"/>
            </a:xfrm>
            <a:prstGeom prst="line">
              <a:avLst/>
            </a:prstGeom>
            <a:ln w="19050">
              <a:solidFill>
                <a:srgbClr val="F1F4F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r0-name"/>
            <p:cNvSpPr txBox="1"/>
            <p:nvPr/>
          </p:nvSpPr>
          <p:spPr>
            <a:xfrm>
              <a:off x="11372850" y="10464927"/>
              <a:ext cx="1933194" cy="5394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550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营业收入</a:t>
              </a:r>
            </a:p>
          </p:txBody>
        </p:sp>
        <p:sp>
          <p:nvSpPr>
            <p:cNvPr id="89" name="tr0-c1"/>
            <p:cNvSpPr txBox="1"/>
            <p:nvPr/>
          </p:nvSpPr>
          <p:spPr>
            <a:xfrm>
              <a:off x="13854827" y="10487501"/>
              <a:ext cx="1655921" cy="52292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67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6.3亿</a:t>
              </a:r>
            </a:p>
          </p:txBody>
        </p:sp>
        <p:sp>
          <p:nvSpPr>
            <p:cNvPr id="90" name="tr0-c2"/>
            <p:cNvSpPr txBox="1"/>
            <p:nvPr/>
          </p:nvSpPr>
          <p:spPr>
            <a:xfrm>
              <a:off x="16395573" y="10483977"/>
              <a:ext cx="1708404" cy="5394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5.2亿</a:t>
              </a:r>
            </a:p>
          </p:txBody>
        </p:sp>
        <p:sp>
          <p:nvSpPr>
            <p:cNvPr id="91" name="tr0-track"/>
            <p:cNvSpPr/>
            <p:nvPr/>
          </p:nvSpPr>
          <p:spPr>
            <a:xfrm>
              <a:off x="18945225" y="10629900"/>
              <a:ext cx="3657600" cy="333375"/>
            </a:xfrm>
            <a:prstGeom prst="roundRect">
              <a:avLst>
                <a:gd name="adj" fmla="val 48571"/>
              </a:avLst>
            </a:prstGeom>
            <a:solidFill>
              <a:srgbClr val="EEF3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tr0-bar"/>
            <p:cNvSpPr/>
            <p:nvPr/>
          </p:nvSpPr>
          <p:spPr>
            <a:xfrm>
              <a:off x="18945225" y="10629900"/>
              <a:ext cx="3000375" cy="333375"/>
            </a:xfrm>
            <a:prstGeom prst="roundRect">
              <a:avLst>
                <a:gd name="adj" fmla="val 48571"/>
              </a:avLst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tr0-pct"/>
            <p:cNvSpPr txBox="1"/>
            <p:nvPr/>
          </p:nvSpPr>
          <p:spPr>
            <a:xfrm>
              <a:off x="22840950" y="10500170"/>
              <a:ext cx="1040130" cy="55473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29" b="1" i="0">
                  <a:solidFill>
                    <a:srgbClr val="1677FF"/>
                  </a:solidFill>
                  <a:latin typeface="Microsoft YaHei"/>
                  <a:ea typeface="Microsoft YaHei"/>
                  <a:cs typeface="Microsoft YaHei"/>
                </a:rPr>
                <a:t>82%</a:t>
              </a:r>
            </a:p>
          </p:txBody>
        </p:sp>
        <p:sp>
          <p:nvSpPr>
            <p:cNvPr id="94" name="tr1-name"/>
            <p:cNvSpPr txBox="1"/>
            <p:nvPr/>
          </p:nvSpPr>
          <p:spPr>
            <a:xfrm>
              <a:off x="11544300" y="11520392"/>
              <a:ext cx="1877901" cy="5240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75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净利润</a:t>
              </a:r>
            </a:p>
          </p:txBody>
        </p:sp>
        <p:sp>
          <p:nvSpPr>
            <p:cNvPr id="95" name="tr1-c1"/>
            <p:cNvSpPr txBox="1"/>
            <p:nvPr/>
          </p:nvSpPr>
          <p:spPr>
            <a:xfrm>
              <a:off x="13814060" y="11499818"/>
              <a:ext cx="1699355" cy="53663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35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8200万</a:t>
              </a:r>
            </a:p>
          </p:txBody>
        </p:sp>
        <p:sp>
          <p:nvSpPr>
            <p:cNvPr id="96" name="tr1-c2"/>
            <p:cNvSpPr txBox="1"/>
            <p:nvPr/>
          </p:nvSpPr>
          <p:spPr>
            <a:xfrm>
              <a:off x="16400097" y="11499818"/>
              <a:ext cx="1699355" cy="53663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35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6900万</a:t>
              </a:r>
            </a:p>
          </p:txBody>
        </p:sp>
        <p:sp>
          <p:nvSpPr>
            <p:cNvPr id="97" name="tr1-track"/>
            <p:cNvSpPr/>
            <p:nvPr/>
          </p:nvSpPr>
          <p:spPr>
            <a:xfrm>
              <a:off x="18945225" y="11653838"/>
              <a:ext cx="3657600" cy="333375"/>
            </a:xfrm>
            <a:prstGeom prst="roundRect">
              <a:avLst>
                <a:gd name="adj" fmla="val 48571"/>
              </a:avLst>
            </a:prstGeom>
            <a:solidFill>
              <a:srgbClr val="EEF3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r1-bar"/>
            <p:cNvSpPr/>
            <p:nvPr/>
          </p:nvSpPr>
          <p:spPr>
            <a:xfrm>
              <a:off x="18945225" y="11653838"/>
              <a:ext cx="3076575" cy="333375"/>
            </a:xfrm>
            <a:prstGeom prst="roundRect">
              <a:avLst>
                <a:gd name="adj" fmla="val 48571"/>
              </a:avLst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tr1-pct"/>
            <p:cNvSpPr txBox="1"/>
            <p:nvPr/>
          </p:nvSpPr>
          <p:spPr>
            <a:xfrm>
              <a:off x="22840950" y="11529250"/>
              <a:ext cx="1074420" cy="57302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20" b="1" i="0">
                  <a:solidFill>
                    <a:srgbClr val="1677FF"/>
                  </a:solidFill>
                  <a:latin typeface="Microsoft YaHei"/>
                  <a:ea typeface="Microsoft YaHei"/>
                  <a:cs typeface="Microsoft YaHei"/>
                </a:rPr>
                <a:t>84%</a:t>
              </a:r>
            </a:p>
          </p:txBody>
        </p:sp>
        <p:sp>
          <p:nvSpPr>
            <p:cNvPr id="100" name="tr2-name"/>
            <p:cNvSpPr txBox="1"/>
            <p:nvPr/>
          </p:nvSpPr>
          <p:spPr>
            <a:xfrm>
              <a:off x="11544300" y="12550902"/>
              <a:ext cx="1933194" cy="5394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550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毛利率</a:t>
              </a:r>
            </a:p>
          </p:txBody>
        </p:sp>
        <p:sp>
          <p:nvSpPr>
            <p:cNvPr id="101" name="tr2-c1"/>
            <p:cNvSpPr txBox="1"/>
            <p:nvPr/>
          </p:nvSpPr>
          <p:spPr>
            <a:xfrm>
              <a:off x="13792724" y="12564142"/>
              <a:ext cx="1684877" cy="5320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12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28%</a:t>
              </a:r>
            </a:p>
          </p:txBody>
        </p:sp>
        <p:sp>
          <p:nvSpPr>
            <p:cNvPr id="102" name="tr2-c2"/>
            <p:cNvSpPr txBox="1"/>
            <p:nvPr/>
          </p:nvSpPr>
          <p:spPr>
            <a:xfrm>
              <a:off x="16359711" y="12564142"/>
              <a:ext cx="1684877" cy="5320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12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26.5%</a:t>
              </a:r>
            </a:p>
          </p:txBody>
        </p:sp>
        <p:sp>
          <p:nvSpPr>
            <p:cNvPr id="103" name="tr2-track"/>
            <p:cNvSpPr/>
            <p:nvPr/>
          </p:nvSpPr>
          <p:spPr>
            <a:xfrm>
              <a:off x="18945225" y="12687300"/>
              <a:ext cx="3657600" cy="333375"/>
            </a:xfrm>
            <a:prstGeom prst="roundRect">
              <a:avLst>
                <a:gd name="adj" fmla="val 48571"/>
              </a:avLst>
            </a:prstGeom>
            <a:solidFill>
              <a:srgbClr val="EEF3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tr2-bar"/>
            <p:cNvSpPr/>
            <p:nvPr/>
          </p:nvSpPr>
          <p:spPr>
            <a:xfrm>
              <a:off x="18945225" y="12687300"/>
              <a:ext cx="3476625" cy="333375"/>
            </a:xfrm>
            <a:prstGeom prst="roundRect">
              <a:avLst>
                <a:gd name="adj" fmla="val 48571"/>
              </a:avLst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tr2-pct"/>
            <p:cNvSpPr txBox="1"/>
            <p:nvPr/>
          </p:nvSpPr>
          <p:spPr>
            <a:xfrm>
              <a:off x="22831425" y="12567095"/>
              <a:ext cx="1040130" cy="55473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29" b="1" i="0">
                  <a:solidFill>
                    <a:srgbClr val="1677FF"/>
                  </a:solidFill>
                  <a:latin typeface="Microsoft YaHei"/>
                  <a:ea typeface="Microsoft YaHei"/>
                  <a:cs typeface="Microsoft YaHei"/>
                </a:rPr>
                <a:t>95%</a:t>
              </a:r>
            </a:p>
          </p:txBody>
        </p:sp>
        <p:sp>
          <p:nvSpPr>
            <p:cNvPr id="106" name="tr3-name"/>
            <p:cNvSpPr txBox="1"/>
            <p:nvPr/>
          </p:nvSpPr>
          <p:spPr>
            <a:xfrm>
              <a:off x="11553825" y="13575125"/>
              <a:ext cx="1931146" cy="53892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542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回款率</a:t>
              </a:r>
            </a:p>
          </p:txBody>
        </p:sp>
        <p:sp>
          <p:nvSpPr>
            <p:cNvPr id="107" name="tr3-c1"/>
            <p:cNvSpPr txBox="1"/>
            <p:nvPr/>
          </p:nvSpPr>
          <p:spPr>
            <a:xfrm>
              <a:off x="13792724" y="13578554"/>
              <a:ext cx="1684877" cy="5320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12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92%</a:t>
              </a:r>
            </a:p>
          </p:txBody>
        </p:sp>
        <p:sp>
          <p:nvSpPr>
            <p:cNvPr id="108" name="tr3-c2"/>
            <p:cNvSpPr txBox="1"/>
            <p:nvPr/>
          </p:nvSpPr>
          <p:spPr>
            <a:xfrm>
              <a:off x="16369236" y="13578554"/>
              <a:ext cx="1684877" cy="5320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12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88%</a:t>
              </a:r>
            </a:p>
          </p:txBody>
        </p:sp>
        <p:sp>
          <p:nvSpPr>
            <p:cNvPr id="109" name="tr3-track"/>
            <p:cNvSpPr/>
            <p:nvPr/>
          </p:nvSpPr>
          <p:spPr>
            <a:xfrm>
              <a:off x="18945225" y="13720762"/>
              <a:ext cx="3657600" cy="333375"/>
            </a:xfrm>
            <a:prstGeom prst="roundRect">
              <a:avLst>
                <a:gd name="adj" fmla="val 48571"/>
              </a:avLst>
            </a:prstGeom>
            <a:solidFill>
              <a:srgbClr val="EEF3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tr3-bar"/>
            <p:cNvSpPr/>
            <p:nvPr/>
          </p:nvSpPr>
          <p:spPr>
            <a:xfrm>
              <a:off x="18945225" y="13720762"/>
              <a:ext cx="3514725" cy="333375"/>
            </a:xfrm>
            <a:prstGeom prst="roundRect">
              <a:avLst>
                <a:gd name="adj" fmla="val 48571"/>
              </a:avLst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tr3-pct"/>
            <p:cNvSpPr txBox="1"/>
            <p:nvPr/>
          </p:nvSpPr>
          <p:spPr>
            <a:xfrm>
              <a:off x="22831425" y="13624446"/>
              <a:ext cx="1075563" cy="57363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20" b="1" i="0">
                  <a:solidFill>
                    <a:srgbClr val="1677FF"/>
                  </a:solidFill>
                  <a:latin typeface="Microsoft YaHei"/>
                  <a:ea typeface="Microsoft YaHei"/>
                  <a:cs typeface="Microsoft YaHei"/>
                </a:rPr>
                <a:t>96%</a:t>
              </a:r>
            </a:p>
          </p:txBody>
        </p:sp>
        <p:sp>
          <p:nvSpPr>
            <p:cNvPr id="112" name="tr4-name"/>
            <p:cNvSpPr txBox="1"/>
            <p:nvPr/>
          </p:nvSpPr>
          <p:spPr>
            <a:xfrm>
              <a:off x="11268075" y="14617541"/>
              <a:ext cx="1935242" cy="54006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550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客户满意度</a:t>
              </a:r>
            </a:p>
          </p:txBody>
        </p:sp>
        <p:sp>
          <p:nvSpPr>
            <p:cNvPr id="113" name="tr4-c1"/>
            <p:cNvSpPr txBox="1"/>
            <p:nvPr/>
          </p:nvSpPr>
          <p:spPr>
            <a:xfrm>
              <a:off x="13809536" y="14622590"/>
              <a:ext cx="1708404" cy="5394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90分</a:t>
              </a:r>
            </a:p>
          </p:txBody>
        </p:sp>
        <p:sp>
          <p:nvSpPr>
            <p:cNvPr id="114" name="tr4-c2"/>
            <p:cNvSpPr txBox="1"/>
            <p:nvPr/>
          </p:nvSpPr>
          <p:spPr>
            <a:xfrm>
              <a:off x="16363950" y="14597062"/>
              <a:ext cx="1809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86分</a:t>
              </a:r>
            </a:p>
          </p:txBody>
        </p:sp>
        <p:sp>
          <p:nvSpPr>
            <p:cNvPr id="115" name="tr4-track"/>
            <p:cNvSpPr/>
            <p:nvPr/>
          </p:nvSpPr>
          <p:spPr>
            <a:xfrm>
              <a:off x="18945225" y="14758988"/>
              <a:ext cx="3657600" cy="333375"/>
            </a:xfrm>
            <a:prstGeom prst="roundRect">
              <a:avLst>
                <a:gd name="adj" fmla="val 48571"/>
              </a:avLst>
            </a:prstGeom>
            <a:solidFill>
              <a:srgbClr val="EEF3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tr4-bar"/>
            <p:cNvSpPr/>
            <p:nvPr/>
          </p:nvSpPr>
          <p:spPr>
            <a:xfrm>
              <a:off x="18945225" y="14758988"/>
              <a:ext cx="3514725" cy="333375"/>
            </a:xfrm>
            <a:prstGeom prst="roundRect">
              <a:avLst>
                <a:gd name="adj" fmla="val 48571"/>
              </a:avLst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tr4-pct"/>
            <p:cNvSpPr txBox="1"/>
            <p:nvPr/>
          </p:nvSpPr>
          <p:spPr>
            <a:xfrm>
              <a:off x="22831425" y="14638782"/>
              <a:ext cx="1040130" cy="55473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29" b="1" i="0">
                  <a:solidFill>
                    <a:srgbClr val="1677FF"/>
                  </a:solidFill>
                  <a:latin typeface="Microsoft YaHei"/>
                  <a:ea typeface="Microsoft YaHei"/>
                  <a:cs typeface="Microsoft YaHei"/>
                </a:rPr>
                <a:t>96%</a:t>
              </a:r>
            </a:p>
          </p:txBody>
        </p:sp>
        <p:sp>
          <p:nvSpPr>
            <p:cNvPr id="118" name="tr5-name"/>
            <p:cNvSpPr txBox="1"/>
            <p:nvPr/>
          </p:nvSpPr>
          <p:spPr>
            <a:xfrm>
              <a:off x="11258550" y="15653956"/>
              <a:ext cx="1879949" cy="52463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75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交付准时率</a:t>
              </a:r>
            </a:p>
          </p:txBody>
        </p:sp>
        <p:sp>
          <p:nvSpPr>
            <p:cNvPr id="119" name="tr5-c1"/>
            <p:cNvSpPr txBox="1"/>
            <p:nvPr/>
          </p:nvSpPr>
          <p:spPr>
            <a:xfrm>
              <a:off x="13792724" y="15655004"/>
              <a:ext cx="1684877" cy="5320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12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95%</a:t>
              </a:r>
            </a:p>
          </p:txBody>
        </p:sp>
        <p:sp>
          <p:nvSpPr>
            <p:cNvPr id="120" name="tr5-c2"/>
            <p:cNvSpPr txBox="1"/>
            <p:nvPr/>
          </p:nvSpPr>
          <p:spPr>
            <a:xfrm>
              <a:off x="16359711" y="15655004"/>
              <a:ext cx="1684877" cy="5320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12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91%</a:t>
              </a:r>
            </a:p>
          </p:txBody>
        </p:sp>
        <p:sp>
          <p:nvSpPr>
            <p:cNvPr id="121" name="tr5-track"/>
            <p:cNvSpPr/>
            <p:nvPr/>
          </p:nvSpPr>
          <p:spPr>
            <a:xfrm>
              <a:off x="18945225" y="15797212"/>
              <a:ext cx="3657600" cy="333375"/>
            </a:xfrm>
            <a:prstGeom prst="roundRect">
              <a:avLst>
                <a:gd name="adj" fmla="val 48571"/>
              </a:avLst>
            </a:prstGeom>
            <a:solidFill>
              <a:srgbClr val="EEF3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tr5-bar"/>
            <p:cNvSpPr/>
            <p:nvPr/>
          </p:nvSpPr>
          <p:spPr>
            <a:xfrm>
              <a:off x="18945225" y="15797212"/>
              <a:ext cx="3514725" cy="333375"/>
            </a:xfrm>
            <a:prstGeom prst="roundRect">
              <a:avLst>
                <a:gd name="adj" fmla="val 48571"/>
              </a:avLst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tr5-pct"/>
            <p:cNvSpPr txBox="1"/>
            <p:nvPr/>
          </p:nvSpPr>
          <p:spPr>
            <a:xfrm>
              <a:off x="22831425" y="15691980"/>
              <a:ext cx="1073277" cy="5724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20" b="1" i="0">
                  <a:solidFill>
                    <a:srgbClr val="1677FF"/>
                  </a:solidFill>
                  <a:latin typeface="Microsoft YaHei"/>
                  <a:ea typeface="Microsoft YaHei"/>
                  <a:cs typeface="Microsoft YaHei"/>
                </a:rPr>
                <a:t>96%</a:t>
              </a:r>
            </a:p>
          </p:txBody>
        </p:sp>
      </p:grpSp>
      <p:grpSp>
        <p:nvGrpSpPr>
          <p:cNvPr id="288" name="mid-right"/>
          <p:cNvGrpSpPr/>
          <p:nvPr/>
        </p:nvGrpSpPr>
        <p:grpSpPr>
          <a:xfrm>
            <a:off x="24698325" y="8296275"/>
            <a:ext cx="10382250" cy="8867775"/>
            <a:chOff x="24698325" y="8296275"/>
            <a:chExt cx="10382250" cy="8867775"/>
          </a:xfrm>
        </p:grpSpPr>
        <p:sp>
          <p:nvSpPr>
            <p:cNvPr id="124" name="midR-panel"/>
            <p:cNvSpPr/>
            <p:nvPr/>
          </p:nvSpPr>
          <p:spPr>
            <a:xfrm>
              <a:off x="24698325" y="8296275"/>
              <a:ext cx="10382250" cy="8867775"/>
            </a:xfrm>
            <a:prstGeom prst="roundRect">
              <a:avLst>
                <a:gd name="adj" fmla="val 2363"/>
              </a:avLst>
            </a:prstGeom>
            <a:solidFill>
              <a:srgbClr val="FFFFFF"/>
            </a:solidFill>
            <a:ln w="19050">
              <a:solidFill>
                <a:srgbClr val="E3EA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midR1-title"/>
            <p:cNvSpPr txBox="1"/>
            <p:nvPr/>
          </p:nvSpPr>
          <p:spPr>
            <a:xfrm>
              <a:off x="28917900" y="8649652"/>
              <a:ext cx="1676400" cy="56007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1677FF"/>
                  </a:solidFill>
                  <a:latin typeface="Microsoft YaHei"/>
                  <a:ea typeface="Microsoft YaHei"/>
                  <a:cs typeface="Microsoft YaHei"/>
                </a:rPr>
                <a:t>状态分布</a:t>
              </a:r>
            </a:p>
          </p:txBody>
        </p:sp>
        <p:cxnSp>
          <p:nvCxnSpPr>
            <p:cNvPr id="126" name="midR1-rule-l"/>
            <p:cNvCxnSpPr/>
            <p:nvPr/>
          </p:nvCxnSpPr>
          <p:spPr>
            <a:xfrm>
              <a:off x="26784300" y="8943975"/>
              <a:ext cx="2095500" cy="0"/>
            </a:xfrm>
            <a:prstGeom prst="line">
              <a:avLst/>
            </a:prstGeom>
            <a:ln w="28575">
              <a:solidFill>
                <a:srgbClr val="1677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midR1-dot-l"/>
            <p:cNvSpPr/>
            <p:nvPr/>
          </p:nvSpPr>
          <p:spPr>
            <a:xfrm>
              <a:off x="28822650" y="8886825"/>
              <a:ext cx="114300" cy="1143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8" name="midR1-rule-r"/>
            <p:cNvCxnSpPr/>
            <p:nvPr/>
          </p:nvCxnSpPr>
          <p:spPr>
            <a:xfrm>
              <a:off x="30899100" y="8943975"/>
              <a:ext cx="3286125" cy="0"/>
            </a:xfrm>
            <a:prstGeom prst="line">
              <a:avLst/>
            </a:prstGeom>
            <a:ln w="28575">
              <a:solidFill>
                <a:srgbClr val="1677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midR1-dot-r"/>
            <p:cNvSpPr/>
            <p:nvPr/>
          </p:nvSpPr>
          <p:spPr>
            <a:xfrm>
              <a:off x="30841950" y="8886825"/>
              <a:ext cx="114300" cy="1143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st0-card"/>
            <p:cNvSpPr/>
            <p:nvPr/>
          </p:nvSpPr>
          <p:spPr>
            <a:xfrm>
              <a:off x="25088850" y="9448800"/>
              <a:ext cx="3009900" cy="2762250"/>
            </a:xfrm>
            <a:prstGeom prst="roundRect">
              <a:avLst>
                <a:gd name="adj" fmla="val 5517"/>
              </a:avLst>
            </a:prstGeom>
            <a:solidFill>
              <a:srgbClr val="EFFBF5"/>
            </a:solidFill>
            <a:ln w="19050">
              <a:solidFill>
                <a:srgbClr val="10A5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st0-icbg"/>
            <p:cNvSpPr/>
            <p:nvPr/>
          </p:nvSpPr>
          <p:spPr>
            <a:xfrm>
              <a:off x="25469850" y="9963150"/>
              <a:ext cx="723900" cy="723900"/>
            </a:xfrm>
            <a:prstGeom prst="ellipse">
              <a:avLst/>
            </a:prstGeom>
            <a:solidFill>
              <a:srgbClr val="12A1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75" name="st0-icon"/>
            <p:cNvGrpSpPr/>
            <p:nvPr/>
          </p:nvGrpSpPr>
          <p:grpSpPr>
            <a:xfrm>
              <a:off x="25701879" y="10161651"/>
              <a:ext cx="259842" cy="326898"/>
              <a:chOff x="25701879" y="10161651"/>
              <a:chExt cx="259842" cy="326898"/>
            </a:xfrm>
          </p:grpSpPr>
          <p:sp>
            <p:nvSpPr>
              <p:cNvPr id="132" name="Rounded Rectangle 131"/>
              <p:cNvSpPr/>
              <p:nvPr/>
            </p:nvSpPr>
            <p:spPr>
              <a:xfrm>
                <a:off x="25701879" y="10161651"/>
                <a:ext cx="259842" cy="326898"/>
              </a:xfrm>
              <a:prstGeom prst="roundRect">
                <a:avLst>
                  <a:gd name="adj" fmla="val 19354"/>
                </a:avLst>
              </a:prstGeom>
              <a:noFill/>
              <a:ln w="1524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33" name="Connector 132"/>
              <p:cNvCxnSpPr/>
              <p:nvPr/>
            </p:nvCxnSpPr>
            <p:spPr>
              <a:xfrm>
                <a:off x="25764744" y="10325100"/>
                <a:ext cx="50292" cy="58674"/>
              </a:xfrm>
              <a:prstGeom prst="line">
                <a:avLst/>
              </a:prstGeom>
              <a:ln w="46310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Connector 133"/>
              <p:cNvCxnSpPr/>
              <p:nvPr/>
            </p:nvCxnSpPr>
            <p:spPr>
              <a:xfrm flipV="1">
                <a:off x="25815036" y="10258044"/>
                <a:ext cx="88011" cy="125730"/>
              </a:xfrm>
              <a:prstGeom prst="line">
                <a:avLst/>
              </a:prstGeom>
              <a:ln w="46310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5" name="st0-label"/>
            <p:cNvSpPr txBox="1"/>
            <p:nvPr/>
          </p:nvSpPr>
          <p:spPr>
            <a:xfrm>
              <a:off x="26527125" y="9929489"/>
              <a:ext cx="1412176" cy="52452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7" b="1" i="0">
                  <a:solidFill>
                    <a:srgbClr val="12A150"/>
                  </a:solidFill>
                  <a:latin typeface="Microsoft YaHei"/>
                  <a:ea typeface="Microsoft YaHei"/>
                  <a:cs typeface="Microsoft YaHei"/>
                </a:rPr>
                <a:t>达成</a:t>
              </a:r>
            </a:p>
          </p:txBody>
        </p:sp>
        <p:sp>
          <p:nvSpPr>
            <p:cNvPr id="136" name="st0-num"/>
            <p:cNvSpPr txBox="1"/>
            <p:nvPr/>
          </p:nvSpPr>
          <p:spPr>
            <a:xfrm>
              <a:off x="25450800" y="10782300"/>
              <a:ext cx="22860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300" b="1" i="0">
                  <a:solidFill>
                    <a:srgbClr val="12A150"/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</a:p>
          </p:txBody>
        </p:sp>
        <p:sp>
          <p:nvSpPr>
            <p:cNvPr id="137" name="st0-pct"/>
            <p:cNvSpPr txBox="1"/>
            <p:nvPr/>
          </p:nvSpPr>
          <p:spPr>
            <a:xfrm>
              <a:off x="25631775" y="11658600"/>
              <a:ext cx="2095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12A150"/>
                  </a:solidFill>
                  <a:latin typeface="Microsoft YaHei"/>
                  <a:ea typeface="Microsoft YaHei"/>
                  <a:cs typeface="Microsoft YaHei"/>
                </a:rPr>
                <a:t>（57%）</a:t>
              </a:r>
            </a:p>
          </p:txBody>
        </p:sp>
        <p:sp>
          <p:nvSpPr>
            <p:cNvPr id="138" name="st1-card"/>
            <p:cNvSpPr/>
            <p:nvPr/>
          </p:nvSpPr>
          <p:spPr>
            <a:xfrm>
              <a:off x="28365450" y="9448800"/>
              <a:ext cx="3009900" cy="2762250"/>
            </a:xfrm>
            <a:prstGeom prst="roundRect">
              <a:avLst>
                <a:gd name="adj" fmla="val 5517"/>
              </a:avLst>
            </a:prstGeom>
            <a:solidFill>
              <a:srgbClr val="FFF9EF"/>
            </a:solidFill>
            <a:ln w="19050">
              <a:solidFill>
                <a:srgbClr val="F5A62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st1-icbg"/>
            <p:cNvSpPr/>
            <p:nvPr/>
          </p:nvSpPr>
          <p:spPr>
            <a:xfrm>
              <a:off x="28746450" y="9963150"/>
              <a:ext cx="723900" cy="723900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st1-mark"/>
            <p:cNvSpPr txBox="1"/>
            <p:nvPr/>
          </p:nvSpPr>
          <p:spPr>
            <a:xfrm>
              <a:off x="28883686" y="10077059"/>
              <a:ext cx="449428" cy="50560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97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!</a:t>
              </a:r>
            </a:p>
          </p:txBody>
        </p:sp>
        <p:sp>
          <p:nvSpPr>
            <p:cNvPr id="141" name="st1-label"/>
            <p:cNvSpPr txBox="1"/>
            <p:nvPr/>
          </p:nvSpPr>
          <p:spPr>
            <a:xfrm>
              <a:off x="29832300" y="9929489"/>
              <a:ext cx="1412176" cy="52452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7" b="1" i="0">
                  <a:solidFill>
                    <a:srgbClr val="F5A623"/>
                  </a:solidFill>
                  <a:latin typeface="Microsoft YaHei"/>
                  <a:ea typeface="Microsoft YaHei"/>
                  <a:cs typeface="Microsoft YaHei"/>
                </a:rPr>
                <a:t>关注</a:t>
              </a:r>
            </a:p>
          </p:txBody>
        </p:sp>
        <p:sp>
          <p:nvSpPr>
            <p:cNvPr id="142" name="st1-num"/>
            <p:cNvSpPr txBox="1"/>
            <p:nvPr/>
          </p:nvSpPr>
          <p:spPr>
            <a:xfrm>
              <a:off x="28727400" y="10782300"/>
              <a:ext cx="22860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300" b="1" i="0">
                  <a:solidFill>
                    <a:srgbClr val="F5A623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143" name="st1-pct"/>
            <p:cNvSpPr txBox="1"/>
            <p:nvPr/>
          </p:nvSpPr>
          <p:spPr>
            <a:xfrm>
              <a:off x="28927425" y="11677650"/>
              <a:ext cx="2095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F5A623"/>
                  </a:solidFill>
                  <a:latin typeface="Microsoft YaHei"/>
                  <a:ea typeface="Microsoft YaHei"/>
                  <a:cs typeface="Microsoft YaHei"/>
                </a:rPr>
                <a:t>（29%）</a:t>
              </a:r>
            </a:p>
          </p:txBody>
        </p:sp>
        <p:sp>
          <p:nvSpPr>
            <p:cNvPr id="144" name="st2-card"/>
            <p:cNvSpPr/>
            <p:nvPr/>
          </p:nvSpPr>
          <p:spPr>
            <a:xfrm>
              <a:off x="31623000" y="9448800"/>
              <a:ext cx="3009900" cy="2762250"/>
            </a:xfrm>
            <a:prstGeom prst="roundRect">
              <a:avLst>
                <a:gd name="adj" fmla="val 5517"/>
              </a:avLst>
            </a:prstGeom>
            <a:solidFill>
              <a:srgbClr val="FFF4F4"/>
            </a:solidFill>
            <a:ln w="19050">
              <a:solidFill>
                <a:srgbClr val="E5394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st2-icbg"/>
            <p:cNvSpPr/>
            <p:nvPr/>
          </p:nvSpPr>
          <p:spPr>
            <a:xfrm>
              <a:off x="32004000" y="9963150"/>
              <a:ext cx="723900" cy="723900"/>
            </a:xfrm>
            <a:prstGeom prst="ellipse">
              <a:avLst/>
            </a:prstGeom>
            <a:solidFill>
              <a:srgbClr val="E539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st2-mark"/>
            <p:cNvSpPr txBox="1"/>
            <p:nvPr/>
          </p:nvSpPr>
          <p:spPr>
            <a:xfrm>
              <a:off x="32169811" y="10077059"/>
              <a:ext cx="449428" cy="50560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97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!</a:t>
              </a:r>
            </a:p>
          </p:txBody>
        </p:sp>
        <p:sp>
          <p:nvSpPr>
            <p:cNvPr id="147" name="st2-label"/>
            <p:cNvSpPr txBox="1"/>
            <p:nvPr/>
          </p:nvSpPr>
          <p:spPr>
            <a:xfrm>
              <a:off x="33147000" y="9930232"/>
              <a:ext cx="1408176" cy="52303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1" i="0">
                  <a:solidFill>
                    <a:srgbClr val="E53945"/>
                  </a:solidFill>
                  <a:latin typeface="Microsoft YaHei"/>
                  <a:ea typeface="Microsoft YaHei"/>
                  <a:cs typeface="Microsoft YaHei"/>
                </a:rPr>
                <a:t>预警</a:t>
              </a:r>
            </a:p>
          </p:txBody>
        </p:sp>
        <p:sp>
          <p:nvSpPr>
            <p:cNvPr id="148" name="st2-num"/>
            <p:cNvSpPr txBox="1"/>
            <p:nvPr/>
          </p:nvSpPr>
          <p:spPr>
            <a:xfrm>
              <a:off x="31984950" y="10782300"/>
              <a:ext cx="22860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300" b="1" i="0">
                  <a:solidFill>
                    <a:srgbClr val="E53945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49" name="st2-pct"/>
            <p:cNvSpPr txBox="1"/>
            <p:nvPr/>
          </p:nvSpPr>
          <p:spPr>
            <a:xfrm>
              <a:off x="32242125" y="11672888"/>
              <a:ext cx="2095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0" i="0">
                  <a:solidFill>
                    <a:srgbClr val="E53945"/>
                  </a:solidFill>
                  <a:latin typeface="Microsoft YaHei"/>
                  <a:ea typeface="Microsoft YaHei"/>
                  <a:cs typeface="Microsoft YaHei"/>
                </a:rPr>
                <a:t>（14%）</a:t>
              </a:r>
            </a:p>
          </p:txBody>
        </p:sp>
        <p:cxnSp>
          <p:nvCxnSpPr>
            <p:cNvPr id="150" name="midR-div"/>
            <p:cNvCxnSpPr/>
            <p:nvPr/>
          </p:nvCxnSpPr>
          <p:spPr>
            <a:xfrm>
              <a:off x="25050750" y="12411075"/>
              <a:ext cx="9715500" cy="0"/>
            </a:xfrm>
            <a:prstGeom prst="line">
              <a:avLst/>
            </a:prstGeom>
            <a:ln w="19050">
              <a:solidFill>
                <a:srgbClr val="D8ECF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midR2-title"/>
            <p:cNvSpPr txBox="1"/>
            <p:nvPr/>
          </p:nvSpPr>
          <p:spPr>
            <a:xfrm>
              <a:off x="28858350" y="12800533"/>
              <a:ext cx="2081251" cy="53553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65" b="1" i="0">
                  <a:solidFill>
                    <a:srgbClr val="1677FF"/>
                  </a:solidFill>
                  <a:latin typeface="Microsoft YaHei"/>
                  <a:ea typeface="Microsoft YaHei"/>
                  <a:cs typeface="Microsoft YaHei"/>
                </a:rPr>
                <a:t>完成率TOP5</a:t>
              </a:r>
            </a:p>
          </p:txBody>
        </p:sp>
        <p:sp>
          <p:nvSpPr>
            <p:cNvPr id="152" name="top0-circ"/>
            <p:cNvSpPr/>
            <p:nvPr/>
          </p:nvSpPr>
          <p:spPr>
            <a:xfrm>
              <a:off x="25507950" y="13992225"/>
              <a:ext cx="571500" cy="5715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top0-num"/>
            <p:cNvSpPr txBox="1"/>
            <p:nvPr/>
          </p:nvSpPr>
          <p:spPr>
            <a:xfrm>
              <a:off x="25550622" y="14010780"/>
              <a:ext cx="562356" cy="5248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1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154" name="top0-name"/>
            <p:cNvSpPr txBox="1"/>
            <p:nvPr/>
          </p:nvSpPr>
          <p:spPr>
            <a:xfrm>
              <a:off x="26670000" y="14014780"/>
              <a:ext cx="1661350" cy="51686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销售部</a:t>
              </a:r>
            </a:p>
          </p:txBody>
        </p:sp>
        <p:sp>
          <p:nvSpPr>
            <p:cNvPr id="155" name="top0-pct"/>
            <p:cNvSpPr txBox="1"/>
            <p:nvPr/>
          </p:nvSpPr>
          <p:spPr>
            <a:xfrm>
              <a:off x="33009840" y="14025639"/>
              <a:ext cx="918210" cy="51419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31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91%</a:t>
              </a:r>
            </a:p>
          </p:txBody>
        </p:sp>
        <p:cxnSp>
          <p:nvCxnSpPr>
            <p:cNvPr id="156" name="top0-sep"/>
            <p:cNvCxnSpPr/>
            <p:nvPr/>
          </p:nvCxnSpPr>
          <p:spPr>
            <a:xfrm>
              <a:off x="26584275" y="14592300"/>
              <a:ext cx="7153275" cy="0"/>
            </a:xfrm>
            <a:prstGeom prst="line">
              <a:avLst/>
            </a:prstGeom>
            <a:ln w="19050">
              <a:solidFill>
                <a:srgbClr val="D6E8F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op1-circ"/>
            <p:cNvSpPr/>
            <p:nvPr/>
          </p:nvSpPr>
          <p:spPr>
            <a:xfrm>
              <a:off x="25507950" y="14635162"/>
              <a:ext cx="571500" cy="5715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top1-num"/>
            <p:cNvSpPr txBox="1"/>
            <p:nvPr/>
          </p:nvSpPr>
          <p:spPr>
            <a:xfrm>
              <a:off x="25550622" y="14653717"/>
              <a:ext cx="562356" cy="5248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1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59" name="top1-name"/>
            <p:cNvSpPr txBox="1"/>
            <p:nvPr/>
          </p:nvSpPr>
          <p:spPr>
            <a:xfrm>
              <a:off x="26670000" y="14657451"/>
              <a:ext cx="1663065" cy="51739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市场部</a:t>
              </a:r>
            </a:p>
          </p:txBody>
        </p:sp>
        <p:sp>
          <p:nvSpPr>
            <p:cNvPr id="160" name="top1-pct"/>
            <p:cNvSpPr txBox="1"/>
            <p:nvPr/>
          </p:nvSpPr>
          <p:spPr>
            <a:xfrm>
              <a:off x="33030795" y="14669110"/>
              <a:ext cx="916305" cy="51313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31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88%</a:t>
              </a:r>
            </a:p>
          </p:txBody>
        </p:sp>
        <p:cxnSp>
          <p:nvCxnSpPr>
            <p:cNvPr id="161" name="top1-sep"/>
            <p:cNvCxnSpPr/>
            <p:nvPr/>
          </p:nvCxnSpPr>
          <p:spPr>
            <a:xfrm>
              <a:off x="26584275" y="15235238"/>
              <a:ext cx="7153275" cy="0"/>
            </a:xfrm>
            <a:prstGeom prst="line">
              <a:avLst/>
            </a:prstGeom>
            <a:ln w="19050">
              <a:solidFill>
                <a:srgbClr val="D6E8F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op2-circ"/>
            <p:cNvSpPr/>
            <p:nvPr/>
          </p:nvSpPr>
          <p:spPr>
            <a:xfrm>
              <a:off x="25507950" y="15278100"/>
              <a:ext cx="571500" cy="5715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top2-num"/>
            <p:cNvSpPr txBox="1"/>
            <p:nvPr/>
          </p:nvSpPr>
          <p:spPr>
            <a:xfrm>
              <a:off x="25550622" y="15296655"/>
              <a:ext cx="562356" cy="5248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1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164" name="top2-name"/>
            <p:cNvSpPr txBox="1"/>
            <p:nvPr/>
          </p:nvSpPr>
          <p:spPr>
            <a:xfrm>
              <a:off x="26670000" y="15297150"/>
              <a:ext cx="1714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运营部</a:t>
              </a:r>
            </a:p>
          </p:txBody>
        </p:sp>
        <p:sp>
          <p:nvSpPr>
            <p:cNvPr id="165" name="top2-pct"/>
            <p:cNvSpPr txBox="1"/>
            <p:nvPr/>
          </p:nvSpPr>
          <p:spPr>
            <a:xfrm>
              <a:off x="33030795" y="15312047"/>
              <a:ext cx="916305" cy="51313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31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79%</a:t>
              </a:r>
            </a:p>
          </p:txBody>
        </p:sp>
        <p:cxnSp>
          <p:nvCxnSpPr>
            <p:cNvPr id="166" name="top2-sep"/>
            <p:cNvCxnSpPr/>
            <p:nvPr/>
          </p:nvCxnSpPr>
          <p:spPr>
            <a:xfrm>
              <a:off x="26584275" y="15878175"/>
              <a:ext cx="7153275" cy="0"/>
            </a:xfrm>
            <a:prstGeom prst="line">
              <a:avLst/>
            </a:prstGeom>
            <a:ln w="19050">
              <a:solidFill>
                <a:srgbClr val="D6E8F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op3-circ"/>
            <p:cNvSpPr/>
            <p:nvPr/>
          </p:nvSpPr>
          <p:spPr>
            <a:xfrm>
              <a:off x="25507950" y="15921038"/>
              <a:ext cx="571500" cy="5715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top3-num"/>
            <p:cNvSpPr txBox="1"/>
            <p:nvPr/>
          </p:nvSpPr>
          <p:spPr>
            <a:xfrm>
              <a:off x="25550622" y="15939592"/>
              <a:ext cx="562356" cy="5248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1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169" name="top3-name"/>
            <p:cNvSpPr txBox="1"/>
            <p:nvPr/>
          </p:nvSpPr>
          <p:spPr>
            <a:xfrm>
              <a:off x="26660475" y="15940088"/>
              <a:ext cx="1714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产品部</a:t>
              </a:r>
            </a:p>
          </p:txBody>
        </p:sp>
        <p:sp>
          <p:nvSpPr>
            <p:cNvPr id="170" name="top3-pct"/>
            <p:cNvSpPr txBox="1"/>
            <p:nvPr/>
          </p:nvSpPr>
          <p:spPr>
            <a:xfrm>
              <a:off x="33030795" y="15954985"/>
              <a:ext cx="916305" cy="51313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31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76%</a:t>
              </a:r>
            </a:p>
          </p:txBody>
        </p:sp>
        <p:cxnSp>
          <p:nvCxnSpPr>
            <p:cNvPr id="171" name="top3-sep"/>
            <p:cNvCxnSpPr/>
            <p:nvPr/>
          </p:nvCxnSpPr>
          <p:spPr>
            <a:xfrm>
              <a:off x="26584275" y="16521112"/>
              <a:ext cx="7153275" cy="0"/>
            </a:xfrm>
            <a:prstGeom prst="line">
              <a:avLst/>
            </a:prstGeom>
            <a:ln w="19050">
              <a:solidFill>
                <a:srgbClr val="D6E8F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op4-circ"/>
            <p:cNvSpPr/>
            <p:nvPr/>
          </p:nvSpPr>
          <p:spPr>
            <a:xfrm>
              <a:off x="25507950" y="16563975"/>
              <a:ext cx="571500" cy="5715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top4-num"/>
            <p:cNvSpPr txBox="1"/>
            <p:nvPr/>
          </p:nvSpPr>
          <p:spPr>
            <a:xfrm>
              <a:off x="25559480" y="16600322"/>
              <a:ext cx="544640" cy="50833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14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174" name="top4-name"/>
            <p:cNvSpPr txBox="1"/>
            <p:nvPr/>
          </p:nvSpPr>
          <p:spPr>
            <a:xfrm>
              <a:off x="26660475" y="16605580"/>
              <a:ext cx="1661350" cy="51686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客服部</a:t>
              </a:r>
            </a:p>
          </p:txBody>
        </p:sp>
        <p:sp>
          <p:nvSpPr>
            <p:cNvPr id="175" name="top4-pct"/>
            <p:cNvSpPr txBox="1"/>
            <p:nvPr/>
          </p:nvSpPr>
          <p:spPr>
            <a:xfrm>
              <a:off x="33030795" y="16607447"/>
              <a:ext cx="916305" cy="51313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31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73%</a:t>
              </a:r>
            </a:p>
          </p:txBody>
        </p:sp>
      </p:grpSp>
      <p:grpSp>
        <p:nvGrpSpPr>
          <p:cNvPr id="284" name="bot-left"/>
          <p:cNvGrpSpPr/>
          <p:nvPr/>
        </p:nvGrpSpPr>
        <p:grpSpPr>
          <a:xfrm>
            <a:off x="1476070" y="17487900"/>
            <a:ext cx="16669055" cy="6867525"/>
            <a:chOff x="1476070" y="17487900"/>
            <a:chExt cx="16669055" cy="6867525"/>
          </a:xfrm>
        </p:grpSpPr>
        <p:sp>
          <p:nvSpPr>
            <p:cNvPr id="176" name="botL-panel"/>
            <p:cNvSpPr/>
            <p:nvPr/>
          </p:nvSpPr>
          <p:spPr>
            <a:xfrm>
              <a:off x="1485900" y="17487900"/>
              <a:ext cx="16659225" cy="6867525"/>
            </a:xfrm>
            <a:prstGeom prst="roundRect">
              <a:avLst>
                <a:gd name="adj" fmla="val 3051"/>
              </a:avLst>
            </a:prstGeom>
            <a:solidFill>
              <a:srgbClr val="FFFFFF"/>
            </a:solidFill>
            <a:ln w="19050">
              <a:solidFill>
                <a:srgbClr val="E3EA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botL-title"/>
            <p:cNvSpPr txBox="1"/>
            <p:nvPr/>
          </p:nvSpPr>
          <p:spPr>
            <a:xfrm>
              <a:off x="7786116" y="17855565"/>
              <a:ext cx="3744468" cy="56007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1677FF"/>
                  </a:solidFill>
                  <a:latin typeface="Microsoft YaHei"/>
                  <a:ea typeface="Microsoft YaHei"/>
                  <a:cs typeface="Microsoft YaHei"/>
                </a:rPr>
                <a:t>部门经营完成率对比</a:t>
              </a:r>
            </a:p>
          </p:txBody>
        </p:sp>
        <p:cxnSp>
          <p:nvCxnSpPr>
            <p:cNvPr id="178" name="botL-rule-l"/>
            <p:cNvCxnSpPr/>
            <p:nvPr/>
          </p:nvCxnSpPr>
          <p:spPr>
            <a:xfrm>
              <a:off x="4400550" y="18154650"/>
              <a:ext cx="3352800" cy="0"/>
            </a:xfrm>
            <a:prstGeom prst="line">
              <a:avLst/>
            </a:prstGeom>
            <a:ln w="28575">
              <a:solidFill>
                <a:srgbClr val="1677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botL-dot-l"/>
            <p:cNvSpPr/>
            <p:nvPr/>
          </p:nvSpPr>
          <p:spPr>
            <a:xfrm>
              <a:off x="7696200" y="18097500"/>
              <a:ext cx="114300" cy="1143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0" name="botL-rule-r"/>
            <p:cNvCxnSpPr/>
            <p:nvPr/>
          </p:nvCxnSpPr>
          <p:spPr>
            <a:xfrm>
              <a:off x="11772900" y="18154650"/>
              <a:ext cx="3362325" cy="0"/>
            </a:xfrm>
            <a:prstGeom prst="line">
              <a:avLst/>
            </a:prstGeom>
            <a:ln w="28575">
              <a:solidFill>
                <a:srgbClr val="1677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botL-dot-r"/>
            <p:cNvSpPr/>
            <p:nvPr/>
          </p:nvSpPr>
          <p:spPr>
            <a:xfrm>
              <a:off x="11715750" y="18097500"/>
              <a:ext cx="114300" cy="1143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2" name="botL-gl100"/>
            <p:cNvCxnSpPr/>
            <p:nvPr/>
          </p:nvCxnSpPr>
          <p:spPr>
            <a:xfrm>
              <a:off x="2743200" y="18830925"/>
              <a:ext cx="15278100" cy="0"/>
            </a:xfrm>
            <a:prstGeom prst="line">
              <a:avLst/>
            </a:prstGeom>
            <a:ln w="19050">
              <a:solidFill>
                <a:srgbClr val="E6EBF3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botL-gl75"/>
            <p:cNvCxnSpPr/>
            <p:nvPr/>
          </p:nvCxnSpPr>
          <p:spPr>
            <a:xfrm>
              <a:off x="2743200" y="19931062"/>
              <a:ext cx="15278100" cy="0"/>
            </a:xfrm>
            <a:prstGeom prst="line">
              <a:avLst/>
            </a:prstGeom>
            <a:ln w="19050">
              <a:solidFill>
                <a:srgbClr val="E6EBF3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botL-gl50"/>
            <p:cNvCxnSpPr/>
            <p:nvPr/>
          </p:nvCxnSpPr>
          <p:spPr>
            <a:xfrm>
              <a:off x="2743200" y="21031200"/>
              <a:ext cx="15278100" cy="0"/>
            </a:xfrm>
            <a:prstGeom prst="line">
              <a:avLst/>
            </a:prstGeom>
            <a:ln w="19050">
              <a:solidFill>
                <a:srgbClr val="E6EBF3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botL-gl25"/>
            <p:cNvCxnSpPr/>
            <p:nvPr/>
          </p:nvCxnSpPr>
          <p:spPr>
            <a:xfrm>
              <a:off x="2743200" y="22131338"/>
              <a:ext cx="15278100" cy="0"/>
            </a:xfrm>
            <a:prstGeom prst="line">
              <a:avLst/>
            </a:prstGeom>
            <a:ln w="19050">
              <a:solidFill>
                <a:srgbClr val="E6EBF3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botL-axis-y"/>
            <p:cNvCxnSpPr/>
            <p:nvPr/>
          </p:nvCxnSpPr>
          <p:spPr>
            <a:xfrm>
              <a:off x="2743200" y="18830925"/>
              <a:ext cx="0" cy="4400550"/>
            </a:xfrm>
            <a:prstGeom prst="line">
              <a:avLst/>
            </a:prstGeom>
            <a:ln w="19050">
              <a:solidFill>
                <a:srgbClr val="C9D2D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botL-axis-x"/>
            <p:cNvCxnSpPr/>
            <p:nvPr/>
          </p:nvCxnSpPr>
          <p:spPr>
            <a:xfrm>
              <a:off x="2743200" y="23231475"/>
              <a:ext cx="15278100" cy="0"/>
            </a:xfrm>
            <a:prstGeom prst="line">
              <a:avLst/>
            </a:prstGeom>
            <a:ln w="28575">
              <a:solidFill>
                <a:srgbClr val="B9C4D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botL-y0"/>
            <p:cNvSpPr txBox="1"/>
            <p:nvPr/>
          </p:nvSpPr>
          <p:spPr>
            <a:xfrm>
              <a:off x="1476070" y="23006761"/>
              <a:ext cx="952805" cy="51610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422" b="0" i="0">
                  <a:solidFill>
                    <a:srgbClr val="4B5563"/>
                  </a:solidFill>
                  <a:latin typeface="Microsoft YaHei"/>
                  <a:ea typeface="Microsoft YaHei"/>
                  <a:cs typeface="Microsoft YaHei"/>
                </a:rPr>
                <a:t>0%</a:t>
              </a:r>
            </a:p>
          </p:txBody>
        </p:sp>
        <p:sp>
          <p:nvSpPr>
            <p:cNvPr id="189" name="botL-y25"/>
            <p:cNvSpPr txBox="1"/>
            <p:nvPr/>
          </p:nvSpPr>
          <p:spPr>
            <a:xfrm>
              <a:off x="1476070" y="21916149"/>
              <a:ext cx="952805" cy="51610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422" b="0" i="0">
                  <a:solidFill>
                    <a:srgbClr val="4B5563"/>
                  </a:solidFill>
                  <a:latin typeface="Microsoft YaHei"/>
                  <a:ea typeface="Microsoft YaHei"/>
                  <a:cs typeface="Microsoft YaHei"/>
                </a:rPr>
                <a:t>25%</a:t>
              </a:r>
            </a:p>
          </p:txBody>
        </p:sp>
        <p:sp>
          <p:nvSpPr>
            <p:cNvPr id="190" name="botL-y50"/>
            <p:cNvSpPr txBox="1"/>
            <p:nvPr/>
          </p:nvSpPr>
          <p:spPr>
            <a:xfrm>
              <a:off x="1485900" y="20831175"/>
              <a:ext cx="9144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325" b="0" i="0">
                  <a:solidFill>
                    <a:srgbClr val="4B5563"/>
                  </a:solidFill>
                  <a:latin typeface="Microsoft YaHei"/>
                  <a:ea typeface="Microsoft YaHei"/>
                  <a:cs typeface="Microsoft YaHei"/>
                </a:rPr>
                <a:t>50%</a:t>
              </a:r>
            </a:p>
          </p:txBody>
        </p:sp>
        <p:sp>
          <p:nvSpPr>
            <p:cNvPr id="191" name="botL-y75"/>
            <p:cNvSpPr txBox="1"/>
            <p:nvPr/>
          </p:nvSpPr>
          <p:spPr>
            <a:xfrm>
              <a:off x="1494511" y="19702215"/>
              <a:ext cx="915314" cy="49579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325" b="0" i="0">
                  <a:solidFill>
                    <a:srgbClr val="4B5563"/>
                  </a:solidFill>
                  <a:latin typeface="Microsoft YaHei"/>
                  <a:ea typeface="Microsoft YaHei"/>
                  <a:cs typeface="Microsoft YaHei"/>
                </a:rPr>
                <a:t>75%</a:t>
              </a:r>
            </a:p>
          </p:txBody>
        </p:sp>
        <p:sp>
          <p:nvSpPr>
            <p:cNvPr id="192" name="botL-y100"/>
            <p:cNvSpPr txBox="1"/>
            <p:nvPr/>
          </p:nvSpPr>
          <p:spPr>
            <a:xfrm>
              <a:off x="1485900" y="18602325"/>
              <a:ext cx="9144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325" b="0" i="0">
                  <a:solidFill>
                    <a:srgbClr val="4B5563"/>
                  </a:solidFill>
                  <a:latin typeface="Microsoft YaHei"/>
                  <a:ea typeface="Microsoft YaHei"/>
                  <a:cs typeface="Microsoft YaHei"/>
                </a:rPr>
                <a:t>100%</a:t>
              </a:r>
            </a:p>
          </p:txBody>
        </p:sp>
        <p:sp>
          <p:nvSpPr>
            <p:cNvPr id="193" name="bar0"/>
            <p:cNvSpPr/>
            <p:nvPr/>
          </p:nvSpPr>
          <p:spPr>
            <a:xfrm>
              <a:off x="3895725" y="19358991"/>
              <a:ext cx="1314450" cy="3872484"/>
            </a:xfrm>
            <a:prstGeom prst="rect">
              <a:avLst/>
            </a:prstGeom>
            <a:solidFill>
              <a:srgbClr val="006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bar0-val"/>
            <p:cNvSpPr txBox="1"/>
            <p:nvPr/>
          </p:nvSpPr>
          <p:spPr>
            <a:xfrm>
              <a:off x="3389800" y="18672934"/>
              <a:ext cx="2202475" cy="51486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1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88%</a:t>
              </a:r>
            </a:p>
          </p:txBody>
        </p:sp>
        <p:sp>
          <p:nvSpPr>
            <p:cNvPr id="195" name="bar0-name"/>
            <p:cNvSpPr txBox="1"/>
            <p:nvPr/>
          </p:nvSpPr>
          <p:spPr>
            <a:xfrm>
              <a:off x="3393796" y="23493794"/>
              <a:ext cx="2270684" cy="589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7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市场部</a:t>
              </a:r>
            </a:p>
          </p:txBody>
        </p:sp>
        <p:sp>
          <p:nvSpPr>
            <p:cNvPr id="196" name="bar1"/>
            <p:cNvSpPr/>
            <p:nvPr/>
          </p:nvSpPr>
          <p:spPr>
            <a:xfrm>
              <a:off x="6877050" y="19226974"/>
              <a:ext cx="1314450" cy="4004501"/>
            </a:xfrm>
            <a:prstGeom prst="rect">
              <a:avLst/>
            </a:prstGeom>
            <a:solidFill>
              <a:srgbClr val="006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bar1-val"/>
            <p:cNvSpPr txBox="1"/>
            <p:nvPr/>
          </p:nvSpPr>
          <p:spPr>
            <a:xfrm>
              <a:off x="6371125" y="18531392"/>
              <a:ext cx="2202475" cy="51486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1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91%</a:t>
              </a:r>
            </a:p>
          </p:txBody>
        </p:sp>
        <p:sp>
          <p:nvSpPr>
            <p:cNvPr id="198" name="bar1-name"/>
            <p:cNvSpPr txBox="1"/>
            <p:nvPr/>
          </p:nvSpPr>
          <p:spPr>
            <a:xfrm>
              <a:off x="6427175" y="23516654"/>
              <a:ext cx="2204676" cy="57264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82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销售部</a:t>
              </a:r>
            </a:p>
          </p:txBody>
        </p:sp>
        <p:sp>
          <p:nvSpPr>
            <p:cNvPr id="199" name="bar2"/>
            <p:cNvSpPr/>
            <p:nvPr/>
          </p:nvSpPr>
          <p:spPr>
            <a:xfrm>
              <a:off x="9848850" y="19755040"/>
              <a:ext cx="1314450" cy="3476434"/>
            </a:xfrm>
            <a:prstGeom prst="rect">
              <a:avLst/>
            </a:prstGeom>
            <a:solidFill>
              <a:srgbClr val="006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bar2-val"/>
            <p:cNvSpPr txBox="1"/>
            <p:nvPr/>
          </p:nvSpPr>
          <p:spPr>
            <a:xfrm>
              <a:off x="9352450" y="19078508"/>
              <a:ext cx="2202475" cy="51486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1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79%</a:t>
              </a:r>
            </a:p>
          </p:txBody>
        </p:sp>
        <p:sp>
          <p:nvSpPr>
            <p:cNvPr id="201" name="bar2-name"/>
            <p:cNvSpPr txBox="1"/>
            <p:nvPr/>
          </p:nvSpPr>
          <p:spPr>
            <a:xfrm>
              <a:off x="9356446" y="23493794"/>
              <a:ext cx="2270684" cy="589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7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运营部</a:t>
              </a:r>
            </a:p>
          </p:txBody>
        </p:sp>
        <p:sp>
          <p:nvSpPr>
            <p:cNvPr id="202" name="bar3"/>
            <p:cNvSpPr/>
            <p:nvPr/>
          </p:nvSpPr>
          <p:spPr>
            <a:xfrm>
              <a:off x="12830175" y="19887057"/>
              <a:ext cx="1314450" cy="3344418"/>
            </a:xfrm>
            <a:prstGeom prst="rect">
              <a:avLst/>
            </a:prstGeom>
            <a:solidFill>
              <a:srgbClr val="006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bar3-val"/>
            <p:cNvSpPr txBox="1"/>
            <p:nvPr/>
          </p:nvSpPr>
          <p:spPr>
            <a:xfrm>
              <a:off x="12313625" y="19200743"/>
              <a:ext cx="2204676" cy="51537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7" b="1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76%</a:t>
              </a:r>
            </a:p>
          </p:txBody>
        </p:sp>
        <p:sp>
          <p:nvSpPr>
            <p:cNvPr id="204" name="bar3-name"/>
            <p:cNvSpPr txBox="1"/>
            <p:nvPr/>
          </p:nvSpPr>
          <p:spPr>
            <a:xfrm>
              <a:off x="12328246" y="23493794"/>
              <a:ext cx="2270684" cy="589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7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产品部</a:t>
              </a:r>
            </a:p>
          </p:txBody>
        </p:sp>
        <p:sp>
          <p:nvSpPr>
            <p:cNvPr id="205" name="bar4"/>
            <p:cNvSpPr/>
            <p:nvPr/>
          </p:nvSpPr>
          <p:spPr>
            <a:xfrm>
              <a:off x="15801975" y="20019073"/>
              <a:ext cx="1314450" cy="3212402"/>
            </a:xfrm>
            <a:prstGeom prst="rect">
              <a:avLst/>
            </a:prstGeom>
            <a:solidFill>
              <a:srgbClr val="0064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bar4-val"/>
            <p:cNvSpPr txBox="1"/>
            <p:nvPr/>
          </p:nvSpPr>
          <p:spPr>
            <a:xfrm>
              <a:off x="15351404" y="19355791"/>
              <a:ext cx="2129866" cy="49789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325" b="1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73%</a:t>
              </a:r>
            </a:p>
          </p:txBody>
        </p:sp>
        <p:sp>
          <p:nvSpPr>
            <p:cNvPr id="207" name="bar4-name"/>
            <p:cNvSpPr txBox="1"/>
            <p:nvPr/>
          </p:nvSpPr>
          <p:spPr>
            <a:xfrm>
              <a:off x="15300046" y="23493794"/>
              <a:ext cx="2270684" cy="5897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7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客服部</a:t>
              </a:r>
            </a:p>
          </p:txBody>
        </p:sp>
      </p:grpSp>
      <p:grpSp>
        <p:nvGrpSpPr>
          <p:cNvPr id="280" name="bot-right"/>
          <p:cNvGrpSpPr/>
          <p:nvPr/>
        </p:nvGrpSpPr>
        <p:grpSpPr>
          <a:xfrm>
            <a:off x="18392775" y="17430750"/>
            <a:ext cx="16687800" cy="7144940"/>
            <a:chOff x="18392775" y="17430750"/>
            <a:chExt cx="16687800" cy="7144940"/>
          </a:xfrm>
        </p:grpSpPr>
        <p:sp>
          <p:nvSpPr>
            <p:cNvPr id="208" name="botR-panel"/>
            <p:cNvSpPr/>
            <p:nvPr/>
          </p:nvSpPr>
          <p:spPr>
            <a:xfrm>
              <a:off x="18392775" y="17430750"/>
              <a:ext cx="16687800" cy="7000875"/>
            </a:xfrm>
            <a:prstGeom prst="roundRect">
              <a:avLst>
                <a:gd name="adj" fmla="val 2993"/>
              </a:avLst>
            </a:prstGeom>
            <a:solidFill>
              <a:srgbClr val="FFFFFF"/>
            </a:solidFill>
            <a:ln w="19050">
              <a:solidFill>
                <a:srgbClr val="E3EA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botR-title"/>
            <p:cNvSpPr txBox="1"/>
            <p:nvPr/>
          </p:nvSpPr>
          <p:spPr>
            <a:xfrm>
              <a:off x="25199226" y="17889453"/>
              <a:ext cx="2655799" cy="51134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72" b="1" i="0">
                  <a:solidFill>
                    <a:srgbClr val="1677FF"/>
                  </a:solidFill>
                  <a:latin typeface="Microsoft YaHei"/>
                  <a:ea typeface="Microsoft YaHei"/>
                  <a:cs typeface="Microsoft YaHei"/>
                </a:rPr>
                <a:t>下半年重点动作</a:t>
              </a:r>
            </a:p>
          </p:txBody>
        </p:sp>
        <p:cxnSp>
          <p:nvCxnSpPr>
            <p:cNvPr id="210" name="botR-rule-l"/>
            <p:cNvCxnSpPr/>
            <p:nvPr/>
          </p:nvCxnSpPr>
          <p:spPr>
            <a:xfrm>
              <a:off x="21326475" y="18154650"/>
              <a:ext cx="3800475" cy="0"/>
            </a:xfrm>
            <a:prstGeom prst="line">
              <a:avLst/>
            </a:prstGeom>
            <a:ln w="28575">
              <a:solidFill>
                <a:srgbClr val="1677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botR-dot-l"/>
            <p:cNvSpPr/>
            <p:nvPr/>
          </p:nvSpPr>
          <p:spPr>
            <a:xfrm>
              <a:off x="25069800" y="18097500"/>
              <a:ext cx="114300" cy="1143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2" name="botR-rule-r"/>
            <p:cNvCxnSpPr/>
            <p:nvPr/>
          </p:nvCxnSpPr>
          <p:spPr>
            <a:xfrm>
              <a:off x="28346400" y="18154650"/>
              <a:ext cx="2171700" cy="0"/>
            </a:xfrm>
            <a:prstGeom prst="line">
              <a:avLst/>
            </a:prstGeom>
            <a:ln w="28575">
              <a:solidFill>
                <a:srgbClr val="1677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botR-dot-r"/>
            <p:cNvSpPr/>
            <p:nvPr/>
          </p:nvSpPr>
          <p:spPr>
            <a:xfrm>
              <a:off x="28289250" y="18097500"/>
              <a:ext cx="114300" cy="1143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act0-card"/>
            <p:cNvSpPr/>
            <p:nvPr/>
          </p:nvSpPr>
          <p:spPr>
            <a:xfrm>
              <a:off x="18888075" y="19573875"/>
              <a:ext cx="15582900" cy="962025"/>
            </a:xfrm>
            <a:prstGeom prst="roundRect">
              <a:avLst>
                <a:gd name="adj" fmla="val 15841"/>
              </a:avLst>
            </a:prstGeom>
            <a:solidFill>
              <a:srgbClr val="FBFCFE"/>
            </a:solidFill>
            <a:ln w="19050">
              <a:solidFill>
                <a:srgbClr val="DCE3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act0-badge"/>
            <p:cNvSpPr/>
            <p:nvPr/>
          </p:nvSpPr>
          <p:spPr>
            <a:xfrm>
              <a:off x="19221450" y="19697700"/>
              <a:ext cx="733425" cy="714375"/>
            </a:xfrm>
            <a:prstGeom prst="roundRect">
              <a:avLst>
                <a:gd name="adj" fmla="val 24000"/>
              </a:avLst>
            </a:prstGeom>
            <a:solidFill>
              <a:srgbClr val="2F6B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act0-num"/>
            <p:cNvSpPr txBox="1"/>
            <p:nvPr/>
          </p:nvSpPr>
          <p:spPr>
            <a:xfrm>
              <a:off x="19264551" y="19610784"/>
              <a:ext cx="990124" cy="96440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0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217" name="act0-txt"/>
            <p:cNvSpPr txBox="1"/>
            <p:nvPr/>
          </p:nvSpPr>
          <p:spPr>
            <a:xfrm>
              <a:off x="20688300" y="19850100"/>
              <a:ext cx="85725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深化市场拓展，提升重点行业覆盖率</a:t>
              </a:r>
            </a:p>
          </p:txBody>
        </p:sp>
        <p:grpSp>
          <p:nvGrpSpPr>
            <p:cNvPr id="276" name="act0-cal"/>
            <p:cNvGrpSpPr/>
            <p:nvPr/>
          </p:nvGrpSpPr>
          <p:grpSpPr>
            <a:xfrm>
              <a:off x="31728346" y="19861720"/>
              <a:ext cx="341758" cy="346139"/>
              <a:chOff x="31728346" y="19861720"/>
              <a:chExt cx="341758" cy="346139"/>
            </a:xfrm>
          </p:grpSpPr>
          <p:sp>
            <p:nvSpPr>
              <p:cNvPr id="218" name="Rounded Rectangle 217"/>
              <p:cNvSpPr/>
              <p:nvPr/>
            </p:nvSpPr>
            <p:spPr>
              <a:xfrm>
                <a:off x="31728346" y="19901154"/>
                <a:ext cx="341757" cy="306705"/>
              </a:xfrm>
              <a:prstGeom prst="roundRect">
                <a:avLst>
                  <a:gd name="adj" fmla="val 11428"/>
                </a:avLst>
              </a:prstGeom>
              <a:noFill/>
              <a:ln w="15240">
                <a:solidFill>
                  <a:srgbClr val="2563E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19" name="Connector 218"/>
              <p:cNvCxnSpPr/>
              <p:nvPr/>
            </p:nvCxnSpPr>
            <p:spPr>
              <a:xfrm>
                <a:off x="31728346" y="19980021"/>
                <a:ext cx="341758" cy="0"/>
              </a:xfrm>
              <a:prstGeom prst="line">
                <a:avLst/>
              </a:prstGeom>
              <a:ln w="34175">
                <a:solidFill>
                  <a:srgbClr val="2563E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Connector 219"/>
              <p:cNvCxnSpPr/>
              <p:nvPr/>
            </p:nvCxnSpPr>
            <p:spPr>
              <a:xfrm>
                <a:off x="31811595" y="19861720"/>
                <a:ext cx="0" cy="56960"/>
              </a:xfrm>
              <a:prstGeom prst="line">
                <a:avLst/>
              </a:prstGeom>
              <a:ln w="34175">
                <a:solidFill>
                  <a:srgbClr val="2563E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Connector 220"/>
              <p:cNvCxnSpPr/>
              <p:nvPr/>
            </p:nvCxnSpPr>
            <p:spPr>
              <a:xfrm>
                <a:off x="31986855" y="19861720"/>
                <a:ext cx="0" cy="56960"/>
              </a:xfrm>
              <a:prstGeom prst="line">
                <a:avLst/>
              </a:prstGeom>
              <a:ln w="34175">
                <a:solidFill>
                  <a:srgbClr val="2563E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Oval 221"/>
              <p:cNvSpPr/>
              <p:nvPr/>
            </p:nvSpPr>
            <p:spPr>
              <a:xfrm>
                <a:off x="31796260" y="2002602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Oval 222"/>
              <p:cNvSpPr/>
              <p:nvPr/>
            </p:nvSpPr>
            <p:spPr>
              <a:xfrm>
                <a:off x="31883890" y="2002602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Oval 223"/>
              <p:cNvSpPr/>
              <p:nvPr/>
            </p:nvSpPr>
            <p:spPr>
              <a:xfrm>
                <a:off x="31796260" y="2011365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Oval 224"/>
              <p:cNvSpPr/>
              <p:nvPr/>
            </p:nvSpPr>
            <p:spPr>
              <a:xfrm>
                <a:off x="31883890" y="2011365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26" name="act0-date"/>
            <p:cNvSpPr txBox="1"/>
            <p:nvPr/>
          </p:nvSpPr>
          <p:spPr>
            <a:xfrm>
              <a:off x="32204025" y="19893686"/>
              <a:ext cx="1985010" cy="43670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347" b="0" i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2024-08-31</a:t>
              </a:r>
            </a:p>
          </p:txBody>
        </p:sp>
        <p:sp>
          <p:nvSpPr>
            <p:cNvPr id="227" name="act1-card"/>
            <p:cNvSpPr/>
            <p:nvPr/>
          </p:nvSpPr>
          <p:spPr>
            <a:xfrm>
              <a:off x="18888075" y="20907375"/>
              <a:ext cx="15582900" cy="962025"/>
            </a:xfrm>
            <a:prstGeom prst="roundRect">
              <a:avLst>
                <a:gd name="adj" fmla="val 15841"/>
              </a:avLst>
            </a:prstGeom>
            <a:solidFill>
              <a:srgbClr val="FBFCFE"/>
            </a:solidFill>
            <a:ln w="19050">
              <a:solidFill>
                <a:srgbClr val="DCE3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act1-badge"/>
            <p:cNvSpPr/>
            <p:nvPr/>
          </p:nvSpPr>
          <p:spPr>
            <a:xfrm>
              <a:off x="19221450" y="21031200"/>
              <a:ext cx="733425" cy="714375"/>
            </a:xfrm>
            <a:prstGeom prst="roundRect">
              <a:avLst>
                <a:gd name="adj" fmla="val 24000"/>
              </a:avLst>
            </a:prstGeom>
            <a:solidFill>
              <a:srgbClr val="2F6B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act1-num"/>
            <p:cNvSpPr txBox="1"/>
            <p:nvPr/>
          </p:nvSpPr>
          <p:spPr>
            <a:xfrm>
              <a:off x="19289835" y="20864632"/>
              <a:ext cx="977656" cy="95226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97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230" name="act1-txt"/>
            <p:cNvSpPr txBox="1"/>
            <p:nvPr/>
          </p:nvSpPr>
          <p:spPr>
            <a:xfrm>
              <a:off x="20688300" y="21174075"/>
              <a:ext cx="85725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优化产品组合，提升毛利率水平</a:t>
              </a:r>
            </a:p>
          </p:txBody>
        </p:sp>
        <p:grpSp>
          <p:nvGrpSpPr>
            <p:cNvPr id="277" name="act1-cal"/>
            <p:cNvGrpSpPr/>
            <p:nvPr/>
          </p:nvGrpSpPr>
          <p:grpSpPr>
            <a:xfrm>
              <a:off x="31728346" y="21195220"/>
              <a:ext cx="341758" cy="346139"/>
              <a:chOff x="31728346" y="21195220"/>
              <a:chExt cx="341758" cy="346139"/>
            </a:xfrm>
          </p:grpSpPr>
          <p:sp>
            <p:nvSpPr>
              <p:cNvPr id="231" name="Rounded Rectangle 230"/>
              <p:cNvSpPr/>
              <p:nvPr/>
            </p:nvSpPr>
            <p:spPr>
              <a:xfrm>
                <a:off x="31728346" y="21234654"/>
                <a:ext cx="341757" cy="306705"/>
              </a:xfrm>
              <a:prstGeom prst="roundRect">
                <a:avLst>
                  <a:gd name="adj" fmla="val 11428"/>
                </a:avLst>
              </a:prstGeom>
              <a:noFill/>
              <a:ln w="15240">
                <a:solidFill>
                  <a:srgbClr val="2563E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32" name="Connector 231"/>
              <p:cNvCxnSpPr/>
              <p:nvPr/>
            </p:nvCxnSpPr>
            <p:spPr>
              <a:xfrm>
                <a:off x="31728346" y="21313521"/>
                <a:ext cx="341758" cy="0"/>
              </a:xfrm>
              <a:prstGeom prst="line">
                <a:avLst/>
              </a:prstGeom>
              <a:ln w="34175">
                <a:solidFill>
                  <a:srgbClr val="2563E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Connector 232"/>
              <p:cNvCxnSpPr/>
              <p:nvPr/>
            </p:nvCxnSpPr>
            <p:spPr>
              <a:xfrm>
                <a:off x="31811595" y="21195220"/>
                <a:ext cx="0" cy="56960"/>
              </a:xfrm>
              <a:prstGeom prst="line">
                <a:avLst/>
              </a:prstGeom>
              <a:ln w="34175">
                <a:solidFill>
                  <a:srgbClr val="2563E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onnector 233"/>
              <p:cNvCxnSpPr/>
              <p:nvPr/>
            </p:nvCxnSpPr>
            <p:spPr>
              <a:xfrm>
                <a:off x="31986855" y="21195220"/>
                <a:ext cx="0" cy="56960"/>
              </a:xfrm>
              <a:prstGeom prst="line">
                <a:avLst/>
              </a:prstGeom>
              <a:ln w="34175">
                <a:solidFill>
                  <a:srgbClr val="2563E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Oval 234"/>
              <p:cNvSpPr/>
              <p:nvPr/>
            </p:nvSpPr>
            <p:spPr>
              <a:xfrm>
                <a:off x="31796260" y="2135952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Oval 235"/>
              <p:cNvSpPr/>
              <p:nvPr/>
            </p:nvSpPr>
            <p:spPr>
              <a:xfrm>
                <a:off x="31883890" y="2135952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Oval 236"/>
              <p:cNvSpPr/>
              <p:nvPr/>
            </p:nvSpPr>
            <p:spPr>
              <a:xfrm>
                <a:off x="31796260" y="2144715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Oval 237"/>
              <p:cNvSpPr/>
              <p:nvPr/>
            </p:nvSpPr>
            <p:spPr>
              <a:xfrm>
                <a:off x="31883890" y="2144715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9" name="act1-date"/>
            <p:cNvSpPr txBox="1"/>
            <p:nvPr/>
          </p:nvSpPr>
          <p:spPr>
            <a:xfrm>
              <a:off x="32204025" y="21240750"/>
              <a:ext cx="1905000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50" b="0" i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2024-09-30</a:t>
              </a:r>
            </a:p>
          </p:txBody>
        </p:sp>
        <p:sp>
          <p:nvSpPr>
            <p:cNvPr id="240" name="act2-card"/>
            <p:cNvSpPr/>
            <p:nvPr/>
          </p:nvSpPr>
          <p:spPr>
            <a:xfrm>
              <a:off x="18888075" y="22240875"/>
              <a:ext cx="15582900" cy="962025"/>
            </a:xfrm>
            <a:prstGeom prst="roundRect">
              <a:avLst>
                <a:gd name="adj" fmla="val 15841"/>
              </a:avLst>
            </a:prstGeom>
            <a:solidFill>
              <a:srgbClr val="FBFCFE"/>
            </a:solidFill>
            <a:ln w="19050">
              <a:solidFill>
                <a:srgbClr val="DCE3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act2-badge"/>
            <p:cNvSpPr/>
            <p:nvPr/>
          </p:nvSpPr>
          <p:spPr>
            <a:xfrm>
              <a:off x="19221450" y="22364700"/>
              <a:ext cx="733425" cy="714375"/>
            </a:xfrm>
            <a:prstGeom prst="roundRect">
              <a:avLst>
                <a:gd name="adj" fmla="val 24000"/>
              </a:avLst>
            </a:prstGeom>
            <a:solidFill>
              <a:srgbClr val="2F6B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act2-num"/>
            <p:cNvSpPr txBox="1"/>
            <p:nvPr/>
          </p:nvSpPr>
          <p:spPr>
            <a:xfrm>
              <a:off x="19251754" y="22254805"/>
              <a:ext cx="939517" cy="91511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84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243" name="act2-txt"/>
            <p:cNvSpPr txBox="1"/>
            <p:nvPr/>
          </p:nvSpPr>
          <p:spPr>
            <a:xfrm>
              <a:off x="20688300" y="22507575"/>
              <a:ext cx="85725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00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强化回款管理，提升资金周转效率</a:t>
              </a:r>
            </a:p>
          </p:txBody>
        </p:sp>
        <p:grpSp>
          <p:nvGrpSpPr>
            <p:cNvPr id="278" name="act2-cal"/>
            <p:cNvGrpSpPr/>
            <p:nvPr/>
          </p:nvGrpSpPr>
          <p:grpSpPr>
            <a:xfrm>
              <a:off x="31728346" y="22528720"/>
              <a:ext cx="341758" cy="346139"/>
              <a:chOff x="31728346" y="22528720"/>
              <a:chExt cx="341758" cy="346139"/>
            </a:xfrm>
          </p:grpSpPr>
          <p:sp>
            <p:nvSpPr>
              <p:cNvPr id="244" name="Rounded Rectangle 243"/>
              <p:cNvSpPr/>
              <p:nvPr/>
            </p:nvSpPr>
            <p:spPr>
              <a:xfrm>
                <a:off x="31728346" y="22568154"/>
                <a:ext cx="341757" cy="306705"/>
              </a:xfrm>
              <a:prstGeom prst="roundRect">
                <a:avLst>
                  <a:gd name="adj" fmla="val 11428"/>
                </a:avLst>
              </a:prstGeom>
              <a:noFill/>
              <a:ln w="15240">
                <a:solidFill>
                  <a:srgbClr val="2563E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45" name="Connector 244"/>
              <p:cNvCxnSpPr/>
              <p:nvPr/>
            </p:nvCxnSpPr>
            <p:spPr>
              <a:xfrm>
                <a:off x="31728346" y="22647021"/>
                <a:ext cx="341758" cy="0"/>
              </a:xfrm>
              <a:prstGeom prst="line">
                <a:avLst/>
              </a:prstGeom>
              <a:ln w="34175">
                <a:solidFill>
                  <a:srgbClr val="2563E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Connector 245"/>
              <p:cNvCxnSpPr/>
              <p:nvPr/>
            </p:nvCxnSpPr>
            <p:spPr>
              <a:xfrm>
                <a:off x="31811595" y="22528720"/>
                <a:ext cx="0" cy="56960"/>
              </a:xfrm>
              <a:prstGeom prst="line">
                <a:avLst/>
              </a:prstGeom>
              <a:ln w="34175">
                <a:solidFill>
                  <a:srgbClr val="2563E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Connector 246"/>
              <p:cNvCxnSpPr/>
              <p:nvPr/>
            </p:nvCxnSpPr>
            <p:spPr>
              <a:xfrm>
                <a:off x="31986855" y="22528720"/>
                <a:ext cx="0" cy="56960"/>
              </a:xfrm>
              <a:prstGeom prst="line">
                <a:avLst/>
              </a:prstGeom>
              <a:ln w="34175">
                <a:solidFill>
                  <a:srgbClr val="2563E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8" name="Oval 247"/>
              <p:cNvSpPr/>
              <p:nvPr/>
            </p:nvSpPr>
            <p:spPr>
              <a:xfrm>
                <a:off x="31796260" y="2269302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Oval 248"/>
              <p:cNvSpPr/>
              <p:nvPr/>
            </p:nvSpPr>
            <p:spPr>
              <a:xfrm>
                <a:off x="31883890" y="2269302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Oval 249"/>
              <p:cNvSpPr/>
              <p:nvPr/>
            </p:nvSpPr>
            <p:spPr>
              <a:xfrm>
                <a:off x="31796260" y="2278065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Oval 250"/>
              <p:cNvSpPr/>
              <p:nvPr/>
            </p:nvSpPr>
            <p:spPr>
              <a:xfrm>
                <a:off x="31883890" y="2278065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52" name="act2-date"/>
            <p:cNvSpPr txBox="1"/>
            <p:nvPr/>
          </p:nvSpPr>
          <p:spPr>
            <a:xfrm>
              <a:off x="32204025" y="22588538"/>
              <a:ext cx="1905000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50" b="0" i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2024-10-31</a:t>
              </a:r>
            </a:p>
          </p:txBody>
        </p:sp>
        <p:sp>
          <p:nvSpPr>
            <p:cNvPr id="253" name="act3-card"/>
            <p:cNvSpPr/>
            <p:nvPr/>
          </p:nvSpPr>
          <p:spPr>
            <a:xfrm>
              <a:off x="18888075" y="23574375"/>
              <a:ext cx="15582900" cy="962025"/>
            </a:xfrm>
            <a:prstGeom prst="roundRect">
              <a:avLst>
                <a:gd name="adj" fmla="val 15841"/>
              </a:avLst>
            </a:prstGeom>
            <a:solidFill>
              <a:srgbClr val="FBFCFE"/>
            </a:solidFill>
            <a:ln w="19050">
              <a:solidFill>
                <a:srgbClr val="DCE3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act3-badge"/>
            <p:cNvSpPr/>
            <p:nvPr/>
          </p:nvSpPr>
          <p:spPr>
            <a:xfrm>
              <a:off x="19221450" y="23698200"/>
              <a:ext cx="733425" cy="714375"/>
            </a:xfrm>
            <a:prstGeom prst="roundRect">
              <a:avLst>
                <a:gd name="adj" fmla="val 24000"/>
              </a:avLst>
            </a:prstGeom>
            <a:solidFill>
              <a:srgbClr val="2F6B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act3-num"/>
            <p:cNvSpPr txBox="1"/>
            <p:nvPr/>
          </p:nvSpPr>
          <p:spPr>
            <a:xfrm>
              <a:off x="19264551" y="23611284"/>
              <a:ext cx="990124" cy="96440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0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256" name="act3-txt"/>
            <p:cNvSpPr txBox="1"/>
            <p:nvPr/>
          </p:nvSpPr>
          <p:spPr>
            <a:xfrm>
              <a:off x="20688300" y="23837551"/>
              <a:ext cx="8821102" cy="58807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0" i="0">
                  <a:solidFill>
                    <a:srgbClr val="1F2937"/>
                  </a:solidFill>
                  <a:latin typeface="Microsoft YaHei"/>
                  <a:ea typeface="Microsoft YaHei"/>
                  <a:cs typeface="Microsoft YaHei"/>
                </a:rPr>
                <a:t>提升交付能力，保障项目准时交付</a:t>
              </a:r>
            </a:p>
          </p:txBody>
        </p:sp>
        <p:grpSp>
          <p:nvGrpSpPr>
            <p:cNvPr id="279" name="act3-cal"/>
            <p:cNvGrpSpPr/>
            <p:nvPr/>
          </p:nvGrpSpPr>
          <p:grpSpPr>
            <a:xfrm>
              <a:off x="31728346" y="23862220"/>
              <a:ext cx="341758" cy="346139"/>
              <a:chOff x="31728346" y="23862220"/>
              <a:chExt cx="341758" cy="346139"/>
            </a:xfrm>
          </p:grpSpPr>
          <p:sp>
            <p:nvSpPr>
              <p:cNvPr id="257" name="Rounded Rectangle 256"/>
              <p:cNvSpPr/>
              <p:nvPr/>
            </p:nvSpPr>
            <p:spPr>
              <a:xfrm>
                <a:off x="31728346" y="23901654"/>
                <a:ext cx="341757" cy="306705"/>
              </a:xfrm>
              <a:prstGeom prst="roundRect">
                <a:avLst>
                  <a:gd name="adj" fmla="val 11428"/>
                </a:avLst>
              </a:prstGeom>
              <a:noFill/>
              <a:ln w="15240">
                <a:solidFill>
                  <a:srgbClr val="2563E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58" name="Connector 257"/>
              <p:cNvCxnSpPr/>
              <p:nvPr/>
            </p:nvCxnSpPr>
            <p:spPr>
              <a:xfrm>
                <a:off x="31728346" y="23980521"/>
                <a:ext cx="341758" cy="0"/>
              </a:xfrm>
              <a:prstGeom prst="line">
                <a:avLst/>
              </a:prstGeom>
              <a:ln w="34175">
                <a:solidFill>
                  <a:srgbClr val="2563E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Connector 258"/>
              <p:cNvCxnSpPr/>
              <p:nvPr/>
            </p:nvCxnSpPr>
            <p:spPr>
              <a:xfrm>
                <a:off x="31811595" y="23862220"/>
                <a:ext cx="0" cy="56960"/>
              </a:xfrm>
              <a:prstGeom prst="line">
                <a:avLst/>
              </a:prstGeom>
              <a:ln w="34175">
                <a:solidFill>
                  <a:srgbClr val="2563E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Connector 259"/>
              <p:cNvCxnSpPr/>
              <p:nvPr/>
            </p:nvCxnSpPr>
            <p:spPr>
              <a:xfrm>
                <a:off x="31986855" y="23862220"/>
                <a:ext cx="0" cy="56960"/>
              </a:xfrm>
              <a:prstGeom prst="line">
                <a:avLst/>
              </a:prstGeom>
              <a:ln w="34175">
                <a:solidFill>
                  <a:srgbClr val="2563E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1" name="Oval 260"/>
              <p:cNvSpPr/>
              <p:nvPr/>
            </p:nvSpPr>
            <p:spPr>
              <a:xfrm>
                <a:off x="31796260" y="2402652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Oval 261"/>
              <p:cNvSpPr/>
              <p:nvPr/>
            </p:nvSpPr>
            <p:spPr>
              <a:xfrm>
                <a:off x="31883890" y="2402652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Oval 262"/>
              <p:cNvSpPr/>
              <p:nvPr/>
            </p:nvSpPr>
            <p:spPr>
              <a:xfrm>
                <a:off x="31796260" y="2411415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Oval 263"/>
              <p:cNvSpPr/>
              <p:nvPr/>
            </p:nvSpPr>
            <p:spPr>
              <a:xfrm>
                <a:off x="31883890" y="24114157"/>
                <a:ext cx="56960" cy="5696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65" name="act3-date"/>
            <p:cNvSpPr txBox="1"/>
            <p:nvPr/>
          </p:nvSpPr>
          <p:spPr>
            <a:xfrm>
              <a:off x="32204025" y="23894186"/>
              <a:ext cx="1985010" cy="43670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347" b="0" i="0">
                  <a:solidFill>
                    <a:srgbClr val="111827"/>
                  </a:solidFill>
                  <a:latin typeface="Microsoft YaHei"/>
                  <a:ea typeface="Microsoft YaHei"/>
                  <a:cs typeface="Microsoft YaHei"/>
                </a:rPr>
                <a:t>2024-11-30</a:t>
              </a:r>
            </a:p>
          </p:txBody>
        </p:sp>
      </p:grpSp>
      <p:grpSp>
        <p:nvGrpSpPr>
          <p:cNvPr id="286" name="footer"/>
          <p:cNvGrpSpPr/>
          <p:nvPr/>
        </p:nvGrpSpPr>
        <p:grpSpPr>
          <a:xfrm>
            <a:off x="571500" y="24431625"/>
            <a:ext cx="35394900" cy="2428875"/>
            <a:chOff x="571500" y="24431625"/>
            <a:chExt cx="35394900" cy="2428875"/>
          </a:xfrm>
        </p:grpSpPr>
        <p:sp>
          <p:nvSpPr>
            <p:cNvPr id="266" name="footer-band"/>
            <p:cNvSpPr/>
            <p:nvPr/>
          </p:nvSpPr>
          <p:spPr>
            <a:xfrm>
              <a:off x="571500" y="24431625"/>
              <a:ext cx="35394900" cy="2428875"/>
            </a:xfrm>
            <a:prstGeom prst="rect">
              <a:avLst/>
            </a:prstGeom>
            <a:solidFill>
              <a:srgbClr val="F1F6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footer-ic-i-bg"/>
            <p:cNvSpPr/>
            <p:nvPr/>
          </p:nvSpPr>
          <p:spPr>
            <a:xfrm>
              <a:off x="1866900" y="25069800"/>
              <a:ext cx="647700" cy="6477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footer-ic-i"/>
            <p:cNvSpPr txBox="1"/>
            <p:nvPr/>
          </p:nvSpPr>
          <p:spPr>
            <a:xfrm>
              <a:off x="1995468" y="25099937"/>
              <a:ext cx="390563" cy="52075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6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</a:t>
              </a:r>
            </a:p>
          </p:txBody>
        </p:sp>
        <p:sp>
          <p:nvSpPr>
            <p:cNvPr id="269" name="footer-note"/>
            <p:cNvSpPr txBox="1"/>
            <p:nvPr/>
          </p:nvSpPr>
          <p:spPr>
            <a:xfrm>
              <a:off x="2752725" y="25149200"/>
              <a:ext cx="12161520" cy="52699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550" b="0" i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备注说明：本仪表盘用于半年度经营管理汇报，数据为示意内容。</a:t>
              </a:r>
            </a:p>
          </p:txBody>
        </p:sp>
        <p:sp>
          <p:nvSpPr>
            <p:cNvPr id="270" name="footer-ic-c-bg"/>
            <p:cNvSpPr/>
            <p:nvPr/>
          </p:nvSpPr>
          <p:spPr>
            <a:xfrm>
              <a:off x="27374850" y="25069800"/>
              <a:ext cx="647700" cy="6477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footer-ic-c"/>
            <p:cNvSpPr txBox="1"/>
            <p:nvPr/>
          </p:nvSpPr>
          <p:spPr>
            <a:xfrm>
              <a:off x="27503418" y="25099937"/>
              <a:ext cx="390563" cy="52075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39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!</a:t>
              </a:r>
            </a:p>
          </p:txBody>
        </p:sp>
        <p:sp>
          <p:nvSpPr>
            <p:cNvPr id="272" name="footer-time"/>
            <p:cNvSpPr txBox="1"/>
            <p:nvPr/>
          </p:nvSpPr>
          <p:spPr>
            <a:xfrm>
              <a:off x="28422600" y="25148953"/>
              <a:ext cx="6289358" cy="52749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557" b="0" i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更新时间：2024-07-02 10:00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