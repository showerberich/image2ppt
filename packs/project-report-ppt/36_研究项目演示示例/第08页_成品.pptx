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9" name="bg"/>
          <p:cNvGrpSpPr/>
          <p:nvPr/>
        </p:nvGrpSpPr>
        <p:grpSpPr>
          <a:xfrm>
            <a:off x="1333500" y="0"/>
            <a:ext cx="29136975" cy="17145000"/>
            <a:chOff x="1333500" y="0"/>
            <a:chExt cx="29136975" cy="17145000"/>
          </a:xfrm>
        </p:grpSpPr>
        <p:sp>
          <p:nvSpPr>
            <p:cNvPr id="3" name="deco-tr-tri"/>
            <p:cNvSpPr/>
            <p:nvPr/>
          </p:nvSpPr>
          <p:spPr>
            <a:xfrm>
              <a:off x="22021800" y="0"/>
              <a:ext cx="7172325" cy="3590925"/>
            </a:xfrm>
            <a:custGeom>
              <a:avLst/>
              <a:gdLst/>
              <a:ahLst/>
              <a:cxnLst/>
              <a:rect l="l" t="t" r="r" b="b"/>
              <a:pathLst>
                <a:path w="7172325" h="3590925">
                  <a:moveTo>
                    <a:pt x="0" y="0"/>
                  </a:moveTo>
                  <a:lnTo>
                    <a:pt x="7172325" y="0"/>
                  </a:lnTo>
                  <a:lnTo>
                    <a:pt x="3581400" y="3590925"/>
                  </a:lnTo>
                  <a:close/>
                </a:path>
              </a:pathLst>
            </a:cu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eco-r-tri"/>
            <p:cNvSpPr/>
            <p:nvPr/>
          </p:nvSpPr>
          <p:spPr>
            <a:xfrm>
              <a:off x="28413075" y="838200"/>
              <a:ext cx="2057400" cy="7143750"/>
            </a:xfrm>
            <a:custGeom>
              <a:avLst/>
              <a:gdLst/>
              <a:ahLst/>
              <a:cxnLst/>
              <a:rect l="l" t="t" r="r" b="b"/>
              <a:pathLst>
                <a:path w="2057400" h="7143750">
                  <a:moveTo>
                    <a:pt x="1924050" y="0"/>
                  </a:moveTo>
                  <a:lnTo>
                    <a:pt x="2057400" y="0"/>
                  </a:lnTo>
                  <a:lnTo>
                    <a:pt x="2057400" y="7143750"/>
                  </a:lnTo>
                  <a:lnTo>
                    <a:pt x="0" y="5086350"/>
                  </a:lnTo>
                  <a:lnTo>
                    <a:pt x="0" y="2038350"/>
                  </a:lnTo>
                  <a:close/>
                </a:path>
              </a:pathLst>
            </a:custGeom>
            <a:gradFill rotWithShape="1">
              <a:gsLst>
                <a:gs pos="0">
                  <a:srgbClr val="1CAAF6"/>
                </a:gs>
                <a:gs pos="100000">
                  <a:srgbClr val="4A8DF6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eco-bl-light"/>
            <p:cNvSpPr/>
            <p:nvPr/>
          </p:nvSpPr>
          <p:spPr>
            <a:xfrm>
              <a:off x="3429000" y="14592300"/>
              <a:ext cx="1914525" cy="457200"/>
            </a:xfrm>
            <a:custGeom>
              <a:avLst/>
              <a:gdLst/>
              <a:ahLst/>
              <a:cxnLst/>
              <a:rect l="l" t="t" r="r" b="b"/>
              <a:pathLst>
                <a:path w="1914525" h="457200">
                  <a:moveTo>
                    <a:pt x="381000" y="0"/>
                  </a:moveTo>
                  <a:lnTo>
                    <a:pt x="1524000" y="0"/>
                  </a:lnTo>
                  <a:lnTo>
                    <a:pt x="1914525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B7E4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eco-bl-main"/>
            <p:cNvSpPr/>
            <p:nvPr/>
          </p:nvSpPr>
          <p:spPr>
            <a:xfrm>
              <a:off x="1333500" y="15049500"/>
              <a:ext cx="6124575" cy="2095500"/>
            </a:xfrm>
            <a:custGeom>
              <a:avLst/>
              <a:gdLst/>
              <a:ahLst/>
              <a:cxnLst/>
              <a:rect l="l" t="t" r="r" b="b"/>
              <a:pathLst>
                <a:path w="6124575" h="2095500">
                  <a:moveTo>
                    <a:pt x="2095500" y="0"/>
                  </a:moveTo>
                  <a:lnTo>
                    <a:pt x="4010025" y="0"/>
                  </a:lnTo>
                  <a:lnTo>
                    <a:pt x="6124575" y="2095500"/>
                  </a:lnTo>
                  <a:lnTo>
                    <a:pt x="0" y="2095500"/>
                  </a:lnTo>
                  <a:close/>
                </a:path>
              </a:pathLst>
            </a:custGeom>
            <a:gradFill rotWithShape="1">
              <a:gsLst>
                <a:gs pos="0">
                  <a:srgbClr val="3B95F5"/>
                </a:gs>
                <a:gs pos="100000">
                  <a:srgbClr val="1BAAF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eco-br-light"/>
            <p:cNvSpPr/>
            <p:nvPr/>
          </p:nvSpPr>
          <p:spPr>
            <a:xfrm>
              <a:off x="23955375" y="14592300"/>
              <a:ext cx="1876425" cy="457200"/>
            </a:xfrm>
            <a:custGeom>
              <a:avLst/>
              <a:gdLst/>
              <a:ahLst/>
              <a:cxnLst/>
              <a:rect l="l" t="t" r="r" b="b"/>
              <a:pathLst>
                <a:path w="1876425" h="457200">
                  <a:moveTo>
                    <a:pt x="390525" y="0"/>
                  </a:moveTo>
                  <a:lnTo>
                    <a:pt x="1476375" y="0"/>
                  </a:lnTo>
                  <a:lnTo>
                    <a:pt x="1876425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C7D9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eco-br-main"/>
            <p:cNvSpPr/>
            <p:nvPr/>
          </p:nvSpPr>
          <p:spPr>
            <a:xfrm>
              <a:off x="21859875" y="15049500"/>
              <a:ext cx="6096000" cy="2095500"/>
            </a:xfrm>
            <a:custGeom>
              <a:avLst/>
              <a:gdLst/>
              <a:ahLst/>
              <a:cxnLst/>
              <a:rect l="l" t="t" r="r" b="b"/>
              <a:pathLst>
                <a:path w="6096000" h="2095500">
                  <a:moveTo>
                    <a:pt x="2095500" y="0"/>
                  </a:moveTo>
                  <a:lnTo>
                    <a:pt x="3971925" y="0"/>
                  </a:lnTo>
                  <a:lnTo>
                    <a:pt x="6096000" y="2095500"/>
                  </a:lnTo>
                  <a:lnTo>
                    <a:pt x="0" y="2095500"/>
                  </a:lnTo>
                  <a:close/>
                </a:path>
              </a:pathLst>
            </a:cu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ard-L-sh18"/>
            <p:cNvSpPr/>
            <p:nvPr/>
          </p:nvSpPr>
          <p:spPr>
            <a:xfrm>
              <a:off x="1666875" y="3848100"/>
              <a:ext cx="12877800" cy="10953750"/>
            </a:xfrm>
            <a:prstGeom prst="roundRect">
              <a:avLst>
                <a:gd name="adj" fmla="val 2260"/>
              </a:avLst>
            </a:prstGeom>
            <a:solidFill>
              <a:srgbClr val="F6F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-R-sh18"/>
            <p:cNvSpPr/>
            <p:nvPr/>
          </p:nvSpPr>
          <p:spPr>
            <a:xfrm>
              <a:off x="15335250" y="3848100"/>
              <a:ext cx="12868275" cy="10953750"/>
            </a:xfrm>
            <a:prstGeom prst="roundRect">
              <a:avLst>
                <a:gd name="adj" fmla="val 2260"/>
              </a:avLst>
            </a:prstGeom>
            <a:solidFill>
              <a:srgbClr val="F6F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ard-L-sh12"/>
            <p:cNvSpPr/>
            <p:nvPr/>
          </p:nvSpPr>
          <p:spPr>
            <a:xfrm>
              <a:off x="1666875" y="3790950"/>
              <a:ext cx="12877800" cy="10953750"/>
            </a:xfrm>
            <a:prstGeom prst="roundRect">
              <a:avLst>
                <a:gd name="adj" fmla="val 2260"/>
              </a:avLst>
            </a:prstGeom>
            <a:solidFill>
              <a:srgbClr val="EFF0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ard-R-sh12"/>
            <p:cNvSpPr/>
            <p:nvPr/>
          </p:nvSpPr>
          <p:spPr>
            <a:xfrm>
              <a:off x="15335250" y="3790950"/>
              <a:ext cx="12868275" cy="10953750"/>
            </a:xfrm>
            <a:prstGeom prst="roundRect">
              <a:avLst>
                <a:gd name="adj" fmla="val 2260"/>
              </a:avLst>
            </a:prstGeom>
            <a:solidFill>
              <a:srgbClr val="EFF0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ard-L-sh6"/>
            <p:cNvSpPr/>
            <p:nvPr/>
          </p:nvSpPr>
          <p:spPr>
            <a:xfrm>
              <a:off x="1666875" y="3733800"/>
              <a:ext cx="12877800" cy="10953750"/>
            </a:xfrm>
            <a:prstGeom prst="roundRect">
              <a:avLst>
                <a:gd name="adj" fmla="val 2260"/>
              </a:avLst>
            </a:prstGeom>
            <a:solidFill>
              <a:srgbClr val="E8E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rd-R-sh6"/>
            <p:cNvSpPr/>
            <p:nvPr/>
          </p:nvSpPr>
          <p:spPr>
            <a:xfrm>
              <a:off x="15335250" y="3733800"/>
              <a:ext cx="12868275" cy="10953750"/>
            </a:xfrm>
            <a:prstGeom prst="roundRect">
              <a:avLst>
                <a:gd name="adj" fmla="val 2260"/>
              </a:avLst>
            </a:prstGeom>
            <a:solidFill>
              <a:srgbClr val="E8E9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content"/>
          <p:cNvGrpSpPr/>
          <p:nvPr/>
        </p:nvGrpSpPr>
        <p:grpSpPr>
          <a:xfrm>
            <a:off x="1000125" y="1285875"/>
            <a:ext cx="26498550" cy="13020675"/>
            <a:chOff x="1000125" y="1285875"/>
            <a:chExt cx="26498550" cy="13020675"/>
          </a:xfrm>
        </p:grpSpPr>
        <p:sp>
          <p:nvSpPr>
            <p:cNvPr id="15" name="Freeform 14"/>
            <p:cNvSpPr/>
            <p:nvPr/>
          </p:nvSpPr>
          <p:spPr>
            <a:xfrm>
              <a:off x="1000125" y="1285875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666750" y="0"/>
                  </a:moveTo>
                  <a:lnTo>
                    <a:pt x="840105" y="493395"/>
                  </a:lnTo>
                  <a:lnTo>
                    <a:pt x="1333500" y="666750"/>
                  </a:lnTo>
                  <a:lnTo>
                    <a:pt x="840105" y="840105"/>
                  </a:lnTo>
                  <a:lnTo>
                    <a:pt x="666750" y="1333500"/>
                  </a:lnTo>
                  <a:lnTo>
                    <a:pt x="493395" y="840105"/>
                  </a:lnTo>
                  <a:lnTo>
                    <a:pt x="0" y="666750"/>
                  </a:lnTo>
                  <a:lnTo>
                    <a:pt x="493395" y="493395"/>
                  </a:lnTo>
                  <a:close/>
                </a:path>
              </a:pathLst>
            </a:custGeom>
            <a:solidFill>
              <a:srgbClr val="4A90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hdr-title"/>
            <p:cNvSpPr txBox="1"/>
            <p:nvPr/>
          </p:nvSpPr>
          <p:spPr>
            <a:xfrm>
              <a:off x="2733675" y="1524000"/>
              <a:ext cx="6102096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600" b="1" i="0">
                  <a:solidFill>
                    <a:srgbClr val="1F1F1F"/>
                  </a:solidFill>
                  <a:latin typeface="Microsoft YaHei"/>
                  <a:ea typeface="Microsoft YaHei"/>
                  <a:cs typeface="Microsoft YaHei"/>
                </a:rPr>
                <a:t>数据可视化解读</a:t>
              </a:r>
            </a:p>
          </p:txBody>
        </p:sp>
        <p:sp>
          <p:nvSpPr>
            <p:cNvPr id="17" name="bar-L-fold-l"/>
            <p:cNvSpPr/>
            <p:nvPr/>
          </p:nvSpPr>
          <p:spPr>
            <a:xfrm>
              <a:off x="3762375" y="3343275"/>
              <a:ext cx="314325" cy="342900"/>
            </a:xfrm>
            <a:custGeom>
              <a:avLst/>
              <a:gdLst/>
              <a:ahLst/>
              <a:cxnLst/>
              <a:rect l="l" t="t" r="r" b="b"/>
              <a:pathLst>
                <a:path w="314325" h="342900">
                  <a:moveTo>
                    <a:pt x="314325" y="0"/>
                  </a:moveTo>
                  <a:lnTo>
                    <a:pt x="0" y="342900"/>
                  </a:lnTo>
                  <a:lnTo>
                    <a:pt x="314325" y="342900"/>
                  </a:lnTo>
                  <a:close/>
                </a:path>
              </a:pathLst>
            </a:custGeom>
            <a:solidFill>
              <a:srgbClr val="3265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ar-L-fold-r"/>
            <p:cNvSpPr/>
            <p:nvPr/>
          </p:nvSpPr>
          <p:spPr>
            <a:xfrm>
              <a:off x="12182475" y="3343275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3265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ar-L"/>
            <p:cNvSpPr/>
            <p:nvPr/>
          </p:nvSpPr>
          <p:spPr>
            <a:xfrm>
              <a:off x="4076700" y="3343275"/>
              <a:ext cx="8096250" cy="1200150"/>
            </a:xfrm>
            <a:prstGeom prst="roundRect">
              <a:avLst>
                <a:gd name="adj" fmla="val 38095"/>
              </a:avLst>
            </a:pr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ar-L-text"/>
            <p:cNvSpPr txBox="1"/>
            <p:nvPr/>
          </p:nvSpPr>
          <p:spPr>
            <a:xfrm>
              <a:off x="5082540" y="3343275"/>
              <a:ext cx="6141720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时长与焦虑：剂量-反应关系</a:t>
              </a:r>
            </a:p>
          </p:txBody>
        </p:sp>
        <p:sp>
          <p:nvSpPr>
            <p:cNvPr id="21" name="bar-R-fold-l"/>
            <p:cNvSpPr/>
            <p:nvPr/>
          </p:nvSpPr>
          <p:spPr>
            <a:xfrm>
              <a:off x="17354550" y="3343275"/>
              <a:ext cx="314325" cy="342900"/>
            </a:xfrm>
            <a:custGeom>
              <a:avLst/>
              <a:gdLst/>
              <a:ahLst/>
              <a:cxnLst/>
              <a:rect l="l" t="t" r="r" b="b"/>
              <a:pathLst>
                <a:path w="314325" h="342900">
                  <a:moveTo>
                    <a:pt x="314325" y="0"/>
                  </a:moveTo>
                  <a:lnTo>
                    <a:pt x="0" y="342900"/>
                  </a:lnTo>
                  <a:lnTo>
                    <a:pt x="314325" y="342900"/>
                  </a:lnTo>
                  <a:close/>
                </a:path>
              </a:pathLst>
            </a:custGeom>
            <a:solidFill>
              <a:srgbClr val="3265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ar-R-fold-r"/>
            <p:cNvSpPr/>
            <p:nvPr/>
          </p:nvSpPr>
          <p:spPr>
            <a:xfrm>
              <a:off x="25765125" y="3343275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3265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bar-R"/>
            <p:cNvSpPr/>
            <p:nvPr/>
          </p:nvSpPr>
          <p:spPr>
            <a:xfrm>
              <a:off x="17668875" y="3343275"/>
              <a:ext cx="8096250" cy="1200150"/>
            </a:xfrm>
            <a:prstGeom prst="roundRect">
              <a:avLst>
                <a:gd name="adj" fmla="val 38095"/>
              </a:avLst>
            </a:prstGeom>
            <a:solidFill>
              <a:srgbClr val="488D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bar-R-text"/>
            <p:cNvSpPr txBox="1"/>
            <p:nvPr/>
          </p:nvSpPr>
          <p:spPr>
            <a:xfrm>
              <a:off x="18964275" y="3343275"/>
              <a:ext cx="5619750" cy="1200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青少年使用动机分布占比</a:t>
              </a:r>
            </a:p>
          </p:txBody>
        </p:sp>
        <p:cxnSp>
          <p:nvCxnSpPr>
            <p:cNvPr id="25" name="grid-10"/>
            <p:cNvCxnSpPr/>
            <p:nvPr/>
          </p:nvCxnSpPr>
          <p:spPr>
            <a:xfrm>
              <a:off x="3448050" y="5534025"/>
              <a:ext cx="9553575" cy="0"/>
            </a:xfrm>
            <a:prstGeom prst="line">
              <a:avLst/>
            </a:prstGeom>
            <a:ln w="19050">
              <a:solidFill>
                <a:srgbClr val="DCDC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rid-8"/>
            <p:cNvCxnSpPr/>
            <p:nvPr/>
          </p:nvCxnSpPr>
          <p:spPr>
            <a:xfrm>
              <a:off x="3448050" y="6467475"/>
              <a:ext cx="9553575" cy="0"/>
            </a:xfrm>
            <a:prstGeom prst="line">
              <a:avLst/>
            </a:prstGeom>
            <a:ln w="19050">
              <a:solidFill>
                <a:srgbClr val="DCDC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rid-6"/>
            <p:cNvCxnSpPr/>
            <p:nvPr/>
          </p:nvCxnSpPr>
          <p:spPr>
            <a:xfrm>
              <a:off x="3448050" y="7410450"/>
              <a:ext cx="9553575" cy="0"/>
            </a:xfrm>
            <a:prstGeom prst="line">
              <a:avLst/>
            </a:prstGeom>
            <a:ln w="19050">
              <a:solidFill>
                <a:srgbClr val="DCDC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rid-4"/>
            <p:cNvCxnSpPr/>
            <p:nvPr/>
          </p:nvCxnSpPr>
          <p:spPr>
            <a:xfrm>
              <a:off x="3448050" y="8353425"/>
              <a:ext cx="9553575" cy="0"/>
            </a:xfrm>
            <a:prstGeom prst="line">
              <a:avLst/>
            </a:prstGeom>
            <a:ln w="19050">
              <a:solidFill>
                <a:srgbClr val="DCDC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rid-2"/>
            <p:cNvCxnSpPr/>
            <p:nvPr/>
          </p:nvCxnSpPr>
          <p:spPr>
            <a:xfrm>
              <a:off x="3448050" y="9286875"/>
              <a:ext cx="9553575" cy="0"/>
            </a:xfrm>
            <a:prstGeom prst="line">
              <a:avLst/>
            </a:prstGeom>
            <a:ln w="19050">
              <a:solidFill>
                <a:srgbClr val="DCDC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axis-y"/>
            <p:cNvCxnSpPr/>
            <p:nvPr/>
          </p:nvCxnSpPr>
          <p:spPr>
            <a:xfrm>
              <a:off x="3448050" y="5429250"/>
              <a:ext cx="0" cy="4800600"/>
            </a:xfrm>
            <a:prstGeom prst="line">
              <a:avLst/>
            </a:prstGeom>
            <a:ln w="28575">
              <a:solidFill>
                <a:srgbClr val="33333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axis-x"/>
            <p:cNvCxnSpPr/>
            <p:nvPr/>
          </p:nvCxnSpPr>
          <p:spPr>
            <a:xfrm>
              <a:off x="3448050" y="10229850"/>
              <a:ext cx="9553575" cy="0"/>
            </a:xfrm>
            <a:prstGeom prst="line">
              <a:avLst/>
            </a:prstGeom>
            <a:ln w="28575">
              <a:solidFill>
                <a:srgbClr val="33333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ylab-10"/>
            <p:cNvSpPr txBox="1"/>
            <p:nvPr/>
          </p:nvSpPr>
          <p:spPr>
            <a:xfrm>
              <a:off x="2343150" y="5257800"/>
              <a:ext cx="762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15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10</a:t>
              </a:r>
            </a:p>
          </p:txBody>
        </p:sp>
        <p:sp>
          <p:nvSpPr>
            <p:cNvPr id="33" name="ylab-8"/>
            <p:cNvSpPr txBox="1"/>
            <p:nvPr/>
          </p:nvSpPr>
          <p:spPr>
            <a:xfrm>
              <a:off x="2343150" y="6200775"/>
              <a:ext cx="762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15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</a:p>
          </p:txBody>
        </p:sp>
        <p:sp>
          <p:nvSpPr>
            <p:cNvPr id="34" name="ylab-6"/>
            <p:cNvSpPr txBox="1"/>
            <p:nvPr/>
          </p:nvSpPr>
          <p:spPr>
            <a:xfrm>
              <a:off x="2343150" y="7143750"/>
              <a:ext cx="762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15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35" name="ylab-4"/>
            <p:cNvSpPr txBox="1"/>
            <p:nvPr/>
          </p:nvSpPr>
          <p:spPr>
            <a:xfrm>
              <a:off x="2343150" y="8077200"/>
              <a:ext cx="762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15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36" name="ylab-2"/>
            <p:cNvSpPr txBox="1"/>
            <p:nvPr/>
          </p:nvSpPr>
          <p:spPr>
            <a:xfrm>
              <a:off x="2343150" y="9020175"/>
              <a:ext cx="762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15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37" name="ylab-0"/>
            <p:cNvSpPr txBox="1"/>
            <p:nvPr/>
          </p:nvSpPr>
          <p:spPr>
            <a:xfrm>
              <a:off x="2343150" y="9963150"/>
              <a:ext cx="76200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315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38" name="bar-1"/>
            <p:cNvSpPr/>
            <p:nvPr/>
          </p:nvSpPr>
          <p:spPr>
            <a:xfrm>
              <a:off x="3743325" y="8772525"/>
              <a:ext cx="1809750" cy="1457325"/>
            </a:xfrm>
            <a:prstGeom prst="rect">
              <a:avLst/>
            </a:prstGeom>
            <a:solidFill>
              <a:srgbClr val="57C2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bar-lab-1"/>
            <p:cNvSpPr txBox="1"/>
            <p:nvPr/>
          </p:nvSpPr>
          <p:spPr>
            <a:xfrm>
              <a:off x="3552825" y="8277225"/>
              <a:ext cx="2190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45B5AD"/>
                  </a:solidFill>
                  <a:latin typeface="Microsoft YaHei"/>
                  <a:ea typeface="Microsoft YaHei"/>
                  <a:cs typeface="Microsoft YaHei"/>
                </a:rPr>
                <a:t>3.1</a:t>
              </a:r>
            </a:p>
          </p:txBody>
        </p:sp>
        <p:sp>
          <p:nvSpPr>
            <p:cNvPr id="40" name="bar-2"/>
            <p:cNvSpPr/>
            <p:nvPr/>
          </p:nvSpPr>
          <p:spPr>
            <a:xfrm>
              <a:off x="6124575" y="8115300"/>
              <a:ext cx="1809750" cy="2114550"/>
            </a:xfrm>
            <a:prstGeom prst="rect">
              <a:avLst/>
            </a:prstGeom>
            <a:solidFill>
              <a:srgbClr val="57C2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bar-lab-2"/>
            <p:cNvSpPr txBox="1"/>
            <p:nvPr/>
          </p:nvSpPr>
          <p:spPr>
            <a:xfrm>
              <a:off x="5934075" y="7620000"/>
              <a:ext cx="2190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45B5AD"/>
                  </a:solidFill>
                  <a:latin typeface="Microsoft YaHei"/>
                  <a:ea typeface="Microsoft YaHei"/>
                  <a:cs typeface="Microsoft YaHei"/>
                </a:rPr>
                <a:t>4.5</a:t>
              </a:r>
            </a:p>
          </p:txBody>
        </p:sp>
        <p:sp>
          <p:nvSpPr>
            <p:cNvPr id="42" name="bar-3"/>
            <p:cNvSpPr/>
            <p:nvPr/>
          </p:nvSpPr>
          <p:spPr>
            <a:xfrm>
              <a:off x="8505825" y="7038975"/>
              <a:ext cx="1809750" cy="3190875"/>
            </a:xfrm>
            <a:prstGeom prst="rect">
              <a:avLst/>
            </a:prstGeom>
            <a:solidFill>
              <a:srgbClr val="57C2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bar-lab-3"/>
            <p:cNvSpPr txBox="1"/>
            <p:nvPr/>
          </p:nvSpPr>
          <p:spPr>
            <a:xfrm>
              <a:off x="8315325" y="6543675"/>
              <a:ext cx="2190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45B5AD"/>
                  </a:solidFill>
                  <a:latin typeface="Microsoft YaHei"/>
                  <a:ea typeface="Microsoft YaHei"/>
                  <a:cs typeface="Microsoft YaHei"/>
                </a:rPr>
                <a:t>6.8</a:t>
              </a:r>
            </a:p>
          </p:txBody>
        </p:sp>
        <p:sp>
          <p:nvSpPr>
            <p:cNvPr id="44" name="bar-4"/>
            <p:cNvSpPr/>
            <p:nvPr/>
          </p:nvSpPr>
          <p:spPr>
            <a:xfrm>
              <a:off x="10887075" y="5905500"/>
              <a:ext cx="1809750" cy="4324350"/>
            </a:xfrm>
            <a:prstGeom prst="rect">
              <a:avLst/>
            </a:prstGeom>
            <a:solidFill>
              <a:srgbClr val="57C2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bar-lab-4"/>
            <p:cNvSpPr txBox="1"/>
            <p:nvPr/>
          </p:nvSpPr>
          <p:spPr>
            <a:xfrm>
              <a:off x="10696575" y="5410200"/>
              <a:ext cx="219075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45B5AD"/>
                  </a:solidFill>
                  <a:latin typeface="Microsoft YaHei"/>
                  <a:ea typeface="Microsoft YaHei"/>
                  <a:cs typeface="Microsoft YaHei"/>
                </a:rPr>
                <a:t>9.2</a:t>
              </a:r>
            </a:p>
          </p:txBody>
        </p:sp>
        <p:sp>
          <p:nvSpPr>
            <p:cNvPr id="46" name="xlab-1"/>
            <p:cNvSpPr txBox="1"/>
            <p:nvPr/>
          </p:nvSpPr>
          <p:spPr>
            <a:xfrm>
              <a:off x="3981450" y="10458450"/>
              <a:ext cx="14763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&lt;1小时</a:t>
              </a:r>
            </a:p>
          </p:txBody>
        </p:sp>
        <p:sp>
          <p:nvSpPr>
            <p:cNvPr id="47" name="xlab-2"/>
            <p:cNvSpPr txBox="1"/>
            <p:nvPr/>
          </p:nvSpPr>
          <p:spPr>
            <a:xfrm>
              <a:off x="6296025" y="10458450"/>
              <a:ext cx="15906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1-2小时</a:t>
              </a:r>
            </a:p>
          </p:txBody>
        </p:sp>
        <p:sp>
          <p:nvSpPr>
            <p:cNvPr id="48" name="xlab-3"/>
            <p:cNvSpPr txBox="1"/>
            <p:nvPr/>
          </p:nvSpPr>
          <p:spPr>
            <a:xfrm>
              <a:off x="8667750" y="10458450"/>
              <a:ext cx="160972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2-4小时</a:t>
              </a:r>
            </a:p>
          </p:txBody>
        </p:sp>
        <p:sp>
          <p:nvSpPr>
            <p:cNvPr id="49" name="xlab-4"/>
            <p:cNvSpPr txBox="1"/>
            <p:nvPr/>
          </p:nvSpPr>
          <p:spPr>
            <a:xfrm>
              <a:off x="11134725" y="10458450"/>
              <a:ext cx="14763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4A4A4A"/>
                  </a:solidFill>
                  <a:latin typeface="Microsoft YaHei"/>
                  <a:ea typeface="Microsoft YaHei"/>
                  <a:cs typeface="Microsoft YaHei"/>
                </a:rPr>
                <a:t>&gt;4小时</a:t>
              </a:r>
            </a:p>
          </p:txBody>
        </p:sp>
        <p:sp>
          <p:nvSpPr>
            <p:cNvPr id="50" name="concl-L"/>
            <p:cNvSpPr/>
            <p:nvPr/>
          </p:nvSpPr>
          <p:spPr>
            <a:xfrm>
              <a:off x="2343150" y="11849100"/>
              <a:ext cx="11468100" cy="2457450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9050">
              <a:solidFill>
                <a:srgbClr val="D2D9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concl-L-h"/>
            <p:cNvSpPr txBox="1"/>
            <p:nvPr/>
          </p:nvSpPr>
          <p:spPr>
            <a:xfrm>
              <a:off x="2571750" y="12306300"/>
              <a:ext cx="110109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1" i="0">
                  <a:solidFill>
                    <a:srgbClr val="222222"/>
                  </a:solidFill>
                  <a:latin typeface="Microsoft YaHei"/>
                  <a:ea typeface="Microsoft YaHei"/>
                  <a:cs typeface="Microsoft YaHei"/>
                </a:rPr>
                <a:t>关键趋势洞察：</a:t>
              </a:r>
            </a:p>
          </p:txBody>
        </p:sp>
        <p:sp>
          <p:nvSpPr>
            <p:cNvPr id="52" name="concl-L-1"/>
            <p:cNvSpPr txBox="1"/>
            <p:nvPr/>
          </p:nvSpPr>
          <p:spPr>
            <a:xfrm>
              <a:off x="2571750" y="12934950"/>
              <a:ext cx="1101090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数据呈现显著的正相关：随着社交媒体使用时长的增加，青少年的</a:t>
              </a:r>
            </a:p>
          </p:txBody>
        </p:sp>
        <p:sp>
          <p:nvSpPr>
            <p:cNvPr id="53" name="concl-L-2"/>
            <p:cNvSpPr txBox="1"/>
            <p:nvPr/>
          </p:nvSpPr>
          <p:spPr>
            <a:xfrm>
              <a:off x="2571750" y="13535025"/>
              <a:ext cx="1101090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平均焦虑水平呈现阶梯式上升，验证了过度使用的负面影响。</a:t>
              </a:r>
            </a:p>
          </p:txBody>
        </p:sp>
        <p:sp>
          <p:nvSpPr>
            <p:cNvPr id="54" name="concl-R"/>
            <p:cNvSpPr/>
            <p:nvPr/>
          </p:nvSpPr>
          <p:spPr>
            <a:xfrm>
              <a:off x="16040100" y="11849100"/>
              <a:ext cx="11458575" cy="2457450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9050">
              <a:solidFill>
                <a:srgbClr val="D2D9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oncl-R-h"/>
            <p:cNvSpPr txBox="1"/>
            <p:nvPr/>
          </p:nvSpPr>
          <p:spPr>
            <a:xfrm>
              <a:off x="16192500" y="12306300"/>
              <a:ext cx="111442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1" i="0">
                  <a:solidFill>
                    <a:srgbClr val="222222"/>
                  </a:solidFill>
                  <a:latin typeface="Microsoft YaHei"/>
                  <a:ea typeface="Microsoft YaHei"/>
                  <a:cs typeface="Microsoft YaHei"/>
                </a:rPr>
                <a:t>风险来源分析：</a:t>
              </a:r>
            </a:p>
          </p:txBody>
        </p:sp>
        <p:sp>
          <p:nvSpPr>
            <p:cNvPr id="56" name="concl-R-1"/>
            <p:cNvSpPr txBox="1"/>
            <p:nvPr/>
          </p:nvSpPr>
          <p:spPr>
            <a:xfrm>
              <a:off x="16192500" y="12934950"/>
              <a:ext cx="1114425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“社交互动”（45%）与“娱乐消遣”（30%）是两大核心动机。其中</a:t>
              </a:r>
            </a:p>
          </p:txBody>
        </p:sp>
        <p:sp>
          <p:nvSpPr>
            <p:cNvPr id="57" name="concl-R-2"/>
            <p:cNvSpPr txBox="1"/>
            <p:nvPr/>
          </p:nvSpPr>
          <p:spPr>
            <a:xfrm>
              <a:off x="16192500" y="13535025"/>
              <a:ext cx="11144250" cy="514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娱乐消遣类的被动浏览与消费行为，是心理健康风险潜在来源。</a:t>
              </a:r>
            </a:p>
          </p:txBody>
        </p:sp>
        <p:sp>
          <p:nvSpPr>
            <p:cNvPr id="58" name="pie-gold"/>
            <p:cNvSpPr/>
            <p:nvPr/>
          </p:nvSpPr>
          <p:spPr>
            <a:xfrm>
              <a:off x="17626012" y="8134350"/>
              <a:ext cx="5872163" cy="3009900"/>
            </a:xfrm>
            <a:custGeom>
              <a:avLst/>
              <a:gdLst/>
              <a:ahLst/>
              <a:cxnLst/>
              <a:rect l="l" t="t" r="r" b="b"/>
              <a:pathLst>
                <a:path w="5872163" h="3009900">
                  <a:moveTo>
                    <a:pt x="2862263" y="0"/>
                  </a:moveTo>
                  <a:lnTo>
                    <a:pt x="5872163" y="0"/>
                  </a:lnTo>
                  <a:lnTo>
                    <a:pt x="5870258" y="104775"/>
                  </a:lnTo>
                  <a:lnTo>
                    <a:pt x="5864543" y="209550"/>
                  </a:lnTo>
                  <a:lnTo>
                    <a:pt x="5855970" y="314325"/>
                  </a:lnTo>
                  <a:lnTo>
                    <a:pt x="5842636" y="419100"/>
                  </a:lnTo>
                  <a:lnTo>
                    <a:pt x="5826443" y="522922"/>
                  </a:lnTo>
                  <a:lnTo>
                    <a:pt x="5806440" y="625792"/>
                  </a:lnTo>
                  <a:lnTo>
                    <a:pt x="5782628" y="727710"/>
                  </a:lnTo>
                  <a:lnTo>
                    <a:pt x="5755958" y="829628"/>
                  </a:lnTo>
                  <a:lnTo>
                    <a:pt x="5724526" y="929640"/>
                  </a:lnTo>
                  <a:lnTo>
                    <a:pt x="5690236" y="1029652"/>
                  </a:lnTo>
                  <a:lnTo>
                    <a:pt x="5653088" y="1127760"/>
                  </a:lnTo>
                  <a:lnTo>
                    <a:pt x="5612130" y="1223962"/>
                  </a:lnTo>
                  <a:lnTo>
                    <a:pt x="5567363" y="1319212"/>
                  </a:lnTo>
                  <a:lnTo>
                    <a:pt x="5519738" y="1413510"/>
                  </a:lnTo>
                  <a:lnTo>
                    <a:pt x="5469256" y="1504950"/>
                  </a:lnTo>
                  <a:lnTo>
                    <a:pt x="5414963" y="1595438"/>
                  </a:lnTo>
                  <a:lnTo>
                    <a:pt x="5357813" y="1683068"/>
                  </a:lnTo>
                  <a:lnTo>
                    <a:pt x="5296853" y="1768792"/>
                  </a:lnTo>
                  <a:lnTo>
                    <a:pt x="5233988" y="1852612"/>
                  </a:lnTo>
                  <a:lnTo>
                    <a:pt x="5168266" y="1934528"/>
                  </a:lnTo>
                  <a:lnTo>
                    <a:pt x="5098733" y="2013585"/>
                  </a:lnTo>
                  <a:lnTo>
                    <a:pt x="5027296" y="2090738"/>
                  </a:lnTo>
                  <a:lnTo>
                    <a:pt x="4953000" y="2165032"/>
                  </a:lnTo>
                  <a:lnTo>
                    <a:pt x="4875848" y="2236470"/>
                  </a:lnTo>
                  <a:lnTo>
                    <a:pt x="4796790" y="2306002"/>
                  </a:lnTo>
                  <a:lnTo>
                    <a:pt x="4714876" y="2371725"/>
                  </a:lnTo>
                  <a:lnTo>
                    <a:pt x="4631056" y="2434590"/>
                  </a:lnTo>
                  <a:lnTo>
                    <a:pt x="4545330" y="2495550"/>
                  </a:lnTo>
                  <a:lnTo>
                    <a:pt x="4457700" y="2552700"/>
                  </a:lnTo>
                  <a:lnTo>
                    <a:pt x="4367213" y="2606992"/>
                  </a:lnTo>
                  <a:lnTo>
                    <a:pt x="4275773" y="2657475"/>
                  </a:lnTo>
                  <a:lnTo>
                    <a:pt x="4181476" y="2705100"/>
                  </a:lnTo>
                  <a:lnTo>
                    <a:pt x="4086226" y="2749868"/>
                  </a:lnTo>
                  <a:lnTo>
                    <a:pt x="3990023" y="2790825"/>
                  </a:lnTo>
                  <a:lnTo>
                    <a:pt x="3891916" y="2827972"/>
                  </a:lnTo>
                  <a:lnTo>
                    <a:pt x="3791903" y="2862262"/>
                  </a:lnTo>
                  <a:lnTo>
                    <a:pt x="3691890" y="2893695"/>
                  </a:lnTo>
                  <a:lnTo>
                    <a:pt x="3589973" y="2920365"/>
                  </a:lnTo>
                  <a:lnTo>
                    <a:pt x="3488056" y="2944178"/>
                  </a:lnTo>
                  <a:lnTo>
                    <a:pt x="3385186" y="2964180"/>
                  </a:lnTo>
                  <a:lnTo>
                    <a:pt x="3281363" y="2980372"/>
                  </a:lnTo>
                  <a:lnTo>
                    <a:pt x="3176588" y="2993708"/>
                  </a:lnTo>
                  <a:lnTo>
                    <a:pt x="3071813" y="3002280"/>
                  </a:lnTo>
                  <a:lnTo>
                    <a:pt x="2967038" y="3007995"/>
                  </a:lnTo>
                  <a:lnTo>
                    <a:pt x="2862263" y="3009900"/>
                  </a:lnTo>
                  <a:lnTo>
                    <a:pt x="2757488" y="3007995"/>
                  </a:lnTo>
                  <a:lnTo>
                    <a:pt x="2652713" y="3002280"/>
                  </a:lnTo>
                  <a:lnTo>
                    <a:pt x="2547938" y="2993708"/>
                  </a:lnTo>
                  <a:lnTo>
                    <a:pt x="2443163" y="2980372"/>
                  </a:lnTo>
                  <a:lnTo>
                    <a:pt x="2339340" y="2964180"/>
                  </a:lnTo>
                  <a:lnTo>
                    <a:pt x="2236470" y="2944178"/>
                  </a:lnTo>
                  <a:lnTo>
                    <a:pt x="2134553" y="2920365"/>
                  </a:lnTo>
                  <a:lnTo>
                    <a:pt x="2032636" y="2893695"/>
                  </a:lnTo>
                  <a:lnTo>
                    <a:pt x="1932623" y="2862262"/>
                  </a:lnTo>
                  <a:lnTo>
                    <a:pt x="1832610" y="2827972"/>
                  </a:lnTo>
                  <a:lnTo>
                    <a:pt x="1734503" y="2790825"/>
                  </a:lnTo>
                  <a:lnTo>
                    <a:pt x="1638300" y="2749868"/>
                  </a:lnTo>
                  <a:lnTo>
                    <a:pt x="1543050" y="2705100"/>
                  </a:lnTo>
                  <a:lnTo>
                    <a:pt x="1448753" y="2657475"/>
                  </a:lnTo>
                  <a:lnTo>
                    <a:pt x="1357313" y="2606992"/>
                  </a:lnTo>
                  <a:lnTo>
                    <a:pt x="1266826" y="2552700"/>
                  </a:lnTo>
                  <a:lnTo>
                    <a:pt x="1179196" y="2495550"/>
                  </a:lnTo>
                  <a:lnTo>
                    <a:pt x="1093470" y="2434590"/>
                  </a:lnTo>
                  <a:lnTo>
                    <a:pt x="1009650" y="2371725"/>
                  </a:lnTo>
                  <a:lnTo>
                    <a:pt x="927736" y="2306002"/>
                  </a:lnTo>
                  <a:lnTo>
                    <a:pt x="848678" y="2236470"/>
                  </a:lnTo>
                  <a:lnTo>
                    <a:pt x="771526" y="2165032"/>
                  </a:lnTo>
                  <a:lnTo>
                    <a:pt x="697230" y="2090738"/>
                  </a:lnTo>
                  <a:lnTo>
                    <a:pt x="625793" y="2013585"/>
                  </a:lnTo>
                  <a:lnTo>
                    <a:pt x="556260" y="1934528"/>
                  </a:lnTo>
                  <a:lnTo>
                    <a:pt x="490538" y="1852612"/>
                  </a:lnTo>
                  <a:lnTo>
                    <a:pt x="427673" y="1768792"/>
                  </a:lnTo>
                  <a:lnTo>
                    <a:pt x="366713" y="1683068"/>
                  </a:lnTo>
                  <a:lnTo>
                    <a:pt x="309563" y="1595438"/>
                  </a:lnTo>
                  <a:lnTo>
                    <a:pt x="255270" y="1504950"/>
                  </a:lnTo>
                  <a:lnTo>
                    <a:pt x="204788" y="1413510"/>
                  </a:lnTo>
                  <a:lnTo>
                    <a:pt x="157163" y="1319212"/>
                  </a:lnTo>
                  <a:lnTo>
                    <a:pt x="112396" y="1223962"/>
                  </a:lnTo>
                  <a:lnTo>
                    <a:pt x="71438" y="1127760"/>
                  </a:lnTo>
                  <a:lnTo>
                    <a:pt x="34290" y="1029652"/>
                  </a:lnTo>
                  <a:lnTo>
                    <a:pt x="0" y="929640"/>
                  </a:lnTo>
                  <a:close/>
                </a:path>
              </a:pathLst>
            </a:custGeom>
            <a:solidFill>
              <a:srgbClr val="D7AF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pie-gold-lab"/>
            <p:cNvSpPr txBox="1"/>
            <p:nvPr/>
          </p:nvSpPr>
          <p:spPr>
            <a:xfrm>
              <a:off x="20056951" y="9373122"/>
              <a:ext cx="1333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45%</a:t>
              </a:r>
            </a:p>
          </p:txBody>
        </p:sp>
        <p:sp>
          <p:nvSpPr>
            <p:cNvPr id="60" name="pie-teal"/>
            <p:cNvSpPr/>
            <p:nvPr/>
          </p:nvSpPr>
          <p:spPr>
            <a:xfrm>
              <a:off x="17478375" y="5124450"/>
              <a:ext cx="3009900" cy="3939540"/>
            </a:xfrm>
            <a:custGeom>
              <a:avLst/>
              <a:gdLst/>
              <a:ahLst/>
              <a:cxnLst/>
              <a:rect l="l" t="t" r="r" b="b"/>
              <a:pathLst>
                <a:path w="3009900" h="3939540">
                  <a:moveTo>
                    <a:pt x="3009900" y="3009900"/>
                  </a:moveTo>
                  <a:lnTo>
                    <a:pt x="147637" y="3939540"/>
                  </a:lnTo>
                  <a:lnTo>
                    <a:pt x="116205" y="3839528"/>
                  </a:lnTo>
                  <a:lnTo>
                    <a:pt x="89535" y="3737610"/>
                  </a:lnTo>
                  <a:lnTo>
                    <a:pt x="65723" y="3635692"/>
                  </a:lnTo>
                  <a:lnTo>
                    <a:pt x="45720" y="3532822"/>
                  </a:lnTo>
                  <a:lnTo>
                    <a:pt x="29527" y="3429000"/>
                  </a:lnTo>
                  <a:lnTo>
                    <a:pt x="16193" y="3324225"/>
                  </a:lnTo>
                  <a:lnTo>
                    <a:pt x="7620" y="3219450"/>
                  </a:lnTo>
                  <a:lnTo>
                    <a:pt x="1905" y="3114675"/>
                  </a:lnTo>
                  <a:lnTo>
                    <a:pt x="0" y="3009900"/>
                  </a:lnTo>
                  <a:lnTo>
                    <a:pt x="1905" y="2905125"/>
                  </a:lnTo>
                  <a:lnTo>
                    <a:pt x="7620" y="2800350"/>
                  </a:lnTo>
                  <a:lnTo>
                    <a:pt x="16193" y="2695575"/>
                  </a:lnTo>
                  <a:lnTo>
                    <a:pt x="29527" y="2590800"/>
                  </a:lnTo>
                  <a:lnTo>
                    <a:pt x="45720" y="2486978"/>
                  </a:lnTo>
                  <a:lnTo>
                    <a:pt x="65723" y="2384108"/>
                  </a:lnTo>
                  <a:lnTo>
                    <a:pt x="89535" y="2282190"/>
                  </a:lnTo>
                  <a:lnTo>
                    <a:pt x="116205" y="2180272"/>
                  </a:lnTo>
                  <a:lnTo>
                    <a:pt x="147637" y="2080260"/>
                  </a:lnTo>
                  <a:lnTo>
                    <a:pt x="181927" y="1980248"/>
                  </a:lnTo>
                  <a:lnTo>
                    <a:pt x="219075" y="1882140"/>
                  </a:lnTo>
                  <a:lnTo>
                    <a:pt x="260033" y="1785938"/>
                  </a:lnTo>
                  <a:lnTo>
                    <a:pt x="304800" y="1690688"/>
                  </a:lnTo>
                  <a:lnTo>
                    <a:pt x="352425" y="1596390"/>
                  </a:lnTo>
                  <a:lnTo>
                    <a:pt x="402907" y="1504950"/>
                  </a:lnTo>
                  <a:lnTo>
                    <a:pt x="457200" y="1414462"/>
                  </a:lnTo>
                  <a:lnTo>
                    <a:pt x="514350" y="1326832"/>
                  </a:lnTo>
                  <a:lnTo>
                    <a:pt x="575310" y="1241108"/>
                  </a:lnTo>
                  <a:lnTo>
                    <a:pt x="638175" y="1157288"/>
                  </a:lnTo>
                  <a:lnTo>
                    <a:pt x="703897" y="1075372"/>
                  </a:lnTo>
                  <a:lnTo>
                    <a:pt x="773430" y="996315"/>
                  </a:lnTo>
                  <a:lnTo>
                    <a:pt x="844867" y="919162"/>
                  </a:lnTo>
                  <a:lnTo>
                    <a:pt x="919163" y="844868"/>
                  </a:lnTo>
                  <a:lnTo>
                    <a:pt x="996315" y="773430"/>
                  </a:lnTo>
                  <a:lnTo>
                    <a:pt x="1075373" y="703898"/>
                  </a:lnTo>
                  <a:lnTo>
                    <a:pt x="1157287" y="638175"/>
                  </a:lnTo>
                  <a:lnTo>
                    <a:pt x="1241107" y="575310"/>
                  </a:lnTo>
                  <a:lnTo>
                    <a:pt x="1326833" y="514350"/>
                  </a:lnTo>
                  <a:lnTo>
                    <a:pt x="1414463" y="457200"/>
                  </a:lnTo>
                  <a:lnTo>
                    <a:pt x="1504950" y="402908"/>
                  </a:lnTo>
                  <a:lnTo>
                    <a:pt x="1596390" y="352425"/>
                  </a:lnTo>
                  <a:lnTo>
                    <a:pt x="1690687" y="304800"/>
                  </a:lnTo>
                  <a:lnTo>
                    <a:pt x="1785937" y="260032"/>
                  </a:lnTo>
                  <a:lnTo>
                    <a:pt x="1882140" y="219075"/>
                  </a:lnTo>
                  <a:lnTo>
                    <a:pt x="1980247" y="181928"/>
                  </a:lnTo>
                  <a:lnTo>
                    <a:pt x="2080260" y="147638"/>
                  </a:lnTo>
                  <a:lnTo>
                    <a:pt x="2180273" y="116205"/>
                  </a:lnTo>
                  <a:lnTo>
                    <a:pt x="2282190" y="89535"/>
                  </a:lnTo>
                  <a:lnTo>
                    <a:pt x="2384107" y="65722"/>
                  </a:lnTo>
                  <a:lnTo>
                    <a:pt x="2486977" y="45720"/>
                  </a:lnTo>
                  <a:lnTo>
                    <a:pt x="2590800" y="29528"/>
                  </a:lnTo>
                  <a:lnTo>
                    <a:pt x="2695575" y="16192"/>
                  </a:lnTo>
                  <a:lnTo>
                    <a:pt x="2800350" y="7620"/>
                  </a:lnTo>
                  <a:lnTo>
                    <a:pt x="2905125" y="1905"/>
                  </a:lnTo>
                  <a:lnTo>
                    <a:pt x="3009900" y="0"/>
                  </a:lnTo>
                  <a:close/>
                </a:path>
              </a:pathLst>
            </a:custGeom>
            <a:solidFill>
              <a:srgbClr val="57C2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ie-teal-lab"/>
            <p:cNvSpPr txBox="1"/>
            <p:nvPr/>
          </p:nvSpPr>
          <p:spPr>
            <a:xfrm>
              <a:off x="18603995" y="7002113"/>
              <a:ext cx="1333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30%</a:t>
              </a:r>
            </a:p>
          </p:txBody>
        </p:sp>
        <p:sp>
          <p:nvSpPr>
            <p:cNvPr id="62" name="pie-blue"/>
            <p:cNvSpPr/>
            <p:nvPr/>
          </p:nvSpPr>
          <p:spPr>
            <a:xfrm>
              <a:off x="20488275" y="5124450"/>
              <a:ext cx="2434590" cy="3009900"/>
            </a:xfrm>
            <a:custGeom>
              <a:avLst/>
              <a:gdLst/>
              <a:ahLst/>
              <a:cxnLst/>
              <a:rect l="l" t="t" r="r" b="b"/>
              <a:pathLst>
                <a:path w="2434590" h="3009900">
                  <a:moveTo>
                    <a:pt x="0" y="3009900"/>
                  </a:moveTo>
                  <a:lnTo>
                    <a:pt x="0" y="0"/>
                  </a:lnTo>
                  <a:lnTo>
                    <a:pt x="104775" y="1905"/>
                  </a:lnTo>
                  <a:lnTo>
                    <a:pt x="209550" y="7620"/>
                  </a:lnTo>
                  <a:lnTo>
                    <a:pt x="314325" y="16192"/>
                  </a:lnTo>
                  <a:lnTo>
                    <a:pt x="419100" y="29528"/>
                  </a:lnTo>
                  <a:lnTo>
                    <a:pt x="522923" y="45720"/>
                  </a:lnTo>
                  <a:lnTo>
                    <a:pt x="625793" y="65722"/>
                  </a:lnTo>
                  <a:lnTo>
                    <a:pt x="727710" y="89535"/>
                  </a:lnTo>
                  <a:lnTo>
                    <a:pt x="829627" y="116205"/>
                  </a:lnTo>
                  <a:lnTo>
                    <a:pt x="929640" y="147638"/>
                  </a:lnTo>
                  <a:lnTo>
                    <a:pt x="1029653" y="181928"/>
                  </a:lnTo>
                  <a:lnTo>
                    <a:pt x="1127760" y="219075"/>
                  </a:lnTo>
                  <a:lnTo>
                    <a:pt x="1223963" y="260032"/>
                  </a:lnTo>
                  <a:lnTo>
                    <a:pt x="1319213" y="304800"/>
                  </a:lnTo>
                  <a:lnTo>
                    <a:pt x="1413510" y="352425"/>
                  </a:lnTo>
                  <a:lnTo>
                    <a:pt x="1504950" y="402908"/>
                  </a:lnTo>
                  <a:lnTo>
                    <a:pt x="1595437" y="457200"/>
                  </a:lnTo>
                  <a:lnTo>
                    <a:pt x="1683067" y="514350"/>
                  </a:lnTo>
                  <a:lnTo>
                    <a:pt x="1768793" y="575310"/>
                  </a:lnTo>
                  <a:lnTo>
                    <a:pt x="1852613" y="638175"/>
                  </a:lnTo>
                  <a:lnTo>
                    <a:pt x="1934527" y="703898"/>
                  </a:lnTo>
                  <a:lnTo>
                    <a:pt x="2013585" y="773430"/>
                  </a:lnTo>
                  <a:lnTo>
                    <a:pt x="2090737" y="844868"/>
                  </a:lnTo>
                  <a:lnTo>
                    <a:pt x="2165033" y="919162"/>
                  </a:lnTo>
                  <a:lnTo>
                    <a:pt x="2236470" y="996315"/>
                  </a:lnTo>
                  <a:lnTo>
                    <a:pt x="2306003" y="1075372"/>
                  </a:lnTo>
                  <a:lnTo>
                    <a:pt x="2371725" y="1157288"/>
                  </a:lnTo>
                  <a:lnTo>
                    <a:pt x="2434590" y="1241108"/>
                  </a:lnTo>
                  <a:close/>
                </a:path>
              </a:pathLst>
            </a:custGeom>
            <a:solidFill>
              <a:srgbClr val="3E7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pie-blue-lab"/>
            <p:cNvSpPr txBox="1"/>
            <p:nvPr/>
          </p:nvSpPr>
          <p:spPr>
            <a:xfrm>
              <a:off x="20504758" y="6545780"/>
              <a:ext cx="1333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15%</a:t>
              </a:r>
            </a:p>
          </p:txBody>
        </p:sp>
        <p:sp>
          <p:nvSpPr>
            <p:cNvPr id="64" name="pie-red"/>
            <p:cNvSpPr/>
            <p:nvPr/>
          </p:nvSpPr>
          <p:spPr>
            <a:xfrm>
              <a:off x="20488275" y="6365558"/>
              <a:ext cx="2954655" cy="1768792"/>
            </a:xfrm>
            <a:custGeom>
              <a:avLst/>
              <a:gdLst/>
              <a:ahLst/>
              <a:cxnLst/>
              <a:rect l="l" t="t" r="r" b="b"/>
              <a:pathLst>
                <a:path w="2954655" h="1768792">
                  <a:moveTo>
                    <a:pt x="0" y="1768792"/>
                  </a:moveTo>
                  <a:lnTo>
                    <a:pt x="2434590" y="0"/>
                  </a:lnTo>
                  <a:lnTo>
                    <a:pt x="2495550" y="85724"/>
                  </a:lnTo>
                  <a:lnTo>
                    <a:pt x="2552700" y="173354"/>
                  </a:lnTo>
                  <a:lnTo>
                    <a:pt x="2606993" y="263842"/>
                  </a:lnTo>
                  <a:lnTo>
                    <a:pt x="2657475" y="355282"/>
                  </a:lnTo>
                  <a:lnTo>
                    <a:pt x="2705100" y="449580"/>
                  </a:lnTo>
                  <a:lnTo>
                    <a:pt x="2749867" y="544830"/>
                  </a:lnTo>
                  <a:lnTo>
                    <a:pt x="2790825" y="641032"/>
                  </a:lnTo>
                  <a:lnTo>
                    <a:pt x="2827973" y="739140"/>
                  </a:lnTo>
                  <a:lnTo>
                    <a:pt x="2862263" y="839152"/>
                  </a:lnTo>
                  <a:lnTo>
                    <a:pt x="2893695" y="939164"/>
                  </a:lnTo>
                  <a:lnTo>
                    <a:pt x="2920365" y="1041082"/>
                  </a:lnTo>
                  <a:lnTo>
                    <a:pt x="2944177" y="1143000"/>
                  </a:lnTo>
                  <a:lnTo>
                    <a:pt x="2954655" y="1194434"/>
                  </a:lnTo>
                  <a:close/>
                </a:path>
              </a:pathLst>
            </a:custGeom>
            <a:solidFill>
              <a:srgbClr val="E169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pie-red-lab"/>
            <p:cNvSpPr txBox="1"/>
            <p:nvPr/>
          </p:nvSpPr>
          <p:spPr>
            <a:xfrm>
              <a:off x="21201655" y="7286603"/>
              <a:ext cx="1333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7%</a:t>
              </a:r>
            </a:p>
          </p:txBody>
        </p:sp>
        <p:sp>
          <p:nvSpPr>
            <p:cNvPr id="66" name="pie-green"/>
            <p:cNvSpPr/>
            <p:nvPr/>
          </p:nvSpPr>
          <p:spPr>
            <a:xfrm>
              <a:off x="20488275" y="7559992"/>
              <a:ext cx="3009900" cy="574358"/>
            </a:xfrm>
            <a:custGeom>
              <a:avLst/>
              <a:gdLst/>
              <a:ahLst/>
              <a:cxnLst/>
              <a:rect l="l" t="t" r="r" b="b"/>
              <a:pathLst>
                <a:path w="3009900" h="574358">
                  <a:moveTo>
                    <a:pt x="0" y="574358"/>
                  </a:moveTo>
                  <a:lnTo>
                    <a:pt x="2954655" y="0"/>
                  </a:lnTo>
                  <a:lnTo>
                    <a:pt x="2972753" y="103823"/>
                  </a:lnTo>
                  <a:lnTo>
                    <a:pt x="2987040" y="207646"/>
                  </a:lnTo>
                  <a:lnTo>
                    <a:pt x="2998470" y="312420"/>
                  </a:lnTo>
                  <a:lnTo>
                    <a:pt x="3006090" y="417196"/>
                  </a:lnTo>
                  <a:lnTo>
                    <a:pt x="3009900" y="521970"/>
                  </a:lnTo>
                  <a:lnTo>
                    <a:pt x="3009900" y="574358"/>
                  </a:lnTo>
                  <a:close/>
                </a:path>
              </a:pathLst>
            </a:custGeom>
            <a:solidFill>
              <a:srgbClr val="8AB0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ie-green-lab"/>
            <p:cNvSpPr txBox="1"/>
            <p:nvPr/>
          </p:nvSpPr>
          <p:spPr>
            <a:xfrm>
              <a:off x="21319547" y="7742457"/>
              <a:ext cx="1333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3%</a:t>
              </a:r>
            </a:p>
          </p:txBody>
        </p:sp>
        <p:sp>
          <p:nvSpPr>
            <p:cNvPr id="68" name="lg-dot-社交互动"/>
            <p:cNvSpPr/>
            <p:nvPr/>
          </p:nvSpPr>
          <p:spPr>
            <a:xfrm>
              <a:off x="23593425" y="6810375"/>
              <a:ext cx="247650" cy="247650"/>
            </a:xfrm>
            <a:prstGeom prst="ellipse">
              <a:avLst/>
            </a:prstGeom>
            <a:solidFill>
              <a:srgbClr val="D7AF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lg-社交互动"/>
            <p:cNvSpPr txBox="1"/>
            <p:nvPr/>
          </p:nvSpPr>
          <p:spPr>
            <a:xfrm>
              <a:off x="24231600" y="6648450"/>
              <a:ext cx="1809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社交互动</a:t>
              </a:r>
            </a:p>
          </p:txBody>
        </p:sp>
        <p:sp>
          <p:nvSpPr>
            <p:cNvPr id="70" name="lg-dot-娱乐消遣"/>
            <p:cNvSpPr/>
            <p:nvPr/>
          </p:nvSpPr>
          <p:spPr>
            <a:xfrm>
              <a:off x="23593425" y="7543800"/>
              <a:ext cx="247650" cy="247650"/>
            </a:xfrm>
            <a:prstGeom prst="ellipse">
              <a:avLst/>
            </a:prstGeom>
            <a:solidFill>
              <a:srgbClr val="57C2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lg-娱乐消遣"/>
            <p:cNvSpPr txBox="1"/>
            <p:nvPr/>
          </p:nvSpPr>
          <p:spPr>
            <a:xfrm>
              <a:off x="24231600" y="7381875"/>
              <a:ext cx="1809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娱乐消遣</a:t>
              </a:r>
            </a:p>
          </p:txBody>
        </p:sp>
        <p:sp>
          <p:nvSpPr>
            <p:cNvPr id="72" name="lg-dot-获取信息"/>
            <p:cNvSpPr/>
            <p:nvPr/>
          </p:nvSpPr>
          <p:spPr>
            <a:xfrm>
              <a:off x="23593425" y="8286750"/>
              <a:ext cx="247650" cy="247650"/>
            </a:xfrm>
            <a:prstGeom prst="ellipse">
              <a:avLst/>
            </a:prstGeom>
            <a:solidFill>
              <a:srgbClr val="3E7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lg-获取信息"/>
            <p:cNvSpPr txBox="1"/>
            <p:nvPr/>
          </p:nvSpPr>
          <p:spPr>
            <a:xfrm>
              <a:off x="24231600" y="8124825"/>
              <a:ext cx="1809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获取信息</a:t>
              </a:r>
            </a:p>
          </p:txBody>
        </p:sp>
        <p:sp>
          <p:nvSpPr>
            <p:cNvPr id="74" name="lg-dot-自我表达"/>
            <p:cNvSpPr/>
            <p:nvPr/>
          </p:nvSpPr>
          <p:spPr>
            <a:xfrm>
              <a:off x="23593425" y="9020175"/>
              <a:ext cx="247650" cy="247650"/>
            </a:xfrm>
            <a:prstGeom prst="ellipse">
              <a:avLst/>
            </a:prstGeom>
            <a:solidFill>
              <a:srgbClr val="E169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lg-自我表达"/>
            <p:cNvSpPr txBox="1"/>
            <p:nvPr/>
          </p:nvSpPr>
          <p:spPr>
            <a:xfrm>
              <a:off x="24231600" y="8858250"/>
              <a:ext cx="1809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自我表达</a:t>
              </a:r>
            </a:p>
          </p:txBody>
        </p:sp>
        <p:sp>
          <p:nvSpPr>
            <p:cNvPr id="76" name="lg-dot-其他"/>
            <p:cNvSpPr/>
            <p:nvPr/>
          </p:nvSpPr>
          <p:spPr>
            <a:xfrm>
              <a:off x="23593425" y="9753600"/>
              <a:ext cx="247650" cy="247650"/>
            </a:xfrm>
            <a:prstGeom prst="ellipse">
              <a:avLst/>
            </a:prstGeom>
            <a:solidFill>
              <a:srgbClr val="8AB0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lg-其他"/>
            <p:cNvSpPr txBox="1"/>
            <p:nvPr/>
          </p:nvSpPr>
          <p:spPr>
            <a:xfrm>
              <a:off x="24231600" y="9591675"/>
              <a:ext cx="1809750" cy="571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其他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