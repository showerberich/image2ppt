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"/>
          <p:cNvSpPr/>
          <p:nvPr/>
        </p:nvSpPr>
        <p:spPr>
          <a:xfrm>
            <a:off x="0" y="14782800"/>
            <a:ext cx="6534150" cy="2362200"/>
          </a:xfrm>
          <a:custGeom>
            <a:avLst/>
            <a:gdLst/>
            <a:ahLst/>
            <a:cxnLst/>
            <a:rect l="l" t="t" r="r" b="b"/>
            <a:pathLst>
              <a:path w="6534150" h="2362200">
                <a:moveTo>
                  <a:pt x="0" y="0"/>
                </a:moveTo>
                <a:lnTo>
                  <a:pt x="4191000" y="0"/>
                </a:lnTo>
                <a:lnTo>
                  <a:pt x="6534150" y="2362200"/>
                </a:lnTo>
                <a:lnTo>
                  <a:pt x="0" y="2362200"/>
                </a:lnTo>
                <a:close/>
              </a:path>
            </a:pathLst>
          </a:custGeom>
          <a:gradFill rotWithShape="1">
            <a:gsLst>
              <a:gs pos="0">
                <a:srgbClr val="0AB3F6"/>
              </a:gs>
              <a:gs pos="100000">
                <a:srgbClr val="488DF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peak-a"/>
          <p:cNvSpPr/>
          <p:nvPr/>
        </p:nvSpPr>
        <p:spPr>
          <a:xfrm>
            <a:off x="8629650" y="15316200"/>
            <a:ext cx="3962400" cy="1828800"/>
          </a:xfrm>
          <a:custGeom>
            <a:avLst/>
            <a:gdLst/>
            <a:ahLst/>
            <a:cxnLst/>
            <a:rect l="l" t="t" r="r" b="b"/>
            <a:pathLst>
              <a:path w="3962400" h="1828800">
                <a:moveTo>
                  <a:pt x="1971675" y="0"/>
                </a:moveTo>
                <a:lnTo>
                  <a:pt x="0" y="1828800"/>
                </a:lnTo>
                <a:lnTo>
                  <a:pt x="3962400" y="1828800"/>
                </a:lnTo>
                <a:close/>
              </a:path>
            </a:pathLst>
          </a:custGeom>
          <a:solidFill>
            <a:srgbClr val="488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-peak-b"/>
          <p:cNvSpPr/>
          <p:nvPr/>
        </p:nvSpPr>
        <p:spPr>
          <a:xfrm>
            <a:off x="13306425" y="14116050"/>
            <a:ext cx="6296025" cy="3028950"/>
          </a:xfrm>
          <a:custGeom>
            <a:avLst/>
            <a:gdLst/>
            <a:ahLst/>
            <a:cxnLst/>
            <a:rect l="l" t="t" r="r" b="b"/>
            <a:pathLst>
              <a:path w="6296025" h="3028950">
                <a:moveTo>
                  <a:pt x="3209925" y="0"/>
                </a:moveTo>
                <a:lnTo>
                  <a:pt x="0" y="3028950"/>
                </a:lnTo>
                <a:lnTo>
                  <a:pt x="6296025" y="3028950"/>
                </a:lnTo>
                <a:close/>
              </a:path>
            </a:pathLst>
          </a:custGeom>
          <a:solidFill>
            <a:srgbClr val="488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-peak-b2"/>
          <p:cNvSpPr/>
          <p:nvPr/>
        </p:nvSpPr>
        <p:spPr>
          <a:xfrm>
            <a:off x="17297400" y="15163800"/>
            <a:ext cx="3962400" cy="1981200"/>
          </a:xfrm>
          <a:custGeom>
            <a:avLst/>
            <a:gdLst/>
            <a:ahLst/>
            <a:cxnLst/>
            <a:rect l="l" t="t" r="r" b="b"/>
            <a:pathLst>
              <a:path w="3962400" h="1981200">
                <a:moveTo>
                  <a:pt x="1981200" y="0"/>
                </a:moveTo>
                <a:lnTo>
                  <a:pt x="0" y="1981200"/>
                </a:lnTo>
                <a:lnTo>
                  <a:pt x="3962400" y="1981200"/>
                </a:lnTo>
                <a:close/>
              </a:path>
            </a:pathLst>
          </a:custGeom>
          <a:solidFill>
            <a:srgbClr val="488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-peak-c"/>
          <p:cNvSpPr/>
          <p:nvPr/>
        </p:nvSpPr>
        <p:spPr>
          <a:xfrm>
            <a:off x="20907375" y="16097250"/>
            <a:ext cx="2190750" cy="1047750"/>
          </a:xfrm>
          <a:custGeom>
            <a:avLst/>
            <a:gdLst/>
            <a:ahLst/>
            <a:cxnLst/>
            <a:rect l="l" t="t" r="r" b="b"/>
            <a:pathLst>
              <a:path w="2190750" h="1047750">
                <a:moveTo>
                  <a:pt x="762000" y="0"/>
                </a:moveTo>
                <a:lnTo>
                  <a:pt x="0" y="1047750"/>
                </a:lnTo>
                <a:lnTo>
                  <a:pt x="2190750" y="1047750"/>
                </a:lnTo>
                <a:close/>
              </a:path>
            </a:pathLst>
          </a:custGeom>
          <a:solidFill>
            <a:srgbClr val="488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-L-shadow"/>
          <p:cNvSpPr/>
          <p:nvPr/>
        </p:nvSpPr>
        <p:spPr>
          <a:xfrm>
            <a:off x="1685925" y="4457700"/>
            <a:ext cx="7315200" cy="9077325"/>
          </a:xfrm>
          <a:prstGeom prst="roundRect">
            <a:avLst>
              <a:gd name="adj" fmla="val 4427"/>
            </a:avLst>
          </a:prstGeom>
          <a:solidFill>
            <a:srgbClr val="D9E2F3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-L"/>
          <p:cNvSpPr/>
          <p:nvPr/>
        </p:nvSpPr>
        <p:spPr>
          <a:xfrm>
            <a:off x="1638300" y="4371975"/>
            <a:ext cx="7315200" cy="9077325"/>
          </a:xfrm>
          <a:prstGeom prst="roundRect">
            <a:avLst>
              <a:gd name="adj" fmla="val 4427"/>
            </a:avLst>
          </a:prstGeom>
          <a:solidFill>
            <a:srgbClr val="FBFBFB"/>
          </a:solidFill>
          <a:ln w="19050">
            <a:solidFill>
              <a:srgbClr val="F0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-L-bar1"/>
          <p:cNvSpPr/>
          <p:nvPr/>
        </p:nvSpPr>
        <p:spPr>
          <a:xfrm>
            <a:off x="2171700" y="4953000"/>
            <a:ext cx="6267450" cy="1200150"/>
          </a:xfrm>
          <a:custGeom>
            <a:avLst/>
            <a:gdLst/>
            <a:ahLst/>
            <a:cxnLst/>
            <a:rect l="l" t="t" r="r" b="b"/>
            <a:pathLst>
              <a:path w="6267450" h="1200150">
                <a:moveTo>
                  <a:pt x="419100" y="0"/>
                </a:moveTo>
                <a:lnTo>
                  <a:pt x="6267450" y="0"/>
                </a:lnTo>
                <a:lnTo>
                  <a:pt x="6267450" y="1200150"/>
                </a:lnTo>
                <a:lnTo>
                  <a:pt x="0" y="1200150"/>
                </a:lnTo>
                <a:lnTo>
                  <a:pt x="0" y="419100"/>
                </a:lnTo>
                <a:lnTo>
                  <a:pt x="4762" y="353378"/>
                </a:lnTo>
                <a:lnTo>
                  <a:pt x="20955" y="289560"/>
                </a:lnTo>
                <a:lnTo>
                  <a:pt x="45720" y="228600"/>
                </a:lnTo>
                <a:lnTo>
                  <a:pt x="80010" y="172402"/>
                </a:lnTo>
                <a:lnTo>
                  <a:pt x="122872" y="122872"/>
                </a:lnTo>
                <a:lnTo>
                  <a:pt x="172402" y="80010"/>
                </a:lnTo>
                <a:lnTo>
                  <a:pt x="228600" y="45720"/>
                </a:lnTo>
                <a:lnTo>
                  <a:pt x="289560" y="20955"/>
                </a:lnTo>
                <a:lnTo>
                  <a:pt x="353378" y="4762"/>
                </a:lnTo>
                <a:lnTo>
                  <a:pt x="419100" y="0"/>
                </a:lnTo>
                <a:close/>
              </a:path>
            </a:pathLst>
          </a:custGeom>
          <a:solidFill>
            <a:srgbClr val="326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-L-bar1-t"/>
          <p:cNvSpPr txBox="1"/>
          <p:nvPr/>
        </p:nvSpPr>
        <p:spPr>
          <a:xfrm>
            <a:off x="2171700" y="5010150"/>
            <a:ext cx="6267450" cy="1085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多维综合干预</a:t>
            </a:r>
          </a:p>
        </p:txBody>
      </p:sp>
      <p:sp>
        <p:nvSpPr>
          <p:cNvPr id="13" name="card-L-bar2"/>
          <p:cNvSpPr/>
          <p:nvPr/>
        </p:nvSpPr>
        <p:spPr>
          <a:xfrm>
            <a:off x="2171700" y="9201150"/>
            <a:ext cx="6267450" cy="1200150"/>
          </a:xfrm>
          <a:custGeom>
            <a:avLst/>
            <a:gdLst/>
            <a:ahLst/>
            <a:cxnLst/>
            <a:rect l="l" t="t" r="r" b="b"/>
            <a:pathLst>
              <a:path w="6267450" h="1200150">
                <a:moveTo>
                  <a:pt x="419100" y="0"/>
                </a:moveTo>
                <a:lnTo>
                  <a:pt x="6267450" y="0"/>
                </a:lnTo>
                <a:lnTo>
                  <a:pt x="6267450" y="1200150"/>
                </a:lnTo>
                <a:lnTo>
                  <a:pt x="0" y="1200150"/>
                </a:lnTo>
                <a:lnTo>
                  <a:pt x="0" y="419100"/>
                </a:lnTo>
                <a:lnTo>
                  <a:pt x="4762" y="353378"/>
                </a:lnTo>
                <a:lnTo>
                  <a:pt x="20955" y="289560"/>
                </a:lnTo>
                <a:lnTo>
                  <a:pt x="45720" y="228600"/>
                </a:lnTo>
                <a:lnTo>
                  <a:pt x="80010" y="172402"/>
                </a:lnTo>
                <a:lnTo>
                  <a:pt x="122872" y="122872"/>
                </a:lnTo>
                <a:lnTo>
                  <a:pt x="172402" y="80010"/>
                </a:lnTo>
                <a:lnTo>
                  <a:pt x="228600" y="45720"/>
                </a:lnTo>
                <a:lnTo>
                  <a:pt x="289560" y="20955"/>
                </a:lnTo>
                <a:lnTo>
                  <a:pt x="353378" y="4762"/>
                </a:lnTo>
                <a:lnTo>
                  <a:pt x="419100" y="0"/>
                </a:lnTo>
                <a:close/>
              </a:path>
            </a:pathLst>
          </a:custGeom>
          <a:solidFill>
            <a:srgbClr val="326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-L-bar2-t"/>
          <p:cNvSpPr txBox="1"/>
          <p:nvPr/>
        </p:nvSpPr>
        <p:spPr>
          <a:xfrm>
            <a:off x="2171700" y="9258300"/>
            <a:ext cx="6267450" cy="1085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睡眠是核心桥梁</a:t>
            </a:r>
          </a:p>
        </p:txBody>
      </p:sp>
      <p:sp>
        <p:nvSpPr>
          <p:cNvPr id="15" name="card-L-b1-l1"/>
          <p:cNvSpPr txBox="1"/>
          <p:nvPr/>
        </p:nvSpPr>
        <p:spPr>
          <a:xfrm>
            <a:off x="2000250" y="6619875"/>
            <a:ext cx="6858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1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单一维度的干预效果有限，需要个人、</a:t>
            </a:r>
          </a:p>
        </p:txBody>
      </p:sp>
      <p:sp>
        <p:nvSpPr>
          <p:cNvPr id="16" name="card-L-b1-l2"/>
          <p:cNvSpPr txBox="1"/>
          <p:nvPr/>
        </p:nvSpPr>
        <p:spPr>
          <a:xfrm>
            <a:off x="2000250" y="7219950"/>
            <a:ext cx="6858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1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家庭、学校和平台多方协同，共同促进</a:t>
            </a:r>
          </a:p>
        </p:txBody>
      </p:sp>
      <p:sp>
        <p:nvSpPr>
          <p:cNvPr id="17" name="card-L-b1-l3"/>
          <p:cNvSpPr txBox="1"/>
          <p:nvPr/>
        </p:nvSpPr>
        <p:spPr>
          <a:xfrm>
            <a:off x="2000250" y="7820025"/>
            <a:ext cx="6858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1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青少年数字心理健康。</a:t>
            </a:r>
          </a:p>
        </p:txBody>
      </p:sp>
      <p:sp>
        <p:nvSpPr>
          <p:cNvPr id="18" name="card-L-b2-l1"/>
          <p:cNvSpPr txBox="1"/>
          <p:nvPr/>
        </p:nvSpPr>
        <p:spPr>
          <a:xfrm>
            <a:off x="2000250" y="10848975"/>
            <a:ext cx="6858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1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睡眠质量是连接社交媒体使用与心理健</a:t>
            </a:r>
          </a:p>
        </p:txBody>
      </p:sp>
      <p:sp>
        <p:nvSpPr>
          <p:cNvPr id="19" name="card-L-b2-l2"/>
          <p:cNvSpPr txBox="1"/>
          <p:nvPr/>
        </p:nvSpPr>
        <p:spPr>
          <a:xfrm>
            <a:off x="2000250" y="11401425"/>
            <a:ext cx="6858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1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康问题的核心中介机制，改善睡眠是干</a:t>
            </a:r>
          </a:p>
        </p:txBody>
      </p:sp>
      <p:sp>
        <p:nvSpPr>
          <p:cNvPr id="20" name="card-L-b2-l3"/>
          <p:cNvSpPr txBox="1"/>
          <p:nvPr/>
        </p:nvSpPr>
        <p:spPr>
          <a:xfrm>
            <a:off x="2000250" y="11944350"/>
            <a:ext cx="6858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1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预的有效切入点。</a:t>
            </a:r>
          </a:p>
        </p:txBody>
      </p:sp>
      <p:sp>
        <p:nvSpPr>
          <p:cNvPr id="21" name="card-R-shadow"/>
          <p:cNvSpPr/>
          <p:nvPr/>
        </p:nvSpPr>
        <p:spPr>
          <a:xfrm>
            <a:off x="21555075" y="4457700"/>
            <a:ext cx="7258050" cy="9077325"/>
          </a:xfrm>
          <a:prstGeom prst="roundRect">
            <a:avLst>
              <a:gd name="adj" fmla="val 4461"/>
            </a:avLst>
          </a:prstGeom>
          <a:solidFill>
            <a:srgbClr val="D9E2F3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-R"/>
          <p:cNvSpPr/>
          <p:nvPr/>
        </p:nvSpPr>
        <p:spPr>
          <a:xfrm>
            <a:off x="21507450" y="4371975"/>
            <a:ext cx="7258050" cy="9077325"/>
          </a:xfrm>
          <a:prstGeom prst="roundRect">
            <a:avLst>
              <a:gd name="adj" fmla="val 4461"/>
            </a:avLst>
          </a:prstGeom>
          <a:solidFill>
            <a:srgbClr val="FBFBFB"/>
          </a:solidFill>
          <a:ln w="19050">
            <a:solidFill>
              <a:srgbClr val="F0F2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-R-bar1"/>
          <p:cNvSpPr/>
          <p:nvPr/>
        </p:nvSpPr>
        <p:spPr>
          <a:xfrm>
            <a:off x="21888450" y="4953000"/>
            <a:ext cx="6286500" cy="1200150"/>
          </a:xfrm>
          <a:custGeom>
            <a:avLst/>
            <a:gdLst/>
            <a:ahLst/>
            <a:cxnLst/>
            <a:rect l="l" t="t" r="r" b="b"/>
            <a:pathLst>
              <a:path w="6286500" h="1200150">
                <a:moveTo>
                  <a:pt x="419100" y="0"/>
                </a:moveTo>
                <a:lnTo>
                  <a:pt x="6286500" y="0"/>
                </a:lnTo>
                <a:lnTo>
                  <a:pt x="6286500" y="1200150"/>
                </a:lnTo>
                <a:lnTo>
                  <a:pt x="0" y="1200150"/>
                </a:lnTo>
                <a:lnTo>
                  <a:pt x="0" y="419100"/>
                </a:lnTo>
                <a:lnTo>
                  <a:pt x="4762" y="353378"/>
                </a:lnTo>
                <a:lnTo>
                  <a:pt x="20955" y="289560"/>
                </a:lnTo>
                <a:lnTo>
                  <a:pt x="45720" y="228600"/>
                </a:lnTo>
                <a:lnTo>
                  <a:pt x="80010" y="172402"/>
                </a:lnTo>
                <a:lnTo>
                  <a:pt x="122872" y="122872"/>
                </a:lnTo>
                <a:lnTo>
                  <a:pt x="172402" y="80010"/>
                </a:lnTo>
                <a:lnTo>
                  <a:pt x="228600" y="45720"/>
                </a:lnTo>
                <a:lnTo>
                  <a:pt x="289560" y="20955"/>
                </a:lnTo>
                <a:lnTo>
                  <a:pt x="353378" y="4762"/>
                </a:lnTo>
                <a:lnTo>
                  <a:pt x="419100" y="0"/>
                </a:lnTo>
                <a:close/>
              </a:path>
            </a:pathLst>
          </a:custGeom>
          <a:solidFill>
            <a:srgbClr val="88A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-R-bar1-t"/>
          <p:cNvSpPr txBox="1"/>
          <p:nvPr/>
        </p:nvSpPr>
        <p:spPr>
          <a:xfrm>
            <a:off x="21888450" y="5010150"/>
            <a:ext cx="6286500" cy="1085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明确的负面影响</a:t>
            </a:r>
          </a:p>
        </p:txBody>
      </p:sp>
      <p:sp>
        <p:nvSpPr>
          <p:cNvPr id="25" name="card-R-bar2"/>
          <p:cNvSpPr/>
          <p:nvPr/>
        </p:nvSpPr>
        <p:spPr>
          <a:xfrm>
            <a:off x="21888450" y="9201150"/>
            <a:ext cx="6286500" cy="1200150"/>
          </a:xfrm>
          <a:custGeom>
            <a:avLst/>
            <a:gdLst/>
            <a:ahLst/>
            <a:cxnLst/>
            <a:rect l="l" t="t" r="r" b="b"/>
            <a:pathLst>
              <a:path w="6286500" h="1200150">
                <a:moveTo>
                  <a:pt x="419100" y="0"/>
                </a:moveTo>
                <a:lnTo>
                  <a:pt x="6286500" y="0"/>
                </a:lnTo>
                <a:lnTo>
                  <a:pt x="6286500" y="1200150"/>
                </a:lnTo>
                <a:lnTo>
                  <a:pt x="0" y="1200150"/>
                </a:lnTo>
                <a:lnTo>
                  <a:pt x="0" y="419100"/>
                </a:lnTo>
                <a:lnTo>
                  <a:pt x="4762" y="353378"/>
                </a:lnTo>
                <a:lnTo>
                  <a:pt x="20955" y="289560"/>
                </a:lnTo>
                <a:lnTo>
                  <a:pt x="45720" y="228600"/>
                </a:lnTo>
                <a:lnTo>
                  <a:pt x="80010" y="172402"/>
                </a:lnTo>
                <a:lnTo>
                  <a:pt x="122872" y="122872"/>
                </a:lnTo>
                <a:lnTo>
                  <a:pt x="172402" y="80010"/>
                </a:lnTo>
                <a:lnTo>
                  <a:pt x="228600" y="45720"/>
                </a:lnTo>
                <a:lnTo>
                  <a:pt x="289560" y="20955"/>
                </a:lnTo>
                <a:lnTo>
                  <a:pt x="353378" y="4762"/>
                </a:lnTo>
                <a:lnTo>
                  <a:pt x="419100" y="0"/>
                </a:lnTo>
                <a:close/>
              </a:path>
            </a:pathLst>
          </a:custGeom>
          <a:solidFill>
            <a:srgbClr val="488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-R-bar2-t"/>
          <p:cNvSpPr txBox="1"/>
          <p:nvPr/>
        </p:nvSpPr>
        <p:spPr>
          <a:xfrm>
            <a:off x="21888450" y="9258300"/>
            <a:ext cx="6286500" cy="1085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5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方式比时长更关键</a:t>
            </a:r>
          </a:p>
        </p:txBody>
      </p:sp>
      <p:sp>
        <p:nvSpPr>
          <p:cNvPr id="27" name="card-R-b1-l1"/>
          <p:cNvSpPr txBox="1"/>
          <p:nvPr/>
        </p:nvSpPr>
        <p:spPr>
          <a:xfrm>
            <a:off x="21869400" y="6619875"/>
            <a:ext cx="6858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1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长时间使用社交媒体对青少年心理健康</a:t>
            </a:r>
          </a:p>
        </p:txBody>
      </p:sp>
      <p:sp>
        <p:nvSpPr>
          <p:cNvPr id="28" name="card-R-b1-l2"/>
          <p:cNvSpPr txBox="1"/>
          <p:nvPr/>
        </p:nvSpPr>
        <p:spPr>
          <a:xfrm>
            <a:off x="21869400" y="7219950"/>
            <a:ext cx="6858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1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有显著负面影响，日均使用超2小时即</a:t>
            </a:r>
          </a:p>
        </p:txBody>
      </p:sp>
      <p:sp>
        <p:nvSpPr>
          <p:cNvPr id="29" name="card-R-b1-l3"/>
          <p:cNvSpPr txBox="1"/>
          <p:nvPr/>
        </p:nvSpPr>
        <p:spPr>
          <a:xfrm>
            <a:off x="21869400" y="7820025"/>
            <a:ext cx="6858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1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存在明显风险。</a:t>
            </a:r>
          </a:p>
        </p:txBody>
      </p:sp>
      <p:sp>
        <p:nvSpPr>
          <p:cNvPr id="30" name="card-R-b2-l1"/>
          <p:cNvSpPr txBox="1"/>
          <p:nvPr/>
        </p:nvSpPr>
        <p:spPr>
          <a:xfrm>
            <a:off x="21869400" y="10848975"/>
            <a:ext cx="6858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1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被动无目的的浏览是主要风险源，而积</a:t>
            </a:r>
          </a:p>
        </p:txBody>
      </p:sp>
      <p:sp>
        <p:nvSpPr>
          <p:cNvPr id="31" name="card-R-b2-l2"/>
          <p:cNvSpPr txBox="1"/>
          <p:nvPr/>
        </p:nvSpPr>
        <p:spPr>
          <a:xfrm>
            <a:off x="21869400" y="11401425"/>
            <a:ext cx="6858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1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极、有意义的社交互动行为反而可能为</a:t>
            </a:r>
          </a:p>
        </p:txBody>
      </p:sp>
      <p:sp>
        <p:nvSpPr>
          <p:cNvPr id="32" name="card-R-b2-l3"/>
          <p:cNvSpPr txBox="1"/>
          <p:nvPr/>
        </p:nvSpPr>
        <p:spPr>
          <a:xfrm>
            <a:off x="21869400" y="11944350"/>
            <a:ext cx="6858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15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心理带来正向收益。</a:t>
            </a:r>
          </a:p>
        </p:txBody>
      </p:sp>
      <p:sp>
        <p:nvSpPr>
          <p:cNvPr id="33" name="deco-top-wedge"/>
          <p:cNvSpPr/>
          <p:nvPr/>
        </p:nvSpPr>
        <p:spPr>
          <a:xfrm>
            <a:off x="22050375" y="0"/>
            <a:ext cx="7153275" cy="3733800"/>
          </a:xfrm>
          <a:custGeom>
            <a:avLst/>
            <a:gdLst/>
            <a:ahLst/>
            <a:cxnLst/>
            <a:rect l="l" t="t" r="r" b="b"/>
            <a:pathLst>
              <a:path w="7153275" h="3733800">
                <a:moveTo>
                  <a:pt x="0" y="0"/>
                </a:moveTo>
                <a:lnTo>
                  <a:pt x="7153275" y="0"/>
                </a:lnTo>
                <a:lnTo>
                  <a:pt x="3552825" y="3733800"/>
                </a:lnTo>
                <a:close/>
              </a:path>
            </a:pathLst>
          </a:custGeom>
          <a:solidFill>
            <a:srgbClr val="488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eco-right-up"/>
          <p:cNvSpPr/>
          <p:nvPr/>
        </p:nvSpPr>
        <p:spPr>
          <a:xfrm>
            <a:off x="27051000" y="838200"/>
            <a:ext cx="3419475" cy="7143750"/>
          </a:xfrm>
          <a:custGeom>
            <a:avLst/>
            <a:gdLst/>
            <a:ahLst/>
            <a:cxnLst/>
            <a:rect l="l" t="t" r="r" b="b"/>
            <a:pathLst>
              <a:path w="3419475" h="7143750">
                <a:moveTo>
                  <a:pt x="3419475" y="0"/>
                </a:moveTo>
                <a:lnTo>
                  <a:pt x="0" y="3495675"/>
                </a:lnTo>
                <a:lnTo>
                  <a:pt x="3419475" y="7143750"/>
                </a:lnTo>
                <a:close/>
              </a:path>
            </a:pathLst>
          </a:custGeom>
          <a:gradFill rotWithShape="1">
            <a:gsLst>
              <a:gs pos="0">
                <a:srgbClr val="0AB3F6"/>
              </a:gs>
              <a:gs pos="100000">
                <a:srgbClr val="488DF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eco-right-dn"/>
          <p:cNvSpPr/>
          <p:nvPr/>
        </p:nvSpPr>
        <p:spPr>
          <a:xfrm>
            <a:off x="27479625" y="10420350"/>
            <a:ext cx="2990850" cy="6724650"/>
          </a:xfrm>
          <a:custGeom>
            <a:avLst/>
            <a:gdLst/>
            <a:ahLst/>
            <a:cxnLst/>
            <a:rect l="l" t="t" r="r" b="b"/>
            <a:pathLst>
              <a:path w="2990850" h="6724650">
                <a:moveTo>
                  <a:pt x="2990850" y="0"/>
                </a:moveTo>
                <a:lnTo>
                  <a:pt x="0" y="3505200"/>
                </a:lnTo>
                <a:lnTo>
                  <a:pt x="2990850" y="6724650"/>
                </a:lnTo>
                <a:close/>
              </a:path>
            </a:pathLst>
          </a:custGeom>
          <a:gradFill rotWithShape="1">
            <a:gsLst>
              <a:gs pos="0">
                <a:srgbClr val="0AB3F6"/>
              </a:gs>
              <a:gs pos="100000">
                <a:srgbClr val="488DF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6" name="ring-cycle"/>
          <p:cNvGrpSpPr/>
          <p:nvPr/>
        </p:nvGrpSpPr>
        <p:grpSpPr>
          <a:xfrm>
            <a:off x="10534650" y="4152900"/>
            <a:ext cx="8991600" cy="8991600"/>
            <a:chOff x="10534650" y="4152900"/>
            <a:chExt cx="8991600" cy="8991600"/>
          </a:xfrm>
        </p:grpSpPr>
        <p:sp>
          <p:nvSpPr>
            <p:cNvPr id="36" name="ring-halo-1"/>
            <p:cNvSpPr/>
            <p:nvPr/>
          </p:nvSpPr>
          <p:spPr>
            <a:xfrm>
              <a:off x="15030450" y="4152900"/>
              <a:ext cx="4495800" cy="4495800"/>
            </a:xfrm>
            <a:custGeom>
              <a:avLst/>
              <a:gdLst/>
              <a:ahLst/>
              <a:cxnLst/>
              <a:rect l="l" t="t" r="r" b="b"/>
              <a:pathLst>
                <a:path w="4495800" h="4495800">
                  <a:moveTo>
                    <a:pt x="0" y="0"/>
                  </a:moveTo>
                  <a:lnTo>
                    <a:pt x="320992" y="11430"/>
                  </a:lnTo>
                  <a:lnTo>
                    <a:pt x="640080" y="45720"/>
                  </a:lnTo>
                  <a:lnTo>
                    <a:pt x="955358" y="102870"/>
                  </a:lnTo>
                  <a:lnTo>
                    <a:pt x="1266825" y="181928"/>
                  </a:lnTo>
                  <a:lnTo>
                    <a:pt x="1570672" y="283845"/>
                  </a:lnTo>
                  <a:lnTo>
                    <a:pt x="1867852" y="406718"/>
                  </a:lnTo>
                  <a:lnTo>
                    <a:pt x="2154555" y="549592"/>
                  </a:lnTo>
                  <a:lnTo>
                    <a:pt x="2430780" y="713422"/>
                  </a:lnTo>
                  <a:lnTo>
                    <a:pt x="2694622" y="896302"/>
                  </a:lnTo>
                  <a:lnTo>
                    <a:pt x="2944178" y="1098232"/>
                  </a:lnTo>
                  <a:lnTo>
                    <a:pt x="3179445" y="1316355"/>
                  </a:lnTo>
                  <a:lnTo>
                    <a:pt x="3397568" y="1551622"/>
                  </a:lnTo>
                  <a:lnTo>
                    <a:pt x="3599498" y="1801178"/>
                  </a:lnTo>
                  <a:lnTo>
                    <a:pt x="3782378" y="2065020"/>
                  </a:lnTo>
                  <a:lnTo>
                    <a:pt x="3946208" y="2341245"/>
                  </a:lnTo>
                  <a:lnTo>
                    <a:pt x="4089082" y="2627948"/>
                  </a:lnTo>
                  <a:lnTo>
                    <a:pt x="4211955" y="2925128"/>
                  </a:lnTo>
                  <a:lnTo>
                    <a:pt x="4313872" y="3228975"/>
                  </a:lnTo>
                  <a:lnTo>
                    <a:pt x="4392930" y="3540442"/>
                  </a:lnTo>
                  <a:lnTo>
                    <a:pt x="4450080" y="3855720"/>
                  </a:lnTo>
                  <a:lnTo>
                    <a:pt x="4484370" y="4174808"/>
                  </a:lnTo>
                  <a:lnTo>
                    <a:pt x="4495800" y="4495800"/>
                  </a:lnTo>
                  <a:lnTo>
                    <a:pt x="1581150" y="4495800"/>
                  </a:lnTo>
                  <a:lnTo>
                    <a:pt x="1577340" y="4383405"/>
                  </a:lnTo>
                  <a:lnTo>
                    <a:pt x="1564958" y="4271010"/>
                  </a:lnTo>
                  <a:lnTo>
                    <a:pt x="1544955" y="4159568"/>
                  </a:lnTo>
                  <a:lnTo>
                    <a:pt x="1517332" y="4050030"/>
                  </a:lnTo>
                  <a:lnTo>
                    <a:pt x="1481138" y="3943350"/>
                  </a:lnTo>
                  <a:lnTo>
                    <a:pt x="1438275" y="3838575"/>
                  </a:lnTo>
                  <a:lnTo>
                    <a:pt x="1387792" y="3737610"/>
                  </a:lnTo>
                  <a:lnTo>
                    <a:pt x="1329690" y="3641408"/>
                  </a:lnTo>
                  <a:lnTo>
                    <a:pt x="1265872" y="3548062"/>
                  </a:lnTo>
                  <a:lnTo>
                    <a:pt x="1195388" y="3460432"/>
                  </a:lnTo>
                  <a:lnTo>
                    <a:pt x="1118235" y="3377565"/>
                  </a:lnTo>
                  <a:lnTo>
                    <a:pt x="1035368" y="3300412"/>
                  </a:lnTo>
                  <a:lnTo>
                    <a:pt x="947738" y="3229928"/>
                  </a:lnTo>
                  <a:lnTo>
                    <a:pt x="854392" y="3166110"/>
                  </a:lnTo>
                  <a:lnTo>
                    <a:pt x="758190" y="3108008"/>
                  </a:lnTo>
                  <a:lnTo>
                    <a:pt x="657225" y="3057525"/>
                  </a:lnTo>
                  <a:lnTo>
                    <a:pt x="552450" y="3014662"/>
                  </a:lnTo>
                  <a:lnTo>
                    <a:pt x="445770" y="2978468"/>
                  </a:lnTo>
                  <a:lnTo>
                    <a:pt x="336232" y="2950845"/>
                  </a:lnTo>
                  <a:lnTo>
                    <a:pt x="224790" y="2930842"/>
                  </a:lnTo>
                  <a:lnTo>
                    <a:pt x="112395" y="2918460"/>
                  </a:lnTo>
                  <a:lnTo>
                    <a:pt x="0" y="2914650"/>
                  </a:lnTo>
                  <a:close/>
                </a:path>
              </a:pathLst>
            </a:custGeom>
            <a:solidFill>
              <a:srgbClr val="E9F0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ing-halo-2"/>
            <p:cNvSpPr/>
            <p:nvPr/>
          </p:nvSpPr>
          <p:spPr>
            <a:xfrm>
              <a:off x="15030450" y="8648700"/>
              <a:ext cx="4495800" cy="4495800"/>
            </a:xfrm>
            <a:custGeom>
              <a:avLst/>
              <a:gdLst/>
              <a:ahLst/>
              <a:cxnLst/>
              <a:rect l="l" t="t" r="r" b="b"/>
              <a:pathLst>
                <a:path w="4495800" h="4495800">
                  <a:moveTo>
                    <a:pt x="4495800" y="0"/>
                  </a:moveTo>
                  <a:lnTo>
                    <a:pt x="4484370" y="320992"/>
                  </a:lnTo>
                  <a:lnTo>
                    <a:pt x="4450080" y="640080"/>
                  </a:lnTo>
                  <a:lnTo>
                    <a:pt x="4392930" y="955358"/>
                  </a:lnTo>
                  <a:lnTo>
                    <a:pt x="4313872" y="1266825"/>
                  </a:lnTo>
                  <a:lnTo>
                    <a:pt x="4211955" y="1570672"/>
                  </a:lnTo>
                  <a:lnTo>
                    <a:pt x="4089082" y="1867852"/>
                  </a:lnTo>
                  <a:lnTo>
                    <a:pt x="3946208" y="2154555"/>
                  </a:lnTo>
                  <a:lnTo>
                    <a:pt x="3782378" y="2430780"/>
                  </a:lnTo>
                  <a:lnTo>
                    <a:pt x="3599498" y="2694622"/>
                  </a:lnTo>
                  <a:lnTo>
                    <a:pt x="3397568" y="2944178"/>
                  </a:lnTo>
                  <a:lnTo>
                    <a:pt x="3179445" y="3179445"/>
                  </a:lnTo>
                  <a:lnTo>
                    <a:pt x="2944178" y="3397568"/>
                  </a:lnTo>
                  <a:lnTo>
                    <a:pt x="2694622" y="3599498"/>
                  </a:lnTo>
                  <a:lnTo>
                    <a:pt x="2430780" y="3782378"/>
                  </a:lnTo>
                  <a:lnTo>
                    <a:pt x="2154555" y="3946208"/>
                  </a:lnTo>
                  <a:lnTo>
                    <a:pt x="1867852" y="4089082"/>
                  </a:lnTo>
                  <a:lnTo>
                    <a:pt x="1570672" y="4211955"/>
                  </a:lnTo>
                  <a:lnTo>
                    <a:pt x="1266825" y="4313872"/>
                  </a:lnTo>
                  <a:lnTo>
                    <a:pt x="955358" y="4392930"/>
                  </a:lnTo>
                  <a:lnTo>
                    <a:pt x="640080" y="4450080"/>
                  </a:lnTo>
                  <a:lnTo>
                    <a:pt x="320992" y="4484370"/>
                  </a:lnTo>
                  <a:lnTo>
                    <a:pt x="0" y="4495800"/>
                  </a:lnTo>
                  <a:lnTo>
                    <a:pt x="0" y="1581150"/>
                  </a:lnTo>
                  <a:lnTo>
                    <a:pt x="112395" y="1577340"/>
                  </a:lnTo>
                  <a:lnTo>
                    <a:pt x="224790" y="1564958"/>
                  </a:lnTo>
                  <a:lnTo>
                    <a:pt x="336232" y="1544955"/>
                  </a:lnTo>
                  <a:lnTo>
                    <a:pt x="445770" y="1517332"/>
                  </a:lnTo>
                  <a:lnTo>
                    <a:pt x="552450" y="1481138"/>
                  </a:lnTo>
                  <a:lnTo>
                    <a:pt x="657225" y="1438275"/>
                  </a:lnTo>
                  <a:lnTo>
                    <a:pt x="758190" y="1387792"/>
                  </a:lnTo>
                  <a:lnTo>
                    <a:pt x="854392" y="1329690"/>
                  </a:lnTo>
                  <a:lnTo>
                    <a:pt x="947738" y="1265872"/>
                  </a:lnTo>
                  <a:lnTo>
                    <a:pt x="1035368" y="1195388"/>
                  </a:lnTo>
                  <a:lnTo>
                    <a:pt x="1118235" y="1118235"/>
                  </a:lnTo>
                  <a:lnTo>
                    <a:pt x="1195388" y="1035368"/>
                  </a:lnTo>
                  <a:lnTo>
                    <a:pt x="1265872" y="947738"/>
                  </a:lnTo>
                  <a:lnTo>
                    <a:pt x="1329690" y="854392"/>
                  </a:lnTo>
                  <a:lnTo>
                    <a:pt x="1387792" y="758190"/>
                  </a:lnTo>
                  <a:lnTo>
                    <a:pt x="1438275" y="657225"/>
                  </a:lnTo>
                  <a:lnTo>
                    <a:pt x="1481138" y="552450"/>
                  </a:lnTo>
                  <a:lnTo>
                    <a:pt x="1517332" y="445770"/>
                  </a:lnTo>
                  <a:lnTo>
                    <a:pt x="1544955" y="336232"/>
                  </a:lnTo>
                  <a:lnTo>
                    <a:pt x="1564958" y="224790"/>
                  </a:lnTo>
                  <a:lnTo>
                    <a:pt x="1577340" y="112395"/>
                  </a:lnTo>
                  <a:lnTo>
                    <a:pt x="1581150" y="0"/>
                  </a:lnTo>
                  <a:close/>
                </a:path>
              </a:pathLst>
            </a:custGeom>
            <a:solidFill>
              <a:srgbClr val="E9F0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ing-halo-3"/>
            <p:cNvSpPr/>
            <p:nvPr/>
          </p:nvSpPr>
          <p:spPr>
            <a:xfrm>
              <a:off x="10534650" y="8648700"/>
              <a:ext cx="4495800" cy="4495800"/>
            </a:xfrm>
            <a:custGeom>
              <a:avLst/>
              <a:gdLst/>
              <a:ahLst/>
              <a:cxnLst/>
              <a:rect l="l" t="t" r="r" b="b"/>
              <a:pathLst>
                <a:path w="4495800" h="4495800">
                  <a:moveTo>
                    <a:pt x="4495800" y="4495800"/>
                  </a:moveTo>
                  <a:lnTo>
                    <a:pt x="4174808" y="4484370"/>
                  </a:lnTo>
                  <a:lnTo>
                    <a:pt x="3855720" y="4450080"/>
                  </a:lnTo>
                  <a:lnTo>
                    <a:pt x="3540442" y="4392930"/>
                  </a:lnTo>
                  <a:lnTo>
                    <a:pt x="3228975" y="4313872"/>
                  </a:lnTo>
                  <a:lnTo>
                    <a:pt x="2925128" y="4211955"/>
                  </a:lnTo>
                  <a:lnTo>
                    <a:pt x="2627948" y="4089082"/>
                  </a:lnTo>
                  <a:lnTo>
                    <a:pt x="2341245" y="3946208"/>
                  </a:lnTo>
                  <a:lnTo>
                    <a:pt x="2065020" y="3782378"/>
                  </a:lnTo>
                  <a:lnTo>
                    <a:pt x="1801178" y="3599498"/>
                  </a:lnTo>
                  <a:lnTo>
                    <a:pt x="1551622" y="3397568"/>
                  </a:lnTo>
                  <a:lnTo>
                    <a:pt x="1316355" y="3179445"/>
                  </a:lnTo>
                  <a:lnTo>
                    <a:pt x="1098232" y="2944178"/>
                  </a:lnTo>
                  <a:lnTo>
                    <a:pt x="896302" y="2694622"/>
                  </a:lnTo>
                  <a:lnTo>
                    <a:pt x="713422" y="2430780"/>
                  </a:lnTo>
                  <a:lnTo>
                    <a:pt x="549592" y="2154555"/>
                  </a:lnTo>
                  <a:lnTo>
                    <a:pt x="406718" y="1867852"/>
                  </a:lnTo>
                  <a:lnTo>
                    <a:pt x="283845" y="1570672"/>
                  </a:lnTo>
                  <a:lnTo>
                    <a:pt x="181928" y="1266825"/>
                  </a:lnTo>
                  <a:lnTo>
                    <a:pt x="102870" y="955358"/>
                  </a:lnTo>
                  <a:lnTo>
                    <a:pt x="45720" y="640080"/>
                  </a:lnTo>
                  <a:lnTo>
                    <a:pt x="11430" y="320992"/>
                  </a:lnTo>
                  <a:lnTo>
                    <a:pt x="0" y="0"/>
                  </a:lnTo>
                  <a:lnTo>
                    <a:pt x="2914650" y="0"/>
                  </a:lnTo>
                  <a:lnTo>
                    <a:pt x="2918460" y="112395"/>
                  </a:lnTo>
                  <a:lnTo>
                    <a:pt x="2930842" y="224790"/>
                  </a:lnTo>
                  <a:lnTo>
                    <a:pt x="2950845" y="336232"/>
                  </a:lnTo>
                  <a:lnTo>
                    <a:pt x="2978468" y="445770"/>
                  </a:lnTo>
                  <a:lnTo>
                    <a:pt x="3014662" y="552450"/>
                  </a:lnTo>
                  <a:lnTo>
                    <a:pt x="3057525" y="657225"/>
                  </a:lnTo>
                  <a:lnTo>
                    <a:pt x="3108008" y="758190"/>
                  </a:lnTo>
                  <a:lnTo>
                    <a:pt x="3166110" y="854392"/>
                  </a:lnTo>
                  <a:lnTo>
                    <a:pt x="3229928" y="947738"/>
                  </a:lnTo>
                  <a:lnTo>
                    <a:pt x="3300412" y="1035368"/>
                  </a:lnTo>
                  <a:lnTo>
                    <a:pt x="3377565" y="1118235"/>
                  </a:lnTo>
                  <a:lnTo>
                    <a:pt x="3460432" y="1195388"/>
                  </a:lnTo>
                  <a:lnTo>
                    <a:pt x="3548062" y="1265872"/>
                  </a:lnTo>
                  <a:lnTo>
                    <a:pt x="3641408" y="1329690"/>
                  </a:lnTo>
                  <a:lnTo>
                    <a:pt x="3737610" y="1387792"/>
                  </a:lnTo>
                  <a:lnTo>
                    <a:pt x="3838575" y="1438275"/>
                  </a:lnTo>
                  <a:lnTo>
                    <a:pt x="3943350" y="1481138"/>
                  </a:lnTo>
                  <a:lnTo>
                    <a:pt x="4050030" y="1517332"/>
                  </a:lnTo>
                  <a:lnTo>
                    <a:pt x="4159568" y="1544955"/>
                  </a:lnTo>
                  <a:lnTo>
                    <a:pt x="4271010" y="1564958"/>
                  </a:lnTo>
                  <a:lnTo>
                    <a:pt x="4383405" y="1577340"/>
                  </a:lnTo>
                  <a:lnTo>
                    <a:pt x="4495800" y="1581150"/>
                  </a:lnTo>
                  <a:close/>
                </a:path>
              </a:pathLst>
            </a:custGeom>
            <a:solidFill>
              <a:srgbClr val="E9F0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ing-halo-4"/>
            <p:cNvSpPr/>
            <p:nvPr/>
          </p:nvSpPr>
          <p:spPr>
            <a:xfrm>
              <a:off x="10534650" y="4152900"/>
              <a:ext cx="4495800" cy="4495800"/>
            </a:xfrm>
            <a:custGeom>
              <a:avLst/>
              <a:gdLst/>
              <a:ahLst/>
              <a:cxnLst/>
              <a:rect l="l" t="t" r="r" b="b"/>
              <a:pathLst>
                <a:path w="4495800" h="4495800">
                  <a:moveTo>
                    <a:pt x="0" y="4495800"/>
                  </a:moveTo>
                  <a:lnTo>
                    <a:pt x="11430" y="4174808"/>
                  </a:lnTo>
                  <a:lnTo>
                    <a:pt x="45720" y="3855720"/>
                  </a:lnTo>
                  <a:lnTo>
                    <a:pt x="102870" y="3540442"/>
                  </a:lnTo>
                  <a:lnTo>
                    <a:pt x="181928" y="3228975"/>
                  </a:lnTo>
                  <a:lnTo>
                    <a:pt x="283845" y="2925128"/>
                  </a:lnTo>
                  <a:lnTo>
                    <a:pt x="406718" y="2627948"/>
                  </a:lnTo>
                  <a:lnTo>
                    <a:pt x="549592" y="2341245"/>
                  </a:lnTo>
                  <a:lnTo>
                    <a:pt x="713422" y="2065020"/>
                  </a:lnTo>
                  <a:lnTo>
                    <a:pt x="896302" y="1801178"/>
                  </a:lnTo>
                  <a:lnTo>
                    <a:pt x="1098232" y="1551622"/>
                  </a:lnTo>
                  <a:lnTo>
                    <a:pt x="1316355" y="1316355"/>
                  </a:lnTo>
                  <a:lnTo>
                    <a:pt x="1551622" y="1098232"/>
                  </a:lnTo>
                  <a:lnTo>
                    <a:pt x="1801178" y="896302"/>
                  </a:lnTo>
                  <a:lnTo>
                    <a:pt x="2065020" y="713422"/>
                  </a:lnTo>
                  <a:lnTo>
                    <a:pt x="2341245" y="549592"/>
                  </a:lnTo>
                  <a:lnTo>
                    <a:pt x="2627948" y="406718"/>
                  </a:lnTo>
                  <a:lnTo>
                    <a:pt x="2925128" y="283845"/>
                  </a:lnTo>
                  <a:lnTo>
                    <a:pt x="3228975" y="181928"/>
                  </a:lnTo>
                  <a:lnTo>
                    <a:pt x="3540442" y="102870"/>
                  </a:lnTo>
                  <a:lnTo>
                    <a:pt x="3855720" y="45720"/>
                  </a:lnTo>
                  <a:lnTo>
                    <a:pt x="4174808" y="11430"/>
                  </a:lnTo>
                  <a:lnTo>
                    <a:pt x="4495800" y="0"/>
                  </a:lnTo>
                  <a:lnTo>
                    <a:pt x="4495800" y="2914650"/>
                  </a:lnTo>
                  <a:lnTo>
                    <a:pt x="4383405" y="2918460"/>
                  </a:lnTo>
                  <a:lnTo>
                    <a:pt x="4271010" y="2930842"/>
                  </a:lnTo>
                  <a:lnTo>
                    <a:pt x="4159568" y="2950845"/>
                  </a:lnTo>
                  <a:lnTo>
                    <a:pt x="4050030" y="2978468"/>
                  </a:lnTo>
                  <a:lnTo>
                    <a:pt x="3943350" y="3014662"/>
                  </a:lnTo>
                  <a:lnTo>
                    <a:pt x="3838575" y="3057525"/>
                  </a:lnTo>
                  <a:lnTo>
                    <a:pt x="3737610" y="3108008"/>
                  </a:lnTo>
                  <a:lnTo>
                    <a:pt x="3641408" y="3166110"/>
                  </a:lnTo>
                  <a:lnTo>
                    <a:pt x="3548062" y="3229928"/>
                  </a:lnTo>
                  <a:lnTo>
                    <a:pt x="3460432" y="3300412"/>
                  </a:lnTo>
                  <a:lnTo>
                    <a:pt x="3377565" y="3377565"/>
                  </a:lnTo>
                  <a:lnTo>
                    <a:pt x="3300412" y="3460432"/>
                  </a:lnTo>
                  <a:lnTo>
                    <a:pt x="3229928" y="3548062"/>
                  </a:lnTo>
                  <a:lnTo>
                    <a:pt x="3166110" y="3641408"/>
                  </a:lnTo>
                  <a:lnTo>
                    <a:pt x="3108008" y="3737610"/>
                  </a:lnTo>
                  <a:lnTo>
                    <a:pt x="3057525" y="3838575"/>
                  </a:lnTo>
                  <a:lnTo>
                    <a:pt x="3014662" y="3943350"/>
                  </a:lnTo>
                  <a:lnTo>
                    <a:pt x="2978468" y="4050030"/>
                  </a:lnTo>
                  <a:lnTo>
                    <a:pt x="2950845" y="4159568"/>
                  </a:lnTo>
                  <a:lnTo>
                    <a:pt x="2930842" y="4271010"/>
                  </a:lnTo>
                  <a:lnTo>
                    <a:pt x="2918460" y="4383405"/>
                  </a:lnTo>
                  <a:lnTo>
                    <a:pt x="2914650" y="4495800"/>
                  </a:lnTo>
                  <a:close/>
                </a:path>
              </a:pathLst>
            </a:custGeom>
            <a:solidFill>
              <a:srgbClr val="E9F0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ing-seg-04"/>
            <p:cNvSpPr/>
            <p:nvPr/>
          </p:nvSpPr>
          <p:spPr>
            <a:xfrm>
              <a:off x="10725150" y="4191000"/>
              <a:ext cx="4461510" cy="4457700"/>
            </a:xfrm>
            <a:custGeom>
              <a:avLst/>
              <a:gdLst/>
              <a:ahLst/>
              <a:cxnLst/>
              <a:rect l="l" t="t" r="r" b="b"/>
              <a:pathLst>
                <a:path w="4461510" h="4457700">
                  <a:moveTo>
                    <a:pt x="0" y="4457700"/>
                  </a:moveTo>
                  <a:lnTo>
                    <a:pt x="11430" y="4148138"/>
                  </a:lnTo>
                  <a:lnTo>
                    <a:pt x="44768" y="3841432"/>
                  </a:lnTo>
                  <a:lnTo>
                    <a:pt x="100012" y="3536632"/>
                  </a:lnTo>
                  <a:lnTo>
                    <a:pt x="176212" y="3236595"/>
                  </a:lnTo>
                  <a:lnTo>
                    <a:pt x="275272" y="2944178"/>
                  </a:lnTo>
                  <a:lnTo>
                    <a:pt x="394335" y="2658428"/>
                  </a:lnTo>
                  <a:lnTo>
                    <a:pt x="533400" y="2382202"/>
                  </a:lnTo>
                  <a:lnTo>
                    <a:pt x="692468" y="2116455"/>
                  </a:lnTo>
                  <a:lnTo>
                    <a:pt x="869632" y="1863090"/>
                  </a:lnTo>
                  <a:lnTo>
                    <a:pt x="1064895" y="1623060"/>
                  </a:lnTo>
                  <a:lnTo>
                    <a:pt x="1276350" y="1398270"/>
                  </a:lnTo>
                  <a:lnTo>
                    <a:pt x="1503998" y="1187768"/>
                  </a:lnTo>
                  <a:lnTo>
                    <a:pt x="1745932" y="995362"/>
                  </a:lnTo>
                  <a:lnTo>
                    <a:pt x="2001202" y="821055"/>
                  </a:lnTo>
                  <a:lnTo>
                    <a:pt x="2268855" y="664845"/>
                  </a:lnTo>
                  <a:lnTo>
                    <a:pt x="2546032" y="528638"/>
                  </a:lnTo>
                  <a:lnTo>
                    <a:pt x="2832735" y="412432"/>
                  </a:lnTo>
                  <a:lnTo>
                    <a:pt x="2683192" y="0"/>
                  </a:lnTo>
                  <a:lnTo>
                    <a:pt x="4461510" y="1480185"/>
                  </a:lnTo>
                  <a:lnTo>
                    <a:pt x="3849052" y="3204210"/>
                  </a:lnTo>
                  <a:lnTo>
                    <a:pt x="3699510" y="2792730"/>
                  </a:lnTo>
                  <a:lnTo>
                    <a:pt x="3581400" y="2840355"/>
                  </a:lnTo>
                  <a:lnTo>
                    <a:pt x="3467100" y="2896552"/>
                  </a:lnTo>
                  <a:lnTo>
                    <a:pt x="3357562" y="2961322"/>
                  </a:lnTo>
                  <a:lnTo>
                    <a:pt x="3251835" y="3032760"/>
                  </a:lnTo>
                  <a:lnTo>
                    <a:pt x="3152775" y="3112770"/>
                  </a:lnTo>
                  <a:lnTo>
                    <a:pt x="3059430" y="3198495"/>
                  </a:lnTo>
                  <a:lnTo>
                    <a:pt x="2971800" y="3290888"/>
                  </a:lnTo>
                  <a:lnTo>
                    <a:pt x="2891790" y="3389948"/>
                  </a:lnTo>
                  <a:lnTo>
                    <a:pt x="2818448" y="3494722"/>
                  </a:lnTo>
                  <a:lnTo>
                    <a:pt x="2752725" y="3603308"/>
                  </a:lnTo>
                  <a:lnTo>
                    <a:pt x="2695575" y="3717608"/>
                  </a:lnTo>
                  <a:lnTo>
                    <a:pt x="2646998" y="3834765"/>
                  </a:lnTo>
                  <a:lnTo>
                    <a:pt x="2606040" y="3955732"/>
                  </a:lnTo>
                  <a:lnTo>
                    <a:pt x="2574608" y="4078605"/>
                  </a:lnTo>
                  <a:lnTo>
                    <a:pt x="2551748" y="4204335"/>
                  </a:lnTo>
                  <a:lnTo>
                    <a:pt x="2538412" y="4330065"/>
                  </a:lnTo>
                  <a:lnTo>
                    <a:pt x="2533650" y="4457700"/>
                  </a:lnTo>
                  <a:close/>
                </a:path>
              </a:pathLst>
            </a:custGeom>
            <a:solidFill>
              <a:srgbClr val="3265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ing-seg-03"/>
            <p:cNvSpPr/>
            <p:nvPr/>
          </p:nvSpPr>
          <p:spPr>
            <a:xfrm>
              <a:off x="10572750" y="8492490"/>
              <a:ext cx="4457700" cy="4461510"/>
            </a:xfrm>
            <a:custGeom>
              <a:avLst/>
              <a:gdLst/>
              <a:ahLst/>
              <a:cxnLst/>
              <a:rect l="l" t="t" r="r" b="b"/>
              <a:pathLst>
                <a:path w="4457700" h="4461510">
                  <a:moveTo>
                    <a:pt x="4457700" y="4461510"/>
                  </a:moveTo>
                  <a:lnTo>
                    <a:pt x="4148138" y="4450080"/>
                  </a:lnTo>
                  <a:lnTo>
                    <a:pt x="3841432" y="4416742"/>
                  </a:lnTo>
                  <a:lnTo>
                    <a:pt x="3536632" y="4361498"/>
                  </a:lnTo>
                  <a:lnTo>
                    <a:pt x="3236595" y="4285298"/>
                  </a:lnTo>
                  <a:lnTo>
                    <a:pt x="2944178" y="4186238"/>
                  </a:lnTo>
                  <a:lnTo>
                    <a:pt x="2658428" y="4067175"/>
                  </a:lnTo>
                  <a:lnTo>
                    <a:pt x="2382202" y="3928110"/>
                  </a:lnTo>
                  <a:lnTo>
                    <a:pt x="2116455" y="3769042"/>
                  </a:lnTo>
                  <a:lnTo>
                    <a:pt x="1863090" y="3591878"/>
                  </a:lnTo>
                  <a:lnTo>
                    <a:pt x="1623060" y="3396615"/>
                  </a:lnTo>
                  <a:lnTo>
                    <a:pt x="1398270" y="3185160"/>
                  </a:lnTo>
                  <a:lnTo>
                    <a:pt x="1187768" y="2957512"/>
                  </a:lnTo>
                  <a:lnTo>
                    <a:pt x="995362" y="2715578"/>
                  </a:lnTo>
                  <a:lnTo>
                    <a:pt x="821055" y="2460308"/>
                  </a:lnTo>
                  <a:lnTo>
                    <a:pt x="664845" y="2192655"/>
                  </a:lnTo>
                  <a:lnTo>
                    <a:pt x="528638" y="1915478"/>
                  </a:lnTo>
                  <a:lnTo>
                    <a:pt x="412432" y="1628775"/>
                  </a:lnTo>
                  <a:lnTo>
                    <a:pt x="0" y="1778318"/>
                  </a:lnTo>
                  <a:lnTo>
                    <a:pt x="1480185" y="0"/>
                  </a:lnTo>
                  <a:lnTo>
                    <a:pt x="3204210" y="612458"/>
                  </a:lnTo>
                  <a:lnTo>
                    <a:pt x="2792730" y="762000"/>
                  </a:lnTo>
                  <a:lnTo>
                    <a:pt x="2840355" y="880110"/>
                  </a:lnTo>
                  <a:lnTo>
                    <a:pt x="2896552" y="994410"/>
                  </a:lnTo>
                  <a:lnTo>
                    <a:pt x="2961322" y="1103948"/>
                  </a:lnTo>
                  <a:lnTo>
                    <a:pt x="3032760" y="1209675"/>
                  </a:lnTo>
                  <a:lnTo>
                    <a:pt x="3112770" y="1308735"/>
                  </a:lnTo>
                  <a:lnTo>
                    <a:pt x="3198495" y="1402080"/>
                  </a:lnTo>
                  <a:lnTo>
                    <a:pt x="3290888" y="1489710"/>
                  </a:lnTo>
                  <a:lnTo>
                    <a:pt x="3389948" y="1569720"/>
                  </a:lnTo>
                  <a:lnTo>
                    <a:pt x="3494722" y="1643062"/>
                  </a:lnTo>
                  <a:lnTo>
                    <a:pt x="3603308" y="1708785"/>
                  </a:lnTo>
                  <a:lnTo>
                    <a:pt x="3717608" y="1765935"/>
                  </a:lnTo>
                  <a:lnTo>
                    <a:pt x="3834765" y="1814512"/>
                  </a:lnTo>
                  <a:lnTo>
                    <a:pt x="3955732" y="1855470"/>
                  </a:lnTo>
                  <a:lnTo>
                    <a:pt x="4078605" y="1886902"/>
                  </a:lnTo>
                  <a:lnTo>
                    <a:pt x="4204335" y="1909762"/>
                  </a:lnTo>
                  <a:lnTo>
                    <a:pt x="4330065" y="1923098"/>
                  </a:lnTo>
                  <a:lnTo>
                    <a:pt x="4457700" y="1927860"/>
                  </a:lnTo>
                  <a:close/>
                </a:path>
              </a:pathLst>
            </a:custGeom>
            <a:solidFill>
              <a:srgbClr val="3E7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ing-seg-02"/>
            <p:cNvSpPr/>
            <p:nvPr/>
          </p:nvSpPr>
          <p:spPr>
            <a:xfrm>
              <a:off x="14874240" y="8648700"/>
              <a:ext cx="4461510" cy="4457700"/>
            </a:xfrm>
            <a:custGeom>
              <a:avLst/>
              <a:gdLst/>
              <a:ahLst/>
              <a:cxnLst/>
              <a:rect l="l" t="t" r="r" b="b"/>
              <a:pathLst>
                <a:path w="4461510" h="4457700">
                  <a:moveTo>
                    <a:pt x="4461510" y="0"/>
                  </a:moveTo>
                  <a:lnTo>
                    <a:pt x="4450080" y="309562"/>
                  </a:lnTo>
                  <a:lnTo>
                    <a:pt x="4416742" y="616268"/>
                  </a:lnTo>
                  <a:lnTo>
                    <a:pt x="4361498" y="921068"/>
                  </a:lnTo>
                  <a:lnTo>
                    <a:pt x="4285298" y="1221105"/>
                  </a:lnTo>
                  <a:lnTo>
                    <a:pt x="4186238" y="1513522"/>
                  </a:lnTo>
                  <a:lnTo>
                    <a:pt x="4067175" y="1799272"/>
                  </a:lnTo>
                  <a:lnTo>
                    <a:pt x="3928110" y="2075498"/>
                  </a:lnTo>
                  <a:lnTo>
                    <a:pt x="3769042" y="2341245"/>
                  </a:lnTo>
                  <a:lnTo>
                    <a:pt x="3591878" y="2594610"/>
                  </a:lnTo>
                  <a:lnTo>
                    <a:pt x="3396615" y="2834640"/>
                  </a:lnTo>
                  <a:lnTo>
                    <a:pt x="3185160" y="3059430"/>
                  </a:lnTo>
                  <a:lnTo>
                    <a:pt x="2957512" y="3269932"/>
                  </a:lnTo>
                  <a:lnTo>
                    <a:pt x="2715578" y="3462338"/>
                  </a:lnTo>
                  <a:lnTo>
                    <a:pt x="2460308" y="3636645"/>
                  </a:lnTo>
                  <a:lnTo>
                    <a:pt x="2192655" y="3792855"/>
                  </a:lnTo>
                  <a:lnTo>
                    <a:pt x="1915478" y="3929062"/>
                  </a:lnTo>
                  <a:lnTo>
                    <a:pt x="1628775" y="4045268"/>
                  </a:lnTo>
                  <a:lnTo>
                    <a:pt x="1778318" y="4457700"/>
                  </a:lnTo>
                  <a:lnTo>
                    <a:pt x="0" y="2977515"/>
                  </a:lnTo>
                  <a:lnTo>
                    <a:pt x="612458" y="1253490"/>
                  </a:lnTo>
                  <a:lnTo>
                    <a:pt x="762000" y="1664970"/>
                  </a:lnTo>
                  <a:lnTo>
                    <a:pt x="880110" y="1617345"/>
                  </a:lnTo>
                  <a:lnTo>
                    <a:pt x="994410" y="1561148"/>
                  </a:lnTo>
                  <a:lnTo>
                    <a:pt x="1103948" y="1496378"/>
                  </a:lnTo>
                  <a:lnTo>
                    <a:pt x="1209675" y="1424940"/>
                  </a:lnTo>
                  <a:lnTo>
                    <a:pt x="1308735" y="1344930"/>
                  </a:lnTo>
                  <a:lnTo>
                    <a:pt x="1402080" y="1259205"/>
                  </a:lnTo>
                  <a:lnTo>
                    <a:pt x="1489710" y="1166812"/>
                  </a:lnTo>
                  <a:lnTo>
                    <a:pt x="1569720" y="1067752"/>
                  </a:lnTo>
                  <a:lnTo>
                    <a:pt x="1643062" y="962978"/>
                  </a:lnTo>
                  <a:lnTo>
                    <a:pt x="1708785" y="854392"/>
                  </a:lnTo>
                  <a:lnTo>
                    <a:pt x="1765935" y="740092"/>
                  </a:lnTo>
                  <a:lnTo>
                    <a:pt x="1814512" y="622935"/>
                  </a:lnTo>
                  <a:lnTo>
                    <a:pt x="1855470" y="501968"/>
                  </a:lnTo>
                  <a:lnTo>
                    <a:pt x="1886902" y="379095"/>
                  </a:lnTo>
                  <a:lnTo>
                    <a:pt x="1909762" y="253365"/>
                  </a:lnTo>
                  <a:lnTo>
                    <a:pt x="1923098" y="127635"/>
                  </a:lnTo>
                  <a:lnTo>
                    <a:pt x="1927860" y="0"/>
                  </a:lnTo>
                  <a:close/>
                </a:path>
              </a:pathLst>
            </a:custGeom>
            <a:solidFill>
              <a:srgbClr val="488D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ing-seg-01"/>
            <p:cNvSpPr/>
            <p:nvPr/>
          </p:nvSpPr>
          <p:spPr>
            <a:xfrm>
              <a:off x="15030450" y="4343400"/>
              <a:ext cx="4457700" cy="4461510"/>
            </a:xfrm>
            <a:custGeom>
              <a:avLst/>
              <a:gdLst/>
              <a:ahLst/>
              <a:cxnLst/>
              <a:rect l="l" t="t" r="r" b="b"/>
              <a:pathLst>
                <a:path w="4457700" h="4461510">
                  <a:moveTo>
                    <a:pt x="0" y="0"/>
                  </a:moveTo>
                  <a:lnTo>
                    <a:pt x="309562" y="11430"/>
                  </a:lnTo>
                  <a:lnTo>
                    <a:pt x="616268" y="44768"/>
                  </a:lnTo>
                  <a:lnTo>
                    <a:pt x="921068" y="100012"/>
                  </a:lnTo>
                  <a:lnTo>
                    <a:pt x="1221105" y="176212"/>
                  </a:lnTo>
                  <a:lnTo>
                    <a:pt x="1513522" y="275272"/>
                  </a:lnTo>
                  <a:lnTo>
                    <a:pt x="1799272" y="394335"/>
                  </a:lnTo>
                  <a:lnTo>
                    <a:pt x="2075498" y="533400"/>
                  </a:lnTo>
                  <a:lnTo>
                    <a:pt x="2341245" y="692468"/>
                  </a:lnTo>
                  <a:lnTo>
                    <a:pt x="2594610" y="869632"/>
                  </a:lnTo>
                  <a:lnTo>
                    <a:pt x="2834640" y="1064895"/>
                  </a:lnTo>
                  <a:lnTo>
                    <a:pt x="3059430" y="1276350"/>
                  </a:lnTo>
                  <a:lnTo>
                    <a:pt x="3269932" y="1503998"/>
                  </a:lnTo>
                  <a:lnTo>
                    <a:pt x="3462338" y="1745932"/>
                  </a:lnTo>
                  <a:lnTo>
                    <a:pt x="3636645" y="2001202"/>
                  </a:lnTo>
                  <a:lnTo>
                    <a:pt x="3792855" y="2268855"/>
                  </a:lnTo>
                  <a:lnTo>
                    <a:pt x="3929062" y="2546032"/>
                  </a:lnTo>
                  <a:lnTo>
                    <a:pt x="4045268" y="2832735"/>
                  </a:lnTo>
                  <a:lnTo>
                    <a:pt x="4457700" y="2683192"/>
                  </a:lnTo>
                  <a:lnTo>
                    <a:pt x="2977515" y="4461510"/>
                  </a:lnTo>
                  <a:lnTo>
                    <a:pt x="1253490" y="3849052"/>
                  </a:lnTo>
                  <a:lnTo>
                    <a:pt x="1664970" y="3699510"/>
                  </a:lnTo>
                  <a:lnTo>
                    <a:pt x="1617345" y="3581400"/>
                  </a:lnTo>
                  <a:lnTo>
                    <a:pt x="1561148" y="3467100"/>
                  </a:lnTo>
                  <a:lnTo>
                    <a:pt x="1496378" y="3357562"/>
                  </a:lnTo>
                  <a:lnTo>
                    <a:pt x="1424940" y="3251835"/>
                  </a:lnTo>
                  <a:lnTo>
                    <a:pt x="1344930" y="3152775"/>
                  </a:lnTo>
                  <a:lnTo>
                    <a:pt x="1259205" y="3059430"/>
                  </a:lnTo>
                  <a:lnTo>
                    <a:pt x="1166812" y="2971800"/>
                  </a:lnTo>
                  <a:lnTo>
                    <a:pt x="1067752" y="2891790"/>
                  </a:lnTo>
                  <a:lnTo>
                    <a:pt x="962978" y="2818448"/>
                  </a:lnTo>
                  <a:lnTo>
                    <a:pt x="854392" y="2752725"/>
                  </a:lnTo>
                  <a:lnTo>
                    <a:pt x="740092" y="2695575"/>
                  </a:lnTo>
                  <a:lnTo>
                    <a:pt x="622935" y="2646998"/>
                  </a:lnTo>
                  <a:lnTo>
                    <a:pt x="501968" y="2606040"/>
                  </a:lnTo>
                  <a:lnTo>
                    <a:pt x="379095" y="2574608"/>
                  </a:lnTo>
                  <a:lnTo>
                    <a:pt x="253365" y="2551748"/>
                  </a:lnTo>
                  <a:lnTo>
                    <a:pt x="127635" y="2538412"/>
                  </a:lnTo>
                  <a:lnTo>
                    <a:pt x="0" y="2533650"/>
                  </a:lnTo>
                  <a:close/>
                </a:path>
              </a:pathLst>
            </a:custGeom>
            <a:solidFill>
              <a:srgbClr val="88AC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ing-num-01"/>
            <p:cNvSpPr txBox="1"/>
            <p:nvPr/>
          </p:nvSpPr>
          <p:spPr>
            <a:xfrm>
              <a:off x="16473488" y="6196012"/>
              <a:ext cx="1181100" cy="838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2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45" name="ring-num-02"/>
            <p:cNvSpPr txBox="1"/>
            <p:nvPr/>
          </p:nvSpPr>
          <p:spPr>
            <a:xfrm>
              <a:off x="16473488" y="10263188"/>
              <a:ext cx="1181100" cy="838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2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46" name="ring-num-03"/>
            <p:cNvSpPr txBox="1"/>
            <p:nvPr/>
          </p:nvSpPr>
          <p:spPr>
            <a:xfrm>
              <a:off x="12406312" y="10263188"/>
              <a:ext cx="1181100" cy="838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2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47" name="ring-num-04"/>
            <p:cNvSpPr txBox="1"/>
            <p:nvPr/>
          </p:nvSpPr>
          <p:spPr>
            <a:xfrm>
              <a:off x="12406312" y="6196012"/>
              <a:ext cx="1181100" cy="838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2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  <p:sp>
          <p:nvSpPr>
            <p:cNvPr id="48" name="ring-center-t"/>
            <p:cNvSpPr txBox="1"/>
            <p:nvPr/>
          </p:nvSpPr>
          <p:spPr>
            <a:xfrm>
              <a:off x="14173200" y="8267700"/>
              <a:ext cx="1714500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95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总结</a:t>
              </a:r>
            </a:p>
          </p:txBody>
        </p:sp>
      </p:grpSp>
      <p:sp>
        <p:nvSpPr>
          <p:cNvPr id="49" name="title-icon"/>
          <p:cNvSpPr/>
          <p:nvPr/>
        </p:nvSpPr>
        <p:spPr>
          <a:xfrm>
            <a:off x="1323975" y="1381125"/>
            <a:ext cx="1028700" cy="1238250"/>
          </a:xfrm>
          <a:custGeom>
            <a:avLst/>
            <a:gdLst/>
            <a:ahLst/>
            <a:cxnLst/>
            <a:rect l="l" t="t" r="r" b="b"/>
            <a:pathLst>
              <a:path w="1028700" h="1238250">
                <a:moveTo>
                  <a:pt x="514350" y="0"/>
                </a:moveTo>
                <a:lnTo>
                  <a:pt x="742950" y="600075"/>
                </a:lnTo>
                <a:lnTo>
                  <a:pt x="1028700" y="600075"/>
                </a:lnTo>
                <a:lnTo>
                  <a:pt x="514350" y="828675"/>
                </a:lnTo>
                <a:lnTo>
                  <a:pt x="514350" y="1238250"/>
                </a:lnTo>
                <a:lnTo>
                  <a:pt x="285750" y="600075"/>
                </a:lnTo>
                <a:lnTo>
                  <a:pt x="0" y="600075"/>
                </a:lnTo>
                <a:lnTo>
                  <a:pt x="514350" y="371475"/>
                </a:lnTo>
                <a:close/>
              </a:path>
            </a:pathLst>
          </a:custGeom>
          <a:solidFill>
            <a:srgbClr val="2C5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itle-icon-facet-1"/>
          <p:cNvSpPr/>
          <p:nvPr/>
        </p:nvSpPr>
        <p:spPr>
          <a:xfrm>
            <a:off x="1609725" y="1381125"/>
            <a:ext cx="228600" cy="600075"/>
          </a:xfrm>
          <a:custGeom>
            <a:avLst/>
            <a:gdLst/>
            <a:ahLst/>
            <a:cxnLst/>
            <a:rect l="l" t="t" r="r" b="b"/>
            <a:pathLst>
              <a:path w="228600" h="600075">
                <a:moveTo>
                  <a:pt x="228600" y="600075"/>
                </a:moveTo>
                <a:lnTo>
                  <a:pt x="0" y="600075"/>
                </a:lnTo>
                <a:lnTo>
                  <a:pt x="228600" y="0"/>
                </a:lnTo>
                <a:lnTo>
                  <a:pt x="228600" y="371475"/>
                </a:lnTo>
                <a:close/>
              </a:path>
            </a:pathLst>
          </a:custGeom>
          <a:solidFill>
            <a:srgbClr val="6D9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itle-icon-facet-2"/>
          <p:cNvSpPr/>
          <p:nvPr/>
        </p:nvSpPr>
        <p:spPr>
          <a:xfrm>
            <a:off x="1838325" y="1752600"/>
            <a:ext cx="514350" cy="228600"/>
          </a:xfrm>
          <a:custGeom>
            <a:avLst/>
            <a:gdLst/>
            <a:ahLst/>
            <a:cxnLst/>
            <a:rect l="l" t="t" r="r" b="b"/>
            <a:pathLst>
              <a:path w="514350" h="228600">
                <a:moveTo>
                  <a:pt x="0" y="228600"/>
                </a:moveTo>
                <a:lnTo>
                  <a:pt x="0" y="0"/>
                </a:lnTo>
                <a:lnTo>
                  <a:pt x="514350" y="228600"/>
                </a:lnTo>
                <a:lnTo>
                  <a:pt x="228600" y="228600"/>
                </a:lnTo>
                <a:close/>
              </a:path>
            </a:pathLst>
          </a:custGeom>
          <a:solidFill>
            <a:srgbClr val="4A8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itle-icon-facet-3"/>
          <p:cNvSpPr/>
          <p:nvPr/>
        </p:nvSpPr>
        <p:spPr>
          <a:xfrm>
            <a:off x="1838325" y="1981200"/>
            <a:ext cx="228600" cy="638175"/>
          </a:xfrm>
          <a:custGeom>
            <a:avLst/>
            <a:gdLst/>
            <a:ahLst/>
            <a:cxnLst/>
            <a:rect l="l" t="t" r="r" b="b"/>
            <a:pathLst>
              <a:path w="228600" h="638175">
                <a:moveTo>
                  <a:pt x="0" y="0"/>
                </a:moveTo>
                <a:lnTo>
                  <a:pt x="228600" y="0"/>
                </a:lnTo>
                <a:lnTo>
                  <a:pt x="0" y="638175"/>
                </a:lnTo>
                <a:lnTo>
                  <a:pt x="0" y="228600"/>
                </a:lnTo>
                <a:close/>
              </a:path>
            </a:pathLst>
          </a:custGeom>
          <a:solidFill>
            <a:srgbClr val="3A7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itle-icon-facet-4"/>
          <p:cNvSpPr/>
          <p:nvPr/>
        </p:nvSpPr>
        <p:spPr>
          <a:xfrm>
            <a:off x="1323975" y="1981200"/>
            <a:ext cx="514350" cy="228600"/>
          </a:xfrm>
          <a:custGeom>
            <a:avLst/>
            <a:gdLst/>
            <a:ahLst/>
            <a:cxnLst/>
            <a:rect l="l" t="t" r="r" b="b"/>
            <a:pathLst>
              <a:path w="514350" h="228600">
                <a:moveTo>
                  <a:pt x="514350" y="0"/>
                </a:moveTo>
                <a:lnTo>
                  <a:pt x="514350" y="228600"/>
                </a:lnTo>
                <a:lnTo>
                  <a:pt x="0" y="0"/>
                </a:lnTo>
                <a:lnTo>
                  <a:pt x="285750" y="0"/>
                </a:lnTo>
                <a:close/>
              </a:path>
            </a:pathLst>
          </a:custGeom>
          <a:solidFill>
            <a:srgbClr val="356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itle"/>
          <p:cNvSpPr txBox="1"/>
          <p:nvPr/>
        </p:nvSpPr>
        <p:spPr>
          <a:xfrm>
            <a:off x="2743200" y="1533525"/>
            <a:ext cx="5334000" cy="990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525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研究结论总结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