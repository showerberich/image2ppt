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me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noFill/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6" name="grp-corners"/>
          <p:cNvGrpSpPr/>
          <p:nvPr/>
        </p:nvGrpSpPr>
        <p:grpSpPr>
          <a:xfrm>
            <a:off x="1323975" y="14354175"/>
            <a:ext cx="26660475" cy="2790825"/>
            <a:chOff x="1323975" y="14354175"/>
            <a:chExt cx="26660475" cy="2790825"/>
          </a:xfrm>
        </p:grpSpPr>
        <p:sp>
          <p:nvSpPr>
            <p:cNvPr id="5" name="tri-left"/>
            <p:cNvSpPr/>
            <p:nvPr/>
          </p:nvSpPr>
          <p:spPr>
            <a:xfrm>
              <a:off x="1323975" y="14354175"/>
              <a:ext cx="6162675" cy="2790825"/>
            </a:xfrm>
            <a:custGeom>
              <a:avLst/>
              <a:gdLst/>
              <a:ahLst/>
              <a:cxnLst/>
              <a:rect l="l" t="t" r="r" b="b"/>
              <a:pathLst>
                <a:path w="6162675" h="2790825">
                  <a:moveTo>
                    <a:pt x="2790825" y="0"/>
                  </a:moveTo>
                  <a:lnTo>
                    <a:pt x="3381375" y="0"/>
                  </a:lnTo>
                  <a:lnTo>
                    <a:pt x="6162675" y="2790825"/>
                  </a:lnTo>
                  <a:lnTo>
                    <a:pt x="0" y="2790825"/>
                  </a:lnTo>
                  <a:close/>
                </a:path>
              </a:pathLst>
            </a:custGeom>
            <a:gradFill rotWithShape="1">
              <a:gsLst>
                <a:gs pos="0">
                  <a:srgbClr val="448FF4"/>
                </a:gs>
                <a:gs pos="100000">
                  <a:srgbClr val="0BB2F6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ri-right"/>
            <p:cNvSpPr/>
            <p:nvPr/>
          </p:nvSpPr>
          <p:spPr>
            <a:xfrm>
              <a:off x="21840825" y="14354175"/>
              <a:ext cx="6143625" cy="2790825"/>
            </a:xfrm>
            <a:custGeom>
              <a:avLst/>
              <a:gdLst/>
              <a:ahLst/>
              <a:cxnLst/>
              <a:rect l="l" t="t" r="r" b="b"/>
              <a:pathLst>
                <a:path w="6143625" h="2790825">
                  <a:moveTo>
                    <a:pt x="2771775" y="0"/>
                  </a:moveTo>
                  <a:lnTo>
                    <a:pt x="3343275" y="0"/>
                  </a:lnTo>
                  <a:lnTo>
                    <a:pt x="6143625" y="2790825"/>
                  </a:lnTo>
                  <a:lnTo>
                    <a:pt x="0" y="2790825"/>
                  </a:lnTo>
                  <a:close/>
                </a:path>
              </a:pathLst>
            </a:custGeom>
            <a:solidFill>
              <a:srgbClr val="488D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grp-title"/>
          <p:cNvGrpSpPr/>
          <p:nvPr/>
        </p:nvGrpSpPr>
        <p:grpSpPr>
          <a:xfrm>
            <a:off x="1047750" y="1333500"/>
            <a:ext cx="7991475" cy="1333500"/>
            <a:chOff x="1047750" y="1333500"/>
            <a:chExt cx="7991475" cy="1333500"/>
          </a:xfrm>
        </p:grpSpPr>
        <p:sp>
          <p:nvSpPr>
            <p:cNvPr id="7" name="ic-star"/>
            <p:cNvSpPr/>
            <p:nvPr/>
          </p:nvSpPr>
          <p:spPr>
            <a:xfrm>
              <a:off x="1047750" y="133350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647700" y="0"/>
                  </a:moveTo>
                  <a:lnTo>
                    <a:pt x="782002" y="513398"/>
                  </a:lnTo>
                  <a:lnTo>
                    <a:pt x="1295400" y="647700"/>
                  </a:lnTo>
                  <a:lnTo>
                    <a:pt x="782002" y="782002"/>
                  </a:lnTo>
                  <a:lnTo>
                    <a:pt x="647700" y="1295400"/>
                  </a:lnTo>
                  <a:lnTo>
                    <a:pt x="513398" y="782002"/>
                  </a:lnTo>
                  <a:lnTo>
                    <a:pt x="0" y="647700"/>
                  </a:lnTo>
                  <a:lnTo>
                    <a:pt x="513398" y="513398"/>
                  </a:lnTo>
                  <a:close/>
                </a:path>
              </a:pathLst>
            </a:custGeom>
            <a:gradFill rotWithShape="1">
              <a:gsLst>
                <a:gs pos="0">
                  <a:srgbClr val="4B8FF3"/>
                </a:gs>
                <a:gs pos="100000">
                  <a:srgbClr val="3E80E6"/>
                </a:gs>
              </a:gsLst>
              <a:lin scaled="0" ang="189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itle"/>
            <p:cNvSpPr txBox="1"/>
            <p:nvPr/>
          </p:nvSpPr>
          <p:spPr>
            <a:xfrm>
              <a:off x="2752725" y="1343025"/>
              <a:ext cx="6286500" cy="13239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525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研究目标与设计</a:t>
              </a:r>
            </a:p>
          </p:txBody>
        </p:sp>
      </p:grpSp>
      <p:grpSp>
        <p:nvGrpSpPr>
          <p:cNvPr id="80" name="grp-connector"/>
          <p:cNvGrpSpPr/>
          <p:nvPr/>
        </p:nvGrpSpPr>
        <p:grpSpPr>
          <a:xfrm>
            <a:off x="4629150" y="6781800"/>
            <a:ext cx="20935950" cy="1895475"/>
            <a:chOff x="4629150" y="6781800"/>
            <a:chExt cx="20935950" cy="1895475"/>
          </a:xfrm>
        </p:grpSpPr>
        <p:cxnSp>
          <p:nvCxnSpPr>
            <p:cNvPr id="9" name="cn-stem"/>
            <p:cNvCxnSpPr/>
            <p:nvPr/>
          </p:nvCxnSpPr>
          <p:spPr>
            <a:xfrm>
              <a:off x="15020925" y="6781800"/>
              <a:ext cx="0" cy="1285875"/>
            </a:xfrm>
            <a:prstGeom prst="line">
              <a:avLst/>
            </a:prstGeom>
            <a:ln w="76200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0" name="cn-bar"/>
            <p:cNvCxnSpPr/>
            <p:nvPr/>
          </p:nvCxnSpPr>
          <p:spPr>
            <a:xfrm>
              <a:off x="4743450" y="8067675"/>
              <a:ext cx="20707350" cy="0"/>
            </a:xfrm>
            <a:prstGeom prst="line">
              <a:avLst/>
            </a:prstGeom>
            <a:ln w="76200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1" name="cn-drop1"/>
            <p:cNvCxnSpPr/>
            <p:nvPr/>
          </p:nvCxnSpPr>
          <p:spPr>
            <a:xfrm>
              <a:off x="4743450" y="8067675"/>
              <a:ext cx="0" cy="561975"/>
            </a:xfrm>
            <a:prstGeom prst="line">
              <a:avLst/>
            </a:prstGeom>
            <a:ln w="76200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12" name="cn-head1"/>
            <p:cNvSpPr/>
            <p:nvPr/>
          </p:nvSpPr>
          <p:spPr>
            <a:xfrm>
              <a:off x="4629150" y="8515350"/>
              <a:ext cx="228600" cy="161925"/>
            </a:xfrm>
            <a:custGeom>
              <a:avLst/>
              <a:gdLst/>
              <a:ahLst/>
              <a:cxnLst/>
              <a:rect l="l" t="t" r="r" b="b"/>
              <a:pathLst>
                <a:path w="228600" h="161925">
                  <a:moveTo>
                    <a:pt x="0" y="0"/>
                  </a:moveTo>
                  <a:lnTo>
                    <a:pt x="114300" y="161925"/>
                  </a:lnTo>
                  <a:lnTo>
                    <a:pt x="228600" y="0"/>
                  </a:lnTo>
                </a:path>
              </a:pathLst>
            </a:custGeom>
            <a:noFill/>
            <a:ln w="76200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n-drop2"/>
            <p:cNvCxnSpPr/>
            <p:nvPr/>
          </p:nvCxnSpPr>
          <p:spPr>
            <a:xfrm>
              <a:off x="11668125" y="8067675"/>
              <a:ext cx="0" cy="561975"/>
            </a:xfrm>
            <a:prstGeom prst="line">
              <a:avLst/>
            </a:prstGeom>
            <a:ln w="76200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14" name="cn-head2"/>
            <p:cNvSpPr/>
            <p:nvPr/>
          </p:nvSpPr>
          <p:spPr>
            <a:xfrm>
              <a:off x="11553825" y="8515350"/>
              <a:ext cx="228600" cy="161925"/>
            </a:xfrm>
            <a:custGeom>
              <a:avLst/>
              <a:gdLst/>
              <a:ahLst/>
              <a:cxnLst/>
              <a:rect l="l" t="t" r="r" b="b"/>
              <a:pathLst>
                <a:path w="228600" h="161925">
                  <a:moveTo>
                    <a:pt x="0" y="0"/>
                  </a:moveTo>
                  <a:lnTo>
                    <a:pt x="114300" y="161925"/>
                  </a:lnTo>
                  <a:lnTo>
                    <a:pt x="228600" y="0"/>
                  </a:lnTo>
                </a:path>
              </a:pathLst>
            </a:custGeom>
            <a:noFill/>
            <a:ln w="76200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n-drop3"/>
            <p:cNvCxnSpPr/>
            <p:nvPr/>
          </p:nvCxnSpPr>
          <p:spPr>
            <a:xfrm>
              <a:off x="18554700" y="8067675"/>
              <a:ext cx="0" cy="561975"/>
            </a:xfrm>
            <a:prstGeom prst="line">
              <a:avLst/>
            </a:prstGeom>
            <a:ln w="76200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16" name="cn-head3"/>
            <p:cNvSpPr/>
            <p:nvPr/>
          </p:nvSpPr>
          <p:spPr>
            <a:xfrm>
              <a:off x="18440400" y="8515350"/>
              <a:ext cx="228600" cy="161925"/>
            </a:xfrm>
            <a:custGeom>
              <a:avLst/>
              <a:gdLst/>
              <a:ahLst/>
              <a:cxnLst/>
              <a:rect l="l" t="t" r="r" b="b"/>
              <a:pathLst>
                <a:path w="228600" h="161925">
                  <a:moveTo>
                    <a:pt x="0" y="0"/>
                  </a:moveTo>
                  <a:lnTo>
                    <a:pt x="114300" y="161925"/>
                  </a:lnTo>
                  <a:lnTo>
                    <a:pt x="228600" y="0"/>
                  </a:lnTo>
                </a:path>
              </a:pathLst>
            </a:custGeom>
            <a:noFill/>
            <a:ln w="76200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cn-drop4"/>
            <p:cNvCxnSpPr/>
            <p:nvPr/>
          </p:nvCxnSpPr>
          <p:spPr>
            <a:xfrm>
              <a:off x="25450800" y="8067675"/>
              <a:ext cx="0" cy="561975"/>
            </a:xfrm>
            <a:prstGeom prst="line">
              <a:avLst/>
            </a:prstGeom>
            <a:ln w="76200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18" name="cn-head4"/>
            <p:cNvSpPr/>
            <p:nvPr/>
          </p:nvSpPr>
          <p:spPr>
            <a:xfrm>
              <a:off x="25336500" y="8515350"/>
              <a:ext cx="228600" cy="161925"/>
            </a:xfrm>
            <a:custGeom>
              <a:avLst/>
              <a:gdLst/>
              <a:ahLst/>
              <a:cxnLst/>
              <a:rect l="l" t="t" r="r" b="b"/>
              <a:pathLst>
                <a:path w="228600" h="161925">
                  <a:moveTo>
                    <a:pt x="0" y="0"/>
                  </a:moveTo>
                  <a:lnTo>
                    <a:pt x="114300" y="161925"/>
                  </a:lnTo>
                  <a:lnTo>
                    <a:pt x="228600" y="0"/>
                  </a:lnTo>
                </a:path>
              </a:pathLst>
            </a:custGeom>
            <a:noFill/>
            <a:ln w="76200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" name="grp-main-goal"/>
          <p:cNvGrpSpPr/>
          <p:nvPr/>
        </p:nvGrpSpPr>
        <p:grpSpPr>
          <a:xfrm>
            <a:off x="3009900" y="3390900"/>
            <a:ext cx="24022050" cy="3362325"/>
            <a:chOff x="3009900" y="3390900"/>
            <a:chExt cx="24022050" cy="3362325"/>
          </a:xfrm>
        </p:grpSpPr>
        <p:sp>
          <p:nvSpPr>
            <p:cNvPr id="19" name="main-card"/>
            <p:cNvSpPr/>
            <p:nvPr/>
          </p:nvSpPr>
          <p:spPr>
            <a:xfrm>
              <a:off x="3009900" y="3952875"/>
              <a:ext cx="24022050" cy="2800350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47625">
              <a:solidFill>
                <a:srgbClr val="D2DD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banner"/>
            <p:cNvSpPr/>
            <p:nvPr/>
          </p:nvSpPr>
          <p:spPr>
            <a:xfrm>
              <a:off x="11658600" y="3390900"/>
              <a:ext cx="6667500" cy="1123950"/>
            </a:xfrm>
            <a:prstGeom prst="roundRect">
              <a:avLst>
                <a:gd name="adj" fmla="val 30508"/>
              </a:avLst>
            </a:prstGeom>
            <a:gradFill rotWithShape="1">
              <a:gsLst>
                <a:gs pos="0">
                  <a:srgbClr val="B4C7F8"/>
                </a:gs>
                <a:gs pos="75000">
                  <a:srgbClr val="3E7BD8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banner-text"/>
            <p:cNvSpPr txBox="1"/>
            <p:nvPr/>
          </p:nvSpPr>
          <p:spPr>
            <a:xfrm>
              <a:off x="11658600" y="3743325"/>
              <a:ext cx="66675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总体研究目的</a:t>
              </a:r>
            </a:p>
          </p:txBody>
        </p:sp>
        <p:sp>
          <p:nvSpPr>
            <p:cNvPr id="22" name="target-1"/>
            <p:cNvSpPr/>
            <p:nvPr/>
          </p:nvSpPr>
          <p:spPr>
            <a:xfrm>
              <a:off x="3724275" y="4314825"/>
              <a:ext cx="2019300" cy="2019300"/>
            </a:xfrm>
            <a:prstGeom prst="ellipse">
              <a:avLst/>
            </a:prstGeom>
            <a:solidFill>
              <a:srgbClr val="4A8F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arget-2"/>
            <p:cNvSpPr/>
            <p:nvPr/>
          </p:nvSpPr>
          <p:spPr>
            <a:xfrm>
              <a:off x="4067175" y="4657725"/>
              <a:ext cx="1333500" cy="1333500"/>
            </a:xfrm>
            <a:prstGeom prst="ellipse">
              <a:avLst/>
            </a:prstGeom>
            <a:solidFill>
              <a:srgbClr val="E8FB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arget-3"/>
            <p:cNvSpPr/>
            <p:nvPr/>
          </p:nvSpPr>
          <p:spPr>
            <a:xfrm>
              <a:off x="4419600" y="5010150"/>
              <a:ext cx="628650" cy="628650"/>
            </a:xfrm>
            <a:prstGeom prst="ellipse">
              <a:avLst/>
            </a:prstGeom>
            <a:solidFill>
              <a:srgbClr val="4389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target-arrow"/>
            <p:cNvCxnSpPr/>
            <p:nvPr/>
          </p:nvCxnSpPr>
          <p:spPr>
            <a:xfrm flipV="1">
              <a:off x="4810125" y="4400550"/>
              <a:ext cx="904875" cy="847725"/>
            </a:xfrm>
            <a:prstGeom prst="line">
              <a:avLst/>
            </a:prstGeom>
            <a:ln w="171450">
              <a:solidFill>
                <a:srgbClr val="8E5BE8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26" name="main-body-1"/>
            <p:cNvSpPr txBox="1"/>
            <p:nvPr/>
          </p:nvSpPr>
          <p:spPr>
            <a:xfrm>
              <a:off x="6896100" y="4962525"/>
              <a:ext cx="16192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系统探究社交媒体使用模式对青少年心理健康的具体影响机制，</a:t>
              </a:r>
            </a:p>
          </p:txBody>
        </p:sp>
        <p:sp>
          <p:nvSpPr>
            <p:cNvPr id="27" name="main-body-2"/>
            <p:cNvSpPr txBox="1"/>
            <p:nvPr/>
          </p:nvSpPr>
          <p:spPr>
            <a:xfrm>
              <a:off x="6896100" y="5562600"/>
              <a:ext cx="16192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并识别其中关键的保护性与风险性因素，为干预方案提供实证依据。</a:t>
              </a:r>
            </a:p>
          </p:txBody>
        </p:sp>
      </p:grpSp>
      <p:grpSp>
        <p:nvGrpSpPr>
          <p:cNvPr id="77" name="grp-card-1"/>
          <p:cNvGrpSpPr/>
          <p:nvPr/>
        </p:nvGrpSpPr>
        <p:grpSpPr>
          <a:xfrm>
            <a:off x="1476375" y="8734425"/>
            <a:ext cx="6534150" cy="5229225"/>
            <a:chOff x="1476375" y="8734425"/>
            <a:chExt cx="6534150" cy="5229225"/>
          </a:xfrm>
        </p:grpSpPr>
        <p:sp>
          <p:nvSpPr>
            <p:cNvPr id="28" name="c1-panel"/>
            <p:cNvSpPr/>
            <p:nvPr/>
          </p:nvSpPr>
          <p:spPr>
            <a:xfrm>
              <a:off x="1476375" y="8734425"/>
              <a:ext cx="6534150" cy="5229225"/>
            </a:xfrm>
            <a:prstGeom prst="roundRect">
              <a:avLst>
                <a:gd name="adj" fmla="val 4735"/>
              </a:avLst>
            </a:prstGeom>
            <a:solidFill>
              <a:srgbClr val="FFFFFF"/>
            </a:solidFill>
            <a:ln w="38100">
              <a:solidFill>
                <a:srgbClr val="D2DD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c1-bulb"/>
            <p:cNvSpPr/>
            <p:nvPr/>
          </p:nvSpPr>
          <p:spPr>
            <a:xfrm>
              <a:off x="1915478" y="9201150"/>
              <a:ext cx="741044" cy="952500"/>
            </a:xfrm>
            <a:custGeom>
              <a:avLst/>
              <a:gdLst/>
              <a:ahLst/>
              <a:cxnLst/>
              <a:rect l="l" t="t" r="r" b="b"/>
              <a:pathLst>
                <a:path w="741044" h="952500">
                  <a:moveTo>
                    <a:pt x="173354" y="686752"/>
                  </a:moveTo>
                  <a:lnTo>
                    <a:pt x="110490" y="637222"/>
                  </a:lnTo>
                  <a:lnTo>
                    <a:pt x="60007" y="575310"/>
                  </a:lnTo>
                  <a:lnTo>
                    <a:pt x="23812" y="504825"/>
                  </a:lnTo>
                  <a:lnTo>
                    <a:pt x="2857" y="427672"/>
                  </a:lnTo>
                  <a:lnTo>
                    <a:pt x="0" y="347662"/>
                  </a:lnTo>
                  <a:lnTo>
                    <a:pt x="13334" y="269558"/>
                  </a:lnTo>
                  <a:lnTo>
                    <a:pt x="43814" y="195262"/>
                  </a:lnTo>
                  <a:lnTo>
                    <a:pt x="88582" y="129540"/>
                  </a:lnTo>
                  <a:lnTo>
                    <a:pt x="146684" y="75248"/>
                  </a:lnTo>
                  <a:lnTo>
                    <a:pt x="215264" y="34290"/>
                  </a:lnTo>
                  <a:lnTo>
                    <a:pt x="291464" y="8572"/>
                  </a:lnTo>
                  <a:lnTo>
                    <a:pt x="370522" y="0"/>
                  </a:lnTo>
                  <a:lnTo>
                    <a:pt x="449580" y="8572"/>
                  </a:lnTo>
                  <a:lnTo>
                    <a:pt x="525780" y="34290"/>
                  </a:lnTo>
                  <a:lnTo>
                    <a:pt x="594360" y="75248"/>
                  </a:lnTo>
                  <a:lnTo>
                    <a:pt x="652462" y="129540"/>
                  </a:lnTo>
                  <a:lnTo>
                    <a:pt x="697230" y="195262"/>
                  </a:lnTo>
                  <a:lnTo>
                    <a:pt x="727710" y="269558"/>
                  </a:lnTo>
                  <a:lnTo>
                    <a:pt x="741044" y="347662"/>
                  </a:lnTo>
                  <a:lnTo>
                    <a:pt x="738187" y="427672"/>
                  </a:lnTo>
                  <a:lnTo>
                    <a:pt x="717232" y="504825"/>
                  </a:lnTo>
                  <a:lnTo>
                    <a:pt x="681037" y="575310"/>
                  </a:lnTo>
                  <a:lnTo>
                    <a:pt x="630554" y="637222"/>
                  </a:lnTo>
                  <a:lnTo>
                    <a:pt x="567690" y="686752"/>
                  </a:lnTo>
                  <a:lnTo>
                    <a:pt x="570547" y="952500"/>
                  </a:lnTo>
                  <a:lnTo>
                    <a:pt x="170497" y="952500"/>
                  </a:lnTo>
                  <a:close/>
                </a:path>
              </a:pathLst>
            </a:custGeom>
            <a:solidFill>
              <a:srgbClr val="FFFFFF"/>
            </a:solidFill>
            <a:ln w="85725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c1-base"/>
            <p:cNvSpPr/>
            <p:nvPr/>
          </p:nvSpPr>
          <p:spPr>
            <a:xfrm>
              <a:off x="2095500" y="10220325"/>
              <a:ext cx="381000" cy="123825"/>
            </a:xfrm>
            <a:prstGeom prst="roundRect">
              <a:avLst>
                <a:gd name="adj" fmla="val 46153"/>
              </a:avLst>
            </a:prstGeom>
            <a:solidFill>
              <a:srgbClr val="2AA9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1-ray-c"/>
            <p:cNvCxnSpPr/>
            <p:nvPr/>
          </p:nvCxnSpPr>
          <p:spPr>
            <a:xfrm>
              <a:off x="2286000" y="9039225"/>
              <a:ext cx="0" cy="11430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32" name="c1-ray-l"/>
            <p:cNvCxnSpPr/>
            <p:nvPr/>
          </p:nvCxnSpPr>
          <p:spPr>
            <a:xfrm>
              <a:off x="1876425" y="9210675"/>
              <a:ext cx="95250" cy="9525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33" name="c1-ray-r"/>
            <p:cNvCxnSpPr/>
            <p:nvPr/>
          </p:nvCxnSpPr>
          <p:spPr>
            <a:xfrm flipH="1">
              <a:off x="2600325" y="9210675"/>
              <a:ext cx="95250" cy="9525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34" name="c1-filament"/>
            <p:cNvSpPr/>
            <p:nvPr/>
          </p:nvSpPr>
          <p:spPr>
            <a:xfrm>
              <a:off x="2095500" y="9515475"/>
              <a:ext cx="381000" cy="152400"/>
            </a:xfrm>
            <a:custGeom>
              <a:avLst/>
              <a:gdLst/>
              <a:ahLst/>
              <a:cxnLst/>
              <a:rect l="l" t="t" r="r" b="b"/>
              <a:pathLst>
                <a:path w="381000" h="152400">
                  <a:moveTo>
                    <a:pt x="0" y="76200"/>
                  </a:moveTo>
                  <a:lnTo>
                    <a:pt x="9525" y="63817"/>
                  </a:lnTo>
                  <a:lnTo>
                    <a:pt x="19050" y="52387"/>
                  </a:lnTo>
                  <a:lnTo>
                    <a:pt x="28575" y="41910"/>
                  </a:lnTo>
                  <a:lnTo>
                    <a:pt x="38100" y="31433"/>
                  </a:lnTo>
                  <a:lnTo>
                    <a:pt x="47625" y="21907"/>
                  </a:lnTo>
                  <a:lnTo>
                    <a:pt x="57150" y="14287"/>
                  </a:lnTo>
                  <a:lnTo>
                    <a:pt x="66675" y="8573"/>
                  </a:lnTo>
                  <a:lnTo>
                    <a:pt x="76200" y="3810"/>
                  </a:lnTo>
                  <a:lnTo>
                    <a:pt x="85725" y="953"/>
                  </a:lnTo>
                  <a:lnTo>
                    <a:pt x="95250" y="0"/>
                  </a:lnTo>
                  <a:lnTo>
                    <a:pt x="104775" y="953"/>
                  </a:lnTo>
                  <a:lnTo>
                    <a:pt x="114300" y="3810"/>
                  </a:lnTo>
                  <a:lnTo>
                    <a:pt x="123825" y="8573"/>
                  </a:lnTo>
                  <a:lnTo>
                    <a:pt x="133350" y="14287"/>
                  </a:lnTo>
                  <a:lnTo>
                    <a:pt x="142875" y="21907"/>
                  </a:lnTo>
                  <a:lnTo>
                    <a:pt x="152400" y="31433"/>
                  </a:lnTo>
                  <a:lnTo>
                    <a:pt x="161925" y="41910"/>
                  </a:lnTo>
                  <a:lnTo>
                    <a:pt x="171450" y="52387"/>
                  </a:lnTo>
                  <a:lnTo>
                    <a:pt x="180975" y="63817"/>
                  </a:lnTo>
                  <a:lnTo>
                    <a:pt x="190500" y="76200"/>
                  </a:lnTo>
                  <a:lnTo>
                    <a:pt x="200025" y="88583"/>
                  </a:lnTo>
                  <a:lnTo>
                    <a:pt x="209550" y="100013"/>
                  </a:lnTo>
                  <a:lnTo>
                    <a:pt x="219075" y="110490"/>
                  </a:lnTo>
                  <a:lnTo>
                    <a:pt x="228600" y="120967"/>
                  </a:lnTo>
                  <a:lnTo>
                    <a:pt x="238125" y="130493"/>
                  </a:lnTo>
                  <a:lnTo>
                    <a:pt x="247650" y="138113"/>
                  </a:lnTo>
                  <a:lnTo>
                    <a:pt x="257175" y="143827"/>
                  </a:lnTo>
                  <a:lnTo>
                    <a:pt x="266700" y="148590"/>
                  </a:lnTo>
                  <a:lnTo>
                    <a:pt x="276225" y="151447"/>
                  </a:lnTo>
                  <a:lnTo>
                    <a:pt x="285750" y="152400"/>
                  </a:lnTo>
                  <a:lnTo>
                    <a:pt x="295275" y="151447"/>
                  </a:lnTo>
                  <a:lnTo>
                    <a:pt x="304800" y="148590"/>
                  </a:lnTo>
                  <a:lnTo>
                    <a:pt x="314325" y="143827"/>
                  </a:lnTo>
                  <a:lnTo>
                    <a:pt x="323850" y="138113"/>
                  </a:lnTo>
                  <a:lnTo>
                    <a:pt x="333375" y="130493"/>
                  </a:lnTo>
                  <a:lnTo>
                    <a:pt x="342900" y="120967"/>
                  </a:lnTo>
                  <a:lnTo>
                    <a:pt x="352425" y="110490"/>
                  </a:lnTo>
                  <a:lnTo>
                    <a:pt x="361950" y="100013"/>
                  </a:lnTo>
                  <a:lnTo>
                    <a:pt x="371475" y="88583"/>
                  </a:lnTo>
                  <a:lnTo>
                    <a:pt x="381000" y="76200"/>
                  </a:lnTo>
                </a:path>
              </a:pathLst>
            </a:custGeom>
            <a:noFill/>
            <a:ln w="76200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c1-title"/>
            <p:cNvSpPr txBox="1"/>
            <p:nvPr/>
          </p:nvSpPr>
          <p:spPr>
            <a:xfrm>
              <a:off x="3105150" y="9458325"/>
              <a:ext cx="3143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2D6FD1"/>
                  </a:solidFill>
                  <a:latin typeface="Microsoft YaHei"/>
                  <a:ea typeface="Microsoft YaHei"/>
                  <a:cs typeface="Microsoft YaHei"/>
                </a:rPr>
                <a:t>量化关联强度</a:t>
              </a:r>
            </a:p>
          </p:txBody>
        </p:sp>
        <p:sp>
          <p:nvSpPr>
            <p:cNvPr id="36" name="c1-body-1"/>
            <p:cNvSpPr txBox="1"/>
            <p:nvPr/>
          </p:nvSpPr>
          <p:spPr>
            <a:xfrm>
              <a:off x="1800225" y="11363325"/>
              <a:ext cx="5905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测量使用时长与焦虑、抑郁等心理</a:t>
              </a:r>
            </a:p>
          </p:txBody>
        </p:sp>
        <p:sp>
          <p:nvSpPr>
            <p:cNvPr id="37" name="c1-body-2"/>
            <p:cNvSpPr txBox="1"/>
            <p:nvPr/>
          </p:nvSpPr>
          <p:spPr>
            <a:xfrm>
              <a:off x="1800225" y="11963400"/>
              <a:ext cx="5905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健康指标之间的统计学相关性。</a:t>
              </a:r>
            </a:p>
          </p:txBody>
        </p:sp>
      </p:grpSp>
      <p:grpSp>
        <p:nvGrpSpPr>
          <p:cNvPr id="73" name="grp-card-2"/>
          <p:cNvGrpSpPr/>
          <p:nvPr/>
        </p:nvGrpSpPr>
        <p:grpSpPr>
          <a:xfrm>
            <a:off x="8401050" y="8734425"/>
            <a:ext cx="6534150" cy="5229225"/>
            <a:chOff x="8401050" y="8734425"/>
            <a:chExt cx="6534150" cy="5229225"/>
          </a:xfrm>
        </p:grpSpPr>
        <p:sp>
          <p:nvSpPr>
            <p:cNvPr id="38" name="c2-panel"/>
            <p:cNvSpPr/>
            <p:nvPr/>
          </p:nvSpPr>
          <p:spPr>
            <a:xfrm>
              <a:off x="8401050" y="8734425"/>
              <a:ext cx="6534150" cy="5229225"/>
            </a:xfrm>
            <a:prstGeom prst="roundRect">
              <a:avLst>
                <a:gd name="adj" fmla="val 4735"/>
              </a:avLst>
            </a:prstGeom>
            <a:solidFill>
              <a:srgbClr val="FFFFFF"/>
            </a:solidFill>
            <a:ln w="38100">
              <a:solidFill>
                <a:srgbClr val="D2DD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c2-bulb"/>
            <p:cNvSpPr/>
            <p:nvPr/>
          </p:nvSpPr>
          <p:spPr>
            <a:xfrm>
              <a:off x="8840152" y="9201150"/>
              <a:ext cx="741046" cy="952500"/>
            </a:xfrm>
            <a:custGeom>
              <a:avLst/>
              <a:gdLst/>
              <a:ahLst/>
              <a:cxnLst/>
              <a:rect l="l" t="t" r="r" b="b"/>
              <a:pathLst>
                <a:path w="741046" h="952500">
                  <a:moveTo>
                    <a:pt x="173356" y="686752"/>
                  </a:moveTo>
                  <a:lnTo>
                    <a:pt x="110490" y="637222"/>
                  </a:lnTo>
                  <a:lnTo>
                    <a:pt x="60008" y="575310"/>
                  </a:lnTo>
                  <a:lnTo>
                    <a:pt x="23813" y="504825"/>
                  </a:lnTo>
                  <a:lnTo>
                    <a:pt x="2858" y="427672"/>
                  </a:lnTo>
                  <a:lnTo>
                    <a:pt x="0" y="347662"/>
                  </a:lnTo>
                  <a:lnTo>
                    <a:pt x="13336" y="269558"/>
                  </a:lnTo>
                  <a:lnTo>
                    <a:pt x="43816" y="195262"/>
                  </a:lnTo>
                  <a:lnTo>
                    <a:pt x="88583" y="129540"/>
                  </a:lnTo>
                  <a:lnTo>
                    <a:pt x="146686" y="75248"/>
                  </a:lnTo>
                  <a:lnTo>
                    <a:pt x="215266" y="34290"/>
                  </a:lnTo>
                  <a:lnTo>
                    <a:pt x="291466" y="8572"/>
                  </a:lnTo>
                  <a:lnTo>
                    <a:pt x="370523" y="0"/>
                  </a:lnTo>
                  <a:lnTo>
                    <a:pt x="449580" y="8572"/>
                  </a:lnTo>
                  <a:lnTo>
                    <a:pt x="525780" y="34290"/>
                  </a:lnTo>
                  <a:lnTo>
                    <a:pt x="594360" y="75248"/>
                  </a:lnTo>
                  <a:lnTo>
                    <a:pt x="652463" y="129540"/>
                  </a:lnTo>
                  <a:lnTo>
                    <a:pt x="697230" y="195262"/>
                  </a:lnTo>
                  <a:lnTo>
                    <a:pt x="727710" y="269558"/>
                  </a:lnTo>
                  <a:lnTo>
                    <a:pt x="741046" y="347662"/>
                  </a:lnTo>
                  <a:lnTo>
                    <a:pt x="738188" y="427672"/>
                  </a:lnTo>
                  <a:lnTo>
                    <a:pt x="717233" y="504825"/>
                  </a:lnTo>
                  <a:lnTo>
                    <a:pt x="681038" y="575310"/>
                  </a:lnTo>
                  <a:lnTo>
                    <a:pt x="630556" y="637222"/>
                  </a:lnTo>
                  <a:lnTo>
                    <a:pt x="567690" y="686752"/>
                  </a:lnTo>
                  <a:lnTo>
                    <a:pt x="570548" y="952500"/>
                  </a:lnTo>
                  <a:lnTo>
                    <a:pt x="170498" y="952500"/>
                  </a:lnTo>
                  <a:close/>
                </a:path>
              </a:pathLst>
            </a:custGeom>
            <a:solidFill>
              <a:srgbClr val="FFFFFF"/>
            </a:solidFill>
            <a:ln w="85725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c2-base"/>
            <p:cNvSpPr/>
            <p:nvPr/>
          </p:nvSpPr>
          <p:spPr>
            <a:xfrm>
              <a:off x="9020175" y="10220325"/>
              <a:ext cx="381000" cy="123825"/>
            </a:xfrm>
            <a:prstGeom prst="roundRect">
              <a:avLst>
                <a:gd name="adj" fmla="val 46153"/>
              </a:avLst>
            </a:prstGeom>
            <a:solidFill>
              <a:srgbClr val="2AA9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" name="c2-ray-c"/>
            <p:cNvCxnSpPr/>
            <p:nvPr/>
          </p:nvCxnSpPr>
          <p:spPr>
            <a:xfrm>
              <a:off x="9210675" y="9039225"/>
              <a:ext cx="0" cy="11430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42" name="c2-ray-l"/>
            <p:cNvCxnSpPr/>
            <p:nvPr/>
          </p:nvCxnSpPr>
          <p:spPr>
            <a:xfrm>
              <a:off x="8801100" y="9210675"/>
              <a:ext cx="95250" cy="9525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43" name="c2-ray-r"/>
            <p:cNvCxnSpPr/>
            <p:nvPr/>
          </p:nvCxnSpPr>
          <p:spPr>
            <a:xfrm flipH="1">
              <a:off x="9525000" y="9210675"/>
              <a:ext cx="95250" cy="9525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44" name="c2-filament"/>
            <p:cNvSpPr/>
            <p:nvPr/>
          </p:nvSpPr>
          <p:spPr>
            <a:xfrm>
              <a:off x="9020175" y="9515475"/>
              <a:ext cx="381000" cy="152400"/>
            </a:xfrm>
            <a:custGeom>
              <a:avLst/>
              <a:gdLst/>
              <a:ahLst/>
              <a:cxnLst/>
              <a:rect l="l" t="t" r="r" b="b"/>
              <a:pathLst>
                <a:path w="381000" h="152400">
                  <a:moveTo>
                    <a:pt x="0" y="76200"/>
                  </a:moveTo>
                  <a:lnTo>
                    <a:pt x="9525" y="63817"/>
                  </a:lnTo>
                  <a:lnTo>
                    <a:pt x="19050" y="52387"/>
                  </a:lnTo>
                  <a:lnTo>
                    <a:pt x="28575" y="41910"/>
                  </a:lnTo>
                  <a:lnTo>
                    <a:pt x="38100" y="31433"/>
                  </a:lnTo>
                  <a:lnTo>
                    <a:pt x="47625" y="21907"/>
                  </a:lnTo>
                  <a:lnTo>
                    <a:pt x="57150" y="14287"/>
                  </a:lnTo>
                  <a:lnTo>
                    <a:pt x="66675" y="8573"/>
                  </a:lnTo>
                  <a:lnTo>
                    <a:pt x="76200" y="3810"/>
                  </a:lnTo>
                  <a:lnTo>
                    <a:pt x="85725" y="953"/>
                  </a:lnTo>
                  <a:lnTo>
                    <a:pt x="95250" y="0"/>
                  </a:lnTo>
                  <a:lnTo>
                    <a:pt x="104775" y="953"/>
                  </a:lnTo>
                  <a:lnTo>
                    <a:pt x="114300" y="3810"/>
                  </a:lnTo>
                  <a:lnTo>
                    <a:pt x="123825" y="8573"/>
                  </a:lnTo>
                  <a:lnTo>
                    <a:pt x="133350" y="14287"/>
                  </a:lnTo>
                  <a:lnTo>
                    <a:pt x="142875" y="21907"/>
                  </a:lnTo>
                  <a:lnTo>
                    <a:pt x="152400" y="31433"/>
                  </a:lnTo>
                  <a:lnTo>
                    <a:pt x="161925" y="41910"/>
                  </a:lnTo>
                  <a:lnTo>
                    <a:pt x="171450" y="52387"/>
                  </a:lnTo>
                  <a:lnTo>
                    <a:pt x="180975" y="63817"/>
                  </a:lnTo>
                  <a:lnTo>
                    <a:pt x="190500" y="76200"/>
                  </a:lnTo>
                  <a:lnTo>
                    <a:pt x="200025" y="88583"/>
                  </a:lnTo>
                  <a:lnTo>
                    <a:pt x="209550" y="100013"/>
                  </a:lnTo>
                  <a:lnTo>
                    <a:pt x="219075" y="110490"/>
                  </a:lnTo>
                  <a:lnTo>
                    <a:pt x="228600" y="120967"/>
                  </a:lnTo>
                  <a:lnTo>
                    <a:pt x="238125" y="130493"/>
                  </a:lnTo>
                  <a:lnTo>
                    <a:pt x="247650" y="138113"/>
                  </a:lnTo>
                  <a:lnTo>
                    <a:pt x="257175" y="143827"/>
                  </a:lnTo>
                  <a:lnTo>
                    <a:pt x="266700" y="148590"/>
                  </a:lnTo>
                  <a:lnTo>
                    <a:pt x="276225" y="151447"/>
                  </a:lnTo>
                  <a:lnTo>
                    <a:pt x="285750" y="152400"/>
                  </a:lnTo>
                  <a:lnTo>
                    <a:pt x="295275" y="151447"/>
                  </a:lnTo>
                  <a:lnTo>
                    <a:pt x="304800" y="148590"/>
                  </a:lnTo>
                  <a:lnTo>
                    <a:pt x="314325" y="143827"/>
                  </a:lnTo>
                  <a:lnTo>
                    <a:pt x="323850" y="138113"/>
                  </a:lnTo>
                  <a:lnTo>
                    <a:pt x="333375" y="130493"/>
                  </a:lnTo>
                  <a:lnTo>
                    <a:pt x="342900" y="120967"/>
                  </a:lnTo>
                  <a:lnTo>
                    <a:pt x="352425" y="110490"/>
                  </a:lnTo>
                  <a:lnTo>
                    <a:pt x="361950" y="100013"/>
                  </a:lnTo>
                  <a:lnTo>
                    <a:pt x="371475" y="88583"/>
                  </a:lnTo>
                  <a:lnTo>
                    <a:pt x="381000" y="76200"/>
                  </a:lnTo>
                </a:path>
              </a:pathLst>
            </a:custGeom>
            <a:noFill/>
            <a:ln w="76200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c2-title"/>
            <p:cNvSpPr txBox="1"/>
            <p:nvPr/>
          </p:nvSpPr>
          <p:spPr>
            <a:xfrm>
              <a:off x="10029825" y="9458325"/>
              <a:ext cx="3143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2D6FD1"/>
                  </a:solidFill>
                  <a:latin typeface="Microsoft YaHei"/>
                  <a:ea typeface="Microsoft YaHei"/>
                  <a:cs typeface="Microsoft YaHei"/>
                </a:rPr>
                <a:t>识别使用模式</a:t>
              </a:r>
            </a:p>
          </p:txBody>
        </p:sp>
        <p:sp>
          <p:nvSpPr>
            <p:cNvPr id="46" name="c2-body-1"/>
            <p:cNvSpPr txBox="1"/>
            <p:nvPr/>
          </p:nvSpPr>
          <p:spPr>
            <a:xfrm>
              <a:off x="8724900" y="11077575"/>
              <a:ext cx="5905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对比“被动浏览”与“主动互</a:t>
              </a:r>
            </a:p>
          </p:txBody>
        </p:sp>
        <p:sp>
          <p:nvSpPr>
            <p:cNvPr id="47" name="c2-body-2"/>
            <p:cNvSpPr txBox="1"/>
            <p:nvPr/>
          </p:nvSpPr>
          <p:spPr>
            <a:xfrm>
              <a:off x="8724900" y="11677650"/>
              <a:ext cx="5905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动”等不同模式对心理健康的差异</a:t>
              </a:r>
            </a:p>
          </p:txBody>
        </p:sp>
        <p:sp>
          <p:nvSpPr>
            <p:cNvPr id="48" name="c2-body-3"/>
            <p:cNvSpPr txBox="1"/>
            <p:nvPr/>
          </p:nvSpPr>
          <p:spPr>
            <a:xfrm>
              <a:off x="8724900" y="12277725"/>
              <a:ext cx="5905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化影响。</a:t>
              </a:r>
            </a:p>
          </p:txBody>
        </p:sp>
      </p:grpSp>
      <p:grpSp>
        <p:nvGrpSpPr>
          <p:cNvPr id="75" name="grp-card-3"/>
          <p:cNvGrpSpPr/>
          <p:nvPr/>
        </p:nvGrpSpPr>
        <p:grpSpPr>
          <a:xfrm>
            <a:off x="15306675" y="8734425"/>
            <a:ext cx="6534150" cy="5229225"/>
            <a:chOff x="15306675" y="8734425"/>
            <a:chExt cx="6534150" cy="5229225"/>
          </a:xfrm>
        </p:grpSpPr>
        <p:sp>
          <p:nvSpPr>
            <p:cNvPr id="49" name="c3-panel"/>
            <p:cNvSpPr/>
            <p:nvPr/>
          </p:nvSpPr>
          <p:spPr>
            <a:xfrm>
              <a:off x="15306675" y="8734425"/>
              <a:ext cx="6534150" cy="5229225"/>
            </a:xfrm>
            <a:prstGeom prst="roundRect">
              <a:avLst>
                <a:gd name="adj" fmla="val 4735"/>
              </a:avLst>
            </a:prstGeom>
            <a:solidFill>
              <a:srgbClr val="FFFFFF"/>
            </a:solidFill>
            <a:ln w="38100">
              <a:solidFill>
                <a:srgbClr val="D2DD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c3-bulb"/>
            <p:cNvSpPr/>
            <p:nvPr/>
          </p:nvSpPr>
          <p:spPr>
            <a:xfrm>
              <a:off x="15745778" y="9201150"/>
              <a:ext cx="741044" cy="952500"/>
            </a:xfrm>
            <a:custGeom>
              <a:avLst/>
              <a:gdLst/>
              <a:ahLst/>
              <a:cxnLst/>
              <a:rect l="l" t="t" r="r" b="b"/>
              <a:pathLst>
                <a:path w="741044" h="952500">
                  <a:moveTo>
                    <a:pt x="173354" y="686752"/>
                  </a:moveTo>
                  <a:lnTo>
                    <a:pt x="110490" y="637222"/>
                  </a:lnTo>
                  <a:lnTo>
                    <a:pt x="60007" y="575310"/>
                  </a:lnTo>
                  <a:lnTo>
                    <a:pt x="23812" y="504825"/>
                  </a:lnTo>
                  <a:lnTo>
                    <a:pt x="2857" y="427672"/>
                  </a:lnTo>
                  <a:lnTo>
                    <a:pt x="0" y="347662"/>
                  </a:lnTo>
                  <a:lnTo>
                    <a:pt x="13334" y="269558"/>
                  </a:lnTo>
                  <a:lnTo>
                    <a:pt x="43814" y="195262"/>
                  </a:lnTo>
                  <a:lnTo>
                    <a:pt x="88582" y="129540"/>
                  </a:lnTo>
                  <a:lnTo>
                    <a:pt x="146684" y="75248"/>
                  </a:lnTo>
                  <a:lnTo>
                    <a:pt x="215264" y="34290"/>
                  </a:lnTo>
                  <a:lnTo>
                    <a:pt x="291464" y="8572"/>
                  </a:lnTo>
                  <a:lnTo>
                    <a:pt x="370522" y="0"/>
                  </a:lnTo>
                  <a:lnTo>
                    <a:pt x="449580" y="8572"/>
                  </a:lnTo>
                  <a:lnTo>
                    <a:pt x="525780" y="34290"/>
                  </a:lnTo>
                  <a:lnTo>
                    <a:pt x="594360" y="75248"/>
                  </a:lnTo>
                  <a:lnTo>
                    <a:pt x="652462" y="129540"/>
                  </a:lnTo>
                  <a:lnTo>
                    <a:pt x="697230" y="195262"/>
                  </a:lnTo>
                  <a:lnTo>
                    <a:pt x="727710" y="269558"/>
                  </a:lnTo>
                  <a:lnTo>
                    <a:pt x="741044" y="347662"/>
                  </a:lnTo>
                  <a:lnTo>
                    <a:pt x="738187" y="427672"/>
                  </a:lnTo>
                  <a:lnTo>
                    <a:pt x="717232" y="504825"/>
                  </a:lnTo>
                  <a:lnTo>
                    <a:pt x="681037" y="575310"/>
                  </a:lnTo>
                  <a:lnTo>
                    <a:pt x="630554" y="637222"/>
                  </a:lnTo>
                  <a:lnTo>
                    <a:pt x="567690" y="686752"/>
                  </a:lnTo>
                  <a:lnTo>
                    <a:pt x="570547" y="952500"/>
                  </a:lnTo>
                  <a:lnTo>
                    <a:pt x="170497" y="952500"/>
                  </a:lnTo>
                  <a:close/>
                </a:path>
              </a:pathLst>
            </a:custGeom>
            <a:solidFill>
              <a:srgbClr val="FFFFFF"/>
            </a:solidFill>
            <a:ln w="85725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c3-base"/>
            <p:cNvSpPr/>
            <p:nvPr/>
          </p:nvSpPr>
          <p:spPr>
            <a:xfrm>
              <a:off x="15925800" y="10220325"/>
              <a:ext cx="381000" cy="123825"/>
            </a:xfrm>
            <a:prstGeom prst="roundRect">
              <a:avLst>
                <a:gd name="adj" fmla="val 46153"/>
              </a:avLst>
            </a:prstGeom>
            <a:solidFill>
              <a:srgbClr val="2AA9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c3-ray-c"/>
            <p:cNvCxnSpPr/>
            <p:nvPr/>
          </p:nvCxnSpPr>
          <p:spPr>
            <a:xfrm>
              <a:off x="16116300" y="9039225"/>
              <a:ext cx="0" cy="11430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53" name="c3-ray-l"/>
            <p:cNvCxnSpPr/>
            <p:nvPr/>
          </p:nvCxnSpPr>
          <p:spPr>
            <a:xfrm>
              <a:off x="15706725" y="9210675"/>
              <a:ext cx="95250" cy="9525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54" name="c3-ray-r"/>
            <p:cNvCxnSpPr/>
            <p:nvPr/>
          </p:nvCxnSpPr>
          <p:spPr>
            <a:xfrm flipH="1">
              <a:off x="16430625" y="9210675"/>
              <a:ext cx="95250" cy="9525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55" name="c3-filament"/>
            <p:cNvSpPr/>
            <p:nvPr/>
          </p:nvSpPr>
          <p:spPr>
            <a:xfrm>
              <a:off x="15925800" y="9515475"/>
              <a:ext cx="381000" cy="152400"/>
            </a:xfrm>
            <a:custGeom>
              <a:avLst/>
              <a:gdLst/>
              <a:ahLst/>
              <a:cxnLst/>
              <a:rect l="l" t="t" r="r" b="b"/>
              <a:pathLst>
                <a:path w="381000" h="152400">
                  <a:moveTo>
                    <a:pt x="0" y="76200"/>
                  </a:moveTo>
                  <a:lnTo>
                    <a:pt x="9525" y="63817"/>
                  </a:lnTo>
                  <a:lnTo>
                    <a:pt x="19050" y="52387"/>
                  </a:lnTo>
                  <a:lnTo>
                    <a:pt x="28575" y="41910"/>
                  </a:lnTo>
                  <a:lnTo>
                    <a:pt x="38100" y="31433"/>
                  </a:lnTo>
                  <a:lnTo>
                    <a:pt x="47625" y="21907"/>
                  </a:lnTo>
                  <a:lnTo>
                    <a:pt x="57150" y="14287"/>
                  </a:lnTo>
                  <a:lnTo>
                    <a:pt x="66675" y="8573"/>
                  </a:lnTo>
                  <a:lnTo>
                    <a:pt x="76200" y="3810"/>
                  </a:lnTo>
                  <a:lnTo>
                    <a:pt x="85725" y="953"/>
                  </a:lnTo>
                  <a:lnTo>
                    <a:pt x="95250" y="0"/>
                  </a:lnTo>
                  <a:lnTo>
                    <a:pt x="104775" y="953"/>
                  </a:lnTo>
                  <a:lnTo>
                    <a:pt x="114300" y="3810"/>
                  </a:lnTo>
                  <a:lnTo>
                    <a:pt x="123825" y="8573"/>
                  </a:lnTo>
                  <a:lnTo>
                    <a:pt x="133350" y="14287"/>
                  </a:lnTo>
                  <a:lnTo>
                    <a:pt x="142875" y="21907"/>
                  </a:lnTo>
                  <a:lnTo>
                    <a:pt x="152400" y="31433"/>
                  </a:lnTo>
                  <a:lnTo>
                    <a:pt x="161925" y="41910"/>
                  </a:lnTo>
                  <a:lnTo>
                    <a:pt x="171450" y="52387"/>
                  </a:lnTo>
                  <a:lnTo>
                    <a:pt x="180975" y="63817"/>
                  </a:lnTo>
                  <a:lnTo>
                    <a:pt x="190500" y="76200"/>
                  </a:lnTo>
                  <a:lnTo>
                    <a:pt x="200025" y="88583"/>
                  </a:lnTo>
                  <a:lnTo>
                    <a:pt x="209550" y="100013"/>
                  </a:lnTo>
                  <a:lnTo>
                    <a:pt x="219075" y="110490"/>
                  </a:lnTo>
                  <a:lnTo>
                    <a:pt x="228600" y="120967"/>
                  </a:lnTo>
                  <a:lnTo>
                    <a:pt x="238125" y="130493"/>
                  </a:lnTo>
                  <a:lnTo>
                    <a:pt x="247650" y="138113"/>
                  </a:lnTo>
                  <a:lnTo>
                    <a:pt x="257175" y="143827"/>
                  </a:lnTo>
                  <a:lnTo>
                    <a:pt x="266700" y="148590"/>
                  </a:lnTo>
                  <a:lnTo>
                    <a:pt x="276225" y="151447"/>
                  </a:lnTo>
                  <a:lnTo>
                    <a:pt x="285750" y="152400"/>
                  </a:lnTo>
                  <a:lnTo>
                    <a:pt x="295275" y="151447"/>
                  </a:lnTo>
                  <a:lnTo>
                    <a:pt x="304800" y="148590"/>
                  </a:lnTo>
                  <a:lnTo>
                    <a:pt x="314325" y="143827"/>
                  </a:lnTo>
                  <a:lnTo>
                    <a:pt x="323850" y="138113"/>
                  </a:lnTo>
                  <a:lnTo>
                    <a:pt x="333375" y="130493"/>
                  </a:lnTo>
                  <a:lnTo>
                    <a:pt x="342900" y="120967"/>
                  </a:lnTo>
                  <a:lnTo>
                    <a:pt x="352425" y="110490"/>
                  </a:lnTo>
                  <a:lnTo>
                    <a:pt x="361950" y="100013"/>
                  </a:lnTo>
                  <a:lnTo>
                    <a:pt x="371475" y="88583"/>
                  </a:lnTo>
                  <a:lnTo>
                    <a:pt x="381000" y="76200"/>
                  </a:lnTo>
                </a:path>
              </a:pathLst>
            </a:custGeom>
            <a:noFill/>
            <a:ln w="76200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c3-title"/>
            <p:cNvSpPr txBox="1"/>
            <p:nvPr/>
          </p:nvSpPr>
          <p:spPr>
            <a:xfrm>
              <a:off x="16935450" y="9458325"/>
              <a:ext cx="3143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2D6FD1"/>
                  </a:solidFill>
                  <a:latin typeface="Microsoft YaHei"/>
                  <a:ea typeface="Microsoft YaHei"/>
                  <a:cs typeface="Microsoft YaHei"/>
                </a:rPr>
                <a:t>探究影响机制</a:t>
              </a:r>
            </a:p>
          </p:txBody>
        </p:sp>
        <p:sp>
          <p:nvSpPr>
            <p:cNvPr id="57" name="c3-body-1"/>
            <p:cNvSpPr txBox="1"/>
            <p:nvPr/>
          </p:nvSpPr>
          <p:spPr>
            <a:xfrm>
              <a:off x="15630525" y="11077575"/>
              <a:ext cx="5905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探索睡眠质量、社交比较等变量在</a:t>
              </a:r>
            </a:p>
          </p:txBody>
        </p:sp>
        <p:sp>
          <p:nvSpPr>
            <p:cNvPr id="58" name="c3-body-2"/>
            <p:cNvSpPr txBox="1"/>
            <p:nvPr/>
          </p:nvSpPr>
          <p:spPr>
            <a:xfrm>
              <a:off x="15630525" y="11677650"/>
              <a:ext cx="5905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社交媒体与心理健康间的中介效</a:t>
              </a:r>
            </a:p>
          </p:txBody>
        </p:sp>
        <p:sp>
          <p:nvSpPr>
            <p:cNvPr id="59" name="c3-body-3"/>
            <p:cNvSpPr txBox="1"/>
            <p:nvPr/>
          </p:nvSpPr>
          <p:spPr>
            <a:xfrm>
              <a:off x="15630525" y="12277725"/>
              <a:ext cx="5905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应。</a:t>
              </a:r>
            </a:p>
          </p:txBody>
        </p:sp>
      </p:grpSp>
      <p:grpSp>
        <p:nvGrpSpPr>
          <p:cNvPr id="79" name="grp-card-4"/>
          <p:cNvGrpSpPr/>
          <p:nvPr/>
        </p:nvGrpSpPr>
        <p:grpSpPr>
          <a:xfrm>
            <a:off x="22202775" y="8734425"/>
            <a:ext cx="6534150" cy="5229225"/>
            <a:chOff x="22202775" y="8734425"/>
            <a:chExt cx="6534150" cy="5229225"/>
          </a:xfrm>
        </p:grpSpPr>
        <p:sp>
          <p:nvSpPr>
            <p:cNvPr id="60" name="c4-panel"/>
            <p:cNvSpPr/>
            <p:nvPr/>
          </p:nvSpPr>
          <p:spPr>
            <a:xfrm>
              <a:off x="22202775" y="8734425"/>
              <a:ext cx="6534150" cy="5229225"/>
            </a:xfrm>
            <a:prstGeom prst="roundRect">
              <a:avLst>
                <a:gd name="adj" fmla="val 4735"/>
              </a:avLst>
            </a:prstGeom>
            <a:solidFill>
              <a:srgbClr val="FFFFFF"/>
            </a:solidFill>
            <a:ln w="38100">
              <a:solidFill>
                <a:srgbClr val="D2DD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c4-bulb"/>
            <p:cNvSpPr/>
            <p:nvPr/>
          </p:nvSpPr>
          <p:spPr>
            <a:xfrm>
              <a:off x="22641878" y="9201150"/>
              <a:ext cx="741044" cy="952500"/>
            </a:xfrm>
            <a:custGeom>
              <a:avLst/>
              <a:gdLst/>
              <a:ahLst/>
              <a:cxnLst/>
              <a:rect l="l" t="t" r="r" b="b"/>
              <a:pathLst>
                <a:path w="741044" h="952500">
                  <a:moveTo>
                    <a:pt x="173354" y="686752"/>
                  </a:moveTo>
                  <a:lnTo>
                    <a:pt x="110490" y="637222"/>
                  </a:lnTo>
                  <a:lnTo>
                    <a:pt x="60007" y="575310"/>
                  </a:lnTo>
                  <a:lnTo>
                    <a:pt x="23812" y="504825"/>
                  </a:lnTo>
                  <a:lnTo>
                    <a:pt x="2857" y="427672"/>
                  </a:lnTo>
                  <a:lnTo>
                    <a:pt x="0" y="347662"/>
                  </a:lnTo>
                  <a:lnTo>
                    <a:pt x="13334" y="269558"/>
                  </a:lnTo>
                  <a:lnTo>
                    <a:pt x="43814" y="195262"/>
                  </a:lnTo>
                  <a:lnTo>
                    <a:pt x="88582" y="129540"/>
                  </a:lnTo>
                  <a:lnTo>
                    <a:pt x="146684" y="75248"/>
                  </a:lnTo>
                  <a:lnTo>
                    <a:pt x="215264" y="34290"/>
                  </a:lnTo>
                  <a:lnTo>
                    <a:pt x="291464" y="8572"/>
                  </a:lnTo>
                  <a:lnTo>
                    <a:pt x="370522" y="0"/>
                  </a:lnTo>
                  <a:lnTo>
                    <a:pt x="449580" y="8572"/>
                  </a:lnTo>
                  <a:lnTo>
                    <a:pt x="525780" y="34290"/>
                  </a:lnTo>
                  <a:lnTo>
                    <a:pt x="594360" y="75248"/>
                  </a:lnTo>
                  <a:lnTo>
                    <a:pt x="652462" y="129540"/>
                  </a:lnTo>
                  <a:lnTo>
                    <a:pt x="697230" y="195262"/>
                  </a:lnTo>
                  <a:lnTo>
                    <a:pt x="727710" y="269558"/>
                  </a:lnTo>
                  <a:lnTo>
                    <a:pt x="741044" y="347662"/>
                  </a:lnTo>
                  <a:lnTo>
                    <a:pt x="738187" y="427672"/>
                  </a:lnTo>
                  <a:lnTo>
                    <a:pt x="717232" y="504825"/>
                  </a:lnTo>
                  <a:lnTo>
                    <a:pt x="681037" y="575310"/>
                  </a:lnTo>
                  <a:lnTo>
                    <a:pt x="630554" y="637222"/>
                  </a:lnTo>
                  <a:lnTo>
                    <a:pt x="567690" y="686752"/>
                  </a:lnTo>
                  <a:lnTo>
                    <a:pt x="570547" y="952500"/>
                  </a:lnTo>
                  <a:lnTo>
                    <a:pt x="170497" y="952500"/>
                  </a:lnTo>
                  <a:close/>
                </a:path>
              </a:pathLst>
            </a:custGeom>
            <a:solidFill>
              <a:srgbClr val="FFFFFF"/>
            </a:solidFill>
            <a:ln w="85725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c4-base"/>
            <p:cNvSpPr/>
            <p:nvPr/>
          </p:nvSpPr>
          <p:spPr>
            <a:xfrm>
              <a:off x="22821900" y="10220325"/>
              <a:ext cx="381000" cy="123825"/>
            </a:xfrm>
            <a:prstGeom prst="roundRect">
              <a:avLst>
                <a:gd name="adj" fmla="val 46153"/>
              </a:avLst>
            </a:prstGeom>
            <a:solidFill>
              <a:srgbClr val="2AA9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3" name="c4-ray-c"/>
            <p:cNvCxnSpPr/>
            <p:nvPr/>
          </p:nvCxnSpPr>
          <p:spPr>
            <a:xfrm>
              <a:off x="23012400" y="9039225"/>
              <a:ext cx="0" cy="11430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64" name="c4-ray-l"/>
            <p:cNvCxnSpPr/>
            <p:nvPr/>
          </p:nvCxnSpPr>
          <p:spPr>
            <a:xfrm>
              <a:off x="22602825" y="9210675"/>
              <a:ext cx="95250" cy="9525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65" name="c4-ray-r"/>
            <p:cNvCxnSpPr/>
            <p:nvPr/>
          </p:nvCxnSpPr>
          <p:spPr>
            <a:xfrm flipH="1">
              <a:off x="23326725" y="9210675"/>
              <a:ext cx="95250" cy="95250"/>
            </a:xfrm>
            <a:prstGeom prst="line">
              <a:avLst/>
            </a:prstGeom>
            <a:ln w="85725">
              <a:solidFill>
                <a:srgbClr val="2AA9F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66" name="c4-filament"/>
            <p:cNvSpPr/>
            <p:nvPr/>
          </p:nvSpPr>
          <p:spPr>
            <a:xfrm>
              <a:off x="22821900" y="9515475"/>
              <a:ext cx="381000" cy="152400"/>
            </a:xfrm>
            <a:custGeom>
              <a:avLst/>
              <a:gdLst/>
              <a:ahLst/>
              <a:cxnLst/>
              <a:rect l="l" t="t" r="r" b="b"/>
              <a:pathLst>
                <a:path w="381000" h="152400">
                  <a:moveTo>
                    <a:pt x="0" y="76200"/>
                  </a:moveTo>
                  <a:lnTo>
                    <a:pt x="9525" y="63817"/>
                  </a:lnTo>
                  <a:lnTo>
                    <a:pt x="19050" y="52387"/>
                  </a:lnTo>
                  <a:lnTo>
                    <a:pt x="28575" y="41910"/>
                  </a:lnTo>
                  <a:lnTo>
                    <a:pt x="38100" y="31433"/>
                  </a:lnTo>
                  <a:lnTo>
                    <a:pt x="47625" y="21907"/>
                  </a:lnTo>
                  <a:lnTo>
                    <a:pt x="57150" y="14287"/>
                  </a:lnTo>
                  <a:lnTo>
                    <a:pt x="66675" y="8573"/>
                  </a:lnTo>
                  <a:lnTo>
                    <a:pt x="76200" y="3810"/>
                  </a:lnTo>
                  <a:lnTo>
                    <a:pt x="85725" y="953"/>
                  </a:lnTo>
                  <a:lnTo>
                    <a:pt x="95250" y="0"/>
                  </a:lnTo>
                  <a:lnTo>
                    <a:pt x="104775" y="953"/>
                  </a:lnTo>
                  <a:lnTo>
                    <a:pt x="114300" y="3810"/>
                  </a:lnTo>
                  <a:lnTo>
                    <a:pt x="123825" y="8573"/>
                  </a:lnTo>
                  <a:lnTo>
                    <a:pt x="133350" y="14287"/>
                  </a:lnTo>
                  <a:lnTo>
                    <a:pt x="142875" y="21907"/>
                  </a:lnTo>
                  <a:lnTo>
                    <a:pt x="152400" y="31433"/>
                  </a:lnTo>
                  <a:lnTo>
                    <a:pt x="161925" y="41910"/>
                  </a:lnTo>
                  <a:lnTo>
                    <a:pt x="171450" y="52387"/>
                  </a:lnTo>
                  <a:lnTo>
                    <a:pt x="180975" y="63817"/>
                  </a:lnTo>
                  <a:lnTo>
                    <a:pt x="190500" y="76200"/>
                  </a:lnTo>
                  <a:lnTo>
                    <a:pt x="200025" y="88583"/>
                  </a:lnTo>
                  <a:lnTo>
                    <a:pt x="209550" y="100013"/>
                  </a:lnTo>
                  <a:lnTo>
                    <a:pt x="219075" y="110490"/>
                  </a:lnTo>
                  <a:lnTo>
                    <a:pt x="228600" y="120967"/>
                  </a:lnTo>
                  <a:lnTo>
                    <a:pt x="238125" y="130493"/>
                  </a:lnTo>
                  <a:lnTo>
                    <a:pt x="247650" y="138113"/>
                  </a:lnTo>
                  <a:lnTo>
                    <a:pt x="257175" y="143827"/>
                  </a:lnTo>
                  <a:lnTo>
                    <a:pt x="266700" y="148590"/>
                  </a:lnTo>
                  <a:lnTo>
                    <a:pt x="276225" y="151447"/>
                  </a:lnTo>
                  <a:lnTo>
                    <a:pt x="285750" y="152400"/>
                  </a:lnTo>
                  <a:lnTo>
                    <a:pt x="295275" y="151447"/>
                  </a:lnTo>
                  <a:lnTo>
                    <a:pt x="304800" y="148590"/>
                  </a:lnTo>
                  <a:lnTo>
                    <a:pt x="314325" y="143827"/>
                  </a:lnTo>
                  <a:lnTo>
                    <a:pt x="323850" y="138113"/>
                  </a:lnTo>
                  <a:lnTo>
                    <a:pt x="333375" y="130493"/>
                  </a:lnTo>
                  <a:lnTo>
                    <a:pt x="342900" y="120967"/>
                  </a:lnTo>
                  <a:lnTo>
                    <a:pt x="352425" y="110490"/>
                  </a:lnTo>
                  <a:lnTo>
                    <a:pt x="361950" y="100013"/>
                  </a:lnTo>
                  <a:lnTo>
                    <a:pt x="371475" y="88583"/>
                  </a:lnTo>
                  <a:lnTo>
                    <a:pt x="381000" y="76200"/>
                  </a:lnTo>
                </a:path>
              </a:pathLst>
            </a:custGeom>
            <a:noFill/>
            <a:ln w="76200">
              <a:solidFill>
                <a:srgbClr val="2AA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c4-title"/>
            <p:cNvSpPr txBox="1"/>
            <p:nvPr/>
          </p:nvSpPr>
          <p:spPr>
            <a:xfrm>
              <a:off x="23831550" y="9458325"/>
              <a:ext cx="3143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2D6FD1"/>
                  </a:solidFill>
                  <a:latin typeface="Microsoft YaHei"/>
                  <a:ea typeface="Microsoft YaHei"/>
                  <a:cs typeface="Microsoft YaHei"/>
                </a:rPr>
                <a:t>提出干预建议</a:t>
              </a:r>
            </a:p>
          </p:txBody>
        </p:sp>
        <p:sp>
          <p:nvSpPr>
            <p:cNvPr id="68" name="c4-body-1"/>
            <p:cNvSpPr txBox="1"/>
            <p:nvPr/>
          </p:nvSpPr>
          <p:spPr>
            <a:xfrm>
              <a:off x="22526625" y="11077575"/>
              <a:ext cx="5905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基于数据结果，为青少年、家长及</a:t>
              </a:r>
            </a:p>
          </p:txBody>
        </p:sp>
        <p:sp>
          <p:nvSpPr>
            <p:cNvPr id="69" name="c4-body-2"/>
            <p:cNvSpPr txBox="1"/>
            <p:nvPr/>
          </p:nvSpPr>
          <p:spPr>
            <a:xfrm>
              <a:off x="22526625" y="11677650"/>
              <a:ext cx="5905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学校提供科学、可操作的指导方</a:t>
              </a:r>
            </a:p>
          </p:txBody>
        </p:sp>
        <p:sp>
          <p:nvSpPr>
            <p:cNvPr id="70" name="c4-body-3"/>
            <p:cNvSpPr txBox="1"/>
            <p:nvPr/>
          </p:nvSpPr>
          <p:spPr>
            <a:xfrm>
              <a:off x="22526625" y="12277725"/>
              <a:ext cx="5905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案。</a:t>
              </a:r>
            </a:p>
          </p:txBody>
        </p:sp>
      </p:grpSp>
      <p:pic>
        <p:nvPicPr>
          <p:cNvPr id="71" name="corner-illustration" descr="_photo_corner_illust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0" y="0"/>
            <a:ext cx="7800975" cy="790575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