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brain-illustration" descr="_photo_brain_illu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0" y="0"/>
            <a:ext cx="14277975" cy="13906500"/>
          </a:xfrm>
          <a:prstGeom prst="rect">
            <a:avLst/>
          </a:prstGeom>
          <a:effectLst/>
        </p:spPr>
      </p:pic>
      <p:sp>
        <p:nvSpPr>
          <p:cNvPr id="4" name="deco-triangle-left"/>
          <p:cNvSpPr/>
          <p:nvPr/>
        </p:nvSpPr>
        <p:spPr>
          <a:xfrm>
            <a:off x="1333500" y="14334172"/>
            <a:ext cx="6134100" cy="2829878"/>
          </a:xfrm>
          <a:custGeom>
            <a:avLst/>
            <a:gdLst/>
            <a:ahLst/>
            <a:cxnLst/>
            <a:rect l="l" t="t" r="r" b="b"/>
            <a:pathLst>
              <a:path w="6134100" h="2829878">
                <a:moveTo>
                  <a:pt x="0" y="2829878"/>
                </a:moveTo>
                <a:lnTo>
                  <a:pt x="2663190" y="166688"/>
                </a:lnTo>
                <a:lnTo>
                  <a:pt x="2719388" y="118110"/>
                </a:lnTo>
                <a:lnTo>
                  <a:pt x="2781300" y="76200"/>
                </a:lnTo>
                <a:lnTo>
                  <a:pt x="2847975" y="42863"/>
                </a:lnTo>
                <a:lnTo>
                  <a:pt x="2919412" y="19050"/>
                </a:lnTo>
                <a:lnTo>
                  <a:pt x="2992755" y="4763"/>
                </a:lnTo>
                <a:lnTo>
                  <a:pt x="3067050" y="0"/>
                </a:lnTo>
                <a:lnTo>
                  <a:pt x="3141345" y="4763"/>
                </a:lnTo>
                <a:lnTo>
                  <a:pt x="3214688" y="19050"/>
                </a:lnTo>
                <a:lnTo>
                  <a:pt x="3286125" y="42863"/>
                </a:lnTo>
                <a:lnTo>
                  <a:pt x="3352800" y="76200"/>
                </a:lnTo>
                <a:lnTo>
                  <a:pt x="3414712" y="118110"/>
                </a:lnTo>
                <a:lnTo>
                  <a:pt x="3470910" y="166688"/>
                </a:lnTo>
                <a:lnTo>
                  <a:pt x="6134100" y="2829878"/>
                </a:lnTo>
                <a:close/>
              </a:path>
            </a:pathLst>
          </a:custGeom>
          <a:gradFill rotWithShape="1">
            <a:gsLst>
              <a:gs pos="0">
                <a:srgbClr val="4A8EF5"/>
              </a:gs>
              <a:gs pos="100000">
                <a:srgbClr val="00BA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triangle-right"/>
          <p:cNvSpPr/>
          <p:nvPr/>
        </p:nvSpPr>
        <p:spPr>
          <a:xfrm>
            <a:off x="21840825" y="14334172"/>
            <a:ext cx="6134100" cy="2829878"/>
          </a:xfrm>
          <a:custGeom>
            <a:avLst/>
            <a:gdLst/>
            <a:ahLst/>
            <a:cxnLst/>
            <a:rect l="l" t="t" r="r" b="b"/>
            <a:pathLst>
              <a:path w="6134100" h="2829878">
                <a:moveTo>
                  <a:pt x="0" y="2829878"/>
                </a:moveTo>
                <a:lnTo>
                  <a:pt x="2663190" y="166688"/>
                </a:lnTo>
                <a:lnTo>
                  <a:pt x="2719387" y="118110"/>
                </a:lnTo>
                <a:lnTo>
                  <a:pt x="2781300" y="76200"/>
                </a:lnTo>
                <a:lnTo>
                  <a:pt x="2847975" y="42863"/>
                </a:lnTo>
                <a:lnTo>
                  <a:pt x="2919413" y="19050"/>
                </a:lnTo>
                <a:lnTo>
                  <a:pt x="2992755" y="4763"/>
                </a:lnTo>
                <a:lnTo>
                  <a:pt x="3067050" y="0"/>
                </a:lnTo>
                <a:lnTo>
                  <a:pt x="3141345" y="4763"/>
                </a:lnTo>
                <a:lnTo>
                  <a:pt x="3214687" y="19050"/>
                </a:lnTo>
                <a:lnTo>
                  <a:pt x="3286125" y="42863"/>
                </a:lnTo>
                <a:lnTo>
                  <a:pt x="3352800" y="76200"/>
                </a:lnTo>
                <a:lnTo>
                  <a:pt x="3414713" y="118110"/>
                </a:lnTo>
                <a:lnTo>
                  <a:pt x="3470910" y="166688"/>
                </a:lnTo>
                <a:lnTo>
                  <a:pt x="6134100" y="2829878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152525" y="1266825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714375" y="0"/>
                </a:moveTo>
                <a:lnTo>
                  <a:pt x="900113" y="528637"/>
                </a:lnTo>
                <a:lnTo>
                  <a:pt x="1428750" y="714375"/>
                </a:lnTo>
                <a:lnTo>
                  <a:pt x="900113" y="900113"/>
                </a:lnTo>
                <a:lnTo>
                  <a:pt x="714375" y="1428750"/>
                </a:lnTo>
                <a:lnTo>
                  <a:pt x="528637" y="900113"/>
                </a:lnTo>
                <a:lnTo>
                  <a:pt x="0" y="714375"/>
                </a:lnTo>
                <a:lnTo>
                  <a:pt x="528637" y="528637"/>
                </a:lnTo>
                <a:close/>
              </a:path>
            </a:pathLst>
          </a:cu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tle"/>
          <p:cNvSpPr txBox="1"/>
          <p:nvPr/>
        </p:nvSpPr>
        <p:spPr>
          <a:xfrm>
            <a:off x="2724150" y="1343025"/>
            <a:ext cx="8191500" cy="13239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25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研究背景与意义</a:t>
            </a:r>
          </a:p>
        </p:txBody>
      </p:sp>
      <p:grpSp>
        <p:nvGrpSpPr>
          <p:cNvPr id="44" name="ic-b1"/>
          <p:cNvGrpSpPr/>
          <p:nvPr/>
        </p:nvGrpSpPr>
        <p:grpSpPr>
          <a:xfrm>
            <a:off x="1943100" y="3352800"/>
            <a:ext cx="1143000" cy="1104900"/>
            <a:chOff x="1943100" y="3352800"/>
            <a:chExt cx="1143000" cy="1104900"/>
          </a:xfrm>
        </p:grpSpPr>
        <p:sp>
          <p:nvSpPr>
            <p:cNvPr id="8" name="b1-phone"/>
            <p:cNvSpPr/>
            <p:nvPr/>
          </p:nvSpPr>
          <p:spPr>
            <a:xfrm>
              <a:off x="1943100" y="3352800"/>
              <a:ext cx="647700" cy="1104900"/>
            </a:xfrm>
            <a:prstGeom prst="roundRect">
              <a:avLst>
                <a:gd name="adj" fmla="val 23529"/>
              </a:avLst>
            </a:prstGeom>
            <a:noFill/>
            <a:ln w="38100">
              <a:solidFill>
                <a:srgbClr val="4A9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b1-screen"/>
            <p:cNvSpPr/>
            <p:nvPr/>
          </p:nvSpPr>
          <p:spPr>
            <a:xfrm>
              <a:off x="2057400" y="3543300"/>
              <a:ext cx="419100" cy="666750"/>
            </a:xfrm>
            <a:prstGeom prst="roundRect">
              <a:avLst>
                <a:gd name="adj" fmla="val 15909"/>
              </a:avLst>
            </a:prstGeom>
            <a:noFill/>
            <a:ln w="38100">
              <a:solidFill>
                <a:srgbClr val="4A9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b1-head"/>
            <p:cNvSpPr/>
            <p:nvPr/>
          </p:nvSpPr>
          <p:spPr>
            <a:xfrm>
              <a:off x="2181225" y="3667125"/>
              <a:ext cx="171450" cy="171450"/>
            </a:xfrm>
            <a:prstGeom prst="ellipse">
              <a:avLst/>
            </a:prstGeom>
            <a:solidFill>
              <a:srgbClr val="4A9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b1-body"/>
            <p:cNvSpPr/>
            <p:nvPr/>
          </p:nvSpPr>
          <p:spPr>
            <a:xfrm>
              <a:off x="2133600" y="3886200"/>
              <a:ext cx="266700" cy="190500"/>
            </a:xfrm>
            <a:custGeom>
              <a:avLst/>
              <a:gdLst/>
              <a:ahLst/>
              <a:cxnLst/>
              <a:rect l="l" t="t" r="r" b="b"/>
              <a:pathLst>
                <a:path w="266700" h="190500">
                  <a:moveTo>
                    <a:pt x="0" y="190500"/>
                  </a:moveTo>
                  <a:lnTo>
                    <a:pt x="266700" y="190500"/>
                  </a:lnTo>
                  <a:lnTo>
                    <a:pt x="228600" y="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b1-head-l"/>
            <p:cNvSpPr/>
            <p:nvPr/>
          </p:nvSpPr>
          <p:spPr>
            <a:xfrm>
              <a:off x="2076450" y="3752850"/>
              <a:ext cx="114300" cy="114300"/>
            </a:xfrm>
            <a:prstGeom prst="ellipse">
              <a:avLst/>
            </a:prstGeom>
            <a:solidFill>
              <a:srgbClr val="4A9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b1-body-l"/>
            <p:cNvSpPr/>
            <p:nvPr/>
          </p:nvSpPr>
          <p:spPr>
            <a:xfrm>
              <a:off x="2057400" y="3895725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0" y="142875"/>
                  </a:moveTo>
                  <a:lnTo>
                    <a:pt x="152400" y="142875"/>
                  </a:lnTo>
                  <a:lnTo>
                    <a:pt x="123825" y="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b1-head-r"/>
            <p:cNvSpPr/>
            <p:nvPr/>
          </p:nvSpPr>
          <p:spPr>
            <a:xfrm>
              <a:off x="2343150" y="3752850"/>
              <a:ext cx="114300" cy="114300"/>
            </a:xfrm>
            <a:prstGeom prst="ellipse">
              <a:avLst/>
            </a:prstGeom>
            <a:solidFill>
              <a:srgbClr val="4A9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b1-body-r"/>
            <p:cNvSpPr/>
            <p:nvPr/>
          </p:nvSpPr>
          <p:spPr>
            <a:xfrm>
              <a:off x="2324100" y="3895725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0" y="142875"/>
                  </a:moveTo>
                  <a:lnTo>
                    <a:pt x="152400" y="142875"/>
                  </a:lnTo>
                  <a:lnTo>
                    <a:pt x="123825" y="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b1-bubble"/>
            <p:cNvSpPr/>
            <p:nvPr/>
          </p:nvSpPr>
          <p:spPr>
            <a:xfrm>
              <a:off x="2647950" y="3448050"/>
              <a:ext cx="438150" cy="323850"/>
            </a:xfrm>
            <a:prstGeom prst="roundRect">
              <a:avLst>
                <a:gd name="adj" fmla="val 23529"/>
              </a:avLst>
            </a:prstGeom>
            <a:solidFill>
              <a:srgbClr val="4A9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1-tail"/>
            <p:cNvSpPr/>
            <p:nvPr/>
          </p:nvSpPr>
          <p:spPr>
            <a:xfrm>
              <a:off x="2686050" y="3733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0" y="152400"/>
                  </a:lnTo>
                  <a:lnTo>
                    <a:pt x="152400" y="9525"/>
                  </a:ln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b1-bub-l1"/>
            <p:cNvCxnSpPr/>
            <p:nvPr/>
          </p:nvCxnSpPr>
          <p:spPr>
            <a:xfrm>
              <a:off x="2733675" y="3562350"/>
              <a:ext cx="266700" cy="0"/>
            </a:xfrm>
            <a:prstGeom prst="line">
              <a:avLst/>
            </a:prstGeom>
            <a:ln w="381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1-bub-l2"/>
            <p:cNvCxnSpPr/>
            <p:nvPr/>
          </p:nvCxnSpPr>
          <p:spPr>
            <a:xfrm>
              <a:off x="2733675" y="3657600"/>
              <a:ext cx="180975" cy="0"/>
            </a:xfrm>
            <a:prstGeom prst="line">
              <a:avLst/>
            </a:prstGeom>
            <a:ln w="381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ic-b2"/>
          <p:cNvGrpSpPr/>
          <p:nvPr/>
        </p:nvGrpSpPr>
        <p:grpSpPr>
          <a:xfrm>
            <a:off x="1866900" y="7410450"/>
            <a:ext cx="1009650" cy="742950"/>
            <a:chOff x="1866900" y="7410450"/>
            <a:chExt cx="1009650" cy="742950"/>
          </a:xfrm>
        </p:grpSpPr>
        <p:cxnSp>
          <p:nvCxnSpPr>
            <p:cNvPr id="20" name="b2-axis"/>
            <p:cNvCxnSpPr/>
            <p:nvPr/>
          </p:nvCxnSpPr>
          <p:spPr>
            <a:xfrm>
              <a:off x="1866900" y="8153400"/>
              <a:ext cx="1009650" cy="0"/>
            </a:xfrm>
            <a:prstGeom prst="line">
              <a:avLst/>
            </a:prstGeom>
            <a:ln w="57150">
              <a:solidFill>
                <a:srgbClr val="4A9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b2-bar1"/>
            <p:cNvCxnSpPr/>
            <p:nvPr/>
          </p:nvCxnSpPr>
          <p:spPr>
            <a:xfrm flipV="1">
              <a:off x="2019300" y="7867650"/>
              <a:ext cx="0" cy="285750"/>
            </a:xfrm>
            <a:prstGeom prst="line">
              <a:avLst/>
            </a:prstGeom>
            <a:ln w="66675">
              <a:solidFill>
                <a:srgbClr val="4A9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b2-bar2"/>
            <p:cNvCxnSpPr/>
            <p:nvPr/>
          </p:nvCxnSpPr>
          <p:spPr>
            <a:xfrm flipV="1">
              <a:off x="2266950" y="7620000"/>
              <a:ext cx="0" cy="533400"/>
            </a:xfrm>
            <a:prstGeom prst="line">
              <a:avLst/>
            </a:prstGeom>
            <a:ln w="66675">
              <a:solidFill>
                <a:srgbClr val="4A9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b2-bar3"/>
            <p:cNvCxnSpPr/>
            <p:nvPr/>
          </p:nvCxnSpPr>
          <p:spPr>
            <a:xfrm flipV="1">
              <a:off x="2514600" y="7943850"/>
              <a:ext cx="0" cy="209550"/>
            </a:xfrm>
            <a:prstGeom prst="line">
              <a:avLst/>
            </a:prstGeom>
            <a:ln w="66675">
              <a:solidFill>
                <a:srgbClr val="4A9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b2-bar4"/>
            <p:cNvCxnSpPr/>
            <p:nvPr/>
          </p:nvCxnSpPr>
          <p:spPr>
            <a:xfrm flipV="1">
              <a:off x="2762250" y="7543800"/>
              <a:ext cx="0" cy="609600"/>
            </a:xfrm>
            <a:prstGeom prst="line">
              <a:avLst/>
            </a:prstGeom>
            <a:ln w="66675">
              <a:solidFill>
                <a:srgbClr val="4A9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b2-trend"/>
            <p:cNvSpPr/>
            <p:nvPr/>
          </p:nvSpPr>
          <p:spPr>
            <a:xfrm>
              <a:off x="1905000" y="7410450"/>
              <a:ext cx="933450" cy="590550"/>
            </a:xfrm>
            <a:custGeom>
              <a:avLst/>
              <a:gdLst/>
              <a:ahLst/>
              <a:cxnLst/>
              <a:rect l="l" t="t" r="r" b="b"/>
              <a:pathLst>
                <a:path w="933450" h="590550">
                  <a:moveTo>
                    <a:pt x="0" y="590550"/>
                  </a:moveTo>
                  <a:lnTo>
                    <a:pt x="228600" y="323850"/>
                  </a:lnTo>
                  <a:lnTo>
                    <a:pt x="438150" y="438150"/>
                  </a:lnTo>
                  <a:lnTo>
                    <a:pt x="666750" y="190500"/>
                  </a:lnTo>
                  <a:lnTo>
                    <a:pt x="933450" y="0"/>
                  </a:lnTo>
                </a:path>
              </a:pathLst>
            </a:custGeom>
            <a:noFill/>
            <a:ln w="47625">
              <a:solidFill>
                <a:srgbClr val="4A9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b2-arrow-h"/>
            <p:cNvCxnSpPr/>
            <p:nvPr/>
          </p:nvCxnSpPr>
          <p:spPr>
            <a:xfrm>
              <a:off x="2705100" y="7410450"/>
              <a:ext cx="133350" cy="0"/>
            </a:xfrm>
            <a:prstGeom prst="line">
              <a:avLst/>
            </a:prstGeom>
            <a:ln w="57150">
              <a:solidFill>
                <a:srgbClr val="4A9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2-arrow-v"/>
            <p:cNvCxnSpPr/>
            <p:nvPr/>
          </p:nvCxnSpPr>
          <p:spPr>
            <a:xfrm>
              <a:off x="2838450" y="7410450"/>
              <a:ext cx="0" cy="133350"/>
            </a:xfrm>
            <a:prstGeom prst="line">
              <a:avLst/>
            </a:prstGeom>
            <a:ln w="57150">
              <a:solidFill>
                <a:srgbClr val="4A9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block-b1"/>
          <p:cNvGrpSpPr/>
          <p:nvPr/>
        </p:nvGrpSpPr>
        <p:grpSpPr>
          <a:xfrm>
            <a:off x="2133600" y="3514725"/>
            <a:ext cx="13811250" cy="2552700"/>
            <a:chOff x="2133600" y="3514725"/>
            <a:chExt cx="13811250" cy="2552700"/>
          </a:xfrm>
        </p:grpSpPr>
        <p:sp>
          <p:nvSpPr>
            <p:cNvPr id="28" name="h-b1"/>
            <p:cNvSpPr txBox="1"/>
            <p:nvPr/>
          </p:nvSpPr>
          <p:spPr>
            <a:xfrm>
              <a:off x="3200400" y="3514725"/>
              <a:ext cx="7620000" cy="7810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825" b="1" i="0">
                  <a:solidFill>
                    <a:srgbClr val="3565AB"/>
                  </a:solidFill>
                  <a:latin typeface="Microsoft YaHei"/>
                  <a:ea typeface="Microsoft YaHei"/>
                  <a:cs typeface="Microsoft YaHei"/>
                </a:rPr>
                <a:t>背景1：社交媒体的深度渗透</a:t>
              </a:r>
            </a:p>
          </p:txBody>
        </p:sp>
        <p:sp>
          <p:nvSpPr>
            <p:cNvPr id="29" name="t-b1-1"/>
            <p:cNvSpPr txBox="1"/>
            <p:nvPr/>
          </p:nvSpPr>
          <p:spPr>
            <a:xfrm>
              <a:off x="2133600" y="4829175"/>
              <a:ext cx="13811250" cy="6286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75" b="0" i="0" spc="-112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截至2025年底，全球青少年社交媒体渗透率超95%，中国青少年日均使用时</a:t>
              </a:r>
            </a:p>
          </p:txBody>
        </p:sp>
        <p:sp>
          <p:nvSpPr>
            <p:cNvPr id="30" name="t-b1-2"/>
            <p:cNvSpPr txBox="1"/>
            <p:nvPr/>
          </p:nvSpPr>
          <p:spPr>
            <a:xfrm>
              <a:off x="2133600" y="5438775"/>
              <a:ext cx="13716000" cy="6286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75" b="0" i="0" spc="-112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长达2.8小时（较2020年增长40%），已成为其获取信息与社交的核心渠道。</a:t>
              </a:r>
            </a:p>
          </p:txBody>
        </p:sp>
      </p:grpSp>
      <p:grpSp>
        <p:nvGrpSpPr>
          <p:cNvPr id="47" name="block-b2"/>
          <p:cNvGrpSpPr/>
          <p:nvPr/>
        </p:nvGrpSpPr>
        <p:grpSpPr>
          <a:xfrm>
            <a:off x="2133600" y="7353300"/>
            <a:ext cx="13525500" cy="2352675"/>
            <a:chOff x="2133600" y="7353300"/>
            <a:chExt cx="13525500" cy="2352675"/>
          </a:xfrm>
        </p:grpSpPr>
        <p:sp>
          <p:nvSpPr>
            <p:cNvPr id="31" name="h-b2"/>
            <p:cNvSpPr txBox="1"/>
            <p:nvPr/>
          </p:nvSpPr>
          <p:spPr>
            <a:xfrm>
              <a:off x="3200400" y="7353300"/>
              <a:ext cx="8572500" cy="7810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825" b="1" i="0">
                  <a:solidFill>
                    <a:srgbClr val="3565AB"/>
                  </a:solidFill>
                  <a:latin typeface="Microsoft YaHei"/>
                  <a:ea typeface="Microsoft YaHei"/>
                  <a:cs typeface="Microsoft YaHei"/>
                </a:rPr>
                <a:t>背景2：心理健康风险日益凸显</a:t>
              </a:r>
            </a:p>
          </p:txBody>
        </p:sp>
        <p:sp>
          <p:nvSpPr>
            <p:cNvPr id="32" name="t-b2-1"/>
            <p:cNvSpPr txBox="1"/>
            <p:nvPr/>
          </p:nvSpPr>
          <p:spPr>
            <a:xfrm>
              <a:off x="2133600" y="8477250"/>
              <a:ext cx="13525500" cy="6286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75" b="0" i="0" spc="-112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《中国国民心理健康发展报告(2025)》显示，约14.8%的青少年存在抑郁风</a:t>
              </a:r>
            </a:p>
          </p:txBody>
        </p:sp>
        <p:sp>
          <p:nvSpPr>
            <p:cNvPr id="33" name="t-b2-2"/>
            <p:cNvSpPr txBox="1"/>
            <p:nvPr/>
          </p:nvSpPr>
          <p:spPr>
            <a:xfrm>
              <a:off x="2133600" y="9077325"/>
              <a:ext cx="12668250" cy="6286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75" b="0" i="0" spc="-112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险，焦虑症状检出率约为19.3%，心理健康问题呈现显著的上升趋势。</a:t>
              </a:r>
            </a:p>
          </p:txBody>
        </p:sp>
      </p:grpSp>
      <p:grpSp>
        <p:nvGrpSpPr>
          <p:cNvPr id="45" name="block-b3"/>
          <p:cNvGrpSpPr/>
          <p:nvPr/>
        </p:nvGrpSpPr>
        <p:grpSpPr>
          <a:xfrm>
            <a:off x="1896618" y="11258550"/>
            <a:ext cx="14429232" cy="2352675"/>
            <a:chOff x="1896618" y="11258550"/>
            <a:chExt cx="14429232" cy="2352675"/>
          </a:xfrm>
        </p:grpSpPr>
        <p:grpSp>
          <p:nvGrpSpPr>
            <p:cNvPr id="42" name="ic-b3"/>
            <p:cNvGrpSpPr/>
            <p:nvPr/>
          </p:nvGrpSpPr>
          <p:grpSpPr>
            <a:xfrm>
              <a:off x="1896618" y="11277219"/>
              <a:ext cx="969264" cy="787527"/>
              <a:chOff x="1896618" y="11277219"/>
              <a:chExt cx="969264" cy="78752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1962245" y="11277219"/>
                <a:ext cx="333185" cy="333185"/>
              </a:xfrm>
              <a:prstGeom prst="ellipse">
                <a:avLst/>
              </a:prstGeom>
              <a:solidFill>
                <a:srgbClr val="4A90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1896618" y="11660886"/>
                <a:ext cx="464439" cy="403860"/>
              </a:xfrm>
              <a:custGeom>
                <a:avLst/>
                <a:gdLst/>
                <a:ahLst/>
                <a:cxnLst/>
                <a:rect l="l" t="t" r="r" b="b"/>
                <a:pathLst>
                  <a:path w="464439" h="403860">
                    <a:moveTo>
                      <a:pt x="0" y="403860"/>
                    </a:moveTo>
                    <a:lnTo>
                      <a:pt x="232220" y="0"/>
                    </a:lnTo>
                    <a:lnTo>
                      <a:pt x="464439" y="403860"/>
                    </a:lnTo>
                    <a:close/>
                  </a:path>
                </a:pathLst>
              </a:custGeom>
              <a:solidFill>
                <a:srgbClr val="4A90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2467070" y="11277219"/>
                <a:ext cx="333185" cy="333185"/>
              </a:xfrm>
              <a:prstGeom prst="ellipse">
                <a:avLst/>
              </a:prstGeom>
              <a:solidFill>
                <a:srgbClr val="4A90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2401443" y="11660886"/>
                <a:ext cx="464439" cy="403860"/>
              </a:xfrm>
              <a:custGeom>
                <a:avLst/>
                <a:gdLst/>
                <a:ahLst/>
                <a:cxnLst/>
                <a:rect l="l" t="t" r="r" b="b"/>
                <a:pathLst>
                  <a:path w="464439" h="403860">
                    <a:moveTo>
                      <a:pt x="0" y="403860"/>
                    </a:moveTo>
                    <a:lnTo>
                      <a:pt x="232219" y="0"/>
                    </a:lnTo>
                    <a:lnTo>
                      <a:pt x="464439" y="403860"/>
                    </a:lnTo>
                    <a:close/>
                  </a:path>
                </a:pathLst>
              </a:custGeom>
              <a:solidFill>
                <a:srgbClr val="4A90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8" name="h-b3"/>
            <p:cNvSpPr txBox="1"/>
            <p:nvPr/>
          </p:nvSpPr>
          <p:spPr>
            <a:xfrm>
              <a:off x="3200400" y="11258550"/>
              <a:ext cx="6667500" cy="7810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825" b="1" i="0">
                  <a:solidFill>
                    <a:srgbClr val="3565AB"/>
                  </a:solidFill>
                  <a:latin typeface="Microsoft YaHei"/>
                  <a:ea typeface="Microsoft YaHei"/>
                  <a:cs typeface="Microsoft YaHei"/>
                </a:rPr>
                <a:t>意义：护航青少年成长</a:t>
              </a:r>
            </a:p>
          </p:txBody>
        </p:sp>
        <p:sp>
          <p:nvSpPr>
            <p:cNvPr id="39" name="t-b3-1"/>
            <p:cNvSpPr txBox="1"/>
            <p:nvPr/>
          </p:nvSpPr>
          <p:spPr>
            <a:xfrm>
              <a:off x="2133600" y="12382500"/>
              <a:ext cx="14192250" cy="6286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75" b="0" i="0" spc="-112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量化社交媒体使用与心理健康的复杂关系，为发展心理学提供新实证数据，旨</a:t>
              </a:r>
            </a:p>
          </p:txBody>
        </p:sp>
        <p:sp>
          <p:nvSpPr>
            <p:cNvPr id="40" name="t-b3-2"/>
            <p:cNvSpPr txBox="1"/>
            <p:nvPr/>
          </p:nvSpPr>
          <p:spPr>
            <a:xfrm>
              <a:off x="2133600" y="12982575"/>
              <a:ext cx="9906000" cy="6286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75" b="0" i="0" spc="-112">
                  <a:solidFill>
                    <a:srgbClr val="454545"/>
                  </a:solidFill>
                  <a:latin typeface="Microsoft YaHei"/>
                  <a:ea typeface="Microsoft YaHei"/>
                  <a:cs typeface="Microsoft YaHei"/>
                </a:rPr>
                <a:t>在为家长、教育者及政策制定者提供科学的决策依据。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