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-top-wedge"/>
          <p:cNvSpPr/>
          <p:nvPr/>
        </p:nvSpPr>
        <p:spPr>
          <a:xfrm>
            <a:off x="22040850" y="0"/>
            <a:ext cx="7172325" cy="3590925"/>
          </a:xfrm>
          <a:custGeom>
            <a:avLst/>
            <a:gdLst/>
            <a:ahLst/>
            <a:cxnLst/>
            <a:rect l="l" t="t" r="r" b="b"/>
            <a:pathLst>
              <a:path w="7172325" h="3590925">
                <a:moveTo>
                  <a:pt x="0" y="0"/>
                </a:moveTo>
                <a:lnTo>
                  <a:pt x="3152775" y="3152775"/>
                </a:lnTo>
                <a:lnTo>
                  <a:pt x="3151822" y="3238500"/>
                </a:lnTo>
                <a:lnTo>
                  <a:pt x="3176588" y="3320415"/>
                </a:lnTo>
                <a:lnTo>
                  <a:pt x="3217545" y="3396615"/>
                </a:lnTo>
                <a:lnTo>
                  <a:pt x="3271838" y="3462338"/>
                </a:lnTo>
                <a:lnTo>
                  <a:pt x="3337560" y="3516630"/>
                </a:lnTo>
                <a:lnTo>
                  <a:pt x="3413760" y="3557588"/>
                </a:lnTo>
                <a:lnTo>
                  <a:pt x="3495675" y="3582352"/>
                </a:lnTo>
                <a:lnTo>
                  <a:pt x="3581400" y="3590925"/>
                </a:lnTo>
                <a:lnTo>
                  <a:pt x="3667125" y="3582352"/>
                </a:lnTo>
                <a:lnTo>
                  <a:pt x="3749040" y="3557588"/>
                </a:lnTo>
                <a:lnTo>
                  <a:pt x="3825240" y="3516630"/>
                </a:lnTo>
                <a:lnTo>
                  <a:pt x="3890962" y="3462338"/>
                </a:lnTo>
                <a:lnTo>
                  <a:pt x="3945255" y="3396615"/>
                </a:lnTo>
                <a:lnTo>
                  <a:pt x="3986212" y="3320415"/>
                </a:lnTo>
                <a:lnTo>
                  <a:pt x="4010978" y="3238500"/>
                </a:lnTo>
                <a:lnTo>
                  <a:pt x="4010025" y="3152775"/>
                </a:lnTo>
                <a:lnTo>
                  <a:pt x="7172325" y="0"/>
                </a:lnTo>
                <a:close/>
              </a:path>
            </a:pathLst>
          </a:custGeom>
          <a:gradFill rotWithShape="1">
            <a:gsLst>
              <a:gs pos="0">
                <a:srgbClr val="3E93F2"/>
              </a:gs>
              <a:gs pos="100000">
                <a:srgbClr val="06B4F7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ght-wedge"/>
          <p:cNvSpPr/>
          <p:nvPr/>
        </p:nvSpPr>
        <p:spPr>
          <a:xfrm>
            <a:off x="27098625" y="828675"/>
            <a:ext cx="3371850" cy="6991350"/>
          </a:xfrm>
          <a:custGeom>
            <a:avLst/>
            <a:gdLst/>
            <a:ahLst/>
            <a:cxnLst/>
            <a:rect l="l" t="t" r="r" b="b"/>
            <a:pathLst>
              <a:path w="3371850" h="6991350">
                <a:moveTo>
                  <a:pt x="3371850" y="0"/>
                </a:moveTo>
                <a:lnTo>
                  <a:pt x="219075" y="3552825"/>
                </a:lnTo>
                <a:lnTo>
                  <a:pt x="161925" y="3541395"/>
                </a:lnTo>
                <a:lnTo>
                  <a:pt x="109537" y="3563303"/>
                </a:lnTo>
                <a:lnTo>
                  <a:pt x="63817" y="3597593"/>
                </a:lnTo>
                <a:lnTo>
                  <a:pt x="29527" y="3643313"/>
                </a:lnTo>
                <a:lnTo>
                  <a:pt x="7620" y="3695700"/>
                </a:lnTo>
                <a:lnTo>
                  <a:pt x="0" y="3752850"/>
                </a:lnTo>
                <a:lnTo>
                  <a:pt x="7620" y="3810000"/>
                </a:lnTo>
                <a:lnTo>
                  <a:pt x="29527" y="3862387"/>
                </a:lnTo>
                <a:lnTo>
                  <a:pt x="63817" y="3908107"/>
                </a:lnTo>
                <a:lnTo>
                  <a:pt x="109537" y="3942397"/>
                </a:lnTo>
                <a:lnTo>
                  <a:pt x="161925" y="3964305"/>
                </a:lnTo>
                <a:lnTo>
                  <a:pt x="219075" y="3971925"/>
                </a:lnTo>
                <a:lnTo>
                  <a:pt x="3371850" y="6991350"/>
                </a:lnTo>
                <a:close/>
              </a:path>
            </a:pathLst>
          </a:custGeom>
          <a:gradFill rotWithShape="1">
            <a:gsLst>
              <a:gs pos="0">
                <a:srgbClr val="09B8F7"/>
              </a:gs>
              <a:gs pos="100000">
                <a:srgbClr val="3D94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sparkle"/>
          <p:cNvSpPr/>
          <p:nvPr/>
        </p:nvSpPr>
        <p:spPr>
          <a:xfrm>
            <a:off x="1019175" y="114300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857250" y="0"/>
                </a:moveTo>
                <a:lnTo>
                  <a:pt x="1039177" y="675322"/>
                </a:lnTo>
                <a:lnTo>
                  <a:pt x="1714500" y="857250"/>
                </a:lnTo>
                <a:lnTo>
                  <a:pt x="1039177" y="1039178"/>
                </a:lnTo>
                <a:lnTo>
                  <a:pt x="857250" y="1714500"/>
                </a:lnTo>
                <a:lnTo>
                  <a:pt x="675323" y="1039178"/>
                </a:lnTo>
                <a:lnTo>
                  <a:pt x="0" y="857250"/>
                </a:lnTo>
                <a:lnTo>
                  <a:pt x="675323" y="675322"/>
                </a:lnTo>
                <a:close/>
              </a:path>
            </a:pathLst>
          </a:custGeom>
          <a:gradFill rotWithShape="1">
            <a:gsLst>
              <a:gs pos="0">
                <a:srgbClr val="2A6BE0"/>
              </a:gs>
              <a:gs pos="100000">
                <a:srgbClr val="41A6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dr-title"/>
          <p:cNvSpPr txBox="1"/>
          <p:nvPr/>
        </p:nvSpPr>
        <p:spPr>
          <a:xfrm>
            <a:off x="2752725" y="1438275"/>
            <a:ext cx="15512796" cy="1104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525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核心发现：被动浏览比主动互动更具风险</a:t>
            </a:r>
          </a:p>
        </p:txBody>
      </p:sp>
      <p:pic>
        <p:nvPicPr>
          <p:cNvPr id="7" name="photo-main" descr="_photo_photo_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3771900"/>
            <a:ext cx="9296400" cy="9296400"/>
          </a:xfrm>
          <a:prstGeom prst="rect">
            <a:avLst/>
          </a:prstGeom>
          <a:effectLst/>
        </p:spPr>
      </p:pic>
      <p:sp>
        <p:nvSpPr>
          <p:cNvPr id="8" name="corner-tl"/>
          <p:cNvSpPr/>
          <p:nvPr/>
        </p:nvSpPr>
        <p:spPr>
          <a:xfrm>
            <a:off x="2952750" y="377190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0"/>
                </a:moveTo>
                <a:lnTo>
                  <a:pt x="361950" y="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rner-tr"/>
          <p:cNvSpPr/>
          <p:nvPr/>
        </p:nvSpPr>
        <p:spPr>
          <a:xfrm>
            <a:off x="11887200" y="377190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0"/>
                </a:moveTo>
                <a:lnTo>
                  <a:pt x="361950" y="0"/>
                </a:lnTo>
                <a:lnTo>
                  <a:pt x="361950" y="3619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ner-bl"/>
          <p:cNvSpPr/>
          <p:nvPr/>
        </p:nvSpPr>
        <p:spPr>
          <a:xfrm>
            <a:off x="2952750" y="1270635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0"/>
                </a:moveTo>
                <a:lnTo>
                  <a:pt x="36195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rner-br"/>
          <p:cNvSpPr/>
          <p:nvPr/>
        </p:nvSpPr>
        <p:spPr>
          <a:xfrm>
            <a:off x="11887200" y="1270635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361950"/>
                </a:moveTo>
                <a:lnTo>
                  <a:pt x="361950" y="0"/>
                </a:lnTo>
                <a:lnTo>
                  <a:pt x="361950" y="3619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hoto-frame"/>
          <p:cNvSpPr/>
          <p:nvPr/>
        </p:nvSpPr>
        <p:spPr>
          <a:xfrm>
            <a:off x="2952750" y="3771900"/>
            <a:ext cx="9296400" cy="9296400"/>
          </a:xfrm>
          <a:prstGeom prst="roundRect">
            <a:avLst>
              <a:gd name="adj" fmla="val 3893"/>
            </a:avLst>
          </a:prstGeom>
          <a:solidFill>
            <a:srgbClr val="FFFFFF">
              <a:alpha val="0"/>
            </a:srgbClr>
          </a:solidFill>
          <a:ln w="190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nel-passive"/>
          <p:cNvSpPr/>
          <p:nvPr/>
        </p:nvSpPr>
        <p:spPr>
          <a:xfrm>
            <a:off x="13192125" y="3781425"/>
            <a:ext cx="14077950" cy="4343400"/>
          </a:xfrm>
          <a:prstGeom prst="roundRect">
            <a:avLst>
              <a:gd name="adj" fmla="val 7017"/>
            </a:avLst>
          </a:prstGeom>
          <a:gradFill rotWithShape="1">
            <a:gsLst>
              <a:gs pos="0">
                <a:srgbClr val="FFFFFF"/>
              </a:gs>
              <a:gs pos="100000">
                <a:srgbClr val="F7FAFF"/>
              </a:gs>
            </a:gsLst>
            <a:lin scaled="0" ang="0"/>
          </a:gradFill>
          <a:ln w="28575">
            <a:solidFill>
              <a:srgbClr val="D5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-active"/>
          <p:cNvSpPr/>
          <p:nvPr/>
        </p:nvSpPr>
        <p:spPr>
          <a:xfrm>
            <a:off x="13192125" y="8839200"/>
            <a:ext cx="14077950" cy="4352925"/>
          </a:xfrm>
          <a:prstGeom prst="roundRect">
            <a:avLst>
              <a:gd name="adj" fmla="val 7002"/>
            </a:avLst>
          </a:prstGeom>
          <a:gradFill rotWithShape="1">
            <a:gsLst>
              <a:gs pos="0">
                <a:srgbClr val="FFFFFF"/>
              </a:gs>
              <a:gs pos="100000">
                <a:srgbClr val="F7FAFF"/>
              </a:gs>
            </a:gsLst>
            <a:lin scaled="0" ang="0"/>
          </a:gradFill>
          <a:ln w="28575">
            <a:solidFill>
              <a:srgbClr val="D5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1-phone"/>
          <p:cNvSpPr/>
          <p:nvPr/>
        </p:nvSpPr>
        <p:spPr>
          <a:xfrm>
            <a:off x="13716000" y="4333875"/>
            <a:ext cx="800100" cy="1104900"/>
          </a:xfrm>
          <a:prstGeom prst="roundRect">
            <a:avLst>
              <a:gd name="adj" fmla="val 16666"/>
            </a:avLst>
          </a:prstGeom>
          <a:solidFill>
            <a:srgbClr val="FFFFFF">
              <a:alpha val="0"/>
            </a:srgbClr>
          </a:solidFill>
          <a:ln w="47625">
            <a:solidFill>
              <a:srgbClr val="3E8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1-speaker"/>
          <p:cNvSpPr/>
          <p:nvPr/>
        </p:nvSpPr>
        <p:spPr>
          <a:xfrm>
            <a:off x="13982700" y="442912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3E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1-home"/>
          <p:cNvSpPr/>
          <p:nvPr/>
        </p:nvSpPr>
        <p:spPr>
          <a:xfrm>
            <a:off x="14058900" y="5276850"/>
            <a:ext cx="114300" cy="11430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3E8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1-person-head"/>
          <p:cNvSpPr/>
          <p:nvPr/>
        </p:nvSpPr>
        <p:spPr>
          <a:xfrm>
            <a:off x="14011275" y="4629150"/>
            <a:ext cx="209550" cy="209550"/>
          </a:xfrm>
          <a:prstGeom prst="ellipse">
            <a:avLst/>
          </a:prstGeom>
          <a:solidFill>
            <a:srgbClr val="3E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1-person-body"/>
          <p:cNvSpPr/>
          <p:nvPr/>
        </p:nvSpPr>
        <p:spPr>
          <a:xfrm>
            <a:off x="13963650" y="4867275"/>
            <a:ext cx="304800" cy="238125"/>
          </a:xfrm>
          <a:custGeom>
            <a:avLst/>
            <a:gdLst/>
            <a:ahLst/>
            <a:cxnLst/>
            <a:rect l="l" t="t" r="r" b="b"/>
            <a:pathLst>
              <a:path w="304800" h="238125">
                <a:moveTo>
                  <a:pt x="19050" y="66675"/>
                </a:moveTo>
                <a:lnTo>
                  <a:pt x="85725" y="0"/>
                </a:lnTo>
                <a:lnTo>
                  <a:pt x="219075" y="0"/>
                </a:lnTo>
                <a:lnTo>
                  <a:pt x="285750" y="66675"/>
                </a:lnTo>
                <a:lnTo>
                  <a:pt x="304800" y="238125"/>
                </a:lnTo>
                <a:lnTo>
                  <a:pt x="0" y="238125"/>
                </a:lnTo>
                <a:close/>
              </a:path>
            </a:pathLst>
          </a:custGeom>
          <a:solidFill>
            <a:srgbClr val="3E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1-node-0"/>
          <p:cNvSpPr/>
          <p:nvPr/>
        </p:nvSpPr>
        <p:spPr>
          <a:xfrm>
            <a:off x="14611350" y="4953000"/>
            <a:ext cx="133350" cy="13335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3E8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1-node-1"/>
          <p:cNvSpPr/>
          <p:nvPr/>
        </p:nvSpPr>
        <p:spPr>
          <a:xfrm>
            <a:off x="14573250" y="5238750"/>
            <a:ext cx="133350" cy="13335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3E8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p1-link-a"/>
          <p:cNvCxnSpPr/>
          <p:nvPr/>
        </p:nvCxnSpPr>
        <p:spPr>
          <a:xfrm>
            <a:off x="14573250" y="4991100"/>
            <a:ext cx="76200" cy="66675"/>
          </a:xfrm>
          <a:prstGeom prst="line">
            <a:avLst/>
          </a:prstGeom>
          <a:ln w="28575">
            <a:solidFill>
              <a:srgbClr val="3E8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3" name="p2-head-0"/>
          <p:cNvSpPr/>
          <p:nvPr/>
        </p:nvSpPr>
        <p:spPr>
          <a:xfrm>
            <a:off x="13839825" y="9439275"/>
            <a:ext cx="247650" cy="247650"/>
          </a:xfrm>
          <a:prstGeom prst="ellipse">
            <a:avLst/>
          </a:prstGeom>
          <a:solidFill>
            <a:srgbClr val="3E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2-body-0"/>
          <p:cNvSpPr/>
          <p:nvPr/>
        </p:nvSpPr>
        <p:spPr>
          <a:xfrm>
            <a:off x="13830300" y="9753600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57150" y="0"/>
                </a:moveTo>
                <a:lnTo>
                  <a:pt x="247650" y="0"/>
                </a:lnTo>
                <a:lnTo>
                  <a:pt x="3048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3E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p2-leg-0a"/>
          <p:cNvCxnSpPr/>
          <p:nvPr/>
        </p:nvCxnSpPr>
        <p:spPr>
          <a:xfrm flipH="1">
            <a:off x="13868400" y="10115550"/>
            <a:ext cx="38100" cy="228600"/>
          </a:xfrm>
          <a:prstGeom prst="line">
            <a:avLst/>
          </a:prstGeom>
          <a:ln w="66675">
            <a:solidFill>
              <a:srgbClr val="3E8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6" name="p2-leg-0b"/>
          <p:cNvCxnSpPr/>
          <p:nvPr/>
        </p:nvCxnSpPr>
        <p:spPr>
          <a:xfrm>
            <a:off x="14020800" y="10115550"/>
            <a:ext cx="38100" cy="228600"/>
          </a:xfrm>
          <a:prstGeom prst="line">
            <a:avLst/>
          </a:prstGeom>
          <a:ln w="66675">
            <a:solidFill>
              <a:srgbClr val="3E8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7" name="p2-head-1"/>
          <p:cNvSpPr/>
          <p:nvPr/>
        </p:nvSpPr>
        <p:spPr>
          <a:xfrm>
            <a:off x="14125575" y="9439275"/>
            <a:ext cx="247650" cy="247650"/>
          </a:xfrm>
          <a:prstGeom prst="ellipse">
            <a:avLst/>
          </a:prstGeom>
          <a:solidFill>
            <a:srgbClr val="3E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2-body-1"/>
          <p:cNvSpPr/>
          <p:nvPr/>
        </p:nvSpPr>
        <p:spPr>
          <a:xfrm>
            <a:off x="14268450" y="9753600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57150" y="0"/>
                </a:moveTo>
                <a:lnTo>
                  <a:pt x="247650" y="0"/>
                </a:lnTo>
                <a:lnTo>
                  <a:pt x="3048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3E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p2-leg-1a"/>
          <p:cNvCxnSpPr/>
          <p:nvPr/>
        </p:nvCxnSpPr>
        <p:spPr>
          <a:xfrm flipH="1">
            <a:off x="14306550" y="10115550"/>
            <a:ext cx="38100" cy="228600"/>
          </a:xfrm>
          <a:prstGeom prst="line">
            <a:avLst/>
          </a:prstGeom>
          <a:ln w="66675">
            <a:solidFill>
              <a:srgbClr val="3E8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0" name="p2-leg-1b"/>
          <p:cNvCxnSpPr/>
          <p:nvPr/>
        </p:nvCxnSpPr>
        <p:spPr>
          <a:xfrm>
            <a:off x="14458950" y="10115550"/>
            <a:ext cx="38100" cy="228600"/>
          </a:xfrm>
          <a:prstGeom prst="line">
            <a:avLst/>
          </a:prstGeom>
          <a:ln w="66675">
            <a:solidFill>
              <a:srgbClr val="3E8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1" name="p2-arm-l"/>
          <p:cNvCxnSpPr/>
          <p:nvPr/>
        </p:nvCxnSpPr>
        <p:spPr>
          <a:xfrm>
            <a:off x="14011275" y="9810750"/>
            <a:ext cx="76200" cy="133350"/>
          </a:xfrm>
          <a:prstGeom prst="line">
            <a:avLst/>
          </a:prstGeom>
          <a:ln w="57150">
            <a:solidFill>
              <a:srgbClr val="3E8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2" name="p2-arm-r"/>
          <p:cNvCxnSpPr/>
          <p:nvPr/>
        </p:nvCxnSpPr>
        <p:spPr>
          <a:xfrm flipH="1">
            <a:off x="14125575" y="9810750"/>
            <a:ext cx="76200" cy="133350"/>
          </a:xfrm>
          <a:prstGeom prst="line">
            <a:avLst/>
          </a:prstGeom>
          <a:ln w="57150">
            <a:solidFill>
              <a:srgbClr val="3E8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33" name="p1-heading"/>
          <p:cNvSpPr txBox="1"/>
          <p:nvPr/>
        </p:nvSpPr>
        <p:spPr>
          <a:xfrm>
            <a:off x="14782800" y="4572000"/>
            <a:ext cx="74295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125" b="1" i="0">
                <a:solidFill>
                  <a:srgbClr val="3865A9"/>
                </a:solidFill>
                <a:latin typeface="Microsoft YaHei"/>
                <a:ea typeface="Microsoft YaHei"/>
                <a:cs typeface="Microsoft YaHei"/>
              </a:rPr>
              <a:t>被动浏览 · 显著的消极关联</a:t>
            </a:r>
          </a:p>
        </p:txBody>
      </p:sp>
      <p:sp>
        <p:nvSpPr>
          <p:cNvPr id="34" name="p2-heading"/>
          <p:cNvSpPr txBox="1"/>
          <p:nvPr/>
        </p:nvSpPr>
        <p:spPr>
          <a:xfrm>
            <a:off x="15097125" y="9591675"/>
            <a:ext cx="74295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125" b="1" i="0">
                <a:solidFill>
                  <a:srgbClr val="3865A9"/>
                </a:solidFill>
                <a:latin typeface="Microsoft YaHei"/>
                <a:ea typeface="Microsoft YaHei"/>
                <a:cs typeface="Microsoft YaHei"/>
              </a:rPr>
              <a:t>主动社交 · 潜在的积极功能</a:t>
            </a:r>
          </a:p>
        </p:txBody>
      </p:sp>
      <p:sp>
        <p:nvSpPr>
          <p:cNvPr id="35" name="p1-body-1a"/>
          <p:cNvSpPr txBox="1"/>
          <p:nvPr/>
        </p:nvSpPr>
        <p:spPr>
          <a:xfrm>
            <a:off x="13944600" y="5810250"/>
            <a:ext cx="738378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无目的地刷信息流、观看短视频等行为，与</a:t>
            </a:r>
          </a:p>
        </p:txBody>
      </p:sp>
      <p:sp>
        <p:nvSpPr>
          <p:cNvPr id="36" name="p1-body-1b"/>
          <p:cNvSpPr txBox="1"/>
          <p:nvPr/>
        </p:nvSpPr>
        <p:spPr>
          <a:xfrm>
            <a:off x="21221700" y="5810250"/>
            <a:ext cx="6286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F924E"/>
                </a:solidFill>
                <a:latin typeface="Microsoft YaHei"/>
                <a:ea typeface="Microsoft YaHei"/>
                <a:cs typeface="Microsoft YaHei"/>
              </a:rPr>
              <a:t>更高的焦虑水平和更低的自尊水平</a:t>
            </a:r>
          </a:p>
        </p:txBody>
      </p:sp>
      <p:sp>
        <p:nvSpPr>
          <p:cNvPr id="37" name="p1-body-2"/>
          <p:cNvSpPr txBox="1"/>
          <p:nvPr/>
        </p:nvSpPr>
        <p:spPr>
          <a:xfrm>
            <a:off x="13944600" y="6438900"/>
            <a:ext cx="3810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呈现显著相关性。</a:t>
            </a:r>
          </a:p>
        </p:txBody>
      </p:sp>
      <p:sp>
        <p:nvSpPr>
          <p:cNvPr id="38" name="p2-body-1a"/>
          <p:cNvSpPr txBox="1"/>
          <p:nvPr/>
        </p:nvSpPr>
        <p:spPr>
          <a:xfrm>
            <a:off x="13944600" y="10887075"/>
            <a:ext cx="893826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与朋友深度聊天、分享生活或共同参与线上活动，与</a:t>
            </a:r>
          </a:p>
        </p:txBody>
      </p:sp>
      <p:sp>
        <p:nvSpPr>
          <p:cNvPr id="39" name="p2-body-1b"/>
          <p:cNvSpPr txBox="1"/>
          <p:nvPr/>
        </p:nvSpPr>
        <p:spPr>
          <a:xfrm>
            <a:off x="22745700" y="10887075"/>
            <a:ext cx="44767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F924E"/>
                </a:solidFill>
                <a:latin typeface="Microsoft YaHei"/>
                <a:ea typeface="Microsoft YaHei"/>
                <a:cs typeface="Microsoft YaHei"/>
              </a:rPr>
              <a:t>更好的心理健康状况相</a:t>
            </a:r>
          </a:p>
        </p:txBody>
      </p:sp>
      <p:sp>
        <p:nvSpPr>
          <p:cNvPr id="40" name="p2-body-2"/>
          <p:cNvSpPr txBox="1"/>
          <p:nvPr/>
        </p:nvSpPr>
        <p:spPr>
          <a:xfrm>
            <a:off x="13944600" y="11515725"/>
            <a:ext cx="6667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关，体现了社交媒体的社交支持价值。</a:t>
            </a:r>
          </a:p>
        </p:txBody>
      </p:sp>
      <p:sp>
        <p:nvSpPr>
          <p:cNvPr id="41" name="mtn-l"/>
          <p:cNvSpPr/>
          <p:nvPr/>
        </p:nvSpPr>
        <p:spPr>
          <a:xfrm>
            <a:off x="2314575" y="15106650"/>
            <a:ext cx="4076700" cy="2038350"/>
          </a:xfrm>
          <a:custGeom>
            <a:avLst/>
            <a:gdLst/>
            <a:ahLst/>
            <a:cxnLst/>
            <a:rect l="l" t="t" r="r" b="b"/>
            <a:pathLst>
              <a:path w="4076700" h="2038350">
                <a:moveTo>
                  <a:pt x="0" y="2038350"/>
                </a:moveTo>
                <a:lnTo>
                  <a:pt x="1638300" y="400050"/>
                </a:lnTo>
                <a:lnTo>
                  <a:pt x="1648777" y="311468"/>
                </a:lnTo>
                <a:lnTo>
                  <a:pt x="1678305" y="226695"/>
                </a:lnTo>
                <a:lnTo>
                  <a:pt x="1725930" y="150495"/>
                </a:lnTo>
                <a:lnTo>
                  <a:pt x="1788795" y="87630"/>
                </a:lnTo>
                <a:lnTo>
                  <a:pt x="1864995" y="40005"/>
                </a:lnTo>
                <a:lnTo>
                  <a:pt x="1949767" y="10478"/>
                </a:lnTo>
                <a:lnTo>
                  <a:pt x="2038350" y="0"/>
                </a:lnTo>
                <a:lnTo>
                  <a:pt x="2126933" y="10478"/>
                </a:lnTo>
                <a:lnTo>
                  <a:pt x="2211705" y="40005"/>
                </a:lnTo>
                <a:lnTo>
                  <a:pt x="2287905" y="87630"/>
                </a:lnTo>
                <a:lnTo>
                  <a:pt x="2350770" y="150495"/>
                </a:lnTo>
                <a:lnTo>
                  <a:pt x="2398395" y="226695"/>
                </a:lnTo>
                <a:lnTo>
                  <a:pt x="2427923" y="311468"/>
                </a:lnTo>
                <a:lnTo>
                  <a:pt x="2438400" y="400050"/>
                </a:lnTo>
                <a:lnTo>
                  <a:pt x="4076700" y="2038350"/>
                </a:lnTo>
                <a:close/>
              </a:path>
            </a:pathLst>
          </a:custGeom>
          <a:gradFill rotWithShape="1">
            <a:gsLst>
              <a:gs pos="0">
                <a:srgbClr val="488DF5"/>
              </a:gs>
              <a:gs pos="100000">
                <a:srgbClr val="3D7F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tn-r"/>
          <p:cNvSpPr/>
          <p:nvPr/>
        </p:nvSpPr>
        <p:spPr>
          <a:xfrm>
            <a:off x="23726775" y="15106650"/>
            <a:ext cx="3981450" cy="2038350"/>
          </a:xfrm>
          <a:custGeom>
            <a:avLst/>
            <a:gdLst/>
            <a:ahLst/>
            <a:cxnLst/>
            <a:rect l="l" t="t" r="r" b="b"/>
            <a:pathLst>
              <a:path w="3981450" h="2038350">
                <a:moveTo>
                  <a:pt x="0" y="2038350"/>
                </a:moveTo>
                <a:lnTo>
                  <a:pt x="1590675" y="400050"/>
                </a:lnTo>
                <a:lnTo>
                  <a:pt x="1601153" y="311468"/>
                </a:lnTo>
                <a:lnTo>
                  <a:pt x="1630680" y="226695"/>
                </a:lnTo>
                <a:lnTo>
                  <a:pt x="1678305" y="150495"/>
                </a:lnTo>
                <a:lnTo>
                  <a:pt x="1741170" y="87630"/>
                </a:lnTo>
                <a:lnTo>
                  <a:pt x="1817370" y="40005"/>
                </a:lnTo>
                <a:lnTo>
                  <a:pt x="1902143" y="10478"/>
                </a:lnTo>
                <a:lnTo>
                  <a:pt x="1990725" y="0"/>
                </a:lnTo>
                <a:lnTo>
                  <a:pt x="2079307" y="10478"/>
                </a:lnTo>
                <a:lnTo>
                  <a:pt x="2164080" y="40005"/>
                </a:lnTo>
                <a:lnTo>
                  <a:pt x="2240280" y="87630"/>
                </a:lnTo>
                <a:lnTo>
                  <a:pt x="2303145" y="150495"/>
                </a:lnTo>
                <a:lnTo>
                  <a:pt x="2350770" y="226695"/>
                </a:lnTo>
                <a:lnTo>
                  <a:pt x="2380297" y="311468"/>
                </a:lnTo>
                <a:lnTo>
                  <a:pt x="2390775" y="400050"/>
                </a:lnTo>
                <a:lnTo>
                  <a:pt x="3981450" y="2038350"/>
                </a:lnTo>
                <a:close/>
              </a:path>
            </a:pathLst>
          </a:custGeom>
          <a:gradFill rotWithShape="1">
            <a:gsLst>
              <a:gs pos="0">
                <a:srgbClr val="488DF5"/>
              </a:gs>
              <a:gs pos="100000">
                <a:srgbClr val="3D7F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bbon-front"/>
          <p:cNvSpPr/>
          <p:nvPr/>
        </p:nvSpPr>
        <p:spPr>
          <a:xfrm>
            <a:off x="1123950" y="14820900"/>
            <a:ext cx="27660600" cy="914400"/>
          </a:xfrm>
          <a:custGeom>
            <a:avLst/>
            <a:gdLst/>
            <a:ahLst/>
            <a:cxnLst/>
            <a:rect l="l" t="t" r="r" b="b"/>
            <a:pathLst>
              <a:path w="27660600" h="914400">
                <a:moveTo>
                  <a:pt x="0" y="619125"/>
                </a:moveTo>
                <a:lnTo>
                  <a:pt x="1543050" y="95250"/>
                </a:lnTo>
                <a:lnTo>
                  <a:pt x="26974800" y="0"/>
                </a:lnTo>
                <a:lnTo>
                  <a:pt x="27660600" y="619125"/>
                </a:lnTo>
                <a:lnTo>
                  <a:pt x="26974800" y="914400"/>
                </a:lnTo>
                <a:lnTo>
                  <a:pt x="1543050" y="914400"/>
                </a:lnTo>
                <a:close/>
              </a:path>
            </a:pathLst>
          </a:custGeom>
          <a:solidFill>
            <a:srgbClr val="A1D2FF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bbon-shade-top"/>
          <p:cNvSpPr/>
          <p:nvPr/>
        </p:nvSpPr>
        <p:spPr>
          <a:xfrm>
            <a:off x="1524000" y="14839950"/>
            <a:ext cx="26527125" cy="457200"/>
          </a:xfrm>
          <a:custGeom>
            <a:avLst/>
            <a:gdLst/>
            <a:ahLst/>
            <a:cxnLst/>
            <a:rect l="l" t="t" r="r" b="b"/>
            <a:pathLst>
              <a:path w="26527125" h="457200">
                <a:moveTo>
                  <a:pt x="0" y="400050"/>
                </a:moveTo>
                <a:lnTo>
                  <a:pt x="1238250" y="114300"/>
                </a:lnTo>
                <a:lnTo>
                  <a:pt x="26527125" y="0"/>
                </a:lnTo>
                <a:lnTo>
                  <a:pt x="26527125" y="361950"/>
                </a:lnTo>
                <a:lnTo>
                  <a:pt x="1238250" y="457200"/>
                </a:ln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bbon-shade-bot"/>
          <p:cNvSpPr/>
          <p:nvPr/>
        </p:nvSpPr>
        <p:spPr>
          <a:xfrm>
            <a:off x="1905000" y="15601950"/>
            <a:ext cx="26193750" cy="133350"/>
          </a:xfrm>
          <a:custGeom>
            <a:avLst/>
            <a:gdLst/>
            <a:ahLst/>
            <a:cxnLst/>
            <a:rect l="l" t="t" r="r" b="b"/>
            <a:pathLst>
              <a:path w="26193750" h="133350">
                <a:moveTo>
                  <a:pt x="0" y="0"/>
                </a:moveTo>
                <a:lnTo>
                  <a:pt x="26193750" y="0"/>
                </a:lnTo>
                <a:lnTo>
                  <a:pt x="26193750" y="133350"/>
                </a:lnTo>
                <a:lnTo>
                  <a:pt x="762000" y="133350"/>
                </a:lnTo>
                <a:close/>
              </a:path>
            </a:pathLst>
          </a:cu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anner-text"/>
          <p:cNvSpPr txBox="1"/>
          <p:nvPr/>
        </p:nvSpPr>
        <p:spPr>
          <a:xfrm>
            <a:off x="4752975" y="14154150"/>
            <a:ext cx="2047875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2F6FC4"/>
                </a:solidFill>
                <a:latin typeface="Microsoft YaHei"/>
                <a:ea typeface="Microsoft YaHei"/>
                <a:cs typeface="Microsoft YaHei"/>
              </a:rPr>
              <a:t>社交媒体使用的“如何使用”比单纯的“使用多久”对心理健康的影响更为关键。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