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8594050" cy="1600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28594050" cy="1600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ge-bg"/>
          <p:cNvSpPr/>
          <p:nvPr/>
        </p:nvSpPr>
        <p:spPr>
          <a:xfrm>
            <a:off x="0" y="0"/>
            <a:ext cx="28594050" cy="1600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ge-border"/>
          <p:cNvSpPr/>
          <p:nvPr/>
        </p:nvSpPr>
        <p:spPr>
          <a:xfrm>
            <a:off x="114300" y="114300"/>
            <a:ext cx="28365450" cy="15773400"/>
          </a:xfrm>
          <a:prstGeom prst="rect">
            <a:avLst/>
          </a:prstGeom>
          <a:noFill/>
          <a:ln w="2857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49" name="header"/>
          <p:cNvGrpSpPr/>
          <p:nvPr/>
        </p:nvGrpSpPr>
        <p:grpSpPr>
          <a:xfrm>
            <a:off x="1047750" y="1095375"/>
            <a:ext cx="8639175" cy="1257300"/>
            <a:chOff x="1047750" y="1095375"/>
            <a:chExt cx="8639175" cy="1257300"/>
          </a:xfrm>
        </p:grpSpPr>
        <p:sp>
          <p:nvSpPr>
            <p:cNvPr id="5" name="hdr-icon-body"/>
            <p:cNvSpPr/>
            <p:nvPr/>
          </p:nvSpPr>
          <p:spPr>
            <a:xfrm>
              <a:off x="1047750" y="1409700"/>
              <a:ext cx="952500" cy="781050"/>
            </a:xfrm>
            <a:prstGeom prst="roundRect">
              <a:avLst>
                <a:gd name="adj" fmla="val 14634"/>
              </a:avLst>
            </a:prstGeom>
            <a:solidFill>
              <a:srgbClr val="3731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hdr-icon-top"/>
            <p:cNvSpPr/>
            <p:nvPr/>
          </p:nvSpPr>
          <p:spPr>
            <a:xfrm>
              <a:off x="1047750" y="1228725"/>
              <a:ext cx="952500" cy="285750"/>
            </a:xfrm>
            <a:prstGeom prst="roundRect">
              <a:avLst>
                <a:gd name="adj" fmla="val 26666"/>
              </a:avLst>
            </a:prstGeom>
            <a:solidFill>
              <a:srgbClr val="3731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hdr-cell-00"/>
            <p:cNvSpPr/>
            <p:nvPr/>
          </p:nvSpPr>
          <p:spPr>
            <a:xfrm>
              <a:off x="1162050" y="1524000"/>
              <a:ext cx="190500" cy="190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hdr-cell-01"/>
            <p:cNvSpPr/>
            <p:nvPr/>
          </p:nvSpPr>
          <p:spPr>
            <a:xfrm>
              <a:off x="1162050" y="1809750"/>
              <a:ext cx="190500" cy="190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hdr-cell-10"/>
            <p:cNvSpPr/>
            <p:nvPr/>
          </p:nvSpPr>
          <p:spPr>
            <a:xfrm>
              <a:off x="1428750" y="1524000"/>
              <a:ext cx="190500" cy="190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hdr-cell-11"/>
            <p:cNvSpPr/>
            <p:nvPr/>
          </p:nvSpPr>
          <p:spPr>
            <a:xfrm>
              <a:off x="1428750" y="1809750"/>
              <a:ext cx="190500" cy="190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hdr-cell-20"/>
            <p:cNvSpPr/>
            <p:nvPr/>
          </p:nvSpPr>
          <p:spPr>
            <a:xfrm>
              <a:off x="1695450" y="1524000"/>
              <a:ext cx="190500" cy="190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hdr-cell-21"/>
            <p:cNvSpPr/>
            <p:nvPr/>
          </p:nvSpPr>
          <p:spPr>
            <a:xfrm>
              <a:off x="1695450" y="1809750"/>
              <a:ext cx="190500" cy="190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hdr-tab-0"/>
            <p:cNvSpPr/>
            <p:nvPr/>
          </p:nvSpPr>
          <p:spPr>
            <a:xfrm>
              <a:off x="1238250" y="1143000"/>
              <a:ext cx="114300" cy="209550"/>
            </a:xfrm>
            <a:prstGeom prst="roundRect">
              <a:avLst>
                <a:gd name="adj" fmla="val 50000"/>
              </a:avLst>
            </a:prstGeom>
            <a:solidFill>
              <a:srgbClr val="3731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hdr-tab-1"/>
            <p:cNvSpPr/>
            <p:nvPr/>
          </p:nvSpPr>
          <p:spPr>
            <a:xfrm>
              <a:off x="1657350" y="1143000"/>
              <a:ext cx="114300" cy="209550"/>
            </a:xfrm>
            <a:prstGeom prst="roundRect">
              <a:avLst>
                <a:gd name="adj" fmla="val 50000"/>
              </a:avLst>
            </a:prstGeom>
            <a:solidFill>
              <a:srgbClr val="3731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hdr-title"/>
            <p:cNvSpPr txBox="1"/>
            <p:nvPr/>
          </p:nvSpPr>
          <p:spPr>
            <a:xfrm>
              <a:off x="1876425" y="1095375"/>
              <a:ext cx="7810500" cy="1257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7350" b="1" i="0">
                  <a:solidFill>
                    <a:srgbClr val="373179"/>
                  </a:solidFill>
                  <a:latin typeface="Microsoft YaHei"/>
                  <a:ea typeface="Microsoft YaHei"/>
                  <a:cs typeface="Microsoft YaHei"/>
                </a:rPr>
                <a:t>新年工作计划清单</a:t>
              </a:r>
            </a:p>
          </p:txBody>
        </p:sp>
      </p:grpSp>
      <p:grpSp>
        <p:nvGrpSpPr>
          <p:cNvPr id="153" name="pill-group-1"/>
          <p:cNvGrpSpPr/>
          <p:nvPr/>
        </p:nvGrpSpPr>
        <p:grpSpPr>
          <a:xfrm>
            <a:off x="3752850" y="3181350"/>
            <a:ext cx="5476875" cy="1685925"/>
            <a:chOff x="3752850" y="3181350"/>
            <a:chExt cx="5476875" cy="1685925"/>
          </a:xfrm>
        </p:grpSpPr>
        <p:grpSp>
          <p:nvGrpSpPr>
            <p:cNvPr id="135" name="pill-1"/>
            <p:cNvGrpSpPr/>
            <p:nvPr/>
          </p:nvGrpSpPr>
          <p:grpSpPr>
            <a:xfrm>
              <a:off x="3752850" y="3181350"/>
              <a:ext cx="5476875" cy="942975"/>
              <a:chOff x="3752850" y="3181350"/>
              <a:chExt cx="5476875" cy="942975"/>
            </a:xfrm>
          </p:grpSpPr>
          <p:sp>
            <p:nvSpPr>
              <p:cNvPr id="16" name="pill-1-bg"/>
              <p:cNvSpPr/>
              <p:nvPr/>
            </p:nvSpPr>
            <p:spPr>
              <a:xfrm>
                <a:off x="3752850" y="3181350"/>
                <a:ext cx="5476875" cy="942975"/>
              </a:xfrm>
              <a:prstGeom prst="roundRect">
                <a:avLst>
                  <a:gd name="adj" fmla="val 50000"/>
                </a:avLst>
              </a:prstGeom>
              <a:solidFill>
                <a:srgbClr val="6E64E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pill-1-t"/>
              <p:cNvSpPr txBox="1"/>
              <p:nvPr/>
            </p:nvSpPr>
            <p:spPr>
              <a:xfrm>
                <a:off x="3752850" y="3181350"/>
                <a:ext cx="5476875" cy="942975"/>
              </a:xfrm>
              <a:prstGeom prst="rect">
                <a:avLst/>
              </a:prstGeom>
              <a:noFill/>
              <a:effectLst/>
            </p:spPr>
            <p:txBody>
              <a:bodyPr wrap="square" lIns="0" rIns="0" tIns="0" bIns="0" anchor="ctr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900" b="1" i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拓市优流超目标</a:t>
                </a:r>
              </a:p>
            </p:txBody>
          </p:sp>
        </p:grpSp>
        <p:sp>
          <p:nvSpPr>
            <p:cNvPr id="18" name="qtr-1"/>
            <p:cNvSpPr txBox="1"/>
            <p:nvPr/>
          </p:nvSpPr>
          <p:spPr>
            <a:xfrm>
              <a:off x="5681662" y="4333875"/>
              <a:ext cx="1619250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一季度</a:t>
              </a:r>
            </a:p>
          </p:txBody>
        </p:sp>
      </p:grpSp>
      <p:grpSp>
        <p:nvGrpSpPr>
          <p:cNvPr id="154" name="pill-group-2"/>
          <p:cNvGrpSpPr/>
          <p:nvPr/>
        </p:nvGrpSpPr>
        <p:grpSpPr>
          <a:xfrm>
            <a:off x="9810750" y="3181350"/>
            <a:ext cx="5476875" cy="1685925"/>
            <a:chOff x="9810750" y="3181350"/>
            <a:chExt cx="5476875" cy="1685925"/>
          </a:xfrm>
        </p:grpSpPr>
        <p:grpSp>
          <p:nvGrpSpPr>
            <p:cNvPr id="136" name="pill-2"/>
            <p:cNvGrpSpPr/>
            <p:nvPr/>
          </p:nvGrpSpPr>
          <p:grpSpPr>
            <a:xfrm>
              <a:off x="9810750" y="3181350"/>
              <a:ext cx="5476875" cy="942975"/>
              <a:chOff x="9810750" y="3181350"/>
              <a:chExt cx="5476875" cy="942975"/>
            </a:xfrm>
          </p:grpSpPr>
          <p:sp>
            <p:nvSpPr>
              <p:cNvPr id="19" name="pill-2-bg"/>
              <p:cNvSpPr/>
              <p:nvPr/>
            </p:nvSpPr>
            <p:spPr>
              <a:xfrm>
                <a:off x="9810750" y="3181350"/>
                <a:ext cx="5476875" cy="942975"/>
              </a:xfrm>
              <a:prstGeom prst="roundRect">
                <a:avLst>
                  <a:gd name="adj" fmla="val 50000"/>
                </a:avLst>
              </a:prstGeom>
              <a:solidFill>
                <a:srgbClr val="FE9D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pill-2-t"/>
              <p:cNvSpPr txBox="1"/>
              <p:nvPr/>
            </p:nvSpPr>
            <p:spPr>
              <a:xfrm>
                <a:off x="9810750" y="3181350"/>
                <a:ext cx="5476875" cy="942975"/>
              </a:xfrm>
              <a:prstGeom prst="rect">
                <a:avLst/>
              </a:prstGeom>
              <a:noFill/>
              <a:effectLst/>
            </p:spPr>
            <p:txBody>
              <a:bodyPr wrap="square" lIns="0" rIns="0" tIns="0" bIns="0" anchor="ctr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900" b="1" i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增占强能稳推进</a:t>
                </a:r>
              </a:p>
            </p:txBody>
          </p:sp>
        </p:grpSp>
        <p:sp>
          <p:nvSpPr>
            <p:cNvPr id="21" name="qtr-2"/>
            <p:cNvSpPr txBox="1"/>
            <p:nvPr/>
          </p:nvSpPr>
          <p:spPr>
            <a:xfrm>
              <a:off x="11739562" y="4333875"/>
              <a:ext cx="1619250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二季度</a:t>
              </a:r>
            </a:p>
          </p:txBody>
        </p:sp>
      </p:grpSp>
      <p:grpSp>
        <p:nvGrpSpPr>
          <p:cNvPr id="144" name="pill-group-3"/>
          <p:cNvGrpSpPr/>
          <p:nvPr/>
        </p:nvGrpSpPr>
        <p:grpSpPr>
          <a:xfrm>
            <a:off x="15868650" y="3181350"/>
            <a:ext cx="5476875" cy="1685925"/>
            <a:chOff x="15868650" y="3181350"/>
            <a:chExt cx="5476875" cy="1685925"/>
          </a:xfrm>
        </p:grpSpPr>
        <p:grpSp>
          <p:nvGrpSpPr>
            <p:cNvPr id="137" name="pill-3"/>
            <p:cNvGrpSpPr/>
            <p:nvPr/>
          </p:nvGrpSpPr>
          <p:grpSpPr>
            <a:xfrm>
              <a:off x="15868650" y="3181350"/>
              <a:ext cx="5476875" cy="942975"/>
              <a:chOff x="15868650" y="3181350"/>
              <a:chExt cx="5476875" cy="942975"/>
            </a:xfrm>
          </p:grpSpPr>
          <p:sp>
            <p:nvSpPr>
              <p:cNvPr id="22" name="pill-3-bg"/>
              <p:cNvSpPr/>
              <p:nvPr/>
            </p:nvSpPr>
            <p:spPr>
              <a:xfrm>
                <a:off x="15868650" y="3181350"/>
                <a:ext cx="5476875" cy="942975"/>
              </a:xfrm>
              <a:prstGeom prst="roundRect">
                <a:avLst>
                  <a:gd name="adj" fmla="val 50000"/>
                </a:avLst>
              </a:prstGeom>
              <a:solidFill>
                <a:srgbClr val="EE646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pill-3-t"/>
              <p:cNvSpPr txBox="1"/>
              <p:nvPr/>
            </p:nvSpPr>
            <p:spPr>
              <a:xfrm>
                <a:off x="15868650" y="3181350"/>
                <a:ext cx="5476875" cy="942975"/>
              </a:xfrm>
              <a:prstGeom prst="rect">
                <a:avLst/>
              </a:prstGeom>
              <a:noFill/>
              <a:effectLst/>
            </p:spPr>
            <p:txBody>
              <a:bodyPr wrap="square" lIns="0" rIns="0" tIns="0" bIns="0" anchor="ctr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900" b="1" i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开区改品冲关键</a:t>
                </a:r>
              </a:p>
            </p:txBody>
          </p:sp>
        </p:grpSp>
        <p:sp>
          <p:nvSpPr>
            <p:cNvPr id="24" name="qtr-3"/>
            <p:cNvSpPr txBox="1"/>
            <p:nvPr/>
          </p:nvSpPr>
          <p:spPr>
            <a:xfrm>
              <a:off x="17797462" y="4333875"/>
              <a:ext cx="1619250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三季度</a:t>
              </a:r>
            </a:p>
          </p:txBody>
        </p:sp>
      </p:grpSp>
      <p:grpSp>
        <p:nvGrpSpPr>
          <p:cNvPr id="143" name="pill-group-4"/>
          <p:cNvGrpSpPr/>
          <p:nvPr/>
        </p:nvGrpSpPr>
        <p:grpSpPr>
          <a:xfrm>
            <a:off x="21926550" y="3181350"/>
            <a:ext cx="5476875" cy="1685925"/>
            <a:chOff x="21926550" y="3181350"/>
            <a:chExt cx="5476875" cy="1685925"/>
          </a:xfrm>
        </p:grpSpPr>
        <p:grpSp>
          <p:nvGrpSpPr>
            <p:cNvPr id="138" name="pill-4"/>
            <p:cNvGrpSpPr/>
            <p:nvPr/>
          </p:nvGrpSpPr>
          <p:grpSpPr>
            <a:xfrm>
              <a:off x="21926550" y="3181350"/>
              <a:ext cx="5476875" cy="942975"/>
              <a:chOff x="21926550" y="3181350"/>
              <a:chExt cx="5476875" cy="942975"/>
            </a:xfrm>
          </p:grpSpPr>
          <p:sp>
            <p:nvSpPr>
              <p:cNvPr id="25" name="pill-4-bg"/>
              <p:cNvSpPr/>
              <p:nvPr/>
            </p:nvSpPr>
            <p:spPr>
              <a:xfrm>
                <a:off x="21926550" y="3181350"/>
                <a:ext cx="5476875" cy="942975"/>
              </a:xfrm>
              <a:prstGeom prst="roundRect">
                <a:avLst>
                  <a:gd name="adj" fmla="val 50000"/>
                </a:avLst>
              </a:prstGeom>
              <a:solidFill>
                <a:srgbClr val="0091F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pill-4-t"/>
              <p:cNvSpPr txBox="1"/>
              <p:nvPr/>
            </p:nvSpPr>
            <p:spPr>
              <a:xfrm>
                <a:off x="21926550" y="3181350"/>
                <a:ext cx="5476875" cy="942975"/>
              </a:xfrm>
              <a:prstGeom prst="rect">
                <a:avLst/>
              </a:prstGeom>
              <a:noFill/>
              <a:effectLst/>
            </p:spPr>
            <p:txBody>
              <a:bodyPr wrap="square" lIns="0" rIns="0" tIns="0" bIns="0" anchor="ctr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900" b="1" i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达标复盘定来年</a:t>
                </a:r>
              </a:p>
            </p:txBody>
          </p:sp>
        </p:grpSp>
        <p:sp>
          <p:nvSpPr>
            <p:cNvPr id="27" name="qtr-4"/>
            <p:cNvSpPr txBox="1"/>
            <p:nvPr/>
          </p:nvSpPr>
          <p:spPr>
            <a:xfrm>
              <a:off x="23855362" y="4333875"/>
              <a:ext cx="1619250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000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四季度</a:t>
              </a:r>
            </a:p>
          </p:txBody>
        </p:sp>
      </p:grpSp>
      <p:sp>
        <p:nvSpPr>
          <p:cNvPr id="28" name="timeline-1"/>
          <p:cNvSpPr/>
          <p:nvPr/>
        </p:nvSpPr>
        <p:spPr>
          <a:xfrm>
            <a:off x="3819525" y="5143500"/>
            <a:ext cx="7562850" cy="66675"/>
          </a:xfrm>
          <a:prstGeom prst="rect">
            <a:avLst/>
          </a:prstGeom>
          <a:gradFill rotWithShape="1">
            <a:gsLst>
              <a:gs pos="0">
                <a:srgbClr val="6E64EB"/>
              </a:gs>
              <a:gs pos="100000">
                <a:srgbClr val="FE9D1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imeline-2"/>
          <p:cNvSpPr/>
          <p:nvPr/>
        </p:nvSpPr>
        <p:spPr>
          <a:xfrm>
            <a:off x="11382375" y="5143500"/>
            <a:ext cx="9001125" cy="66675"/>
          </a:xfrm>
          <a:prstGeom prst="rect">
            <a:avLst/>
          </a:prstGeom>
          <a:gradFill rotWithShape="1">
            <a:gsLst>
              <a:gs pos="0">
                <a:srgbClr val="FE9D18"/>
              </a:gs>
              <a:gs pos="100000">
                <a:srgbClr val="EE646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imeline-3"/>
          <p:cNvSpPr/>
          <p:nvPr/>
        </p:nvSpPr>
        <p:spPr>
          <a:xfrm>
            <a:off x="20383500" y="5143500"/>
            <a:ext cx="7010400" cy="66675"/>
          </a:xfrm>
          <a:prstGeom prst="rect">
            <a:avLst/>
          </a:prstGeom>
          <a:gradFill rotWithShape="1">
            <a:gsLst>
              <a:gs pos="0">
                <a:srgbClr val="EE6464"/>
              </a:gs>
              <a:gs pos="100000">
                <a:srgbClr val="0091F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ot-1"/>
          <p:cNvSpPr/>
          <p:nvPr/>
        </p:nvSpPr>
        <p:spPr>
          <a:xfrm>
            <a:off x="6324600" y="4981575"/>
            <a:ext cx="323850" cy="323850"/>
          </a:xfrm>
          <a:prstGeom prst="ellipse">
            <a:avLst/>
          </a:prstGeom>
          <a:solidFill>
            <a:srgbClr val="6E6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ot-2"/>
          <p:cNvSpPr/>
          <p:nvPr/>
        </p:nvSpPr>
        <p:spPr>
          <a:xfrm>
            <a:off x="12382500" y="4981575"/>
            <a:ext cx="323850" cy="323850"/>
          </a:xfrm>
          <a:prstGeom prst="ellipse">
            <a:avLst/>
          </a:prstGeom>
          <a:solidFill>
            <a:srgbClr val="FE9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ot-3"/>
          <p:cNvSpPr/>
          <p:nvPr/>
        </p:nvSpPr>
        <p:spPr>
          <a:xfrm>
            <a:off x="18440400" y="4981575"/>
            <a:ext cx="323850" cy="323850"/>
          </a:xfrm>
          <a:prstGeom prst="ellipse">
            <a:avLst/>
          </a:prstGeom>
          <a:solidFill>
            <a:srgbClr val="EE64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ot-4"/>
          <p:cNvSpPr/>
          <p:nvPr/>
        </p:nvSpPr>
        <p:spPr>
          <a:xfrm>
            <a:off x="24498300" y="4981575"/>
            <a:ext cx="323850" cy="323850"/>
          </a:xfrm>
          <a:prstGeom prst="ellipse">
            <a:avLst/>
          </a:prstGeom>
          <a:solidFill>
            <a:srgbClr val="009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51" name="rowtag-1"/>
          <p:cNvGrpSpPr/>
          <p:nvPr/>
        </p:nvGrpSpPr>
        <p:grpSpPr>
          <a:xfrm>
            <a:off x="1038225" y="8705850"/>
            <a:ext cx="2571750" cy="809625"/>
            <a:chOff x="1038225" y="8705850"/>
            <a:chExt cx="2571750" cy="809625"/>
          </a:xfrm>
        </p:grpSpPr>
        <p:sp>
          <p:nvSpPr>
            <p:cNvPr id="35" name="rowtag-1-bg"/>
            <p:cNvSpPr/>
            <p:nvPr/>
          </p:nvSpPr>
          <p:spPr>
            <a:xfrm>
              <a:off x="1038225" y="8705850"/>
              <a:ext cx="2571750" cy="809625"/>
            </a:xfrm>
            <a:prstGeom prst="roundRect">
              <a:avLst>
                <a:gd name="adj" fmla="val 4705"/>
              </a:avLst>
            </a:prstGeom>
            <a:solidFill>
              <a:srgbClr val="F7F9FE"/>
            </a:solidFill>
            <a:ln w="19050">
              <a:solidFill>
                <a:srgbClr val="DFE5F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owtag-1-t"/>
            <p:cNvSpPr txBox="1"/>
            <p:nvPr/>
          </p:nvSpPr>
          <p:spPr>
            <a:xfrm>
              <a:off x="1257300" y="8815388"/>
              <a:ext cx="2286000" cy="5905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1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目标</a:t>
              </a:r>
            </a:p>
          </p:txBody>
        </p:sp>
      </p:grpSp>
      <p:grpSp>
        <p:nvGrpSpPr>
          <p:cNvPr id="148" name="rowtag-2"/>
          <p:cNvGrpSpPr/>
          <p:nvPr/>
        </p:nvGrpSpPr>
        <p:grpSpPr>
          <a:xfrm>
            <a:off x="1038225" y="10563225"/>
            <a:ext cx="2571750" cy="809625"/>
            <a:chOff x="1038225" y="10563225"/>
            <a:chExt cx="2571750" cy="809625"/>
          </a:xfrm>
        </p:grpSpPr>
        <p:sp>
          <p:nvSpPr>
            <p:cNvPr id="37" name="rowtag-2-bg"/>
            <p:cNvSpPr/>
            <p:nvPr/>
          </p:nvSpPr>
          <p:spPr>
            <a:xfrm>
              <a:off x="1038225" y="10563225"/>
              <a:ext cx="2571750" cy="809625"/>
            </a:xfrm>
            <a:prstGeom prst="roundRect">
              <a:avLst>
                <a:gd name="adj" fmla="val 4705"/>
              </a:avLst>
            </a:prstGeom>
            <a:solidFill>
              <a:srgbClr val="F7F9FE"/>
            </a:solidFill>
            <a:ln w="19050">
              <a:solidFill>
                <a:srgbClr val="DFE5F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rowtag-2-t"/>
            <p:cNvSpPr txBox="1"/>
            <p:nvPr/>
          </p:nvSpPr>
          <p:spPr>
            <a:xfrm>
              <a:off x="1257300" y="10672762"/>
              <a:ext cx="2286000" cy="5905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1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预算</a:t>
              </a:r>
            </a:p>
          </p:txBody>
        </p:sp>
      </p:grpSp>
      <p:grpSp>
        <p:nvGrpSpPr>
          <p:cNvPr id="145" name="rowtag-3"/>
          <p:cNvGrpSpPr/>
          <p:nvPr/>
        </p:nvGrpSpPr>
        <p:grpSpPr>
          <a:xfrm>
            <a:off x="1038225" y="12906375"/>
            <a:ext cx="2571750" cy="809625"/>
            <a:chOff x="1038225" y="12906375"/>
            <a:chExt cx="2571750" cy="809625"/>
          </a:xfrm>
        </p:grpSpPr>
        <p:sp>
          <p:nvSpPr>
            <p:cNvPr id="39" name="rowtag-3-bg"/>
            <p:cNvSpPr/>
            <p:nvPr/>
          </p:nvSpPr>
          <p:spPr>
            <a:xfrm>
              <a:off x="1038225" y="12906375"/>
              <a:ext cx="2571750" cy="809625"/>
            </a:xfrm>
            <a:prstGeom prst="roundRect">
              <a:avLst>
                <a:gd name="adj" fmla="val 4705"/>
              </a:avLst>
            </a:prstGeom>
            <a:solidFill>
              <a:srgbClr val="F7F9FE"/>
            </a:solidFill>
            <a:ln w="19050">
              <a:solidFill>
                <a:srgbClr val="DFE5F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owtag-3-t"/>
            <p:cNvSpPr txBox="1"/>
            <p:nvPr/>
          </p:nvSpPr>
          <p:spPr>
            <a:xfrm>
              <a:off x="1257300" y="13015912"/>
              <a:ext cx="2286000" cy="5905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1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计划完成</a:t>
              </a:r>
            </a:p>
          </p:txBody>
        </p:sp>
      </p:grpSp>
      <p:grpSp>
        <p:nvGrpSpPr>
          <p:cNvPr id="147" name="col-1"/>
          <p:cNvGrpSpPr/>
          <p:nvPr/>
        </p:nvGrpSpPr>
        <p:grpSpPr>
          <a:xfrm>
            <a:off x="3752850" y="5715000"/>
            <a:ext cx="5476875" cy="9258300"/>
            <a:chOff x="3752850" y="5715000"/>
            <a:chExt cx="5476875" cy="9258300"/>
          </a:xfrm>
        </p:grpSpPr>
        <p:sp>
          <p:nvSpPr>
            <p:cNvPr id="41" name="col-1-frame"/>
            <p:cNvSpPr/>
            <p:nvPr/>
          </p:nvSpPr>
          <p:spPr>
            <a:xfrm>
              <a:off x="3752850" y="5715000"/>
              <a:ext cx="5476875" cy="9248775"/>
            </a:xfrm>
            <a:prstGeom prst="roundRect">
              <a:avLst>
                <a:gd name="adj" fmla="val 2434"/>
              </a:avLst>
            </a:prstGeom>
            <a:noFill/>
            <a:ln w="38100">
              <a:solidFill>
                <a:srgbClr val="6E64EB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col-1-bar"/>
            <p:cNvSpPr/>
            <p:nvPr/>
          </p:nvSpPr>
          <p:spPr>
            <a:xfrm>
              <a:off x="3752850" y="14859000"/>
              <a:ext cx="5476875" cy="114300"/>
            </a:xfrm>
            <a:prstGeom prst="rect">
              <a:avLst/>
            </a:prstGeom>
            <a:solidFill>
              <a:srgbClr val="6E64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col-1-ic-bg"/>
            <p:cNvSpPr/>
            <p:nvPr/>
          </p:nvSpPr>
          <p:spPr>
            <a:xfrm>
              <a:off x="5567362" y="6248400"/>
              <a:ext cx="1847850" cy="1847850"/>
            </a:xfrm>
            <a:prstGeom prst="ellipse">
              <a:avLst/>
            </a:prstGeom>
            <a:solidFill>
              <a:srgbClr val="6E64E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ic1-ring"/>
            <p:cNvSpPr/>
            <p:nvPr/>
          </p:nvSpPr>
          <p:spPr>
            <a:xfrm>
              <a:off x="5991225" y="6672262"/>
              <a:ext cx="1000125" cy="1000125"/>
            </a:xfrm>
            <a:prstGeom prst="ellipse">
              <a:avLst/>
            </a:prstGeom>
            <a:noFill/>
            <a:ln w="1143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ic1-tick0"/>
            <p:cNvSpPr/>
            <p:nvPr/>
          </p:nvSpPr>
          <p:spPr>
            <a:xfrm>
              <a:off x="6434138" y="6619875"/>
              <a:ext cx="114300" cy="2571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ic1-tick1"/>
            <p:cNvSpPr/>
            <p:nvPr/>
          </p:nvSpPr>
          <p:spPr>
            <a:xfrm>
              <a:off x="6434138" y="7467600"/>
              <a:ext cx="114300" cy="2571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ic1-tick2"/>
            <p:cNvSpPr/>
            <p:nvPr/>
          </p:nvSpPr>
          <p:spPr>
            <a:xfrm>
              <a:off x="5938838" y="7115175"/>
              <a:ext cx="257175" cy="114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ic1-tick3"/>
            <p:cNvSpPr/>
            <p:nvPr/>
          </p:nvSpPr>
          <p:spPr>
            <a:xfrm>
              <a:off x="6786562" y="7115175"/>
              <a:ext cx="257175" cy="114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ic1-dot"/>
            <p:cNvSpPr/>
            <p:nvPr/>
          </p:nvSpPr>
          <p:spPr>
            <a:xfrm>
              <a:off x="6319838" y="7000875"/>
              <a:ext cx="342900" cy="3429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col-1-t1"/>
            <p:cNvSpPr txBox="1"/>
            <p:nvPr/>
          </p:nvSpPr>
          <p:spPr>
            <a:xfrm>
              <a:off x="4252912" y="8539162"/>
              <a:ext cx="447675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明确年度首季度业务</a:t>
              </a:r>
            </a:p>
          </p:txBody>
        </p:sp>
        <p:sp>
          <p:nvSpPr>
            <p:cNvPr id="51" name="col-1-t2"/>
            <p:cNvSpPr txBox="1"/>
            <p:nvPr/>
          </p:nvSpPr>
          <p:spPr>
            <a:xfrm>
              <a:off x="4252912" y="9139238"/>
              <a:ext cx="447675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拓展方向</a:t>
              </a:r>
            </a:p>
          </p:txBody>
        </p:sp>
        <p:sp>
          <p:nvSpPr>
            <p:cNvPr id="52" name="col-1-fee"/>
            <p:cNvSpPr txBox="1"/>
            <p:nvPr/>
          </p:nvSpPr>
          <p:spPr>
            <a:xfrm>
              <a:off x="4586288" y="10129838"/>
              <a:ext cx="381000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市场推广费用</a:t>
              </a:r>
            </a:p>
          </p:txBody>
        </p:sp>
        <p:grpSp>
          <p:nvGrpSpPr>
            <p:cNvPr id="139" name="col-1-amt"/>
            <p:cNvGrpSpPr/>
            <p:nvPr/>
          </p:nvGrpSpPr>
          <p:grpSpPr>
            <a:xfrm>
              <a:off x="4848225" y="10953750"/>
              <a:ext cx="3286125" cy="942975"/>
              <a:chOff x="4848225" y="10953750"/>
              <a:chExt cx="3286125" cy="942975"/>
            </a:xfrm>
          </p:grpSpPr>
          <p:sp>
            <p:nvSpPr>
              <p:cNvPr id="53" name="col-1-amt-bg"/>
              <p:cNvSpPr/>
              <p:nvPr/>
            </p:nvSpPr>
            <p:spPr>
              <a:xfrm>
                <a:off x="4848225" y="10953750"/>
                <a:ext cx="3286125" cy="942975"/>
              </a:xfrm>
              <a:prstGeom prst="roundRect">
                <a:avLst>
                  <a:gd name="adj" fmla="val 50000"/>
                </a:avLst>
              </a:prstGeom>
              <a:solidFill>
                <a:srgbClr val="6E64EB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" name="col-1-amt-t"/>
              <p:cNvSpPr txBox="1"/>
              <p:nvPr/>
            </p:nvSpPr>
            <p:spPr>
              <a:xfrm>
                <a:off x="4848225" y="10953750"/>
                <a:ext cx="3286125" cy="942975"/>
              </a:xfrm>
              <a:prstGeom prst="rect">
                <a:avLst/>
              </a:prstGeom>
              <a:noFill/>
              <a:effectLst/>
            </p:spPr>
            <p:txBody>
              <a:bodyPr wrap="square" lIns="0" rIns="0" tIns="0" bIns="0" anchor="ctr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900" b="1" i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20万元</a:t>
                </a:r>
              </a:p>
            </p:txBody>
          </p:sp>
        </p:grpSp>
        <p:sp>
          <p:nvSpPr>
            <p:cNvPr id="55" name="col-1-box1"/>
            <p:cNvSpPr/>
            <p:nvPr/>
          </p:nvSpPr>
          <p:spPr>
            <a:xfrm>
              <a:off x="4143375" y="12392025"/>
              <a:ext cx="4695825" cy="828675"/>
            </a:xfrm>
            <a:prstGeom prst="roundRect">
              <a:avLst>
                <a:gd name="adj" fmla="val 9195"/>
              </a:avLst>
            </a:prstGeom>
            <a:solidFill>
              <a:srgbClr val="F5F7FF"/>
            </a:solidFill>
            <a:ln w="19050">
              <a:solidFill>
                <a:srgbClr val="6E64E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col-1-box1-t"/>
            <p:cNvSpPr txBox="1"/>
            <p:nvPr/>
          </p:nvSpPr>
          <p:spPr>
            <a:xfrm>
              <a:off x="4257675" y="12539662"/>
              <a:ext cx="4467225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92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产品市场占有率达到 11%</a:t>
              </a:r>
            </a:p>
          </p:txBody>
        </p:sp>
        <p:sp>
          <p:nvSpPr>
            <p:cNvPr id="57" name="col-1-box2"/>
            <p:cNvSpPr/>
            <p:nvPr/>
          </p:nvSpPr>
          <p:spPr>
            <a:xfrm>
              <a:off x="4143375" y="13430250"/>
              <a:ext cx="4695825" cy="828675"/>
            </a:xfrm>
            <a:prstGeom prst="roundRect">
              <a:avLst>
                <a:gd name="adj" fmla="val 9195"/>
              </a:avLst>
            </a:prstGeom>
            <a:solidFill>
              <a:srgbClr val="F5F7FF"/>
            </a:solidFill>
            <a:ln w="19050">
              <a:solidFill>
                <a:srgbClr val="6E64E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col-1-box2-t"/>
            <p:cNvSpPr txBox="1"/>
            <p:nvPr/>
          </p:nvSpPr>
          <p:spPr>
            <a:xfrm>
              <a:off x="4257675" y="13577888"/>
              <a:ext cx="4467225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92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工作效率提升 15%</a:t>
              </a:r>
            </a:p>
          </p:txBody>
        </p:sp>
      </p:grpSp>
      <p:grpSp>
        <p:nvGrpSpPr>
          <p:cNvPr id="152" name="col-2"/>
          <p:cNvGrpSpPr/>
          <p:nvPr/>
        </p:nvGrpSpPr>
        <p:grpSpPr>
          <a:xfrm>
            <a:off x="9810750" y="5715000"/>
            <a:ext cx="5476875" cy="9258300"/>
            <a:chOff x="9810750" y="5715000"/>
            <a:chExt cx="5476875" cy="9258300"/>
          </a:xfrm>
        </p:grpSpPr>
        <p:sp>
          <p:nvSpPr>
            <p:cNvPr id="59" name="col-2-frame"/>
            <p:cNvSpPr/>
            <p:nvPr/>
          </p:nvSpPr>
          <p:spPr>
            <a:xfrm>
              <a:off x="9810750" y="5715000"/>
              <a:ext cx="5476875" cy="9248775"/>
            </a:xfrm>
            <a:prstGeom prst="roundRect">
              <a:avLst>
                <a:gd name="adj" fmla="val 2434"/>
              </a:avLst>
            </a:prstGeom>
            <a:noFill/>
            <a:ln w="38100">
              <a:solidFill>
                <a:srgbClr val="FE9D18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col-2-bar"/>
            <p:cNvSpPr/>
            <p:nvPr/>
          </p:nvSpPr>
          <p:spPr>
            <a:xfrm>
              <a:off x="9810750" y="14859000"/>
              <a:ext cx="5476875" cy="114300"/>
            </a:xfrm>
            <a:prstGeom prst="rect">
              <a:avLst/>
            </a:prstGeom>
            <a:solidFill>
              <a:srgbClr val="FE9D1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col-2-ic-bg"/>
            <p:cNvSpPr/>
            <p:nvPr/>
          </p:nvSpPr>
          <p:spPr>
            <a:xfrm>
              <a:off x="11625262" y="6248400"/>
              <a:ext cx="1847850" cy="1847850"/>
            </a:xfrm>
            <a:prstGeom prst="ellipse">
              <a:avLst/>
            </a:prstGeom>
            <a:solidFill>
              <a:srgbClr val="FE9D1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2" name="ic2-stem0"/>
            <p:cNvCxnSpPr/>
            <p:nvPr/>
          </p:nvCxnSpPr>
          <p:spPr>
            <a:xfrm flipV="1">
              <a:off x="12549188" y="6791325"/>
              <a:ext cx="0" cy="123825"/>
            </a:xfrm>
            <a:prstGeom prst="line">
              <a:avLst/>
            </a:prstGeom>
            <a:ln w="85725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ic2-tip0"/>
            <p:cNvCxnSpPr/>
            <p:nvPr/>
          </p:nvCxnSpPr>
          <p:spPr>
            <a:xfrm>
              <a:off x="12549188" y="6619875"/>
              <a:ext cx="0" cy="152400"/>
            </a:xfrm>
            <a:prstGeom prst="line">
              <a:avLst/>
            </a:prstGeom>
            <a:ln w="85725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ic2-barb0-1"/>
            <p:cNvCxnSpPr/>
            <p:nvPr/>
          </p:nvCxnSpPr>
          <p:spPr>
            <a:xfrm>
              <a:off x="12549188" y="6619875"/>
              <a:ext cx="85807" cy="137320"/>
            </a:xfrm>
            <a:prstGeom prst="line">
              <a:avLst/>
            </a:prstGeom>
            <a:ln w="76200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ic2-barb01"/>
            <p:cNvCxnSpPr/>
            <p:nvPr/>
          </p:nvCxnSpPr>
          <p:spPr>
            <a:xfrm flipH="1">
              <a:off x="12463380" y="6619875"/>
              <a:ext cx="85808" cy="137320"/>
            </a:xfrm>
            <a:prstGeom prst="line">
              <a:avLst/>
            </a:prstGeom>
            <a:ln w="76200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ic2-stem1"/>
            <p:cNvCxnSpPr/>
            <p:nvPr/>
          </p:nvCxnSpPr>
          <p:spPr>
            <a:xfrm flipH="1" flipV="1">
              <a:off x="12219232" y="6981825"/>
              <a:ext cx="107235" cy="61913"/>
            </a:xfrm>
            <a:prstGeom prst="line">
              <a:avLst/>
            </a:prstGeom>
            <a:ln w="85725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ic2-tip1"/>
            <p:cNvCxnSpPr/>
            <p:nvPr/>
          </p:nvCxnSpPr>
          <p:spPr>
            <a:xfrm>
              <a:off x="12070752" y="6896100"/>
              <a:ext cx="131982" cy="76200"/>
            </a:xfrm>
            <a:prstGeom prst="line">
              <a:avLst/>
            </a:prstGeom>
            <a:ln w="85725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ic2-barb1-1"/>
            <p:cNvCxnSpPr/>
            <p:nvPr/>
          </p:nvCxnSpPr>
          <p:spPr>
            <a:xfrm flipV="1">
              <a:off x="12070752" y="6890449"/>
              <a:ext cx="161826" cy="5651"/>
            </a:xfrm>
            <a:prstGeom prst="line">
              <a:avLst/>
            </a:prstGeom>
            <a:ln w="76200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ic2-barb11"/>
            <p:cNvCxnSpPr/>
            <p:nvPr/>
          </p:nvCxnSpPr>
          <p:spPr>
            <a:xfrm>
              <a:off x="12070752" y="6896100"/>
              <a:ext cx="76019" cy="142971"/>
            </a:xfrm>
            <a:prstGeom prst="line">
              <a:avLst/>
            </a:prstGeom>
            <a:ln w="76200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ic2-stem2"/>
            <p:cNvCxnSpPr/>
            <p:nvPr/>
          </p:nvCxnSpPr>
          <p:spPr>
            <a:xfrm flipH="1">
              <a:off x="12219232" y="7300912"/>
              <a:ext cx="107235" cy="61913"/>
            </a:xfrm>
            <a:prstGeom prst="line">
              <a:avLst/>
            </a:prstGeom>
            <a:ln w="85725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ic2-tip2"/>
            <p:cNvCxnSpPr/>
            <p:nvPr/>
          </p:nvCxnSpPr>
          <p:spPr>
            <a:xfrm flipV="1">
              <a:off x="12070752" y="7372350"/>
              <a:ext cx="131982" cy="76200"/>
            </a:xfrm>
            <a:prstGeom prst="line">
              <a:avLst/>
            </a:prstGeom>
            <a:ln w="85725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ic2-barb2-1"/>
            <p:cNvCxnSpPr/>
            <p:nvPr/>
          </p:nvCxnSpPr>
          <p:spPr>
            <a:xfrm flipV="1">
              <a:off x="12070752" y="7305579"/>
              <a:ext cx="76019" cy="142971"/>
            </a:xfrm>
            <a:prstGeom prst="line">
              <a:avLst/>
            </a:prstGeom>
            <a:ln w="76200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ic2-barb21"/>
            <p:cNvCxnSpPr/>
            <p:nvPr/>
          </p:nvCxnSpPr>
          <p:spPr>
            <a:xfrm>
              <a:off x="12070752" y="7448550"/>
              <a:ext cx="161826" cy="5651"/>
            </a:xfrm>
            <a:prstGeom prst="line">
              <a:avLst/>
            </a:prstGeom>
            <a:ln w="76200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ic2-stem3"/>
            <p:cNvCxnSpPr/>
            <p:nvPr/>
          </p:nvCxnSpPr>
          <p:spPr>
            <a:xfrm>
              <a:off x="12549188" y="7429500"/>
              <a:ext cx="0" cy="123825"/>
            </a:xfrm>
            <a:prstGeom prst="line">
              <a:avLst/>
            </a:prstGeom>
            <a:ln w="85725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ic2-tip3"/>
            <p:cNvCxnSpPr/>
            <p:nvPr/>
          </p:nvCxnSpPr>
          <p:spPr>
            <a:xfrm flipV="1">
              <a:off x="12549188" y="7572375"/>
              <a:ext cx="0" cy="152400"/>
            </a:xfrm>
            <a:prstGeom prst="line">
              <a:avLst/>
            </a:prstGeom>
            <a:ln w="85725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ic2-barb3-1"/>
            <p:cNvCxnSpPr/>
            <p:nvPr/>
          </p:nvCxnSpPr>
          <p:spPr>
            <a:xfrm flipH="1" flipV="1">
              <a:off x="12463380" y="7587455"/>
              <a:ext cx="85808" cy="137320"/>
            </a:xfrm>
            <a:prstGeom prst="line">
              <a:avLst/>
            </a:prstGeom>
            <a:ln w="76200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ic2-barb31"/>
            <p:cNvCxnSpPr/>
            <p:nvPr/>
          </p:nvCxnSpPr>
          <p:spPr>
            <a:xfrm flipV="1">
              <a:off x="12549188" y="7587455"/>
              <a:ext cx="85807" cy="137320"/>
            </a:xfrm>
            <a:prstGeom prst="line">
              <a:avLst/>
            </a:prstGeom>
            <a:ln w="76200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ic2-stem4"/>
            <p:cNvCxnSpPr/>
            <p:nvPr/>
          </p:nvCxnSpPr>
          <p:spPr>
            <a:xfrm>
              <a:off x="12771908" y="7300912"/>
              <a:ext cx="107235" cy="61913"/>
            </a:xfrm>
            <a:prstGeom prst="line">
              <a:avLst/>
            </a:prstGeom>
            <a:ln w="85725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ic2-tip4"/>
            <p:cNvCxnSpPr/>
            <p:nvPr/>
          </p:nvCxnSpPr>
          <p:spPr>
            <a:xfrm flipH="1" flipV="1">
              <a:off x="12895641" y="7372350"/>
              <a:ext cx="131982" cy="76200"/>
            </a:xfrm>
            <a:prstGeom prst="line">
              <a:avLst/>
            </a:prstGeom>
            <a:ln w="85725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ic2-barb4-1"/>
            <p:cNvCxnSpPr/>
            <p:nvPr/>
          </p:nvCxnSpPr>
          <p:spPr>
            <a:xfrm flipH="1">
              <a:off x="12865797" y="7448550"/>
              <a:ext cx="161826" cy="5651"/>
            </a:xfrm>
            <a:prstGeom prst="line">
              <a:avLst/>
            </a:prstGeom>
            <a:ln w="76200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ic2-barb41"/>
            <p:cNvCxnSpPr/>
            <p:nvPr/>
          </p:nvCxnSpPr>
          <p:spPr>
            <a:xfrm flipH="1" flipV="1">
              <a:off x="12951604" y="7305579"/>
              <a:ext cx="76019" cy="142971"/>
            </a:xfrm>
            <a:prstGeom prst="line">
              <a:avLst/>
            </a:prstGeom>
            <a:ln w="76200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ic2-stem5"/>
            <p:cNvCxnSpPr/>
            <p:nvPr/>
          </p:nvCxnSpPr>
          <p:spPr>
            <a:xfrm flipV="1">
              <a:off x="12771908" y="6981825"/>
              <a:ext cx="107235" cy="61913"/>
            </a:xfrm>
            <a:prstGeom prst="line">
              <a:avLst/>
            </a:prstGeom>
            <a:ln w="85725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ic2-tip5"/>
            <p:cNvCxnSpPr/>
            <p:nvPr/>
          </p:nvCxnSpPr>
          <p:spPr>
            <a:xfrm flipH="1">
              <a:off x="12895641" y="6896100"/>
              <a:ext cx="131982" cy="76200"/>
            </a:xfrm>
            <a:prstGeom prst="line">
              <a:avLst/>
            </a:prstGeom>
            <a:ln w="85725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ic2-barb5-1"/>
            <p:cNvCxnSpPr/>
            <p:nvPr/>
          </p:nvCxnSpPr>
          <p:spPr>
            <a:xfrm flipH="1">
              <a:off x="12951604" y="6896100"/>
              <a:ext cx="76019" cy="142971"/>
            </a:xfrm>
            <a:prstGeom prst="line">
              <a:avLst/>
            </a:prstGeom>
            <a:ln w="76200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ic2-barb51"/>
            <p:cNvCxnSpPr/>
            <p:nvPr/>
          </p:nvCxnSpPr>
          <p:spPr>
            <a:xfrm flipH="1" flipV="1">
              <a:off x="12865797" y="6890449"/>
              <a:ext cx="161826" cy="5651"/>
            </a:xfrm>
            <a:prstGeom prst="line">
              <a:avLst/>
            </a:prstGeom>
            <a:ln w="76200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ic2-y0"/>
            <p:cNvCxnSpPr/>
            <p:nvPr/>
          </p:nvCxnSpPr>
          <p:spPr>
            <a:xfrm flipV="1">
              <a:off x="12549188" y="6999098"/>
              <a:ext cx="100012" cy="173227"/>
            </a:xfrm>
            <a:prstGeom prst="line">
              <a:avLst/>
            </a:prstGeom>
            <a:ln w="85725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ic2-y1"/>
            <p:cNvCxnSpPr/>
            <p:nvPr/>
          </p:nvCxnSpPr>
          <p:spPr>
            <a:xfrm flipH="1" flipV="1">
              <a:off x="12449175" y="6999098"/>
              <a:ext cx="100013" cy="173227"/>
            </a:xfrm>
            <a:prstGeom prst="line">
              <a:avLst/>
            </a:prstGeom>
            <a:ln w="85725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ic2-y2"/>
            <p:cNvCxnSpPr/>
            <p:nvPr/>
          </p:nvCxnSpPr>
          <p:spPr>
            <a:xfrm>
              <a:off x="12549188" y="7172325"/>
              <a:ext cx="0" cy="200025"/>
            </a:xfrm>
            <a:prstGeom prst="line">
              <a:avLst/>
            </a:prstGeom>
            <a:ln w="85725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col-2-t1"/>
            <p:cNvSpPr txBox="1"/>
            <p:nvPr/>
          </p:nvSpPr>
          <p:spPr>
            <a:xfrm>
              <a:off x="10310812" y="8539162"/>
              <a:ext cx="447675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持续推进业务增长提</a:t>
              </a:r>
            </a:p>
          </p:txBody>
        </p:sp>
        <p:sp>
          <p:nvSpPr>
            <p:cNvPr id="90" name="col-2-t2"/>
            <p:cNvSpPr txBox="1"/>
            <p:nvPr/>
          </p:nvSpPr>
          <p:spPr>
            <a:xfrm>
              <a:off x="10310812" y="9139238"/>
              <a:ext cx="447675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高团队整体专业水平</a:t>
              </a:r>
            </a:p>
          </p:txBody>
        </p:sp>
        <p:sp>
          <p:nvSpPr>
            <p:cNvPr id="91" name="col-2-fee"/>
            <p:cNvSpPr txBox="1"/>
            <p:nvPr/>
          </p:nvSpPr>
          <p:spPr>
            <a:xfrm>
              <a:off x="10644188" y="10129838"/>
              <a:ext cx="381000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市场推广费用</a:t>
              </a:r>
            </a:p>
          </p:txBody>
        </p:sp>
        <p:grpSp>
          <p:nvGrpSpPr>
            <p:cNvPr id="140" name="col-2-amt"/>
            <p:cNvGrpSpPr/>
            <p:nvPr/>
          </p:nvGrpSpPr>
          <p:grpSpPr>
            <a:xfrm>
              <a:off x="10896600" y="10953750"/>
              <a:ext cx="3305175" cy="942975"/>
              <a:chOff x="10896600" y="10953750"/>
              <a:chExt cx="3305175" cy="942975"/>
            </a:xfrm>
          </p:grpSpPr>
          <p:sp>
            <p:nvSpPr>
              <p:cNvPr id="92" name="col-2-amt-bg"/>
              <p:cNvSpPr/>
              <p:nvPr/>
            </p:nvSpPr>
            <p:spPr>
              <a:xfrm>
                <a:off x="10896600" y="10953750"/>
                <a:ext cx="3305175" cy="942975"/>
              </a:xfrm>
              <a:prstGeom prst="roundRect">
                <a:avLst>
                  <a:gd name="adj" fmla="val 50000"/>
                </a:avLst>
              </a:prstGeom>
              <a:solidFill>
                <a:srgbClr val="FE9D1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" name="col-2-amt-t"/>
              <p:cNvSpPr txBox="1"/>
              <p:nvPr/>
            </p:nvSpPr>
            <p:spPr>
              <a:xfrm>
                <a:off x="10896600" y="10953750"/>
                <a:ext cx="3305175" cy="942975"/>
              </a:xfrm>
              <a:prstGeom prst="rect">
                <a:avLst/>
              </a:prstGeom>
              <a:noFill/>
              <a:effectLst/>
            </p:spPr>
            <p:txBody>
              <a:bodyPr wrap="square" lIns="0" rIns="0" tIns="0" bIns="0" anchor="ctr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900" b="1" i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25万元</a:t>
                </a:r>
              </a:p>
            </p:txBody>
          </p:sp>
        </p:grpSp>
        <p:sp>
          <p:nvSpPr>
            <p:cNvPr id="94" name="col-2-box1"/>
            <p:cNvSpPr/>
            <p:nvPr/>
          </p:nvSpPr>
          <p:spPr>
            <a:xfrm>
              <a:off x="10201275" y="12392025"/>
              <a:ext cx="4724400" cy="828675"/>
            </a:xfrm>
            <a:prstGeom prst="roundRect">
              <a:avLst>
                <a:gd name="adj" fmla="val 9195"/>
              </a:avLst>
            </a:prstGeom>
            <a:solidFill>
              <a:srgbClr val="F5F7FF"/>
            </a:solidFill>
            <a:ln w="19050">
              <a:solidFill>
                <a:srgbClr val="FE9D1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col-2-box1-t"/>
            <p:cNvSpPr txBox="1"/>
            <p:nvPr/>
          </p:nvSpPr>
          <p:spPr>
            <a:xfrm>
              <a:off x="10315575" y="12539662"/>
              <a:ext cx="4495800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92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产品市场占有率达到 16%</a:t>
              </a:r>
            </a:p>
          </p:txBody>
        </p:sp>
        <p:sp>
          <p:nvSpPr>
            <p:cNvPr id="96" name="col-2-box2"/>
            <p:cNvSpPr/>
            <p:nvPr/>
          </p:nvSpPr>
          <p:spPr>
            <a:xfrm>
              <a:off x="10201275" y="13430250"/>
              <a:ext cx="4724400" cy="828675"/>
            </a:xfrm>
            <a:prstGeom prst="roundRect">
              <a:avLst>
                <a:gd name="adj" fmla="val 9195"/>
              </a:avLst>
            </a:prstGeom>
            <a:solidFill>
              <a:srgbClr val="F5F7FF"/>
            </a:solidFill>
            <a:ln w="19050">
              <a:solidFill>
                <a:srgbClr val="FE9D1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col-2-box2-t"/>
            <p:cNvSpPr txBox="1"/>
            <p:nvPr/>
          </p:nvSpPr>
          <p:spPr>
            <a:xfrm>
              <a:off x="10315575" y="13577888"/>
              <a:ext cx="4495800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92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新客户签约数量增加 15%</a:t>
              </a:r>
            </a:p>
          </p:txBody>
        </p:sp>
      </p:grpSp>
      <p:grpSp>
        <p:nvGrpSpPr>
          <p:cNvPr id="146" name="col-3"/>
          <p:cNvGrpSpPr/>
          <p:nvPr/>
        </p:nvGrpSpPr>
        <p:grpSpPr>
          <a:xfrm>
            <a:off x="15868650" y="5715000"/>
            <a:ext cx="5476875" cy="9258300"/>
            <a:chOff x="15868650" y="5715000"/>
            <a:chExt cx="5476875" cy="9258300"/>
          </a:xfrm>
        </p:grpSpPr>
        <p:sp>
          <p:nvSpPr>
            <p:cNvPr id="98" name="col-3-frame"/>
            <p:cNvSpPr/>
            <p:nvPr/>
          </p:nvSpPr>
          <p:spPr>
            <a:xfrm>
              <a:off x="15868650" y="5715000"/>
              <a:ext cx="5476875" cy="9248775"/>
            </a:xfrm>
            <a:prstGeom prst="roundRect">
              <a:avLst>
                <a:gd name="adj" fmla="val 2434"/>
              </a:avLst>
            </a:prstGeom>
            <a:noFill/>
            <a:ln w="38100">
              <a:solidFill>
                <a:srgbClr val="EE6464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col-3-bar"/>
            <p:cNvSpPr/>
            <p:nvPr/>
          </p:nvSpPr>
          <p:spPr>
            <a:xfrm>
              <a:off x="15868650" y="14859000"/>
              <a:ext cx="5476875" cy="114300"/>
            </a:xfrm>
            <a:prstGeom prst="rect">
              <a:avLst/>
            </a:prstGeom>
            <a:solidFill>
              <a:srgbClr val="EE64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col-3-ic-bg"/>
            <p:cNvSpPr/>
            <p:nvPr/>
          </p:nvSpPr>
          <p:spPr>
            <a:xfrm>
              <a:off x="17683162" y="6248400"/>
              <a:ext cx="1847850" cy="1847850"/>
            </a:xfrm>
            <a:prstGeom prst="ellipse">
              <a:avLst/>
            </a:prstGeom>
            <a:solidFill>
              <a:srgbClr val="EE64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1" name="ic3-f0"/>
            <p:cNvCxnSpPr/>
            <p:nvPr/>
          </p:nvCxnSpPr>
          <p:spPr>
            <a:xfrm>
              <a:off x="18168938" y="6848475"/>
              <a:ext cx="457200" cy="0"/>
            </a:xfrm>
            <a:prstGeom prst="line">
              <a:avLst/>
            </a:prstGeom>
            <a:ln w="66675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ic3-f1"/>
            <p:cNvCxnSpPr/>
            <p:nvPr/>
          </p:nvCxnSpPr>
          <p:spPr>
            <a:xfrm>
              <a:off x="18168938" y="6848475"/>
              <a:ext cx="0" cy="790575"/>
            </a:xfrm>
            <a:prstGeom prst="line">
              <a:avLst/>
            </a:prstGeom>
            <a:ln w="66675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ic3-f2"/>
            <p:cNvCxnSpPr/>
            <p:nvPr/>
          </p:nvCxnSpPr>
          <p:spPr>
            <a:xfrm>
              <a:off x="18168938" y="7639050"/>
              <a:ext cx="857250" cy="0"/>
            </a:xfrm>
            <a:prstGeom prst="line">
              <a:avLst/>
            </a:prstGeom>
            <a:ln w="66675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ic3-f3"/>
            <p:cNvCxnSpPr/>
            <p:nvPr/>
          </p:nvCxnSpPr>
          <p:spPr>
            <a:xfrm flipV="1">
              <a:off x="19026188" y="7134225"/>
              <a:ext cx="0" cy="504825"/>
            </a:xfrm>
            <a:prstGeom prst="line">
              <a:avLst/>
            </a:prstGeom>
            <a:ln w="66675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ic3-lens"/>
            <p:cNvSpPr/>
            <p:nvPr/>
          </p:nvSpPr>
          <p:spPr>
            <a:xfrm>
              <a:off x="18588038" y="6829425"/>
              <a:ext cx="361950" cy="361950"/>
            </a:xfrm>
            <a:prstGeom prst="ellipse">
              <a:avLst/>
            </a:prstGeom>
            <a:noFill/>
            <a:ln w="666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6" name="ic3-stem"/>
            <p:cNvCxnSpPr/>
            <p:nvPr/>
          </p:nvCxnSpPr>
          <p:spPr>
            <a:xfrm flipH="1">
              <a:off x="18321338" y="7143750"/>
              <a:ext cx="314324" cy="314325"/>
            </a:xfrm>
            <a:prstGeom prst="line">
              <a:avLst/>
            </a:prstGeom>
            <a:ln w="66675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ic3-tooth1"/>
            <p:cNvCxnSpPr/>
            <p:nvPr/>
          </p:nvCxnSpPr>
          <p:spPr>
            <a:xfrm flipV="1">
              <a:off x="18321338" y="7362825"/>
              <a:ext cx="0" cy="95250"/>
            </a:xfrm>
            <a:prstGeom prst="line">
              <a:avLst/>
            </a:prstGeom>
            <a:ln w="66675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ic3-tooth2"/>
            <p:cNvCxnSpPr/>
            <p:nvPr/>
          </p:nvCxnSpPr>
          <p:spPr>
            <a:xfrm>
              <a:off x="18321338" y="7458075"/>
              <a:ext cx="95250" cy="0"/>
            </a:xfrm>
            <a:prstGeom prst="line">
              <a:avLst/>
            </a:prstGeom>
            <a:ln w="66675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col-3-t1"/>
            <p:cNvSpPr txBox="1"/>
            <p:nvPr/>
          </p:nvSpPr>
          <p:spPr>
            <a:xfrm>
              <a:off x="16368712" y="8539162"/>
              <a:ext cx="447675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巩固现有市场的基础</a:t>
              </a:r>
            </a:p>
          </p:txBody>
        </p:sp>
        <p:sp>
          <p:nvSpPr>
            <p:cNvPr id="110" name="col-3-t2"/>
            <p:cNvSpPr txBox="1"/>
            <p:nvPr/>
          </p:nvSpPr>
          <p:spPr>
            <a:xfrm>
              <a:off x="16368712" y="9139238"/>
              <a:ext cx="447675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上开拓新区域市场</a:t>
              </a:r>
            </a:p>
          </p:txBody>
        </p:sp>
        <p:sp>
          <p:nvSpPr>
            <p:cNvPr id="111" name="col-3-fee"/>
            <p:cNvSpPr txBox="1"/>
            <p:nvPr/>
          </p:nvSpPr>
          <p:spPr>
            <a:xfrm>
              <a:off x="16702088" y="10129838"/>
              <a:ext cx="381000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市场拓展费用</a:t>
              </a:r>
            </a:p>
          </p:txBody>
        </p:sp>
        <p:grpSp>
          <p:nvGrpSpPr>
            <p:cNvPr id="141" name="col-3-amt"/>
            <p:cNvGrpSpPr/>
            <p:nvPr/>
          </p:nvGrpSpPr>
          <p:grpSpPr>
            <a:xfrm>
              <a:off x="16954500" y="10953750"/>
              <a:ext cx="3305175" cy="942975"/>
              <a:chOff x="16954500" y="10953750"/>
              <a:chExt cx="3305175" cy="942975"/>
            </a:xfrm>
          </p:grpSpPr>
          <p:sp>
            <p:nvSpPr>
              <p:cNvPr id="112" name="col-3-amt-bg"/>
              <p:cNvSpPr/>
              <p:nvPr/>
            </p:nvSpPr>
            <p:spPr>
              <a:xfrm>
                <a:off x="16954500" y="10953750"/>
                <a:ext cx="3305175" cy="942975"/>
              </a:xfrm>
              <a:prstGeom prst="roundRect">
                <a:avLst>
                  <a:gd name="adj" fmla="val 50000"/>
                </a:avLst>
              </a:prstGeom>
              <a:solidFill>
                <a:srgbClr val="EE646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" name="col-3-amt-t"/>
              <p:cNvSpPr txBox="1"/>
              <p:nvPr/>
            </p:nvSpPr>
            <p:spPr>
              <a:xfrm>
                <a:off x="16954500" y="10953750"/>
                <a:ext cx="3305175" cy="942975"/>
              </a:xfrm>
              <a:prstGeom prst="rect">
                <a:avLst/>
              </a:prstGeom>
              <a:noFill/>
              <a:effectLst/>
            </p:spPr>
            <p:txBody>
              <a:bodyPr wrap="square" lIns="0" rIns="0" tIns="0" bIns="0" anchor="ctr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900" b="1" i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25万元</a:t>
                </a:r>
              </a:p>
            </p:txBody>
          </p:sp>
        </p:grpSp>
        <p:sp>
          <p:nvSpPr>
            <p:cNvPr id="114" name="col-3-box1"/>
            <p:cNvSpPr/>
            <p:nvPr/>
          </p:nvSpPr>
          <p:spPr>
            <a:xfrm>
              <a:off x="16259175" y="12392025"/>
              <a:ext cx="4705350" cy="828675"/>
            </a:xfrm>
            <a:prstGeom prst="roundRect">
              <a:avLst>
                <a:gd name="adj" fmla="val 9195"/>
              </a:avLst>
            </a:prstGeom>
            <a:solidFill>
              <a:srgbClr val="F5F7FF"/>
            </a:solidFill>
            <a:ln w="19050">
              <a:solidFill>
                <a:srgbClr val="EE64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col-3-box1-t"/>
            <p:cNvSpPr txBox="1"/>
            <p:nvPr/>
          </p:nvSpPr>
          <p:spPr>
            <a:xfrm>
              <a:off x="16373475" y="12539662"/>
              <a:ext cx="4476750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92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业务贡献率达到 8%</a:t>
              </a:r>
            </a:p>
          </p:txBody>
        </p:sp>
        <p:sp>
          <p:nvSpPr>
            <p:cNvPr id="116" name="col-3-box2"/>
            <p:cNvSpPr/>
            <p:nvPr/>
          </p:nvSpPr>
          <p:spPr>
            <a:xfrm>
              <a:off x="16259175" y="13430250"/>
              <a:ext cx="4705350" cy="828675"/>
            </a:xfrm>
            <a:prstGeom prst="roundRect">
              <a:avLst>
                <a:gd name="adj" fmla="val 9195"/>
              </a:avLst>
            </a:prstGeom>
            <a:solidFill>
              <a:srgbClr val="F5F7FF"/>
            </a:solidFill>
            <a:ln w="19050">
              <a:solidFill>
                <a:srgbClr val="EE64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col-3-box2-t"/>
            <p:cNvSpPr txBox="1"/>
            <p:nvPr/>
          </p:nvSpPr>
          <p:spPr>
            <a:xfrm>
              <a:off x="16373475" y="13577888"/>
              <a:ext cx="4476750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92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市场份额达到 18%</a:t>
              </a:r>
            </a:p>
          </p:txBody>
        </p:sp>
      </p:grpSp>
      <p:grpSp>
        <p:nvGrpSpPr>
          <p:cNvPr id="150" name="col-4"/>
          <p:cNvGrpSpPr/>
          <p:nvPr/>
        </p:nvGrpSpPr>
        <p:grpSpPr>
          <a:xfrm>
            <a:off x="21926550" y="5715000"/>
            <a:ext cx="5476875" cy="9258300"/>
            <a:chOff x="21926550" y="5715000"/>
            <a:chExt cx="5476875" cy="9258300"/>
          </a:xfrm>
        </p:grpSpPr>
        <p:sp>
          <p:nvSpPr>
            <p:cNvPr id="118" name="col-4-frame"/>
            <p:cNvSpPr/>
            <p:nvPr/>
          </p:nvSpPr>
          <p:spPr>
            <a:xfrm>
              <a:off x="21926550" y="5715000"/>
              <a:ext cx="5476875" cy="9248775"/>
            </a:xfrm>
            <a:prstGeom prst="roundRect">
              <a:avLst>
                <a:gd name="adj" fmla="val 2434"/>
              </a:avLst>
            </a:prstGeom>
            <a:noFill/>
            <a:ln w="38100">
              <a:solidFill>
                <a:srgbClr val="0091FE"/>
              </a:solidFill>
              <a:prstDash val="sys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col-4-bar"/>
            <p:cNvSpPr/>
            <p:nvPr/>
          </p:nvSpPr>
          <p:spPr>
            <a:xfrm>
              <a:off x="21926550" y="14859000"/>
              <a:ext cx="5476875" cy="114300"/>
            </a:xfrm>
            <a:prstGeom prst="rect">
              <a:avLst/>
            </a:prstGeom>
            <a:solidFill>
              <a:srgbClr val="0091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col-4-ic-bg"/>
            <p:cNvSpPr/>
            <p:nvPr/>
          </p:nvSpPr>
          <p:spPr>
            <a:xfrm>
              <a:off x="23741062" y="6248400"/>
              <a:ext cx="1847850" cy="1847850"/>
            </a:xfrm>
            <a:prstGeom prst="ellipse">
              <a:avLst/>
            </a:prstGeom>
            <a:solidFill>
              <a:srgbClr val="0091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ic4-screen"/>
            <p:cNvSpPr/>
            <p:nvPr/>
          </p:nvSpPr>
          <p:spPr>
            <a:xfrm>
              <a:off x="24217312" y="6762750"/>
              <a:ext cx="895350" cy="742950"/>
            </a:xfrm>
            <a:prstGeom prst="roundRect">
              <a:avLst>
                <a:gd name="adj" fmla="val 7692"/>
              </a:avLst>
            </a:prstGeom>
            <a:noFill/>
            <a:ln w="666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2" name="ic4-stand"/>
            <p:cNvCxnSpPr/>
            <p:nvPr/>
          </p:nvCxnSpPr>
          <p:spPr>
            <a:xfrm>
              <a:off x="24236362" y="7677150"/>
              <a:ext cx="857250" cy="0"/>
            </a:xfrm>
            <a:prstGeom prst="line">
              <a:avLst/>
            </a:prstGeom>
            <a:ln w="66675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ic4-wedge"/>
            <p:cNvSpPr/>
            <p:nvPr/>
          </p:nvSpPr>
          <p:spPr>
            <a:xfrm>
              <a:off x="24664988" y="6936738"/>
              <a:ext cx="200024" cy="187962"/>
            </a:xfrm>
            <a:custGeom>
              <a:avLst/>
              <a:gdLst/>
              <a:ahLst/>
              <a:cxnLst/>
              <a:rect l="l" t="t" r="r" b="b"/>
              <a:pathLst>
                <a:path w="200024" h="187962">
                  <a:moveTo>
                    <a:pt x="0" y="187962"/>
                  </a:moveTo>
                  <a:lnTo>
                    <a:pt x="200024" y="187962"/>
                  </a:lnTo>
                  <a:lnTo>
                    <a:pt x="196986" y="153228"/>
                  </a:lnTo>
                  <a:lnTo>
                    <a:pt x="187962" y="119549"/>
                  </a:lnTo>
                  <a:lnTo>
                    <a:pt x="173226" y="87950"/>
                  </a:lnTo>
                  <a:lnTo>
                    <a:pt x="153228" y="59388"/>
                  </a:lnTo>
                  <a:lnTo>
                    <a:pt x="128573" y="34734"/>
                  </a:lnTo>
                  <a:lnTo>
                    <a:pt x="100012" y="14735"/>
                  </a:lnTo>
                  <a:lnTo>
                    <a:pt x="684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ic4-arc"/>
            <p:cNvSpPr/>
            <p:nvPr/>
          </p:nvSpPr>
          <p:spPr>
            <a:xfrm>
              <a:off x="24437257" y="6896970"/>
              <a:ext cx="455461" cy="455460"/>
            </a:xfrm>
            <a:custGeom>
              <a:avLst/>
              <a:gdLst/>
              <a:ahLst/>
              <a:cxnLst/>
              <a:rect l="l" t="t" r="r" b="b"/>
              <a:pathLst>
                <a:path w="455461" h="455460">
                  <a:moveTo>
                    <a:pt x="286897" y="6919"/>
                  </a:moveTo>
                  <a:lnTo>
                    <a:pt x="247654" y="0"/>
                  </a:lnTo>
                  <a:lnTo>
                    <a:pt x="207807" y="0"/>
                  </a:lnTo>
                  <a:lnTo>
                    <a:pt x="168564" y="6919"/>
                  </a:lnTo>
                  <a:lnTo>
                    <a:pt x="131120" y="20548"/>
                  </a:lnTo>
                  <a:lnTo>
                    <a:pt x="96611" y="40472"/>
                  </a:lnTo>
                  <a:lnTo>
                    <a:pt x="66086" y="66085"/>
                  </a:lnTo>
                  <a:lnTo>
                    <a:pt x="40472" y="96610"/>
                  </a:lnTo>
                  <a:lnTo>
                    <a:pt x="20549" y="131119"/>
                  </a:lnTo>
                  <a:lnTo>
                    <a:pt x="6920" y="168564"/>
                  </a:lnTo>
                  <a:lnTo>
                    <a:pt x="0" y="207806"/>
                  </a:lnTo>
                  <a:lnTo>
                    <a:pt x="0" y="247654"/>
                  </a:lnTo>
                  <a:lnTo>
                    <a:pt x="6920" y="286896"/>
                  </a:lnTo>
                  <a:lnTo>
                    <a:pt x="20549" y="324341"/>
                  </a:lnTo>
                  <a:lnTo>
                    <a:pt x="40472" y="358850"/>
                  </a:lnTo>
                  <a:lnTo>
                    <a:pt x="66086" y="389375"/>
                  </a:lnTo>
                  <a:lnTo>
                    <a:pt x="96611" y="414988"/>
                  </a:lnTo>
                  <a:lnTo>
                    <a:pt x="131120" y="434912"/>
                  </a:lnTo>
                  <a:lnTo>
                    <a:pt x="168564" y="448541"/>
                  </a:lnTo>
                  <a:lnTo>
                    <a:pt x="207807" y="455460"/>
                  </a:lnTo>
                  <a:lnTo>
                    <a:pt x="247654" y="455460"/>
                  </a:lnTo>
                  <a:lnTo>
                    <a:pt x="286897" y="448541"/>
                  </a:lnTo>
                  <a:lnTo>
                    <a:pt x="324341" y="434912"/>
                  </a:lnTo>
                  <a:lnTo>
                    <a:pt x="358850" y="414988"/>
                  </a:lnTo>
                  <a:lnTo>
                    <a:pt x="389375" y="389375"/>
                  </a:lnTo>
                  <a:lnTo>
                    <a:pt x="414989" y="358850"/>
                  </a:lnTo>
                  <a:lnTo>
                    <a:pt x="434912" y="324341"/>
                  </a:lnTo>
                  <a:lnTo>
                    <a:pt x="448541" y="286896"/>
                  </a:lnTo>
                  <a:lnTo>
                    <a:pt x="455461" y="247654"/>
                  </a:lnTo>
                  <a:lnTo>
                    <a:pt x="455461" y="207806"/>
                  </a:lnTo>
                </a:path>
              </a:pathLst>
            </a:custGeom>
            <a:noFill/>
            <a:ln w="666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col-4-t1"/>
            <p:cNvSpPr txBox="1"/>
            <p:nvPr/>
          </p:nvSpPr>
          <p:spPr>
            <a:xfrm>
              <a:off x="22426612" y="8539162"/>
              <a:ext cx="447675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达成年度业务目标</a:t>
              </a:r>
            </a:p>
          </p:txBody>
        </p:sp>
        <p:sp>
          <p:nvSpPr>
            <p:cNvPr id="126" name="col-4-t2"/>
            <p:cNvSpPr txBox="1"/>
            <p:nvPr/>
          </p:nvSpPr>
          <p:spPr>
            <a:xfrm>
              <a:off x="22426612" y="9139238"/>
              <a:ext cx="4476750" cy="5524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总结全年工作经验</a:t>
              </a:r>
            </a:p>
          </p:txBody>
        </p:sp>
        <p:sp>
          <p:nvSpPr>
            <p:cNvPr id="127" name="col-4-fee"/>
            <p:cNvSpPr txBox="1"/>
            <p:nvPr/>
          </p:nvSpPr>
          <p:spPr>
            <a:xfrm>
              <a:off x="22759988" y="10129838"/>
              <a:ext cx="381000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352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年度总结费用</a:t>
              </a:r>
            </a:p>
          </p:txBody>
        </p:sp>
        <p:grpSp>
          <p:nvGrpSpPr>
            <p:cNvPr id="142" name="col-4-amt"/>
            <p:cNvGrpSpPr/>
            <p:nvPr/>
          </p:nvGrpSpPr>
          <p:grpSpPr>
            <a:xfrm>
              <a:off x="23007638" y="10953750"/>
              <a:ext cx="3314700" cy="942975"/>
              <a:chOff x="23007638" y="10953750"/>
              <a:chExt cx="3314700" cy="942975"/>
            </a:xfrm>
          </p:grpSpPr>
          <p:sp>
            <p:nvSpPr>
              <p:cNvPr id="128" name="col-4-amt-bg"/>
              <p:cNvSpPr/>
              <p:nvPr/>
            </p:nvSpPr>
            <p:spPr>
              <a:xfrm>
                <a:off x="23007638" y="10953750"/>
                <a:ext cx="3314700" cy="942975"/>
              </a:xfrm>
              <a:prstGeom prst="roundRect">
                <a:avLst>
                  <a:gd name="adj" fmla="val 50000"/>
                </a:avLst>
              </a:prstGeom>
              <a:solidFill>
                <a:srgbClr val="0091F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" name="col-4-amt-t"/>
              <p:cNvSpPr txBox="1"/>
              <p:nvPr/>
            </p:nvSpPr>
            <p:spPr>
              <a:xfrm>
                <a:off x="23007638" y="10953750"/>
                <a:ext cx="3314700" cy="942975"/>
              </a:xfrm>
              <a:prstGeom prst="rect">
                <a:avLst/>
              </a:prstGeom>
              <a:noFill/>
              <a:effectLst/>
            </p:spPr>
            <p:txBody>
              <a:bodyPr wrap="square" lIns="0" rIns="0" tIns="0" bIns="0" anchor="ctr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3900" b="1" i="0">
                    <a:solidFill>
                      <a:srgbClr val="FFFFFF"/>
                    </a:solidFill>
                    <a:latin typeface="Microsoft YaHei"/>
                    <a:ea typeface="Microsoft YaHei"/>
                    <a:cs typeface="Microsoft YaHei"/>
                  </a:rPr>
                  <a:t>3万元</a:t>
                </a:r>
              </a:p>
            </p:txBody>
          </p:sp>
        </p:grpSp>
        <p:sp>
          <p:nvSpPr>
            <p:cNvPr id="130" name="col-4-box1"/>
            <p:cNvSpPr/>
            <p:nvPr/>
          </p:nvSpPr>
          <p:spPr>
            <a:xfrm>
              <a:off x="22317075" y="12392025"/>
              <a:ext cx="4714875" cy="828675"/>
            </a:xfrm>
            <a:prstGeom prst="roundRect">
              <a:avLst>
                <a:gd name="adj" fmla="val 9195"/>
              </a:avLst>
            </a:prstGeom>
            <a:solidFill>
              <a:srgbClr val="F5F7FF"/>
            </a:solidFill>
            <a:ln w="19050">
              <a:solidFill>
                <a:srgbClr val="0091F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col-4-box1-t"/>
            <p:cNvSpPr txBox="1"/>
            <p:nvPr/>
          </p:nvSpPr>
          <p:spPr>
            <a:xfrm>
              <a:off x="22431375" y="12539662"/>
              <a:ext cx="4486275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92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产品市场占有率达到 19%</a:t>
              </a:r>
            </a:p>
          </p:txBody>
        </p:sp>
        <p:sp>
          <p:nvSpPr>
            <p:cNvPr id="132" name="col-4-box2"/>
            <p:cNvSpPr/>
            <p:nvPr/>
          </p:nvSpPr>
          <p:spPr>
            <a:xfrm>
              <a:off x="22317075" y="13430250"/>
              <a:ext cx="4714875" cy="828675"/>
            </a:xfrm>
            <a:prstGeom prst="roundRect">
              <a:avLst>
                <a:gd name="adj" fmla="val 9195"/>
              </a:avLst>
            </a:prstGeom>
            <a:solidFill>
              <a:srgbClr val="F5F7FF"/>
            </a:solidFill>
            <a:ln w="19050">
              <a:solidFill>
                <a:srgbClr val="0091F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col-4-box2-t"/>
            <p:cNvSpPr txBox="1"/>
            <p:nvPr/>
          </p:nvSpPr>
          <p:spPr>
            <a:xfrm>
              <a:off x="22431375" y="13577888"/>
              <a:ext cx="4486275" cy="5334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925" b="0" i="0">
                  <a:solidFill>
                    <a:srgbClr val="191919"/>
                  </a:solidFill>
                  <a:latin typeface="Microsoft YaHei"/>
                  <a:ea typeface="Microsoft YaHei"/>
                  <a:cs typeface="Microsoft YaHei"/>
                </a:rPr>
                <a:t>下一年度规划初步形成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