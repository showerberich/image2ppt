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3051750" cy="2575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3051750" cy="257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3051750" cy="25755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1123950" y="1314450"/>
            <a:ext cx="7620000" cy="1104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125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竞品分析矩阵模板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181100" y="2857500"/>
            <a:ext cx="590550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1B4F9C"/>
                </a:solidFill>
                <a:latin typeface="Microsoft YaHei"/>
                <a:ea typeface="Microsoft YaHei"/>
                <a:cs typeface="Microsoft YaHei"/>
              </a:rPr>
              <a:t>全面对比 · 洞察差异 · 找准机会 · 制定策略</a:t>
            </a:r>
          </a:p>
        </p:txBody>
      </p:sp>
      <p:sp>
        <p:nvSpPr>
          <p:cNvPr id="6" name="accent-orange"/>
          <p:cNvSpPr/>
          <p:nvPr/>
        </p:nvSpPr>
        <p:spPr>
          <a:xfrm>
            <a:off x="1162050" y="3438525"/>
            <a:ext cx="1104900" cy="76200"/>
          </a:xfrm>
          <a:prstGeom prst="rect">
            <a:avLst/>
          </a:prstGeom>
          <a:solidFill>
            <a:srgbClr val="F2A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-blue"/>
          <p:cNvSpPr/>
          <p:nvPr/>
        </p:nvSpPr>
        <p:spPr>
          <a:xfrm>
            <a:off x="2266950" y="3438525"/>
            <a:ext cx="3543300" cy="7620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1-circle"/>
          <p:cNvSpPr/>
          <p:nvPr/>
        </p:nvSpPr>
        <p:spPr>
          <a:xfrm>
            <a:off x="17964150" y="1238250"/>
            <a:ext cx="895350" cy="8953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1-ch"/>
          <p:cNvSpPr txBox="1"/>
          <p:nvPr/>
        </p:nvSpPr>
        <p:spPr>
          <a:xfrm>
            <a:off x="18249900" y="1428750"/>
            <a:ext cx="419100" cy="504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0" i="0">
                <a:solidFill>
                  <a:srgbClr val="1F6BD8"/>
                </a:solidFill>
                <a:latin typeface="Microsoft YaHei"/>
                <a:ea typeface="Microsoft YaHei"/>
                <a:cs typeface="Microsoft YaHei"/>
              </a:rPr>
              <a:t>对</a:t>
            </a:r>
          </a:p>
        </p:txBody>
      </p:sp>
      <p:sp>
        <p:nvSpPr>
          <p:cNvPr id="10" name="meta1-label"/>
          <p:cNvSpPr txBox="1"/>
          <p:nvPr/>
        </p:nvSpPr>
        <p:spPr>
          <a:xfrm>
            <a:off x="17859375" y="1971675"/>
            <a:ext cx="1190625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分析对象</a:t>
            </a:r>
          </a:p>
        </p:txBody>
      </p:sp>
      <p:sp>
        <p:nvSpPr>
          <p:cNvPr id="11" name="meta1-value"/>
          <p:cNvSpPr txBox="1"/>
          <p:nvPr/>
        </p:nvSpPr>
        <p:spPr>
          <a:xfrm>
            <a:off x="17364075" y="2609850"/>
            <a:ext cx="2190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请输入产品/项目名称</a:t>
            </a:r>
          </a:p>
        </p:txBody>
      </p:sp>
      <p:sp>
        <p:nvSpPr>
          <p:cNvPr id="12" name="meta2-circle"/>
          <p:cNvSpPr/>
          <p:nvPr/>
        </p:nvSpPr>
        <p:spPr>
          <a:xfrm>
            <a:off x="21421725" y="1238250"/>
            <a:ext cx="895350" cy="8953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eta2-ch"/>
          <p:cNvSpPr txBox="1"/>
          <p:nvPr/>
        </p:nvSpPr>
        <p:spPr>
          <a:xfrm>
            <a:off x="21707475" y="1428750"/>
            <a:ext cx="419100" cy="504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0" i="0">
                <a:solidFill>
                  <a:srgbClr val="1F6BD8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14" name="meta2-label"/>
          <p:cNvSpPr txBox="1"/>
          <p:nvPr/>
        </p:nvSpPr>
        <p:spPr>
          <a:xfrm>
            <a:off x="21459825" y="1971675"/>
            <a:ext cx="923925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分析人</a:t>
            </a:r>
          </a:p>
        </p:txBody>
      </p:sp>
      <p:sp>
        <p:nvSpPr>
          <p:cNvPr id="15" name="meta2-value"/>
          <p:cNvSpPr txBox="1"/>
          <p:nvPr/>
        </p:nvSpPr>
        <p:spPr>
          <a:xfrm>
            <a:off x="21316950" y="2609850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请输入姓名</a:t>
            </a:r>
          </a:p>
        </p:txBody>
      </p:sp>
      <p:sp>
        <p:nvSpPr>
          <p:cNvPr id="16" name="meta3-circle"/>
          <p:cNvSpPr/>
          <p:nvPr/>
        </p:nvSpPr>
        <p:spPr>
          <a:xfrm>
            <a:off x="24869775" y="1238250"/>
            <a:ext cx="895350" cy="8953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ta3-ch"/>
          <p:cNvSpPr txBox="1"/>
          <p:nvPr/>
        </p:nvSpPr>
        <p:spPr>
          <a:xfrm>
            <a:off x="25155525" y="1428750"/>
            <a:ext cx="419100" cy="504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0" i="0">
                <a:solidFill>
                  <a:srgbClr val="1F6BD8"/>
                </a:solidFill>
                <a:latin typeface="Microsoft YaHei"/>
                <a:ea typeface="Microsoft YaHei"/>
                <a:cs typeface="Microsoft YaHei"/>
              </a:rPr>
              <a:t>日</a:t>
            </a:r>
          </a:p>
        </p:txBody>
      </p:sp>
      <p:sp>
        <p:nvSpPr>
          <p:cNvPr id="18" name="meta3-label"/>
          <p:cNvSpPr txBox="1"/>
          <p:nvPr/>
        </p:nvSpPr>
        <p:spPr>
          <a:xfrm>
            <a:off x="24765000" y="1971675"/>
            <a:ext cx="1190625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分析日期</a:t>
            </a:r>
          </a:p>
        </p:txBody>
      </p:sp>
      <p:sp>
        <p:nvSpPr>
          <p:cNvPr id="19" name="meta3-value"/>
          <p:cNvSpPr txBox="1"/>
          <p:nvPr/>
        </p:nvSpPr>
        <p:spPr>
          <a:xfrm>
            <a:off x="24717375" y="2609850"/>
            <a:ext cx="13049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20XX/XX/XX</a:t>
            </a:r>
          </a:p>
        </p:txBody>
      </p:sp>
      <p:sp>
        <p:nvSpPr>
          <p:cNvPr id="20" name="meta4-circle"/>
          <p:cNvSpPr/>
          <p:nvPr/>
        </p:nvSpPr>
        <p:spPr>
          <a:xfrm>
            <a:off x="28317825" y="1238250"/>
            <a:ext cx="895350" cy="8953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eta4-ch"/>
          <p:cNvSpPr txBox="1"/>
          <p:nvPr/>
        </p:nvSpPr>
        <p:spPr>
          <a:xfrm>
            <a:off x="28603575" y="1428750"/>
            <a:ext cx="419100" cy="504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0" i="0">
                <a:solidFill>
                  <a:srgbClr val="1F6BD8"/>
                </a:solidFill>
                <a:latin typeface="Microsoft YaHei"/>
                <a:ea typeface="Microsoft YaHei"/>
                <a:cs typeface="Microsoft YaHei"/>
              </a:rPr>
              <a:t>版</a:t>
            </a:r>
          </a:p>
        </p:txBody>
      </p:sp>
      <p:sp>
        <p:nvSpPr>
          <p:cNvPr id="22" name="meta4-label"/>
          <p:cNvSpPr txBox="1"/>
          <p:nvPr/>
        </p:nvSpPr>
        <p:spPr>
          <a:xfrm>
            <a:off x="28355925" y="1971675"/>
            <a:ext cx="923925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版本号</a:t>
            </a:r>
          </a:p>
        </p:txBody>
      </p:sp>
      <p:sp>
        <p:nvSpPr>
          <p:cNvPr id="23" name="meta4-value"/>
          <p:cNvSpPr txBox="1"/>
          <p:nvPr/>
        </p:nvSpPr>
        <p:spPr>
          <a:xfrm>
            <a:off x="28527375" y="2609850"/>
            <a:ext cx="5810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V1.0</a:t>
            </a:r>
          </a:p>
        </p:txBody>
      </p:sp>
      <p:cxnSp>
        <p:nvCxnSpPr>
          <p:cNvPr id="24" name="meta-sep1"/>
          <p:cNvCxnSpPr/>
          <p:nvPr/>
        </p:nvCxnSpPr>
        <p:spPr>
          <a:xfrm>
            <a:off x="20135850" y="1428750"/>
            <a:ext cx="0" cy="1504950"/>
          </a:xfrm>
          <a:prstGeom prst="line">
            <a:avLst/>
          </a:prstGeom>
          <a:ln w="9525">
            <a:solidFill>
              <a:srgbClr val="D9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meta-sep2"/>
          <p:cNvCxnSpPr/>
          <p:nvPr/>
        </p:nvCxnSpPr>
        <p:spPr>
          <a:xfrm>
            <a:off x="23593425" y="1428750"/>
            <a:ext cx="0" cy="1504950"/>
          </a:xfrm>
          <a:prstGeom prst="line">
            <a:avLst/>
          </a:prstGeom>
          <a:ln w="9525">
            <a:solidFill>
              <a:srgbClr val="D9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meta-sep3"/>
          <p:cNvCxnSpPr/>
          <p:nvPr/>
        </p:nvCxnSpPr>
        <p:spPr>
          <a:xfrm>
            <a:off x="27041475" y="1428750"/>
            <a:ext cx="0" cy="1504950"/>
          </a:xfrm>
          <a:prstGeom prst="line">
            <a:avLst/>
          </a:prstGeom>
          <a:ln w="9525">
            <a:solidFill>
              <a:srgbClr val="D9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able-body"/>
          <p:cNvSpPr/>
          <p:nvPr/>
        </p:nvSpPr>
        <p:spPr>
          <a:xfrm>
            <a:off x="1133475" y="4391025"/>
            <a:ext cx="30880050" cy="15840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-tint"/>
          <p:cNvSpPr/>
          <p:nvPr/>
        </p:nvSpPr>
        <p:spPr>
          <a:xfrm>
            <a:off x="6143625" y="5953125"/>
            <a:ext cx="6696075" cy="14277975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vline-645"/>
          <p:cNvCxnSpPr/>
          <p:nvPr/>
        </p:nvCxnSpPr>
        <p:spPr>
          <a:xfrm>
            <a:off x="6143625" y="4391025"/>
            <a:ext cx="0" cy="15840075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vline-1348"/>
          <p:cNvCxnSpPr/>
          <p:nvPr/>
        </p:nvCxnSpPr>
        <p:spPr>
          <a:xfrm>
            <a:off x="12839700" y="4391025"/>
            <a:ext cx="0" cy="15840075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vline-2020"/>
          <p:cNvCxnSpPr/>
          <p:nvPr/>
        </p:nvCxnSpPr>
        <p:spPr>
          <a:xfrm>
            <a:off x="19240500" y="4391025"/>
            <a:ext cx="0" cy="15840075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line-2690"/>
          <p:cNvCxnSpPr/>
          <p:nvPr/>
        </p:nvCxnSpPr>
        <p:spPr>
          <a:xfrm>
            <a:off x="25622250" y="4391025"/>
            <a:ext cx="0" cy="15840075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hline-840"/>
          <p:cNvCxnSpPr/>
          <p:nvPr/>
        </p:nvCxnSpPr>
        <p:spPr>
          <a:xfrm>
            <a:off x="1133475" y="8001000"/>
            <a:ext cx="30880050" cy="0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hline-1054"/>
          <p:cNvCxnSpPr/>
          <p:nvPr/>
        </p:nvCxnSpPr>
        <p:spPr>
          <a:xfrm>
            <a:off x="1133475" y="10039350"/>
            <a:ext cx="30880050" cy="0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hline-1268"/>
          <p:cNvCxnSpPr/>
          <p:nvPr/>
        </p:nvCxnSpPr>
        <p:spPr>
          <a:xfrm>
            <a:off x="1133475" y="12077700"/>
            <a:ext cx="30880050" cy="0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hline-1482"/>
          <p:cNvCxnSpPr/>
          <p:nvPr/>
        </p:nvCxnSpPr>
        <p:spPr>
          <a:xfrm>
            <a:off x="1133475" y="14116050"/>
            <a:ext cx="30880050" cy="0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hline-1697"/>
          <p:cNvCxnSpPr/>
          <p:nvPr/>
        </p:nvCxnSpPr>
        <p:spPr>
          <a:xfrm>
            <a:off x="1133475" y="16163925"/>
            <a:ext cx="30880050" cy="0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hline-1911"/>
          <p:cNvCxnSpPr/>
          <p:nvPr/>
        </p:nvCxnSpPr>
        <p:spPr>
          <a:xfrm>
            <a:off x="1133475" y="18202275"/>
            <a:ext cx="30880050" cy="0"/>
          </a:xfrm>
          <a:prstGeom prst="line">
            <a:avLst/>
          </a:prstGeom>
          <a:ln w="14287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frame-top"/>
          <p:cNvCxnSpPr/>
          <p:nvPr/>
        </p:nvCxnSpPr>
        <p:spPr>
          <a:xfrm>
            <a:off x="1133475" y="4391025"/>
            <a:ext cx="30880050" cy="0"/>
          </a:xfrm>
          <a:prstGeom prst="line">
            <a:avLst/>
          </a:prstGeom>
          <a:ln w="19050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frame-bottom"/>
          <p:cNvCxnSpPr/>
          <p:nvPr/>
        </p:nvCxnSpPr>
        <p:spPr>
          <a:xfrm>
            <a:off x="1133475" y="20231100"/>
            <a:ext cx="30880050" cy="0"/>
          </a:xfrm>
          <a:prstGeom prst="line">
            <a:avLst/>
          </a:prstGeom>
          <a:ln w="19050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frame-left"/>
          <p:cNvCxnSpPr/>
          <p:nvPr/>
        </p:nvCxnSpPr>
        <p:spPr>
          <a:xfrm>
            <a:off x="1133475" y="4391025"/>
            <a:ext cx="0" cy="15840075"/>
          </a:xfrm>
          <a:prstGeom prst="line">
            <a:avLst/>
          </a:prstGeom>
          <a:ln w="19050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frame-right"/>
          <p:cNvCxnSpPr/>
          <p:nvPr/>
        </p:nvCxnSpPr>
        <p:spPr>
          <a:xfrm>
            <a:off x="32013525" y="4391025"/>
            <a:ext cx="0" cy="15840075"/>
          </a:xfrm>
          <a:prstGeom prst="line">
            <a:avLst/>
          </a:prstGeom>
          <a:ln w="19050">
            <a:solidFill>
              <a:srgbClr val="DCE6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hdr-c1"/>
          <p:cNvSpPr/>
          <p:nvPr/>
        </p:nvSpPr>
        <p:spPr>
          <a:xfrm>
            <a:off x="1133475" y="4391025"/>
            <a:ext cx="4991100" cy="1562100"/>
          </a:xfrm>
          <a:prstGeom prst="roundRect">
            <a:avLst>
              <a:gd name="adj" fmla="val 7317"/>
            </a:avLst>
          </a:prstGeom>
          <a:gradFill rotWithShape="1">
            <a:gsLst>
              <a:gs pos="0">
                <a:srgbClr val="125BDC"/>
              </a:gs>
              <a:gs pos="100000">
                <a:srgbClr val="2A6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dr-c2"/>
          <p:cNvSpPr/>
          <p:nvPr/>
        </p:nvSpPr>
        <p:spPr>
          <a:xfrm>
            <a:off x="6162675" y="4391025"/>
            <a:ext cx="6657975" cy="1562100"/>
          </a:xfrm>
          <a:prstGeom prst="roundRect">
            <a:avLst>
              <a:gd name="adj" fmla="val 7317"/>
            </a:avLst>
          </a:prstGeom>
          <a:gradFill rotWithShape="1">
            <a:gsLst>
              <a:gs pos="0">
                <a:srgbClr val="FF9220"/>
              </a:gs>
              <a:gs pos="100000">
                <a:srgbClr val="FFA43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dr-c3"/>
          <p:cNvSpPr/>
          <p:nvPr/>
        </p:nvSpPr>
        <p:spPr>
          <a:xfrm>
            <a:off x="12858750" y="4391025"/>
            <a:ext cx="6362700" cy="1562100"/>
          </a:xfrm>
          <a:prstGeom prst="roundRect">
            <a:avLst>
              <a:gd name="adj" fmla="val 7317"/>
            </a:avLst>
          </a:prstGeom>
          <a:gradFill rotWithShape="1">
            <a:gsLst>
              <a:gs pos="0">
                <a:srgbClr val="125BDC"/>
              </a:gs>
              <a:gs pos="100000">
                <a:srgbClr val="2A6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dr-c4"/>
          <p:cNvSpPr/>
          <p:nvPr/>
        </p:nvSpPr>
        <p:spPr>
          <a:xfrm>
            <a:off x="19259550" y="4391025"/>
            <a:ext cx="6343650" cy="1562100"/>
          </a:xfrm>
          <a:prstGeom prst="roundRect">
            <a:avLst>
              <a:gd name="adj" fmla="val 7317"/>
            </a:avLst>
          </a:prstGeom>
          <a:gradFill rotWithShape="1">
            <a:gsLst>
              <a:gs pos="0">
                <a:srgbClr val="125BDC"/>
              </a:gs>
              <a:gs pos="100000">
                <a:srgbClr val="2A6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dr-c5"/>
          <p:cNvSpPr/>
          <p:nvPr/>
        </p:nvSpPr>
        <p:spPr>
          <a:xfrm>
            <a:off x="25641300" y="4391025"/>
            <a:ext cx="6353175" cy="1562100"/>
          </a:xfrm>
          <a:prstGeom prst="roundRect">
            <a:avLst>
              <a:gd name="adj" fmla="val 7317"/>
            </a:avLst>
          </a:prstGeom>
          <a:gradFill rotWithShape="1">
            <a:gsLst>
              <a:gs pos="0">
                <a:srgbClr val="125BDC"/>
              </a:gs>
              <a:gs pos="100000">
                <a:srgbClr val="2A6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dr-c1-label"/>
          <p:cNvSpPr txBox="1"/>
          <p:nvPr/>
        </p:nvSpPr>
        <p:spPr>
          <a:xfrm>
            <a:off x="2914650" y="4962525"/>
            <a:ext cx="1543050" cy="542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对比维度</a:t>
            </a:r>
          </a:p>
        </p:txBody>
      </p:sp>
      <p:sp>
        <p:nvSpPr>
          <p:cNvPr id="49" name="hdr-c2-name"/>
          <p:cNvSpPr txBox="1"/>
          <p:nvPr/>
        </p:nvSpPr>
        <p:spPr>
          <a:xfrm>
            <a:off x="8991600" y="4714875"/>
            <a:ext cx="1095375" cy="504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本产品</a:t>
            </a:r>
          </a:p>
        </p:txBody>
      </p:sp>
      <p:sp>
        <p:nvSpPr>
          <p:cNvPr id="50" name="hdr-c2-sub"/>
          <p:cNvSpPr txBox="1"/>
          <p:nvPr/>
        </p:nvSpPr>
        <p:spPr>
          <a:xfrm>
            <a:off x="9067800" y="5467350"/>
            <a:ext cx="9334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（可替换）</a:t>
            </a:r>
          </a:p>
        </p:txBody>
      </p:sp>
      <p:sp>
        <p:nvSpPr>
          <p:cNvPr id="51" name="hdr-badge-bg"/>
          <p:cNvSpPr/>
          <p:nvPr/>
        </p:nvSpPr>
        <p:spPr>
          <a:xfrm>
            <a:off x="12144375" y="46101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dr-badge-star"/>
          <p:cNvSpPr txBox="1"/>
          <p:nvPr/>
        </p:nvSpPr>
        <p:spPr>
          <a:xfrm>
            <a:off x="12258675" y="4657725"/>
            <a:ext cx="3429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50" b="0" i="0">
                <a:solidFill>
                  <a:srgbClr val="FF9220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53" name="hdr-c3-name"/>
          <p:cNvSpPr txBox="1"/>
          <p:nvPr/>
        </p:nvSpPr>
        <p:spPr>
          <a:xfrm>
            <a:off x="15630525" y="4733925"/>
            <a:ext cx="923925" cy="485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竞品A</a:t>
            </a:r>
          </a:p>
        </p:txBody>
      </p:sp>
      <p:sp>
        <p:nvSpPr>
          <p:cNvPr id="54" name="hdr-c3-sub"/>
          <p:cNvSpPr txBox="1"/>
          <p:nvPr/>
        </p:nvSpPr>
        <p:spPr>
          <a:xfrm>
            <a:off x="15592425" y="5457825"/>
            <a:ext cx="9810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（可替换）</a:t>
            </a:r>
          </a:p>
        </p:txBody>
      </p:sp>
      <p:sp>
        <p:nvSpPr>
          <p:cNvPr id="55" name="hdr-c4-name"/>
          <p:cNvSpPr txBox="1"/>
          <p:nvPr/>
        </p:nvSpPr>
        <p:spPr>
          <a:xfrm>
            <a:off x="22021800" y="4733925"/>
            <a:ext cx="923925" cy="485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竞品B</a:t>
            </a:r>
          </a:p>
        </p:txBody>
      </p:sp>
      <p:sp>
        <p:nvSpPr>
          <p:cNvPr id="56" name="hdr-c4-sub"/>
          <p:cNvSpPr txBox="1"/>
          <p:nvPr/>
        </p:nvSpPr>
        <p:spPr>
          <a:xfrm>
            <a:off x="21983700" y="5457825"/>
            <a:ext cx="9810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（可替换）</a:t>
            </a:r>
          </a:p>
        </p:txBody>
      </p:sp>
      <p:sp>
        <p:nvSpPr>
          <p:cNvPr id="57" name="hdr-c5-name"/>
          <p:cNvSpPr txBox="1"/>
          <p:nvPr/>
        </p:nvSpPr>
        <p:spPr>
          <a:xfrm>
            <a:off x="28403550" y="4733925"/>
            <a:ext cx="923925" cy="485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竞品C</a:t>
            </a:r>
          </a:p>
        </p:txBody>
      </p:sp>
      <p:sp>
        <p:nvSpPr>
          <p:cNvPr id="58" name="hdr-c5-sub"/>
          <p:cNvSpPr txBox="1"/>
          <p:nvPr/>
        </p:nvSpPr>
        <p:spPr>
          <a:xfrm>
            <a:off x="28374975" y="5457825"/>
            <a:ext cx="9810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（可替换）</a:t>
            </a:r>
          </a:p>
        </p:txBody>
      </p:sp>
      <p:grpSp>
        <p:nvGrpSpPr>
          <p:cNvPr id="294" name="r1-icon"/>
          <p:cNvGrpSpPr/>
          <p:nvPr/>
        </p:nvGrpSpPr>
        <p:grpSpPr>
          <a:xfrm>
            <a:off x="1750695" y="6578918"/>
            <a:ext cx="518160" cy="615314"/>
            <a:chOff x="1750695" y="6578918"/>
            <a:chExt cx="518160" cy="615314"/>
          </a:xfrm>
        </p:grpSpPr>
        <p:sp>
          <p:nvSpPr>
            <p:cNvPr id="59" name="Freeform 58"/>
            <p:cNvSpPr/>
            <p:nvPr/>
          </p:nvSpPr>
          <p:spPr>
            <a:xfrm>
              <a:off x="1750695" y="6578918"/>
              <a:ext cx="518160" cy="213740"/>
            </a:xfrm>
            <a:custGeom>
              <a:avLst/>
              <a:gdLst/>
              <a:ahLst/>
              <a:cxnLst/>
              <a:rect l="l" t="t" r="r" b="b"/>
              <a:pathLst>
                <a:path w="518160" h="213740">
                  <a:moveTo>
                    <a:pt x="259080" y="0"/>
                  </a:moveTo>
                  <a:lnTo>
                    <a:pt x="518160" y="106870"/>
                  </a:lnTo>
                  <a:lnTo>
                    <a:pt x="259080" y="213740"/>
                  </a:lnTo>
                  <a:lnTo>
                    <a:pt x="0" y="10687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1750695" y="6779704"/>
              <a:ext cx="518160" cy="213742"/>
            </a:xfrm>
            <a:custGeom>
              <a:avLst/>
              <a:gdLst/>
              <a:ahLst/>
              <a:cxnLst/>
              <a:rect l="l" t="t" r="r" b="b"/>
              <a:pathLst>
                <a:path w="518160" h="213742">
                  <a:moveTo>
                    <a:pt x="259080" y="0"/>
                  </a:moveTo>
                  <a:lnTo>
                    <a:pt x="518160" y="106871"/>
                  </a:lnTo>
                  <a:lnTo>
                    <a:pt x="259080" y="213742"/>
                  </a:lnTo>
                  <a:lnTo>
                    <a:pt x="0" y="106871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1750695" y="6980492"/>
              <a:ext cx="518160" cy="213740"/>
            </a:xfrm>
            <a:custGeom>
              <a:avLst/>
              <a:gdLst/>
              <a:ahLst/>
              <a:cxnLst/>
              <a:rect l="l" t="t" r="r" b="b"/>
              <a:pathLst>
                <a:path w="518160" h="213740">
                  <a:moveTo>
                    <a:pt x="259080" y="0"/>
                  </a:moveTo>
                  <a:lnTo>
                    <a:pt x="518160" y="106870"/>
                  </a:lnTo>
                  <a:lnTo>
                    <a:pt x="259080" y="213740"/>
                  </a:lnTo>
                  <a:lnTo>
                    <a:pt x="0" y="10687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r1-label"/>
          <p:cNvSpPr txBox="1"/>
          <p:nvPr/>
        </p:nvSpPr>
        <p:spPr>
          <a:xfrm>
            <a:off x="2867025" y="6534150"/>
            <a:ext cx="12287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63" name="r1-sub"/>
          <p:cNvSpPr txBox="1"/>
          <p:nvPr/>
        </p:nvSpPr>
        <p:spPr>
          <a:xfrm>
            <a:off x="2867025" y="7181850"/>
            <a:ext cx="15621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主要功能覆盖度</a:t>
            </a:r>
          </a:p>
        </p:txBody>
      </p:sp>
      <p:sp>
        <p:nvSpPr>
          <p:cNvPr id="64" name="r1-c1-stars"/>
          <p:cNvSpPr txBox="1"/>
          <p:nvPr/>
        </p:nvSpPr>
        <p:spPr>
          <a:xfrm>
            <a:off x="8591550" y="6362700"/>
            <a:ext cx="190500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rPr>
              <a:t>★★★★★</a:t>
            </a:r>
          </a:p>
        </p:txBody>
      </p:sp>
      <p:sp>
        <p:nvSpPr>
          <p:cNvPr id="65" name="r1-c1-cap"/>
          <p:cNvSpPr txBox="1"/>
          <p:nvPr/>
        </p:nvSpPr>
        <p:spPr>
          <a:xfrm>
            <a:off x="8515350" y="7191375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功能全面，体验流畅</a:t>
            </a:r>
          </a:p>
        </p:txBody>
      </p:sp>
      <p:sp>
        <p:nvSpPr>
          <p:cNvPr id="66" name="r1-c2-stars"/>
          <p:cNvSpPr txBox="1"/>
          <p:nvPr/>
        </p:nvSpPr>
        <p:spPr>
          <a:xfrm>
            <a:off x="15135225" y="6362700"/>
            <a:ext cx="190500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★★★★☆</a:t>
            </a:r>
          </a:p>
        </p:txBody>
      </p:sp>
      <p:sp>
        <p:nvSpPr>
          <p:cNvPr id="67" name="r1-c2-cap"/>
          <p:cNvSpPr txBox="1"/>
          <p:nvPr/>
        </p:nvSpPr>
        <p:spPr>
          <a:xfrm>
            <a:off x="14954250" y="7191375"/>
            <a:ext cx="22764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功能较全面，体验较好</a:t>
            </a:r>
          </a:p>
        </p:txBody>
      </p:sp>
      <p:sp>
        <p:nvSpPr>
          <p:cNvPr id="68" name="r1-c3-stars"/>
          <p:cNvSpPr txBox="1"/>
          <p:nvPr/>
        </p:nvSpPr>
        <p:spPr>
          <a:xfrm>
            <a:off x="21526500" y="6362700"/>
            <a:ext cx="190500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★★★☆☆</a:t>
            </a:r>
          </a:p>
        </p:txBody>
      </p:sp>
      <p:sp>
        <p:nvSpPr>
          <p:cNvPr id="69" name="r1-c3-cap"/>
          <p:cNvSpPr txBox="1"/>
          <p:nvPr/>
        </p:nvSpPr>
        <p:spPr>
          <a:xfrm>
            <a:off x="21450300" y="7191375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功能中等，体验一般</a:t>
            </a:r>
          </a:p>
        </p:txBody>
      </p:sp>
      <p:sp>
        <p:nvSpPr>
          <p:cNvPr id="70" name="r1-c4-stars"/>
          <p:cNvSpPr txBox="1"/>
          <p:nvPr/>
        </p:nvSpPr>
        <p:spPr>
          <a:xfrm>
            <a:off x="27908250" y="6362700"/>
            <a:ext cx="1905000" cy="5619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★★☆☆☆</a:t>
            </a:r>
          </a:p>
        </p:txBody>
      </p:sp>
      <p:sp>
        <p:nvSpPr>
          <p:cNvPr id="71" name="r1-c4-cap"/>
          <p:cNvSpPr txBox="1"/>
          <p:nvPr/>
        </p:nvSpPr>
        <p:spPr>
          <a:xfrm>
            <a:off x="27841575" y="7191375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功能较少，体验一般</a:t>
            </a:r>
          </a:p>
        </p:txBody>
      </p:sp>
      <p:grpSp>
        <p:nvGrpSpPr>
          <p:cNvPr id="295" name="r2-icon"/>
          <p:cNvGrpSpPr/>
          <p:nvPr/>
        </p:nvGrpSpPr>
        <p:grpSpPr>
          <a:xfrm>
            <a:off x="1783080" y="8698230"/>
            <a:ext cx="453390" cy="453390"/>
            <a:chOff x="1783080" y="8698230"/>
            <a:chExt cx="453390" cy="453390"/>
          </a:xfrm>
        </p:grpSpPr>
        <p:cxnSp>
          <p:nvCxnSpPr>
            <p:cNvPr id="72" name="Connector 71"/>
            <p:cNvCxnSpPr/>
            <p:nvPr/>
          </p:nvCxnSpPr>
          <p:spPr>
            <a:xfrm flipV="1">
              <a:off x="1808988" y="8724138"/>
              <a:ext cx="401574" cy="401574"/>
            </a:xfrm>
            <a:prstGeom prst="line">
              <a:avLst/>
            </a:prstGeom>
            <a:ln w="60624">
              <a:solidFill>
                <a:srgbClr val="1F6BD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1783080" y="8698230"/>
              <a:ext cx="168402" cy="168402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2068068" y="8983218"/>
              <a:ext cx="168402" cy="168402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5" name="r2-label"/>
          <p:cNvSpPr txBox="1"/>
          <p:nvPr/>
        </p:nvSpPr>
        <p:spPr>
          <a:xfrm>
            <a:off x="2867025" y="8572500"/>
            <a:ext cx="12287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价格区间</a:t>
            </a:r>
          </a:p>
        </p:txBody>
      </p:sp>
      <p:sp>
        <p:nvSpPr>
          <p:cNvPr id="76" name="r2-sub"/>
          <p:cNvSpPr txBox="1"/>
          <p:nvPr/>
        </p:nvSpPr>
        <p:spPr>
          <a:xfrm>
            <a:off x="2867025" y="9220200"/>
            <a:ext cx="13525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定价策略对比</a:t>
            </a:r>
          </a:p>
        </p:txBody>
      </p:sp>
      <p:sp>
        <p:nvSpPr>
          <p:cNvPr id="77" name="r2-c1-main"/>
          <p:cNvSpPr txBox="1"/>
          <p:nvPr/>
        </p:nvSpPr>
        <p:spPr>
          <a:xfrm>
            <a:off x="8486775" y="8524875"/>
            <a:ext cx="21145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¥ 99 - ¥ 299</a:t>
            </a:r>
          </a:p>
        </p:txBody>
      </p:sp>
      <p:sp>
        <p:nvSpPr>
          <p:cNvPr id="78" name="r2-c1-sub"/>
          <p:cNvSpPr txBox="1"/>
          <p:nvPr/>
        </p:nvSpPr>
        <p:spPr>
          <a:xfrm>
            <a:off x="8515350" y="9239250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中等定价，性价比高</a:t>
            </a:r>
          </a:p>
        </p:txBody>
      </p:sp>
      <p:sp>
        <p:nvSpPr>
          <p:cNvPr id="79" name="r2-c2-main"/>
          <p:cNvSpPr txBox="1"/>
          <p:nvPr/>
        </p:nvSpPr>
        <p:spPr>
          <a:xfrm>
            <a:off x="14944725" y="8524875"/>
            <a:ext cx="2286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¥ 120 - ¥ 399</a:t>
            </a:r>
          </a:p>
        </p:txBody>
      </p:sp>
      <p:sp>
        <p:nvSpPr>
          <p:cNvPr id="80" name="r2-c2-sub"/>
          <p:cNvSpPr txBox="1"/>
          <p:nvPr/>
        </p:nvSpPr>
        <p:spPr>
          <a:xfrm>
            <a:off x="15601950" y="9239250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中高定价</a:t>
            </a:r>
          </a:p>
        </p:txBody>
      </p:sp>
      <p:sp>
        <p:nvSpPr>
          <p:cNvPr id="81" name="r2-c3-main"/>
          <p:cNvSpPr txBox="1"/>
          <p:nvPr/>
        </p:nvSpPr>
        <p:spPr>
          <a:xfrm>
            <a:off x="21421725" y="8524875"/>
            <a:ext cx="21145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¥ 59 - ¥ 199</a:t>
            </a:r>
          </a:p>
        </p:txBody>
      </p:sp>
      <p:sp>
        <p:nvSpPr>
          <p:cNvPr id="82" name="r2-c3-sub"/>
          <p:cNvSpPr txBox="1"/>
          <p:nvPr/>
        </p:nvSpPr>
        <p:spPr>
          <a:xfrm>
            <a:off x="21993225" y="9239250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低价策略</a:t>
            </a:r>
          </a:p>
        </p:txBody>
      </p:sp>
      <p:sp>
        <p:nvSpPr>
          <p:cNvPr id="83" name="r2-c4-main"/>
          <p:cNvSpPr txBox="1"/>
          <p:nvPr/>
        </p:nvSpPr>
        <p:spPr>
          <a:xfrm>
            <a:off x="27727275" y="8524875"/>
            <a:ext cx="2286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¥ 199 - ¥ 499</a:t>
            </a:r>
          </a:p>
        </p:txBody>
      </p:sp>
      <p:sp>
        <p:nvSpPr>
          <p:cNvPr id="84" name="r2-c4-sub"/>
          <p:cNvSpPr txBox="1"/>
          <p:nvPr/>
        </p:nvSpPr>
        <p:spPr>
          <a:xfrm>
            <a:off x="28384500" y="9239250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高端定价</a:t>
            </a:r>
          </a:p>
        </p:txBody>
      </p:sp>
      <p:grpSp>
        <p:nvGrpSpPr>
          <p:cNvPr id="296" name="r3-icon"/>
          <p:cNvGrpSpPr/>
          <p:nvPr/>
        </p:nvGrpSpPr>
        <p:grpSpPr>
          <a:xfrm>
            <a:off x="1698879" y="10743057"/>
            <a:ext cx="621792" cy="505206"/>
            <a:chOff x="1698879" y="10743057"/>
            <a:chExt cx="621792" cy="505206"/>
          </a:xfrm>
        </p:grpSpPr>
        <p:sp>
          <p:nvSpPr>
            <p:cNvPr id="85" name="Oval 84"/>
            <p:cNvSpPr/>
            <p:nvPr/>
          </p:nvSpPr>
          <p:spPr>
            <a:xfrm>
              <a:off x="1740980" y="10743057"/>
              <a:ext cx="213741" cy="213741"/>
            </a:xfrm>
            <a:prstGeom prst="ellipse">
              <a:avLst/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698879" y="10989183"/>
              <a:ext cx="297942" cy="259080"/>
            </a:xfrm>
            <a:custGeom>
              <a:avLst/>
              <a:gdLst/>
              <a:ahLst/>
              <a:cxnLst/>
              <a:rect l="l" t="t" r="r" b="b"/>
              <a:pathLst>
                <a:path w="297942" h="259080">
                  <a:moveTo>
                    <a:pt x="0" y="259080"/>
                  </a:moveTo>
                  <a:lnTo>
                    <a:pt x="148971" y="0"/>
                  </a:lnTo>
                  <a:lnTo>
                    <a:pt x="297942" y="25908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2064830" y="10743057"/>
              <a:ext cx="213741" cy="213741"/>
            </a:xfrm>
            <a:prstGeom prst="ellipse">
              <a:avLst/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2022729" y="10989183"/>
              <a:ext cx="297942" cy="259080"/>
            </a:xfrm>
            <a:custGeom>
              <a:avLst/>
              <a:gdLst/>
              <a:ahLst/>
              <a:cxnLst/>
              <a:rect l="l" t="t" r="r" b="b"/>
              <a:pathLst>
                <a:path w="297942" h="259080">
                  <a:moveTo>
                    <a:pt x="0" y="259080"/>
                  </a:moveTo>
                  <a:lnTo>
                    <a:pt x="148971" y="0"/>
                  </a:lnTo>
                  <a:lnTo>
                    <a:pt x="297942" y="25908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9" name="r3-label"/>
          <p:cNvSpPr txBox="1"/>
          <p:nvPr/>
        </p:nvSpPr>
        <p:spPr>
          <a:xfrm>
            <a:off x="2867025" y="10610850"/>
            <a:ext cx="12287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目标用户</a:t>
            </a:r>
          </a:p>
        </p:txBody>
      </p:sp>
      <p:sp>
        <p:nvSpPr>
          <p:cNvPr id="90" name="r3-sub"/>
          <p:cNvSpPr txBox="1"/>
          <p:nvPr/>
        </p:nvSpPr>
        <p:spPr>
          <a:xfrm>
            <a:off x="2867025" y="11258550"/>
            <a:ext cx="13525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主要用户群体</a:t>
            </a:r>
          </a:p>
        </p:txBody>
      </p:sp>
      <p:sp>
        <p:nvSpPr>
          <p:cNvPr id="91" name="r3-c1-main"/>
          <p:cNvSpPr txBox="1"/>
          <p:nvPr/>
        </p:nvSpPr>
        <p:spPr>
          <a:xfrm>
            <a:off x="8286750" y="10601325"/>
            <a:ext cx="25050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大众用户 / 年轻群体</a:t>
            </a:r>
          </a:p>
        </p:txBody>
      </p:sp>
      <p:sp>
        <p:nvSpPr>
          <p:cNvPr id="92" name="r3-c1-sub"/>
          <p:cNvSpPr txBox="1"/>
          <p:nvPr/>
        </p:nvSpPr>
        <p:spPr>
          <a:xfrm>
            <a:off x="8858250" y="11277600"/>
            <a:ext cx="1352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18-35岁为主</a:t>
            </a:r>
          </a:p>
        </p:txBody>
      </p:sp>
      <p:sp>
        <p:nvSpPr>
          <p:cNvPr id="93" name="r3-c2-main"/>
          <p:cNvSpPr txBox="1"/>
          <p:nvPr/>
        </p:nvSpPr>
        <p:spPr>
          <a:xfrm>
            <a:off x="14963775" y="10601325"/>
            <a:ext cx="22479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职场人士 / 中青年</a:t>
            </a:r>
          </a:p>
        </p:txBody>
      </p:sp>
      <p:sp>
        <p:nvSpPr>
          <p:cNvPr id="94" name="r3-c2-sub"/>
          <p:cNvSpPr txBox="1"/>
          <p:nvPr/>
        </p:nvSpPr>
        <p:spPr>
          <a:xfrm>
            <a:off x="15411450" y="11277600"/>
            <a:ext cx="1352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25-40岁为主</a:t>
            </a:r>
          </a:p>
        </p:txBody>
      </p:sp>
      <p:sp>
        <p:nvSpPr>
          <p:cNvPr id="95" name="r3-c3-main"/>
          <p:cNvSpPr txBox="1"/>
          <p:nvPr/>
        </p:nvSpPr>
        <p:spPr>
          <a:xfrm>
            <a:off x="21221700" y="10601325"/>
            <a:ext cx="25050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学生群体 / 年轻用户</a:t>
            </a:r>
          </a:p>
        </p:txBody>
      </p:sp>
      <p:sp>
        <p:nvSpPr>
          <p:cNvPr id="96" name="r3-c3-sub"/>
          <p:cNvSpPr txBox="1"/>
          <p:nvPr/>
        </p:nvSpPr>
        <p:spPr>
          <a:xfrm>
            <a:off x="21802725" y="11277600"/>
            <a:ext cx="1352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18-25岁为主</a:t>
            </a:r>
          </a:p>
        </p:txBody>
      </p:sp>
      <p:sp>
        <p:nvSpPr>
          <p:cNvPr id="97" name="r3-c4-main"/>
          <p:cNvSpPr txBox="1"/>
          <p:nvPr/>
        </p:nvSpPr>
        <p:spPr>
          <a:xfrm>
            <a:off x="27612975" y="10601325"/>
            <a:ext cx="25050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企业用户 / 专业人群</a:t>
            </a:r>
          </a:p>
        </p:txBody>
      </p:sp>
      <p:sp>
        <p:nvSpPr>
          <p:cNvPr id="98" name="r3-c4-sub"/>
          <p:cNvSpPr txBox="1"/>
          <p:nvPr/>
        </p:nvSpPr>
        <p:spPr>
          <a:xfrm>
            <a:off x="28184475" y="11277600"/>
            <a:ext cx="1352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25-45岁为主</a:t>
            </a:r>
          </a:p>
        </p:txBody>
      </p:sp>
      <p:grpSp>
        <p:nvGrpSpPr>
          <p:cNvPr id="297" name="r4-icon"/>
          <p:cNvGrpSpPr/>
          <p:nvPr/>
        </p:nvGrpSpPr>
        <p:grpSpPr>
          <a:xfrm>
            <a:off x="1776603" y="12800838"/>
            <a:ext cx="466344" cy="408051"/>
            <a:chOff x="1776603" y="12800838"/>
            <a:chExt cx="466344" cy="408051"/>
          </a:xfrm>
        </p:grpSpPr>
        <p:sp>
          <p:nvSpPr>
            <p:cNvPr id="99" name="Rounded Rectangle 98"/>
            <p:cNvSpPr/>
            <p:nvPr/>
          </p:nvSpPr>
          <p:spPr>
            <a:xfrm>
              <a:off x="1776603" y="12800838"/>
              <a:ext cx="466344" cy="323850"/>
            </a:xfrm>
            <a:prstGeom prst="roundRect">
              <a:avLst>
                <a:gd name="adj" fmla="val 30000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925574" y="13092303"/>
              <a:ext cx="148971" cy="116586"/>
            </a:xfrm>
            <a:custGeom>
              <a:avLst/>
              <a:gdLst/>
              <a:ahLst/>
              <a:cxnLst/>
              <a:rect l="l" t="t" r="r" b="b"/>
              <a:pathLst>
                <a:path w="148971" h="116586">
                  <a:moveTo>
                    <a:pt x="0" y="0"/>
                  </a:moveTo>
                  <a:lnTo>
                    <a:pt x="0" y="116586"/>
                  </a:lnTo>
                  <a:lnTo>
                    <a:pt x="148971" y="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876996" y="12927140"/>
              <a:ext cx="71247" cy="712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974152" y="12927140"/>
              <a:ext cx="71247" cy="712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2071306" y="12927140"/>
              <a:ext cx="71247" cy="712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4" name="r4-label"/>
          <p:cNvSpPr txBox="1"/>
          <p:nvPr/>
        </p:nvSpPr>
        <p:spPr>
          <a:xfrm>
            <a:off x="2867025" y="12649200"/>
            <a:ext cx="12287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渠道通路</a:t>
            </a:r>
          </a:p>
        </p:txBody>
      </p:sp>
      <p:sp>
        <p:nvSpPr>
          <p:cNvPr id="105" name="r4-sub"/>
          <p:cNvSpPr txBox="1"/>
          <p:nvPr/>
        </p:nvSpPr>
        <p:spPr>
          <a:xfrm>
            <a:off x="2867025" y="13296900"/>
            <a:ext cx="1981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主要分发和销售渠道</a:t>
            </a:r>
          </a:p>
        </p:txBody>
      </p:sp>
      <p:sp>
        <p:nvSpPr>
          <p:cNvPr id="106" name="r4-c1-badge1"/>
          <p:cNvSpPr/>
          <p:nvPr/>
        </p:nvSpPr>
        <p:spPr>
          <a:xfrm>
            <a:off x="7996238" y="12620625"/>
            <a:ext cx="533400" cy="533400"/>
          </a:xfrm>
          <a:prstGeom prst="ellipse">
            <a:avLst/>
          </a:prstGeom>
          <a:noFill/>
          <a:ln w="19050">
            <a:solidFill>
              <a:srgbClr val="E2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4-c1-badge1-t"/>
          <p:cNvSpPr txBox="1"/>
          <p:nvPr/>
        </p:nvSpPr>
        <p:spPr>
          <a:xfrm>
            <a:off x="815340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网</a:t>
            </a:r>
          </a:p>
        </p:txBody>
      </p:sp>
      <p:sp>
        <p:nvSpPr>
          <p:cNvPr id="108" name="r4-c1-badge2"/>
          <p:cNvSpPr/>
          <p:nvPr/>
        </p:nvSpPr>
        <p:spPr>
          <a:xfrm>
            <a:off x="8815388" y="12620625"/>
            <a:ext cx="533400" cy="533400"/>
          </a:xfrm>
          <a:prstGeom prst="ellipse">
            <a:avLst/>
          </a:prstGeom>
          <a:noFill/>
          <a:ln w="19050">
            <a:solidFill>
              <a:srgbClr val="E2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4-c1-badge2-t"/>
          <p:cNvSpPr txBox="1"/>
          <p:nvPr/>
        </p:nvSpPr>
        <p:spPr>
          <a:xfrm>
            <a:off x="897255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应</a:t>
            </a:r>
          </a:p>
        </p:txBody>
      </p:sp>
      <p:sp>
        <p:nvSpPr>
          <p:cNvPr id="110" name="r4-c1-badge3"/>
          <p:cNvSpPr/>
          <p:nvPr/>
        </p:nvSpPr>
        <p:spPr>
          <a:xfrm>
            <a:off x="9634538" y="12620625"/>
            <a:ext cx="533400" cy="533400"/>
          </a:xfrm>
          <a:prstGeom prst="ellipse">
            <a:avLst/>
          </a:prstGeom>
          <a:noFill/>
          <a:ln w="19050">
            <a:solidFill>
              <a:srgbClr val="E2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4-c1-badge3-t"/>
          <p:cNvSpPr txBox="1"/>
          <p:nvPr/>
        </p:nvSpPr>
        <p:spPr>
          <a:xfrm>
            <a:off x="979170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社</a:t>
            </a:r>
          </a:p>
        </p:txBody>
      </p:sp>
      <p:sp>
        <p:nvSpPr>
          <p:cNvPr id="112" name="r4-c1-badge4"/>
          <p:cNvSpPr/>
          <p:nvPr/>
        </p:nvSpPr>
        <p:spPr>
          <a:xfrm>
            <a:off x="10453688" y="12620625"/>
            <a:ext cx="533400" cy="533400"/>
          </a:xfrm>
          <a:prstGeom prst="ellipse">
            <a:avLst/>
          </a:prstGeom>
          <a:noFill/>
          <a:ln w="19050">
            <a:solidFill>
              <a:srgbClr val="E2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4-c1-badge4-t"/>
          <p:cNvSpPr txBox="1"/>
          <p:nvPr/>
        </p:nvSpPr>
        <p:spPr>
          <a:xfrm>
            <a:off x="1061085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店</a:t>
            </a:r>
          </a:p>
        </p:txBody>
      </p:sp>
      <p:sp>
        <p:nvSpPr>
          <p:cNvPr id="114" name="r4-c1-desc"/>
          <p:cNvSpPr txBox="1"/>
          <p:nvPr/>
        </p:nvSpPr>
        <p:spPr>
          <a:xfrm>
            <a:off x="7924800" y="13382625"/>
            <a:ext cx="32289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官网 / 应用商店 / 社交媒体 / 线下门店</a:t>
            </a:r>
          </a:p>
        </p:txBody>
      </p:sp>
      <p:sp>
        <p:nvSpPr>
          <p:cNvPr id="115" name="r4-c2-badge1"/>
          <p:cNvSpPr/>
          <p:nvPr/>
        </p:nvSpPr>
        <p:spPr>
          <a:xfrm>
            <a:off x="14954250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4-c2-badge1-t"/>
          <p:cNvSpPr txBox="1"/>
          <p:nvPr/>
        </p:nvSpPr>
        <p:spPr>
          <a:xfrm>
            <a:off x="1510665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应</a:t>
            </a:r>
          </a:p>
        </p:txBody>
      </p:sp>
      <p:sp>
        <p:nvSpPr>
          <p:cNvPr id="117" name="r4-c2-badge2"/>
          <p:cNvSpPr/>
          <p:nvPr/>
        </p:nvSpPr>
        <p:spPr>
          <a:xfrm>
            <a:off x="15773400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4-c2-badge2-t"/>
          <p:cNvSpPr txBox="1"/>
          <p:nvPr/>
        </p:nvSpPr>
        <p:spPr>
          <a:xfrm>
            <a:off x="1592580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社</a:t>
            </a:r>
          </a:p>
        </p:txBody>
      </p:sp>
      <p:sp>
        <p:nvSpPr>
          <p:cNvPr id="119" name="r4-c2-badge3"/>
          <p:cNvSpPr/>
          <p:nvPr/>
        </p:nvSpPr>
        <p:spPr>
          <a:xfrm>
            <a:off x="16592550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4-c2-badge3-t"/>
          <p:cNvSpPr txBox="1"/>
          <p:nvPr/>
        </p:nvSpPr>
        <p:spPr>
          <a:xfrm>
            <a:off x="1674495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合</a:t>
            </a:r>
          </a:p>
        </p:txBody>
      </p:sp>
      <p:sp>
        <p:nvSpPr>
          <p:cNvPr id="121" name="r4-c2-desc"/>
          <p:cNvSpPr txBox="1"/>
          <p:nvPr/>
        </p:nvSpPr>
        <p:spPr>
          <a:xfrm>
            <a:off x="14754225" y="13382625"/>
            <a:ext cx="266700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应用商店 / 社交媒体 / 合作平台</a:t>
            </a:r>
          </a:p>
        </p:txBody>
      </p:sp>
      <p:sp>
        <p:nvSpPr>
          <p:cNvPr id="122" name="r4-c3-badge1"/>
          <p:cNvSpPr/>
          <p:nvPr/>
        </p:nvSpPr>
        <p:spPr>
          <a:xfrm>
            <a:off x="21755100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4-c3-badge1-t"/>
          <p:cNvSpPr txBox="1"/>
          <p:nvPr/>
        </p:nvSpPr>
        <p:spPr>
          <a:xfrm>
            <a:off x="2190750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应</a:t>
            </a:r>
          </a:p>
        </p:txBody>
      </p:sp>
      <p:sp>
        <p:nvSpPr>
          <p:cNvPr id="124" name="r4-c3-badge2"/>
          <p:cNvSpPr/>
          <p:nvPr/>
        </p:nvSpPr>
        <p:spPr>
          <a:xfrm>
            <a:off x="22574250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4-c3-badge2-t"/>
          <p:cNvSpPr txBox="1"/>
          <p:nvPr/>
        </p:nvSpPr>
        <p:spPr>
          <a:xfrm>
            <a:off x="2272665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社</a:t>
            </a:r>
          </a:p>
        </p:txBody>
      </p:sp>
      <p:sp>
        <p:nvSpPr>
          <p:cNvPr id="126" name="r4-c3-desc"/>
          <p:cNvSpPr txBox="1"/>
          <p:nvPr/>
        </p:nvSpPr>
        <p:spPr>
          <a:xfrm>
            <a:off x="21602700" y="13382625"/>
            <a:ext cx="17430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应用商店 / 社交媒体</a:t>
            </a:r>
          </a:p>
        </p:txBody>
      </p:sp>
      <p:sp>
        <p:nvSpPr>
          <p:cNvPr id="127" name="r4-c4-badge1"/>
          <p:cNvSpPr/>
          <p:nvPr/>
        </p:nvSpPr>
        <p:spPr>
          <a:xfrm>
            <a:off x="27732038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4-c4-badge1-t"/>
          <p:cNvSpPr txBox="1"/>
          <p:nvPr/>
        </p:nvSpPr>
        <p:spPr>
          <a:xfrm>
            <a:off x="2788920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网</a:t>
            </a:r>
          </a:p>
        </p:txBody>
      </p:sp>
      <p:sp>
        <p:nvSpPr>
          <p:cNvPr id="129" name="r4-c4-badge2"/>
          <p:cNvSpPr/>
          <p:nvPr/>
        </p:nvSpPr>
        <p:spPr>
          <a:xfrm>
            <a:off x="28551188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4-c4-badge2-t"/>
          <p:cNvSpPr txBox="1"/>
          <p:nvPr/>
        </p:nvSpPr>
        <p:spPr>
          <a:xfrm>
            <a:off x="2870835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线</a:t>
            </a:r>
          </a:p>
        </p:txBody>
      </p:sp>
      <p:sp>
        <p:nvSpPr>
          <p:cNvPr id="131" name="r4-c4-badge3"/>
          <p:cNvSpPr/>
          <p:nvPr/>
        </p:nvSpPr>
        <p:spPr>
          <a:xfrm>
            <a:off x="29370338" y="12620625"/>
            <a:ext cx="533400" cy="533400"/>
          </a:xfrm>
          <a:prstGeom prst="ellipse">
            <a:avLst/>
          </a:prstGeom>
          <a:noFill/>
          <a:ln w="19050">
            <a:solidFill>
              <a:srgbClr val="2050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4-c4-badge3-t"/>
          <p:cNvSpPr txBox="1"/>
          <p:nvPr/>
        </p:nvSpPr>
        <p:spPr>
          <a:xfrm>
            <a:off x="29527500" y="12706350"/>
            <a:ext cx="3238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50A9"/>
                </a:solidFill>
                <a:latin typeface="Microsoft YaHei"/>
                <a:ea typeface="Microsoft YaHei"/>
                <a:cs typeface="Microsoft YaHei"/>
              </a:rPr>
              <a:t>合</a:t>
            </a:r>
          </a:p>
        </p:txBody>
      </p:sp>
      <p:sp>
        <p:nvSpPr>
          <p:cNvPr id="133" name="r4-c4-desc"/>
          <p:cNvSpPr txBox="1"/>
          <p:nvPr/>
        </p:nvSpPr>
        <p:spPr>
          <a:xfrm>
            <a:off x="27708225" y="13382625"/>
            <a:ext cx="2305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官网 / 线下渠道 / 行业合作</a:t>
            </a:r>
          </a:p>
        </p:txBody>
      </p:sp>
      <p:grpSp>
        <p:nvGrpSpPr>
          <p:cNvPr id="298" name="r5-icon"/>
          <p:cNvGrpSpPr/>
          <p:nvPr/>
        </p:nvGrpSpPr>
        <p:grpSpPr>
          <a:xfrm>
            <a:off x="1724787" y="14759750"/>
            <a:ext cx="569976" cy="569976"/>
            <a:chOff x="1724787" y="14759750"/>
            <a:chExt cx="569976" cy="569976"/>
          </a:xfrm>
        </p:grpSpPr>
        <p:sp>
          <p:nvSpPr>
            <p:cNvPr id="134" name="Oval 133"/>
            <p:cNvSpPr/>
            <p:nvPr/>
          </p:nvSpPr>
          <p:spPr>
            <a:xfrm>
              <a:off x="1724787" y="14759750"/>
              <a:ext cx="569976" cy="569976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5" name="Connector 134"/>
            <p:cNvCxnSpPr/>
            <p:nvPr/>
          </p:nvCxnSpPr>
          <p:spPr>
            <a:xfrm>
              <a:off x="1873758" y="15057691"/>
              <a:ext cx="97155" cy="103633"/>
            </a:xfrm>
            <a:prstGeom prst="line">
              <a:avLst/>
            </a:prstGeom>
            <a:ln w="67360">
              <a:solidFill>
                <a:srgbClr val="1F6BD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35"/>
            <p:cNvCxnSpPr/>
            <p:nvPr/>
          </p:nvCxnSpPr>
          <p:spPr>
            <a:xfrm flipV="1">
              <a:off x="1970913" y="14947582"/>
              <a:ext cx="181356" cy="213742"/>
            </a:xfrm>
            <a:prstGeom prst="line">
              <a:avLst/>
            </a:prstGeom>
            <a:ln w="67360">
              <a:solidFill>
                <a:srgbClr val="1F6BD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r5-label"/>
          <p:cNvSpPr txBox="1"/>
          <p:nvPr/>
        </p:nvSpPr>
        <p:spPr>
          <a:xfrm>
            <a:off x="2867025" y="14687550"/>
            <a:ext cx="12287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138" name="r5-sub"/>
          <p:cNvSpPr txBox="1"/>
          <p:nvPr/>
        </p:nvSpPr>
        <p:spPr>
          <a:xfrm>
            <a:off x="2867025" y="15344775"/>
            <a:ext cx="13525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核心竞争亮点</a:t>
            </a:r>
          </a:p>
        </p:txBody>
      </p:sp>
      <p:sp>
        <p:nvSpPr>
          <p:cNvPr id="139" name="r5-c1-dot1"/>
          <p:cNvSpPr/>
          <p:nvPr/>
        </p:nvSpPr>
        <p:spPr>
          <a:xfrm>
            <a:off x="6467475" y="14692312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5-c1-l1"/>
          <p:cNvSpPr txBox="1"/>
          <p:nvPr/>
        </p:nvSpPr>
        <p:spPr>
          <a:xfrm>
            <a:off x="6638925" y="14563725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功能全面，体验优秀</a:t>
            </a:r>
          </a:p>
        </p:txBody>
      </p:sp>
      <p:sp>
        <p:nvSpPr>
          <p:cNvPr id="141" name="r5-c1-dot2"/>
          <p:cNvSpPr/>
          <p:nvPr/>
        </p:nvSpPr>
        <p:spPr>
          <a:xfrm>
            <a:off x="6467475" y="15120938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5-c1-l2"/>
          <p:cNvSpPr txBox="1"/>
          <p:nvPr/>
        </p:nvSpPr>
        <p:spPr>
          <a:xfrm>
            <a:off x="6638925" y="14992350"/>
            <a:ext cx="22764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性价比高，用户口碑好</a:t>
            </a:r>
          </a:p>
        </p:txBody>
      </p:sp>
      <p:sp>
        <p:nvSpPr>
          <p:cNvPr id="143" name="r5-c1-dot3"/>
          <p:cNvSpPr/>
          <p:nvPr/>
        </p:nvSpPr>
        <p:spPr>
          <a:xfrm>
            <a:off x="6467475" y="15549562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5-c1-l3"/>
          <p:cNvSpPr txBox="1"/>
          <p:nvPr/>
        </p:nvSpPr>
        <p:spPr>
          <a:xfrm>
            <a:off x="6638925" y="15420975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渠道丰富，触达广泛</a:t>
            </a:r>
          </a:p>
        </p:txBody>
      </p:sp>
      <p:sp>
        <p:nvSpPr>
          <p:cNvPr id="145" name="r5-c2-dot1"/>
          <p:cNvSpPr/>
          <p:nvPr/>
        </p:nvSpPr>
        <p:spPr>
          <a:xfrm>
            <a:off x="13163550" y="1469231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5-c2-l1"/>
          <p:cNvSpPr txBox="1"/>
          <p:nvPr/>
        </p:nvSpPr>
        <p:spPr>
          <a:xfrm>
            <a:off x="13335000" y="14563725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功能较全面</a:t>
            </a:r>
          </a:p>
        </p:txBody>
      </p:sp>
      <p:sp>
        <p:nvSpPr>
          <p:cNvPr id="147" name="r5-c2-dot2"/>
          <p:cNvSpPr/>
          <p:nvPr/>
        </p:nvSpPr>
        <p:spPr>
          <a:xfrm>
            <a:off x="13163550" y="15120938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5-c2-l2"/>
          <p:cNvSpPr txBox="1"/>
          <p:nvPr/>
        </p:nvSpPr>
        <p:spPr>
          <a:xfrm>
            <a:off x="13335000" y="14992350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品牌知名度高</a:t>
            </a:r>
          </a:p>
        </p:txBody>
      </p:sp>
      <p:sp>
        <p:nvSpPr>
          <p:cNvPr id="149" name="r5-c2-dot3"/>
          <p:cNvSpPr/>
          <p:nvPr/>
        </p:nvSpPr>
        <p:spPr>
          <a:xfrm>
            <a:off x="13163550" y="1554956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5-c2-l3"/>
          <p:cNvSpPr txBox="1"/>
          <p:nvPr/>
        </p:nvSpPr>
        <p:spPr>
          <a:xfrm>
            <a:off x="13335000" y="15420975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用户基数大</a:t>
            </a:r>
          </a:p>
        </p:txBody>
      </p:sp>
      <p:sp>
        <p:nvSpPr>
          <p:cNvPr id="151" name="r5-c3-dot1"/>
          <p:cNvSpPr/>
          <p:nvPr/>
        </p:nvSpPr>
        <p:spPr>
          <a:xfrm>
            <a:off x="19564350" y="1469231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5-c3-l1"/>
          <p:cNvSpPr txBox="1"/>
          <p:nvPr/>
        </p:nvSpPr>
        <p:spPr>
          <a:xfrm>
            <a:off x="19735800" y="14563725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价格低廉</a:t>
            </a:r>
          </a:p>
        </p:txBody>
      </p:sp>
      <p:sp>
        <p:nvSpPr>
          <p:cNvPr id="153" name="r5-c3-dot2"/>
          <p:cNvSpPr/>
          <p:nvPr/>
        </p:nvSpPr>
        <p:spPr>
          <a:xfrm>
            <a:off x="19564350" y="15120938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5-c3-l2"/>
          <p:cNvSpPr txBox="1"/>
          <p:nvPr/>
        </p:nvSpPr>
        <p:spPr>
          <a:xfrm>
            <a:off x="19735800" y="14992350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聚焦年轻用户</a:t>
            </a:r>
          </a:p>
        </p:txBody>
      </p:sp>
      <p:sp>
        <p:nvSpPr>
          <p:cNvPr id="155" name="r5-c3-dot3"/>
          <p:cNvSpPr/>
          <p:nvPr/>
        </p:nvSpPr>
        <p:spPr>
          <a:xfrm>
            <a:off x="19564350" y="1554956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5-c3-l3"/>
          <p:cNvSpPr txBox="1"/>
          <p:nvPr/>
        </p:nvSpPr>
        <p:spPr>
          <a:xfrm>
            <a:off x="19735800" y="15420975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增长速度快</a:t>
            </a:r>
          </a:p>
        </p:txBody>
      </p:sp>
      <p:sp>
        <p:nvSpPr>
          <p:cNvPr id="157" name="r5-c4-dot1"/>
          <p:cNvSpPr/>
          <p:nvPr/>
        </p:nvSpPr>
        <p:spPr>
          <a:xfrm>
            <a:off x="25946100" y="1469231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5-c4-l1"/>
          <p:cNvSpPr txBox="1"/>
          <p:nvPr/>
        </p:nvSpPr>
        <p:spPr>
          <a:xfrm>
            <a:off x="26117550" y="14563725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专业性强</a:t>
            </a:r>
          </a:p>
        </p:txBody>
      </p:sp>
      <p:sp>
        <p:nvSpPr>
          <p:cNvPr id="159" name="r5-c4-dot2"/>
          <p:cNvSpPr/>
          <p:nvPr/>
        </p:nvSpPr>
        <p:spPr>
          <a:xfrm>
            <a:off x="25946100" y="15120938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5-c4-l2"/>
          <p:cNvSpPr txBox="1"/>
          <p:nvPr/>
        </p:nvSpPr>
        <p:spPr>
          <a:xfrm>
            <a:off x="26117550" y="14992350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客户粘性高</a:t>
            </a:r>
          </a:p>
        </p:txBody>
      </p:sp>
      <p:sp>
        <p:nvSpPr>
          <p:cNvPr id="161" name="r5-c4-dot3"/>
          <p:cNvSpPr/>
          <p:nvPr/>
        </p:nvSpPr>
        <p:spPr>
          <a:xfrm>
            <a:off x="25946100" y="1554956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5-c4-l3"/>
          <p:cNvSpPr txBox="1"/>
          <p:nvPr/>
        </p:nvSpPr>
        <p:spPr>
          <a:xfrm>
            <a:off x="26117550" y="1542097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服务体系完善</a:t>
            </a:r>
          </a:p>
        </p:txBody>
      </p:sp>
      <p:grpSp>
        <p:nvGrpSpPr>
          <p:cNvPr id="299" name="r6-icon"/>
          <p:cNvGrpSpPr/>
          <p:nvPr/>
        </p:nvGrpSpPr>
        <p:grpSpPr>
          <a:xfrm>
            <a:off x="1776603" y="16835247"/>
            <a:ext cx="466344" cy="531114"/>
            <a:chOff x="1776603" y="16835247"/>
            <a:chExt cx="466344" cy="531114"/>
          </a:xfrm>
        </p:grpSpPr>
        <p:sp>
          <p:nvSpPr>
            <p:cNvPr id="163" name="Freeform 162"/>
            <p:cNvSpPr/>
            <p:nvPr/>
          </p:nvSpPr>
          <p:spPr>
            <a:xfrm>
              <a:off x="1776603" y="16835247"/>
              <a:ext cx="466344" cy="531114"/>
            </a:xfrm>
            <a:custGeom>
              <a:avLst/>
              <a:gdLst/>
              <a:ahLst/>
              <a:cxnLst/>
              <a:rect l="l" t="t" r="r" b="b"/>
              <a:pathLst>
                <a:path w="466344" h="531114">
                  <a:moveTo>
                    <a:pt x="32385" y="0"/>
                  </a:moveTo>
                  <a:lnTo>
                    <a:pt x="433959" y="0"/>
                  </a:lnTo>
                  <a:lnTo>
                    <a:pt x="466344" y="213741"/>
                  </a:lnTo>
                  <a:lnTo>
                    <a:pt x="349758" y="421005"/>
                  </a:lnTo>
                  <a:lnTo>
                    <a:pt x="233172" y="531114"/>
                  </a:lnTo>
                  <a:lnTo>
                    <a:pt x="116586" y="421005"/>
                  </a:lnTo>
                  <a:lnTo>
                    <a:pt x="0" y="213741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4" name="Connector 163"/>
            <p:cNvCxnSpPr/>
            <p:nvPr/>
          </p:nvCxnSpPr>
          <p:spPr>
            <a:xfrm>
              <a:off x="1912620" y="17087850"/>
              <a:ext cx="77724" cy="84201"/>
            </a:xfrm>
            <a:prstGeom prst="line">
              <a:avLst/>
            </a:prstGeom>
            <a:ln w="6736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 flipV="1">
              <a:off x="1990344" y="16997172"/>
              <a:ext cx="129540" cy="174879"/>
            </a:xfrm>
            <a:prstGeom prst="line">
              <a:avLst/>
            </a:prstGeom>
            <a:ln w="6736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r6-label"/>
          <p:cNvSpPr txBox="1"/>
          <p:nvPr/>
        </p:nvSpPr>
        <p:spPr>
          <a:xfrm>
            <a:off x="2867025" y="16735425"/>
            <a:ext cx="1228725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主要劣势</a:t>
            </a:r>
          </a:p>
        </p:txBody>
      </p:sp>
      <p:sp>
        <p:nvSpPr>
          <p:cNvPr id="167" name="r6-sub"/>
          <p:cNvSpPr txBox="1"/>
          <p:nvPr/>
        </p:nvSpPr>
        <p:spPr>
          <a:xfrm>
            <a:off x="2867025" y="17383125"/>
            <a:ext cx="11430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存在的不足</a:t>
            </a:r>
          </a:p>
        </p:txBody>
      </p:sp>
      <p:sp>
        <p:nvSpPr>
          <p:cNvPr id="168" name="r6-c1-dot1"/>
          <p:cNvSpPr/>
          <p:nvPr/>
        </p:nvSpPr>
        <p:spPr>
          <a:xfrm>
            <a:off x="6467475" y="16735425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6-c1-l1"/>
          <p:cNvSpPr txBox="1"/>
          <p:nvPr/>
        </p:nvSpPr>
        <p:spPr>
          <a:xfrm>
            <a:off x="6638925" y="16611600"/>
            <a:ext cx="18478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部分功能深度不足</a:t>
            </a:r>
          </a:p>
        </p:txBody>
      </p:sp>
      <p:sp>
        <p:nvSpPr>
          <p:cNvPr id="170" name="r6-c1-dot2"/>
          <p:cNvSpPr/>
          <p:nvPr/>
        </p:nvSpPr>
        <p:spPr>
          <a:xfrm>
            <a:off x="6467475" y="17164050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6-c1-l2"/>
          <p:cNvSpPr txBox="1"/>
          <p:nvPr/>
        </p:nvSpPr>
        <p:spPr>
          <a:xfrm>
            <a:off x="6638925" y="17040225"/>
            <a:ext cx="20669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高端品牌认知度不高</a:t>
            </a:r>
          </a:p>
        </p:txBody>
      </p:sp>
      <p:sp>
        <p:nvSpPr>
          <p:cNvPr id="172" name="r6-c1-dot3"/>
          <p:cNvSpPr/>
          <p:nvPr/>
        </p:nvSpPr>
        <p:spPr>
          <a:xfrm>
            <a:off x="6467475" y="17592675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6-c1-l3"/>
          <p:cNvSpPr txBox="1"/>
          <p:nvPr/>
        </p:nvSpPr>
        <p:spPr>
          <a:xfrm>
            <a:off x="6638925" y="17468850"/>
            <a:ext cx="18478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部分渠道覆盖有限</a:t>
            </a:r>
          </a:p>
        </p:txBody>
      </p:sp>
      <p:sp>
        <p:nvSpPr>
          <p:cNvPr id="174" name="r6-c2-dot1"/>
          <p:cNvSpPr/>
          <p:nvPr/>
        </p:nvSpPr>
        <p:spPr>
          <a:xfrm>
            <a:off x="13163550" y="16735425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6-c2-l1"/>
          <p:cNvSpPr txBox="1"/>
          <p:nvPr/>
        </p:nvSpPr>
        <p:spPr>
          <a:xfrm>
            <a:off x="13335000" y="16611600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价格偏高</a:t>
            </a:r>
          </a:p>
        </p:txBody>
      </p:sp>
      <p:sp>
        <p:nvSpPr>
          <p:cNvPr id="176" name="r6-c2-dot2"/>
          <p:cNvSpPr/>
          <p:nvPr/>
        </p:nvSpPr>
        <p:spPr>
          <a:xfrm>
            <a:off x="13163550" y="17164050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6-c2-l2"/>
          <p:cNvSpPr txBox="1"/>
          <p:nvPr/>
        </p:nvSpPr>
        <p:spPr>
          <a:xfrm>
            <a:off x="13335000" y="1704022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部分功能冗余</a:t>
            </a:r>
          </a:p>
        </p:txBody>
      </p:sp>
      <p:sp>
        <p:nvSpPr>
          <p:cNvPr id="178" name="r6-c2-dot3"/>
          <p:cNvSpPr/>
          <p:nvPr/>
        </p:nvSpPr>
        <p:spPr>
          <a:xfrm>
            <a:off x="13163550" y="17592675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6-c2-l3"/>
          <p:cNvSpPr txBox="1"/>
          <p:nvPr/>
        </p:nvSpPr>
        <p:spPr>
          <a:xfrm>
            <a:off x="13335000" y="17468850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客服响应较慢</a:t>
            </a:r>
          </a:p>
        </p:txBody>
      </p:sp>
      <p:sp>
        <p:nvSpPr>
          <p:cNvPr id="180" name="r6-c3-dot1"/>
          <p:cNvSpPr/>
          <p:nvPr/>
        </p:nvSpPr>
        <p:spPr>
          <a:xfrm>
            <a:off x="19564350" y="16735425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6-c3-l1"/>
          <p:cNvSpPr txBox="1"/>
          <p:nvPr/>
        </p:nvSpPr>
        <p:spPr>
          <a:xfrm>
            <a:off x="19735800" y="16611600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功能较少</a:t>
            </a:r>
          </a:p>
        </p:txBody>
      </p:sp>
      <p:sp>
        <p:nvSpPr>
          <p:cNvPr id="182" name="r6-c3-dot2"/>
          <p:cNvSpPr/>
          <p:nvPr/>
        </p:nvSpPr>
        <p:spPr>
          <a:xfrm>
            <a:off x="19564350" y="17164050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6-c3-l2"/>
          <p:cNvSpPr txBox="1"/>
          <p:nvPr/>
        </p:nvSpPr>
        <p:spPr>
          <a:xfrm>
            <a:off x="19735800" y="1704022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商业化能力弱</a:t>
            </a:r>
          </a:p>
        </p:txBody>
      </p:sp>
      <p:sp>
        <p:nvSpPr>
          <p:cNvPr id="184" name="r6-c3-dot3"/>
          <p:cNvSpPr/>
          <p:nvPr/>
        </p:nvSpPr>
        <p:spPr>
          <a:xfrm>
            <a:off x="19564350" y="17592675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6-c3-l3"/>
          <p:cNvSpPr txBox="1"/>
          <p:nvPr/>
        </p:nvSpPr>
        <p:spPr>
          <a:xfrm>
            <a:off x="19735800" y="17468850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用户留存偏低</a:t>
            </a:r>
          </a:p>
        </p:txBody>
      </p:sp>
      <p:sp>
        <p:nvSpPr>
          <p:cNvPr id="186" name="r6-c4-dot1"/>
          <p:cNvSpPr/>
          <p:nvPr/>
        </p:nvSpPr>
        <p:spPr>
          <a:xfrm>
            <a:off x="25946100" y="16735425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6-c4-l1"/>
          <p:cNvSpPr txBox="1"/>
          <p:nvPr/>
        </p:nvSpPr>
        <p:spPr>
          <a:xfrm>
            <a:off x="26117550" y="16611600"/>
            <a:ext cx="9715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价格较高</a:t>
            </a:r>
          </a:p>
        </p:txBody>
      </p:sp>
      <p:sp>
        <p:nvSpPr>
          <p:cNvPr id="188" name="r6-c4-dot2"/>
          <p:cNvSpPr/>
          <p:nvPr/>
        </p:nvSpPr>
        <p:spPr>
          <a:xfrm>
            <a:off x="25946100" y="17164050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6-c4-l2"/>
          <p:cNvSpPr txBox="1"/>
          <p:nvPr/>
        </p:nvSpPr>
        <p:spPr>
          <a:xfrm>
            <a:off x="26117550" y="17040225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上手门槛高</a:t>
            </a:r>
          </a:p>
        </p:txBody>
      </p:sp>
      <p:sp>
        <p:nvSpPr>
          <p:cNvPr id="190" name="r6-c4-dot3"/>
          <p:cNvSpPr/>
          <p:nvPr/>
        </p:nvSpPr>
        <p:spPr>
          <a:xfrm>
            <a:off x="25946100" y="17592675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6-c4-l3"/>
          <p:cNvSpPr txBox="1"/>
          <p:nvPr/>
        </p:nvSpPr>
        <p:spPr>
          <a:xfrm>
            <a:off x="26117550" y="17468850"/>
            <a:ext cx="11906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目标用户窄</a:t>
            </a:r>
          </a:p>
        </p:txBody>
      </p:sp>
      <p:grpSp>
        <p:nvGrpSpPr>
          <p:cNvPr id="300" name="r7-icon"/>
          <p:cNvGrpSpPr/>
          <p:nvPr/>
        </p:nvGrpSpPr>
        <p:grpSpPr>
          <a:xfrm>
            <a:off x="1718310" y="18829972"/>
            <a:ext cx="595884" cy="602362"/>
            <a:chOff x="1718310" y="18829972"/>
            <a:chExt cx="595884" cy="602362"/>
          </a:xfrm>
        </p:grpSpPr>
        <p:sp>
          <p:nvSpPr>
            <p:cNvPr id="192" name="Oval 191"/>
            <p:cNvSpPr/>
            <p:nvPr/>
          </p:nvSpPr>
          <p:spPr>
            <a:xfrm>
              <a:off x="1718310" y="18829972"/>
              <a:ext cx="582930" cy="582930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Oval 192"/>
            <p:cNvSpPr/>
            <p:nvPr/>
          </p:nvSpPr>
          <p:spPr>
            <a:xfrm>
              <a:off x="1828419" y="18940082"/>
              <a:ext cx="362712" cy="362712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1945005" y="19056668"/>
              <a:ext cx="129540" cy="129540"/>
            </a:xfrm>
            <a:prstGeom prst="ellipse">
              <a:avLst/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5" name="Connector 194"/>
            <p:cNvCxnSpPr/>
            <p:nvPr/>
          </p:nvCxnSpPr>
          <p:spPr>
            <a:xfrm>
              <a:off x="2068068" y="19179730"/>
              <a:ext cx="174879" cy="174880"/>
            </a:xfrm>
            <a:prstGeom prst="line">
              <a:avLst/>
            </a:prstGeom>
            <a:ln w="50520">
              <a:solidFill>
                <a:srgbClr val="1F6BD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Freeform 195"/>
            <p:cNvSpPr/>
            <p:nvPr/>
          </p:nvSpPr>
          <p:spPr>
            <a:xfrm>
              <a:off x="2171700" y="19296316"/>
              <a:ext cx="142494" cy="136018"/>
            </a:xfrm>
            <a:custGeom>
              <a:avLst/>
              <a:gdLst/>
              <a:ahLst/>
              <a:cxnLst/>
              <a:rect l="l" t="t" r="r" b="b"/>
              <a:pathLst>
                <a:path w="142494" h="136018">
                  <a:moveTo>
                    <a:pt x="0" y="116586"/>
                  </a:moveTo>
                  <a:lnTo>
                    <a:pt x="136017" y="136018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7" name="r7-label"/>
          <p:cNvSpPr txBox="1"/>
          <p:nvPr/>
        </p:nvSpPr>
        <p:spPr>
          <a:xfrm>
            <a:off x="2867025" y="18764250"/>
            <a:ext cx="9525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机会点</a:t>
            </a:r>
          </a:p>
        </p:txBody>
      </p:sp>
      <p:sp>
        <p:nvSpPr>
          <p:cNvPr id="198" name="r7-sub"/>
          <p:cNvSpPr txBox="1"/>
          <p:nvPr/>
        </p:nvSpPr>
        <p:spPr>
          <a:xfrm>
            <a:off x="2867025" y="19421475"/>
            <a:ext cx="13525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可突破的方向</a:t>
            </a:r>
          </a:p>
        </p:txBody>
      </p:sp>
      <p:sp>
        <p:nvSpPr>
          <p:cNvPr id="199" name="r7-c1-dot1"/>
          <p:cNvSpPr/>
          <p:nvPr/>
        </p:nvSpPr>
        <p:spPr>
          <a:xfrm>
            <a:off x="6467475" y="18769012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7-c1-l1"/>
          <p:cNvSpPr txBox="1"/>
          <p:nvPr/>
        </p:nvSpPr>
        <p:spPr>
          <a:xfrm>
            <a:off x="6638925" y="18640425"/>
            <a:ext cx="18478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深化核心功能体验</a:t>
            </a:r>
          </a:p>
        </p:txBody>
      </p:sp>
      <p:sp>
        <p:nvSpPr>
          <p:cNvPr id="201" name="r7-c1-dot2"/>
          <p:cNvSpPr/>
          <p:nvPr/>
        </p:nvSpPr>
        <p:spPr>
          <a:xfrm>
            <a:off x="6467475" y="19197638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7-c1-l2"/>
          <p:cNvSpPr txBox="1"/>
          <p:nvPr/>
        </p:nvSpPr>
        <p:spPr>
          <a:xfrm>
            <a:off x="6638925" y="19069050"/>
            <a:ext cx="16287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提升品牌影响力</a:t>
            </a:r>
          </a:p>
        </p:txBody>
      </p:sp>
      <p:sp>
        <p:nvSpPr>
          <p:cNvPr id="203" name="r7-c1-dot3"/>
          <p:cNvSpPr/>
          <p:nvPr/>
        </p:nvSpPr>
        <p:spPr>
          <a:xfrm>
            <a:off x="6467475" y="19626262"/>
            <a:ext cx="95250" cy="95250"/>
          </a:xfrm>
          <a:prstGeom prst="ellipse">
            <a:avLst/>
          </a:prstGeom>
          <a:solidFill>
            <a:srgbClr val="E2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7-c1-l3"/>
          <p:cNvSpPr txBox="1"/>
          <p:nvPr/>
        </p:nvSpPr>
        <p:spPr>
          <a:xfrm>
            <a:off x="6638925" y="19497675"/>
            <a:ext cx="206692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扩大高价值用户占比</a:t>
            </a:r>
          </a:p>
        </p:txBody>
      </p:sp>
      <p:sp>
        <p:nvSpPr>
          <p:cNvPr id="205" name="r7-c2-dot1"/>
          <p:cNvSpPr/>
          <p:nvPr/>
        </p:nvSpPr>
        <p:spPr>
          <a:xfrm>
            <a:off x="13163550" y="1876901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7-c2-l1"/>
          <p:cNvSpPr txBox="1"/>
          <p:nvPr/>
        </p:nvSpPr>
        <p:spPr>
          <a:xfrm>
            <a:off x="13335000" y="1864042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优化定价策略</a:t>
            </a:r>
          </a:p>
        </p:txBody>
      </p:sp>
      <p:sp>
        <p:nvSpPr>
          <p:cNvPr id="207" name="r7-c2-dot2"/>
          <p:cNvSpPr/>
          <p:nvPr/>
        </p:nvSpPr>
        <p:spPr>
          <a:xfrm>
            <a:off x="13163550" y="19197638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7-c2-l2"/>
          <p:cNvSpPr txBox="1"/>
          <p:nvPr/>
        </p:nvSpPr>
        <p:spPr>
          <a:xfrm>
            <a:off x="13335000" y="19069050"/>
            <a:ext cx="2057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精简功能，提升效率</a:t>
            </a:r>
          </a:p>
        </p:txBody>
      </p:sp>
      <p:sp>
        <p:nvSpPr>
          <p:cNvPr id="209" name="r7-c2-dot3"/>
          <p:cNvSpPr/>
          <p:nvPr/>
        </p:nvSpPr>
        <p:spPr>
          <a:xfrm>
            <a:off x="13163550" y="1962626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7-c2-l3"/>
          <p:cNvSpPr txBox="1"/>
          <p:nvPr/>
        </p:nvSpPr>
        <p:spPr>
          <a:xfrm>
            <a:off x="13335000" y="19497675"/>
            <a:ext cx="18478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加强用户服务体验</a:t>
            </a:r>
          </a:p>
        </p:txBody>
      </p:sp>
      <p:sp>
        <p:nvSpPr>
          <p:cNvPr id="211" name="r7-c3-dot1"/>
          <p:cNvSpPr/>
          <p:nvPr/>
        </p:nvSpPr>
        <p:spPr>
          <a:xfrm>
            <a:off x="19564350" y="1876901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7-c3-l1"/>
          <p:cNvSpPr txBox="1"/>
          <p:nvPr/>
        </p:nvSpPr>
        <p:spPr>
          <a:xfrm>
            <a:off x="19735800" y="1864042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增强功能深度</a:t>
            </a:r>
          </a:p>
        </p:txBody>
      </p:sp>
      <p:sp>
        <p:nvSpPr>
          <p:cNvPr id="213" name="r7-c3-dot2"/>
          <p:cNvSpPr/>
          <p:nvPr/>
        </p:nvSpPr>
        <p:spPr>
          <a:xfrm>
            <a:off x="19564350" y="19197638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7-c3-l2"/>
          <p:cNvSpPr txBox="1"/>
          <p:nvPr/>
        </p:nvSpPr>
        <p:spPr>
          <a:xfrm>
            <a:off x="19735800" y="19069050"/>
            <a:ext cx="16287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提升商业化变现</a:t>
            </a:r>
          </a:p>
        </p:txBody>
      </p:sp>
      <p:sp>
        <p:nvSpPr>
          <p:cNvPr id="215" name="r7-c3-dot3"/>
          <p:cNvSpPr/>
          <p:nvPr/>
        </p:nvSpPr>
        <p:spPr>
          <a:xfrm>
            <a:off x="19564350" y="1962626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7-c3-l3"/>
          <p:cNvSpPr txBox="1"/>
          <p:nvPr/>
        </p:nvSpPr>
        <p:spPr>
          <a:xfrm>
            <a:off x="19735800" y="1949767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扩大渠道覆盖</a:t>
            </a:r>
          </a:p>
        </p:txBody>
      </p:sp>
      <p:sp>
        <p:nvSpPr>
          <p:cNvPr id="217" name="r7-c4-dot1"/>
          <p:cNvSpPr/>
          <p:nvPr/>
        </p:nvSpPr>
        <p:spPr>
          <a:xfrm>
            <a:off x="25946100" y="1876901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7-c4-l1"/>
          <p:cNvSpPr txBox="1"/>
          <p:nvPr/>
        </p:nvSpPr>
        <p:spPr>
          <a:xfrm>
            <a:off x="26117550" y="18640425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降低使用门槛</a:t>
            </a:r>
          </a:p>
        </p:txBody>
      </p:sp>
      <p:sp>
        <p:nvSpPr>
          <p:cNvPr id="219" name="r7-c4-dot2"/>
          <p:cNvSpPr/>
          <p:nvPr/>
        </p:nvSpPr>
        <p:spPr>
          <a:xfrm>
            <a:off x="25946100" y="19197638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7-c4-l2"/>
          <p:cNvSpPr txBox="1"/>
          <p:nvPr/>
        </p:nvSpPr>
        <p:spPr>
          <a:xfrm>
            <a:off x="26117550" y="19069050"/>
            <a:ext cx="14097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拓展大众市场</a:t>
            </a:r>
          </a:p>
        </p:txBody>
      </p:sp>
      <p:sp>
        <p:nvSpPr>
          <p:cNvPr id="221" name="r7-c4-dot3"/>
          <p:cNvSpPr/>
          <p:nvPr/>
        </p:nvSpPr>
        <p:spPr>
          <a:xfrm>
            <a:off x="25946100" y="19626262"/>
            <a:ext cx="95250" cy="95250"/>
          </a:xfrm>
          <a:prstGeom prst="ellipse">
            <a:avLst/>
          </a:prstGeom>
          <a:solidFill>
            <a:srgbClr val="205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7-c4-l3"/>
          <p:cNvSpPr txBox="1"/>
          <p:nvPr/>
        </p:nvSpPr>
        <p:spPr>
          <a:xfrm>
            <a:off x="26117550" y="19497675"/>
            <a:ext cx="16287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优化产品易用性</a:t>
            </a:r>
          </a:p>
        </p:txBody>
      </p:sp>
      <p:sp>
        <p:nvSpPr>
          <p:cNvPr id="223" name="concl-block"/>
          <p:cNvSpPr/>
          <p:nvPr/>
        </p:nvSpPr>
        <p:spPr>
          <a:xfrm>
            <a:off x="1133475" y="20526375"/>
            <a:ext cx="1619250" cy="2143125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125BDC"/>
              </a:gs>
              <a:gs pos="100000">
                <a:srgbClr val="2A6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concl-line1"/>
          <p:cNvSpPr txBox="1"/>
          <p:nvPr/>
        </p:nvSpPr>
        <p:spPr>
          <a:xfrm>
            <a:off x="1447800" y="21107400"/>
            <a:ext cx="13335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25" name="concl-line2"/>
          <p:cNvSpPr txBox="1"/>
          <p:nvPr/>
        </p:nvSpPr>
        <p:spPr>
          <a:xfrm>
            <a:off x="1447800" y="21821775"/>
            <a:ext cx="13335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26" name="p1-panel"/>
          <p:cNvSpPr/>
          <p:nvPr/>
        </p:nvSpPr>
        <p:spPr>
          <a:xfrm>
            <a:off x="3181350" y="20526375"/>
            <a:ext cx="9086850" cy="2124075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1905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p1-ic-bg"/>
          <p:cNvSpPr/>
          <p:nvPr/>
        </p:nvSpPr>
        <p:spPr>
          <a:xfrm>
            <a:off x="3295650" y="20878800"/>
            <a:ext cx="704850" cy="704850"/>
          </a:xfrm>
          <a:prstGeom prst="ellipse">
            <a:avLst/>
          </a:prstGeom>
          <a:noFill/>
          <a:ln w="19050">
            <a:solidFill>
              <a:srgbClr val="E2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1" name="p1-icon"/>
          <p:cNvGrpSpPr/>
          <p:nvPr/>
        </p:nvGrpSpPr>
        <p:grpSpPr>
          <a:xfrm>
            <a:off x="3502342" y="21085492"/>
            <a:ext cx="297942" cy="301181"/>
            <a:chOff x="3502342" y="21085492"/>
            <a:chExt cx="297942" cy="301181"/>
          </a:xfrm>
        </p:grpSpPr>
        <p:sp>
          <p:nvSpPr>
            <p:cNvPr id="228" name="Oval 227"/>
            <p:cNvSpPr/>
            <p:nvPr/>
          </p:nvSpPr>
          <p:spPr>
            <a:xfrm>
              <a:off x="3502342" y="21085492"/>
              <a:ext cx="291465" cy="291465"/>
            </a:xfrm>
            <a:prstGeom prst="ellipse">
              <a:avLst/>
            </a:prstGeom>
            <a:noFill/>
            <a:ln w="15240">
              <a:solidFill>
                <a:srgbClr val="E2740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3557397" y="21140547"/>
              <a:ext cx="181356" cy="181356"/>
            </a:xfrm>
            <a:prstGeom prst="ellipse">
              <a:avLst/>
            </a:prstGeom>
            <a:noFill/>
            <a:ln w="15240">
              <a:solidFill>
                <a:srgbClr val="E2740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3615690" y="21198840"/>
              <a:ext cx="64770" cy="64770"/>
            </a:xfrm>
            <a:prstGeom prst="ellipse">
              <a:avLst/>
            </a:prstGeom>
            <a:solidFill>
              <a:srgbClr val="E2740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1" name="Connector 230"/>
            <p:cNvCxnSpPr/>
            <p:nvPr/>
          </p:nvCxnSpPr>
          <p:spPr>
            <a:xfrm>
              <a:off x="3677222" y="21260372"/>
              <a:ext cx="87439" cy="87439"/>
            </a:xfrm>
            <a:prstGeom prst="line">
              <a:avLst/>
            </a:prstGeom>
            <a:ln w="25260">
              <a:solidFill>
                <a:srgbClr val="E2740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Freeform 231"/>
            <p:cNvSpPr/>
            <p:nvPr/>
          </p:nvSpPr>
          <p:spPr>
            <a:xfrm>
              <a:off x="3729038" y="21318664"/>
              <a:ext cx="71246" cy="68009"/>
            </a:xfrm>
            <a:custGeom>
              <a:avLst/>
              <a:gdLst/>
              <a:ahLst/>
              <a:cxnLst/>
              <a:rect l="l" t="t" r="r" b="b"/>
              <a:pathLst>
                <a:path w="71246" h="68009">
                  <a:moveTo>
                    <a:pt x="0" y="58294"/>
                  </a:moveTo>
                  <a:lnTo>
                    <a:pt x="68008" y="68009"/>
                  </a:lnTo>
                  <a:lnTo>
                    <a:pt x="71246" y="0"/>
                  </a:lnTo>
                  <a:close/>
                </a:path>
              </a:pathLst>
            </a:custGeom>
            <a:solidFill>
              <a:srgbClr val="E2740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3" name="p1-head"/>
          <p:cNvSpPr txBox="1"/>
          <p:nvPr/>
        </p:nvSpPr>
        <p:spPr>
          <a:xfrm>
            <a:off x="4286250" y="21050250"/>
            <a:ext cx="41148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62" b="1" i="0">
                <a:solidFill>
                  <a:srgbClr val="E2740F"/>
                </a:solidFill>
                <a:latin typeface="Microsoft YaHei"/>
                <a:ea typeface="Microsoft YaHei"/>
                <a:cs typeface="Microsoft YaHei"/>
              </a:rPr>
              <a:t>机会点总结（本产品可提升方向）</a:t>
            </a:r>
          </a:p>
        </p:txBody>
      </p:sp>
      <p:sp>
        <p:nvSpPr>
          <p:cNvPr id="234" name="p1-l1"/>
          <p:cNvSpPr txBox="1"/>
          <p:nvPr/>
        </p:nvSpPr>
        <p:spPr>
          <a:xfrm>
            <a:off x="3467100" y="21659850"/>
            <a:ext cx="29432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核心功能持续打磨，强化用户体验</a:t>
            </a:r>
          </a:p>
        </p:txBody>
      </p:sp>
      <p:sp>
        <p:nvSpPr>
          <p:cNvPr id="235" name="p1-l2"/>
          <p:cNvSpPr txBox="1"/>
          <p:nvPr/>
        </p:nvSpPr>
        <p:spPr>
          <a:xfrm>
            <a:off x="3467100" y="22040850"/>
            <a:ext cx="25622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拓展更多渠道，提升品牌曝光</a:t>
            </a:r>
          </a:p>
        </p:txBody>
      </p:sp>
      <p:sp>
        <p:nvSpPr>
          <p:cNvPr id="236" name="p1-l3"/>
          <p:cNvSpPr txBox="1"/>
          <p:nvPr/>
        </p:nvSpPr>
        <p:spPr>
          <a:xfrm>
            <a:off x="3467100" y="22421850"/>
            <a:ext cx="33242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精准定位高价值用户，提升转化与留存</a:t>
            </a:r>
          </a:p>
        </p:txBody>
      </p:sp>
      <p:sp>
        <p:nvSpPr>
          <p:cNvPr id="237" name="p2-panel"/>
          <p:cNvSpPr/>
          <p:nvPr/>
        </p:nvSpPr>
        <p:spPr>
          <a:xfrm>
            <a:off x="12830175" y="20526375"/>
            <a:ext cx="9067800" cy="2124075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1905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p2-ic-bg"/>
          <p:cNvSpPr/>
          <p:nvPr/>
        </p:nvSpPr>
        <p:spPr>
          <a:xfrm>
            <a:off x="12944475" y="20878800"/>
            <a:ext cx="704850" cy="704850"/>
          </a:xfrm>
          <a:prstGeom prst="ellipse">
            <a:avLst/>
          </a:prstGeom>
          <a:noFill/>
          <a:ln w="19050">
            <a:solidFill>
              <a:srgbClr val="1B4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2" name="p2-icon"/>
          <p:cNvGrpSpPr/>
          <p:nvPr/>
        </p:nvGrpSpPr>
        <p:grpSpPr>
          <a:xfrm>
            <a:off x="13151168" y="21085492"/>
            <a:ext cx="297942" cy="301181"/>
            <a:chOff x="13151168" y="21085492"/>
            <a:chExt cx="297942" cy="301181"/>
          </a:xfrm>
        </p:grpSpPr>
        <p:sp>
          <p:nvSpPr>
            <p:cNvPr id="239" name="Oval 238"/>
            <p:cNvSpPr/>
            <p:nvPr/>
          </p:nvSpPr>
          <p:spPr>
            <a:xfrm>
              <a:off x="13151168" y="21085492"/>
              <a:ext cx="291465" cy="291465"/>
            </a:xfrm>
            <a:prstGeom prst="ellipse">
              <a:avLst/>
            </a:prstGeom>
            <a:noFill/>
            <a:ln w="15240">
              <a:solidFill>
                <a:srgbClr val="1B4F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Oval 239"/>
            <p:cNvSpPr/>
            <p:nvPr/>
          </p:nvSpPr>
          <p:spPr>
            <a:xfrm>
              <a:off x="13206222" y="21140547"/>
              <a:ext cx="181356" cy="181356"/>
            </a:xfrm>
            <a:prstGeom prst="ellipse">
              <a:avLst/>
            </a:prstGeom>
            <a:noFill/>
            <a:ln w="15240">
              <a:solidFill>
                <a:srgbClr val="1B4F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Oval 240"/>
            <p:cNvSpPr/>
            <p:nvPr/>
          </p:nvSpPr>
          <p:spPr>
            <a:xfrm>
              <a:off x="13264515" y="21198840"/>
              <a:ext cx="64770" cy="64770"/>
            </a:xfrm>
            <a:prstGeom prst="ellipse">
              <a:avLst/>
            </a:prstGeom>
            <a:solidFill>
              <a:srgbClr val="1B4F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2" name="Connector 241"/>
            <p:cNvCxnSpPr/>
            <p:nvPr/>
          </p:nvCxnSpPr>
          <p:spPr>
            <a:xfrm>
              <a:off x="13326046" y="21260372"/>
              <a:ext cx="87440" cy="87439"/>
            </a:xfrm>
            <a:prstGeom prst="line">
              <a:avLst/>
            </a:prstGeom>
            <a:ln w="25260">
              <a:solidFill>
                <a:srgbClr val="1B4F9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Freeform 242"/>
            <p:cNvSpPr/>
            <p:nvPr/>
          </p:nvSpPr>
          <p:spPr>
            <a:xfrm>
              <a:off x="13377862" y="21318664"/>
              <a:ext cx="71248" cy="68009"/>
            </a:xfrm>
            <a:custGeom>
              <a:avLst/>
              <a:gdLst/>
              <a:ahLst/>
              <a:cxnLst/>
              <a:rect l="l" t="t" r="r" b="b"/>
              <a:pathLst>
                <a:path w="71248" h="68009">
                  <a:moveTo>
                    <a:pt x="0" y="58294"/>
                  </a:moveTo>
                  <a:lnTo>
                    <a:pt x="68009" y="68009"/>
                  </a:lnTo>
                  <a:lnTo>
                    <a:pt x="71248" y="0"/>
                  </a:lnTo>
                  <a:close/>
                </a:path>
              </a:pathLst>
            </a:custGeom>
            <a:solidFill>
              <a:srgbClr val="1B4F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4" name="p2-head"/>
          <p:cNvSpPr txBox="1"/>
          <p:nvPr/>
        </p:nvSpPr>
        <p:spPr>
          <a:xfrm>
            <a:off x="13935075" y="21050250"/>
            <a:ext cx="38481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62" b="1" i="0">
                <a:solidFill>
                  <a:srgbClr val="1B4F9A"/>
                </a:solidFill>
                <a:latin typeface="Microsoft YaHei"/>
                <a:ea typeface="Microsoft YaHei"/>
                <a:cs typeface="Microsoft YaHei"/>
              </a:rPr>
              <a:t>差异化策略（我们的独特价值）</a:t>
            </a:r>
          </a:p>
        </p:txBody>
      </p:sp>
      <p:sp>
        <p:nvSpPr>
          <p:cNvPr id="245" name="p2-l1"/>
          <p:cNvSpPr txBox="1"/>
          <p:nvPr/>
        </p:nvSpPr>
        <p:spPr>
          <a:xfrm>
            <a:off x="13115925" y="21659850"/>
            <a:ext cx="2571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以用户体验为核心的产品设计</a:t>
            </a:r>
          </a:p>
        </p:txBody>
      </p:sp>
      <p:sp>
        <p:nvSpPr>
          <p:cNvPr id="246" name="p2-l2"/>
          <p:cNvSpPr txBox="1"/>
          <p:nvPr/>
        </p:nvSpPr>
        <p:spPr>
          <a:xfrm>
            <a:off x="13115925" y="22040850"/>
            <a:ext cx="2190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更高的性价比与服务质量</a:t>
            </a:r>
          </a:p>
        </p:txBody>
      </p:sp>
      <p:sp>
        <p:nvSpPr>
          <p:cNvPr id="247" name="p2-l3"/>
          <p:cNvSpPr txBox="1"/>
          <p:nvPr/>
        </p:nvSpPr>
        <p:spPr>
          <a:xfrm>
            <a:off x="13115925" y="22421850"/>
            <a:ext cx="23717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全渠道布局，快速触达用户</a:t>
            </a:r>
          </a:p>
        </p:txBody>
      </p:sp>
      <p:sp>
        <p:nvSpPr>
          <p:cNvPr id="248" name="p3-panel"/>
          <p:cNvSpPr/>
          <p:nvPr/>
        </p:nvSpPr>
        <p:spPr>
          <a:xfrm>
            <a:off x="22469475" y="20526375"/>
            <a:ext cx="9067800" cy="2124075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1905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3-ic-bg"/>
          <p:cNvSpPr/>
          <p:nvPr/>
        </p:nvSpPr>
        <p:spPr>
          <a:xfrm>
            <a:off x="22583775" y="20878800"/>
            <a:ext cx="704850" cy="704850"/>
          </a:xfrm>
          <a:prstGeom prst="ellipse">
            <a:avLst/>
          </a:prstGeom>
          <a:noFill/>
          <a:ln w="19050">
            <a:solidFill>
              <a:srgbClr val="1B4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3" name="p3-icon"/>
          <p:cNvGrpSpPr/>
          <p:nvPr/>
        </p:nvGrpSpPr>
        <p:grpSpPr>
          <a:xfrm>
            <a:off x="22796944" y="21091970"/>
            <a:ext cx="278511" cy="278511"/>
            <a:chOff x="22796944" y="21091970"/>
            <a:chExt cx="278511" cy="278511"/>
          </a:xfrm>
        </p:grpSpPr>
        <p:sp>
          <p:nvSpPr>
            <p:cNvPr id="250" name="Oval 249"/>
            <p:cNvSpPr/>
            <p:nvPr/>
          </p:nvSpPr>
          <p:spPr>
            <a:xfrm>
              <a:off x="22796944" y="21091970"/>
              <a:ext cx="278511" cy="278511"/>
            </a:xfrm>
            <a:prstGeom prst="ellipse">
              <a:avLst/>
            </a:prstGeom>
            <a:noFill/>
            <a:ln w="15240">
              <a:solidFill>
                <a:srgbClr val="1B4F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1" name="Connector 250"/>
            <p:cNvCxnSpPr/>
            <p:nvPr/>
          </p:nvCxnSpPr>
          <p:spPr>
            <a:xfrm flipV="1">
              <a:off x="22936200" y="21150262"/>
              <a:ext cx="0" cy="80963"/>
            </a:xfrm>
            <a:prstGeom prst="line">
              <a:avLst/>
            </a:prstGeom>
            <a:ln w="29470">
              <a:solidFill>
                <a:srgbClr val="1B4F9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ctor 251"/>
            <p:cNvCxnSpPr/>
            <p:nvPr/>
          </p:nvCxnSpPr>
          <p:spPr>
            <a:xfrm>
              <a:off x="22936200" y="21231225"/>
              <a:ext cx="58293" cy="19431"/>
            </a:xfrm>
            <a:prstGeom prst="line">
              <a:avLst/>
            </a:prstGeom>
            <a:ln w="29470">
              <a:solidFill>
                <a:srgbClr val="1B4F9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3" name="p3-head"/>
          <p:cNvSpPr txBox="1"/>
          <p:nvPr/>
        </p:nvSpPr>
        <p:spPr>
          <a:xfrm>
            <a:off x="23574375" y="21050250"/>
            <a:ext cx="3038475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62" b="1" i="0">
                <a:solidFill>
                  <a:srgbClr val="1B4F9A"/>
                </a:solidFill>
                <a:latin typeface="Microsoft YaHei"/>
                <a:ea typeface="Microsoft YaHei"/>
                <a:cs typeface="Microsoft YaHei"/>
              </a:rPr>
              <a:t>下一步动作（行动计划）</a:t>
            </a:r>
          </a:p>
        </p:txBody>
      </p:sp>
      <p:sp>
        <p:nvSpPr>
          <p:cNvPr id="254" name="p3-l1"/>
          <p:cNvSpPr txBox="1"/>
          <p:nvPr/>
        </p:nvSpPr>
        <p:spPr>
          <a:xfrm>
            <a:off x="22755225" y="21659850"/>
            <a:ext cx="28289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1. 优化核心功能，提升产品体验</a:t>
            </a:r>
          </a:p>
        </p:txBody>
      </p:sp>
      <p:sp>
        <p:nvSpPr>
          <p:cNvPr id="255" name="p3-l2"/>
          <p:cNvSpPr txBox="1"/>
          <p:nvPr/>
        </p:nvSpPr>
        <p:spPr>
          <a:xfrm>
            <a:off x="22755225" y="22040850"/>
            <a:ext cx="28289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2. 加强品牌传播，提升市场认知</a:t>
            </a:r>
          </a:p>
        </p:txBody>
      </p:sp>
      <p:sp>
        <p:nvSpPr>
          <p:cNvPr id="256" name="p3-l3"/>
          <p:cNvSpPr txBox="1"/>
          <p:nvPr/>
        </p:nvSpPr>
        <p:spPr>
          <a:xfrm>
            <a:off x="22755225" y="22421850"/>
            <a:ext cx="282892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A66"/>
                </a:solidFill>
                <a:latin typeface="Microsoft YaHei"/>
                <a:ea typeface="Microsoft YaHei"/>
                <a:cs typeface="Microsoft YaHei"/>
              </a:rPr>
              <a:t>3. 拓展重点渠道，扩大用户规模</a:t>
            </a:r>
          </a:p>
        </p:txBody>
      </p:sp>
      <p:sp>
        <p:nvSpPr>
          <p:cNvPr id="257" name="scen-row"/>
          <p:cNvSpPr/>
          <p:nvPr/>
        </p:nvSpPr>
        <p:spPr>
          <a:xfrm>
            <a:off x="1133475" y="22869525"/>
            <a:ext cx="30889575" cy="1390650"/>
          </a:xfrm>
          <a:prstGeom prst="roundRect">
            <a:avLst>
              <a:gd name="adj" fmla="val 6849"/>
            </a:avLst>
          </a:prstGeom>
          <a:solidFill>
            <a:srgbClr val="F8FBFF"/>
          </a:solidFill>
          <a:ln w="1905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cen-block"/>
          <p:cNvSpPr/>
          <p:nvPr/>
        </p:nvSpPr>
        <p:spPr>
          <a:xfrm>
            <a:off x="1133475" y="22869525"/>
            <a:ext cx="2000250" cy="1390650"/>
          </a:xfrm>
          <a:prstGeom prst="roundRect">
            <a:avLst>
              <a:gd name="adj" fmla="val 6849"/>
            </a:avLst>
          </a:prstGeom>
          <a:gradFill rotWithShape="1">
            <a:gsLst>
              <a:gs pos="0">
                <a:srgbClr val="125BDC"/>
              </a:gs>
              <a:gs pos="100000">
                <a:srgbClr val="2A6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cen-block-t"/>
          <p:cNvSpPr txBox="1"/>
          <p:nvPr/>
        </p:nvSpPr>
        <p:spPr>
          <a:xfrm>
            <a:off x="1295400" y="23431500"/>
            <a:ext cx="17145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260" name="scen1-c"/>
          <p:cNvSpPr/>
          <p:nvPr/>
        </p:nvSpPr>
        <p:spPr>
          <a:xfrm>
            <a:off x="3257550" y="23126700"/>
            <a:ext cx="857250" cy="8572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4" name="scen1-ic"/>
          <p:cNvGrpSpPr/>
          <p:nvPr/>
        </p:nvGrpSpPr>
        <p:grpSpPr>
          <a:xfrm>
            <a:off x="3537585" y="23437215"/>
            <a:ext cx="297180" cy="205740"/>
            <a:chOff x="3537585" y="23437215"/>
            <a:chExt cx="297180" cy="205740"/>
          </a:xfrm>
        </p:grpSpPr>
        <p:sp>
          <p:nvSpPr>
            <p:cNvPr id="261" name="Rounded Rectangle 260"/>
            <p:cNvSpPr/>
            <p:nvPr/>
          </p:nvSpPr>
          <p:spPr>
            <a:xfrm>
              <a:off x="3537585" y="23437215"/>
              <a:ext cx="297180" cy="205740"/>
            </a:xfrm>
            <a:prstGeom prst="roundRect">
              <a:avLst>
                <a:gd name="adj" fmla="val 16666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2" name="Connector 261"/>
            <p:cNvCxnSpPr/>
            <p:nvPr/>
          </p:nvCxnSpPr>
          <p:spPr>
            <a:xfrm>
              <a:off x="3609975" y="23509605"/>
              <a:ext cx="76200" cy="0"/>
            </a:xfrm>
            <a:prstGeom prst="line">
              <a:avLst/>
            </a:prstGeom>
            <a:ln w="29718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ctor 262"/>
            <p:cNvCxnSpPr/>
            <p:nvPr/>
          </p:nvCxnSpPr>
          <p:spPr>
            <a:xfrm>
              <a:off x="3609975" y="23578185"/>
              <a:ext cx="137160" cy="0"/>
            </a:xfrm>
            <a:prstGeom prst="line">
              <a:avLst/>
            </a:prstGeom>
            <a:ln w="29718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" name="scen1-label"/>
          <p:cNvSpPr txBox="1"/>
          <p:nvPr/>
        </p:nvSpPr>
        <p:spPr>
          <a:xfrm>
            <a:off x="4352925" y="23164800"/>
            <a:ext cx="115252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产品汇报</a:t>
            </a:r>
          </a:p>
        </p:txBody>
      </p:sp>
      <p:sp>
        <p:nvSpPr>
          <p:cNvPr id="265" name="scen1-sub"/>
          <p:cNvSpPr txBox="1"/>
          <p:nvPr/>
        </p:nvSpPr>
        <p:spPr>
          <a:xfrm>
            <a:off x="4352925" y="23707725"/>
            <a:ext cx="2190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用于产品评审与汇报展示</a:t>
            </a:r>
          </a:p>
        </p:txBody>
      </p:sp>
      <p:sp>
        <p:nvSpPr>
          <p:cNvPr id="266" name="scen2-c"/>
          <p:cNvSpPr/>
          <p:nvPr/>
        </p:nvSpPr>
        <p:spPr>
          <a:xfrm>
            <a:off x="8848725" y="23126700"/>
            <a:ext cx="857250" cy="8572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5" name="scen2-ic"/>
          <p:cNvGrpSpPr/>
          <p:nvPr/>
        </p:nvGrpSpPr>
        <p:grpSpPr>
          <a:xfrm>
            <a:off x="9159240" y="23425785"/>
            <a:ext cx="236220" cy="251460"/>
            <a:chOff x="9159240" y="23425785"/>
            <a:chExt cx="236220" cy="251460"/>
          </a:xfrm>
        </p:grpSpPr>
        <p:sp>
          <p:nvSpPr>
            <p:cNvPr id="267" name="Rounded Rectangle 266"/>
            <p:cNvSpPr/>
            <p:nvPr/>
          </p:nvSpPr>
          <p:spPr>
            <a:xfrm>
              <a:off x="9159240" y="23566755"/>
              <a:ext cx="68580" cy="110490"/>
            </a:xfrm>
            <a:prstGeom prst="roundRect">
              <a:avLst>
                <a:gd name="adj" fmla="val 33333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9243060" y="23488650"/>
              <a:ext cx="68580" cy="188595"/>
            </a:xfrm>
            <a:prstGeom prst="roundRect">
              <a:avLst>
                <a:gd name="adj" fmla="val 33333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Rounded Rectangle 268"/>
            <p:cNvSpPr/>
            <p:nvPr/>
          </p:nvSpPr>
          <p:spPr>
            <a:xfrm>
              <a:off x="9326880" y="23425785"/>
              <a:ext cx="68580" cy="251460"/>
            </a:xfrm>
            <a:prstGeom prst="roundRect">
              <a:avLst>
                <a:gd name="adj" fmla="val 33333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0" name="scen2-label"/>
          <p:cNvSpPr txBox="1"/>
          <p:nvPr/>
        </p:nvSpPr>
        <p:spPr>
          <a:xfrm>
            <a:off x="9944100" y="23164800"/>
            <a:ext cx="115252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271" name="scen2-sub"/>
          <p:cNvSpPr txBox="1"/>
          <p:nvPr/>
        </p:nvSpPr>
        <p:spPr>
          <a:xfrm>
            <a:off x="9944100" y="23707725"/>
            <a:ext cx="2190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洞察市场格局与竞争态势</a:t>
            </a:r>
          </a:p>
        </p:txBody>
      </p:sp>
      <p:sp>
        <p:nvSpPr>
          <p:cNvPr id="272" name="scen3-c"/>
          <p:cNvSpPr/>
          <p:nvPr/>
        </p:nvSpPr>
        <p:spPr>
          <a:xfrm>
            <a:off x="14439900" y="23126700"/>
            <a:ext cx="857250" cy="8572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6" name="scen3-ic"/>
          <p:cNvGrpSpPr/>
          <p:nvPr/>
        </p:nvGrpSpPr>
        <p:grpSpPr>
          <a:xfrm>
            <a:off x="14719935" y="23406735"/>
            <a:ext cx="300990" cy="300990"/>
            <a:chOff x="14719935" y="23406735"/>
            <a:chExt cx="300990" cy="300990"/>
          </a:xfrm>
        </p:grpSpPr>
        <p:sp>
          <p:nvSpPr>
            <p:cNvPr id="273" name="Oval 272"/>
            <p:cNvSpPr/>
            <p:nvPr/>
          </p:nvSpPr>
          <p:spPr>
            <a:xfrm>
              <a:off x="14719935" y="23406735"/>
              <a:ext cx="236220" cy="236220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4" name="Connector 273"/>
            <p:cNvCxnSpPr/>
            <p:nvPr/>
          </p:nvCxnSpPr>
          <p:spPr>
            <a:xfrm>
              <a:off x="14914245" y="23601045"/>
              <a:ext cx="106680" cy="106680"/>
            </a:xfrm>
            <a:prstGeom prst="line">
              <a:avLst/>
            </a:prstGeom>
            <a:ln w="39624">
              <a:solidFill>
                <a:srgbClr val="1F6BD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5" name="scen3-label"/>
          <p:cNvSpPr txBox="1"/>
          <p:nvPr/>
        </p:nvSpPr>
        <p:spPr>
          <a:xfrm>
            <a:off x="15535275" y="23164800"/>
            <a:ext cx="115252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竞品研究</a:t>
            </a:r>
          </a:p>
        </p:txBody>
      </p:sp>
      <p:sp>
        <p:nvSpPr>
          <p:cNvPr id="276" name="scen3-sub"/>
          <p:cNvSpPr txBox="1"/>
          <p:nvPr/>
        </p:nvSpPr>
        <p:spPr>
          <a:xfrm>
            <a:off x="15535275" y="23707725"/>
            <a:ext cx="1809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系统对比竞品优劣势</a:t>
            </a:r>
          </a:p>
        </p:txBody>
      </p:sp>
      <p:sp>
        <p:nvSpPr>
          <p:cNvPr id="277" name="scen4-c"/>
          <p:cNvSpPr/>
          <p:nvPr/>
        </p:nvSpPr>
        <p:spPr>
          <a:xfrm>
            <a:off x="20031075" y="23126700"/>
            <a:ext cx="857250" cy="8572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7" name="scen4-ic"/>
          <p:cNvGrpSpPr/>
          <p:nvPr/>
        </p:nvGrpSpPr>
        <p:grpSpPr>
          <a:xfrm>
            <a:off x="20288250" y="23383875"/>
            <a:ext cx="350520" cy="354330"/>
            <a:chOff x="20288250" y="23383875"/>
            <a:chExt cx="350520" cy="354330"/>
          </a:xfrm>
        </p:grpSpPr>
        <p:sp>
          <p:nvSpPr>
            <p:cNvPr id="278" name="Oval 277"/>
            <p:cNvSpPr/>
            <p:nvPr/>
          </p:nvSpPr>
          <p:spPr>
            <a:xfrm>
              <a:off x="20288250" y="23383875"/>
              <a:ext cx="342900" cy="342900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Oval 278"/>
            <p:cNvSpPr/>
            <p:nvPr/>
          </p:nvSpPr>
          <p:spPr>
            <a:xfrm>
              <a:off x="20353020" y="23448645"/>
              <a:ext cx="213360" cy="213360"/>
            </a:xfrm>
            <a:prstGeom prst="ellipse">
              <a:avLst/>
            </a:prstGeom>
            <a:noFill/>
            <a:ln w="15240">
              <a:solidFill>
                <a:srgbClr val="1F6B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Oval 279"/>
            <p:cNvSpPr/>
            <p:nvPr/>
          </p:nvSpPr>
          <p:spPr>
            <a:xfrm>
              <a:off x="20421600" y="23517225"/>
              <a:ext cx="76200" cy="76200"/>
            </a:xfrm>
            <a:prstGeom prst="ellipse">
              <a:avLst/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1" name="Connector 280"/>
            <p:cNvCxnSpPr/>
            <p:nvPr/>
          </p:nvCxnSpPr>
          <p:spPr>
            <a:xfrm>
              <a:off x="20493990" y="23589615"/>
              <a:ext cx="102870" cy="102870"/>
            </a:xfrm>
            <a:prstGeom prst="line">
              <a:avLst/>
            </a:prstGeom>
            <a:ln w="29718">
              <a:solidFill>
                <a:srgbClr val="1F6BD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Freeform 281"/>
            <p:cNvSpPr/>
            <p:nvPr/>
          </p:nvSpPr>
          <p:spPr>
            <a:xfrm>
              <a:off x="20554950" y="23658195"/>
              <a:ext cx="83820" cy="80010"/>
            </a:xfrm>
            <a:custGeom>
              <a:avLst/>
              <a:gdLst/>
              <a:ahLst/>
              <a:cxnLst/>
              <a:rect l="l" t="t" r="r" b="b"/>
              <a:pathLst>
                <a:path w="83820" h="80010">
                  <a:moveTo>
                    <a:pt x="0" y="68580"/>
                  </a:moveTo>
                  <a:lnTo>
                    <a:pt x="80010" y="80010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3" name="scen4-label"/>
          <p:cNvSpPr txBox="1"/>
          <p:nvPr/>
        </p:nvSpPr>
        <p:spPr>
          <a:xfrm>
            <a:off x="21126450" y="23164800"/>
            <a:ext cx="115252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战略制定</a:t>
            </a:r>
          </a:p>
        </p:txBody>
      </p:sp>
      <p:sp>
        <p:nvSpPr>
          <p:cNvPr id="284" name="scen4-sub"/>
          <p:cNvSpPr txBox="1"/>
          <p:nvPr/>
        </p:nvSpPr>
        <p:spPr>
          <a:xfrm>
            <a:off x="21126450" y="23707725"/>
            <a:ext cx="1809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制定产品策略与规划</a:t>
            </a:r>
          </a:p>
        </p:txBody>
      </p:sp>
      <p:sp>
        <p:nvSpPr>
          <p:cNvPr id="285" name="scen5-c"/>
          <p:cNvSpPr/>
          <p:nvPr/>
        </p:nvSpPr>
        <p:spPr>
          <a:xfrm>
            <a:off x="25622250" y="23126700"/>
            <a:ext cx="857250" cy="857250"/>
          </a:xfrm>
          <a:prstGeom prst="ellipse">
            <a:avLst/>
          </a:prstGeom>
          <a:noFill/>
          <a:ln w="19050">
            <a:solidFill>
              <a:srgbClr val="1F6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8" name="scen5-ic"/>
          <p:cNvGrpSpPr/>
          <p:nvPr/>
        </p:nvGrpSpPr>
        <p:grpSpPr>
          <a:xfrm>
            <a:off x="25883235" y="23437215"/>
            <a:ext cx="335280" cy="251460"/>
            <a:chOff x="25883235" y="23437215"/>
            <a:chExt cx="335280" cy="251460"/>
          </a:xfrm>
        </p:grpSpPr>
        <p:sp>
          <p:nvSpPr>
            <p:cNvPr id="286" name="Rounded Rectangle 285"/>
            <p:cNvSpPr/>
            <p:nvPr/>
          </p:nvSpPr>
          <p:spPr>
            <a:xfrm>
              <a:off x="25883235" y="23488650"/>
              <a:ext cx="335280" cy="200025"/>
            </a:xfrm>
            <a:prstGeom prst="roundRect">
              <a:avLst>
                <a:gd name="adj" fmla="val 20952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25989915" y="23437215"/>
              <a:ext cx="121920" cy="53340"/>
            </a:xfrm>
            <a:prstGeom prst="roundRect">
              <a:avLst>
                <a:gd name="adj" fmla="val 35714"/>
              </a:avLst>
            </a:prstGeom>
            <a:solidFill>
              <a:srgbClr val="1F6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8" name="scen5-label"/>
          <p:cNvSpPr txBox="1"/>
          <p:nvPr/>
        </p:nvSpPr>
        <p:spPr>
          <a:xfrm>
            <a:off x="26717625" y="23164800"/>
            <a:ext cx="9144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1" i="0">
                <a:solidFill>
                  <a:srgbClr val="12325C"/>
                </a:solidFill>
                <a:latin typeface="Microsoft YaHei"/>
                <a:ea typeface="Microsoft YaHei"/>
                <a:cs typeface="Microsoft YaHei"/>
              </a:rPr>
              <a:t>创业BP</a:t>
            </a:r>
          </a:p>
        </p:txBody>
      </p:sp>
      <p:sp>
        <p:nvSpPr>
          <p:cNvPr id="289" name="scen5-sub"/>
          <p:cNvSpPr txBox="1"/>
          <p:nvPr/>
        </p:nvSpPr>
        <p:spPr>
          <a:xfrm>
            <a:off x="26717625" y="23707725"/>
            <a:ext cx="219075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06288"/>
                </a:solidFill>
                <a:latin typeface="Microsoft YaHei"/>
                <a:ea typeface="Microsoft YaHei"/>
                <a:cs typeface="Microsoft YaHei"/>
              </a:rPr>
              <a:t>用于商业计划与融资路演</a:t>
            </a:r>
          </a:p>
        </p:txBody>
      </p:sp>
      <p:sp>
        <p:nvSpPr>
          <p:cNvPr id="290" name="footer"/>
          <p:cNvSpPr/>
          <p:nvPr/>
        </p:nvSpPr>
        <p:spPr>
          <a:xfrm>
            <a:off x="1133475" y="24288750"/>
            <a:ext cx="30870525" cy="438150"/>
          </a:xfrm>
          <a:prstGeom prst="roundRect">
            <a:avLst>
              <a:gd name="adj" fmla="val 17391"/>
            </a:avLst>
          </a:prstGeom>
          <a:solidFill>
            <a:srgbClr val="0E5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ooter-left"/>
          <p:cNvSpPr txBox="1"/>
          <p:nvPr/>
        </p:nvSpPr>
        <p:spPr>
          <a:xfrm>
            <a:off x="1390650" y="24269700"/>
            <a:ext cx="79438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使用提示：请根据实际情况替换各模块内容，可增删维度，适配不同产品及项目需求。</a:t>
            </a:r>
          </a:p>
        </p:txBody>
      </p:sp>
      <p:sp>
        <p:nvSpPr>
          <p:cNvPr id="292" name="footer-right"/>
          <p:cNvSpPr txBox="1"/>
          <p:nvPr/>
        </p:nvSpPr>
        <p:spPr>
          <a:xfrm>
            <a:off x="24765000" y="24269700"/>
            <a:ext cx="723900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可编辑 · 可替换 · 可复用 · 易调整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