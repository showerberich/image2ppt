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5031700" cy="2346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25031700" cy="2346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ge-bg"/>
          <p:cNvSpPr/>
          <p:nvPr/>
        </p:nvSpPr>
        <p:spPr>
          <a:xfrm>
            <a:off x="0" y="0"/>
            <a:ext cx="25031700" cy="2346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ard-bg"/>
          <p:cNvSpPr/>
          <p:nvPr/>
        </p:nvSpPr>
        <p:spPr>
          <a:xfrm>
            <a:off x="1066800" y="1057275"/>
            <a:ext cx="23869650" cy="21364575"/>
          </a:xfrm>
          <a:prstGeom prst="roundRect">
            <a:avLst>
              <a:gd name="adj" fmla="val 1159"/>
            </a:avLst>
          </a:prstGeom>
          <a:solidFill>
            <a:srgbClr val="D4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th-ribbon"/>
          <p:cNvSpPr/>
          <p:nvPr/>
        </p:nvSpPr>
        <p:spPr>
          <a:xfrm rot="18891600">
            <a:off x="416492" y="11782425"/>
            <a:ext cx="21741267" cy="7429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clouds" descr="_photo_clou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19507200"/>
            <a:ext cx="2505075" cy="2019300"/>
          </a:xfrm>
          <a:prstGeom prst="rect">
            <a:avLst/>
          </a:prstGeom>
          <a:effectLst/>
        </p:spPr>
      </p:pic>
      <p:pic>
        <p:nvPicPr>
          <p:cNvPr id="7" name="rocket" descr="_photo_rock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73750" y="1809750"/>
            <a:ext cx="3067050" cy="3409950"/>
          </a:xfrm>
          <a:prstGeom prst="rect">
            <a:avLst/>
          </a:prstGeom>
          <a:effectLst/>
        </p:spPr>
      </p:pic>
      <p:sp>
        <p:nvSpPr>
          <p:cNvPr id="8" name="title"/>
          <p:cNvSpPr txBox="1"/>
          <p:nvPr/>
        </p:nvSpPr>
        <p:spPr>
          <a:xfrm>
            <a:off x="8324850" y="2257425"/>
            <a:ext cx="8191500" cy="104775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900" b="1" i="0">
                <a:solidFill>
                  <a:srgbClr val="557B92"/>
                </a:solidFill>
                <a:latin typeface="Microsoft YaHei"/>
                <a:ea typeface="Microsoft YaHei"/>
                <a:cs typeface="Microsoft YaHei"/>
              </a:rPr>
              <a:t>年度目标拆解流程图</a:t>
            </a:r>
          </a:p>
        </p:txBody>
      </p:sp>
      <p:cxnSp>
        <p:nvCxnSpPr>
          <p:cNvPr id="9" name="leader-1"/>
          <p:cNvCxnSpPr/>
          <p:nvPr/>
        </p:nvCxnSpPr>
        <p:spPr>
          <a:xfrm>
            <a:off x="3724275" y="17125950"/>
            <a:ext cx="695325" cy="1847850"/>
          </a:xfrm>
          <a:prstGeom prst="line">
            <a:avLst/>
          </a:prstGeom>
          <a:ln w="8572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leader-2"/>
          <p:cNvCxnSpPr/>
          <p:nvPr/>
        </p:nvCxnSpPr>
        <p:spPr>
          <a:xfrm>
            <a:off x="6581775" y="14201775"/>
            <a:ext cx="733425" cy="1876425"/>
          </a:xfrm>
          <a:prstGeom prst="line">
            <a:avLst/>
          </a:prstGeom>
          <a:ln w="8572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leader-3"/>
          <p:cNvCxnSpPr/>
          <p:nvPr/>
        </p:nvCxnSpPr>
        <p:spPr>
          <a:xfrm>
            <a:off x="9420225" y="11291888"/>
            <a:ext cx="790575" cy="1966912"/>
          </a:xfrm>
          <a:prstGeom prst="line">
            <a:avLst/>
          </a:prstGeom>
          <a:ln w="8572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leader-4"/>
          <p:cNvCxnSpPr/>
          <p:nvPr/>
        </p:nvCxnSpPr>
        <p:spPr>
          <a:xfrm>
            <a:off x="12258675" y="8367712"/>
            <a:ext cx="847725" cy="1995488"/>
          </a:xfrm>
          <a:prstGeom prst="line">
            <a:avLst/>
          </a:prstGeom>
          <a:ln w="8572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leader-5"/>
          <p:cNvCxnSpPr/>
          <p:nvPr/>
        </p:nvCxnSpPr>
        <p:spPr>
          <a:xfrm>
            <a:off x="15106650" y="5462588"/>
            <a:ext cx="819150" cy="2005012"/>
          </a:xfrm>
          <a:prstGeom prst="line">
            <a:avLst/>
          </a:prstGeom>
          <a:ln w="8572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halo-1"/>
          <p:cNvSpPr/>
          <p:nvPr/>
        </p:nvSpPr>
        <p:spPr>
          <a:xfrm>
            <a:off x="3267075" y="17821275"/>
            <a:ext cx="2305050" cy="23050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ircle-1"/>
          <p:cNvSpPr/>
          <p:nvPr/>
        </p:nvSpPr>
        <p:spPr>
          <a:xfrm>
            <a:off x="3429000" y="17983200"/>
            <a:ext cx="1981200" cy="1981200"/>
          </a:xfrm>
          <a:prstGeom prst="ellipse">
            <a:avLst/>
          </a:prstGeom>
          <a:solidFill>
            <a:srgbClr val="5FE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icon-1-0"/>
          <p:cNvSpPr/>
          <p:nvPr/>
        </p:nvSpPr>
        <p:spPr>
          <a:xfrm>
            <a:off x="4105275" y="18659475"/>
            <a:ext cx="628650" cy="628650"/>
          </a:xfrm>
          <a:prstGeom prst="ellipse">
            <a:avLst/>
          </a:prstGeom>
          <a:noFill/>
          <a:ln w="762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icon-1-1"/>
          <p:cNvSpPr/>
          <p:nvPr/>
        </p:nvSpPr>
        <p:spPr>
          <a:xfrm>
            <a:off x="4333875" y="18888075"/>
            <a:ext cx="171450" cy="1714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icon-1-2"/>
          <p:cNvCxnSpPr/>
          <p:nvPr/>
        </p:nvCxnSpPr>
        <p:spPr>
          <a:xfrm>
            <a:off x="4800600" y="18973800"/>
            <a:ext cx="123825" cy="0"/>
          </a:xfrm>
          <a:prstGeom prst="line">
            <a:avLst/>
          </a:prstGeom>
          <a:ln w="7620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icon-1-3"/>
          <p:cNvCxnSpPr/>
          <p:nvPr/>
        </p:nvCxnSpPr>
        <p:spPr>
          <a:xfrm flipV="1">
            <a:off x="4933950" y="18897600"/>
            <a:ext cx="0" cy="152400"/>
          </a:xfrm>
          <a:prstGeom prst="line">
            <a:avLst/>
          </a:prstGeom>
          <a:ln w="7620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icon-1-4"/>
          <p:cNvCxnSpPr/>
          <p:nvPr/>
        </p:nvCxnSpPr>
        <p:spPr>
          <a:xfrm>
            <a:off x="4419600" y="19354800"/>
            <a:ext cx="0" cy="123825"/>
          </a:xfrm>
          <a:prstGeom prst="line">
            <a:avLst/>
          </a:prstGeom>
          <a:ln w="7620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icon-1-5"/>
          <p:cNvCxnSpPr/>
          <p:nvPr/>
        </p:nvCxnSpPr>
        <p:spPr>
          <a:xfrm>
            <a:off x="4343400" y="19488150"/>
            <a:ext cx="152400" cy="0"/>
          </a:xfrm>
          <a:prstGeom prst="line">
            <a:avLst/>
          </a:prstGeom>
          <a:ln w="7620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icon-1-6"/>
          <p:cNvCxnSpPr/>
          <p:nvPr/>
        </p:nvCxnSpPr>
        <p:spPr>
          <a:xfrm flipH="1">
            <a:off x="3914775" y="18973800"/>
            <a:ext cx="123825" cy="0"/>
          </a:xfrm>
          <a:prstGeom prst="line">
            <a:avLst/>
          </a:prstGeom>
          <a:ln w="7620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icon-1-7"/>
          <p:cNvCxnSpPr/>
          <p:nvPr/>
        </p:nvCxnSpPr>
        <p:spPr>
          <a:xfrm>
            <a:off x="3905250" y="18897600"/>
            <a:ext cx="0" cy="152400"/>
          </a:xfrm>
          <a:prstGeom prst="line">
            <a:avLst/>
          </a:prstGeom>
          <a:ln w="7620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icon-1-8"/>
          <p:cNvCxnSpPr/>
          <p:nvPr/>
        </p:nvCxnSpPr>
        <p:spPr>
          <a:xfrm flipV="1">
            <a:off x="4419600" y="18468975"/>
            <a:ext cx="0" cy="123825"/>
          </a:xfrm>
          <a:prstGeom prst="line">
            <a:avLst/>
          </a:prstGeom>
          <a:ln w="7620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icon-1-9"/>
          <p:cNvCxnSpPr/>
          <p:nvPr/>
        </p:nvCxnSpPr>
        <p:spPr>
          <a:xfrm flipH="1">
            <a:off x="4343400" y="18459450"/>
            <a:ext cx="152400" cy="0"/>
          </a:xfrm>
          <a:prstGeom prst="line">
            <a:avLst/>
          </a:prstGeom>
          <a:ln w="7620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num-1"/>
          <p:cNvSpPr/>
          <p:nvPr/>
        </p:nvSpPr>
        <p:spPr>
          <a:xfrm>
            <a:off x="5619750" y="18145125"/>
            <a:ext cx="1009650" cy="1809750"/>
          </a:xfrm>
          <a:custGeom>
            <a:avLst/>
            <a:gdLst/>
            <a:ahLst/>
            <a:cxnLst/>
            <a:rect l="l" t="t" r="r" b="b"/>
            <a:pathLst>
              <a:path w="1009650" h="1809750">
                <a:moveTo>
                  <a:pt x="361950" y="0"/>
                </a:moveTo>
                <a:lnTo>
                  <a:pt x="1009650" y="0"/>
                </a:lnTo>
                <a:lnTo>
                  <a:pt x="1009650" y="1809750"/>
                </a:lnTo>
                <a:lnTo>
                  <a:pt x="361950" y="1809750"/>
                </a:lnTo>
                <a:lnTo>
                  <a:pt x="0" y="904875"/>
                </a:lnTo>
                <a:close/>
              </a:path>
            </a:pathLst>
          </a:custGeom>
          <a:solidFill>
            <a:srgbClr val="5FE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numtext-1"/>
          <p:cNvSpPr txBox="1"/>
          <p:nvPr/>
        </p:nvSpPr>
        <p:spPr>
          <a:xfrm>
            <a:off x="5981700" y="18630900"/>
            <a:ext cx="647700" cy="838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4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8" name="pill-1"/>
          <p:cNvSpPr/>
          <p:nvPr/>
        </p:nvSpPr>
        <p:spPr>
          <a:xfrm>
            <a:off x="1885950" y="16716375"/>
            <a:ext cx="1895475" cy="8191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pilltext-1"/>
          <p:cNvSpPr txBox="1"/>
          <p:nvPr/>
        </p:nvSpPr>
        <p:spPr>
          <a:xfrm>
            <a:off x="1885950" y="16716375"/>
            <a:ext cx="1895475" cy="81915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0" i="0">
                <a:solidFill>
                  <a:srgbClr val="131313"/>
                </a:solidFill>
                <a:latin typeface="Microsoft YaHei"/>
                <a:ea typeface="Microsoft YaHei"/>
                <a:cs typeface="Microsoft YaHei"/>
              </a:rPr>
              <a:t>Step 1</a:t>
            </a:r>
          </a:p>
        </p:txBody>
      </p:sp>
      <p:sp>
        <p:nvSpPr>
          <p:cNvPr id="30" name="panel-1"/>
          <p:cNvSpPr/>
          <p:nvPr/>
        </p:nvSpPr>
        <p:spPr>
          <a:xfrm>
            <a:off x="6781800" y="18135600"/>
            <a:ext cx="4381500" cy="1866900"/>
          </a:xfrm>
          <a:prstGeom prst="roundRect">
            <a:avLst>
              <a:gd name="adj" fmla="val 204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ptitle-1"/>
          <p:cNvSpPr txBox="1"/>
          <p:nvPr/>
        </p:nvSpPr>
        <p:spPr>
          <a:xfrm>
            <a:off x="6781800" y="18364200"/>
            <a:ext cx="4381500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5EE4C8"/>
                </a:solidFill>
                <a:latin typeface="Microsoft YaHei"/>
                <a:ea typeface="Microsoft YaHei"/>
                <a:cs typeface="Microsoft YaHei"/>
              </a:rPr>
              <a:t>目标设定</a:t>
            </a:r>
          </a:p>
        </p:txBody>
      </p:sp>
      <p:sp>
        <p:nvSpPr>
          <p:cNvPr id="32" name="pbody-1-1"/>
          <p:cNvSpPr txBox="1"/>
          <p:nvPr/>
        </p:nvSpPr>
        <p:spPr>
          <a:xfrm>
            <a:off x="6781800" y="18888075"/>
            <a:ext cx="4381500" cy="4191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0" i="0">
                <a:solidFill>
                  <a:srgbClr val="131313"/>
                </a:solidFill>
                <a:latin typeface="Microsoft YaHei"/>
                <a:ea typeface="Microsoft YaHei"/>
                <a:cs typeface="Microsoft YaHei"/>
              </a:rPr>
              <a:t>设定具体、可衡量、可实</a:t>
            </a:r>
          </a:p>
        </p:txBody>
      </p:sp>
      <p:sp>
        <p:nvSpPr>
          <p:cNvPr id="33" name="pbody-1-2"/>
          <p:cNvSpPr txBox="1"/>
          <p:nvPr/>
        </p:nvSpPr>
        <p:spPr>
          <a:xfrm>
            <a:off x="6781800" y="19335750"/>
            <a:ext cx="4381500" cy="4191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0" i="0">
                <a:solidFill>
                  <a:srgbClr val="131313"/>
                </a:solidFill>
                <a:latin typeface="Microsoft YaHei"/>
                <a:ea typeface="Microsoft YaHei"/>
                <a:cs typeface="Microsoft YaHei"/>
              </a:rPr>
              <a:t>现、有时限年度总目标</a:t>
            </a:r>
          </a:p>
        </p:txBody>
      </p:sp>
      <p:sp>
        <p:nvSpPr>
          <p:cNvPr id="34" name="halo-2"/>
          <p:cNvSpPr/>
          <p:nvPr/>
        </p:nvSpPr>
        <p:spPr>
          <a:xfrm>
            <a:off x="6162675" y="14925675"/>
            <a:ext cx="2305050" cy="23050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circle-2"/>
          <p:cNvSpPr/>
          <p:nvPr/>
        </p:nvSpPr>
        <p:spPr>
          <a:xfrm>
            <a:off x="6324600" y="15087600"/>
            <a:ext cx="1981200" cy="1981200"/>
          </a:xfrm>
          <a:prstGeom prst="ellipse">
            <a:avLst/>
          </a:prstGeom>
          <a:solidFill>
            <a:srgbClr val="FD9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icon-2-0"/>
          <p:cNvSpPr/>
          <p:nvPr/>
        </p:nvSpPr>
        <p:spPr>
          <a:xfrm>
            <a:off x="6934200" y="15697200"/>
            <a:ext cx="762000" cy="514350"/>
          </a:xfrm>
          <a:prstGeom prst="roundRect">
            <a:avLst>
              <a:gd name="adj" fmla="val 16666"/>
            </a:avLst>
          </a:prstGeom>
          <a:noFill/>
          <a:ln w="762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" name="icon-2-1"/>
          <p:cNvCxnSpPr/>
          <p:nvPr/>
        </p:nvCxnSpPr>
        <p:spPr>
          <a:xfrm>
            <a:off x="7315200" y="16221075"/>
            <a:ext cx="0" cy="114300"/>
          </a:xfrm>
          <a:prstGeom prst="line">
            <a:avLst/>
          </a:prstGeom>
          <a:ln w="7620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icon-2-2"/>
          <p:cNvCxnSpPr/>
          <p:nvPr/>
        </p:nvCxnSpPr>
        <p:spPr>
          <a:xfrm>
            <a:off x="7143750" y="16363950"/>
            <a:ext cx="342900" cy="0"/>
          </a:xfrm>
          <a:prstGeom prst="line">
            <a:avLst/>
          </a:prstGeom>
          <a:ln w="7620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icon-2-3"/>
          <p:cNvSpPr/>
          <p:nvPr/>
        </p:nvSpPr>
        <p:spPr>
          <a:xfrm>
            <a:off x="7177193" y="15991354"/>
            <a:ext cx="272266" cy="105760"/>
          </a:xfrm>
          <a:custGeom>
            <a:avLst/>
            <a:gdLst/>
            <a:ahLst/>
            <a:cxnLst/>
            <a:rect l="l" t="t" r="r" b="b"/>
            <a:pathLst>
              <a:path w="272266" h="105760">
                <a:moveTo>
                  <a:pt x="0" y="0"/>
                </a:moveTo>
                <a:lnTo>
                  <a:pt x="3901" y="12305"/>
                </a:lnTo>
                <a:lnTo>
                  <a:pt x="8897" y="24209"/>
                </a:lnTo>
                <a:lnTo>
                  <a:pt x="14947" y="35612"/>
                </a:lnTo>
                <a:lnTo>
                  <a:pt x="22001" y="46423"/>
                </a:lnTo>
                <a:lnTo>
                  <a:pt x="30003" y="56554"/>
                </a:lnTo>
                <a:lnTo>
                  <a:pt x="38886" y="65920"/>
                </a:lnTo>
                <a:lnTo>
                  <a:pt x="48578" y="74447"/>
                </a:lnTo>
                <a:lnTo>
                  <a:pt x="59001" y="82064"/>
                </a:lnTo>
                <a:lnTo>
                  <a:pt x="70068" y="88709"/>
                </a:lnTo>
                <a:lnTo>
                  <a:pt x="81690" y="94328"/>
                </a:lnTo>
                <a:lnTo>
                  <a:pt x="93772" y="98876"/>
                </a:lnTo>
                <a:lnTo>
                  <a:pt x="106214" y="102314"/>
                </a:lnTo>
                <a:lnTo>
                  <a:pt x="118917" y="104615"/>
                </a:lnTo>
                <a:lnTo>
                  <a:pt x="131775" y="105760"/>
                </a:lnTo>
                <a:lnTo>
                  <a:pt x="144684" y="105740"/>
                </a:lnTo>
                <a:lnTo>
                  <a:pt x="157539" y="104555"/>
                </a:lnTo>
                <a:lnTo>
                  <a:pt x="170234" y="102214"/>
                </a:lnTo>
                <a:lnTo>
                  <a:pt x="182666" y="98737"/>
                </a:lnTo>
                <a:lnTo>
                  <a:pt x="194733" y="94152"/>
                </a:lnTo>
                <a:lnTo>
                  <a:pt x="206338" y="88497"/>
                </a:lnTo>
                <a:lnTo>
                  <a:pt x="217384" y="81817"/>
                </a:lnTo>
                <a:lnTo>
                  <a:pt x="227783" y="74168"/>
                </a:lnTo>
                <a:lnTo>
                  <a:pt x="237448" y="65611"/>
                </a:lnTo>
                <a:lnTo>
                  <a:pt x="246302" y="56217"/>
                </a:lnTo>
                <a:lnTo>
                  <a:pt x="254272" y="46061"/>
                </a:lnTo>
                <a:lnTo>
                  <a:pt x="261293" y="35228"/>
                </a:lnTo>
                <a:lnTo>
                  <a:pt x="267307" y="23806"/>
                </a:lnTo>
                <a:lnTo>
                  <a:pt x="272266" y="11887"/>
                </a:lnTo>
              </a:path>
            </a:pathLst>
          </a:custGeom>
          <a:noFill/>
          <a:ln w="762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icon-2-4"/>
          <p:cNvSpPr/>
          <p:nvPr/>
        </p:nvSpPr>
        <p:spPr>
          <a:xfrm>
            <a:off x="7372350" y="15925800"/>
            <a:ext cx="133350" cy="104775"/>
          </a:xfrm>
          <a:custGeom>
            <a:avLst/>
            <a:gdLst/>
            <a:ahLst/>
            <a:cxnLst/>
            <a:rect l="l" t="t" r="r" b="b"/>
            <a:pathLst>
              <a:path w="133350" h="104775">
                <a:moveTo>
                  <a:pt x="66675" y="0"/>
                </a:moveTo>
                <a:lnTo>
                  <a:pt x="133350" y="104775"/>
                </a:lnTo>
                <a:lnTo>
                  <a:pt x="0" y="9525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icon-2-5"/>
          <p:cNvSpPr/>
          <p:nvPr/>
        </p:nvSpPr>
        <p:spPr>
          <a:xfrm>
            <a:off x="7180941" y="15811636"/>
            <a:ext cx="272266" cy="105760"/>
          </a:xfrm>
          <a:custGeom>
            <a:avLst/>
            <a:gdLst/>
            <a:ahLst/>
            <a:cxnLst/>
            <a:rect l="l" t="t" r="r" b="b"/>
            <a:pathLst>
              <a:path w="272266" h="105760">
                <a:moveTo>
                  <a:pt x="272266" y="105760"/>
                </a:moveTo>
                <a:lnTo>
                  <a:pt x="268365" y="93455"/>
                </a:lnTo>
                <a:lnTo>
                  <a:pt x="263369" y="81551"/>
                </a:lnTo>
                <a:lnTo>
                  <a:pt x="257319" y="70148"/>
                </a:lnTo>
                <a:lnTo>
                  <a:pt x="250265" y="59337"/>
                </a:lnTo>
                <a:lnTo>
                  <a:pt x="242263" y="49206"/>
                </a:lnTo>
                <a:lnTo>
                  <a:pt x="233380" y="39840"/>
                </a:lnTo>
                <a:lnTo>
                  <a:pt x="223688" y="31313"/>
                </a:lnTo>
                <a:lnTo>
                  <a:pt x="213265" y="23696"/>
                </a:lnTo>
                <a:lnTo>
                  <a:pt x="202198" y="17051"/>
                </a:lnTo>
                <a:lnTo>
                  <a:pt x="190576" y="11432"/>
                </a:lnTo>
                <a:lnTo>
                  <a:pt x="178494" y="6884"/>
                </a:lnTo>
                <a:lnTo>
                  <a:pt x="166052" y="3446"/>
                </a:lnTo>
                <a:lnTo>
                  <a:pt x="153349" y="1145"/>
                </a:lnTo>
                <a:lnTo>
                  <a:pt x="140491" y="0"/>
                </a:lnTo>
                <a:lnTo>
                  <a:pt x="127582" y="20"/>
                </a:lnTo>
                <a:lnTo>
                  <a:pt x="114727" y="1205"/>
                </a:lnTo>
                <a:lnTo>
                  <a:pt x="102032" y="3546"/>
                </a:lnTo>
                <a:lnTo>
                  <a:pt x="89600" y="7023"/>
                </a:lnTo>
                <a:lnTo>
                  <a:pt x="77533" y="11608"/>
                </a:lnTo>
                <a:lnTo>
                  <a:pt x="65928" y="17263"/>
                </a:lnTo>
                <a:lnTo>
                  <a:pt x="54882" y="23943"/>
                </a:lnTo>
                <a:lnTo>
                  <a:pt x="44483" y="31592"/>
                </a:lnTo>
                <a:lnTo>
                  <a:pt x="34818" y="40149"/>
                </a:lnTo>
                <a:lnTo>
                  <a:pt x="25964" y="49543"/>
                </a:lnTo>
                <a:lnTo>
                  <a:pt x="17994" y="59699"/>
                </a:lnTo>
                <a:lnTo>
                  <a:pt x="10973" y="70532"/>
                </a:lnTo>
                <a:lnTo>
                  <a:pt x="4959" y="81954"/>
                </a:lnTo>
                <a:lnTo>
                  <a:pt x="0" y="93873"/>
                </a:lnTo>
              </a:path>
            </a:pathLst>
          </a:custGeom>
          <a:noFill/>
          <a:ln w="762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icon-2-6"/>
          <p:cNvSpPr/>
          <p:nvPr/>
        </p:nvSpPr>
        <p:spPr>
          <a:xfrm>
            <a:off x="7124700" y="15878175"/>
            <a:ext cx="133350" cy="104775"/>
          </a:xfrm>
          <a:custGeom>
            <a:avLst/>
            <a:gdLst/>
            <a:ahLst/>
            <a:cxnLst/>
            <a:rect l="l" t="t" r="r" b="b"/>
            <a:pathLst>
              <a:path w="133350" h="104775">
                <a:moveTo>
                  <a:pt x="66675" y="104775"/>
                </a:moveTo>
                <a:lnTo>
                  <a:pt x="0" y="0"/>
                </a:lnTo>
                <a:lnTo>
                  <a:pt x="133350" y="952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num-2"/>
          <p:cNvSpPr/>
          <p:nvPr/>
        </p:nvSpPr>
        <p:spPr>
          <a:xfrm>
            <a:off x="8515350" y="15325725"/>
            <a:ext cx="1009650" cy="1733550"/>
          </a:xfrm>
          <a:custGeom>
            <a:avLst/>
            <a:gdLst/>
            <a:ahLst/>
            <a:cxnLst/>
            <a:rect l="l" t="t" r="r" b="b"/>
            <a:pathLst>
              <a:path w="1009650" h="1733550">
                <a:moveTo>
                  <a:pt x="361950" y="0"/>
                </a:moveTo>
                <a:lnTo>
                  <a:pt x="1009650" y="0"/>
                </a:lnTo>
                <a:lnTo>
                  <a:pt x="1009650" y="1733550"/>
                </a:lnTo>
                <a:lnTo>
                  <a:pt x="361950" y="1733550"/>
                </a:lnTo>
                <a:lnTo>
                  <a:pt x="0" y="866775"/>
                </a:lnTo>
                <a:close/>
              </a:path>
            </a:pathLst>
          </a:custGeom>
          <a:solidFill>
            <a:srgbClr val="FD9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numtext-2"/>
          <p:cNvSpPr txBox="1"/>
          <p:nvPr/>
        </p:nvSpPr>
        <p:spPr>
          <a:xfrm>
            <a:off x="8877300" y="15773400"/>
            <a:ext cx="647700" cy="838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4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45" name="pill-2"/>
          <p:cNvSpPr/>
          <p:nvPr/>
        </p:nvSpPr>
        <p:spPr>
          <a:xfrm>
            <a:off x="4724400" y="13801725"/>
            <a:ext cx="1914525" cy="800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pilltext-2"/>
          <p:cNvSpPr txBox="1"/>
          <p:nvPr/>
        </p:nvSpPr>
        <p:spPr>
          <a:xfrm>
            <a:off x="4724400" y="13801725"/>
            <a:ext cx="1914525" cy="8001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0" i="0">
                <a:solidFill>
                  <a:srgbClr val="131313"/>
                </a:solidFill>
                <a:latin typeface="Microsoft YaHei"/>
                <a:ea typeface="Microsoft YaHei"/>
                <a:cs typeface="Microsoft YaHei"/>
              </a:rPr>
              <a:t>Step 2</a:t>
            </a:r>
          </a:p>
        </p:txBody>
      </p:sp>
      <p:sp>
        <p:nvSpPr>
          <p:cNvPr id="47" name="panel-2"/>
          <p:cNvSpPr/>
          <p:nvPr/>
        </p:nvSpPr>
        <p:spPr>
          <a:xfrm>
            <a:off x="9715500" y="15240000"/>
            <a:ext cx="4305300" cy="1905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ptitle-2"/>
          <p:cNvSpPr txBox="1"/>
          <p:nvPr/>
        </p:nvSpPr>
        <p:spPr>
          <a:xfrm>
            <a:off x="9715500" y="15468600"/>
            <a:ext cx="4305300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F49C66"/>
                </a:solidFill>
                <a:latin typeface="Microsoft YaHei"/>
                <a:ea typeface="Microsoft YaHei"/>
                <a:cs typeface="Microsoft YaHei"/>
              </a:rPr>
              <a:t>目标分解</a:t>
            </a:r>
          </a:p>
        </p:txBody>
      </p:sp>
      <p:sp>
        <p:nvSpPr>
          <p:cNvPr id="49" name="pbody-2-1"/>
          <p:cNvSpPr txBox="1"/>
          <p:nvPr/>
        </p:nvSpPr>
        <p:spPr>
          <a:xfrm>
            <a:off x="9715500" y="15992475"/>
            <a:ext cx="4305300" cy="4191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0" i="0">
                <a:solidFill>
                  <a:srgbClr val="131313"/>
                </a:solidFill>
                <a:latin typeface="Microsoft YaHei"/>
                <a:ea typeface="Microsoft YaHei"/>
                <a:cs typeface="Microsoft YaHei"/>
              </a:rPr>
              <a:t>将年度总目标分解为若干个</a:t>
            </a:r>
          </a:p>
        </p:txBody>
      </p:sp>
      <p:sp>
        <p:nvSpPr>
          <p:cNvPr id="50" name="pbody-2-2"/>
          <p:cNvSpPr txBox="1"/>
          <p:nvPr/>
        </p:nvSpPr>
        <p:spPr>
          <a:xfrm>
            <a:off x="9715500" y="16440150"/>
            <a:ext cx="4305300" cy="4191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0" i="0">
                <a:solidFill>
                  <a:srgbClr val="131313"/>
                </a:solidFill>
                <a:latin typeface="Microsoft YaHei"/>
                <a:ea typeface="Microsoft YaHei"/>
                <a:cs typeface="Microsoft YaHei"/>
              </a:rPr>
              <a:t>关键绩效指标</a:t>
            </a:r>
          </a:p>
        </p:txBody>
      </p:sp>
      <p:sp>
        <p:nvSpPr>
          <p:cNvPr id="51" name="halo-3"/>
          <p:cNvSpPr/>
          <p:nvPr/>
        </p:nvSpPr>
        <p:spPr>
          <a:xfrm>
            <a:off x="9058275" y="12106275"/>
            <a:ext cx="2305050" cy="23050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circle-3"/>
          <p:cNvSpPr/>
          <p:nvPr/>
        </p:nvSpPr>
        <p:spPr>
          <a:xfrm>
            <a:off x="9220200" y="12268200"/>
            <a:ext cx="1981200" cy="1981200"/>
          </a:xfrm>
          <a:prstGeom prst="ellipse">
            <a:avLst/>
          </a:prstGeom>
          <a:solidFill>
            <a:srgbClr val="5BC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icon-3-0"/>
          <p:cNvSpPr/>
          <p:nvPr/>
        </p:nvSpPr>
        <p:spPr>
          <a:xfrm>
            <a:off x="9839325" y="12887325"/>
            <a:ext cx="742950" cy="742950"/>
          </a:xfrm>
          <a:prstGeom prst="ellipse">
            <a:avLst/>
          </a:prstGeom>
          <a:noFill/>
          <a:ln w="762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icon-3-1"/>
          <p:cNvSpPr/>
          <p:nvPr/>
        </p:nvSpPr>
        <p:spPr>
          <a:xfrm>
            <a:off x="10125075" y="13173075"/>
            <a:ext cx="171450" cy="171450"/>
          </a:xfrm>
          <a:prstGeom prst="ellipse">
            <a:avLst/>
          </a:prstGeom>
          <a:noFill/>
          <a:ln w="666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5" name="icon-3-2"/>
          <p:cNvCxnSpPr/>
          <p:nvPr/>
        </p:nvCxnSpPr>
        <p:spPr>
          <a:xfrm>
            <a:off x="10210800" y="13373100"/>
            <a:ext cx="0" cy="200025"/>
          </a:xfrm>
          <a:prstGeom prst="line">
            <a:avLst/>
          </a:prstGeom>
          <a:ln w="7620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icon-3-3"/>
          <p:cNvCxnSpPr/>
          <p:nvPr/>
        </p:nvCxnSpPr>
        <p:spPr>
          <a:xfrm flipH="1" flipV="1">
            <a:off x="9938587" y="13101638"/>
            <a:ext cx="173226" cy="100012"/>
          </a:xfrm>
          <a:prstGeom prst="line">
            <a:avLst/>
          </a:prstGeom>
          <a:ln w="7620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icon-3-4"/>
          <p:cNvCxnSpPr/>
          <p:nvPr/>
        </p:nvCxnSpPr>
        <p:spPr>
          <a:xfrm flipV="1">
            <a:off x="10309787" y="13101638"/>
            <a:ext cx="173226" cy="100012"/>
          </a:xfrm>
          <a:prstGeom prst="line">
            <a:avLst/>
          </a:prstGeom>
          <a:ln w="7620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num-3"/>
          <p:cNvSpPr/>
          <p:nvPr/>
        </p:nvSpPr>
        <p:spPr>
          <a:xfrm>
            <a:off x="11410950" y="12430125"/>
            <a:ext cx="1009650" cy="1733550"/>
          </a:xfrm>
          <a:custGeom>
            <a:avLst/>
            <a:gdLst/>
            <a:ahLst/>
            <a:cxnLst/>
            <a:rect l="l" t="t" r="r" b="b"/>
            <a:pathLst>
              <a:path w="1009650" h="1733550">
                <a:moveTo>
                  <a:pt x="361950" y="0"/>
                </a:moveTo>
                <a:lnTo>
                  <a:pt x="1009650" y="0"/>
                </a:lnTo>
                <a:lnTo>
                  <a:pt x="1009650" y="1733550"/>
                </a:lnTo>
                <a:lnTo>
                  <a:pt x="361950" y="1733550"/>
                </a:lnTo>
                <a:lnTo>
                  <a:pt x="0" y="866775"/>
                </a:lnTo>
                <a:close/>
              </a:path>
            </a:pathLst>
          </a:custGeom>
          <a:solidFill>
            <a:srgbClr val="5BC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numtext-3"/>
          <p:cNvSpPr txBox="1"/>
          <p:nvPr/>
        </p:nvSpPr>
        <p:spPr>
          <a:xfrm>
            <a:off x="11772900" y="12877800"/>
            <a:ext cx="647700" cy="838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4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60" name="pill-3"/>
          <p:cNvSpPr/>
          <p:nvPr/>
        </p:nvSpPr>
        <p:spPr>
          <a:xfrm>
            <a:off x="7572375" y="10877550"/>
            <a:ext cx="1905000" cy="8286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pilltext-3"/>
          <p:cNvSpPr txBox="1"/>
          <p:nvPr/>
        </p:nvSpPr>
        <p:spPr>
          <a:xfrm>
            <a:off x="7572375" y="10877550"/>
            <a:ext cx="1905000" cy="82867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0" i="0">
                <a:solidFill>
                  <a:srgbClr val="131313"/>
                </a:solidFill>
                <a:latin typeface="Microsoft YaHei"/>
                <a:ea typeface="Microsoft YaHei"/>
                <a:cs typeface="Microsoft YaHei"/>
              </a:rPr>
              <a:t>Step 3</a:t>
            </a:r>
          </a:p>
        </p:txBody>
      </p:sp>
      <p:sp>
        <p:nvSpPr>
          <p:cNvPr id="62" name="panel-3"/>
          <p:cNvSpPr/>
          <p:nvPr/>
        </p:nvSpPr>
        <p:spPr>
          <a:xfrm>
            <a:off x="12573000" y="12344400"/>
            <a:ext cx="4343400" cy="1866900"/>
          </a:xfrm>
          <a:prstGeom prst="roundRect">
            <a:avLst>
              <a:gd name="adj" fmla="val 204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ptitle-3"/>
          <p:cNvSpPr txBox="1"/>
          <p:nvPr/>
        </p:nvSpPr>
        <p:spPr>
          <a:xfrm>
            <a:off x="12573000" y="12573000"/>
            <a:ext cx="4343400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4FB0E4"/>
                </a:solidFill>
                <a:latin typeface="Microsoft YaHei"/>
                <a:ea typeface="Microsoft YaHei"/>
                <a:cs typeface="Microsoft YaHei"/>
              </a:rPr>
              <a:t>资源评估</a:t>
            </a:r>
          </a:p>
        </p:txBody>
      </p:sp>
      <p:sp>
        <p:nvSpPr>
          <p:cNvPr id="64" name="pbody-3-1"/>
          <p:cNvSpPr txBox="1"/>
          <p:nvPr/>
        </p:nvSpPr>
        <p:spPr>
          <a:xfrm>
            <a:off x="12573000" y="13096875"/>
            <a:ext cx="4343400" cy="4191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0" i="0">
                <a:solidFill>
                  <a:srgbClr val="131313"/>
                </a:solidFill>
                <a:latin typeface="Microsoft YaHei"/>
                <a:ea typeface="Microsoft YaHei"/>
                <a:cs typeface="Microsoft YaHei"/>
              </a:rPr>
              <a:t>将年度总目标分解为若干个</a:t>
            </a:r>
          </a:p>
        </p:txBody>
      </p:sp>
      <p:sp>
        <p:nvSpPr>
          <p:cNvPr id="65" name="pbody-3-2"/>
          <p:cNvSpPr txBox="1"/>
          <p:nvPr/>
        </p:nvSpPr>
        <p:spPr>
          <a:xfrm>
            <a:off x="12573000" y="13544550"/>
            <a:ext cx="4343400" cy="4191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0" i="0">
                <a:solidFill>
                  <a:srgbClr val="131313"/>
                </a:solidFill>
                <a:latin typeface="Microsoft YaHei"/>
                <a:ea typeface="Microsoft YaHei"/>
                <a:cs typeface="Microsoft YaHei"/>
              </a:rPr>
              <a:t>关键绩效指标</a:t>
            </a:r>
          </a:p>
        </p:txBody>
      </p:sp>
      <p:sp>
        <p:nvSpPr>
          <p:cNvPr id="66" name="halo-4"/>
          <p:cNvSpPr/>
          <p:nvPr/>
        </p:nvSpPr>
        <p:spPr>
          <a:xfrm>
            <a:off x="11953875" y="9210675"/>
            <a:ext cx="2305050" cy="23050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circle-4"/>
          <p:cNvSpPr/>
          <p:nvPr/>
        </p:nvSpPr>
        <p:spPr>
          <a:xfrm>
            <a:off x="12115800" y="9372600"/>
            <a:ext cx="1981200" cy="1981200"/>
          </a:xfrm>
          <a:prstGeom prst="ellipse">
            <a:avLst/>
          </a:prstGeom>
          <a:solidFill>
            <a:srgbClr val="A18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icon-4-0"/>
          <p:cNvSpPr/>
          <p:nvPr/>
        </p:nvSpPr>
        <p:spPr>
          <a:xfrm>
            <a:off x="12763500" y="9944100"/>
            <a:ext cx="628650" cy="838200"/>
          </a:xfrm>
          <a:custGeom>
            <a:avLst/>
            <a:gdLst/>
            <a:ahLst/>
            <a:cxnLst/>
            <a:rect l="l" t="t" r="r" b="b"/>
            <a:pathLst>
              <a:path w="628650" h="838200">
                <a:moveTo>
                  <a:pt x="0" y="0"/>
                </a:moveTo>
                <a:lnTo>
                  <a:pt x="419100" y="0"/>
                </a:lnTo>
                <a:lnTo>
                  <a:pt x="628650" y="209550"/>
                </a:lnTo>
                <a:lnTo>
                  <a:pt x="628650" y="838200"/>
                </a:lnTo>
                <a:lnTo>
                  <a:pt x="0" y="838200"/>
                </a:lnTo>
                <a:close/>
              </a:path>
            </a:pathLst>
          </a:custGeom>
          <a:noFill/>
          <a:ln w="762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icon-4-1"/>
          <p:cNvSpPr/>
          <p:nvPr/>
        </p:nvSpPr>
        <p:spPr>
          <a:xfrm>
            <a:off x="13182600" y="9953625"/>
            <a:ext cx="200025" cy="200025"/>
          </a:xfrm>
          <a:custGeom>
            <a:avLst/>
            <a:gdLst/>
            <a:ahLst/>
            <a:cxnLst/>
            <a:rect l="l" t="t" r="r" b="b"/>
            <a:pathLst>
              <a:path w="200025" h="200025">
                <a:moveTo>
                  <a:pt x="0" y="0"/>
                </a:moveTo>
                <a:lnTo>
                  <a:pt x="0" y="200025"/>
                </a:lnTo>
                <a:lnTo>
                  <a:pt x="200025" y="200025"/>
                </a:lnTo>
              </a:path>
            </a:pathLst>
          </a:custGeom>
          <a:noFill/>
          <a:ln w="762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0" name="icon-4-2"/>
          <p:cNvCxnSpPr/>
          <p:nvPr/>
        </p:nvCxnSpPr>
        <p:spPr>
          <a:xfrm>
            <a:off x="12896850" y="10325100"/>
            <a:ext cx="342900" cy="0"/>
          </a:xfrm>
          <a:prstGeom prst="line">
            <a:avLst/>
          </a:prstGeom>
          <a:ln w="571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icon-4-3"/>
          <p:cNvCxnSpPr/>
          <p:nvPr/>
        </p:nvCxnSpPr>
        <p:spPr>
          <a:xfrm>
            <a:off x="12896850" y="10467975"/>
            <a:ext cx="342900" cy="0"/>
          </a:xfrm>
          <a:prstGeom prst="line">
            <a:avLst/>
          </a:prstGeom>
          <a:ln w="571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icon-4-4"/>
          <p:cNvCxnSpPr/>
          <p:nvPr/>
        </p:nvCxnSpPr>
        <p:spPr>
          <a:xfrm>
            <a:off x="12896850" y="10610850"/>
            <a:ext cx="209550" cy="0"/>
          </a:xfrm>
          <a:prstGeom prst="line">
            <a:avLst/>
          </a:prstGeom>
          <a:ln w="571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icon-4-5"/>
          <p:cNvSpPr/>
          <p:nvPr/>
        </p:nvSpPr>
        <p:spPr>
          <a:xfrm>
            <a:off x="13392150" y="10287000"/>
            <a:ext cx="152400" cy="285750"/>
          </a:xfrm>
          <a:custGeom>
            <a:avLst/>
            <a:gdLst/>
            <a:ahLst/>
            <a:cxnLst/>
            <a:rect l="l" t="t" r="r" b="b"/>
            <a:pathLst>
              <a:path w="152400" h="285750">
                <a:moveTo>
                  <a:pt x="0" y="0"/>
                </a:moveTo>
                <a:lnTo>
                  <a:pt x="152400" y="0"/>
                </a:lnTo>
                <a:lnTo>
                  <a:pt x="152400" y="285750"/>
                </a:lnTo>
                <a:lnTo>
                  <a:pt x="0" y="17145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num-4"/>
          <p:cNvSpPr/>
          <p:nvPr/>
        </p:nvSpPr>
        <p:spPr>
          <a:xfrm>
            <a:off x="14306550" y="9534525"/>
            <a:ext cx="1009650" cy="1733550"/>
          </a:xfrm>
          <a:custGeom>
            <a:avLst/>
            <a:gdLst/>
            <a:ahLst/>
            <a:cxnLst/>
            <a:rect l="l" t="t" r="r" b="b"/>
            <a:pathLst>
              <a:path w="1009650" h="1733550">
                <a:moveTo>
                  <a:pt x="361950" y="0"/>
                </a:moveTo>
                <a:lnTo>
                  <a:pt x="1009650" y="0"/>
                </a:lnTo>
                <a:lnTo>
                  <a:pt x="1009650" y="1733550"/>
                </a:lnTo>
                <a:lnTo>
                  <a:pt x="361950" y="1733550"/>
                </a:lnTo>
                <a:lnTo>
                  <a:pt x="0" y="866775"/>
                </a:lnTo>
                <a:close/>
              </a:path>
            </a:pathLst>
          </a:custGeom>
          <a:solidFill>
            <a:srgbClr val="A18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numtext-4"/>
          <p:cNvSpPr txBox="1"/>
          <p:nvPr/>
        </p:nvSpPr>
        <p:spPr>
          <a:xfrm>
            <a:off x="14668500" y="9982200"/>
            <a:ext cx="647700" cy="838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4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76" name="pill-4"/>
          <p:cNvSpPr/>
          <p:nvPr/>
        </p:nvSpPr>
        <p:spPr>
          <a:xfrm>
            <a:off x="10420350" y="7962900"/>
            <a:ext cx="1895475" cy="8096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pilltext-4"/>
          <p:cNvSpPr txBox="1"/>
          <p:nvPr/>
        </p:nvSpPr>
        <p:spPr>
          <a:xfrm>
            <a:off x="10420350" y="7962900"/>
            <a:ext cx="1895475" cy="80962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0" i="0">
                <a:solidFill>
                  <a:srgbClr val="131313"/>
                </a:solidFill>
                <a:latin typeface="Microsoft YaHei"/>
                <a:ea typeface="Microsoft YaHei"/>
                <a:cs typeface="Microsoft YaHei"/>
              </a:rPr>
              <a:t>Step 4</a:t>
            </a:r>
          </a:p>
        </p:txBody>
      </p:sp>
      <p:sp>
        <p:nvSpPr>
          <p:cNvPr id="78" name="panel-4"/>
          <p:cNvSpPr/>
          <p:nvPr/>
        </p:nvSpPr>
        <p:spPr>
          <a:xfrm>
            <a:off x="15468600" y="9448800"/>
            <a:ext cx="4343400" cy="1866900"/>
          </a:xfrm>
          <a:prstGeom prst="roundRect">
            <a:avLst>
              <a:gd name="adj" fmla="val 204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ptitle-4"/>
          <p:cNvSpPr txBox="1"/>
          <p:nvPr/>
        </p:nvSpPr>
        <p:spPr>
          <a:xfrm>
            <a:off x="15468600" y="9677400"/>
            <a:ext cx="4343400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A18CF5"/>
                </a:solidFill>
                <a:latin typeface="Microsoft YaHei"/>
                <a:ea typeface="Microsoft YaHei"/>
                <a:cs typeface="Microsoft YaHei"/>
              </a:rPr>
              <a:t>执行监控</a:t>
            </a:r>
          </a:p>
        </p:txBody>
      </p:sp>
      <p:sp>
        <p:nvSpPr>
          <p:cNvPr id="80" name="pbody-4-1"/>
          <p:cNvSpPr txBox="1"/>
          <p:nvPr/>
        </p:nvSpPr>
        <p:spPr>
          <a:xfrm>
            <a:off x="15468600" y="10201275"/>
            <a:ext cx="4343400" cy="4191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0" i="0">
                <a:solidFill>
                  <a:srgbClr val="131313"/>
                </a:solidFill>
                <a:latin typeface="Microsoft YaHei"/>
                <a:ea typeface="Microsoft YaHei"/>
                <a:cs typeface="Microsoft YaHei"/>
              </a:rPr>
              <a:t>建立定期的进度汇报机制</a:t>
            </a:r>
          </a:p>
        </p:txBody>
      </p:sp>
      <p:sp>
        <p:nvSpPr>
          <p:cNvPr id="81" name="pbody-4-2"/>
          <p:cNvSpPr txBox="1"/>
          <p:nvPr/>
        </p:nvSpPr>
        <p:spPr>
          <a:xfrm>
            <a:off x="15468600" y="10648950"/>
            <a:ext cx="4343400" cy="4191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0" i="0">
                <a:solidFill>
                  <a:srgbClr val="131313"/>
                </a:solidFill>
                <a:latin typeface="Microsoft YaHei"/>
                <a:ea typeface="Microsoft YaHei"/>
                <a:cs typeface="Microsoft YaHei"/>
              </a:rPr>
              <a:t>监控各项任务的进展情况</a:t>
            </a:r>
          </a:p>
        </p:txBody>
      </p:sp>
      <p:sp>
        <p:nvSpPr>
          <p:cNvPr id="82" name="halo-5"/>
          <p:cNvSpPr/>
          <p:nvPr/>
        </p:nvSpPr>
        <p:spPr>
          <a:xfrm>
            <a:off x="14773275" y="6315075"/>
            <a:ext cx="2305050" cy="23050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circle-5"/>
          <p:cNvSpPr/>
          <p:nvPr/>
        </p:nvSpPr>
        <p:spPr>
          <a:xfrm>
            <a:off x="14935200" y="6477000"/>
            <a:ext cx="1981200" cy="1981200"/>
          </a:xfrm>
          <a:prstGeom prst="ellipse">
            <a:avLst/>
          </a:prstGeom>
          <a:solidFill>
            <a:srgbClr val="535B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icon-5-0"/>
          <p:cNvSpPr/>
          <p:nvPr/>
        </p:nvSpPr>
        <p:spPr>
          <a:xfrm>
            <a:off x="15611475" y="7153275"/>
            <a:ext cx="628650" cy="628650"/>
          </a:xfrm>
          <a:prstGeom prst="ellipse">
            <a:avLst/>
          </a:prstGeom>
          <a:noFill/>
          <a:ln w="762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icon-5-1"/>
          <p:cNvSpPr/>
          <p:nvPr/>
        </p:nvSpPr>
        <p:spPr>
          <a:xfrm>
            <a:off x="15560184" y="7303793"/>
            <a:ext cx="133350" cy="1333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icon-5-2"/>
          <p:cNvSpPr/>
          <p:nvPr/>
        </p:nvSpPr>
        <p:spPr>
          <a:xfrm>
            <a:off x="16158066" y="7303793"/>
            <a:ext cx="133350" cy="1333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icon-5-3"/>
          <p:cNvSpPr/>
          <p:nvPr/>
        </p:nvSpPr>
        <p:spPr>
          <a:xfrm rot="2700000">
            <a:off x="15963900" y="7610475"/>
            <a:ext cx="381000" cy="114300"/>
          </a:xfrm>
          <a:prstGeom prst="roundRect">
            <a:avLst>
              <a:gd name="adj" fmla="val 4166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icon-5-4"/>
          <p:cNvSpPr/>
          <p:nvPr/>
        </p:nvSpPr>
        <p:spPr>
          <a:xfrm>
            <a:off x="15906750" y="7667625"/>
            <a:ext cx="142875" cy="123825"/>
          </a:xfrm>
          <a:custGeom>
            <a:avLst/>
            <a:gdLst/>
            <a:ahLst/>
            <a:cxnLst/>
            <a:rect l="l" t="t" r="r" b="b"/>
            <a:pathLst>
              <a:path w="142875" h="123825">
                <a:moveTo>
                  <a:pt x="0" y="123825"/>
                </a:moveTo>
                <a:lnTo>
                  <a:pt x="57150" y="0"/>
                </a:lnTo>
                <a:lnTo>
                  <a:pt x="142875" y="9525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num-5"/>
          <p:cNvSpPr/>
          <p:nvPr/>
        </p:nvSpPr>
        <p:spPr>
          <a:xfrm>
            <a:off x="17125950" y="6562725"/>
            <a:ext cx="1085850" cy="1809750"/>
          </a:xfrm>
          <a:custGeom>
            <a:avLst/>
            <a:gdLst/>
            <a:ahLst/>
            <a:cxnLst/>
            <a:rect l="l" t="t" r="r" b="b"/>
            <a:pathLst>
              <a:path w="1085850" h="1809750">
                <a:moveTo>
                  <a:pt x="361950" y="0"/>
                </a:moveTo>
                <a:lnTo>
                  <a:pt x="1085850" y="0"/>
                </a:lnTo>
                <a:lnTo>
                  <a:pt x="1085850" y="1809750"/>
                </a:lnTo>
                <a:lnTo>
                  <a:pt x="361950" y="1809750"/>
                </a:lnTo>
                <a:lnTo>
                  <a:pt x="0" y="904875"/>
                </a:lnTo>
                <a:close/>
              </a:path>
            </a:pathLst>
          </a:custGeom>
          <a:solidFill>
            <a:srgbClr val="535B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numtext-5"/>
          <p:cNvSpPr txBox="1"/>
          <p:nvPr/>
        </p:nvSpPr>
        <p:spPr>
          <a:xfrm>
            <a:off x="17487900" y="7048500"/>
            <a:ext cx="723900" cy="838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4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91" name="pill-5"/>
          <p:cNvSpPr/>
          <p:nvPr/>
        </p:nvSpPr>
        <p:spPr>
          <a:xfrm>
            <a:off x="13258800" y="5048250"/>
            <a:ext cx="1905000" cy="8286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pilltext-5"/>
          <p:cNvSpPr txBox="1"/>
          <p:nvPr/>
        </p:nvSpPr>
        <p:spPr>
          <a:xfrm>
            <a:off x="13258800" y="5048250"/>
            <a:ext cx="1905000" cy="82867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0" i="0">
                <a:solidFill>
                  <a:srgbClr val="131313"/>
                </a:solidFill>
                <a:latin typeface="Microsoft YaHei"/>
                <a:ea typeface="Microsoft YaHei"/>
                <a:cs typeface="Microsoft YaHei"/>
              </a:rPr>
              <a:t>Step 5</a:t>
            </a:r>
          </a:p>
        </p:txBody>
      </p:sp>
      <p:sp>
        <p:nvSpPr>
          <p:cNvPr id="93" name="panel-5"/>
          <p:cNvSpPr/>
          <p:nvPr/>
        </p:nvSpPr>
        <p:spPr>
          <a:xfrm>
            <a:off x="18364200" y="6553200"/>
            <a:ext cx="4305300" cy="1866900"/>
          </a:xfrm>
          <a:prstGeom prst="roundRect">
            <a:avLst>
              <a:gd name="adj" fmla="val 204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ptitle-5"/>
          <p:cNvSpPr txBox="1"/>
          <p:nvPr/>
        </p:nvSpPr>
        <p:spPr>
          <a:xfrm>
            <a:off x="18364200" y="6781800"/>
            <a:ext cx="4305300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535BC8"/>
                </a:solidFill>
                <a:latin typeface="Microsoft YaHei"/>
                <a:ea typeface="Microsoft YaHei"/>
                <a:cs typeface="Microsoft YaHei"/>
              </a:rPr>
              <a:t>评估反馈</a:t>
            </a:r>
          </a:p>
        </p:txBody>
      </p:sp>
      <p:sp>
        <p:nvSpPr>
          <p:cNvPr id="95" name="pbody-5-1"/>
          <p:cNvSpPr txBox="1"/>
          <p:nvPr/>
        </p:nvSpPr>
        <p:spPr>
          <a:xfrm>
            <a:off x="18364200" y="7305675"/>
            <a:ext cx="4305300" cy="4191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0" i="0">
                <a:solidFill>
                  <a:srgbClr val="131313"/>
                </a:solidFill>
                <a:latin typeface="Microsoft YaHei"/>
                <a:ea typeface="Microsoft YaHei"/>
                <a:cs typeface="Microsoft YaHei"/>
              </a:rPr>
              <a:t>在年度结束时，对各项目标</a:t>
            </a:r>
          </a:p>
        </p:txBody>
      </p:sp>
      <p:sp>
        <p:nvSpPr>
          <p:cNvPr id="96" name="pbody-5-2"/>
          <p:cNvSpPr txBox="1"/>
          <p:nvPr/>
        </p:nvSpPr>
        <p:spPr>
          <a:xfrm>
            <a:off x="18364200" y="7753350"/>
            <a:ext cx="4305300" cy="4191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0" i="0">
                <a:solidFill>
                  <a:srgbClr val="131313"/>
                </a:solidFill>
                <a:latin typeface="Microsoft YaHei"/>
                <a:ea typeface="Microsoft YaHei"/>
                <a:cs typeface="Microsoft YaHei"/>
              </a:rPr>
              <a:t>的完成情况进行全面评估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