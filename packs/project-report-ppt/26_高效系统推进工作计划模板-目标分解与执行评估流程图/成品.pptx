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927300" cy="16040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7927300" cy="16040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42875" y="114300"/>
            <a:ext cx="27670125" cy="15811500"/>
          </a:xfrm>
          <a:prstGeom prst="rect">
            <a:avLst/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8572500" y="1695450"/>
            <a:ext cx="10763250" cy="1219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7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高效系统推进工作计划</a:t>
            </a:r>
          </a:p>
        </p:txBody>
      </p:sp>
      <p:grpSp>
        <p:nvGrpSpPr>
          <p:cNvPr id="111" name="stage-01"/>
          <p:cNvGrpSpPr/>
          <p:nvPr/>
        </p:nvGrpSpPr>
        <p:grpSpPr>
          <a:xfrm>
            <a:off x="2295525" y="3962400"/>
            <a:ext cx="5524500" cy="6010275"/>
            <a:chOff x="2295525" y="3962400"/>
            <a:chExt cx="5524500" cy="6010275"/>
          </a:xfrm>
        </p:grpSpPr>
        <p:cxnSp>
          <p:nvCxnSpPr>
            <p:cNvPr id="5" name="s1-stem-up"/>
            <p:cNvCxnSpPr/>
            <p:nvPr/>
          </p:nvCxnSpPr>
          <p:spPr>
            <a:xfrm>
              <a:off x="5038725" y="5657850"/>
              <a:ext cx="0" cy="866775"/>
            </a:xfrm>
            <a:prstGeom prst="line">
              <a:avLst/>
            </a:prstGeom>
            <a:ln w="47625">
              <a:solidFill>
                <a:srgbClr val="F4773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1-stem-dn"/>
            <p:cNvCxnSpPr/>
            <p:nvPr/>
          </p:nvCxnSpPr>
          <p:spPr>
            <a:xfrm>
              <a:off x="5038725" y="8048625"/>
              <a:ext cx="0" cy="1924050"/>
            </a:xfrm>
            <a:prstGeom prst="line">
              <a:avLst/>
            </a:prstGeom>
            <a:ln w="57150">
              <a:solidFill>
                <a:srgbClr val="F2C3B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s1-banner"/>
            <p:cNvSpPr/>
            <p:nvPr/>
          </p:nvSpPr>
          <p:spPr>
            <a:xfrm>
              <a:off x="2295525" y="6524625"/>
              <a:ext cx="5524500" cy="1524000"/>
            </a:xfrm>
            <a:custGeom>
              <a:avLst/>
              <a:gdLst/>
              <a:ahLst/>
              <a:cxnLst/>
              <a:rect l="l" t="t" r="r" b="b"/>
              <a:pathLst>
                <a:path w="5524500" h="1524000">
                  <a:moveTo>
                    <a:pt x="0" y="0"/>
                  </a:moveTo>
                  <a:lnTo>
                    <a:pt x="5524500" y="0"/>
                  </a:lnTo>
                  <a:lnTo>
                    <a:pt x="5524500" y="1524000"/>
                  </a:lnTo>
                  <a:lnTo>
                    <a:pt x="95250" y="1524000"/>
                  </a:lnTo>
                  <a:lnTo>
                    <a:pt x="666750" y="790575"/>
                  </a:lnTo>
                  <a:close/>
                </a:path>
              </a:pathLst>
            </a:custGeom>
            <a:gradFill rotWithShape="1">
              <a:gsLst>
                <a:gs pos="0">
                  <a:srgbClr val="DC6B37"/>
                </a:gs>
                <a:gs pos="100000">
                  <a:srgbClr val="F4773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s1-fold"/>
            <p:cNvSpPr/>
            <p:nvPr/>
          </p:nvSpPr>
          <p:spPr>
            <a:xfrm>
              <a:off x="7267575" y="6524625"/>
              <a:ext cx="552450" cy="609600"/>
            </a:xfrm>
            <a:custGeom>
              <a:avLst/>
              <a:gdLst/>
              <a:ahLst/>
              <a:cxnLst/>
              <a:rect l="l" t="t" r="r" b="b"/>
              <a:pathLst>
                <a:path w="552450" h="609600">
                  <a:moveTo>
                    <a:pt x="0" y="0"/>
                  </a:moveTo>
                  <a:lnTo>
                    <a:pt x="552450" y="0"/>
                  </a:lnTo>
                  <a:lnTo>
                    <a:pt x="552450" y="609600"/>
                  </a:lnTo>
                  <a:close/>
                </a:path>
              </a:pathLst>
            </a:custGeom>
            <a:solidFill>
              <a:srgbClr val="000000">
                <a:alpha val="1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s1-label"/>
            <p:cNvSpPr txBox="1"/>
            <p:nvPr/>
          </p:nvSpPr>
          <p:spPr>
            <a:xfrm>
              <a:off x="3819525" y="6677025"/>
              <a:ext cx="2476500" cy="1371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8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目标设定</a:t>
              </a:r>
            </a:p>
          </p:txBody>
        </p:sp>
        <p:sp>
          <p:nvSpPr>
            <p:cNvPr id="10" name="s1-circle"/>
            <p:cNvSpPr/>
            <p:nvPr/>
          </p:nvSpPr>
          <p:spPr>
            <a:xfrm>
              <a:off x="4191000" y="3962400"/>
              <a:ext cx="1695450" cy="169545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DC81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1-num"/>
            <p:cNvSpPr txBox="1"/>
            <p:nvPr/>
          </p:nvSpPr>
          <p:spPr>
            <a:xfrm>
              <a:off x="4371975" y="4371975"/>
              <a:ext cx="1333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550" b="1" i="0">
                  <a:solidFill>
                    <a:srgbClr val="DC8154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</p:grpSp>
      <p:grpSp>
        <p:nvGrpSpPr>
          <p:cNvPr id="108" name="stage-03"/>
          <p:cNvGrpSpPr/>
          <p:nvPr/>
        </p:nvGrpSpPr>
        <p:grpSpPr>
          <a:xfrm>
            <a:off x="11239500" y="3943350"/>
            <a:ext cx="5514975" cy="6029325"/>
            <a:chOff x="11239500" y="3943350"/>
            <a:chExt cx="5514975" cy="6029325"/>
          </a:xfrm>
        </p:grpSpPr>
        <p:cxnSp>
          <p:nvCxnSpPr>
            <p:cNvPr id="12" name="s3-stem-up"/>
            <p:cNvCxnSpPr/>
            <p:nvPr/>
          </p:nvCxnSpPr>
          <p:spPr>
            <a:xfrm>
              <a:off x="13973175" y="5638800"/>
              <a:ext cx="0" cy="885825"/>
            </a:xfrm>
            <a:prstGeom prst="line">
              <a:avLst/>
            </a:prstGeom>
            <a:ln w="47625">
              <a:solidFill>
                <a:srgbClr val="D030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3-stem-dn"/>
            <p:cNvCxnSpPr/>
            <p:nvPr/>
          </p:nvCxnSpPr>
          <p:spPr>
            <a:xfrm>
              <a:off x="13973175" y="8048625"/>
              <a:ext cx="0" cy="1924050"/>
            </a:xfrm>
            <a:prstGeom prst="line">
              <a:avLst/>
            </a:prstGeom>
            <a:ln w="57150">
              <a:solidFill>
                <a:srgbClr val="ECBBD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3-banner"/>
            <p:cNvSpPr/>
            <p:nvPr/>
          </p:nvSpPr>
          <p:spPr>
            <a:xfrm>
              <a:off x="11239500" y="6524625"/>
              <a:ext cx="5514975" cy="1524000"/>
            </a:xfrm>
            <a:custGeom>
              <a:avLst/>
              <a:gdLst/>
              <a:ahLst/>
              <a:cxnLst/>
              <a:rect l="l" t="t" r="r" b="b"/>
              <a:pathLst>
                <a:path w="5514975" h="1524000">
                  <a:moveTo>
                    <a:pt x="0" y="0"/>
                  </a:moveTo>
                  <a:lnTo>
                    <a:pt x="5514975" y="0"/>
                  </a:lnTo>
                  <a:lnTo>
                    <a:pt x="5514975" y="1524000"/>
                  </a:lnTo>
                  <a:lnTo>
                    <a:pt x="0" y="1524000"/>
                  </a:lnTo>
                  <a:close/>
                </a:path>
              </a:pathLst>
            </a:custGeom>
            <a:gradFill rotWithShape="1">
              <a:gsLst>
                <a:gs pos="0">
                  <a:srgbClr val="BB2AD1"/>
                </a:gs>
                <a:gs pos="100000">
                  <a:srgbClr val="D030E8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s3-label"/>
            <p:cNvSpPr txBox="1"/>
            <p:nvPr/>
          </p:nvSpPr>
          <p:spPr>
            <a:xfrm>
              <a:off x="12753975" y="6677025"/>
              <a:ext cx="2476500" cy="1371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8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任务分配</a:t>
              </a:r>
            </a:p>
          </p:txBody>
        </p:sp>
        <p:sp>
          <p:nvSpPr>
            <p:cNvPr id="16" name="s3-circle"/>
            <p:cNvSpPr/>
            <p:nvPr/>
          </p:nvSpPr>
          <p:spPr>
            <a:xfrm>
              <a:off x="13125450" y="3943350"/>
              <a:ext cx="1695450" cy="169545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B942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3-num"/>
            <p:cNvSpPr txBox="1"/>
            <p:nvPr/>
          </p:nvSpPr>
          <p:spPr>
            <a:xfrm>
              <a:off x="13306425" y="4352925"/>
              <a:ext cx="1333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550" b="1" i="0">
                  <a:solidFill>
                    <a:srgbClr val="B942CA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</p:grpSp>
      <p:grpSp>
        <p:nvGrpSpPr>
          <p:cNvPr id="104" name="stage-05"/>
          <p:cNvGrpSpPr/>
          <p:nvPr/>
        </p:nvGrpSpPr>
        <p:grpSpPr>
          <a:xfrm>
            <a:off x="20126325" y="3952875"/>
            <a:ext cx="5543550" cy="6019800"/>
            <a:chOff x="20126325" y="3952875"/>
            <a:chExt cx="5543550" cy="6019800"/>
          </a:xfrm>
        </p:grpSpPr>
        <p:cxnSp>
          <p:nvCxnSpPr>
            <p:cNvPr id="18" name="s5-stem-up"/>
            <p:cNvCxnSpPr/>
            <p:nvPr/>
          </p:nvCxnSpPr>
          <p:spPr>
            <a:xfrm>
              <a:off x="22907625" y="5648325"/>
              <a:ext cx="0" cy="876300"/>
            </a:xfrm>
            <a:prstGeom prst="line">
              <a:avLst/>
            </a:prstGeom>
            <a:ln w="47625">
              <a:solidFill>
                <a:srgbClr val="5B4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5-stem-dn"/>
            <p:cNvCxnSpPr/>
            <p:nvPr/>
          </p:nvCxnSpPr>
          <p:spPr>
            <a:xfrm>
              <a:off x="22907625" y="8048625"/>
              <a:ext cx="0" cy="1924050"/>
            </a:xfrm>
            <a:prstGeom prst="line">
              <a:avLst/>
            </a:prstGeom>
            <a:ln w="57150">
              <a:solidFill>
                <a:srgbClr val="DEBDD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5-banner"/>
            <p:cNvSpPr/>
            <p:nvPr/>
          </p:nvSpPr>
          <p:spPr>
            <a:xfrm>
              <a:off x="20126325" y="6524625"/>
              <a:ext cx="5543550" cy="1524000"/>
            </a:xfrm>
            <a:custGeom>
              <a:avLst/>
              <a:gdLst/>
              <a:ahLst/>
              <a:cxnLst/>
              <a:rect l="l" t="t" r="r" b="b"/>
              <a:pathLst>
                <a:path w="5543550" h="1524000">
                  <a:moveTo>
                    <a:pt x="0" y="0"/>
                  </a:moveTo>
                  <a:lnTo>
                    <a:pt x="4791075" y="0"/>
                  </a:lnTo>
                  <a:lnTo>
                    <a:pt x="5543550" y="828675"/>
                  </a:lnTo>
                  <a:lnTo>
                    <a:pt x="4829175" y="1524000"/>
                  </a:lnTo>
                  <a:lnTo>
                    <a:pt x="0" y="1524000"/>
                  </a:lnTo>
                  <a:close/>
                </a:path>
              </a:pathLst>
            </a:custGeom>
            <a:gradFill rotWithShape="1">
              <a:gsLst>
                <a:gs pos="0">
                  <a:srgbClr val="5142C3"/>
                </a:gs>
                <a:gs pos="100000">
                  <a:srgbClr val="5B49D9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5-label"/>
            <p:cNvSpPr txBox="1"/>
            <p:nvPr/>
          </p:nvSpPr>
          <p:spPr>
            <a:xfrm>
              <a:off x="21659850" y="6677025"/>
              <a:ext cx="2476500" cy="1371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8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效果评估</a:t>
              </a:r>
            </a:p>
          </p:txBody>
        </p:sp>
        <p:sp>
          <p:nvSpPr>
            <p:cNvPr id="22" name="s5-circle"/>
            <p:cNvSpPr/>
            <p:nvPr/>
          </p:nvSpPr>
          <p:spPr>
            <a:xfrm>
              <a:off x="22059900" y="3952875"/>
              <a:ext cx="1695450" cy="169545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5C4F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5-num"/>
            <p:cNvSpPr txBox="1"/>
            <p:nvPr/>
          </p:nvSpPr>
          <p:spPr>
            <a:xfrm>
              <a:off x="22240875" y="4362450"/>
              <a:ext cx="1333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550" b="1" i="0">
                  <a:solidFill>
                    <a:srgbClr val="5C4FB4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</p:grpSp>
      <p:grpSp>
        <p:nvGrpSpPr>
          <p:cNvPr id="113" name="stage-02"/>
          <p:cNvGrpSpPr/>
          <p:nvPr/>
        </p:nvGrpSpPr>
        <p:grpSpPr>
          <a:xfrm>
            <a:off x="6696075" y="4933950"/>
            <a:ext cx="5619750" cy="5038725"/>
            <a:chOff x="6696075" y="4933950"/>
            <a:chExt cx="5619750" cy="5038725"/>
          </a:xfrm>
        </p:grpSpPr>
        <p:cxnSp>
          <p:nvCxnSpPr>
            <p:cNvPr id="24" name="s2-stem-up"/>
            <p:cNvCxnSpPr/>
            <p:nvPr/>
          </p:nvCxnSpPr>
          <p:spPr>
            <a:xfrm>
              <a:off x="9505950" y="6629400"/>
              <a:ext cx="0" cy="742950"/>
            </a:xfrm>
            <a:prstGeom prst="line">
              <a:avLst/>
            </a:prstGeom>
            <a:ln w="47625">
              <a:solidFill>
                <a:srgbClr val="9440D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2-stem-dn"/>
            <p:cNvCxnSpPr/>
            <p:nvPr/>
          </p:nvCxnSpPr>
          <p:spPr>
            <a:xfrm>
              <a:off x="9505950" y="8991600"/>
              <a:ext cx="0" cy="981075"/>
            </a:xfrm>
            <a:prstGeom prst="line">
              <a:avLst/>
            </a:prstGeom>
            <a:ln w="57150">
              <a:solidFill>
                <a:srgbClr val="F4E1E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s2-banner"/>
            <p:cNvSpPr/>
            <p:nvPr/>
          </p:nvSpPr>
          <p:spPr>
            <a:xfrm>
              <a:off x="6696075" y="7372350"/>
              <a:ext cx="5619750" cy="1619250"/>
            </a:xfrm>
            <a:custGeom>
              <a:avLst/>
              <a:gdLst/>
              <a:ahLst/>
              <a:cxnLst/>
              <a:rect l="l" t="t" r="r" b="b"/>
              <a:pathLst>
                <a:path w="5619750" h="1619250">
                  <a:moveTo>
                    <a:pt x="0" y="0"/>
                  </a:moveTo>
                  <a:lnTo>
                    <a:pt x="5619750" y="0"/>
                  </a:lnTo>
                  <a:lnTo>
                    <a:pt x="5619750" y="1619250"/>
                  </a:lnTo>
                  <a:lnTo>
                    <a:pt x="0" y="1619250"/>
                  </a:lnTo>
                  <a:close/>
                </a:path>
              </a:pathLst>
            </a:custGeom>
            <a:gradFill rotWithShape="1">
              <a:gsLst>
                <a:gs pos="0">
                  <a:srgbClr val="8539BD"/>
                </a:gs>
                <a:gs pos="100000">
                  <a:srgbClr val="9440D4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2-fin"/>
            <p:cNvSpPr/>
            <p:nvPr/>
          </p:nvSpPr>
          <p:spPr>
            <a:xfrm>
              <a:off x="11239500" y="6553200"/>
              <a:ext cx="1076325" cy="819150"/>
            </a:xfrm>
            <a:custGeom>
              <a:avLst/>
              <a:gdLst/>
              <a:ahLst/>
              <a:cxnLst/>
              <a:rect l="l" t="t" r="r" b="b"/>
              <a:pathLst>
                <a:path w="1076325" h="819150">
                  <a:moveTo>
                    <a:pt x="0" y="0"/>
                  </a:moveTo>
                  <a:lnTo>
                    <a:pt x="0" y="819150"/>
                  </a:lnTo>
                  <a:lnTo>
                    <a:pt x="1076325" y="819150"/>
                  </a:lnTo>
                  <a:close/>
                </a:path>
              </a:pathLst>
            </a:custGeom>
            <a:solidFill>
              <a:srgbClr val="9440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s2-label"/>
            <p:cNvSpPr txBox="1"/>
            <p:nvPr/>
          </p:nvSpPr>
          <p:spPr>
            <a:xfrm>
              <a:off x="8267700" y="7524750"/>
              <a:ext cx="2476500" cy="1466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8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资源筹备</a:t>
              </a:r>
            </a:p>
          </p:txBody>
        </p:sp>
        <p:sp>
          <p:nvSpPr>
            <p:cNvPr id="29" name="s2-circle"/>
            <p:cNvSpPr/>
            <p:nvPr/>
          </p:nvSpPr>
          <p:spPr>
            <a:xfrm>
              <a:off x="8658225" y="4933950"/>
              <a:ext cx="1695450" cy="169545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8C4CB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2-num"/>
            <p:cNvSpPr txBox="1"/>
            <p:nvPr/>
          </p:nvSpPr>
          <p:spPr>
            <a:xfrm>
              <a:off x="8839200" y="5343525"/>
              <a:ext cx="1333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550" b="1" i="0">
                  <a:solidFill>
                    <a:srgbClr val="8C4CBB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</p:grpSp>
      <p:grpSp>
        <p:nvGrpSpPr>
          <p:cNvPr id="106" name="stage-04"/>
          <p:cNvGrpSpPr/>
          <p:nvPr/>
        </p:nvGrpSpPr>
        <p:grpSpPr>
          <a:xfrm>
            <a:off x="15640050" y="4933950"/>
            <a:ext cx="5610225" cy="5038725"/>
            <a:chOff x="15640050" y="4933950"/>
            <a:chExt cx="5610225" cy="5038725"/>
          </a:xfrm>
        </p:grpSpPr>
        <p:cxnSp>
          <p:nvCxnSpPr>
            <p:cNvPr id="31" name="s4-stem-up"/>
            <p:cNvCxnSpPr/>
            <p:nvPr/>
          </p:nvCxnSpPr>
          <p:spPr>
            <a:xfrm>
              <a:off x="18440400" y="6629400"/>
              <a:ext cx="0" cy="742950"/>
            </a:xfrm>
            <a:prstGeom prst="line">
              <a:avLst/>
            </a:prstGeom>
            <a:ln w="47625">
              <a:solidFill>
                <a:srgbClr val="1EDDF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4-stem-dn"/>
            <p:cNvCxnSpPr/>
            <p:nvPr/>
          </p:nvCxnSpPr>
          <p:spPr>
            <a:xfrm>
              <a:off x="18440400" y="8991600"/>
              <a:ext cx="0" cy="981075"/>
            </a:xfrm>
            <a:prstGeom prst="line">
              <a:avLst/>
            </a:prstGeom>
            <a:ln w="57150">
              <a:solidFill>
                <a:srgbClr val="F3E6E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s4-banner"/>
            <p:cNvSpPr/>
            <p:nvPr/>
          </p:nvSpPr>
          <p:spPr>
            <a:xfrm>
              <a:off x="15640050" y="7372350"/>
              <a:ext cx="5610225" cy="1619250"/>
            </a:xfrm>
            <a:custGeom>
              <a:avLst/>
              <a:gdLst/>
              <a:ahLst/>
              <a:cxnLst/>
              <a:rect l="l" t="t" r="r" b="b"/>
              <a:pathLst>
                <a:path w="5610225" h="1619250">
                  <a:moveTo>
                    <a:pt x="0" y="0"/>
                  </a:moveTo>
                  <a:lnTo>
                    <a:pt x="5610225" y="0"/>
                  </a:lnTo>
                  <a:lnTo>
                    <a:pt x="5610225" y="1619250"/>
                  </a:lnTo>
                  <a:lnTo>
                    <a:pt x="0" y="1619250"/>
                  </a:lnTo>
                  <a:close/>
                </a:path>
              </a:pathLst>
            </a:custGeom>
            <a:gradFill rotWithShape="1">
              <a:gsLst>
                <a:gs pos="0">
                  <a:srgbClr val="17C5DE"/>
                </a:gs>
                <a:gs pos="100000">
                  <a:srgbClr val="1EDDFA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4-fin"/>
            <p:cNvSpPr/>
            <p:nvPr/>
          </p:nvSpPr>
          <p:spPr>
            <a:xfrm>
              <a:off x="20126325" y="6553200"/>
              <a:ext cx="1123950" cy="819150"/>
            </a:xfrm>
            <a:custGeom>
              <a:avLst/>
              <a:gdLst/>
              <a:ahLst/>
              <a:cxnLst/>
              <a:rect l="l" t="t" r="r" b="b"/>
              <a:pathLst>
                <a:path w="1123950" h="819150">
                  <a:moveTo>
                    <a:pt x="0" y="0"/>
                  </a:moveTo>
                  <a:lnTo>
                    <a:pt x="0" y="819150"/>
                  </a:lnTo>
                  <a:lnTo>
                    <a:pt x="1123950" y="819150"/>
                  </a:lnTo>
                  <a:close/>
                </a:path>
              </a:pathLst>
            </a:custGeom>
            <a:solidFill>
              <a:srgbClr val="1EDD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4-label"/>
            <p:cNvSpPr txBox="1"/>
            <p:nvPr/>
          </p:nvSpPr>
          <p:spPr>
            <a:xfrm>
              <a:off x="17202150" y="7524750"/>
              <a:ext cx="2476500" cy="1466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8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执行推进</a:t>
              </a:r>
            </a:p>
          </p:txBody>
        </p:sp>
        <p:sp>
          <p:nvSpPr>
            <p:cNvPr id="36" name="s4-circle"/>
            <p:cNvSpPr/>
            <p:nvPr/>
          </p:nvSpPr>
          <p:spPr>
            <a:xfrm>
              <a:off x="17592675" y="4933950"/>
              <a:ext cx="1695450" cy="169545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rgbClr val="44D0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4-num"/>
            <p:cNvSpPr txBox="1"/>
            <p:nvPr/>
          </p:nvSpPr>
          <p:spPr>
            <a:xfrm>
              <a:off x="17773650" y="5343525"/>
              <a:ext cx="133350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550" b="1" i="0">
                  <a:solidFill>
                    <a:srgbClr val="44D0E3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  <p:grpSp>
        <p:nvGrpSpPr>
          <p:cNvPr id="112" name="panel-01"/>
          <p:cNvGrpSpPr/>
          <p:nvPr/>
        </p:nvGrpSpPr>
        <p:grpSpPr>
          <a:xfrm>
            <a:off x="2924175" y="9972675"/>
            <a:ext cx="4257675" cy="4238625"/>
            <a:chOff x="2924175" y="9972675"/>
            <a:chExt cx="4257675" cy="4238625"/>
          </a:xfrm>
        </p:grpSpPr>
        <p:sp>
          <p:nvSpPr>
            <p:cNvPr id="38" name="p1-panel"/>
            <p:cNvSpPr/>
            <p:nvPr/>
          </p:nvSpPr>
          <p:spPr>
            <a:xfrm>
              <a:off x="2924175" y="9972675"/>
              <a:ext cx="4257675" cy="4238625"/>
            </a:xfrm>
            <a:prstGeom prst="roundRect">
              <a:avLst>
                <a:gd name="adj" fmla="val 4943"/>
              </a:avLst>
            </a:prstGeom>
            <a:solidFill>
              <a:srgbClr val="FFFFFF"/>
            </a:solidFill>
            <a:ln w="38100">
              <a:solidFill>
                <a:srgbClr val="DC815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p1-sq1"/>
            <p:cNvSpPr/>
            <p:nvPr/>
          </p:nvSpPr>
          <p:spPr>
            <a:xfrm>
              <a:off x="3448050" y="10429875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DC81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p1-n1"/>
            <p:cNvSpPr txBox="1"/>
            <p:nvPr/>
          </p:nvSpPr>
          <p:spPr>
            <a:xfrm>
              <a:off x="3448050" y="10429875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41" name="p1-r1"/>
            <p:cNvSpPr txBox="1"/>
            <p:nvPr/>
          </p:nvSpPr>
          <p:spPr>
            <a:xfrm>
              <a:off x="3990975" y="10401300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明确短期目标</a:t>
              </a:r>
            </a:p>
          </p:txBody>
        </p:sp>
        <p:sp>
          <p:nvSpPr>
            <p:cNvPr id="42" name="p1-sq2"/>
            <p:cNvSpPr/>
            <p:nvPr/>
          </p:nvSpPr>
          <p:spPr>
            <a:xfrm>
              <a:off x="3448050" y="1143000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DC81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p1-n2"/>
            <p:cNvSpPr txBox="1"/>
            <p:nvPr/>
          </p:nvSpPr>
          <p:spPr>
            <a:xfrm>
              <a:off x="3448050" y="1143000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44" name="p1-r2"/>
            <p:cNvSpPr txBox="1"/>
            <p:nvPr/>
          </p:nvSpPr>
          <p:spPr>
            <a:xfrm>
              <a:off x="3990975" y="1140142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规划长期愿景</a:t>
              </a:r>
            </a:p>
          </p:txBody>
        </p:sp>
        <p:sp>
          <p:nvSpPr>
            <p:cNvPr id="45" name="p1-sq3"/>
            <p:cNvSpPr/>
            <p:nvPr/>
          </p:nvSpPr>
          <p:spPr>
            <a:xfrm>
              <a:off x="3448050" y="124396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DC81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p1-n3"/>
            <p:cNvSpPr txBox="1"/>
            <p:nvPr/>
          </p:nvSpPr>
          <p:spPr>
            <a:xfrm>
              <a:off x="3448050" y="124396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47" name="p1-r3"/>
            <p:cNvSpPr txBox="1"/>
            <p:nvPr/>
          </p:nvSpPr>
          <p:spPr>
            <a:xfrm>
              <a:off x="3990975" y="1241107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分析目标可行性</a:t>
              </a:r>
            </a:p>
          </p:txBody>
        </p:sp>
        <p:sp>
          <p:nvSpPr>
            <p:cNvPr id="48" name="p1-sq4"/>
            <p:cNvSpPr/>
            <p:nvPr/>
          </p:nvSpPr>
          <p:spPr>
            <a:xfrm>
              <a:off x="3448050" y="134302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DC81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p1-n4"/>
            <p:cNvSpPr txBox="1"/>
            <p:nvPr/>
          </p:nvSpPr>
          <p:spPr>
            <a:xfrm>
              <a:off x="3448050" y="134302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50" name="p1-r4"/>
            <p:cNvSpPr txBox="1"/>
            <p:nvPr/>
          </p:nvSpPr>
          <p:spPr>
            <a:xfrm>
              <a:off x="3990975" y="1340167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制定目标细化表</a:t>
              </a:r>
            </a:p>
          </p:txBody>
        </p:sp>
      </p:grpSp>
      <p:grpSp>
        <p:nvGrpSpPr>
          <p:cNvPr id="107" name="panel-02"/>
          <p:cNvGrpSpPr/>
          <p:nvPr/>
        </p:nvGrpSpPr>
        <p:grpSpPr>
          <a:xfrm>
            <a:off x="7391400" y="9972675"/>
            <a:ext cx="4248150" cy="4238625"/>
            <a:chOff x="7391400" y="9972675"/>
            <a:chExt cx="4248150" cy="4238625"/>
          </a:xfrm>
        </p:grpSpPr>
        <p:sp>
          <p:nvSpPr>
            <p:cNvPr id="51" name="p2-panel"/>
            <p:cNvSpPr/>
            <p:nvPr/>
          </p:nvSpPr>
          <p:spPr>
            <a:xfrm>
              <a:off x="7391400" y="9972675"/>
              <a:ext cx="4248150" cy="4238625"/>
            </a:xfrm>
            <a:prstGeom prst="roundRect">
              <a:avLst>
                <a:gd name="adj" fmla="val 4943"/>
              </a:avLst>
            </a:prstGeom>
            <a:solidFill>
              <a:srgbClr val="FFFFFF"/>
            </a:solidFill>
            <a:ln w="38100">
              <a:solidFill>
                <a:srgbClr val="8C4CB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p2-sq1"/>
            <p:cNvSpPr/>
            <p:nvPr/>
          </p:nvSpPr>
          <p:spPr>
            <a:xfrm>
              <a:off x="7915275" y="10429875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8C4C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p2-n1"/>
            <p:cNvSpPr txBox="1"/>
            <p:nvPr/>
          </p:nvSpPr>
          <p:spPr>
            <a:xfrm>
              <a:off x="7915275" y="10429875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54" name="p2-r1"/>
            <p:cNvSpPr txBox="1"/>
            <p:nvPr/>
          </p:nvSpPr>
          <p:spPr>
            <a:xfrm>
              <a:off x="8458200" y="10401300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人力需求统计</a:t>
              </a:r>
            </a:p>
          </p:txBody>
        </p:sp>
        <p:sp>
          <p:nvSpPr>
            <p:cNvPr id="55" name="p2-sq2"/>
            <p:cNvSpPr/>
            <p:nvPr/>
          </p:nvSpPr>
          <p:spPr>
            <a:xfrm>
              <a:off x="7915275" y="1143000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8C4C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p2-n2"/>
            <p:cNvSpPr txBox="1"/>
            <p:nvPr/>
          </p:nvSpPr>
          <p:spPr>
            <a:xfrm>
              <a:off x="7915275" y="1143000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57" name="p2-r2"/>
            <p:cNvSpPr txBox="1"/>
            <p:nvPr/>
          </p:nvSpPr>
          <p:spPr>
            <a:xfrm>
              <a:off x="8458200" y="11401425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物资采购计划</a:t>
              </a:r>
            </a:p>
          </p:txBody>
        </p:sp>
        <p:sp>
          <p:nvSpPr>
            <p:cNvPr id="58" name="p2-sq3"/>
            <p:cNvSpPr/>
            <p:nvPr/>
          </p:nvSpPr>
          <p:spPr>
            <a:xfrm>
              <a:off x="7915275" y="124396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8C4C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p2-n3"/>
            <p:cNvSpPr txBox="1"/>
            <p:nvPr/>
          </p:nvSpPr>
          <p:spPr>
            <a:xfrm>
              <a:off x="7915275" y="124396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60" name="p2-r3"/>
            <p:cNvSpPr txBox="1"/>
            <p:nvPr/>
          </p:nvSpPr>
          <p:spPr>
            <a:xfrm>
              <a:off x="8458200" y="12411075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资金预算安排</a:t>
              </a:r>
            </a:p>
          </p:txBody>
        </p:sp>
        <p:sp>
          <p:nvSpPr>
            <p:cNvPr id="61" name="p2-sq4"/>
            <p:cNvSpPr/>
            <p:nvPr/>
          </p:nvSpPr>
          <p:spPr>
            <a:xfrm>
              <a:off x="7915275" y="134302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8C4C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p2-n4"/>
            <p:cNvSpPr txBox="1"/>
            <p:nvPr/>
          </p:nvSpPr>
          <p:spPr>
            <a:xfrm>
              <a:off x="7915275" y="134302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63" name="p2-r4"/>
            <p:cNvSpPr txBox="1"/>
            <p:nvPr/>
          </p:nvSpPr>
          <p:spPr>
            <a:xfrm>
              <a:off x="8458200" y="13401675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外部合作洽谈</a:t>
              </a:r>
            </a:p>
          </p:txBody>
        </p:sp>
      </p:grpSp>
      <p:grpSp>
        <p:nvGrpSpPr>
          <p:cNvPr id="109" name="panel-03"/>
          <p:cNvGrpSpPr/>
          <p:nvPr/>
        </p:nvGrpSpPr>
        <p:grpSpPr>
          <a:xfrm>
            <a:off x="11849100" y="9972675"/>
            <a:ext cx="4257675" cy="4238625"/>
            <a:chOff x="11849100" y="9972675"/>
            <a:chExt cx="4257675" cy="4238625"/>
          </a:xfrm>
        </p:grpSpPr>
        <p:sp>
          <p:nvSpPr>
            <p:cNvPr id="64" name="p3-panel"/>
            <p:cNvSpPr/>
            <p:nvPr/>
          </p:nvSpPr>
          <p:spPr>
            <a:xfrm>
              <a:off x="11849100" y="9972675"/>
              <a:ext cx="4257675" cy="4238625"/>
            </a:xfrm>
            <a:prstGeom prst="roundRect">
              <a:avLst>
                <a:gd name="adj" fmla="val 4943"/>
              </a:avLst>
            </a:prstGeom>
            <a:solidFill>
              <a:srgbClr val="FFFFFF"/>
            </a:solidFill>
            <a:ln w="38100">
              <a:solidFill>
                <a:srgbClr val="B942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p3-sq1"/>
            <p:cNvSpPr/>
            <p:nvPr/>
          </p:nvSpPr>
          <p:spPr>
            <a:xfrm>
              <a:off x="12372975" y="10429875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B942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p3-n1"/>
            <p:cNvSpPr txBox="1"/>
            <p:nvPr/>
          </p:nvSpPr>
          <p:spPr>
            <a:xfrm>
              <a:off x="12372975" y="10429875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67" name="p3-r1"/>
            <p:cNvSpPr txBox="1"/>
            <p:nvPr/>
          </p:nvSpPr>
          <p:spPr>
            <a:xfrm>
              <a:off x="12915900" y="10401300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确定核心任务</a:t>
              </a:r>
            </a:p>
          </p:txBody>
        </p:sp>
        <p:sp>
          <p:nvSpPr>
            <p:cNvPr id="68" name="p3-sq2"/>
            <p:cNvSpPr/>
            <p:nvPr/>
          </p:nvSpPr>
          <p:spPr>
            <a:xfrm>
              <a:off x="12372975" y="1143000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B942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p3-n2"/>
            <p:cNvSpPr txBox="1"/>
            <p:nvPr/>
          </p:nvSpPr>
          <p:spPr>
            <a:xfrm>
              <a:off x="12372975" y="1143000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70" name="p3-r2"/>
            <p:cNvSpPr txBox="1"/>
            <p:nvPr/>
          </p:nvSpPr>
          <p:spPr>
            <a:xfrm>
              <a:off x="12915900" y="1140142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按能力分配工作</a:t>
              </a:r>
            </a:p>
          </p:txBody>
        </p:sp>
        <p:sp>
          <p:nvSpPr>
            <p:cNvPr id="71" name="p3-sq3"/>
            <p:cNvSpPr/>
            <p:nvPr/>
          </p:nvSpPr>
          <p:spPr>
            <a:xfrm>
              <a:off x="12372975" y="124396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B942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3-n3"/>
            <p:cNvSpPr txBox="1"/>
            <p:nvPr/>
          </p:nvSpPr>
          <p:spPr>
            <a:xfrm>
              <a:off x="12372975" y="124396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73" name="p3-r3"/>
            <p:cNvSpPr txBox="1"/>
            <p:nvPr/>
          </p:nvSpPr>
          <p:spPr>
            <a:xfrm>
              <a:off x="12915900" y="1241107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明确职责边界</a:t>
              </a:r>
            </a:p>
          </p:txBody>
        </p:sp>
        <p:sp>
          <p:nvSpPr>
            <p:cNvPr id="74" name="p3-sq4"/>
            <p:cNvSpPr/>
            <p:nvPr/>
          </p:nvSpPr>
          <p:spPr>
            <a:xfrm>
              <a:off x="12372975" y="134302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B942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p3-n4"/>
            <p:cNvSpPr txBox="1"/>
            <p:nvPr/>
          </p:nvSpPr>
          <p:spPr>
            <a:xfrm>
              <a:off x="12372975" y="134302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76" name="p3-r4"/>
            <p:cNvSpPr txBox="1"/>
            <p:nvPr/>
          </p:nvSpPr>
          <p:spPr>
            <a:xfrm>
              <a:off x="12915900" y="1340167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建立沟通机制</a:t>
              </a:r>
            </a:p>
          </p:txBody>
        </p:sp>
      </p:grpSp>
      <p:grpSp>
        <p:nvGrpSpPr>
          <p:cNvPr id="110" name="panel-04"/>
          <p:cNvGrpSpPr/>
          <p:nvPr/>
        </p:nvGrpSpPr>
        <p:grpSpPr>
          <a:xfrm>
            <a:off x="16306800" y="9972675"/>
            <a:ext cx="4257675" cy="4238625"/>
            <a:chOff x="16306800" y="9972675"/>
            <a:chExt cx="4257675" cy="4238625"/>
          </a:xfrm>
        </p:grpSpPr>
        <p:sp>
          <p:nvSpPr>
            <p:cNvPr id="77" name="p4-panel"/>
            <p:cNvSpPr/>
            <p:nvPr/>
          </p:nvSpPr>
          <p:spPr>
            <a:xfrm>
              <a:off x="16306800" y="9972675"/>
              <a:ext cx="4257675" cy="4238625"/>
            </a:xfrm>
            <a:prstGeom prst="roundRect">
              <a:avLst>
                <a:gd name="adj" fmla="val 4943"/>
              </a:avLst>
            </a:prstGeom>
            <a:solidFill>
              <a:srgbClr val="FFFFFF"/>
            </a:solidFill>
            <a:ln w="38100">
              <a:solidFill>
                <a:srgbClr val="44D0E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p4-sq1"/>
            <p:cNvSpPr/>
            <p:nvPr/>
          </p:nvSpPr>
          <p:spPr>
            <a:xfrm>
              <a:off x="16830675" y="10429875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44D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p4-n1"/>
            <p:cNvSpPr txBox="1"/>
            <p:nvPr/>
          </p:nvSpPr>
          <p:spPr>
            <a:xfrm>
              <a:off x="16830675" y="10429875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80" name="p4-r1"/>
            <p:cNvSpPr txBox="1"/>
            <p:nvPr/>
          </p:nvSpPr>
          <p:spPr>
            <a:xfrm>
              <a:off x="17373600" y="10401300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制定执行时间表</a:t>
              </a:r>
            </a:p>
          </p:txBody>
        </p:sp>
        <p:sp>
          <p:nvSpPr>
            <p:cNvPr id="81" name="p4-sq2"/>
            <p:cNvSpPr/>
            <p:nvPr/>
          </p:nvSpPr>
          <p:spPr>
            <a:xfrm>
              <a:off x="16830675" y="1143000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44D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4-n2"/>
            <p:cNvSpPr txBox="1"/>
            <p:nvPr/>
          </p:nvSpPr>
          <p:spPr>
            <a:xfrm>
              <a:off x="16830675" y="1143000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83" name="p4-r2"/>
            <p:cNvSpPr txBox="1"/>
            <p:nvPr/>
          </p:nvSpPr>
          <p:spPr>
            <a:xfrm>
              <a:off x="17373600" y="1140142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定期进度检查</a:t>
              </a:r>
            </a:p>
          </p:txBody>
        </p:sp>
        <p:sp>
          <p:nvSpPr>
            <p:cNvPr id="84" name="p4-sq3"/>
            <p:cNvSpPr/>
            <p:nvPr/>
          </p:nvSpPr>
          <p:spPr>
            <a:xfrm>
              <a:off x="16830675" y="124396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44D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p4-n3"/>
            <p:cNvSpPr txBox="1"/>
            <p:nvPr/>
          </p:nvSpPr>
          <p:spPr>
            <a:xfrm>
              <a:off x="16830675" y="124396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86" name="p4-r3"/>
            <p:cNvSpPr txBox="1"/>
            <p:nvPr/>
          </p:nvSpPr>
          <p:spPr>
            <a:xfrm>
              <a:off x="17373600" y="1241107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及时调整策略</a:t>
              </a:r>
            </a:p>
          </p:txBody>
        </p:sp>
        <p:sp>
          <p:nvSpPr>
            <p:cNvPr id="87" name="p4-sq4"/>
            <p:cNvSpPr/>
            <p:nvPr/>
          </p:nvSpPr>
          <p:spPr>
            <a:xfrm>
              <a:off x="16830675" y="134302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44D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p4-n4"/>
            <p:cNvSpPr txBox="1"/>
            <p:nvPr/>
          </p:nvSpPr>
          <p:spPr>
            <a:xfrm>
              <a:off x="16830675" y="134302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89" name="p4-r4"/>
            <p:cNvSpPr txBox="1"/>
            <p:nvPr/>
          </p:nvSpPr>
          <p:spPr>
            <a:xfrm>
              <a:off x="17373600" y="13401675"/>
              <a:ext cx="3038475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鼓励团队协作</a:t>
              </a:r>
            </a:p>
          </p:txBody>
        </p:sp>
      </p:grpSp>
      <p:grpSp>
        <p:nvGrpSpPr>
          <p:cNvPr id="105" name="panel-05"/>
          <p:cNvGrpSpPr/>
          <p:nvPr/>
        </p:nvGrpSpPr>
        <p:grpSpPr>
          <a:xfrm>
            <a:off x="20783550" y="9972675"/>
            <a:ext cx="4248150" cy="4238625"/>
            <a:chOff x="20783550" y="9972675"/>
            <a:chExt cx="4248150" cy="4238625"/>
          </a:xfrm>
        </p:grpSpPr>
        <p:sp>
          <p:nvSpPr>
            <p:cNvPr id="90" name="p5-panel"/>
            <p:cNvSpPr/>
            <p:nvPr/>
          </p:nvSpPr>
          <p:spPr>
            <a:xfrm>
              <a:off x="20783550" y="9972675"/>
              <a:ext cx="4248150" cy="4238625"/>
            </a:xfrm>
            <a:prstGeom prst="roundRect">
              <a:avLst>
                <a:gd name="adj" fmla="val 4943"/>
              </a:avLst>
            </a:prstGeom>
            <a:solidFill>
              <a:srgbClr val="FFFFFF"/>
            </a:solidFill>
            <a:ln w="38100">
              <a:solidFill>
                <a:srgbClr val="5C4F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p5-sq1"/>
            <p:cNvSpPr/>
            <p:nvPr/>
          </p:nvSpPr>
          <p:spPr>
            <a:xfrm>
              <a:off x="21307425" y="10429875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5C4F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p5-n1"/>
            <p:cNvSpPr txBox="1"/>
            <p:nvPr/>
          </p:nvSpPr>
          <p:spPr>
            <a:xfrm>
              <a:off x="21307425" y="10429875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93" name="p5-r1"/>
            <p:cNvSpPr txBox="1"/>
            <p:nvPr/>
          </p:nvSpPr>
          <p:spPr>
            <a:xfrm>
              <a:off x="21850350" y="10401300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设定评估指标</a:t>
              </a:r>
            </a:p>
          </p:txBody>
        </p:sp>
        <p:sp>
          <p:nvSpPr>
            <p:cNvPr id="94" name="p5-sq2"/>
            <p:cNvSpPr/>
            <p:nvPr/>
          </p:nvSpPr>
          <p:spPr>
            <a:xfrm>
              <a:off x="21307425" y="1143000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5C4F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p5-n2"/>
            <p:cNvSpPr txBox="1"/>
            <p:nvPr/>
          </p:nvSpPr>
          <p:spPr>
            <a:xfrm>
              <a:off x="21307425" y="1143000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96" name="p5-r2"/>
            <p:cNvSpPr txBox="1"/>
            <p:nvPr/>
          </p:nvSpPr>
          <p:spPr>
            <a:xfrm>
              <a:off x="21850350" y="11401425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收集反馈信息</a:t>
              </a:r>
            </a:p>
          </p:txBody>
        </p:sp>
        <p:sp>
          <p:nvSpPr>
            <p:cNvPr id="97" name="p5-sq3"/>
            <p:cNvSpPr/>
            <p:nvPr/>
          </p:nvSpPr>
          <p:spPr>
            <a:xfrm>
              <a:off x="21307425" y="124396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5C4F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p5-n3"/>
            <p:cNvSpPr txBox="1"/>
            <p:nvPr/>
          </p:nvSpPr>
          <p:spPr>
            <a:xfrm>
              <a:off x="21307425" y="124396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99" name="p5-r3"/>
            <p:cNvSpPr txBox="1"/>
            <p:nvPr/>
          </p:nvSpPr>
          <p:spPr>
            <a:xfrm>
              <a:off x="21850350" y="12411075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总结经验教训</a:t>
              </a:r>
            </a:p>
          </p:txBody>
        </p:sp>
        <p:sp>
          <p:nvSpPr>
            <p:cNvPr id="100" name="p5-sq4"/>
            <p:cNvSpPr/>
            <p:nvPr/>
          </p:nvSpPr>
          <p:spPr>
            <a:xfrm>
              <a:off x="21307425" y="13430250"/>
              <a:ext cx="314325" cy="314325"/>
            </a:xfrm>
            <a:prstGeom prst="roundRect">
              <a:avLst>
                <a:gd name="adj" fmla="val 21212"/>
              </a:avLst>
            </a:prstGeom>
            <a:solidFill>
              <a:srgbClr val="5C4F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p5-n4"/>
            <p:cNvSpPr txBox="1"/>
            <p:nvPr/>
          </p:nvSpPr>
          <p:spPr>
            <a:xfrm>
              <a:off x="21307425" y="13430250"/>
              <a:ext cx="314325" cy="314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6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102" name="p5-r4"/>
            <p:cNvSpPr txBox="1"/>
            <p:nvPr/>
          </p:nvSpPr>
          <p:spPr>
            <a:xfrm>
              <a:off x="21850350" y="13401675"/>
              <a:ext cx="3028950" cy="361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优化后续计划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