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240500" cy="28117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9240500" cy="2811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28588" y="128588"/>
            <a:ext cx="19002375" cy="27889200"/>
          </a:xfrm>
          <a:prstGeom prst="rect">
            <a:avLst/>
          </a:prstGeom>
          <a:noFill/>
          <a:ln w="33337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20" name="hdr-title"/>
          <p:cNvGrpSpPr/>
          <p:nvPr/>
        </p:nvGrpSpPr>
        <p:grpSpPr>
          <a:xfrm>
            <a:off x="2539365" y="1133475"/>
            <a:ext cx="14295120" cy="1104900"/>
            <a:chOff x="2539365" y="1133475"/>
            <a:chExt cx="14295120" cy="1104900"/>
          </a:xfrm>
        </p:grpSpPr>
        <p:sp>
          <p:nvSpPr>
            <p:cNvPr id="4" name="title-text"/>
            <p:cNvSpPr txBox="1"/>
            <p:nvPr/>
          </p:nvSpPr>
          <p:spPr>
            <a:xfrm>
              <a:off x="2539365" y="1133475"/>
              <a:ext cx="14295120" cy="1104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60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多组学数据整合分析与疾病机制发现</a:t>
              </a:r>
            </a:p>
          </p:txBody>
        </p:sp>
      </p:grpSp>
      <p:grpSp>
        <p:nvGrpSpPr>
          <p:cNvPr id="212" name="banner-1"/>
          <p:cNvGrpSpPr/>
          <p:nvPr/>
        </p:nvGrpSpPr>
        <p:grpSpPr>
          <a:xfrm>
            <a:off x="1981200" y="3276600"/>
            <a:ext cx="15278100" cy="1162050"/>
            <a:chOff x="1981200" y="3276600"/>
            <a:chExt cx="15278100" cy="1162050"/>
          </a:xfrm>
        </p:grpSpPr>
        <p:sp>
          <p:nvSpPr>
            <p:cNvPr id="5" name="banner-1-bg"/>
            <p:cNvSpPr/>
            <p:nvPr/>
          </p:nvSpPr>
          <p:spPr>
            <a:xfrm>
              <a:off x="1981200" y="3276600"/>
              <a:ext cx="15278100" cy="1162050"/>
            </a:xfrm>
            <a:prstGeom prst="roundRect">
              <a:avLst>
                <a:gd name="adj" fmla="val 14754"/>
              </a:avLst>
            </a:prstGeom>
            <a:solidFill>
              <a:srgbClr val="8D78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anner-1-text"/>
            <p:cNvSpPr txBox="1"/>
            <p:nvPr/>
          </p:nvSpPr>
          <p:spPr>
            <a:xfrm>
              <a:off x="6000750" y="3508058"/>
              <a:ext cx="72390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多组学数据整合分析</a:t>
              </a:r>
            </a:p>
          </p:txBody>
        </p:sp>
      </p:grpSp>
      <p:grpSp>
        <p:nvGrpSpPr>
          <p:cNvPr id="209" name="top-left"/>
          <p:cNvGrpSpPr/>
          <p:nvPr/>
        </p:nvGrpSpPr>
        <p:grpSpPr>
          <a:xfrm>
            <a:off x="1666875" y="5019675"/>
            <a:ext cx="4762500" cy="5019675"/>
            <a:chOff x="1666875" y="5019675"/>
            <a:chExt cx="4762500" cy="5019675"/>
          </a:xfrm>
        </p:grpSpPr>
        <p:sp>
          <p:nvSpPr>
            <p:cNvPr id="7" name="tl-panel"/>
            <p:cNvSpPr/>
            <p:nvPr/>
          </p:nvSpPr>
          <p:spPr>
            <a:xfrm>
              <a:off x="1666875" y="5019675"/>
              <a:ext cx="4762500" cy="5019675"/>
            </a:xfrm>
            <a:prstGeom prst="roundRect">
              <a:avLst>
                <a:gd name="adj" fmla="val 2800"/>
              </a:avLst>
            </a:prstGeom>
            <a:solidFill>
              <a:srgbClr val="F0EDFE"/>
            </a:solidFill>
            <a:ln w="19050">
              <a:solidFill>
                <a:srgbClr val="A19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92" name="tl-box1"/>
            <p:cNvGrpSpPr/>
            <p:nvPr/>
          </p:nvGrpSpPr>
          <p:grpSpPr>
            <a:xfrm>
              <a:off x="2009775" y="5495925"/>
              <a:ext cx="4191000" cy="914400"/>
              <a:chOff x="2009775" y="5495925"/>
              <a:chExt cx="4191000" cy="914400"/>
            </a:xfrm>
          </p:grpSpPr>
          <p:sp>
            <p:nvSpPr>
              <p:cNvPr id="8" name="tl-box1-bg"/>
              <p:cNvSpPr/>
              <p:nvPr/>
            </p:nvSpPr>
            <p:spPr>
              <a:xfrm>
                <a:off x="2009775" y="549592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tl-box1-t"/>
              <p:cNvSpPr txBox="1"/>
              <p:nvPr/>
            </p:nvSpPr>
            <p:spPr>
              <a:xfrm>
                <a:off x="2495550" y="5676900"/>
                <a:ext cx="32385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基因组学</a:t>
                </a:r>
              </a:p>
            </p:txBody>
          </p:sp>
        </p:grpSp>
        <p:grpSp>
          <p:nvGrpSpPr>
            <p:cNvPr id="205" name="tl-box2"/>
            <p:cNvGrpSpPr/>
            <p:nvPr/>
          </p:nvGrpSpPr>
          <p:grpSpPr>
            <a:xfrm>
              <a:off x="2009775" y="6572250"/>
              <a:ext cx="4191000" cy="914400"/>
              <a:chOff x="2009775" y="6572250"/>
              <a:chExt cx="4191000" cy="914400"/>
            </a:xfrm>
          </p:grpSpPr>
          <p:sp>
            <p:nvSpPr>
              <p:cNvPr id="10" name="tl-box2-bg"/>
              <p:cNvSpPr/>
              <p:nvPr/>
            </p:nvSpPr>
            <p:spPr>
              <a:xfrm>
                <a:off x="2009775" y="657225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tl-box2-t"/>
              <p:cNvSpPr txBox="1"/>
              <p:nvPr/>
            </p:nvSpPr>
            <p:spPr>
              <a:xfrm>
                <a:off x="2495550" y="6753225"/>
                <a:ext cx="32385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转录组学</a:t>
                </a:r>
              </a:p>
            </p:txBody>
          </p:sp>
        </p:grpSp>
        <p:grpSp>
          <p:nvGrpSpPr>
            <p:cNvPr id="196" name="tl-box3"/>
            <p:cNvGrpSpPr/>
            <p:nvPr/>
          </p:nvGrpSpPr>
          <p:grpSpPr>
            <a:xfrm>
              <a:off x="2009775" y="7648575"/>
              <a:ext cx="4191000" cy="914400"/>
              <a:chOff x="2009775" y="7648575"/>
              <a:chExt cx="4191000" cy="914400"/>
            </a:xfrm>
          </p:grpSpPr>
          <p:sp>
            <p:nvSpPr>
              <p:cNvPr id="12" name="tl-box3-bg"/>
              <p:cNvSpPr/>
              <p:nvPr/>
            </p:nvSpPr>
            <p:spPr>
              <a:xfrm>
                <a:off x="2009775" y="764857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tl-box3-t"/>
              <p:cNvSpPr txBox="1"/>
              <p:nvPr/>
            </p:nvSpPr>
            <p:spPr>
              <a:xfrm>
                <a:off x="2495550" y="7829550"/>
                <a:ext cx="32385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蛋白质组学</a:t>
                </a:r>
              </a:p>
            </p:txBody>
          </p:sp>
        </p:grpSp>
        <p:grpSp>
          <p:nvGrpSpPr>
            <p:cNvPr id="195" name="tl-box4"/>
            <p:cNvGrpSpPr/>
            <p:nvPr/>
          </p:nvGrpSpPr>
          <p:grpSpPr>
            <a:xfrm>
              <a:off x="2009775" y="8724900"/>
              <a:ext cx="4191000" cy="914400"/>
              <a:chOff x="2009775" y="8724900"/>
              <a:chExt cx="4191000" cy="914400"/>
            </a:xfrm>
          </p:grpSpPr>
          <p:sp>
            <p:nvSpPr>
              <p:cNvPr id="14" name="tl-box4-bg"/>
              <p:cNvSpPr/>
              <p:nvPr/>
            </p:nvSpPr>
            <p:spPr>
              <a:xfrm>
                <a:off x="2009775" y="872490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tl-box4-t"/>
              <p:cNvSpPr txBox="1"/>
              <p:nvPr/>
            </p:nvSpPr>
            <p:spPr>
              <a:xfrm>
                <a:off x="2495550" y="8905875"/>
                <a:ext cx="32385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表观遗传组学</a:t>
                </a:r>
              </a:p>
            </p:txBody>
          </p:sp>
        </p:grpSp>
      </p:grpSp>
      <p:grpSp>
        <p:nvGrpSpPr>
          <p:cNvPr id="219" name="ribbon-A"/>
          <p:cNvGrpSpPr/>
          <p:nvPr/>
        </p:nvGrpSpPr>
        <p:grpSpPr>
          <a:xfrm>
            <a:off x="6429375" y="5019675"/>
            <a:ext cx="1171575" cy="5029200"/>
            <a:chOff x="6429375" y="5019675"/>
            <a:chExt cx="1171575" cy="5029200"/>
          </a:xfrm>
        </p:grpSpPr>
        <p:sp>
          <p:nvSpPr>
            <p:cNvPr id="16" name="ribbonA-bg"/>
            <p:cNvSpPr/>
            <p:nvPr/>
          </p:nvSpPr>
          <p:spPr>
            <a:xfrm>
              <a:off x="6429375" y="5019675"/>
              <a:ext cx="1171575" cy="5029200"/>
            </a:xfrm>
            <a:prstGeom prst="rect">
              <a:avLst/>
            </a:prstGeom>
            <a:solidFill>
              <a:srgbClr val="A18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bbonA-c0"/>
            <p:cNvSpPr txBox="1"/>
            <p:nvPr/>
          </p:nvSpPr>
          <p:spPr>
            <a:xfrm>
              <a:off x="6572250" y="564451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多</a:t>
              </a:r>
            </a:p>
          </p:txBody>
        </p:sp>
        <p:sp>
          <p:nvSpPr>
            <p:cNvPr id="18" name="ribbonA-c1"/>
            <p:cNvSpPr txBox="1"/>
            <p:nvPr/>
          </p:nvSpPr>
          <p:spPr>
            <a:xfrm>
              <a:off x="6572250" y="625411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组</a:t>
              </a:r>
            </a:p>
          </p:txBody>
        </p:sp>
        <p:sp>
          <p:nvSpPr>
            <p:cNvPr id="19" name="ribbonA-c2"/>
            <p:cNvSpPr txBox="1"/>
            <p:nvPr/>
          </p:nvSpPr>
          <p:spPr>
            <a:xfrm>
              <a:off x="6572250" y="688276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学</a:t>
              </a:r>
            </a:p>
          </p:txBody>
        </p:sp>
        <p:sp>
          <p:nvSpPr>
            <p:cNvPr id="20" name="ribbonA-c3"/>
            <p:cNvSpPr txBox="1"/>
            <p:nvPr/>
          </p:nvSpPr>
          <p:spPr>
            <a:xfrm>
              <a:off x="6572250" y="7501890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</a:t>
              </a:r>
            </a:p>
          </p:txBody>
        </p:sp>
        <p:sp>
          <p:nvSpPr>
            <p:cNvPr id="21" name="ribbonA-c4"/>
            <p:cNvSpPr txBox="1"/>
            <p:nvPr/>
          </p:nvSpPr>
          <p:spPr>
            <a:xfrm>
              <a:off x="6572250" y="812101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据</a:t>
              </a:r>
            </a:p>
          </p:txBody>
        </p:sp>
        <p:sp>
          <p:nvSpPr>
            <p:cNvPr id="22" name="ribbonA-c5"/>
            <p:cNvSpPr txBox="1"/>
            <p:nvPr/>
          </p:nvSpPr>
          <p:spPr>
            <a:xfrm>
              <a:off x="6572250" y="8740140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源</a:t>
              </a:r>
            </a:p>
          </p:txBody>
        </p:sp>
      </p:grpSp>
      <p:grpSp>
        <p:nvGrpSpPr>
          <p:cNvPr id="208" name="top-centre"/>
          <p:cNvGrpSpPr/>
          <p:nvPr/>
        </p:nvGrpSpPr>
        <p:grpSpPr>
          <a:xfrm>
            <a:off x="7600950" y="4848225"/>
            <a:ext cx="4057650" cy="5314950"/>
            <a:chOff x="7600950" y="4848225"/>
            <a:chExt cx="4057650" cy="5314950"/>
          </a:xfrm>
        </p:grpSpPr>
        <p:sp>
          <p:nvSpPr>
            <p:cNvPr id="23" name="tc-panel"/>
            <p:cNvSpPr/>
            <p:nvPr/>
          </p:nvSpPr>
          <p:spPr>
            <a:xfrm>
              <a:off x="7600950" y="4848225"/>
              <a:ext cx="4057650" cy="5314950"/>
            </a:xfrm>
            <a:prstGeom prst="roundRect">
              <a:avLst>
                <a:gd name="adj" fmla="val 3286"/>
              </a:avLst>
            </a:prstGeom>
            <a:solidFill>
              <a:srgbClr val="8D78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c-head"/>
            <p:cNvSpPr txBox="1"/>
            <p:nvPr/>
          </p:nvSpPr>
          <p:spPr>
            <a:xfrm>
              <a:off x="7726680" y="5352098"/>
              <a:ext cx="3787140" cy="6486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跨组学关联建模</a:t>
              </a:r>
            </a:p>
          </p:txBody>
        </p:sp>
        <p:grpSp>
          <p:nvGrpSpPr>
            <p:cNvPr id="199" name="tc-pill1"/>
            <p:cNvGrpSpPr/>
            <p:nvPr/>
          </p:nvGrpSpPr>
          <p:grpSpPr>
            <a:xfrm>
              <a:off x="7776210" y="6477000"/>
              <a:ext cx="3688080" cy="895350"/>
              <a:chOff x="7776210" y="6477000"/>
              <a:chExt cx="3688080" cy="895350"/>
            </a:xfrm>
          </p:grpSpPr>
          <p:sp>
            <p:nvSpPr>
              <p:cNvPr id="25" name="tc-pill1-bg"/>
              <p:cNvSpPr/>
              <p:nvPr/>
            </p:nvSpPr>
            <p:spPr>
              <a:xfrm>
                <a:off x="7943850" y="6477000"/>
                <a:ext cx="3371850" cy="895350"/>
              </a:xfrm>
              <a:prstGeom prst="roundRect">
                <a:avLst>
                  <a:gd name="adj" fmla="val 8510"/>
                </a:avLst>
              </a:prstGeom>
              <a:solidFill>
                <a:srgbClr val="F0E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tc-pill1-t"/>
              <p:cNvSpPr txBox="1"/>
              <p:nvPr/>
            </p:nvSpPr>
            <p:spPr>
              <a:xfrm>
                <a:off x="7776210" y="6648450"/>
                <a:ext cx="368808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机器学习驱动建模</a:t>
                </a:r>
              </a:p>
            </p:txBody>
          </p:sp>
        </p:grpSp>
        <p:grpSp>
          <p:nvGrpSpPr>
            <p:cNvPr id="207" name="tc-pill2"/>
            <p:cNvGrpSpPr/>
            <p:nvPr/>
          </p:nvGrpSpPr>
          <p:grpSpPr>
            <a:xfrm>
              <a:off x="7776210" y="7639050"/>
              <a:ext cx="3688080" cy="895350"/>
              <a:chOff x="7776210" y="7639050"/>
              <a:chExt cx="3688080" cy="895350"/>
            </a:xfrm>
          </p:grpSpPr>
          <p:sp>
            <p:nvSpPr>
              <p:cNvPr id="27" name="tc-pill2-bg"/>
              <p:cNvSpPr/>
              <p:nvPr/>
            </p:nvSpPr>
            <p:spPr>
              <a:xfrm>
                <a:off x="7943850" y="7639050"/>
                <a:ext cx="3371850" cy="895350"/>
              </a:xfrm>
              <a:prstGeom prst="roundRect">
                <a:avLst>
                  <a:gd name="adj" fmla="val 8510"/>
                </a:avLst>
              </a:prstGeom>
              <a:solidFill>
                <a:srgbClr val="F0E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c-pill2-t"/>
              <p:cNvSpPr txBox="1"/>
              <p:nvPr/>
            </p:nvSpPr>
            <p:spPr>
              <a:xfrm>
                <a:off x="7776210" y="7810500"/>
                <a:ext cx="368808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网络拓扑结构推断</a:t>
                </a:r>
              </a:p>
            </p:txBody>
          </p:sp>
        </p:grpSp>
        <p:grpSp>
          <p:nvGrpSpPr>
            <p:cNvPr id="190" name="tc-pill3"/>
            <p:cNvGrpSpPr/>
            <p:nvPr/>
          </p:nvGrpSpPr>
          <p:grpSpPr>
            <a:xfrm>
              <a:off x="7776210" y="8867775"/>
              <a:ext cx="3688080" cy="895350"/>
              <a:chOff x="7776210" y="8867775"/>
              <a:chExt cx="3688080" cy="895350"/>
            </a:xfrm>
          </p:grpSpPr>
          <p:sp>
            <p:nvSpPr>
              <p:cNvPr id="29" name="tc-pill3-bg"/>
              <p:cNvSpPr/>
              <p:nvPr/>
            </p:nvSpPr>
            <p:spPr>
              <a:xfrm>
                <a:off x="7943850" y="8867775"/>
                <a:ext cx="3371850" cy="895350"/>
              </a:xfrm>
              <a:prstGeom prst="roundRect">
                <a:avLst>
                  <a:gd name="adj" fmla="val 8510"/>
                </a:avLst>
              </a:prstGeom>
              <a:solidFill>
                <a:srgbClr val="F0E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c-pill3-t"/>
              <p:cNvSpPr txBox="1"/>
              <p:nvPr/>
            </p:nvSpPr>
            <p:spPr>
              <a:xfrm>
                <a:off x="7776210" y="9039225"/>
                <a:ext cx="368808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因果调控路径挖掘</a:t>
                </a:r>
              </a:p>
            </p:txBody>
          </p:sp>
        </p:grpSp>
      </p:grpSp>
      <p:grpSp>
        <p:nvGrpSpPr>
          <p:cNvPr id="213" name="ribbon-B"/>
          <p:cNvGrpSpPr/>
          <p:nvPr/>
        </p:nvGrpSpPr>
        <p:grpSpPr>
          <a:xfrm>
            <a:off x="11658600" y="5019675"/>
            <a:ext cx="1162050" cy="5048250"/>
            <a:chOff x="11658600" y="5019675"/>
            <a:chExt cx="1162050" cy="5048250"/>
          </a:xfrm>
        </p:grpSpPr>
        <p:sp>
          <p:nvSpPr>
            <p:cNvPr id="31" name="ribbonB-bg"/>
            <p:cNvSpPr/>
            <p:nvPr/>
          </p:nvSpPr>
          <p:spPr>
            <a:xfrm>
              <a:off x="11658600" y="5019675"/>
              <a:ext cx="1162050" cy="5048250"/>
            </a:xfrm>
            <a:prstGeom prst="rect">
              <a:avLst/>
            </a:prstGeom>
            <a:solidFill>
              <a:srgbClr val="A18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ibbonB-c0"/>
            <p:cNvSpPr txBox="1"/>
            <p:nvPr/>
          </p:nvSpPr>
          <p:spPr>
            <a:xfrm>
              <a:off x="12049125" y="5692140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</a:t>
              </a:r>
            </a:p>
          </p:txBody>
        </p:sp>
        <p:sp>
          <p:nvSpPr>
            <p:cNvPr id="33" name="ribbonB-c1"/>
            <p:cNvSpPr txBox="1"/>
            <p:nvPr/>
          </p:nvSpPr>
          <p:spPr>
            <a:xfrm>
              <a:off x="12049125" y="6301740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</a:t>
              </a:r>
            </a:p>
          </p:txBody>
        </p:sp>
        <p:sp>
          <p:nvSpPr>
            <p:cNvPr id="34" name="ribbonB-c2"/>
            <p:cNvSpPr txBox="1"/>
            <p:nvPr/>
          </p:nvSpPr>
          <p:spPr>
            <a:xfrm>
              <a:off x="12049125" y="692086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</a:p>
          </p:txBody>
        </p:sp>
        <p:sp>
          <p:nvSpPr>
            <p:cNvPr id="35" name="ribbonB-c3"/>
            <p:cNvSpPr txBox="1"/>
            <p:nvPr/>
          </p:nvSpPr>
          <p:spPr>
            <a:xfrm>
              <a:off x="12049125" y="753046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</a:p>
          </p:txBody>
        </p:sp>
        <p:sp>
          <p:nvSpPr>
            <p:cNvPr id="36" name="ribbonB-c4"/>
            <p:cNvSpPr txBox="1"/>
            <p:nvPr/>
          </p:nvSpPr>
          <p:spPr>
            <a:xfrm>
              <a:off x="12049125" y="8159115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融</a:t>
              </a:r>
            </a:p>
          </p:txBody>
        </p:sp>
        <p:sp>
          <p:nvSpPr>
            <p:cNvPr id="37" name="ribbonB-c5"/>
            <p:cNvSpPr txBox="1"/>
            <p:nvPr/>
          </p:nvSpPr>
          <p:spPr>
            <a:xfrm>
              <a:off x="12049125" y="8778240"/>
              <a:ext cx="666750" cy="63531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合</a:t>
              </a:r>
            </a:p>
          </p:txBody>
        </p:sp>
      </p:grpSp>
      <p:grpSp>
        <p:nvGrpSpPr>
          <p:cNvPr id="215" name="top-right"/>
          <p:cNvGrpSpPr/>
          <p:nvPr/>
        </p:nvGrpSpPr>
        <p:grpSpPr>
          <a:xfrm>
            <a:off x="12820650" y="5029200"/>
            <a:ext cx="4772025" cy="5010150"/>
            <a:chOff x="12820650" y="5029200"/>
            <a:chExt cx="4772025" cy="5010150"/>
          </a:xfrm>
        </p:grpSpPr>
        <p:sp>
          <p:nvSpPr>
            <p:cNvPr id="38" name="tr-panel"/>
            <p:cNvSpPr/>
            <p:nvPr/>
          </p:nvSpPr>
          <p:spPr>
            <a:xfrm>
              <a:off x="12820650" y="5029200"/>
              <a:ext cx="4772025" cy="5010150"/>
            </a:xfrm>
            <a:prstGeom prst="roundRect">
              <a:avLst>
                <a:gd name="adj" fmla="val 2794"/>
              </a:avLst>
            </a:prstGeom>
            <a:solidFill>
              <a:srgbClr val="F0EDFE"/>
            </a:solidFill>
            <a:ln w="19050">
              <a:solidFill>
                <a:srgbClr val="A19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4" name="tr-box1"/>
            <p:cNvGrpSpPr/>
            <p:nvPr/>
          </p:nvGrpSpPr>
          <p:grpSpPr>
            <a:xfrm>
              <a:off x="12858750" y="5553075"/>
              <a:ext cx="4572000" cy="914400"/>
              <a:chOff x="12858750" y="5553075"/>
              <a:chExt cx="4572000" cy="914400"/>
            </a:xfrm>
          </p:grpSpPr>
          <p:sp>
            <p:nvSpPr>
              <p:cNvPr id="39" name="tr-box1-bg"/>
              <p:cNvSpPr/>
              <p:nvPr/>
            </p:nvSpPr>
            <p:spPr>
              <a:xfrm>
                <a:off x="13058775" y="555307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tr-box1-t"/>
              <p:cNvSpPr txBox="1"/>
              <p:nvPr/>
            </p:nvSpPr>
            <p:spPr>
              <a:xfrm>
                <a:off x="12858750" y="5734050"/>
                <a:ext cx="45720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数据标准化与批次对齐</a:t>
                </a:r>
              </a:p>
            </p:txBody>
          </p:sp>
        </p:grpSp>
        <p:grpSp>
          <p:nvGrpSpPr>
            <p:cNvPr id="202" name="tr-box2"/>
            <p:cNvGrpSpPr/>
            <p:nvPr/>
          </p:nvGrpSpPr>
          <p:grpSpPr>
            <a:xfrm>
              <a:off x="13058775" y="7124700"/>
              <a:ext cx="4191000" cy="914400"/>
              <a:chOff x="13058775" y="7124700"/>
              <a:chExt cx="4191000" cy="914400"/>
            </a:xfrm>
          </p:grpSpPr>
          <p:sp>
            <p:nvSpPr>
              <p:cNvPr id="41" name="tr-box2-bg"/>
              <p:cNvSpPr/>
              <p:nvPr/>
            </p:nvSpPr>
            <p:spPr>
              <a:xfrm>
                <a:off x="13058775" y="712470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tr-box2-t"/>
              <p:cNvSpPr txBox="1"/>
              <p:nvPr/>
            </p:nvSpPr>
            <p:spPr>
              <a:xfrm>
                <a:off x="13287375" y="7305675"/>
                <a:ext cx="3714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特征选择与降维</a:t>
                </a:r>
              </a:p>
            </p:txBody>
          </p:sp>
        </p:grpSp>
        <p:grpSp>
          <p:nvGrpSpPr>
            <p:cNvPr id="203" name="tr-box3"/>
            <p:cNvGrpSpPr/>
            <p:nvPr/>
          </p:nvGrpSpPr>
          <p:grpSpPr>
            <a:xfrm>
              <a:off x="12858750" y="8696325"/>
              <a:ext cx="4572000" cy="914400"/>
              <a:chOff x="12858750" y="8696325"/>
              <a:chExt cx="4572000" cy="914400"/>
            </a:xfrm>
          </p:grpSpPr>
          <p:sp>
            <p:nvSpPr>
              <p:cNvPr id="43" name="tr-box3-bg"/>
              <p:cNvSpPr/>
              <p:nvPr/>
            </p:nvSpPr>
            <p:spPr>
              <a:xfrm>
                <a:off x="13058775" y="869632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tr-box3-t"/>
              <p:cNvSpPr txBox="1"/>
              <p:nvPr/>
            </p:nvSpPr>
            <p:spPr>
              <a:xfrm>
                <a:off x="12858750" y="8877300"/>
                <a:ext cx="457200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异构组学数据融合算法</a:t>
                </a:r>
              </a:p>
            </p:txBody>
          </p:sp>
        </p:grpSp>
      </p:grpSp>
      <p:grpSp>
        <p:nvGrpSpPr>
          <p:cNvPr id="221" name="engine"/>
          <p:cNvGrpSpPr/>
          <p:nvPr/>
        </p:nvGrpSpPr>
        <p:grpSpPr>
          <a:xfrm>
            <a:off x="6226492" y="10730865"/>
            <a:ext cx="6956108" cy="6903720"/>
            <a:chOff x="6226492" y="10730865"/>
            <a:chExt cx="6956108" cy="6903720"/>
          </a:xfrm>
        </p:grpSpPr>
        <p:sp>
          <p:nvSpPr>
            <p:cNvPr id="45" name="ring-PUR2"/>
            <p:cNvSpPr/>
            <p:nvPr/>
          </p:nvSpPr>
          <p:spPr>
            <a:xfrm>
              <a:off x="9477375" y="14531340"/>
              <a:ext cx="3396615" cy="3103245"/>
            </a:xfrm>
            <a:custGeom>
              <a:avLst/>
              <a:gdLst/>
              <a:ahLst/>
              <a:cxnLst/>
              <a:rect l="l" t="t" r="r" b="b"/>
              <a:pathLst>
                <a:path w="3396615" h="3103245">
                  <a:moveTo>
                    <a:pt x="1503045" y="113348"/>
                  </a:moveTo>
                  <a:lnTo>
                    <a:pt x="1468755" y="208598"/>
                  </a:lnTo>
                  <a:lnTo>
                    <a:pt x="1428750" y="300038"/>
                  </a:lnTo>
                  <a:lnTo>
                    <a:pt x="1381125" y="389572"/>
                  </a:lnTo>
                  <a:lnTo>
                    <a:pt x="1328737" y="475298"/>
                  </a:lnTo>
                  <a:lnTo>
                    <a:pt x="1270635" y="557212"/>
                  </a:lnTo>
                  <a:lnTo>
                    <a:pt x="1206817" y="635318"/>
                  </a:lnTo>
                  <a:lnTo>
                    <a:pt x="1138237" y="708660"/>
                  </a:lnTo>
                  <a:lnTo>
                    <a:pt x="1064895" y="777240"/>
                  </a:lnTo>
                  <a:lnTo>
                    <a:pt x="986790" y="841058"/>
                  </a:lnTo>
                  <a:lnTo>
                    <a:pt x="904875" y="899160"/>
                  </a:lnTo>
                  <a:lnTo>
                    <a:pt x="819150" y="951548"/>
                  </a:lnTo>
                  <a:lnTo>
                    <a:pt x="729615" y="999172"/>
                  </a:lnTo>
                  <a:lnTo>
                    <a:pt x="638175" y="1039178"/>
                  </a:lnTo>
                  <a:lnTo>
                    <a:pt x="542925" y="1073468"/>
                  </a:lnTo>
                  <a:lnTo>
                    <a:pt x="428625" y="720090"/>
                  </a:lnTo>
                  <a:lnTo>
                    <a:pt x="0" y="1974532"/>
                  </a:lnTo>
                  <a:lnTo>
                    <a:pt x="1202055" y="3103245"/>
                  </a:lnTo>
                  <a:lnTo>
                    <a:pt x="1367790" y="2727008"/>
                  </a:lnTo>
                  <a:lnTo>
                    <a:pt x="1616393" y="2610802"/>
                  </a:lnTo>
                  <a:lnTo>
                    <a:pt x="1854517" y="2474595"/>
                  </a:lnTo>
                  <a:lnTo>
                    <a:pt x="2080260" y="2318385"/>
                  </a:lnTo>
                  <a:lnTo>
                    <a:pt x="2292667" y="2145030"/>
                  </a:lnTo>
                  <a:lnTo>
                    <a:pt x="2490787" y="1955482"/>
                  </a:lnTo>
                  <a:lnTo>
                    <a:pt x="2671763" y="1749742"/>
                  </a:lnTo>
                  <a:lnTo>
                    <a:pt x="2835593" y="1529715"/>
                  </a:lnTo>
                  <a:lnTo>
                    <a:pt x="2980373" y="1296352"/>
                  </a:lnTo>
                  <a:lnTo>
                    <a:pt x="3106103" y="1052512"/>
                  </a:lnTo>
                  <a:lnTo>
                    <a:pt x="3210877" y="799148"/>
                  </a:lnTo>
                  <a:lnTo>
                    <a:pt x="3294697" y="538162"/>
                  </a:lnTo>
                  <a:lnTo>
                    <a:pt x="3356610" y="271462"/>
                  </a:lnTo>
                  <a:lnTo>
                    <a:pt x="3396615" y="0"/>
                  </a:lnTo>
                  <a:close/>
                </a:path>
              </a:pathLst>
            </a:custGeom>
            <a:solidFill>
              <a:srgbClr val="A18A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ing-SKY"/>
            <p:cNvSpPr/>
            <p:nvPr/>
          </p:nvSpPr>
          <p:spPr>
            <a:xfrm>
              <a:off x="6622732" y="14823758"/>
              <a:ext cx="3629026" cy="2690812"/>
            </a:xfrm>
            <a:custGeom>
              <a:avLst/>
              <a:gdLst/>
              <a:ahLst/>
              <a:cxnLst/>
              <a:rect l="l" t="t" r="r" b="b"/>
              <a:pathLst>
                <a:path w="3629026" h="2690812">
                  <a:moveTo>
                    <a:pt x="2935606" y="854392"/>
                  </a:moveTo>
                  <a:lnTo>
                    <a:pt x="2834640" y="850582"/>
                  </a:lnTo>
                  <a:lnTo>
                    <a:pt x="2734628" y="841057"/>
                  </a:lnTo>
                  <a:lnTo>
                    <a:pt x="2635568" y="823912"/>
                  </a:lnTo>
                  <a:lnTo>
                    <a:pt x="2537460" y="800100"/>
                  </a:lnTo>
                  <a:lnTo>
                    <a:pt x="2441258" y="770572"/>
                  </a:lnTo>
                  <a:lnTo>
                    <a:pt x="2347913" y="734377"/>
                  </a:lnTo>
                  <a:lnTo>
                    <a:pt x="2256473" y="691514"/>
                  </a:lnTo>
                  <a:lnTo>
                    <a:pt x="2168843" y="642937"/>
                  </a:lnTo>
                  <a:lnTo>
                    <a:pt x="2084070" y="588644"/>
                  </a:lnTo>
                  <a:lnTo>
                    <a:pt x="2003108" y="527684"/>
                  </a:lnTo>
                  <a:lnTo>
                    <a:pt x="1926908" y="462914"/>
                  </a:lnTo>
                  <a:lnTo>
                    <a:pt x="1854518" y="392430"/>
                  </a:lnTo>
                  <a:lnTo>
                    <a:pt x="1787843" y="317182"/>
                  </a:lnTo>
                  <a:lnTo>
                    <a:pt x="1725930" y="238124"/>
                  </a:lnTo>
                  <a:lnTo>
                    <a:pt x="2025968" y="20002"/>
                  </a:lnTo>
                  <a:lnTo>
                    <a:pt x="701993" y="0"/>
                  </a:lnTo>
                  <a:lnTo>
                    <a:pt x="0" y="1491614"/>
                  </a:lnTo>
                  <a:lnTo>
                    <a:pt x="408623" y="1533524"/>
                  </a:lnTo>
                  <a:lnTo>
                    <a:pt x="596266" y="1733550"/>
                  </a:lnTo>
                  <a:lnTo>
                    <a:pt x="799148" y="1918334"/>
                  </a:lnTo>
                  <a:lnTo>
                    <a:pt x="1016318" y="2085022"/>
                  </a:lnTo>
                  <a:lnTo>
                    <a:pt x="1246823" y="2233612"/>
                  </a:lnTo>
                  <a:lnTo>
                    <a:pt x="1488758" y="2362200"/>
                  </a:lnTo>
                  <a:lnTo>
                    <a:pt x="1741170" y="2471737"/>
                  </a:lnTo>
                  <a:lnTo>
                    <a:pt x="2001203" y="2559367"/>
                  </a:lnTo>
                  <a:lnTo>
                    <a:pt x="2266950" y="2625090"/>
                  </a:lnTo>
                  <a:lnTo>
                    <a:pt x="2537460" y="2668904"/>
                  </a:lnTo>
                  <a:lnTo>
                    <a:pt x="2810828" y="2690812"/>
                  </a:lnTo>
                  <a:lnTo>
                    <a:pt x="3085148" y="2688907"/>
                  </a:lnTo>
                  <a:lnTo>
                    <a:pt x="3358516" y="2666047"/>
                  </a:lnTo>
                  <a:lnTo>
                    <a:pt x="3629026" y="2620327"/>
                  </a:lnTo>
                  <a:close/>
                </a:path>
              </a:pathLst>
            </a:custGeom>
            <a:solidFill>
              <a:srgbClr val="5DC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ing-BLUE"/>
            <p:cNvSpPr/>
            <p:nvPr/>
          </p:nvSpPr>
          <p:spPr>
            <a:xfrm>
              <a:off x="6226492" y="12050078"/>
              <a:ext cx="2422208" cy="3799522"/>
            </a:xfrm>
            <a:custGeom>
              <a:avLst/>
              <a:gdLst/>
              <a:ahLst/>
              <a:cxnLst/>
              <a:rect l="l" t="t" r="r" b="b"/>
              <a:pathLst>
                <a:path w="2422208" h="3799522">
                  <a:moveTo>
                    <a:pt x="1909763" y="2594610"/>
                  </a:moveTo>
                  <a:lnTo>
                    <a:pt x="1882140" y="2498407"/>
                  </a:lnTo>
                  <a:lnTo>
                    <a:pt x="1860233" y="2399347"/>
                  </a:lnTo>
                  <a:lnTo>
                    <a:pt x="1845946" y="2300287"/>
                  </a:lnTo>
                  <a:lnTo>
                    <a:pt x="1838326" y="2199322"/>
                  </a:lnTo>
                  <a:lnTo>
                    <a:pt x="1836420" y="2099310"/>
                  </a:lnTo>
                  <a:lnTo>
                    <a:pt x="1842136" y="1998344"/>
                  </a:lnTo>
                  <a:lnTo>
                    <a:pt x="1854518" y="1898332"/>
                  </a:lnTo>
                  <a:lnTo>
                    <a:pt x="1873568" y="1800224"/>
                  </a:lnTo>
                  <a:lnTo>
                    <a:pt x="1899286" y="1702117"/>
                  </a:lnTo>
                  <a:lnTo>
                    <a:pt x="1931670" y="1606867"/>
                  </a:lnTo>
                  <a:lnTo>
                    <a:pt x="1970723" y="1514474"/>
                  </a:lnTo>
                  <a:lnTo>
                    <a:pt x="2014538" y="1423987"/>
                  </a:lnTo>
                  <a:lnTo>
                    <a:pt x="2065973" y="1337310"/>
                  </a:lnTo>
                  <a:lnTo>
                    <a:pt x="2122170" y="1253490"/>
                  </a:lnTo>
                  <a:lnTo>
                    <a:pt x="2422208" y="1471612"/>
                  </a:lnTo>
                  <a:lnTo>
                    <a:pt x="2032636" y="205740"/>
                  </a:lnTo>
                  <a:lnTo>
                    <a:pt x="396240" y="0"/>
                  </a:lnTo>
                  <a:lnTo>
                    <a:pt x="482918" y="401002"/>
                  </a:lnTo>
                  <a:lnTo>
                    <a:pt x="350520" y="641032"/>
                  </a:lnTo>
                  <a:lnTo>
                    <a:pt x="238126" y="891540"/>
                  </a:lnTo>
                  <a:lnTo>
                    <a:pt x="145733" y="1149667"/>
                  </a:lnTo>
                  <a:lnTo>
                    <a:pt x="76200" y="1415414"/>
                  </a:lnTo>
                  <a:lnTo>
                    <a:pt x="28576" y="1684972"/>
                  </a:lnTo>
                  <a:lnTo>
                    <a:pt x="2858" y="1958340"/>
                  </a:lnTo>
                  <a:lnTo>
                    <a:pt x="0" y="2232660"/>
                  </a:lnTo>
                  <a:lnTo>
                    <a:pt x="19050" y="2506027"/>
                  </a:lnTo>
                  <a:lnTo>
                    <a:pt x="60960" y="2776537"/>
                  </a:lnTo>
                  <a:lnTo>
                    <a:pt x="124778" y="3043237"/>
                  </a:lnTo>
                  <a:lnTo>
                    <a:pt x="210503" y="3304222"/>
                  </a:lnTo>
                  <a:lnTo>
                    <a:pt x="317183" y="3556634"/>
                  </a:lnTo>
                  <a:lnTo>
                    <a:pt x="444818" y="3799522"/>
                  </a:lnTo>
                  <a:close/>
                </a:path>
              </a:pathLst>
            </a:custGeom>
            <a:solidFill>
              <a:srgbClr val="32A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ing-ORG"/>
            <p:cNvSpPr/>
            <p:nvPr/>
          </p:nvSpPr>
          <p:spPr>
            <a:xfrm>
              <a:off x="7080885" y="10730865"/>
              <a:ext cx="3908107" cy="2383155"/>
            </a:xfrm>
            <a:custGeom>
              <a:avLst/>
              <a:gdLst/>
              <a:ahLst/>
              <a:cxnLst/>
              <a:rect l="l" t="t" r="r" b="b"/>
              <a:pathLst>
                <a:path w="3908107" h="2383155">
                  <a:moveTo>
                    <a:pt x="1598295" y="2242185"/>
                  </a:moveTo>
                  <a:lnTo>
                    <a:pt x="1682115" y="2185987"/>
                  </a:lnTo>
                  <a:lnTo>
                    <a:pt x="1768793" y="2134553"/>
                  </a:lnTo>
                  <a:lnTo>
                    <a:pt x="1859280" y="2090737"/>
                  </a:lnTo>
                  <a:lnTo>
                    <a:pt x="1951673" y="2051685"/>
                  </a:lnTo>
                  <a:lnTo>
                    <a:pt x="2046923" y="2019300"/>
                  </a:lnTo>
                  <a:lnTo>
                    <a:pt x="2145030" y="1993583"/>
                  </a:lnTo>
                  <a:lnTo>
                    <a:pt x="2243137" y="1974533"/>
                  </a:lnTo>
                  <a:lnTo>
                    <a:pt x="2343150" y="1962150"/>
                  </a:lnTo>
                  <a:lnTo>
                    <a:pt x="2444115" y="1956435"/>
                  </a:lnTo>
                  <a:lnTo>
                    <a:pt x="2544127" y="1958340"/>
                  </a:lnTo>
                  <a:lnTo>
                    <a:pt x="2645093" y="1965960"/>
                  </a:lnTo>
                  <a:lnTo>
                    <a:pt x="2744153" y="1980247"/>
                  </a:lnTo>
                  <a:lnTo>
                    <a:pt x="2843213" y="2002155"/>
                  </a:lnTo>
                  <a:lnTo>
                    <a:pt x="2939415" y="2029777"/>
                  </a:lnTo>
                  <a:lnTo>
                    <a:pt x="2825115" y="2383155"/>
                  </a:lnTo>
                  <a:lnTo>
                    <a:pt x="3908107" y="1620203"/>
                  </a:lnTo>
                  <a:lnTo>
                    <a:pt x="3598545" y="0"/>
                  </a:lnTo>
                  <a:lnTo>
                    <a:pt x="3243263" y="207645"/>
                  </a:lnTo>
                  <a:lnTo>
                    <a:pt x="2974657" y="155257"/>
                  </a:lnTo>
                  <a:lnTo>
                    <a:pt x="2701290" y="125730"/>
                  </a:lnTo>
                  <a:lnTo>
                    <a:pt x="2427923" y="118110"/>
                  </a:lnTo>
                  <a:lnTo>
                    <a:pt x="2153603" y="134303"/>
                  </a:lnTo>
                  <a:lnTo>
                    <a:pt x="1882140" y="171450"/>
                  </a:lnTo>
                  <a:lnTo>
                    <a:pt x="1614487" y="231457"/>
                  </a:lnTo>
                  <a:lnTo>
                    <a:pt x="1352550" y="313373"/>
                  </a:lnTo>
                  <a:lnTo>
                    <a:pt x="1099185" y="416243"/>
                  </a:lnTo>
                  <a:lnTo>
                    <a:pt x="854393" y="540067"/>
                  </a:lnTo>
                  <a:lnTo>
                    <a:pt x="620077" y="682943"/>
                  </a:lnTo>
                  <a:lnTo>
                    <a:pt x="399097" y="845820"/>
                  </a:lnTo>
                  <a:lnTo>
                    <a:pt x="191453" y="1024890"/>
                  </a:lnTo>
                  <a:lnTo>
                    <a:pt x="0" y="1221105"/>
                  </a:lnTo>
                  <a:close/>
                </a:path>
              </a:pathLst>
            </a:custGeom>
            <a:solidFill>
              <a:srgbClr val="FC99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ing-PINK"/>
            <p:cNvSpPr/>
            <p:nvPr/>
          </p:nvSpPr>
          <p:spPr>
            <a:xfrm>
              <a:off x="10499408" y="11211878"/>
              <a:ext cx="2683192" cy="3878580"/>
            </a:xfrm>
            <a:custGeom>
              <a:avLst/>
              <a:gdLst/>
              <a:ahLst/>
              <a:cxnLst/>
              <a:rect l="l" t="t" r="r" b="b"/>
              <a:pathLst>
                <a:path w="2683192" h="3878580">
                  <a:moveTo>
                    <a:pt x="0" y="1808797"/>
                  </a:moveTo>
                  <a:lnTo>
                    <a:pt x="76200" y="1874520"/>
                  </a:lnTo>
                  <a:lnTo>
                    <a:pt x="147637" y="1945957"/>
                  </a:lnTo>
                  <a:lnTo>
                    <a:pt x="214312" y="2021204"/>
                  </a:lnTo>
                  <a:lnTo>
                    <a:pt x="275272" y="2101214"/>
                  </a:lnTo>
                  <a:lnTo>
                    <a:pt x="331470" y="2185034"/>
                  </a:lnTo>
                  <a:lnTo>
                    <a:pt x="381000" y="2271712"/>
                  </a:lnTo>
                  <a:lnTo>
                    <a:pt x="424814" y="2362200"/>
                  </a:lnTo>
                  <a:lnTo>
                    <a:pt x="462914" y="2455544"/>
                  </a:lnTo>
                  <a:lnTo>
                    <a:pt x="494347" y="2551747"/>
                  </a:lnTo>
                  <a:lnTo>
                    <a:pt x="519112" y="2648902"/>
                  </a:lnTo>
                  <a:lnTo>
                    <a:pt x="537210" y="2747962"/>
                  </a:lnTo>
                  <a:lnTo>
                    <a:pt x="549592" y="2847974"/>
                  </a:lnTo>
                  <a:lnTo>
                    <a:pt x="554354" y="2948940"/>
                  </a:lnTo>
                  <a:lnTo>
                    <a:pt x="552450" y="3048952"/>
                  </a:lnTo>
                  <a:lnTo>
                    <a:pt x="180974" y="3029902"/>
                  </a:lnTo>
                  <a:lnTo>
                    <a:pt x="1198244" y="3878580"/>
                  </a:lnTo>
                  <a:lnTo>
                    <a:pt x="2683192" y="3160394"/>
                  </a:lnTo>
                  <a:lnTo>
                    <a:pt x="2390774" y="2870834"/>
                  </a:lnTo>
                  <a:lnTo>
                    <a:pt x="2371724" y="2597467"/>
                  </a:lnTo>
                  <a:lnTo>
                    <a:pt x="2329814" y="2326957"/>
                  </a:lnTo>
                  <a:lnTo>
                    <a:pt x="2265997" y="2060257"/>
                  </a:lnTo>
                  <a:lnTo>
                    <a:pt x="2180272" y="1799272"/>
                  </a:lnTo>
                  <a:lnTo>
                    <a:pt x="2073592" y="1546860"/>
                  </a:lnTo>
                  <a:lnTo>
                    <a:pt x="1945957" y="1303972"/>
                  </a:lnTo>
                  <a:lnTo>
                    <a:pt x="1799272" y="1072514"/>
                  </a:lnTo>
                  <a:lnTo>
                    <a:pt x="1633537" y="853440"/>
                  </a:lnTo>
                  <a:lnTo>
                    <a:pt x="1451610" y="648652"/>
                  </a:lnTo>
                  <a:lnTo>
                    <a:pt x="1252537" y="460057"/>
                  </a:lnTo>
                  <a:lnTo>
                    <a:pt x="1038224" y="288607"/>
                  </a:lnTo>
                  <a:lnTo>
                    <a:pt x="811530" y="135254"/>
                  </a:lnTo>
                  <a:lnTo>
                    <a:pt x="572452" y="0"/>
                  </a:lnTo>
                  <a:close/>
                </a:path>
              </a:pathLst>
            </a:custGeom>
            <a:solidFill>
              <a:srgbClr val="FD94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ing-c-t1"/>
            <p:cNvSpPr txBox="1"/>
            <p:nvPr/>
          </p:nvSpPr>
          <p:spPr>
            <a:xfrm>
              <a:off x="8382000" y="13509308"/>
              <a:ext cx="24765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疾病机制</a:t>
              </a:r>
            </a:p>
          </p:txBody>
        </p:sp>
        <p:sp>
          <p:nvSpPr>
            <p:cNvPr id="51" name="ring-c-t2"/>
            <p:cNvSpPr txBox="1"/>
            <p:nvPr/>
          </p:nvSpPr>
          <p:spPr>
            <a:xfrm>
              <a:off x="8401050" y="14185582"/>
              <a:ext cx="24765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发现引擎</a:t>
              </a:r>
            </a:p>
          </p:txBody>
        </p:sp>
        <p:sp>
          <p:nvSpPr>
            <p:cNvPr id="52" name="ring-b1-l1"/>
            <p:cNvSpPr txBox="1"/>
            <p:nvPr/>
          </p:nvSpPr>
          <p:spPr>
            <a:xfrm>
              <a:off x="8442960" y="11244262"/>
              <a:ext cx="264985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 多组学共</a:t>
              </a:r>
            </a:p>
          </p:txBody>
        </p:sp>
        <p:sp>
          <p:nvSpPr>
            <p:cNvPr id="53" name="ring-b1-l2"/>
            <p:cNvSpPr txBox="1"/>
            <p:nvPr/>
          </p:nvSpPr>
          <p:spPr>
            <a:xfrm>
              <a:off x="8351520" y="11768138"/>
              <a:ext cx="280416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表达网络构建</a:t>
              </a:r>
            </a:p>
          </p:txBody>
        </p:sp>
        <p:sp>
          <p:nvSpPr>
            <p:cNvPr id="54" name="ring-b2-l1"/>
            <p:cNvSpPr txBox="1"/>
            <p:nvPr/>
          </p:nvSpPr>
          <p:spPr>
            <a:xfrm>
              <a:off x="11534775" y="12796838"/>
              <a:ext cx="6381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</a:t>
              </a:r>
            </a:p>
          </p:txBody>
        </p:sp>
        <p:sp>
          <p:nvSpPr>
            <p:cNvPr id="55" name="ring-b2-l2"/>
            <p:cNvSpPr txBox="1"/>
            <p:nvPr/>
          </p:nvSpPr>
          <p:spPr>
            <a:xfrm>
              <a:off x="10965180" y="13330238"/>
              <a:ext cx="192024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关键调控</a:t>
              </a:r>
            </a:p>
          </p:txBody>
        </p:sp>
        <p:sp>
          <p:nvSpPr>
            <p:cNvPr id="56" name="ring-b2-l3"/>
            <p:cNvSpPr txBox="1"/>
            <p:nvPr/>
          </p:nvSpPr>
          <p:spPr>
            <a:xfrm>
              <a:off x="10955655" y="13854112"/>
              <a:ext cx="192024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节点识别</a:t>
              </a:r>
            </a:p>
          </p:txBody>
        </p:sp>
        <p:sp>
          <p:nvSpPr>
            <p:cNvPr id="57" name="ring-b3-l1"/>
            <p:cNvSpPr txBox="1"/>
            <p:nvPr/>
          </p:nvSpPr>
          <p:spPr>
            <a:xfrm>
              <a:off x="9547860" y="15701962"/>
              <a:ext cx="264985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 疾病亚型</a:t>
              </a:r>
            </a:p>
          </p:txBody>
        </p:sp>
        <p:sp>
          <p:nvSpPr>
            <p:cNvPr id="58" name="ring-b3-l2"/>
            <p:cNvSpPr txBox="1"/>
            <p:nvPr/>
          </p:nvSpPr>
          <p:spPr>
            <a:xfrm>
              <a:off x="9903142" y="16225838"/>
              <a:ext cx="192024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聚类分析</a:t>
              </a:r>
            </a:p>
          </p:txBody>
        </p:sp>
        <p:sp>
          <p:nvSpPr>
            <p:cNvPr id="59" name="ring-b4-l1"/>
            <p:cNvSpPr txBox="1"/>
            <p:nvPr/>
          </p:nvSpPr>
          <p:spPr>
            <a:xfrm>
              <a:off x="6704648" y="15501938"/>
              <a:ext cx="264985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 跨组学通</a:t>
              </a:r>
            </a:p>
          </p:txBody>
        </p:sp>
        <p:sp>
          <p:nvSpPr>
            <p:cNvPr id="60" name="ring-b4-l2"/>
            <p:cNvSpPr txBox="1"/>
            <p:nvPr/>
          </p:nvSpPr>
          <p:spPr>
            <a:xfrm>
              <a:off x="6972300" y="16025812"/>
              <a:ext cx="23622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路富集分析</a:t>
              </a:r>
            </a:p>
          </p:txBody>
        </p:sp>
        <p:sp>
          <p:nvSpPr>
            <p:cNvPr id="61" name="ring-b5-l1"/>
            <p:cNvSpPr txBox="1"/>
            <p:nvPr/>
          </p:nvSpPr>
          <p:spPr>
            <a:xfrm>
              <a:off x="6972300" y="12482512"/>
              <a:ext cx="6381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</a:t>
              </a:r>
            </a:p>
          </p:txBody>
        </p:sp>
        <p:sp>
          <p:nvSpPr>
            <p:cNvPr id="62" name="ring-b5-l2"/>
            <p:cNvSpPr txBox="1"/>
            <p:nvPr/>
          </p:nvSpPr>
          <p:spPr>
            <a:xfrm>
              <a:off x="6393180" y="13015912"/>
              <a:ext cx="192024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潜在治疗</a:t>
              </a:r>
            </a:p>
          </p:txBody>
        </p:sp>
        <p:sp>
          <p:nvSpPr>
            <p:cNvPr id="63" name="ring-b5-l3"/>
            <p:cNvSpPr txBox="1"/>
            <p:nvPr/>
          </p:nvSpPr>
          <p:spPr>
            <a:xfrm>
              <a:off x="6383655" y="13539788"/>
              <a:ext cx="192024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靶点预测</a:t>
              </a:r>
            </a:p>
          </p:txBody>
        </p:sp>
      </p:grpSp>
      <p:grpSp>
        <p:nvGrpSpPr>
          <p:cNvPr id="210" name="connectors"/>
          <p:cNvGrpSpPr/>
          <p:nvPr/>
        </p:nvGrpSpPr>
        <p:grpSpPr>
          <a:xfrm>
            <a:off x="1104900" y="9639300"/>
            <a:ext cx="17068800" cy="8201025"/>
            <a:chOff x="1104900" y="9639300"/>
            <a:chExt cx="17068800" cy="8201025"/>
          </a:xfrm>
        </p:grpSpPr>
        <p:sp>
          <p:nvSpPr>
            <p:cNvPr id="64" name="ic-orgL"/>
            <p:cNvSpPr/>
            <p:nvPr/>
          </p:nvSpPr>
          <p:spPr>
            <a:xfrm>
              <a:off x="1104900" y="9639300"/>
              <a:ext cx="381000" cy="381000"/>
            </a:xfrm>
            <a:prstGeom prst="ellipse">
              <a:avLst/>
            </a:prstGeom>
            <a:noFill/>
            <a:ln w="57150">
              <a:solidFill>
                <a:srgbClr val="FC99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5" name="ic-orgL-bar"/>
            <p:cNvCxnSpPr/>
            <p:nvPr/>
          </p:nvCxnSpPr>
          <p:spPr>
            <a:xfrm flipV="1">
              <a:off x="1181100" y="9715500"/>
              <a:ext cx="228600" cy="228600"/>
            </a:xfrm>
            <a:prstGeom prst="line">
              <a:avLst/>
            </a:prstGeom>
            <a:ln w="57150">
              <a:solidFill>
                <a:srgbClr val="FC99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ic-orgR"/>
            <p:cNvSpPr/>
            <p:nvPr/>
          </p:nvSpPr>
          <p:spPr>
            <a:xfrm>
              <a:off x="17792700" y="9639300"/>
              <a:ext cx="381000" cy="381000"/>
            </a:xfrm>
            <a:prstGeom prst="ellipse">
              <a:avLst/>
            </a:prstGeom>
            <a:noFill/>
            <a:ln w="57150">
              <a:solidFill>
                <a:srgbClr val="FC99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ic-orgR-bar"/>
            <p:cNvCxnSpPr/>
            <p:nvPr/>
          </p:nvCxnSpPr>
          <p:spPr>
            <a:xfrm flipV="1">
              <a:off x="17868900" y="9715500"/>
              <a:ext cx="228600" cy="228600"/>
            </a:xfrm>
            <a:prstGeom prst="line">
              <a:avLst/>
            </a:prstGeom>
            <a:ln w="57150">
              <a:solidFill>
                <a:srgbClr val="FC996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ic-infL"/>
            <p:cNvSpPr/>
            <p:nvPr/>
          </p:nvSpPr>
          <p:spPr>
            <a:xfrm>
              <a:off x="3224212" y="10539412"/>
              <a:ext cx="257175" cy="257175"/>
            </a:xfrm>
            <a:prstGeom prst="ellipse">
              <a:avLst/>
            </a:prstGeom>
            <a:noFill/>
            <a:ln w="47625">
              <a:solidFill>
                <a:srgbClr val="32AD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ic-infL-bar"/>
            <p:cNvCxnSpPr/>
            <p:nvPr/>
          </p:nvCxnSpPr>
          <p:spPr>
            <a:xfrm>
              <a:off x="3352800" y="10591800"/>
              <a:ext cx="0" cy="114300"/>
            </a:xfrm>
            <a:prstGeom prst="line">
              <a:avLst/>
            </a:prstGeom>
            <a:ln w="47625">
              <a:solidFill>
                <a:srgbClr val="32ADF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ic-infR"/>
            <p:cNvSpPr/>
            <p:nvPr/>
          </p:nvSpPr>
          <p:spPr>
            <a:xfrm>
              <a:off x="15768638" y="10625138"/>
              <a:ext cx="257175" cy="257175"/>
            </a:xfrm>
            <a:prstGeom prst="ellipse">
              <a:avLst/>
            </a:prstGeom>
            <a:noFill/>
            <a:ln w="47625">
              <a:solidFill>
                <a:srgbClr val="32AD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1" name="ic-infR-bar"/>
            <p:cNvCxnSpPr/>
            <p:nvPr/>
          </p:nvCxnSpPr>
          <p:spPr>
            <a:xfrm>
              <a:off x="15897225" y="10677525"/>
              <a:ext cx="0" cy="114300"/>
            </a:xfrm>
            <a:prstGeom prst="line">
              <a:avLst/>
            </a:prstGeom>
            <a:ln w="47625">
              <a:solidFill>
                <a:srgbClr val="32ADF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onn-org-L"/>
            <p:cNvSpPr/>
            <p:nvPr/>
          </p:nvSpPr>
          <p:spPr>
            <a:xfrm>
              <a:off x="1428750" y="10210800"/>
              <a:ext cx="2571750" cy="7296150"/>
            </a:xfrm>
            <a:custGeom>
              <a:avLst/>
              <a:gdLst/>
              <a:ahLst/>
              <a:cxnLst/>
              <a:rect l="l" t="t" r="r" b="b"/>
              <a:pathLst>
                <a:path w="2571750" h="7296150">
                  <a:moveTo>
                    <a:pt x="0" y="0"/>
                  </a:moveTo>
                  <a:lnTo>
                    <a:pt x="152400" y="342900"/>
                  </a:lnTo>
                  <a:lnTo>
                    <a:pt x="314325" y="742950"/>
                  </a:lnTo>
                  <a:lnTo>
                    <a:pt x="466725" y="1181100"/>
                  </a:lnTo>
                  <a:lnTo>
                    <a:pt x="647700" y="1695450"/>
                  </a:lnTo>
                  <a:lnTo>
                    <a:pt x="828675" y="2219325"/>
                  </a:lnTo>
                  <a:lnTo>
                    <a:pt x="1028700" y="2762250"/>
                  </a:lnTo>
                  <a:lnTo>
                    <a:pt x="1219200" y="3314700"/>
                  </a:lnTo>
                  <a:lnTo>
                    <a:pt x="1409700" y="3886200"/>
                  </a:lnTo>
                  <a:lnTo>
                    <a:pt x="1619250" y="4505325"/>
                  </a:lnTo>
                  <a:lnTo>
                    <a:pt x="1809750" y="5029200"/>
                  </a:lnTo>
                  <a:lnTo>
                    <a:pt x="2000250" y="5600700"/>
                  </a:lnTo>
                  <a:lnTo>
                    <a:pt x="2200275" y="6172200"/>
                  </a:lnTo>
                  <a:lnTo>
                    <a:pt x="2400300" y="6762750"/>
                  </a:lnTo>
                  <a:lnTo>
                    <a:pt x="2571750" y="7296150"/>
                  </a:lnTo>
                </a:path>
              </a:pathLst>
            </a:custGeom>
            <a:noFill/>
            <a:ln w="42862">
              <a:solidFill>
                <a:srgbClr val="FC996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conn-org-R"/>
            <p:cNvSpPr/>
            <p:nvPr/>
          </p:nvSpPr>
          <p:spPr>
            <a:xfrm>
              <a:off x="15411450" y="10210800"/>
              <a:ext cx="2571750" cy="7296150"/>
            </a:xfrm>
            <a:custGeom>
              <a:avLst/>
              <a:gdLst/>
              <a:ahLst/>
              <a:cxnLst/>
              <a:rect l="l" t="t" r="r" b="b"/>
              <a:pathLst>
                <a:path w="2571750" h="7296150">
                  <a:moveTo>
                    <a:pt x="2571750" y="0"/>
                  </a:moveTo>
                  <a:lnTo>
                    <a:pt x="2419350" y="342900"/>
                  </a:lnTo>
                  <a:lnTo>
                    <a:pt x="2257425" y="742950"/>
                  </a:lnTo>
                  <a:lnTo>
                    <a:pt x="2105025" y="1181100"/>
                  </a:lnTo>
                  <a:lnTo>
                    <a:pt x="1924050" y="1695450"/>
                  </a:lnTo>
                  <a:lnTo>
                    <a:pt x="1743075" y="2219325"/>
                  </a:lnTo>
                  <a:lnTo>
                    <a:pt x="1543050" y="2762250"/>
                  </a:lnTo>
                  <a:lnTo>
                    <a:pt x="1352550" y="3314700"/>
                  </a:lnTo>
                  <a:lnTo>
                    <a:pt x="1162050" y="3886200"/>
                  </a:lnTo>
                  <a:lnTo>
                    <a:pt x="952500" y="4505325"/>
                  </a:lnTo>
                  <a:lnTo>
                    <a:pt x="762000" y="5029200"/>
                  </a:lnTo>
                  <a:lnTo>
                    <a:pt x="571500" y="5600700"/>
                  </a:lnTo>
                  <a:lnTo>
                    <a:pt x="371475" y="6172200"/>
                  </a:lnTo>
                  <a:lnTo>
                    <a:pt x="171450" y="6762750"/>
                  </a:lnTo>
                  <a:lnTo>
                    <a:pt x="0" y="7296150"/>
                  </a:lnTo>
                </a:path>
              </a:pathLst>
            </a:custGeom>
            <a:noFill/>
            <a:ln w="42862">
              <a:solidFill>
                <a:srgbClr val="FC996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onn-blu-L"/>
            <p:cNvSpPr/>
            <p:nvPr/>
          </p:nvSpPr>
          <p:spPr>
            <a:xfrm>
              <a:off x="3333750" y="10972800"/>
              <a:ext cx="714375" cy="6419850"/>
            </a:xfrm>
            <a:custGeom>
              <a:avLst/>
              <a:gdLst/>
              <a:ahLst/>
              <a:cxnLst/>
              <a:rect l="l" t="t" r="r" b="b"/>
              <a:pathLst>
                <a:path w="714375" h="6419850">
                  <a:moveTo>
                    <a:pt x="0" y="0"/>
                  </a:moveTo>
                  <a:lnTo>
                    <a:pt x="66675" y="361950"/>
                  </a:lnTo>
                  <a:lnTo>
                    <a:pt x="123825" y="742950"/>
                  </a:lnTo>
                  <a:lnTo>
                    <a:pt x="180975" y="1171575"/>
                  </a:lnTo>
                  <a:lnTo>
                    <a:pt x="238125" y="1600200"/>
                  </a:lnTo>
                  <a:lnTo>
                    <a:pt x="295275" y="2076450"/>
                  </a:lnTo>
                  <a:lnTo>
                    <a:pt x="352425" y="2552700"/>
                  </a:lnTo>
                  <a:lnTo>
                    <a:pt x="400050" y="2981325"/>
                  </a:lnTo>
                  <a:lnTo>
                    <a:pt x="457200" y="3505200"/>
                  </a:lnTo>
                  <a:lnTo>
                    <a:pt x="504825" y="3981450"/>
                  </a:lnTo>
                  <a:lnTo>
                    <a:pt x="561975" y="4552950"/>
                  </a:lnTo>
                  <a:lnTo>
                    <a:pt x="609600" y="5029200"/>
                  </a:lnTo>
                  <a:lnTo>
                    <a:pt x="657225" y="5600700"/>
                  </a:lnTo>
                  <a:lnTo>
                    <a:pt x="695325" y="6172200"/>
                  </a:lnTo>
                  <a:lnTo>
                    <a:pt x="714375" y="6419850"/>
                  </a:lnTo>
                </a:path>
              </a:pathLst>
            </a:custGeom>
            <a:noFill/>
            <a:ln w="42862">
              <a:solidFill>
                <a:srgbClr val="32ADF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conn-blu-R"/>
            <p:cNvSpPr/>
            <p:nvPr/>
          </p:nvSpPr>
          <p:spPr>
            <a:xfrm>
              <a:off x="15363825" y="10972800"/>
              <a:ext cx="714375" cy="6419850"/>
            </a:xfrm>
            <a:custGeom>
              <a:avLst/>
              <a:gdLst/>
              <a:ahLst/>
              <a:cxnLst/>
              <a:rect l="l" t="t" r="r" b="b"/>
              <a:pathLst>
                <a:path w="714375" h="6419850">
                  <a:moveTo>
                    <a:pt x="714375" y="0"/>
                  </a:moveTo>
                  <a:lnTo>
                    <a:pt x="647700" y="361950"/>
                  </a:lnTo>
                  <a:lnTo>
                    <a:pt x="590550" y="742950"/>
                  </a:lnTo>
                  <a:lnTo>
                    <a:pt x="533400" y="1171575"/>
                  </a:lnTo>
                  <a:lnTo>
                    <a:pt x="476250" y="1600200"/>
                  </a:lnTo>
                  <a:lnTo>
                    <a:pt x="419100" y="2076450"/>
                  </a:lnTo>
                  <a:lnTo>
                    <a:pt x="361950" y="2552700"/>
                  </a:lnTo>
                  <a:lnTo>
                    <a:pt x="314325" y="2981325"/>
                  </a:lnTo>
                  <a:lnTo>
                    <a:pt x="257175" y="3505200"/>
                  </a:lnTo>
                  <a:lnTo>
                    <a:pt x="209550" y="3981450"/>
                  </a:lnTo>
                  <a:lnTo>
                    <a:pt x="152400" y="4552950"/>
                  </a:lnTo>
                  <a:lnTo>
                    <a:pt x="104775" y="5029200"/>
                  </a:lnTo>
                  <a:lnTo>
                    <a:pt x="57150" y="5600700"/>
                  </a:lnTo>
                  <a:lnTo>
                    <a:pt x="19050" y="6172200"/>
                  </a:lnTo>
                  <a:lnTo>
                    <a:pt x="0" y="6419850"/>
                  </a:lnTo>
                </a:path>
              </a:pathLst>
            </a:custGeom>
            <a:noFill/>
            <a:ln w="42862">
              <a:solidFill>
                <a:srgbClr val="32ADF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onn-dia-L"/>
            <p:cNvSpPr/>
            <p:nvPr/>
          </p:nvSpPr>
          <p:spPr>
            <a:xfrm>
              <a:off x="3910012" y="17497425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152400" y="0"/>
                  </a:moveTo>
                  <a:lnTo>
                    <a:pt x="304800" y="171450"/>
                  </a:lnTo>
                  <a:lnTo>
                    <a:pt x="1524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C99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conn-dia-R"/>
            <p:cNvSpPr/>
            <p:nvPr/>
          </p:nvSpPr>
          <p:spPr>
            <a:xfrm>
              <a:off x="15197138" y="17497425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152400" y="0"/>
                  </a:moveTo>
                  <a:lnTo>
                    <a:pt x="304800" y="171450"/>
                  </a:lnTo>
                  <a:lnTo>
                    <a:pt x="152400" y="34290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C99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7" name="banner-2"/>
          <p:cNvGrpSpPr/>
          <p:nvPr/>
        </p:nvGrpSpPr>
        <p:grpSpPr>
          <a:xfrm>
            <a:off x="2162175" y="17678400"/>
            <a:ext cx="15087600" cy="1162050"/>
            <a:chOff x="2162175" y="17678400"/>
            <a:chExt cx="15087600" cy="1162050"/>
          </a:xfrm>
        </p:grpSpPr>
        <p:sp>
          <p:nvSpPr>
            <p:cNvPr id="78" name="banner-2-bg"/>
            <p:cNvSpPr/>
            <p:nvPr/>
          </p:nvSpPr>
          <p:spPr>
            <a:xfrm>
              <a:off x="2162175" y="17678400"/>
              <a:ext cx="15087600" cy="1162050"/>
            </a:xfrm>
            <a:prstGeom prst="roundRect">
              <a:avLst>
                <a:gd name="adj" fmla="val 14754"/>
              </a:avLst>
            </a:prstGeom>
            <a:solidFill>
              <a:srgbClr val="8D78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banner-2-text"/>
            <p:cNvSpPr txBox="1"/>
            <p:nvPr/>
          </p:nvSpPr>
          <p:spPr>
            <a:xfrm>
              <a:off x="4458652" y="17919382"/>
              <a:ext cx="10494645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从多组学数据到疾病机制的闭环解析路径</a:t>
              </a:r>
            </a:p>
          </p:txBody>
        </p:sp>
      </p:grpSp>
      <p:grpSp>
        <p:nvGrpSpPr>
          <p:cNvPr id="214" name="bottom-left"/>
          <p:cNvGrpSpPr/>
          <p:nvPr/>
        </p:nvGrpSpPr>
        <p:grpSpPr>
          <a:xfrm>
            <a:off x="1724025" y="19288125"/>
            <a:ext cx="4772025" cy="5019675"/>
            <a:chOff x="1724025" y="19288125"/>
            <a:chExt cx="4772025" cy="5019675"/>
          </a:xfrm>
        </p:grpSpPr>
        <p:sp>
          <p:nvSpPr>
            <p:cNvPr id="80" name="bl-panel"/>
            <p:cNvSpPr/>
            <p:nvPr/>
          </p:nvSpPr>
          <p:spPr>
            <a:xfrm>
              <a:off x="1724025" y="19288125"/>
              <a:ext cx="4772025" cy="5019675"/>
            </a:xfrm>
            <a:prstGeom prst="roundRect">
              <a:avLst>
                <a:gd name="adj" fmla="val 2794"/>
              </a:avLst>
            </a:prstGeom>
            <a:solidFill>
              <a:srgbClr val="F0EDFE"/>
            </a:solidFill>
            <a:ln w="19050">
              <a:solidFill>
                <a:srgbClr val="A19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6" name="bl-box1"/>
            <p:cNvGrpSpPr/>
            <p:nvPr/>
          </p:nvGrpSpPr>
          <p:grpSpPr>
            <a:xfrm>
              <a:off x="2066925" y="19764375"/>
              <a:ext cx="4191000" cy="914400"/>
              <a:chOff x="2066925" y="19764375"/>
              <a:chExt cx="4191000" cy="914400"/>
            </a:xfrm>
          </p:grpSpPr>
          <p:sp>
            <p:nvSpPr>
              <p:cNvPr id="81" name="bl-box1-bg"/>
              <p:cNvSpPr/>
              <p:nvPr/>
            </p:nvSpPr>
            <p:spPr>
              <a:xfrm>
                <a:off x="2066925" y="1976437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bl-box1-t"/>
              <p:cNvSpPr txBox="1"/>
              <p:nvPr/>
            </p:nvSpPr>
            <p:spPr>
              <a:xfrm>
                <a:off x="2486025" y="19973925"/>
                <a:ext cx="3333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样本匹配</a:t>
                </a:r>
              </a:p>
            </p:txBody>
          </p:sp>
        </p:grpSp>
        <p:grpSp>
          <p:nvGrpSpPr>
            <p:cNvPr id="188" name="bl-box2"/>
            <p:cNvGrpSpPr/>
            <p:nvPr/>
          </p:nvGrpSpPr>
          <p:grpSpPr>
            <a:xfrm>
              <a:off x="2066925" y="20840700"/>
              <a:ext cx="4191000" cy="914400"/>
              <a:chOff x="2066925" y="20840700"/>
              <a:chExt cx="4191000" cy="914400"/>
            </a:xfrm>
          </p:grpSpPr>
          <p:sp>
            <p:nvSpPr>
              <p:cNvPr id="83" name="bl-box2-bg"/>
              <p:cNvSpPr/>
              <p:nvPr/>
            </p:nvSpPr>
            <p:spPr>
              <a:xfrm>
                <a:off x="2066925" y="2084070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bl-box2-t"/>
              <p:cNvSpPr txBox="1"/>
              <p:nvPr/>
            </p:nvSpPr>
            <p:spPr>
              <a:xfrm>
                <a:off x="2486025" y="21050250"/>
                <a:ext cx="3333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批次校正</a:t>
                </a:r>
              </a:p>
            </p:txBody>
          </p:sp>
        </p:grpSp>
        <p:grpSp>
          <p:nvGrpSpPr>
            <p:cNvPr id="186" name="bl-box3"/>
            <p:cNvGrpSpPr/>
            <p:nvPr/>
          </p:nvGrpSpPr>
          <p:grpSpPr>
            <a:xfrm>
              <a:off x="2066925" y="21917025"/>
              <a:ext cx="4191000" cy="914400"/>
              <a:chOff x="2066925" y="21917025"/>
              <a:chExt cx="4191000" cy="914400"/>
            </a:xfrm>
          </p:grpSpPr>
          <p:sp>
            <p:nvSpPr>
              <p:cNvPr id="85" name="bl-box3-bg"/>
              <p:cNvSpPr/>
              <p:nvPr/>
            </p:nvSpPr>
            <p:spPr>
              <a:xfrm>
                <a:off x="2066925" y="2191702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bl-box3-t"/>
              <p:cNvSpPr txBox="1"/>
              <p:nvPr/>
            </p:nvSpPr>
            <p:spPr>
              <a:xfrm>
                <a:off x="2486025" y="22126575"/>
                <a:ext cx="3333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缺失值填补</a:t>
                </a:r>
              </a:p>
            </p:txBody>
          </p:sp>
        </p:grpSp>
        <p:grpSp>
          <p:nvGrpSpPr>
            <p:cNvPr id="201" name="bl-box4"/>
            <p:cNvGrpSpPr/>
            <p:nvPr/>
          </p:nvGrpSpPr>
          <p:grpSpPr>
            <a:xfrm>
              <a:off x="2066925" y="22993350"/>
              <a:ext cx="4191000" cy="914400"/>
              <a:chOff x="2066925" y="22993350"/>
              <a:chExt cx="4191000" cy="914400"/>
            </a:xfrm>
          </p:grpSpPr>
          <p:sp>
            <p:nvSpPr>
              <p:cNvPr id="87" name="bl-box4-bg"/>
              <p:cNvSpPr/>
              <p:nvPr/>
            </p:nvSpPr>
            <p:spPr>
              <a:xfrm>
                <a:off x="2066925" y="2299335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bl-box4-t"/>
              <p:cNvSpPr txBox="1"/>
              <p:nvPr/>
            </p:nvSpPr>
            <p:spPr>
              <a:xfrm>
                <a:off x="2486025" y="23202900"/>
                <a:ext cx="3333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质量控制</a:t>
                </a:r>
              </a:p>
            </p:txBody>
          </p:sp>
        </p:grpSp>
      </p:grpSp>
      <p:grpSp>
        <p:nvGrpSpPr>
          <p:cNvPr id="218" name="bottom-right"/>
          <p:cNvGrpSpPr/>
          <p:nvPr/>
        </p:nvGrpSpPr>
        <p:grpSpPr>
          <a:xfrm>
            <a:off x="12849225" y="19288125"/>
            <a:ext cx="4762500" cy="5019675"/>
            <a:chOff x="12849225" y="19288125"/>
            <a:chExt cx="4762500" cy="5019675"/>
          </a:xfrm>
        </p:grpSpPr>
        <p:sp>
          <p:nvSpPr>
            <p:cNvPr id="89" name="br-panel"/>
            <p:cNvSpPr/>
            <p:nvPr/>
          </p:nvSpPr>
          <p:spPr>
            <a:xfrm>
              <a:off x="12849225" y="19288125"/>
              <a:ext cx="4762500" cy="5019675"/>
            </a:xfrm>
            <a:prstGeom prst="roundRect">
              <a:avLst>
                <a:gd name="adj" fmla="val 2800"/>
              </a:avLst>
            </a:prstGeom>
            <a:solidFill>
              <a:srgbClr val="F0EDFE"/>
            </a:solidFill>
            <a:ln w="19050">
              <a:solidFill>
                <a:srgbClr val="A190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7" name="br-box1"/>
            <p:cNvGrpSpPr/>
            <p:nvPr/>
          </p:nvGrpSpPr>
          <p:grpSpPr>
            <a:xfrm>
              <a:off x="13077825" y="19764375"/>
              <a:ext cx="4191000" cy="914400"/>
              <a:chOff x="13077825" y="19764375"/>
              <a:chExt cx="4191000" cy="914400"/>
            </a:xfrm>
          </p:grpSpPr>
          <p:sp>
            <p:nvSpPr>
              <p:cNvPr id="90" name="br-box1-bg"/>
              <p:cNvSpPr/>
              <p:nvPr/>
            </p:nvSpPr>
            <p:spPr>
              <a:xfrm>
                <a:off x="13077825" y="1976437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br-box1-t"/>
              <p:cNvSpPr txBox="1"/>
              <p:nvPr/>
            </p:nvSpPr>
            <p:spPr>
              <a:xfrm>
                <a:off x="13315950" y="19973925"/>
                <a:ext cx="3714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动物模型验证</a:t>
                </a:r>
              </a:p>
            </p:txBody>
          </p:sp>
        </p:grpSp>
        <p:grpSp>
          <p:nvGrpSpPr>
            <p:cNvPr id="200" name="br-box2"/>
            <p:cNvGrpSpPr/>
            <p:nvPr/>
          </p:nvGrpSpPr>
          <p:grpSpPr>
            <a:xfrm>
              <a:off x="13077825" y="20840700"/>
              <a:ext cx="4191000" cy="914400"/>
              <a:chOff x="13077825" y="20840700"/>
              <a:chExt cx="4191000" cy="914400"/>
            </a:xfrm>
          </p:grpSpPr>
          <p:sp>
            <p:nvSpPr>
              <p:cNvPr id="92" name="br-box2-bg"/>
              <p:cNvSpPr/>
              <p:nvPr/>
            </p:nvSpPr>
            <p:spPr>
              <a:xfrm>
                <a:off x="13077825" y="2084070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br-box2-t"/>
              <p:cNvSpPr txBox="1"/>
              <p:nvPr/>
            </p:nvSpPr>
            <p:spPr>
              <a:xfrm>
                <a:off x="13315950" y="21050250"/>
                <a:ext cx="3714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细胞实验验证</a:t>
                </a:r>
              </a:p>
            </p:txBody>
          </p:sp>
        </p:grpSp>
        <p:grpSp>
          <p:nvGrpSpPr>
            <p:cNvPr id="191" name="br-box3"/>
            <p:cNvGrpSpPr/>
            <p:nvPr/>
          </p:nvGrpSpPr>
          <p:grpSpPr>
            <a:xfrm>
              <a:off x="13077825" y="21917025"/>
              <a:ext cx="4191000" cy="914400"/>
              <a:chOff x="13077825" y="21917025"/>
              <a:chExt cx="4191000" cy="914400"/>
            </a:xfrm>
          </p:grpSpPr>
          <p:sp>
            <p:nvSpPr>
              <p:cNvPr id="94" name="br-box3-bg"/>
              <p:cNvSpPr/>
              <p:nvPr/>
            </p:nvSpPr>
            <p:spPr>
              <a:xfrm>
                <a:off x="13077825" y="21917025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br-box3-t"/>
              <p:cNvSpPr txBox="1"/>
              <p:nvPr/>
            </p:nvSpPr>
            <p:spPr>
              <a:xfrm>
                <a:off x="13315950" y="22126575"/>
                <a:ext cx="3714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临床队列验证</a:t>
                </a:r>
              </a:p>
            </p:txBody>
          </p:sp>
        </p:grpSp>
        <p:grpSp>
          <p:nvGrpSpPr>
            <p:cNvPr id="193" name="br-box4"/>
            <p:cNvGrpSpPr/>
            <p:nvPr/>
          </p:nvGrpSpPr>
          <p:grpSpPr>
            <a:xfrm>
              <a:off x="13077825" y="22993350"/>
              <a:ext cx="4191000" cy="914400"/>
              <a:chOff x="13077825" y="22993350"/>
              <a:chExt cx="4191000" cy="914400"/>
            </a:xfrm>
          </p:grpSpPr>
          <p:sp>
            <p:nvSpPr>
              <p:cNvPr id="96" name="br-box4-bg"/>
              <p:cNvSpPr/>
              <p:nvPr/>
            </p:nvSpPr>
            <p:spPr>
              <a:xfrm>
                <a:off x="13077825" y="22993350"/>
                <a:ext cx="4191000" cy="914400"/>
              </a:xfrm>
              <a:prstGeom prst="roundRect">
                <a:avLst>
                  <a:gd name="adj" fmla="val 10416"/>
                </a:avLst>
              </a:prstGeom>
              <a:noFill/>
              <a:ln w="19050">
                <a:solidFill>
                  <a:srgbClr val="7469A5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br-box4-t"/>
              <p:cNvSpPr txBox="1"/>
              <p:nvPr/>
            </p:nvSpPr>
            <p:spPr>
              <a:xfrm>
                <a:off x="13315950" y="23202900"/>
                <a:ext cx="37147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</a:rPr>
                  <a:t>CRISPR 筛选</a:t>
                </a:r>
              </a:p>
            </p:txBody>
          </p:sp>
        </p:grpSp>
      </p:grpSp>
      <p:grpSp>
        <p:nvGrpSpPr>
          <p:cNvPr id="216" name="book"/>
          <p:cNvGrpSpPr/>
          <p:nvPr/>
        </p:nvGrpSpPr>
        <p:grpSpPr>
          <a:xfrm>
            <a:off x="6505575" y="19307175"/>
            <a:ext cx="6305550" cy="5029200"/>
            <a:chOff x="6505575" y="19307175"/>
            <a:chExt cx="6305550" cy="5029200"/>
          </a:xfrm>
        </p:grpSpPr>
        <p:sp>
          <p:nvSpPr>
            <p:cNvPr id="98" name="book-strip00"/>
            <p:cNvSpPr/>
            <p:nvPr/>
          </p:nvSpPr>
          <p:spPr>
            <a:xfrm>
              <a:off x="6505575" y="19307175"/>
              <a:ext cx="104775" cy="5029200"/>
            </a:xfrm>
            <a:custGeom>
              <a:avLst/>
              <a:gdLst/>
              <a:ahLst/>
              <a:cxnLst/>
              <a:rect l="l" t="t" r="r" b="b"/>
              <a:pathLst>
                <a:path w="104775" h="5029200">
                  <a:moveTo>
                    <a:pt x="0" y="0"/>
                  </a:moveTo>
                  <a:lnTo>
                    <a:pt x="104775" y="22860"/>
                  </a:lnTo>
                  <a:lnTo>
                    <a:pt x="104775" y="5008245"/>
                  </a:lnTo>
                  <a:lnTo>
                    <a:pt x="0" y="5029200"/>
                  </a:lnTo>
                  <a:close/>
                </a:path>
              </a:pathLst>
            </a:custGeom>
            <a:solidFill>
              <a:srgbClr val="A289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ook-strip01"/>
            <p:cNvSpPr/>
            <p:nvPr/>
          </p:nvSpPr>
          <p:spPr>
            <a:xfrm>
              <a:off x="6610350" y="19330035"/>
              <a:ext cx="105728" cy="4985385"/>
            </a:xfrm>
            <a:custGeom>
              <a:avLst/>
              <a:gdLst/>
              <a:ahLst/>
              <a:cxnLst/>
              <a:rect l="l" t="t" r="r" b="b"/>
              <a:pathLst>
                <a:path w="105728" h="4985385">
                  <a:moveTo>
                    <a:pt x="0" y="0"/>
                  </a:moveTo>
                  <a:lnTo>
                    <a:pt x="105728" y="22860"/>
                  </a:lnTo>
                  <a:lnTo>
                    <a:pt x="105728" y="4963477"/>
                  </a:lnTo>
                  <a:lnTo>
                    <a:pt x="0" y="4985385"/>
                  </a:lnTo>
                  <a:close/>
                </a:path>
              </a:pathLst>
            </a:custGeom>
            <a:solidFill>
              <a:srgbClr val="A28B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ook-strip02"/>
            <p:cNvSpPr/>
            <p:nvPr/>
          </p:nvSpPr>
          <p:spPr>
            <a:xfrm>
              <a:off x="6716078" y="19352895"/>
              <a:ext cx="104774" cy="4940617"/>
            </a:xfrm>
            <a:custGeom>
              <a:avLst/>
              <a:gdLst/>
              <a:ahLst/>
              <a:cxnLst/>
              <a:rect l="l" t="t" r="r" b="b"/>
              <a:pathLst>
                <a:path w="104774" h="4940617">
                  <a:moveTo>
                    <a:pt x="0" y="0"/>
                  </a:moveTo>
                  <a:lnTo>
                    <a:pt x="104774" y="21907"/>
                  </a:lnTo>
                  <a:lnTo>
                    <a:pt x="104774" y="4919663"/>
                  </a:lnTo>
                  <a:lnTo>
                    <a:pt x="0" y="4940617"/>
                  </a:lnTo>
                  <a:close/>
                </a:path>
              </a:pathLst>
            </a:custGeom>
            <a:solidFill>
              <a:srgbClr val="A38D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ook-strip03"/>
            <p:cNvSpPr/>
            <p:nvPr/>
          </p:nvSpPr>
          <p:spPr>
            <a:xfrm>
              <a:off x="6820852" y="19374802"/>
              <a:ext cx="104776" cy="4897756"/>
            </a:xfrm>
            <a:custGeom>
              <a:avLst/>
              <a:gdLst/>
              <a:ahLst/>
              <a:cxnLst/>
              <a:rect l="l" t="t" r="r" b="b"/>
              <a:pathLst>
                <a:path w="104776" h="4897756">
                  <a:moveTo>
                    <a:pt x="0" y="0"/>
                  </a:moveTo>
                  <a:lnTo>
                    <a:pt x="104776" y="22860"/>
                  </a:lnTo>
                  <a:lnTo>
                    <a:pt x="104776" y="4875848"/>
                  </a:lnTo>
                  <a:lnTo>
                    <a:pt x="0" y="4897756"/>
                  </a:lnTo>
                  <a:close/>
                </a:path>
              </a:pathLst>
            </a:custGeom>
            <a:solidFill>
              <a:srgbClr val="A48E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book-strip04"/>
            <p:cNvSpPr/>
            <p:nvPr/>
          </p:nvSpPr>
          <p:spPr>
            <a:xfrm>
              <a:off x="6925628" y="19397662"/>
              <a:ext cx="105727" cy="4852988"/>
            </a:xfrm>
            <a:custGeom>
              <a:avLst/>
              <a:gdLst/>
              <a:ahLst/>
              <a:cxnLst/>
              <a:rect l="l" t="t" r="r" b="b"/>
              <a:pathLst>
                <a:path w="105727" h="4852988">
                  <a:moveTo>
                    <a:pt x="0" y="0"/>
                  </a:moveTo>
                  <a:lnTo>
                    <a:pt x="105727" y="22860"/>
                  </a:lnTo>
                  <a:lnTo>
                    <a:pt x="105727" y="4832033"/>
                  </a:lnTo>
                  <a:lnTo>
                    <a:pt x="0" y="4852988"/>
                  </a:lnTo>
                  <a:close/>
                </a:path>
              </a:pathLst>
            </a:custGeom>
            <a:solidFill>
              <a:srgbClr val="A691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ook-strip05"/>
            <p:cNvSpPr/>
            <p:nvPr/>
          </p:nvSpPr>
          <p:spPr>
            <a:xfrm>
              <a:off x="7031355" y="19420522"/>
              <a:ext cx="104775" cy="4809173"/>
            </a:xfrm>
            <a:custGeom>
              <a:avLst/>
              <a:gdLst/>
              <a:ahLst/>
              <a:cxnLst/>
              <a:rect l="l" t="t" r="r" b="b"/>
              <a:pathLst>
                <a:path w="104775" h="4809173">
                  <a:moveTo>
                    <a:pt x="0" y="0"/>
                  </a:moveTo>
                  <a:lnTo>
                    <a:pt x="104775" y="22860"/>
                  </a:lnTo>
                  <a:lnTo>
                    <a:pt x="104775" y="4787266"/>
                  </a:lnTo>
                  <a:lnTo>
                    <a:pt x="0" y="4809173"/>
                  </a:lnTo>
                  <a:close/>
                </a:path>
              </a:pathLst>
            </a:custGeom>
            <a:solidFill>
              <a:srgbClr val="A792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ook-strip06"/>
            <p:cNvSpPr/>
            <p:nvPr/>
          </p:nvSpPr>
          <p:spPr>
            <a:xfrm>
              <a:off x="7136130" y="19443382"/>
              <a:ext cx="104775" cy="4764406"/>
            </a:xfrm>
            <a:custGeom>
              <a:avLst/>
              <a:gdLst/>
              <a:ahLst/>
              <a:cxnLst/>
              <a:rect l="l" t="t" r="r" b="b"/>
              <a:pathLst>
                <a:path w="104775" h="4764406">
                  <a:moveTo>
                    <a:pt x="0" y="0"/>
                  </a:moveTo>
                  <a:lnTo>
                    <a:pt x="104775" y="22860"/>
                  </a:lnTo>
                  <a:lnTo>
                    <a:pt x="104775" y="4743450"/>
                  </a:lnTo>
                  <a:lnTo>
                    <a:pt x="0" y="4764406"/>
                  </a:lnTo>
                  <a:close/>
                </a:path>
              </a:pathLst>
            </a:custGeom>
            <a:solidFill>
              <a:srgbClr val="A894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ook-strip07"/>
            <p:cNvSpPr/>
            <p:nvPr/>
          </p:nvSpPr>
          <p:spPr>
            <a:xfrm>
              <a:off x="7240905" y="19466242"/>
              <a:ext cx="105727" cy="4720590"/>
            </a:xfrm>
            <a:custGeom>
              <a:avLst/>
              <a:gdLst/>
              <a:ahLst/>
              <a:cxnLst/>
              <a:rect l="l" t="t" r="r" b="b"/>
              <a:pathLst>
                <a:path w="105727" h="4720590">
                  <a:moveTo>
                    <a:pt x="0" y="0"/>
                  </a:moveTo>
                  <a:lnTo>
                    <a:pt x="105727" y="21908"/>
                  </a:lnTo>
                  <a:lnTo>
                    <a:pt x="105727" y="4698683"/>
                  </a:lnTo>
                  <a:lnTo>
                    <a:pt x="0" y="4720590"/>
                  </a:lnTo>
                  <a:close/>
                </a:path>
              </a:pathLst>
            </a:custGeom>
            <a:solidFill>
              <a:srgbClr val="A99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ook-strip08"/>
            <p:cNvSpPr/>
            <p:nvPr/>
          </p:nvSpPr>
          <p:spPr>
            <a:xfrm>
              <a:off x="7346632" y="19488150"/>
              <a:ext cx="104776" cy="4676775"/>
            </a:xfrm>
            <a:custGeom>
              <a:avLst/>
              <a:gdLst/>
              <a:ahLst/>
              <a:cxnLst/>
              <a:rect l="l" t="t" r="r" b="b"/>
              <a:pathLst>
                <a:path w="104776" h="4676775">
                  <a:moveTo>
                    <a:pt x="0" y="0"/>
                  </a:moveTo>
                  <a:lnTo>
                    <a:pt x="104776" y="22860"/>
                  </a:lnTo>
                  <a:lnTo>
                    <a:pt x="104776" y="4655820"/>
                  </a:lnTo>
                  <a:lnTo>
                    <a:pt x="0" y="4676775"/>
                  </a:lnTo>
                  <a:close/>
                </a:path>
              </a:pathLst>
            </a:custGeom>
            <a:solidFill>
              <a:srgbClr val="AA9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ook-strip09"/>
            <p:cNvSpPr/>
            <p:nvPr/>
          </p:nvSpPr>
          <p:spPr>
            <a:xfrm>
              <a:off x="7451408" y="19511010"/>
              <a:ext cx="104774" cy="4632960"/>
            </a:xfrm>
            <a:custGeom>
              <a:avLst/>
              <a:gdLst/>
              <a:ahLst/>
              <a:cxnLst/>
              <a:rect l="l" t="t" r="r" b="b"/>
              <a:pathLst>
                <a:path w="104774" h="4632960">
                  <a:moveTo>
                    <a:pt x="0" y="0"/>
                  </a:moveTo>
                  <a:lnTo>
                    <a:pt x="104774" y="22860"/>
                  </a:lnTo>
                  <a:lnTo>
                    <a:pt x="104774" y="4611052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AC99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ook-strip10"/>
            <p:cNvSpPr/>
            <p:nvPr/>
          </p:nvSpPr>
          <p:spPr>
            <a:xfrm>
              <a:off x="7556182" y="19533870"/>
              <a:ext cx="105728" cy="4588192"/>
            </a:xfrm>
            <a:custGeom>
              <a:avLst/>
              <a:gdLst/>
              <a:ahLst/>
              <a:cxnLst/>
              <a:rect l="l" t="t" r="r" b="b"/>
              <a:pathLst>
                <a:path w="105728" h="4588192">
                  <a:moveTo>
                    <a:pt x="0" y="0"/>
                  </a:moveTo>
                  <a:lnTo>
                    <a:pt x="105728" y="22860"/>
                  </a:lnTo>
                  <a:lnTo>
                    <a:pt x="105728" y="4567238"/>
                  </a:lnTo>
                  <a:lnTo>
                    <a:pt x="0" y="4588192"/>
                  </a:lnTo>
                  <a:close/>
                </a:path>
              </a:pathLst>
            </a:custGeom>
            <a:solidFill>
              <a:srgbClr val="AD9A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ook-strip11"/>
            <p:cNvSpPr/>
            <p:nvPr/>
          </p:nvSpPr>
          <p:spPr>
            <a:xfrm>
              <a:off x="7661910" y="19556730"/>
              <a:ext cx="104775" cy="4544378"/>
            </a:xfrm>
            <a:custGeom>
              <a:avLst/>
              <a:gdLst/>
              <a:ahLst/>
              <a:cxnLst/>
              <a:rect l="l" t="t" r="r" b="b"/>
              <a:pathLst>
                <a:path w="104775" h="4544378">
                  <a:moveTo>
                    <a:pt x="0" y="0"/>
                  </a:moveTo>
                  <a:lnTo>
                    <a:pt x="104775" y="21908"/>
                  </a:lnTo>
                  <a:lnTo>
                    <a:pt x="104775" y="4522470"/>
                  </a:lnTo>
                  <a:lnTo>
                    <a:pt x="0" y="4544378"/>
                  </a:lnTo>
                  <a:close/>
                </a:path>
              </a:pathLst>
            </a:custGeom>
            <a:solidFill>
              <a:srgbClr val="AE9C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ook-strip12"/>
            <p:cNvSpPr/>
            <p:nvPr/>
          </p:nvSpPr>
          <p:spPr>
            <a:xfrm>
              <a:off x="7766685" y="19578638"/>
              <a:ext cx="104775" cy="4500562"/>
            </a:xfrm>
            <a:custGeom>
              <a:avLst/>
              <a:gdLst/>
              <a:ahLst/>
              <a:cxnLst/>
              <a:rect l="l" t="t" r="r" b="b"/>
              <a:pathLst>
                <a:path w="104775" h="4500562">
                  <a:moveTo>
                    <a:pt x="0" y="0"/>
                  </a:moveTo>
                  <a:lnTo>
                    <a:pt x="104775" y="22860"/>
                  </a:lnTo>
                  <a:lnTo>
                    <a:pt x="104775" y="4479607"/>
                  </a:lnTo>
                  <a:lnTo>
                    <a:pt x="0" y="4500562"/>
                  </a:lnTo>
                  <a:close/>
                </a:path>
              </a:pathLst>
            </a:custGeom>
            <a:solidFill>
              <a:srgbClr val="B09E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book-strip13"/>
            <p:cNvSpPr/>
            <p:nvPr/>
          </p:nvSpPr>
          <p:spPr>
            <a:xfrm>
              <a:off x="7871460" y="19601498"/>
              <a:ext cx="105728" cy="4456747"/>
            </a:xfrm>
            <a:custGeom>
              <a:avLst/>
              <a:gdLst/>
              <a:ahLst/>
              <a:cxnLst/>
              <a:rect l="l" t="t" r="r" b="b"/>
              <a:pathLst>
                <a:path w="105728" h="4456747">
                  <a:moveTo>
                    <a:pt x="0" y="0"/>
                  </a:moveTo>
                  <a:lnTo>
                    <a:pt x="105728" y="22860"/>
                  </a:lnTo>
                  <a:lnTo>
                    <a:pt x="105728" y="4434840"/>
                  </a:lnTo>
                  <a:lnTo>
                    <a:pt x="0" y="4456747"/>
                  </a:lnTo>
                  <a:close/>
                </a:path>
              </a:pathLst>
            </a:custGeom>
            <a:solidFill>
              <a:srgbClr val="B6A5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book-strip14"/>
            <p:cNvSpPr/>
            <p:nvPr/>
          </p:nvSpPr>
          <p:spPr>
            <a:xfrm>
              <a:off x="7977188" y="19624358"/>
              <a:ext cx="104774" cy="4411980"/>
            </a:xfrm>
            <a:custGeom>
              <a:avLst/>
              <a:gdLst/>
              <a:ahLst/>
              <a:cxnLst/>
              <a:rect l="l" t="t" r="r" b="b"/>
              <a:pathLst>
                <a:path w="104774" h="4411980">
                  <a:moveTo>
                    <a:pt x="0" y="0"/>
                  </a:moveTo>
                  <a:lnTo>
                    <a:pt x="104774" y="22860"/>
                  </a:lnTo>
                  <a:lnTo>
                    <a:pt x="104774" y="4391024"/>
                  </a:lnTo>
                  <a:lnTo>
                    <a:pt x="0" y="4411980"/>
                  </a:lnTo>
                  <a:close/>
                </a:path>
              </a:pathLst>
            </a:custGeom>
            <a:solidFill>
              <a:srgbClr val="BBAE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book-strip15"/>
            <p:cNvSpPr/>
            <p:nvPr/>
          </p:nvSpPr>
          <p:spPr>
            <a:xfrm>
              <a:off x="8081962" y="19647218"/>
              <a:ext cx="104776" cy="4368164"/>
            </a:xfrm>
            <a:custGeom>
              <a:avLst/>
              <a:gdLst/>
              <a:ahLst/>
              <a:cxnLst/>
              <a:rect l="l" t="t" r="r" b="b"/>
              <a:pathLst>
                <a:path w="104776" h="4368164">
                  <a:moveTo>
                    <a:pt x="0" y="0"/>
                  </a:moveTo>
                  <a:lnTo>
                    <a:pt x="104776" y="22860"/>
                  </a:lnTo>
                  <a:lnTo>
                    <a:pt x="104776" y="4347210"/>
                  </a:lnTo>
                  <a:lnTo>
                    <a:pt x="0" y="4368164"/>
                  </a:lnTo>
                  <a:close/>
                </a:path>
              </a:pathLst>
            </a:custGeom>
            <a:solidFill>
              <a:srgbClr val="C1B5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book-strip16"/>
            <p:cNvSpPr/>
            <p:nvPr/>
          </p:nvSpPr>
          <p:spPr>
            <a:xfrm>
              <a:off x="8186738" y="19670078"/>
              <a:ext cx="105727" cy="4324350"/>
            </a:xfrm>
            <a:custGeom>
              <a:avLst/>
              <a:gdLst/>
              <a:ahLst/>
              <a:cxnLst/>
              <a:rect l="l" t="t" r="r" b="b"/>
              <a:pathLst>
                <a:path w="105727" h="4324350">
                  <a:moveTo>
                    <a:pt x="0" y="0"/>
                  </a:moveTo>
                  <a:lnTo>
                    <a:pt x="105727" y="21907"/>
                  </a:lnTo>
                  <a:lnTo>
                    <a:pt x="105727" y="4302442"/>
                  </a:lnTo>
                  <a:lnTo>
                    <a:pt x="0" y="4324350"/>
                  </a:lnTo>
                  <a:close/>
                </a:path>
              </a:pathLst>
            </a:custGeom>
            <a:solidFill>
              <a:srgbClr val="C7B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book-strip17"/>
            <p:cNvSpPr/>
            <p:nvPr/>
          </p:nvSpPr>
          <p:spPr>
            <a:xfrm>
              <a:off x="8292465" y="19691985"/>
              <a:ext cx="104775" cy="4280535"/>
            </a:xfrm>
            <a:custGeom>
              <a:avLst/>
              <a:gdLst/>
              <a:ahLst/>
              <a:cxnLst/>
              <a:rect l="l" t="t" r="r" b="b"/>
              <a:pathLst>
                <a:path w="104775" h="4280535">
                  <a:moveTo>
                    <a:pt x="0" y="0"/>
                  </a:moveTo>
                  <a:lnTo>
                    <a:pt x="104775" y="22860"/>
                  </a:lnTo>
                  <a:lnTo>
                    <a:pt x="104775" y="4259580"/>
                  </a:lnTo>
                  <a:lnTo>
                    <a:pt x="0" y="4280535"/>
                  </a:lnTo>
                  <a:close/>
                </a:path>
              </a:pathLst>
            </a:custGeom>
            <a:solidFill>
              <a:srgbClr val="CDC3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book-strip18"/>
            <p:cNvSpPr/>
            <p:nvPr/>
          </p:nvSpPr>
          <p:spPr>
            <a:xfrm>
              <a:off x="8397240" y="19714845"/>
              <a:ext cx="104775" cy="4236720"/>
            </a:xfrm>
            <a:custGeom>
              <a:avLst/>
              <a:gdLst/>
              <a:ahLst/>
              <a:cxnLst/>
              <a:rect l="l" t="t" r="r" b="b"/>
              <a:pathLst>
                <a:path w="104775" h="4236720">
                  <a:moveTo>
                    <a:pt x="0" y="0"/>
                  </a:moveTo>
                  <a:lnTo>
                    <a:pt x="104775" y="22860"/>
                  </a:lnTo>
                  <a:lnTo>
                    <a:pt x="104775" y="4214813"/>
                  </a:lnTo>
                  <a:lnTo>
                    <a:pt x="0" y="4236720"/>
                  </a:lnTo>
                  <a:close/>
                </a:path>
              </a:pathLst>
            </a:custGeom>
            <a:solidFill>
              <a:srgbClr val="D3CA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book-strip19"/>
            <p:cNvSpPr/>
            <p:nvPr/>
          </p:nvSpPr>
          <p:spPr>
            <a:xfrm>
              <a:off x="8502015" y="19737705"/>
              <a:ext cx="105727" cy="4191953"/>
            </a:xfrm>
            <a:custGeom>
              <a:avLst/>
              <a:gdLst/>
              <a:ahLst/>
              <a:cxnLst/>
              <a:rect l="l" t="t" r="r" b="b"/>
              <a:pathLst>
                <a:path w="105727" h="4191953">
                  <a:moveTo>
                    <a:pt x="0" y="0"/>
                  </a:moveTo>
                  <a:lnTo>
                    <a:pt x="105727" y="22860"/>
                  </a:lnTo>
                  <a:lnTo>
                    <a:pt x="105727" y="4170997"/>
                  </a:lnTo>
                  <a:lnTo>
                    <a:pt x="0" y="4191953"/>
                  </a:lnTo>
                  <a:close/>
                </a:path>
              </a:pathLst>
            </a:custGeom>
            <a:solidFill>
              <a:srgbClr val="D9D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book-strip20"/>
            <p:cNvSpPr/>
            <p:nvPr/>
          </p:nvSpPr>
          <p:spPr>
            <a:xfrm>
              <a:off x="8607742" y="19760565"/>
              <a:ext cx="104776" cy="4148137"/>
            </a:xfrm>
            <a:custGeom>
              <a:avLst/>
              <a:gdLst/>
              <a:ahLst/>
              <a:cxnLst/>
              <a:rect l="l" t="t" r="r" b="b"/>
              <a:pathLst>
                <a:path w="104776" h="4148137">
                  <a:moveTo>
                    <a:pt x="0" y="0"/>
                  </a:moveTo>
                  <a:lnTo>
                    <a:pt x="104776" y="22860"/>
                  </a:lnTo>
                  <a:lnTo>
                    <a:pt x="104776" y="4126230"/>
                  </a:lnTo>
                  <a:lnTo>
                    <a:pt x="0" y="4148137"/>
                  </a:lnTo>
                  <a:close/>
                </a:path>
              </a:pathLst>
            </a:custGeom>
            <a:solidFill>
              <a:srgbClr val="DCD6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book-strip21"/>
            <p:cNvSpPr/>
            <p:nvPr/>
          </p:nvSpPr>
          <p:spPr>
            <a:xfrm>
              <a:off x="8712518" y="19783425"/>
              <a:ext cx="104774" cy="4103370"/>
            </a:xfrm>
            <a:custGeom>
              <a:avLst/>
              <a:gdLst/>
              <a:ahLst/>
              <a:cxnLst/>
              <a:rect l="l" t="t" r="r" b="b"/>
              <a:pathLst>
                <a:path w="104774" h="4103370">
                  <a:moveTo>
                    <a:pt x="0" y="0"/>
                  </a:moveTo>
                  <a:lnTo>
                    <a:pt x="104774" y="21907"/>
                  </a:lnTo>
                  <a:lnTo>
                    <a:pt x="104774" y="4082415"/>
                  </a:lnTo>
                  <a:lnTo>
                    <a:pt x="0" y="4103370"/>
                  </a:lnTo>
                  <a:close/>
                </a:path>
              </a:pathLst>
            </a:custGeom>
            <a:solidFill>
              <a:srgbClr val="E1D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book-strip22"/>
            <p:cNvSpPr/>
            <p:nvPr/>
          </p:nvSpPr>
          <p:spPr>
            <a:xfrm>
              <a:off x="8817292" y="19805332"/>
              <a:ext cx="105728" cy="4060508"/>
            </a:xfrm>
            <a:custGeom>
              <a:avLst/>
              <a:gdLst/>
              <a:ahLst/>
              <a:cxnLst/>
              <a:rect l="l" t="t" r="r" b="b"/>
              <a:pathLst>
                <a:path w="105728" h="4060508">
                  <a:moveTo>
                    <a:pt x="0" y="0"/>
                  </a:moveTo>
                  <a:lnTo>
                    <a:pt x="105728" y="22860"/>
                  </a:lnTo>
                  <a:lnTo>
                    <a:pt x="105728" y="4038600"/>
                  </a:lnTo>
                  <a:lnTo>
                    <a:pt x="0" y="4060508"/>
                  </a:lnTo>
                  <a:close/>
                </a:path>
              </a:pathLst>
            </a:custGeom>
            <a:solidFill>
              <a:srgbClr val="E6E2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book-strip23"/>
            <p:cNvSpPr/>
            <p:nvPr/>
          </p:nvSpPr>
          <p:spPr>
            <a:xfrm>
              <a:off x="8923020" y="19828192"/>
              <a:ext cx="104775" cy="4015740"/>
            </a:xfrm>
            <a:custGeom>
              <a:avLst/>
              <a:gdLst/>
              <a:ahLst/>
              <a:cxnLst/>
              <a:rect l="l" t="t" r="r" b="b"/>
              <a:pathLst>
                <a:path w="104775" h="4015740">
                  <a:moveTo>
                    <a:pt x="0" y="0"/>
                  </a:moveTo>
                  <a:lnTo>
                    <a:pt x="104775" y="22860"/>
                  </a:lnTo>
                  <a:lnTo>
                    <a:pt x="104775" y="3994786"/>
                  </a:lnTo>
                  <a:lnTo>
                    <a:pt x="0" y="4015740"/>
                  </a:lnTo>
                  <a:close/>
                </a:path>
              </a:pathLst>
            </a:custGeom>
            <a:solidFill>
              <a:srgbClr val="EAE6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book-strip24"/>
            <p:cNvSpPr/>
            <p:nvPr/>
          </p:nvSpPr>
          <p:spPr>
            <a:xfrm>
              <a:off x="9027795" y="19830098"/>
              <a:ext cx="104775" cy="3992880"/>
            </a:xfrm>
            <a:custGeom>
              <a:avLst/>
              <a:gdLst/>
              <a:ahLst/>
              <a:cxnLst/>
              <a:rect l="l" t="t" r="r" b="b"/>
              <a:pathLst>
                <a:path w="104775" h="3992880">
                  <a:moveTo>
                    <a:pt x="0" y="20954"/>
                  </a:moveTo>
                  <a:lnTo>
                    <a:pt x="104775" y="0"/>
                  </a:lnTo>
                  <a:lnTo>
                    <a:pt x="104775" y="3972877"/>
                  </a:lnTo>
                  <a:lnTo>
                    <a:pt x="0" y="3992880"/>
                  </a:lnTo>
                  <a:close/>
                </a:path>
              </a:pathLst>
            </a:custGeom>
            <a:solidFill>
              <a:srgbClr val="C0BC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book-strip25"/>
            <p:cNvSpPr/>
            <p:nvPr/>
          </p:nvSpPr>
          <p:spPr>
            <a:xfrm>
              <a:off x="9132570" y="19785330"/>
              <a:ext cx="105728" cy="4017645"/>
            </a:xfrm>
            <a:custGeom>
              <a:avLst/>
              <a:gdLst/>
              <a:ahLst/>
              <a:cxnLst/>
              <a:rect l="l" t="t" r="r" b="b"/>
              <a:pathLst>
                <a:path w="105728" h="4017645">
                  <a:moveTo>
                    <a:pt x="0" y="44768"/>
                  </a:moveTo>
                  <a:lnTo>
                    <a:pt x="105728" y="0"/>
                  </a:lnTo>
                  <a:lnTo>
                    <a:pt x="105728" y="4015740"/>
                  </a:lnTo>
                  <a:lnTo>
                    <a:pt x="0" y="4017645"/>
                  </a:lnTo>
                  <a:close/>
                </a:path>
              </a:pathLst>
            </a:custGeom>
            <a:solidFill>
              <a:srgbClr val="9E9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book-strip26"/>
            <p:cNvSpPr/>
            <p:nvPr/>
          </p:nvSpPr>
          <p:spPr>
            <a:xfrm>
              <a:off x="9238298" y="19746278"/>
              <a:ext cx="104774" cy="4054792"/>
            </a:xfrm>
            <a:custGeom>
              <a:avLst/>
              <a:gdLst/>
              <a:ahLst/>
              <a:cxnLst/>
              <a:rect l="l" t="t" r="r" b="b"/>
              <a:pathLst>
                <a:path w="104774" h="4054792">
                  <a:moveTo>
                    <a:pt x="0" y="39052"/>
                  </a:moveTo>
                  <a:lnTo>
                    <a:pt x="104774" y="0"/>
                  </a:lnTo>
                  <a:lnTo>
                    <a:pt x="104774" y="4052887"/>
                  </a:lnTo>
                  <a:lnTo>
                    <a:pt x="0" y="4054792"/>
                  </a:lnTo>
                  <a:close/>
                </a:path>
              </a:pathLst>
            </a:custGeom>
            <a:solidFill>
              <a:srgbClr val="A39F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book-strip27"/>
            <p:cNvSpPr/>
            <p:nvPr/>
          </p:nvSpPr>
          <p:spPr>
            <a:xfrm>
              <a:off x="9343072" y="19715798"/>
              <a:ext cx="104776" cy="4083367"/>
            </a:xfrm>
            <a:custGeom>
              <a:avLst/>
              <a:gdLst/>
              <a:ahLst/>
              <a:cxnLst/>
              <a:rect l="l" t="t" r="r" b="b"/>
              <a:pathLst>
                <a:path w="104776" h="4083367">
                  <a:moveTo>
                    <a:pt x="0" y="30480"/>
                  </a:moveTo>
                  <a:lnTo>
                    <a:pt x="104776" y="0"/>
                  </a:lnTo>
                  <a:lnTo>
                    <a:pt x="104776" y="4081462"/>
                  </a:lnTo>
                  <a:lnTo>
                    <a:pt x="0" y="4083367"/>
                  </a:lnTo>
                  <a:close/>
                </a:path>
              </a:pathLst>
            </a:custGeom>
            <a:solidFill>
              <a:srgbClr val="AAA5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book-strip28"/>
            <p:cNvSpPr/>
            <p:nvPr/>
          </p:nvSpPr>
          <p:spPr>
            <a:xfrm>
              <a:off x="9447848" y="19695795"/>
              <a:ext cx="105727" cy="4101465"/>
            </a:xfrm>
            <a:custGeom>
              <a:avLst/>
              <a:gdLst/>
              <a:ahLst/>
              <a:cxnLst/>
              <a:rect l="l" t="t" r="r" b="b"/>
              <a:pathLst>
                <a:path w="105727" h="4101465">
                  <a:moveTo>
                    <a:pt x="0" y="20003"/>
                  </a:moveTo>
                  <a:lnTo>
                    <a:pt x="105727" y="0"/>
                  </a:lnTo>
                  <a:lnTo>
                    <a:pt x="105727" y="4100513"/>
                  </a:lnTo>
                  <a:lnTo>
                    <a:pt x="0" y="4101465"/>
                  </a:lnTo>
                  <a:close/>
                </a:path>
              </a:pathLst>
            </a:custGeom>
            <a:solidFill>
              <a:srgbClr val="B3AE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book-strip29"/>
            <p:cNvSpPr/>
            <p:nvPr/>
          </p:nvSpPr>
          <p:spPr>
            <a:xfrm>
              <a:off x="9553575" y="19688175"/>
              <a:ext cx="104775" cy="4108133"/>
            </a:xfrm>
            <a:custGeom>
              <a:avLst/>
              <a:gdLst/>
              <a:ahLst/>
              <a:cxnLst/>
              <a:rect l="l" t="t" r="r" b="b"/>
              <a:pathLst>
                <a:path w="104775" h="4108133">
                  <a:moveTo>
                    <a:pt x="0" y="7620"/>
                  </a:moveTo>
                  <a:lnTo>
                    <a:pt x="104775" y="0"/>
                  </a:lnTo>
                  <a:lnTo>
                    <a:pt x="104775" y="4106227"/>
                  </a:lnTo>
                  <a:lnTo>
                    <a:pt x="0" y="4108133"/>
                  </a:lnTo>
                  <a:close/>
                </a:path>
              </a:pathLst>
            </a:custGeom>
            <a:solidFill>
              <a:srgbClr val="BEB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book-strip30"/>
            <p:cNvSpPr/>
            <p:nvPr/>
          </p:nvSpPr>
          <p:spPr>
            <a:xfrm>
              <a:off x="9658350" y="19688175"/>
              <a:ext cx="104775" cy="4106227"/>
            </a:xfrm>
            <a:custGeom>
              <a:avLst/>
              <a:gdLst/>
              <a:ahLst/>
              <a:cxnLst/>
              <a:rect l="l" t="t" r="r" b="b"/>
              <a:pathLst>
                <a:path w="104775" h="4106227">
                  <a:moveTo>
                    <a:pt x="0" y="0"/>
                  </a:moveTo>
                  <a:lnTo>
                    <a:pt x="104775" y="5715"/>
                  </a:lnTo>
                  <a:lnTo>
                    <a:pt x="104775" y="4104323"/>
                  </a:lnTo>
                  <a:lnTo>
                    <a:pt x="0" y="4106227"/>
                  </a:lnTo>
                  <a:close/>
                </a:path>
              </a:pathLst>
            </a:custGeom>
            <a:solidFill>
              <a:srgbClr val="C9C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book-strip31"/>
            <p:cNvSpPr/>
            <p:nvPr/>
          </p:nvSpPr>
          <p:spPr>
            <a:xfrm>
              <a:off x="9763125" y="19693890"/>
              <a:ext cx="105727" cy="4098608"/>
            </a:xfrm>
            <a:custGeom>
              <a:avLst/>
              <a:gdLst/>
              <a:ahLst/>
              <a:cxnLst/>
              <a:rect l="l" t="t" r="r" b="b"/>
              <a:pathLst>
                <a:path w="105727" h="4098608">
                  <a:moveTo>
                    <a:pt x="0" y="0"/>
                  </a:moveTo>
                  <a:lnTo>
                    <a:pt x="105727" y="17145"/>
                  </a:lnTo>
                  <a:lnTo>
                    <a:pt x="105727" y="4096702"/>
                  </a:lnTo>
                  <a:lnTo>
                    <a:pt x="0" y="4098608"/>
                  </a:lnTo>
                  <a:close/>
                </a:path>
              </a:pathLst>
            </a:custGeom>
            <a:solidFill>
              <a:srgbClr val="D3CE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book-strip32"/>
            <p:cNvSpPr/>
            <p:nvPr/>
          </p:nvSpPr>
          <p:spPr>
            <a:xfrm>
              <a:off x="9868852" y="19711035"/>
              <a:ext cx="104776" cy="4079557"/>
            </a:xfrm>
            <a:custGeom>
              <a:avLst/>
              <a:gdLst/>
              <a:ahLst/>
              <a:cxnLst/>
              <a:rect l="l" t="t" r="r" b="b"/>
              <a:pathLst>
                <a:path w="104776" h="4079557">
                  <a:moveTo>
                    <a:pt x="0" y="0"/>
                  </a:moveTo>
                  <a:lnTo>
                    <a:pt x="104776" y="29527"/>
                  </a:lnTo>
                  <a:lnTo>
                    <a:pt x="104776" y="4077653"/>
                  </a:lnTo>
                  <a:lnTo>
                    <a:pt x="0" y="4079557"/>
                  </a:lnTo>
                  <a:close/>
                </a:path>
              </a:pathLst>
            </a:custGeom>
            <a:solidFill>
              <a:srgbClr val="DBD7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book-strip33"/>
            <p:cNvSpPr/>
            <p:nvPr/>
          </p:nvSpPr>
          <p:spPr>
            <a:xfrm>
              <a:off x="9973628" y="19740562"/>
              <a:ext cx="104774" cy="4048126"/>
            </a:xfrm>
            <a:custGeom>
              <a:avLst/>
              <a:gdLst/>
              <a:ahLst/>
              <a:cxnLst/>
              <a:rect l="l" t="t" r="r" b="b"/>
              <a:pathLst>
                <a:path w="104774" h="4048126">
                  <a:moveTo>
                    <a:pt x="0" y="0"/>
                  </a:moveTo>
                  <a:lnTo>
                    <a:pt x="104774" y="37148"/>
                  </a:lnTo>
                  <a:lnTo>
                    <a:pt x="104774" y="4046220"/>
                  </a:lnTo>
                  <a:lnTo>
                    <a:pt x="0" y="4048126"/>
                  </a:lnTo>
                  <a:close/>
                </a:path>
              </a:pathLst>
            </a:custGeom>
            <a:solidFill>
              <a:srgbClr val="E5E1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book-strip34"/>
            <p:cNvSpPr/>
            <p:nvPr/>
          </p:nvSpPr>
          <p:spPr>
            <a:xfrm>
              <a:off x="10078402" y="19777710"/>
              <a:ext cx="105728" cy="4009072"/>
            </a:xfrm>
            <a:custGeom>
              <a:avLst/>
              <a:gdLst/>
              <a:ahLst/>
              <a:cxnLst/>
              <a:rect l="l" t="t" r="r" b="b"/>
              <a:pathLst>
                <a:path w="105728" h="4009072">
                  <a:moveTo>
                    <a:pt x="0" y="0"/>
                  </a:moveTo>
                  <a:lnTo>
                    <a:pt x="105728" y="44768"/>
                  </a:lnTo>
                  <a:lnTo>
                    <a:pt x="105728" y="4007168"/>
                  </a:lnTo>
                  <a:lnTo>
                    <a:pt x="0" y="4009072"/>
                  </a:lnTo>
                  <a:close/>
                </a:path>
              </a:pathLst>
            </a:custGeom>
            <a:solidFill>
              <a:srgbClr val="E5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book-strip35"/>
            <p:cNvSpPr/>
            <p:nvPr/>
          </p:nvSpPr>
          <p:spPr>
            <a:xfrm>
              <a:off x="10184130" y="19822478"/>
              <a:ext cx="104775" cy="3966210"/>
            </a:xfrm>
            <a:custGeom>
              <a:avLst/>
              <a:gdLst/>
              <a:ahLst/>
              <a:cxnLst/>
              <a:rect l="l" t="t" r="r" b="b"/>
              <a:pathLst>
                <a:path w="104775" h="3966210">
                  <a:moveTo>
                    <a:pt x="0" y="0"/>
                  </a:moveTo>
                  <a:lnTo>
                    <a:pt x="104775" y="42862"/>
                  </a:lnTo>
                  <a:lnTo>
                    <a:pt x="104775" y="3966210"/>
                  </a:lnTo>
                  <a:lnTo>
                    <a:pt x="0" y="3962400"/>
                  </a:lnTo>
                  <a:close/>
                </a:path>
              </a:pathLst>
            </a:custGeom>
            <a:solidFill>
              <a:srgbClr val="C9C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book-strip36"/>
            <p:cNvSpPr/>
            <p:nvPr/>
          </p:nvSpPr>
          <p:spPr>
            <a:xfrm>
              <a:off x="10288905" y="19843432"/>
              <a:ext cx="104775" cy="3968116"/>
            </a:xfrm>
            <a:custGeom>
              <a:avLst/>
              <a:gdLst/>
              <a:ahLst/>
              <a:cxnLst/>
              <a:rect l="l" t="t" r="r" b="b"/>
              <a:pathLst>
                <a:path w="104775" h="3968116">
                  <a:moveTo>
                    <a:pt x="0" y="21908"/>
                  </a:moveTo>
                  <a:lnTo>
                    <a:pt x="104775" y="0"/>
                  </a:lnTo>
                  <a:lnTo>
                    <a:pt x="104775" y="3968116"/>
                  </a:lnTo>
                  <a:lnTo>
                    <a:pt x="0" y="3945256"/>
                  </a:lnTo>
                  <a:close/>
                </a:path>
              </a:pathLst>
            </a:custGeom>
            <a:solidFill>
              <a:srgbClr val="F1EF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book-strip37"/>
            <p:cNvSpPr/>
            <p:nvPr/>
          </p:nvSpPr>
          <p:spPr>
            <a:xfrm>
              <a:off x="10393680" y="19822478"/>
              <a:ext cx="105728" cy="4010977"/>
            </a:xfrm>
            <a:custGeom>
              <a:avLst/>
              <a:gdLst/>
              <a:ahLst/>
              <a:cxnLst/>
              <a:rect l="l" t="t" r="r" b="b"/>
              <a:pathLst>
                <a:path w="105728" h="4010977">
                  <a:moveTo>
                    <a:pt x="0" y="20954"/>
                  </a:moveTo>
                  <a:lnTo>
                    <a:pt x="105728" y="0"/>
                  </a:lnTo>
                  <a:lnTo>
                    <a:pt x="105728" y="4010977"/>
                  </a:lnTo>
                  <a:lnTo>
                    <a:pt x="0" y="3989070"/>
                  </a:lnTo>
                  <a:close/>
                </a:path>
              </a:pathLst>
            </a:custGeom>
            <a:solidFill>
              <a:srgbClr val="EDEA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book-strip38"/>
            <p:cNvSpPr/>
            <p:nvPr/>
          </p:nvSpPr>
          <p:spPr>
            <a:xfrm>
              <a:off x="10499408" y="19801522"/>
              <a:ext cx="104774" cy="4054793"/>
            </a:xfrm>
            <a:custGeom>
              <a:avLst/>
              <a:gdLst/>
              <a:ahLst/>
              <a:cxnLst/>
              <a:rect l="l" t="t" r="r" b="b"/>
              <a:pathLst>
                <a:path w="104774" h="4054793">
                  <a:moveTo>
                    <a:pt x="0" y="20956"/>
                  </a:moveTo>
                  <a:lnTo>
                    <a:pt x="104774" y="0"/>
                  </a:lnTo>
                  <a:lnTo>
                    <a:pt x="104774" y="4054793"/>
                  </a:lnTo>
                  <a:lnTo>
                    <a:pt x="0" y="4031933"/>
                  </a:lnTo>
                  <a:close/>
                </a:path>
              </a:pathLst>
            </a:custGeom>
            <a:solidFill>
              <a:srgbClr val="E9E5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book-strip39"/>
            <p:cNvSpPr/>
            <p:nvPr/>
          </p:nvSpPr>
          <p:spPr>
            <a:xfrm>
              <a:off x="10604182" y="19779615"/>
              <a:ext cx="104776" cy="4099560"/>
            </a:xfrm>
            <a:custGeom>
              <a:avLst/>
              <a:gdLst/>
              <a:ahLst/>
              <a:cxnLst/>
              <a:rect l="l" t="t" r="r" b="b"/>
              <a:pathLst>
                <a:path w="104776" h="4099560">
                  <a:moveTo>
                    <a:pt x="0" y="21907"/>
                  </a:moveTo>
                  <a:lnTo>
                    <a:pt x="104776" y="0"/>
                  </a:lnTo>
                  <a:lnTo>
                    <a:pt x="104776" y="4099560"/>
                  </a:lnTo>
                  <a:lnTo>
                    <a:pt x="0" y="4076700"/>
                  </a:lnTo>
                  <a:close/>
                </a:path>
              </a:pathLst>
            </a:custGeom>
            <a:solidFill>
              <a:srgbClr val="E4E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book-strip40"/>
            <p:cNvSpPr/>
            <p:nvPr/>
          </p:nvSpPr>
          <p:spPr>
            <a:xfrm>
              <a:off x="10708958" y="19758660"/>
              <a:ext cx="105727" cy="4143375"/>
            </a:xfrm>
            <a:custGeom>
              <a:avLst/>
              <a:gdLst/>
              <a:ahLst/>
              <a:cxnLst/>
              <a:rect l="l" t="t" r="r" b="b"/>
              <a:pathLst>
                <a:path w="105727" h="4143375">
                  <a:moveTo>
                    <a:pt x="0" y="20955"/>
                  </a:moveTo>
                  <a:lnTo>
                    <a:pt x="105727" y="0"/>
                  </a:lnTo>
                  <a:lnTo>
                    <a:pt x="105727" y="4143375"/>
                  </a:lnTo>
                  <a:lnTo>
                    <a:pt x="0" y="4120515"/>
                  </a:lnTo>
                  <a:close/>
                </a:path>
              </a:pathLst>
            </a:custGeom>
            <a:solidFill>
              <a:srgbClr val="E0D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book-strip41"/>
            <p:cNvSpPr/>
            <p:nvPr/>
          </p:nvSpPr>
          <p:spPr>
            <a:xfrm>
              <a:off x="10814685" y="19737705"/>
              <a:ext cx="104775" cy="4187190"/>
            </a:xfrm>
            <a:custGeom>
              <a:avLst/>
              <a:gdLst/>
              <a:ahLst/>
              <a:cxnLst/>
              <a:rect l="l" t="t" r="r" b="b"/>
              <a:pathLst>
                <a:path w="104775" h="4187190">
                  <a:moveTo>
                    <a:pt x="0" y="20955"/>
                  </a:moveTo>
                  <a:lnTo>
                    <a:pt x="104775" y="0"/>
                  </a:lnTo>
                  <a:lnTo>
                    <a:pt x="104775" y="4187190"/>
                  </a:lnTo>
                  <a:lnTo>
                    <a:pt x="0" y="4164330"/>
                  </a:lnTo>
                  <a:close/>
                </a:path>
              </a:pathLst>
            </a:custGeom>
            <a:solidFill>
              <a:srgbClr val="DBD3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book-strip42"/>
            <p:cNvSpPr/>
            <p:nvPr/>
          </p:nvSpPr>
          <p:spPr>
            <a:xfrm>
              <a:off x="10919460" y="19715798"/>
              <a:ext cx="104775" cy="4231004"/>
            </a:xfrm>
            <a:custGeom>
              <a:avLst/>
              <a:gdLst/>
              <a:ahLst/>
              <a:cxnLst/>
              <a:rect l="l" t="t" r="r" b="b"/>
              <a:pathLst>
                <a:path w="104775" h="4231004">
                  <a:moveTo>
                    <a:pt x="0" y="21907"/>
                  </a:moveTo>
                  <a:lnTo>
                    <a:pt x="104775" y="0"/>
                  </a:lnTo>
                  <a:lnTo>
                    <a:pt x="104775" y="4231004"/>
                  </a:lnTo>
                  <a:lnTo>
                    <a:pt x="0" y="4209097"/>
                  </a:lnTo>
                  <a:close/>
                </a:path>
              </a:pathLst>
            </a:custGeom>
            <a:solidFill>
              <a:srgbClr val="D5CC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book-strip43"/>
            <p:cNvSpPr/>
            <p:nvPr/>
          </p:nvSpPr>
          <p:spPr>
            <a:xfrm>
              <a:off x="11024235" y="19694842"/>
              <a:ext cx="105727" cy="4274820"/>
            </a:xfrm>
            <a:custGeom>
              <a:avLst/>
              <a:gdLst/>
              <a:ahLst/>
              <a:cxnLst/>
              <a:rect l="l" t="t" r="r" b="b"/>
              <a:pathLst>
                <a:path w="105727" h="4274820">
                  <a:moveTo>
                    <a:pt x="0" y="20956"/>
                  </a:moveTo>
                  <a:lnTo>
                    <a:pt x="105727" y="0"/>
                  </a:lnTo>
                  <a:lnTo>
                    <a:pt x="105727" y="4274820"/>
                  </a:lnTo>
                  <a:lnTo>
                    <a:pt x="0" y="4251960"/>
                  </a:lnTo>
                  <a:close/>
                </a:path>
              </a:pathLst>
            </a:custGeom>
            <a:solidFill>
              <a:srgbClr val="D0C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book-strip44"/>
            <p:cNvSpPr/>
            <p:nvPr/>
          </p:nvSpPr>
          <p:spPr>
            <a:xfrm>
              <a:off x="11129962" y="19673888"/>
              <a:ext cx="104776" cy="4318634"/>
            </a:xfrm>
            <a:custGeom>
              <a:avLst/>
              <a:gdLst/>
              <a:ahLst/>
              <a:cxnLst/>
              <a:rect l="l" t="t" r="r" b="b"/>
              <a:pathLst>
                <a:path w="104776" h="4318634">
                  <a:moveTo>
                    <a:pt x="0" y="20954"/>
                  </a:moveTo>
                  <a:lnTo>
                    <a:pt x="104776" y="0"/>
                  </a:lnTo>
                  <a:lnTo>
                    <a:pt x="104776" y="4318634"/>
                  </a:lnTo>
                  <a:lnTo>
                    <a:pt x="0" y="4295774"/>
                  </a:lnTo>
                  <a:close/>
                </a:path>
              </a:pathLst>
            </a:custGeom>
            <a:solidFill>
              <a:srgbClr val="C9BE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book-strip45"/>
            <p:cNvSpPr/>
            <p:nvPr/>
          </p:nvSpPr>
          <p:spPr>
            <a:xfrm>
              <a:off x="11234738" y="19651980"/>
              <a:ext cx="104774" cy="4363402"/>
            </a:xfrm>
            <a:custGeom>
              <a:avLst/>
              <a:gdLst/>
              <a:ahLst/>
              <a:cxnLst/>
              <a:rect l="l" t="t" r="r" b="b"/>
              <a:pathLst>
                <a:path w="104774" h="4363402">
                  <a:moveTo>
                    <a:pt x="0" y="21908"/>
                  </a:moveTo>
                  <a:lnTo>
                    <a:pt x="104774" y="0"/>
                  </a:lnTo>
                  <a:lnTo>
                    <a:pt x="104774" y="4363402"/>
                  </a:lnTo>
                  <a:lnTo>
                    <a:pt x="0" y="4340542"/>
                  </a:lnTo>
                  <a:close/>
                </a:path>
              </a:pathLst>
            </a:custGeom>
            <a:solidFill>
              <a:srgbClr val="C3B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book-strip46"/>
            <p:cNvSpPr/>
            <p:nvPr/>
          </p:nvSpPr>
          <p:spPr>
            <a:xfrm>
              <a:off x="11339512" y="19631025"/>
              <a:ext cx="105728" cy="4407217"/>
            </a:xfrm>
            <a:custGeom>
              <a:avLst/>
              <a:gdLst/>
              <a:ahLst/>
              <a:cxnLst/>
              <a:rect l="l" t="t" r="r" b="b"/>
              <a:pathLst>
                <a:path w="105728" h="4407217">
                  <a:moveTo>
                    <a:pt x="0" y="20955"/>
                  </a:moveTo>
                  <a:lnTo>
                    <a:pt x="105728" y="0"/>
                  </a:lnTo>
                  <a:lnTo>
                    <a:pt x="105728" y="4407217"/>
                  </a:lnTo>
                  <a:lnTo>
                    <a:pt x="0" y="4384357"/>
                  </a:lnTo>
                  <a:close/>
                </a:path>
              </a:pathLst>
            </a:custGeom>
            <a:solidFill>
              <a:srgbClr val="BDAE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book-strip47"/>
            <p:cNvSpPr/>
            <p:nvPr/>
          </p:nvSpPr>
          <p:spPr>
            <a:xfrm>
              <a:off x="11445240" y="19610070"/>
              <a:ext cx="104775" cy="4450080"/>
            </a:xfrm>
            <a:custGeom>
              <a:avLst/>
              <a:gdLst/>
              <a:ahLst/>
              <a:cxnLst/>
              <a:rect l="l" t="t" r="r" b="b"/>
              <a:pathLst>
                <a:path w="104775" h="4450080">
                  <a:moveTo>
                    <a:pt x="0" y="20955"/>
                  </a:moveTo>
                  <a:lnTo>
                    <a:pt x="104775" y="0"/>
                  </a:lnTo>
                  <a:lnTo>
                    <a:pt x="104775" y="4450080"/>
                  </a:lnTo>
                  <a:lnTo>
                    <a:pt x="0" y="4428172"/>
                  </a:lnTo>
                  <a:close/>
                </a:path>
              </a:pathLst>
            </a:custGeom>
            <a:solidFill>
              <a:srgbClr val="B7A6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book-strip48"/>
            <p:cNvSpPr/>
            <p:nvPr/>
          </p:nvSpPr>
          <p:spPr>
            <a:xfrm>
              <a:off x="11550015" y="19588162"/>
              <a:ext cx="104775" cy="4494848"/>
            </a:xfrm>
            <a:custGeom>
              <a:avLst/>
              <a:gdLst/>
              <a:ahLst/>
              <a:cxnLst/>
              <a:rect l="l" t="t" r="r" b="b"/>
              <a:pathLst>
                <a:path w="104775" h="4494848">
                  <a:moveTo>
                    <a:pt x="0" y="21908"/>
                  </a:moveTo>
                  <a:lnTo>
                    <a:pt x="104775" y="0"/>
                  </a:lnTo>
                  <a:lnTo>
                    <a:pt x="104775" y="4494848"/>
                  </a:lnTo>
                  <a:lnTo>
                    <a:pt x="0" y="4471988"/>
                  </a:lnTo>
                  <a:close/>
                </a:path>
              </a:pathLst>
            </a:custGeom>
            <a:solidFill>
              <a:srgbClr val="B09E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book-strip49"/>
            <p:cNvSpPr/>
            <p:nvPr/>
          </p:nvSpPr>
          <p:spPr>
            <a:xfrm>
              <a:off x="11654790" y="19567208"/>
              <a:ext cx="105728" cy="4538662"/>
            </a:xfrm>
            <a:custGeom>
              <a:avLst/>
              <a:gdLst/>
              <a:ahLst/>
              <a:cxnLst/>
              <a:rect l="l" t="t" r="r" b="b"/>
              <a:pathLst>
                <a:path w="105728" h="4538662">
                  <a:moveTo>
                    <a:pt x="0" y="20954"/>
                  </a:moveTo>
                  <a:lnTo>
                    <a:pt x="105728" y="0"/>
                  </a:lnTo>
                  <a:lnTo>
                    <a:pt x="105728" y="4538662"/>
                  </a:lnTo>
                  <a:lnTo>
                    <a:pt x="0" y="4515802"/>
                  </a:lnTo>
                  <a:close/>
                </a:path>
              </a:pathLst>
            </a:custGeom>
            <a:solidFill>
              <a:srgbClr val="AE9C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book-strip50"/>
            <p:cNvSpPr/>
            <p:nvPr/>
          </p:nvSpPr>
          <p:spPr>
            <a:xfrm>
              <a:off x="11760518" y="19546252"/>
              <a:ext cx="104774" cy="4582478"/>
            </a:xfrm>
            <a:custGeom>
              <a:avLst/>
              <a:gdLst/>
              <a:ahLst/>
              <a:cxnLst/>
              <a:rect l="l" t="t" r="r" b="b"/>
              <a:pathLst>
                <a:path w="104774" h="4582478">
                  <a:moveTo>
                    <a:pt x="0" y="20956"/>
                  </a:moveTo>
                  <a:lnTo>
                    <a:pt x="104774" y="0"/>
                  </a:lnTo>
                  <a:lnTo>
                    <a:pt x="104774" y="4582478"/>
                  </a:lnTo>
                  <a:lnTo>
                    <a:pt x="0" y="4559618"/>
                  </a:lnTo>
                  <a:close/>
                </a:path>
              </a:pathLst>
            </a:custGeom>
            <a:solidFill>
              <a:srgbClr val="AD9A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book-strip51"/>
            <p:cNvSpPr/>
            <p:nvPr/>
          </p:nvSpPr>
          <p:spPr>
            <a:xfrm>
              <a:off x="11865292" y="19525298"/>
              <a:ext cx="104776" cy="4626292"/>
            </a:xfrm>
            <a:custGeom>
              <a:avLst/>
              <a:gdLst/>
              <a:ahLst/>
              <a:cxnLst/>
              <a:rect l="l" t="t" r="r" b="b"/>
              <a:pathLst>
                <a:path w="104776" h="4626292">
                  <a:moveTo>
                    <a:pt x="0" y="20954"/>
                  </a:moveTo>
                  <a:lnTo>
                    <a:pt x="104776" y="0"/>
                  </a:lnTo>
                  <a:lnTo>
                    <a:pt x="104776" y="4626292"/>
                  </a:lnTo>
                  <a:lnTo>
                    <a:pt x="0" y="4603432"/>
                  </a:lnTo>
                  <a:close/>
                </a:path>
              </a:pathLst>
            </a:custGeom>
            <a:solidFill>
              <a:srgbClr val="AB9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book-strip52"/>
            <p:cNvSpPr/>
            <p:nvPr/>
          </p:nvSpPr>
          <p:spPr>
            <a:xfrm>
              <a:off x="11970068" y="19503390"/>
              <a:ext cx="105727" cy="4670108"/>
            </a:xfrm>
            <a:custGeom>
              <a:avLst/>
              <a:gdLst/>
              <a:ahLst/>
              <a:cxnLst/>
              <a:rect l="l" t="t" r="r" b="b"/>
              <a:pathLst>
                <a:path w="105727" h="4670108">
                  <a:moveTo>
                    <a:pt x="0" y="21908"/>
                  </a:moveTo>
                  <a:lnTo>
                    <a:pt x="105727" y="0"/>
                  </a:lnTo>
                  <a:lnTo>
                    <a:pt x="105727" y="4670108"/>
                  </a:lnTo>
                  <a:lnTo>
                    <a:pt x="0" y="4648200"/>
                  </a:lnTo>
                  <a:close/>
                </a:path>
              </a:pathLst>
            </a:custGeom>
            <a:solidFill>
              <a:srgbClr val="AA9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ook-strip53"/>
            <p:cNvSpPr/>
            <p:nvPr/>
          </p:nvSpPr>
          <p:spPr>
            <a:xfrm>
              <a:off x="12075795" y="19482435"/>
              <a:ext cx="104775" cy="4713923"/>
            </a:xfrm>
            <a:custGeom>
              <a:avLst/>
              <a:gdLst/>
              <a:ahLst/>
              <a:cxnLst/>
              <a:rect l="l" t="t" r="r" b="b"/>
              <a:pathLst>
                <a:path w="104775" h="4713923">
                  <a:moveTo>
                    <a:pt x="0" y="20955"/>
                  </a:moveTo>
                  <a:lnTo>
                    <a:pt x="104775" y="0"/>
                  </a:lnTo>
                  <a:lnTo>
                    <a:pt x="104775" y="4713923"/>
                  </a:lnTo>
                  <a:lnTo>
                    <a:pt x="0" y="4691063"/>
                  </a:lnTo>
                  <a:close/>
                </a:path>
              </a:pathLst>
            </a:custGeom>
            <a:solidFill>
              <a:srgbClr val="A894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book-strip54"/>
            <p:cNvSpPr/>
            <p:nvPr/>
          </p:nvSpPr>
          <p:spPr>
            <a:xfrm>
              <a:off x="12180570" y="19461480"/>
              <a:ext cx="104775" cy="4757738"/>
            </a:xfrm>
            <a:custGeom>
              <a:avLst/>
              <a:gdLst/>
              <a:ahLst/>
              <a:cxnLst/>
              <a:rect l="l" t="t" r="r" b="b"/>
              <a:pathLst>
                <a:path w="104775" h="4757738">
                  <a:moveTo>
                    <a:pt x="0" y="20955"/>
                  </a:moveTo>
                  <a:lnTo>
                    <a:pt x="104775" y="0"/>
                  </a:lnTo>
                  <a:lnTo>
                    <a:pt x="104775" y="4757738"/>
                  </a:lnTo>
                  <a:lnTo>
                    <a:pt x="0" y="4734878"/>
                  </a:lnTo>
                  <a:close/>
                </a:path>
              </a:pathLst>
            </a:custGeom>
            <a:solidFill>
              <a:srgbClr val="A893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book-strip55"/>
            <p:cNvSpPr/>
            <p:nvPr/>
          </p:nvSpPr>
          <p:spPr>
            <a:xfrm>
              <a:off x="12285345" y="19439572"/>
              <a:ext cx="105727" cy="4802506"/>
            </a:xfrm>
            <a:custGeom>
              <a:avLst/>
              <a:gdLst/>
              <a:ahLst/>
              <a:cxnLst/>
              <a:rect l="l" t="t" r="r" b="b"/>
              <a:pathLst>
                <a:path w="105727" h="4802506">
                  <a:moveTo>
                    <a:pt x="0" y="21908"/>
                  </a:moveTo>
                  <a:lnTo>
                    <a:pt x="105727" y="0"/>
                  </a:lnTo>
                  <a:lnTo>
                    <a:pt x="105727" y="4802506"/>
                  </a:lnTo>
                  <a:lnTo>
                    <a:pt x="0" y="4779646"/>
                  </a:lnTo>
                  <a:close/>
                </a:path>
              </a:pathLst>
            </a:custGeom>
            <a:solidFill>
              <a:srgbClr val="A691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book-strip56"/>
            <p:cNvSpPr/>
            <p:nvPr/>
          </p:nvSpPr>
          <p:spPr>
            <a:xfrm>
              <a:off x="12391072" y="19418618"/>
              <a:ext cx="104776" cy="4845367"/>
            </a:xfrm>
            <a:custGeom>
              <a:avLst/>
              <a:gdLst/>
              <a:ahLst/>
              <a:cxnLst/>
              <a:rect l="l" t="t" r="r" b="b"/>
              <a:pathLst>
                <a:path w="104776" h="4845367">
                  <a:moveTo>
                    <a:pt x="0" y="20954"/>
                  </a:moveTo>
                  <a:lnTo>
                    <a:pt x="104776" y="0"/>
                  </a:lnTo>
                  <a:lnTo>
                    <a:pt x="104776" y="4845367"/>
                  </a:lnTo>
                  <a:lnTo>
                    <a:pt x="0" y="4823460"/>
                  </a:lnTo>
                  <a:close/>
                </a:path>
              </a:pathLst>
            </a:custGeom>
            <a:solidFill>
              <a:srgbClr val="A58F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book-strip57"/>
            <p:cNvSpPr/>
            <p:nvPr/>
          </p:nvSpPr>
          <p:spPr>
            <a:xfrm>
              <a:off x="12495848" y="19397662"/>
              <a:ext cx="104774" cy="4889183"/>
            </a:xfrm>
            <a:custGeom>
              <a:avLst/>
              <a:gdLst/>
              <a:ahLst/>
              <a:cxnLst/>
              <a:rect l="l" t="t" r="r" b="b"/>
              <a:pathLst>
                <a:path w="104774" h="4889183">
                  <a:moveTo>
                    <a:pt x="0" y="20956"/>
                  </a:moveTo>
                  <a:lnTo>
                    <a:pt x="104774" y="0"/>
                  </a:lnTo>
                  <a:lnTo>
                    <a:pt x="104774" y="4889183"/>
                  </a:lnTo>
                  <a:lnTo>
                    <a:pt x="0" y="4866323"/>
                  </a:lnTo>
                  <a:close/>
                </a:path>
              </a:pathLst>
            </a:custGeom>
            <a:solidFill>
              <a:srgbClr val="A38D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book-strip58"/>
            <p:cNvSpPr/>
            <p:nvPr/>
          </p:nvSpPr>
          <p:spPr>
            <a:xfrm>
              <a:off x="12600622" y="19375755"/>
              <a:ext cx="105728" cy="4933950"/>
            </a:xfrm>
            <a:custGeom>
              <a:avLst/>
              <a:gdLst/>
              <a:ahLst/>
              <a:cxnLst/>
              <a:rect l="l" t="t" r="r" b="b"/>
              <a:pathLst>
                <a:path w="105728" h="4933950">
                  <a:moveTo>
                    <a:pt x="0" y="21907"/>
                  </a:moveTo>
                  <a:lnTo>
                    <a:pt x="105728" y="0"/>
                  </a:lnTo>
                  <a:lnTo>
                    <a:pt x="105728" y="4933950"/>
                  </a:lnTo>
                  <a:lnTo>
                    <a:pt x="0" y="4911090"/>
                  </a:lnTo>
                  <a:close/>
                </a:path>
              </a:pathLst>
            </a:custGeom>
            <a:solidFill>
              <a:srgbClr val="A28B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book-strip59"/>
            <p:cNvSpPr/>
            <p:nvPr/>
          </p:nvSpPr>
          <p:spPr>
            <a:xfrm>
              <a:off x="12706350" y="19354800"/>
              <a:ext cx="104775" cy="4977765"/>
            </a:xfrm>
            <a:custGeom>
              <a:avLst/>
              <a:gdLst/>
              <a:ahLst/>
              <a:cxnLst/>
              <a:rect l="l" t="t" r="r" b="b"/>
              <a:pathLst>
                <a:path w="104775" h="4977765">
                  <a:moveTo>
                    <a:pt x="0" y="20955"/>
                  </a:moveTo>
                  <a:lnTo>
                    <a:pt x="104775" y="0"/>
                  </a:lnTo>
                  <a:lnTo>
                    <a:pt x="104775" y="4977765"/>
                  </a:lnTo>
                  <a:lnTo>
                    <a:pt x="0" y="4954905"/>
                  </a:lnTo>
                  <a:close/>
                </a:path>
              </a:pathLst>
            </a:custGeom>
            <a:solidFill>
              <a:srgbClr val="A18A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bk-t1"/>
            <p:cNvSpPr txBox="1"/>
            <p:nvPr/>
          </p:nvSpPr>
          <p:spPr>
            <a:xfrm>
              <a:off x="6650355" y="21163598"/>
              <a:ext cx="1710690" cy="6486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数据预</a:t>
              </a:r>
            </a:p>
          </p:txBody>
        </p:sp>
        <p:sp>
          <p:nvSpPr>
            <p:cNvPr id="159" name="bk-t2"/>
            <p:cNvSpPr txBox="1"/>
            <p:nvPr/>
          </p:nvSpPr>
          <p:spPr>
            <a:xfrm>
              <a:off x="6650355" y="21782722"/>
              <a:ext cx="1710690" cy="6486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处理层</a:t>
              </a:r>
            </a:p>
          </p:txBody>
        </p:sp>
        <p:sp>
          <p:nvSpPr>
            <p:cNvPr id="160" name="bk-t3"/>
            <p:cNvSpPr txBox="1"/>
            <p:nvPr/>
          </p:nvSpPr>
          <p:spPr>
            <a:xfrm>
              <a:off x="11091862" y="21173122"/>
              <a:ext cx="1190625" cy="6486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机制</a:t>
              </a:r>
            </a:p>
          </p:txBody>
        </p:sp>
        <p:sp>
          <p:nvSpPr>
            <p:cNvPr id="161" name="bk-t4"/>
            <p:cNvSpPr txBox="1"/>
            <p:nvPr/>
          </p:nvSpPr>
          <p:spPr>
            <a:xfrm>
              <a:off x="10831830" y="21801772"/>
              <a:ext cx="1710690" cy="64865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验证层</a:t>
              </a:r>
            </a:p>
          </p:txBody>
        </p:sp>
      </p:grpSp>
      <p:grpSp>
        <p:nvGrpSpPr>
          <p:cNvPr id="211" name="output"/>
          <p:cNvGrpSpPr/>
          <p:nvPr/>
        </p:nvGrpSpPr>
        <p:grpSpPr>
          <a:xfrm>
            <a:off x="1504950" y="23945850"/>
            <a:ext cx="16249650" cy="3138488"/>
            <a:chOff x="1504950" y="23945850"/>
            <a:chExt cx="16249650" cy="3138488"/>
          </a:xfrm>
        </p:grpSpPr>
        <p:grpSp>
          <p:nvGrpSpPr>
            <p:cNvPr id="185" name="out-chev"/>
            <p:cNvGrpSpPr/>
            <p:nvPr/>
          </p:nvGrpSpPr>
          <p:grpSpPr>
            <a:xfrm>
              <a:off x="9344025" y="23945850"/>
              <a:ext cx="704850" cy="561975"/>
              <a:chOff x="9344025" y="23945850"/>
              <a:chExt cx="704850" cy="561975"/>
            </a:xfrm>
          </p:grpSpPr>
          <p:sp>
            <p:nvSpPr>
              <p:cNvPr id="162" name="out-chev-o"/>
              <p:cNvSpPr/>
              <p:nvPr/>
            </p:nvSpPr>
            <p:spPr>
              <a:xfrm>
                <a:off x="9344025" y="23945850"/>
                <a:ext cx="704850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561975">
                    <a:moveTo>
                      <a:pt x="0" y="0"/>
                    </a:moveTo>
                    <a:lnTo>
                      <a:pt x="704850" y="0"/>
                    </a:lnTo>
                    <a:lnTo>
                      <a:pt x="352425" y="561975"/>
                    </a:lnTo>
                    <a:close/>
                  </a:path>
                </a:pathLst>
              </a:custGeom>
              <a:solidFill>
                <a:srgbClr val="84C1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out-chev-i"/>
              <p:cNvSpPr/>
              <p:nvPr/>
            </p:nvSpPr>
            <p:spPr>
              <a:xfrm>
                <a:off x="9410700" y="24088725"/>
                <a:ext cx="57150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76225">
                    <a:moveTo>
                      <a:pt x="0" y="0"/>
                    </a:moveTo>
                    <a:lnTo>
                      <a:pt x="285750" y="161925"/>
                    </a:lnTo>
                    <a:lnTo>
                      <a:pt x="571500" y="0"/>
                    </a:lnTo>
                    <a:lnTo>
                      <a:pt x="571500" y="114300"/>
                    </a:lnTo>
                    <a:lnTo>
                      <a:pt x="285750" y="276225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8" name="out-banner"/>
            <p:cNvGrpSpPr/>
            <p:nvPr/>
          </p:nvGrpSpPr>
          <p:grpSpPr>
            <a:xfrm>
              <a:off x="7229475" y="24564975"/>
              <a:ext cx="4791075" cy="990600"/>
              <a:chOff x="7229475" y="24564975"/>
              <a:chExt cx="4791075" cy="990600"/>
            </a:xfrm>
          </p:grpSpPr>
          <p:sp>
            <p:nvSpPr>
              <p:cNvPr id="164" name="out-banner-bg"/>
              <p:cNvSpPr/>
              <p:nvPr/>
            </p:nvSpPr>
            <p:spPr>
              <a:xfrm>
                <a:off x="7229475" y="24564975"/>
                <a:ext cx="4791075" cy="990600"/>
              </a:xfrm>
              <a:prstGeom prst="roundRect">
                <a:avLst>
                  <a:gd name="adj" fmla="val 11538"/>
                </a:avLst>
              </a:prstGeom>
              <a:solidFill>
                <a:srgbClr val="2B99D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out-banner-t"/>
              <p:cNvSpPr txBox="1"/>
              <p:nvPr/>
            </p:nvSpPr>
            <p:spPr>
              <a:xfrm>
                <a:off x="8218170" y="24747855"/>
                <a:ext cx="2804160" cy="66294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6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应用输出层</a:t>
                </a:r>
              </a:p>
            </p:txBody>
          </p:sp>
        </p:grpSp>
        <p:grpSp>
          <p:nvGrpSpPr>
            <p:cNvPr id="197" name="out-box1"/>
            <p:cNvGrpSpPr/>
            <p:nvPr/>
          </p:nvGrpSpPr>
          <p:grpSpPr>
            <a:xfrm>
              <a:off x="1685925" y="25765125"/>
              <a:ext cx="3876675" cy="942975"/>
              <a:chOff x="1685925" y="25765125"/>
              <a:chExt cx="3876675" cy="942975"/>
            </a:xfrm>
          </p:grpSpPr>
          <p:sp>
            <p:nvSpPr>
              <p:cNvPr id="166" name="out-box1-front"/>
              <p:cNvSpPr/>
              <p:nvPr/>
            </p:nvSpPr>
            <p:spPr>
              <a:xfrm>
                <a:off x="1685925" y="25946100"/>
                <a:ext cx="3667125" cy="762000"/>
              </a:xfrm>
              <a:prstGeom prst="rect">
                <a:avLst/>
              </a:prstGeom>
              <a:solidFill>
                <a:srgbClr val="38AB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out-box1-top"/>
              <p:cNvSpPr/>
              <p:nvPr/>
            </p:nvSpPr>
            <p:spPr>
              <a:xfrm>
                <a:off x="1762125" y="25765125"/>
                <a:ext cx="3733800" cy="180975"/>
              </a:xfrm>
              <a:prstGeom prst="rect">
                <a:avLst/>
              </a:prstGeom>
              <a:solidFill>
                <a:srgbClr val="80BE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out-box1-side"/>
              <p:cNvSpPr/>
              <p:nvPr/>
            </p:nvSpPr>
            <p:spPr>
              <a:xfrm>
                <a:off x="5353050" y="25831800"/>
                <a:ext cx="209550" cy="857250"/>
              </a:xfrm>
              <a:prstGeom prst="rect">
                <a:avLst/>
              </a:prstGeom>
              <a:solidFill>
                <a:srgbClr val="2B99D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out-box1-t"/>
              <p:cNvSpPr txBox="1"/>
              <p:nvPr/>
            </p:nvSpPr>
            <p:spPr>
              <a:xfrm>
                <a:off x="1947862" y="26050875"/>
                <a:ext cx="314325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疾病分型系统</a:t>
                </a:r>
              </a:p>
            </p:txBody>
          </p:sp>
        </p:grpSp>
        <p:grpSp>
          <p:nvGrpSpPr>
            <p:cNvPr id="184" name="out-box2"/>
            <p:cNvGrpSpPr/>
            <p:nvPr/>
          </p:nvGrpSpPr>
          <p:grpSpPr>
            <a:xfrm>
              <a:off x="5734050" y="25765125"/>
              <a:ext cx="3876675" cy="942975"/>
              <a:chOff x="5734050" y="25765125"/>
              <a:chExt cx="3876675" cy="942975"/>
            </a:xfrm>
          </p:grpSpPr>
          <p:sp>
            <p:nvSpPr>
              <p:cNvPr id="170" name="out-box2-front"/>
              <p:cNvSpPr/>
              <p:nvPr/>
            </p:nvSpPr>
            <p:spPr>
              <a:xfrm>
                <a:off x="5734050" y="25946100"/>
                <a:ext cx="3667125" cy="762000"/>
              </a:xfrm>
              <a:prstGeom prst="rect">
                <a:avLst/>
              </a:prstGeom>
              <a:solidFill>
                <a:srgbClr val="38AB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out-box2-top"/>
              <p:cNvSpPr/>
              <p:nvPr/>
            </p:nvSpPr>
            <p:spPr>
              <a:xfrm>
                <a:off x="5810250" y="25765125"/>
                <a:ext cx="3733800" cy="180975"/>
              </a:xfrm>
              <a:prstGeom prst="rect">
                <a:avLst/>
              </a:prstGeom>
              <a:solidFill>
                <a:srgbClr val="80BE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out-box2-side"/>
              <p:cNvSpPr/>
              <p:nvPr/>
            </p:nvSpPr>
            <p:spPr>
              <a:xfrm>
                <a:off x="9401175" y="25831800"/>
                <a:ext cx="209550" cy="857250"/>
              </a:xfrm>
              <a:prstGeom prst="rect">
                <a:avLst/>
              </a:prstGeom>
              <a:solidFill>
                <a:srgbClr val="2B99D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out-box2-t"/>
              <p:cNvSpPr txBox="1"/>
              <p:nvPr/>
            </p:nvSpPr>
            <p:spPr>
              <a:xfrm>
                <a:off x="5944552" y="26050875"/>
                <a:ext cx="324612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个性化资料建议</a:t>
                </a:r>
              </a:p>
            </p:txBody>
          </p:sp>
        </p:grpSp>
        <p:grpSp>
          <p:nvGrpSpPr>
            <p:cNvPr id="194" name="out-box3"/>
            <p:cNvGrpSpPr/>
            <p:nvPr/>
          </p:nvGrpSpPr>
          <p:grpSpPr>
            <a:xfrm>
              <a:off x="9753600" y="25765125"/>
              <a:ext cx="3876675" cy="942975"/>
              <a:chOff x="9753600" y="25765125"/>
              <a:chExt cx="3876675" cy="942975"/>
            </a:xfrm>
          </p:grpSpPr>
          <p:sp>
            <p:nvSpPr>
              <p:cNvPr id="174" name="out-box3-front"/>
              <p:cNvSpPr/>
              <p:nvPr/>
            </p:nvSpPr>
            <p:spPr>
              <a:xfrm>
                <a:off x="9753600" y="25946100"/>
                <a:ext cx="3667125" cy="762000"/>
              </a:xfrm>
              <a:prstGeom prst="rect">
                <a:avLst/>
              </a:prstGeom>
              <a:solidFill>
                <a:srgbClr val="38AB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out-box3-top"/>
              <p:cNvSpPr/>
              <p:nvPr/>
            </p:nvSpPr>
            <p:spPr>
              <a:xfrm>
                <a:off x="9829800" y="25765125"/>
                <a:ext cx="3733800" cy="180975"/>
              </a:xfrm>
              <a:prstGeom prst="rect">
                <a:avLst/>
              </a:prstGeom>
              <a:solidFill>
                <a:srgbClr val="80BE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out-box3-side"/>
              <p:cNvSpPr/>
              <p:nvPr/>
            </p:nvSpPr>
            <p:spPr>
              <a:xfrm>
                <a:off x="13420725" y="25831800"/>
                <a:ext cx="209550" cy="857250"/>
              </a:xfrm>
              <a:prstGeom prst="rect">
                <a:avLst/>
              </a:prstGeom>
              <a:solidFill>
                <a:srgbClr val="2B99D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out-box3-t"/>
              <p:cNvSpPr txBox="1"/>
              <p:nvPr/>
            </p:nvSpPr>
            <p:spPr>
              <a:xfrm>
                <a:off x="9964102" y="26050875"/>
                <a:ext cx="324612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生物标志物组合</a:t>
                </a:r>
              </a:p>
            </p:txBody>
          </p:sp>
        </p:grpSp>
        <p:grpSp>
          <p:nvGrpSpPr>
            <p:cNvPr id="189" name="out-box4"/>
            <p:cNvGrpSpPr/>
            <p:nvPr/>
          </p:nvGrpSpPr>
          <p:grpSpPr>
            <a:xfrm>
              <a:off x="13801725" y="25765125"/>
              <a:ext cx="3876675" cy="942975"/>
              <a:chOff x="13801725" y="25765125"/>
              <a:chExt cx="3876675" cy="942975"/>
            </a:xfrm>
          </p:grpSpPr>
          <p:sp>
            <p:nvSpPr>
              <p:cNvPr id="178" name="out-box4-front"/>
              <p:cNvSpPr/>
              <p:nvPr/>
            </p:nvSpPr>
            <p:spPr>
              <a:xfrm>
                <a:off x="13801725" y="25946100"/>
                <a:ext cx="3667125" cy="762000"/>
              </a:xfrm>
              <a:prstGeom prst="rect">
                <a:avLst/>
              </a:prstGeom>
              <a:solidFill>
                <a:srgbClr val="38ABE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out-box4-top"/>
              <p:cNvSpPr/>
              <p:nvPr/>
            </p:nvSpPr>
            <p:spPr>
              <a:xfrm>
                <a:off x="13877925" y="25765125"/>
                <a:ext cx="3733800" cy="180975"/>
              </a:xfrm>
              <a:prstGeom prst="rect">
                <a:avLst/>
              </a:prstGeom>
              <a:solidFill>
                <a:srgbClr val="80BEF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out-box4-side"/>
              <p:cNvSpPr/>
              <p:nvPr/>
            </p:nvSpPr>
            <p:spPr>
              <a:xfrm>
                <a:off x="17468850" y="25831800"/>
                <a:ext cx="209550" cy="857250"/>
              </a:xfrm>
              <a:prstGeom prst="rect">
                <a:avLst/>
              </a:prstGeom>
              <a:solidFill>
                <a:srgbClr val="2B99D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out-box4-t"/>
              <p:cNvSpPr txBox="1"/>
              <p:nvPr/>
            </p:nvSpPr>
            <p:spPr>
              <a:xfrm>
                <a:off x="14012228" y="26050875"/>
                <a:ext cx="3246120" cy="55245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药物重定位候选</a:t>
                </a:r>
              </a:p>
            </p:txBody>
          </p:sp>
        </p:grpSp>
        <p:cxnSp>
          <p:nvCxnSpPr>
            <p:cNvPr id="182" name="out-divider"/>
            <p:cNvCxnSpPr/>
            <p:nvPr/>
          </p:nvCxnSpPr>
          <p:spPr>
            <a:xfrm>
              <a:off x="1504950" y="27084338"/>
              <a:ext cx="16249650" cy="0"/>
            </a:xfrm>
            <a:prstGeom prst="line">
              <a:avLst/>
            </a:prstGeom>
            <a:ln w="28575">
              <a:solidFill>
                <a:srgbClr val="736A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