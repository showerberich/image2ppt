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9546550" cy="17983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29546550" cy="1798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7620000" y="1200150"/>
            <a:ext cx="14897100" cy="10858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525" b="1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固态电解质材料设计与高安全电池研究</a:t>
            </a:r>
          </a:p>
        </p:txBody>
      </p:sp>
      <p:grpSp>
        <p:nvGrpSpPr>
          <p:cNvPr id="149" name="panel-L"/>
          <p:cNvGrpSpPr/>
          <p:nvPr/>
        </p:nvGrpSpPr>
        <p:grpSpPr>
          <a:xfrm>
            <a:off x="1019175" y="4543425"/>
            <a:ext cx="6610350" cy="12382500"/>
            <a:chOff x="1019175" y="4543425"/>
            <a:chExt cx="6610350" cy="12382500"/>
          </a:xfrm>
        </p:grpSpPr>
        <p:sp>
          <p:nvSpPr>
            <p:cNvPr id="4" name="panel-L-bg"/>
            <p:cNvSpPr/>
            <p:nvPr/>
          </p:nvSpPr>
          <p:spPr>
            <a:xfrm>
              <a:off x="1914525" y="4543425"/>
              <a:ext cx="5715000" cy="12287250"/>
            </a:xfrm>
            <a:prstGeom prst="roundRect">
              <a:avLst>
                <a:gd name="adj" fmla="val 3000"/>
              </a:avLst>
            </a:prstGeom>
            <a:solidFill>
              <a:srgbClr val="FBE9E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banner-L"/>
            <p:cNvSpPr/>
            <p:nvPr/>
          </p:nvSpPr>
          <p:spPr>
            <a:xfrm>
              <a:off x="1019175" y="8401050"/>
              <a:ext cx="895350" cy="4591050"/>
            </a:xfrm>
            <a:prstGeom prst="roundRect">
              <a:avLst>
                <a:gd name="adj" fmla="val 17021"/>
              </a:avLst>
            </a:prstGeom>
            <a:solidFill>
              <a:srgbClr val="AB304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-banner-L"/>
            <p:cNvSpPr txBox="1"/>
            <p:nvPr/>
          </p:nvSpPr>
          <p:spPr>
            <a:xfrm>
              <a:off x="1019175" y="8477250"/>
              <a:ext cx="895350" cy="44386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9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材</a:t>
              </a:r>
            </a:p>
            <a:p>
              <a:pPr algn="ctr">
                <a:lnSpc>
                  <a:spcPct val="100000"/>
                </a:lnSpc>
              </a:pPr>
              <a:r>
                <a:rPr sz="39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料</a:t>
              </a:r>
            </a:p>
            <a:p>
              <a:pPr algn="ctr">
                <a:lnSpc>
                  <a:spcPct val="100000"/>
                </a:lnSpc>
              </a:pPr>
              <a:r>
                <a:rPr sz="39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设</a:t>
              </a:r>
            </a:p>
            <a:p>
              <a:pPr algn="ctr">
                <a:lnSpc>
                  <a:spcPct val="100000"/>
                </a:lnSpc>
              </a:pPr>
              <a:r>
                <a:rPr sz="39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计</a:t>
              </a:r>
            </a:p>
            <a:p>
              <a:pPr algn="ctr">
                <a:lnSpc>
                  <a:spcPct val="100000"/>
                </a:lnSpc>
              </a:pPr>
              <a:r>
                <a:rPr sz="39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策</a:t>
              </a:r>
            </a:p>
            <a:p>
              <a:pPr algn="ctr">
                <a:lnSpc>
                  <a:spcPct val="100000"/>
                </a:lnSpc>
              </a:pPr>
              <a:r>
                <a:rPr sz="39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略</a:t>
              </a:r>
            </a:p>
          </p:txBody>
        </p:sp>
        <p:pic>
          <p:nvPicPr>
            <p:cNvPr id="7" name="photo-L" descr="_photo_photo_L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762250" y="5124450"/>
              <a:ext cx="4076700" cy="1943100"/>
            </a:xfrm>
            <a:prstGeom prst="rect">
              <a:avLst/>
            </a:prstGeom>
            <a:effectLst/>
          </p:spPr>
        </p:pic>
        <p:sp>
          <p:nvSpPr>
            <p:cNvPr id="8" name="pill-L1"/>
            <p:cNvSpPr/>
            <p:nvPr/>
          </p:nvSpPr>
          <p:spPr>
            <a:xfrm>
              <a:off x="2438400" y="7048500"/>
              <a:ext cx="4686300" cy="1447800"/>
            </a:xfrm>
            <a:prstGeom prst="roundRect">
              <a:avLst>
                <a:gd name="adj" fmla="val 50000"/>
              </a:avLst>
            </a:prstGeom>
            <a:solidFill>
              <a:srgbClr val="EE889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-pill-L1"/>
            <p:cNvSpPr txBox="1"/>
            <p:nvPr/>
          </p:nvSpPr>
          <p:spPr>
            <a:xfrm>
              <a:off x="2438400" y="7219950"/>
              <a:ext cx="4686300" cy="1371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7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高离子电导率设计</a:t>
              </a:r>
            </a:p>
          </p:txBody>
        </p:sp>
        <p:sp>
          <p:nvSpPr>
            <p:cNvPr id="10" name="circ-L1"/>
            <p:cNvSpPr/>
            <p:nvPr/>
          </p:nvSpPr>
          <p:spPr>
            <a:xfrm>
              <a:off x="4000500" y="8896350"/>
              <a:ext cx="1562100" cy="1562100"/>
            </a:xfrm>
            <a:prstGeom prst="ellipse">
              <a:avLst/>
            </a:prstGeom>
            <a:solidFill>
              <a:srgbClr val="FFFFFF"/>
            </a:solidFill>
            <a:ln w="23812">
              <a:solidFill>
                <a:srgbClr val="4554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-circ-L1"/>
            <p:cNvSpPr txBox="1"/>
            <p:nvPr/>
          </p:nvSpPr>
          <p:spPr>
            <a:xfrm>
              <a:off x="4038600" y="9220200"/>
              <a:ext cx="1485900" cy="914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150" b="1" i="0">
                  <a:solidFill>
                    <a:srgbClr val="1F1F1F"/>
                  </a:solidFill>
                  <a:latin typeface="Microsoft YaHei"/>
                  <a:ea typeface="Microsoft YaHei"/>
                  <a:cs typeface="Microsoft YaHei"/>
                </a:rPr>
                <a:t>晶体结</a:t>
              </a:r>
            </a:p>
            <a:p>
              <a:pPr algn="ctr">
                <a:lnSpc>
                  <a:spcPct val="100000"/>
                </a:lnSpc>
              </a:pPr>
              <a:r>
                <a:rPr sz="3150" b="1" i="0">
                  <a:solidFill>
                    <a:srgbClr val="1F1F1F"/>
                  </a:solidFill>
                  <a:latin typeface="Microsoft YaHei"/>
                  <a:ea typeface="Microsoft YaHei"/>
                  <a:cs typeface="Microsoft YaHei"/>
                </a:rPr>
                <a:t>构调控</a:t>
              </a:r>
            </a:p>
          </p:txBody>
        </p:sp>
        <p:sp>
          <p:nvSpPr>
            <p:cNvPr id="12" name="circ-L2"/>
            <p:cNvSpPr/>
            <p:nvPr/>
          </p:nvSpPr>
          <p:spPr>
            <a:xfrm>
              <a:off x="3981450" y="10896600"/>
              <a:ext cx="1562100" cy="1562100"/>
            </a:xfrm>
            <a:prstGeom prst="ellipse">
              <a:avLst/>
            </a:prstGeom>
            <a:solidFill>
              <a:srgbClr val="FFFFFF"/>
            </a:solidFill>
            <a:ln w="23812">
              <a:solidFill>
                <a:srgbClr val="4554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-circ-L2"/>
            <p:cNvSpPr txBox="1"/>
            <p:nvPr/>
          </p:nvSpPr>
          <p:spPr>
            <a:xfrm>
              <a:off x="4019550" y="11220450"/>
              <a:ext cx="1485900" cy="914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150" b="1" i="0">
                  <a:solidFill>
                    <a:srgbClr val="1F1F1F"/>
                  </a:solidFill>
                  <a:latin typeface="Microsoft YaHei"/>
                  <a:ea typeface="Microsoft YaHei"/>
                  <a:cs typeface="Microsoft YaHei"/>
                </a:rPr>
                <a:t>合成工</a:t>
              </a:r>
            </a:p>
            <a:p>
              <a:pPr algn="ctr">
                <a:lnSpc>
                  <a:spcPct val="100000"/>
                </a:lnSpc>
              </a:pPr>
              <a:r>
                <a:rPr sz="3150" b="1" i="0">
                  <a:solidFill>
                    <a:srgbClr val="1F1F1F"/>
                  </a:solidFill>
                  <a:latin typeface="Microsoft YaHei"/>
                  <a:ea typeface="Microsoft YaHei"/>
                  <a:cs typeface="Microsoft YaHei"/>
                </a:rPr>
                <a:t>艺优化</a:t>
              </a:r>
            </a:p>
          </p:txBody>
        </p:sp>
        <p:sp>
          <p:nvSpPr>
            <p:cNvPr id="14" name="vio-L1"/>
            <p:cNvSpPr/>
            <p:nvPr/>
          </p:nvSpPr>
          <p:spPr>
            <a:xfrm>
              <a:off x="2771775" y="10001250"/>
              <a:ext cx="885825" cy="1381125"/>
            </a:xfrm>
            <a:prstGeom prst="roundRect">
              <a:avLst>
                <a:gd name="adj" fmla="val 27956"/>
              </a:avLst>
            </a:prstGeom>
            <a:solidFill>
              <a:srgbClr val="E195E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t-vio-L1"/>
            <p:cNvSpPr txBox="1"/>
            <p:nvPr/>
          </p:nvSpPr>
          <p:spPr>
            <a:xfrm>
              <a:off x="2771775" y="10001250"/>
              <a:ext cx="885825" cy="13811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1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优</a:t>
              </a:r>
            </a:p>
            <a:p>
              <a:pPr algn="ctr">
                <a:lnSpc>
                  <a:spcPct val="100000"/>
                </a:lnSpc>
              </a:pPr>
              <a:r>
                <a:rPr sz="31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化</a:t>
              </a:r>
            </a:p>
          </p:txBody>
        </p:sp>
        <p:sp>
          <p:nvSpPr>
            <p:cNvPr id="16" name="vio-L2"/>
            <p:cNvSpPr/>
            <p:nvPr/>
          </p:nvSpPr>
          <p:spPr>
            <a:xfrm>
              <a:off x="5943600" y="10001250"/>
              <a:ext cx="895350" cy="1381125"/>
            </a:xfrm>
            <a:prstGeom prst="roundRect">
              <a:avLst>
                <a:gd name="adj" fmla="val 27659"/>
              </a:avLst>
            </a:prstGeom>
            <a:solidFill>
              <a:srgbClr val="E195E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t-vio-L2"/>
            <p:cNvSpPr txBox="1"/>
            <p:nvPr/>
          </p:nvSpPr>
          <p:spPr>
            <a:xfrm>
              <a:off x="5943600" y="10001250"/>
              <a:ext cx="895350" cy="13811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1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晶</a:t>
              </a:r>
            </a:p>
            <a:p>
              <a:pPr algn="ctr">
                <a:lnSpc>
                  <a:spcPct val="100000"/>
                </a:lnSpc>
              </a:pPr>
              <a:r>
                <a:rPr sz="31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相</a:t>
              </a:r>
            </a:p>
          </p:txBody>
        </p:sp>
        <p:cxnSp>
          <p:nvCxnSpPr>
            <p:cNvPr id="18" name="arr-L1"/>
            <p:cNvCxnSpPr/>
            <p:nvPr/>
          </p:nvCxnSpPr>
          <p:spPr>
            <a:xfrm flipH="1">
              <a:off x="3714750" y="10115550"/>
              <a:ext cx="476250" cy="228600"/>
            </a:xfrm>
            <a:prstGeom prst="line">
              <a:avLst/>
            </a:prstGeom>
            <a:ln w="30480">
              <a:solidFill>
                <a:srgbClr val="2B2B2B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arr-L2"/>
            <p:cNvCxnSpPr/>
            <p:nvPr/>
          </p:nvCxnSpPr>
          <p:spPr>
            <a:xfrm>
              <a:off x="3714750" y="11258550"/>
              <a:ext cx="447675" cy="171450"/>
            </a:xfrm>
            <a:prstGeom prst="line">
              <a:avLst/>
            </a:prstGeom>
            <a:ln w="30480">
              <a:solidFill>
                <a:srgbClr val="2B2B2B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arr-L3"/>
            <p:cNvCxnSpPr/>
            <p:nvPr/>
          </p:nvCxnSpPr>
          <p:spPr>
            <a:xfrm flipV="1">
              <a:off x="5362575" y="11258550"/>
              <a:ext cx="542925" cy="171450"/>
            </a:xfrm>
            <a:prstGeom prst="line">
              <a:avLst/>
            </a:prstGeom>
            <a:ln w="30480">
              <a:solidFill>
                <a:srgbClr val="2B2B2B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arr-L4"/>
            <p:cNvCxnSpPr/>
            <p:nvPr/>
          </p:nvCxnSpPr>
          <p:spPr>
            <a:xfrm flipH="1" flipV="1">
              <a:off x="5391150" y="10115550"/>
              <a:ext cx="514350" cy="228600"/>
            </a:xfrm>
            <a:prstGeom prst="line">
              <a:avLst/>
            </a:prstGeom>
            <a:ln w="30480">
              <a:solidFill>
                <a:srgbClr val="2B2B2B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pill-L2"/>
            <p:cNvSpPr/>
            <p:nvPr/>
          </p:nvSpPr>
          <p:spPr>
            <a:xfrm>
              <a:off x="2438400" y="12915900"/>
              <a:ext cx="4686300" cy="1543050"/>
            </a:xfrm>
            <a:prstGeom prst="roundRect">
              <a:avLst>
                <a:gd name="adj" fmla="val 50000"/>
              </a:avLst>
            </a:prstGeom>
            <a:solidFill>
              <a:srgbClr val="EE889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-pill-L2"/>
            <p:cNvSpPr txBox="1"/>
            <p:nvPr/>
          </p:nvSpPr>
          <p:spPr>
            <a:xfrm>
              <a:off x="2438400" y="13163550"/>
              <a:ext cx="4686300" cy="14287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7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高活性前驱体体系</a:t>
              </a:r>
            </a:p>
          </p:txBody>
        </p:sp>
        <p:sp>
          <p:nvSpPr>
            <p:cNvPr id="24" name="bot-L1"/>
            <p:cNvSpPr/>
            <p:nvPr/>
          </p:nvSpPr>
          <p:spPr>
            <a:xfrm>
              <a:off x="2447925" y="14820900"/>
              <a:ext cx="895350" cy="1733550"/>
            </a:xfrm>
            <a:prstGeom prst="roundRect">
              <a:avLst>
                <a:gd name="adj" fmla="val 31914"/>
              </a:avLst>
            </a:prstGeom>
            <a:solidFill>
              <a:srgbClr val="EE889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-bot-L1"/>
            <p:cNvSpPr txBox="1"/>
            <p:nvPr/>
          </p:nvSpPr>
          <p:spPr>
            <a:xfrm>
              <a:off x="2447925" y="14820900"/>
              <a:ext cx="895350" cy="17335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4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锂</a:t>
              </a:r>
            </a:p>
            <a:p>
              <a:pPr algn="ctr">
                <a:lnSpc>
                  <a:spcPct val="100000"/>
                </a:lnSpc>
              </a:pPr>
              <a:r>
                <a:rPr sz="34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源</a:t>
              </a:r>
            </a:p>
          </p:txBody>
        </p:sp>
        <p:sp>
          <p:nvSpPr>
            <p:cNvPr id="26" name="bot-L2"/>
            <p:cNvSpPr/>
            <p:nvPr/>
          </p:nvSpPr>
          <p:spPr>
            <a:xfrm>
              <a:off x="4333875" y="14716125"/>
              <a:ext cx="914400" cy="1952625"/>
            </a:xfrm>
            <a:prstGeom prst="roundRect">
              <a:avLst>
                <a:gd name="adj" fmla="val 31250"/>
              </a:avLst>
            </a:prstGeom>
            <a:solidFill>
              <a:srgbClr val="EE889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-bot-L2"/>
            <p:cNvSpPr txBox="1"/>
            <p:nvPr/>
          </p:nvSpPr>
          <p:spPr>
            <a:xfrm>
              <a:off x="4333875" y="14716125"/>
              <a:ext cx="914400" cy="19526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4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掺</a:t>
              </a:r>
            </a:p>
            <a:p>
              <a:pPr algn="ctr">
                <a:lnSpc>
                  <a:spcPct val="100000"/>
                </a:lnSpc>
              </a:pPr>
              <a:r>
                <a:rPr sz="34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杂</a:t>
              </a:r>
            </a:p>
            <a:p>
              <a:pPr algn="ctr">
                <a:lnSpc>
                  <a:spcPct val="100000"/>
                </a:lnSpc>
              </a:pPr>
              <a:r>
                <a:rPr sz="34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源</a:t>
              </a:r>
            </a:p>
          </p:txBody>
        </p:sp>
        <p:sp>
          <p:nvSpPr>
            <p:cNvPr id="28" name="bot-L3"/>
            <p:cNvSpPr/>
            <p:nvPr/>
          </p:nvSpPr>
          <p:spPr>
            <a:xfrm>
              <a:off x="6248400" y="14449425"/>
              <a:ext cx="914400" cy="2476500"/>
            </a:xfrm>
            <a:prstGeom prst="roundRect">
              <a:avLst>
                <a:gd name="adj" fmla="val 31250"/>
              </a:avLst>
            </a:prstGeom>
            <a:solidFill>
              <a:srgbClr val="EE889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-bot-L3"/>
            <p:cNvSpPr txBox="1"/>
            <p:nvPr/>
          </p:nvSpPr>
          <p:spPr>
            <a:xfrm>
              <a:off x="6248400" y="14449425"/>
              <a:ext cx="914400" cy="2476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4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复</a:t>
              </a:r>
            </a:p>
            <a:p>
              <a:pPr algn="ctr">
                <a:lnSpc>
                  <a:spcPct val="100000"/>
                </a:lnSpc>
              </a:pPr>
              <a:r>
                <a:rPr sz="34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合</a:t>
              </a:r>
            </a:p>
            <a:p>
              <a:pPr algn="ctr">
                <a:lnSpc>
                  <a:spcPct val="100000"/>
                </a:lnSpc>
              </a:pPr>
              <a:r>
                <a:rPr sz="34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基</a:t>
              </a:r>
            </a:p>
            <a:p>
              <a:pPr algn="ctr">
                <a:lnSpc>
                  <a:spcPct val="100000"/>
                </a:lnSpc>
              </a:pPr>
              <a:r>
                <a:rPr sz="34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体</a:t>
              </a:r>
            </a:p>
          </p:txBody>
        </p:sp>
        <p:cxnSp>
          <p:nvCxnSpPr>
            <p:cNvPr id="30" name="arr-Lb1"/>
            <p:cNvCxnSpPr/>
            <p:nvPr/>
          </p:nvCxnSpPr>
          <p:spPr>
            <a:xfrm>
              <a:off x="3362325" y="15687675"/>
              <a:ext cx="942975" cy="0"/>
            </a:xfrm>
            <a:prstGeom prst="line">
              <a:avLst/>
            </a:prstGeom>
            <a:ln w="38100">
              <a:solidFill>
                <a:srgbClr val="BE4358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arr-Lb2"/>
            <p:cNvCxnSpPr/>
            <p:nvPr/>
          </p:nvCxnSpPr>
          <p:spPr>
            <a:xfrm>
              <a:off x="5267325" y="15687675"/>
              <a:ext cx="952500" cy="0"/>
            </a:xfrm>
            <a:prstGeom prst="line">
              <a:avLst/>
            </a:prstGeom>
            <a:ln w="38100">
              <a:solidFill>
                <a:srgbClr val="BE4358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8" name="panel-R"/>
          <p:cNvGrpSpPr/>
          <p:nvPr/>
        </p:nvGrpSpPr>
        <p:grpSpPr>
          <a:xfrm>
            <a:off x="21917025" y="4543425"/>
            <a:ext cx="6600825" cy="12287250"/>
            <a:chOff x="21917025" y="4543425"/>
            <a:chExt cx="6600825" cy="12287250"/>
          </a:xfrm>
        </p:grpSpPr>
        <p:sp>
          <p:nvSpPr>
            <p:cNvPr id="32" name="panel-R-bg"/>
            <p:cNvSpPr/>
            <p:nvPr/>
          </p:nvSpPr>
          <p:spPr>
            <a:xfrm>
              <a:off x="21917025" y="4543425"/>
              <a:ext cx="5695950" cy="12287250"/>
            </a:xfrm>
            <a:prstGeom prst="roundRect">
              <a:avLst>
                <a:gd name="adj" fmla="val 3010"/>
              </a:avLst>
            </a:prstGeom>
            <a:solidFill>
              <a:srgbClr val="DCD2D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banner-R"/>
            <p:cNvSpPr/>
            <p:nvPr/>
          </p:nvSpPr>
          <p:spPr>
            <a:xfrm>
              <a:off x="27622500" y="8401050"/>
              <a:ext cx="895350" cy="4591050"/>
            </a:xfrm>
            <a:prstGeom prst="roundRect">
              <a:avLst>
                <a:gd name="adj" fmla="val 17021"/>
              </a:avLst>
            </a:prstGeom>
            <a:solidFill>
              <a:srgbClr val="6B49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-banner-R"/>
            <p:cNvSpPr txBox="1"/>
            <p:nvPr/>
          </p:nvSpPr>
          <p:spPr>
            <a:xfrm>
              <a:off x="27622500" y="8477250"/>
              <a:ext cx="895350" cy="44386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9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安</a:t>
              </a:r>
            </a:p>
            <a:p>
              <a:pPr algn="ctr">
                <a:lnSpc>
                  <a:spcPct val="100000"/>
                </a:lnSpc>
              </a:pPr>
              <a:r>
                <a:rPr sz="39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全</a:t>
              </a:r>
            </a:p>
            <a:p>
              <a:pPr algn="ctr">
                <a:lnSpc>
                  <a:spcPct val="100000"/>
                </a:lnSpc>
              </a:pPr>
              <a:r>
                <a:rPr sz="39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储</a:t>
              </a:r>
            </a:p>
            <a:p>
              <a:pPr algn="ctr">
                <a:lnSpc>
                  <a:spcPct val="100000"/>
                </a:lnSpc>
              </a:pPr>
              <a:r>
                <a:rPr sz="39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能</a:t>
              </a:r>
            </a:p>
            <a:p>
              <a:pPr algn="ctr">
                <a:lnSpc>
                  <a:spcPct val="100000"/>
                </a:lnSpc>
              </a:pPr>
              <a:r>
                <a:rPr sz="39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策</a:t>
              </a:r>
            </a:p>
            <a:p>
              <a:pPr algn="ctr">
                <a:lnSpc>
                  <a:spcPct val="100000"/>
                </a:lnSpc>
              </a:pPr>
              <a:r>
                <a:rPr sz="39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略</a:t>
              </a:r>
            </a:p>
          </p:txBody>
        </p:sp>
        <p:pic>
          <p:nvPicPr>
            <p:cNvPr id="35" name="photo-R" descr="_photo_photo_R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650450" y="5238750"/>
              <a:ext cx="1047750" cy="1847850"/>
            </a:xfrm>
            <a:prstGeom prst="rect">
              <a:avLst/>
            </a:prstGeom>
            <a:effectLst/>
          </p:spPr>
        </p:pic>
        <p:sp>
          <p:nvSpPr>
            <p:cNvPr id="36" name="lbox-R"/>
            <p:cNvSpPr/>
            <p:nvPr/>
          </p:nvSpPr>
          <p:spPr>
            <a:xfrm>
              <a:off x="23774400" y="5257800"/>
              <a:ext cx="2952750" cy="1809750"/>
            </a:xfrm>
            <a:prstGeom prst="roundRect">
              <a:avLst>
                <a:gd name="adj" fmla="val 7368"/>
              </a:avLst>
            </a:prstGeom>
            <a:solidFill>
              <a:srgbClr val="ECF3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bb1"/>
            <p:cNvSpPr/>
            <p:nvPr/>
          </p:nvSpPr>
          <p:spPr>
            <a:xfrm>
              <a:off x="24117300" y="5429250"/>
              <a:ext cx="933450" cy="400050"/>
            </a:xfrm>
            <a:prstGeom prst="roundRect">
              <a:avLst>
                <a:gd name="adj" fmla="val 23809"/>
              </a:avLst>
            </a:prstGeom>
            <a:solidFill>
              <a:srgbClr val="1C70C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t-bb1"/>
            <p:cNvSpPr txBox="1"/>
            <p:nvPr/>
          </p:nvSpPr>
          <p:spPr>
            <a:xfrm>
              <a:off x="24003000" y="5429250"/>
              <a:ext cx="1162050" cy="4000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1425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预处理</a:t>
              </a:r>
            </a:p>
          </p:txBody>
        </p:sp>
        <p:sp>
          <p:nvSpPr>
            <p:cNvPr id="39" name="bb2"/>
            <p:cNvSpPr/>
            <p:nvPr/>
          </p:nvSpPr>
          <p:spPr>
            <a:xfrm>
              <a:off x="25669875" y="5429250"/>
              <a:ext cx="933450" cy="400050"/>
            </a:xfrm>
            <a:prstGeom prst="roundRect">
              <a:avLst>
                <a:gd name="adj" fmla="val 23809"/>
              </a:avLst>
            </a:prstGeom>
            <a:solidFill>
              <a:srgbClr val="1C70C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t-bb2"/>
            <p:cNvSpPr txBox="1"/>
            <p:nvPr/>
          </p:nvSpPr>
          <p:spPr>
            <a:xfrm>
              <a:off x="25555575" y="5429250"/>
              <a:ext cx="1162050" cy="4000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1425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涂覆固化剂</a:t>
              </a:r>
            </a:p>
          </p:txBody>
        </p:sp>
        <p:sp>
          <p:nvSpPr>
            <p:cNvPr id="41" name="bb3"/>
            <p:cNvSpPr/>
            <p:nvPr/>
          </p:nvSpPr>
          <p:spPr>
            <a:xfrm>
              <a:off x="24117300" y="6467475"/>
              <a:ext cx="933450" cy="400050"/>
            </a:xfrm>
            <a:prstGeom prst="roundRect">
              <a:avLst>
                <a:gd name="adj" fmla="val 23809"/>
              </a:avLst>
            </a:prstGeom>
            <a:solidFill>
              <a:srgbClr val="1C70C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t-bb3"/>
            <p:cNvSpPr txBox="1"/>
            <p:nvPr/>
          </p:nvSpPr>
          <p:spPr>
            <a:xfrm>
              <a:off x="24003000" y="6467475"/>
              <a:ext cx="1162050" cy="4000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1425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原位反应</a:t>
              </a:r>
            </a:p>
          </p:txBody>
        </p:sp>
        <p:sp>
          <p:nvSpPr>
            <p:cNvPr id="43" name="bb4"/>
            <p:cNvSpPr/>
            <p:nvPr/>
          </p:nvSpPr>
          <p:spPr>
            <a:xfrm>
              <a:off x="25669875" y="6467475"/>
              <a:ext cx="933450" cy="400050"/>
            </a:xfrm>
            <a:prstGeom prst="roundRect">
              <a:avLst>
                <a:gd name="adj" fmla="val 23809"/>
              </a:avLst>
            </a:prstGeom>
            <a:solidFill>
              <a:srgbClr val="1C70C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t-bb4"/>
            <p:cNvSpPr txBox="1"/>
            <p:nvPr/>
          </p:nvSpPr>
          <p:spPr>
            <a:xfrm>
              <a:off x="25555575" y="6467475"/>
              <a:ext cx="1162050" cy="4000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1425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界面强化</a:t>
              </a:r>
            </a:p>
          </p:txBody>
        </p:sp>
        <p:cxnSp>
          <p:nvCxnSpPr>
            <p:cNvPr id="45" name="bar-R1"/>
            <p:cNvCxnSpPr/>
            <p:nvPr/>
          </p:nvCxnSpPr>
          <p:spPr>
            <a:xfrm>
              <a:off x="25069800" y="5629275"/>
              <a:ext cx="581025" cy="0"/>
            </a:xfrm>
            <a:prstGeom prst="line">
              <a:avLst/>
            </a:prstGeom>
            <a:ln w="47625">
              <a:solidFill>
                <a:srgbClr val="5FA8E8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bar-R2"/>
            <p:cNvCxnSpPr/>
            <p:nvPr/>
          </p:nvCxnSpPr>
          <p:spPr>
            <a:xfrm>
              <a:off x="24584025" y="5848350"/>
              <a:ext cx="0" cy="600075"/>
            </a:xfrm>
            <a:prstGeom prst="line">
              <a:avLst/>
            </a:prstGeom>
            <a:ln w="47625">
              <a:solidFill>
                <a:srgbClr val="5FA8E8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bar-R3"/>
            <p:cNvCxnSpPr/>
            <p:nvPr/>
          </p:nvCxnSpPr>
          <p:spPr>
            <a:xfrm>
              <a:off x="25069800" y="6667500"/>
              <a:ext cx="581025" cy="0"/>
            </a:xfrm>
            <a:prstGeom prst="line">
              <a:avLst/>
            </a:prstGeom>
            <a:ln w="47625">
              <a:solidFill>
                <a:srgbClr val="5FA8E8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bar-R4"/>
            <p:cNvCxnSpPr/>
            <p:nvPr/>
          </p:nvCxnSpPr>
          <p:spPr>
            <a:xfrm flipV="1">
              <a:off x="26127075" y="5848350"/>
              <a:ext cx="0" cy="600075"/>
            </a:xfrm>
            <a:prstGeom prst="line">
              <a:avLst/>
            </a:prstGeom>
            <a:ln w="47625">
              <a:solidFill>
                <a:srgbClr val="5FA8E8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pill-R1"/>
            <p:cNvSpPr/>
            <p:nvPr/>
          </p:nvSpPr>
          <p:spPr>
            <a:xfrm>
              <a:off x="22393275" y="7096125"/>
              <a:ext cx="4686300" cy="1400175"/>
            </a:xfrm>
            <a:prstGeom prst="roundRect">
              <a:avLst>
                <a:gd name="adj" fmla="val 49659"/>
              </a:avLst>
            </a:prstGeom>
            <a:solidFill>
              <a:srgbClr val="805A4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t-pill-R1"/>
            <p:cNvSpPr txBox="1"/>
            <p:nvPr/>
          </p:nvSpPr>
          <p:spPr>
            <a:xfrm>
              <a:off x="22393275" y="7248525"/>
              <a:ext cx="4686300" cy="14001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7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原位界面固化处理</a:t>
              </a:r>
            </a:p>
          </p:txBody>
        </p:sp>
        <p:sp>
          <p:nvSpPr>
            <p:cNvPr id="51" name="circ-R1"/>
            <p:cNvSpPr/>
            <p:nvPr/>
          </p:nvSpPr>
          <p:spPr>
            <a:xfrm>
              <a:off x="23926800" y="8896350"/>
              <a:ext cx="1562100" cy="1562100"/>
            </a:xfrm>
            <a:prstGeom prst="ellipse">
              <a:avLst/>
            </a:prstGeom>
            <a:solidFill>
              <a:srgbClr val="FFFFFF"/>
            </a:solidFill>
            <a:ln w="23812">
              <a:solidFill>
                <a:srgbClr val="5A4A4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t-circ-R1"/>
            <p:cNvSpPr txBox="1"/>
            <p:nvPr/>
          </p:nvSpPr>
          <p:spPr>
            <a:xfrm>
              <a:off x="23964900" y="9220200"/>
              <a:ext cx="1485900" cy="914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150" b="1" i="0">
                  <a:solidFill>
                    <a:srgbClr val="1F1F1F"/>
                  </a:solidFill>
                  <a:latin typeface="Microsoft YaHei"/>
                  <a:ea typeface="Microsoft YaHei"/>
                  <a:cs typeface="Microsoft YaHei"/>
                </a:rPr>
                <a:t>复合</a:t>
              </a:r>
            </a:p>
            <a:p>
              <a:pPr algn="ctr">
                <a:lnSpc>
                  <a:spcPct val="100000"/>
                </a:lnSpc>
              </a:pPr>
              <a:r>
                <a:rPr sz="3150" b="1" i="0">
                  <a:solidFill>
                    <a:srgbClr val="1F1F1F"/>
                  </a:solidFill>
                  <a:latin typeface="Microsoft YaHei"/>
                  <a:ea typeface="Microsoft YaHei"/>
                  <a:cs typeface="Microsoft YaHei"/>
                </a:rPr>
                <a:t>改性</a:t>
              </a:r>
            </a:p>
          </p:txBody>
        </p:sp>
        <p:sp>
          <p:nvSpPr>
            <p:cNvPr id="53" name="circ-R2"/>
            <p:cNvSpPr/>
            <p:nvPr/>
          </p:nvSpPr>
          <p:spPr>
            <a:xfrm>
              <a:off x="23945850" y="10896600"/>
              <a:ext cx="1562100" cy="1562100"/>
            </a:xfrm>
            <a:prstGeom prst="ellipse">
              <a:avLst/>
            </a:prstGeom>
            <a:solidFill>
              <a:srgbClr val="FFFFFF"/>
            </a:solidFill>
            <a:ln w="23812">
              <a:solidFill>
                <a:srgbClr val="5A4A4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t-circ-R2"/>
            <p:cNvSpPr txBox="1"/>
            <p:nvPr/>
          </p:nvSpPr>
          <p:spPr>
            <a:xfrm>
              <a:off x="23983950" y="11220450"/>
              <a:ext cx="1485900" cy="914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150" b="1" i="0">
                  <a:solidFill>
                    <a:srgbClr val="1F1F1F"/>
                  </a:solidFill>
                  <a:latin typeface="Microsoft YaHei"/>
                  <a:ea typeface="Microsoft YaHei"/>
                  <a:cs typeface="Microsoft YaHei"/>
                </a:rPr>
                <a:t>界面</a:t>
              </a:r>
            </a:p>
            <a:p>
              <a:pPr algn="ctr">
                <a:lnSpc>
                  <a:spcPct val="100000"/>
                </a:lnSpc>
              </a:pPr>
              <a:r>
                <a:rPr sz="3150" b="1" i="0">
                  <a:solidFill>
                    <a:srgbClr val="1F1F1F"/>
                  </a:solidFill>
                  <a:latin typeface="Microsoft YaHei"/>
                  <a:ea typeface="Microsoft YaHei"/>
                  <a:cs typeface="Microsoft YaHei"/>
                </a:rPr>
                <a:t>钝化</a:t>
              </a:r>
            </a:p>
          </p:txBody>
        </p:sp>
        <p:sp>
          <p:nvSpPr>
            <p:cNvPr id="55" name="vio-R1"/>
            <p:cNvSpPr/>
            <p:nvPr/>
          </p:nvSpPr>
          <p:spPr>
            <a:xfrm>
              <a:off x="22698075" y="10001250"/>
              <a:ext cx="895350" cy="1381125"/>
            </a:xfrm>
            <a:prstGeom prst="roundRect">
              <a:avLst>
                <a:gd name="adj" fmla="val 27659"/>
              </a:avLst>
            </a:prstGeom>
            <a:solidFill>
              <a:srgbClr val="E195E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t-vio-R1"/>
            <p:cNvSpPr txBox="1"/>
            <p:nvPr/>
          </p:nvSpPr>
          <p:spPr>
            <a:xfrm>
              <a:off x="22698075" y="10001250"/>
              <a:ext cx="895350" cy="13811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1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高</a:t>
              </a:r>
            </a:p>
            <a:p>
              <a:pPr algn="ctr">
                <a:lnSpc>
                  <a:spcPct val="100000"/>
                </a:lnSpc>
              </a:pPr>
              <a:r>
                <a:rPr sz="31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温</a:t>
              </a:r>
            </a:p>
          </p:txBody>
        </p:sp>
        <p:sp>
          <p:nvSpPr>
            <p:cNvPr id="57" name="vio-R2"/>
            <p:cNvSpPr/>
            <p:nvPr/>
          </p:nvSpPr>
          <p:spPr>
            <a:xfrm>
              <a:off x="25869900" y="10001250"/>
              <a:ext cx="904875" cy="1390650"/>
            </a:xfrm>
            <a:prstGeom prst="roundRect">
              <a:avLst>
                <a:gd name="adj" fmla="val 27368"/>
              </a:avLst>
            </a:prstGeom>
            <a:solidFill>
              <a:srgbClr val="E195E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t-vio-R2"/>
            <p:cNvSpPr txBox="1"/>
            <p:nvPr/>
          </p:nvSpPr>
          <p:spPr>
            <a:xfrm>
              <a:off x="25869900" y="10001250"/>
              <a:ext cx="904875" cy="13906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1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包</a:t>
              </a:r>
            </a:p>
            <a:p>
              <a:pPr algn="ctr">
                <a:lnSpc>
                  <a:spcPct val="100000"/>
                </a:lnSpc>
              </a:pPr>
              <a:r>
                <a:rPr sz="31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覆</a:t>
              </a:r>
            </a:p>
          </p:txBody>
        </p:sp>
        <p:cxnSp>
          <p:nvCxnSpPr>
            <p:cNvPr id="59" name="arr-R1"/>
            <p:cNvCxnSpPr/>
            <p:nvPr/>
          </p:nvCxnSpPr>
          <p:spPr>
            <a:xfrm>
              <a:off x="25288875" y="10115550"/>
              <a:ext cx="542925" cy="228600"/>
            </a:xfrm>
            <a:prstGeom prst="line">
              <a:avLst/>
            </a:prstGeom>
            <a:ln w="30480">
              <a:solidFill>
                <a:srgbClr val="2B2B2B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arr-R2"/>
            <p:cNvCxnSpPr/>
            <p:nvPr/>
          </p:nvCxnSpPr>
          <p:spPr>
            <a:xfrm flipH="1">
              <a:off x="25317450" y="11258550"/>
              <a:ext cx="514350" cy="171450"/>
            </a:xfrm>
            <a:prstGeom prst="line">
              <a:avLst/>
            </a:prstGeom>
            <a:ln w="30480">
              <a:solidFill>
                <a:srgbClr val="2B2B2B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arr-R3"/>
            <p:cNvCxnSpPr/>
            <p:nvPr/>
          </p:nvCxnSpPr>
          <p:spPr>
            <a:xfrm flipH="1" flipV="1">
              <a:off x="23641050" y="11258550"/>
              <a:ext cx="476250" cy="171450"/>
            </a:xfrm>
            <a:prstGeom prst="line">
              <a:avLst/>
            </a:prstGeom>
            <a:ln w="30480">
              <a:solidFill>
                <a:srgbClr val="2B2B2B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arr-R4"/>
            <p:cNvCxnSpPr/>
            <p:nvPr/>
          </p:nvCxnSpPr>
          <p:spPr>
            <a:xfrm flipV="1">
              <a:off x="23641050" y="10115550"/>
              <a:ext cx="476250" cy="228600"/>
            </a:xfrm>
            <a:prstGeom prst="line">
              <a:avLst/>
            </a:prstGeom>
            <a:ln w="30480">
              <a:solidFill>
                <a:srgbClr val="2B2B2B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pill-R2"/>
            <p:cNvSpPr/>
            <p:nvPr/>
          </p:nvSpPr>
          <p:spPr>
            <a:xfrm>
              <a:off x="22393275" y="12915900"/>
              <a:ext cx="4686300" cy="1543050"/>
            </a:xfrm>
            <a:prstGeom prst="roundRect">
              <a:avLst>
                <a:gd name="adj" fmla="val 50000"/>
              </a:avLst>
            </a:prstGeom>
            <a:solidFill>
              <a:srgbClr val="805A4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t-pill-R2"/>
            <p:cNvSpPr txBox="1"/>
            <p:nvPr/>
          </p:nvSpPr>
          <p:spPr>
            <a:xfrm>
              <a:off x="22393275" y="13220700"/>
              <a:ext cx="4686300" cy="1371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7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提升热稳定性</a:t>
              </a:r>
            </a:p>
          </p:txBody>
        </p:sp>
        <p:sp>
          <p:nvSpPr>
            <p:cNvPr id="65" name="bot-R1"/>
            <p:cNvSpPr/>
            <p:nvPr/>
          </p:nvSpPr>
          <p:spPr>
            <a:xfrm>
              <a:off x="22364700" y="14820900"/>
              <a:ext cx="857250" cy="1676400"/>
            </a:xfrm>
            <a:prstGeom prst="roundRect">
              <a:avLst>
                <a:gd name="adj" fmla="val 31111"/>
              </a:avLst>
            </a:prstGeom>
            <a:solidFill>
              <a:srgbClr val="805A4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t-bot-R1"/>
            <p:cNvSpPr txBox="1"/>
            <p:nvPr/>
          </p:nvSpPr>
          <p:spPr>
            <a:xfrm>
              <a:off x="22364700" y="14820900"/>
              <a:ext cx="857250" cy="1676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4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掺</a:t>
              </a:r>
            </a:p>
            <a:p>
              <a:pPr algn="ctr">
                <a:lnSpc>
                  <a:spcPct val="100000"/>
                </a:lnSpc>
              </a:pPr>
              <a:r>
                <a:rPr sz="34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杂</a:t>
              </a:r>
            </a:p>
          </p:txBody>
        </p:sp>
        <p:sp>
          <p:nvSpPr>
            <p:cNvPr id="67" name="bot-R2"/>
            <p:cNvSpPr/>
            <p:nvPr/>
          </p:nvSpPr>
          <p:spPr>
            <a:xfrm>
              <a:off x="24250650" y="14820900"/>
              <a:ext cx="857250" cy="1676400"/>
            </a:xfrm>
            <a:prstGeom prst="roundRect">
              <a:avLst>
                <a:gd name="adj" fmla="val 31111"/>
              </a:avLst>
            </a:prstGeom>
            <a:solidFill>
              <a:srgbClr val="805A4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t-bot-R2"/>
            <p:cNvSpPr txBox="1"/>
            <p:nvPr/>
          </p:nvSpPr>
          <p:spPr>
            <a:xfrm>
              <a:off x="24250650" y="14820900"/>
              <a:ext cx="857250" cy="1676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4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固</a:t>
              </a:r>
            </a:p>
            <a:p>
              <a:pPr algn="ctr">
                <a:lnSpc>
                  <a:spcPct val="100000"/>
                </a:lnSpc>
              </a:pPr>
              <a:r>
                <a:rPr sz="34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化</a:t>
              </a:r>
            </a:p>
          </p:txBody>
        </p:sp>
        <p:sp>
          <p:nvSpPr>
            <p:cNvPr id="69" name="bot-R3"/>
            <p:cNvSpPr/>
            <p:nvPr/>
          </p:nvSpPr>
          <p:spPr>
            <a:xfrm>
              <a:off x="26155650" y="14820900"/>
              <a:ext cx="857250" cy="1676400"/>
            </a:xfrm>
            <a:prstGeom prst="roundRect">
              <a:avLst>
                <a:gd name="adj" fmla="val 31111"/>
              </a:avLst>
            </a:prstGeom>
            <a:solidFill>
              <a:srgbClr val="805A4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t-bot-R3"/>
            <p:cNvSpPr txBox="1"/>
            <p:nvPr/>
          </p:nvSpPr>
          <p:spPr>
            <a:xfrm>
              <a:off x="26155650" y="14820900"/>
              <a:ext cx="857250" cy="1676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4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钝</a:t>
              </a:r>
            </a:p>
            <a:p>
              <a:pPr algn="ctr">
                <a:lnSpc>
                  <a:spcPct val="100000"/>
                </a:lnSpc>
              </a:pPr>
              <a:r>
                <a:rPr sz="34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化</a:t>
              </a:r>
            </a:p>
          </p:txBody>
        </p:sp>
        <p:cxnSp>
          <p:nvCxnSpPr>
            <p:cNvPr id="71" name="arr-Rb1"/>
            <p:cNvCxnSpPr/>
            <p:nvPr/>
          </p:nvCxnSpPr>
          <p:spPr>
            <a:xfrm>
              <a:off x="23241000" y="15687675"/>
              <a:ext cx="981075" cy="0"/>
            </a:xfrm>
            <a:prstGeom prst="line">
              <a:avLst/>
            </a:prstGeom>
            <a:ln w="38100">
              <a:solidFill>
                <a:srgbClr val="8C5346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arr-Rb2"/>
            <p:cNvCxnSpPr/>
            <p:nvPr/>
          </p:nvCxnSpPr>
          <p:spPr>
            <a:xfrm>
              <a:off x="25126950" y="15687675"/>
              <a:ext cx="1000125" cy="0"/>
            </a:xfrm>
            <a:prstGeom prst="line">
              <a:avLst/>
            </a:prstGeom>
            <a:ln w="38100">
              <a:solidFill>
                <a:srgbClr val="8C5346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7" name="center"/>
          <p:cNvGrpSpPr/>
          <p:nvPr/>
        </p:nvGrpSpPr>
        <p:grpSpPr>
          <a:xfrm>
            <a:off x="7715250" y="4543425"/>
            <a:ext cx="14182725" cy="12296775"/>
            <a:chOff x="7715250" y="4543425"/>
            <a:chExt cx="14182725" cy="12296775"/>
          </a:xfrm>
        </p:grpSpPr>
        <p:sp>
          <p:nvSpPr>
            <p:cNvPr id="73" name="bigcircle"/>
            <p:cNvSpPr/>
            <p:nvPr/>
          </p:nvSpPr>
          <p:spPr>
            <a:xfrm>
              <a:off x="10706100" y="6629400"/>
              <a:ext cx="8153400" cy="8153400"/>
            </a:xfrm>
            <a:prstGeom prst="ellipse">
              <a:avLst/>
            </a:prstGeom>
            <a:solidFill>
              <a:srgbClr val="DBEDFB"/>
            </a:solidFill>
            <a:ln w="23812">
              <a:solidFill>
                <a:srgbClr val="1E2A3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d-top-halo"/>
            <p:cNvSpPr/>
            <p:nvPr/>
          </p:nvSpPr>
          <p:spPr>
            <a:xfrm>
              <a:off x="13601700" y="4610100"/>
              <a:ext cx="2409825" cy="2276475"/>
            </a:xfrm>
            <a:custGeom>
              <a:avLst/>
              <a:gdLst/>
              <a:ahLst/>
              <a:cxnLst/>
              <a:rect l="l" t="t" r="r" b="b"/>
              <a:pathLst>
                <a:path w="2409825" h="2276475">
                  <a:moveTo>
                    <a:pt x="1204912" y="0"/>
                  </a:moveTo>
                  <a:lnTo>
                    <a:pt x="2409825" y="1138238"/>
                  </a:lnTo>
                  <a:lnTo>
                    <a:pt x="1204912" y="2276475"/>
                  </a:lnTo>
                  <a:lnTo>
                    <a:pt x="0" y="1138238"/>
                  </a:lnTo>
                  <a:close/>
                </a:path>
              </a:pathLst>
            </a:custGeom>
            <a:solidFill>
              <a:srgbClr val="CCD0D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d-top"/>
            <p:cNvSpPr/>
            <p:nvPr/>
          </p:nvSpPr>
          <p:spPr>
            <a:xfrm>
              <a:off x="13696950" y="4705350"/>
              <a:ext cx="2219325" cy="2085975"/>
            </a:xfrm>
            <a:custGeom>
              <a:avLst/>
              <a:gdLst/>
              <a:ahLst/>
              <a:cxnLst/>
              <a:rect l="l" t="t" r="r" b="b"/>
              <a:pathLst>
                <a:path w="2219325" h="2085975">
                  <a:moveTo>
                    <a:pt x="1104900" y="0"/>
                  </a:moveTo>
                  <a:lnTo>
                    <a:pt x="2219325" y="1038225"/>
                  </a:lnTo>
                  <a:lnTo>
                    <a:pt x="1104900" y="2085975"/>
                  </a:lnTo>
                  <a:lnTo>
                    <a:pt x="0" y="1038225"/>
                  </a:lnTo>
                  <a:close/>
                </a:path>
              </a:pathLst>
            </a:custGeom>
            <a:solidFill>
              <a:srgbClr val="16457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t-d-top"/>
            <p:cNvSpPr txBox="1"/>
            <p:nvPr/>
          </p:nvSpPr>
          <p:spPr>
            <a:xfrm>
              <a:off x="14204156" y="5103019"/>
              <a:ext cx="1200150" cy="12858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7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研究</a:t>
              </a:r>
            </a:p>
            <a:p>
              <a:pPr algn="ctr">
                <a:lnSpc>
                  <a:spcPct val="100000"/>
                </a:lnSpc>
              </a:pPr>
              <a:r>
                <a:rPr sz="37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路线</a:t>
              </a:r>
            </a:p>
          </p:txBody>
        </p:sp>
        <p:sp>
          <p:nvSpPr>
            <p:cNvPr id="77" name="d-bottom-halo"/>
            <p:cNvSpPr/>
            <p:nvPr/>
          </p:nvSpPr>
          <p:spPr>
            <a:xfrm>
              <a:off x="13601700" y="14497050"/>
              <a:ext cx="2409825" cy="2276475"/>
            </a:xfrm>
            <a:custGeom>
              <a:avLst/>
              <a:gdLst/>
              <a:ahLst/>
              <a:cxnLst/>
              <a:rect l="l" t="t" r="r" b="b"/>
              <a:pathLst>
                <a:path w="2409825" h="2276475">
                  <a:moveTo>
                    <a:pt x="1204912" y="0"/>
                  </a:moveTo>
                  <a:lnTo>
                    <a:pt x="2409825" y="1138238"/>
                  </a:lnTo>
                  <a:lnTo>
                    <a:pt x="1204912" y="2276475"/>
                  </a:lnTo>
                  <a:lnTo>
                    <a:pt x="0" y="1138238"/>
                  </a:lnTo>
                  <a:close/>
                </a:path>
              </a:pathLst>
            </a:custGeom>
            <a:solidFill>
              <a:srgbClr val="CCD0D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d-bottom"/>
            <p:cNvSpPr/>
            <p:nvPr/>
          </p:nvSpPr>
          <p:spPr>
            <a:xfrm>
              <a:off x="13696950" y="14592300"/>
              <a:ext cx="2219325" cy="2085975"/>
            </a:xfrm>
            <a:custGeom>
              <a:avLst/>
              <a:gdLst/>
              <a:ahLst/>
              <a:cxnLst/>
              <a:rect l="l" t="t" r="r" b="b"/>
              <a:pathLst>
                <a:path w="2219325" h="2085975">
                  <a:moveTo>
                    <a:pt x="1104900" y="0"/>
                  </a:moveTo>
                  <a:lnTo>
                    <a:pt x="2219325" y="1038225"/>
                  </a:lnTo>
                  <a:lnTo>
                    <a:pt x="1104900" y="2085975"/>
                  </a:lnTo>
                  <a:lnTo>
                    <a:pt x="0" y="1038225"/>
                  </a:lnTo>
                  <a:close/>
                </a:path>
              </a:pathLst>
            </a:custGeom>
            <a:solidFill>
              <a:srgbClr val="16457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t-d-bottom"/>
            <p:cNvSpPr txBox="1"/>
            <p:nvPr/>
          </p:nvSpPr>
          <p:spPr>
            <a:xfrm>
              <a:off x="14204156" y="14989969"/>
              <a:ext cx="1200150" cy="12858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7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核心</a:t>
              </a:r>
            </a:p>
            <a:p>
              <a:pPr algn="ctr">
                <a:lnSpc>
                  <a:spcPct val="100000"/>
                </a:lnSpc>
              </a:pPr>
              <a:r>
                <a:rPr sz="37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内容</a:t>
              </a:r>
            </a:p>
          </p:txBody>
        </p:sp>
        <p:sp>
          <p:nvSpPr>
            <p:cNvPr id="80" name="d-left-halo"/>
            <p:cNvSpPr/>
            <p:nvPr/>
          </p:nvSpPr>
          <p:spPr>
            <a:xfrm>
              <a:off x="8458200" y="9382125"/>
              <a:ext cx="2409825" cy="2276475"/>
            </a:xfrm>
            <a:custGeom>
              <a:avLst/>
              <a:gdLst/>
              <a:ahLst/>
              <a:cxnLst/>
              <a:rect l="l" t="t" r="r" b="b"/>
              <a:pathLst>
                <a:path w="2409825" h="2276475">
                  <a:moveTo>
                    <a:pt x="1204912" y="0"/>
                  </a:moveTo>
                  <a:lnTo>
                    <a:pt x="2409825" y="1138237"/>
                  </a:lnTo>
                  <a:lnTo>
                    <a:pt x="1204912" y="2276475"/>
                  </a:lnTo>
                  <a:lnTo>
                    <a:pt x="0" y="1138237"/>
                  </a:lnTo>
                  <a:close/>
                </a:path>
              </a:pathLst>
            </a:custGeom>
            <a:solidFill>
              <a:srgbClr val="CCD0D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d-left"/>
            <p:cNvSpPr/>
            <p:nvPr/>
          </p:nvSpPr>
          <p:spPr>
            <a:xfrm>
              <a:off x="8553450" y="9477375"/>
              <a:ext cx="2219325" cy="2085975"/>
            </a:xfrm>
            <a:custGeom>
              <a:avLst/>
              <a:gdLst/>
              <a:ahLst/>
              <a:cxnLst/>
              <a:rect l="l" t="t" r="r" b="b"/>
              <a:pathLst>
                <a:path w="2219325" h="2085975">
                  <a:moveTo>
                    <a:pt x="1104900" y="0"/>
                  </a:moveTo>
                  <a:lnTo>
                    <a:pt x="2219325" y="1038225"/>
                  </a:lnTo>
                  <a:lnTo>
                    <a:pt x="1104900" y="2085975"/>
                  </a:lnTo>
                  <a:lnTo>
                    <a:pt x="0" y="1038225"/>
                  </a:lnTo>
                  <a:close/>
                </a:path>
              </a:pathLst>
            </a:custGeom>
            <a:solidFill>
              <a:srgbClr val="16457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t-d-left"/>
            <p:cNvSpPr txBox="1"/>
            <p:nvPr/>
          </p:nvSpPr>
          <p:spPr>
            <a:xfrm>
              <a:off x="9060656" y="9875044"/>
              <a:ext cx="1200150" cy="12858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7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形成</a:t>
              </a:r>
            </a:p>
            <a:p>
              <a:pPr algn="ctr">
                <a:lnSpc>
                  <a:spcPct val="100000"/>
                </a:lnSpc>
              </a:pPr>
              <a:r>
                <a:rPr sz="37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机理</a:t>
              </a:r>
            </a:p>
          </p:txBody>
        </p:sp>
        <p:sp>
          <p:nvSpPr>
            <p:cNvPr id="83" name="d-right-halo"/>
            <p:cNvSpPr/>
            <p:nvPr/>
          </p:nvSpPr>
          <p:spPr>
            <a:xfrm>
              <a:off x="18669000" y="9382125"/>
              <a:ext cx="2409825" cy="2276475"/>
            </a:xfrm>
            <a:custGeom>
              <a:avLst/>
              <a:gdLst/>
              <a:ahLst/>
              <a:cxnLst/>
              <a:rect l="l" t="t" r="r" b="b"/>
              <a:pathLst>
                <a:path w="2409825" h="2276475">
                  <a:moveTo>
                    <a:pt x="1204912" y="0"/>
                  </a:moveTo>
                  <a:lnTo>
                    <a:pt x="2409825" y="1138237"/>
                  </a:lnTo>
                  <a:lnTo>
                    <a:pt x="1204912" y="2276475"/>
                  </a:lnTo>
                  <a:lnTo>
                    <a:pt x="0" y="1138237"/>
                  </a:lnTo>
                  <a:close/>
                </a:path>
              </a:pathLst>
            </a:custGeom>
            <a:solidFill>
              <a:srgbClr val="CCD0D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d-right"/>
            <p:cNvSpPr/>
            <p:nvPr/>
          </p:nvSpPr>
          <p:spPr>
            <a:xfrm>
              <a:off x="18764250" y="9477375"/>
              <a:ext cx="2219325" cy="2085975"/>
            </a:xfrm>
            <a:custGeom>
              <a:avLst/>
              <a:gdLst/>
              <a:ahLst/>
              <a:cxnLst/>
              <a:rect l="l" t="t" r="r" b="b"/>
              <a:pathLst>
                <a:path w="2219325" h="2085975">
                  <a:moveTo>
                    <a:pt x="1104900" y="0"/>
                  </a:moveTo>
                  <a:lnTo>
                    <a:pt x="2219325" y="1038225"/>
                  </a:lnTo>
                  <a:lnTo>
                    <a:pt x="1104900" y="2085975"/>
                  </a:lnTo>
                  <a:lnTo>
                    <a:pt x="0" y="1038225"/>
                  </a:lnTo>
                  <a:close/>
                </a:path>
              </a:pathLst>
            </a:custGeom>
            <a:solidFill>
              <a:srgbClr val="16457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t-d-right"/>
            <p:cNvSpPr txBox="1"/>
            <p:nvPr/>
          </p:nvSpPr>
          <p:spPr>
            <a:xfrm>
              <a:off x="19271456" y="9875044"/>
              <a:ext cx="1200150" cy="12858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7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表征</a:t>
              </a:r>
            </a:p>
            <a:p>
              <a:pPr algn="ctr">
                <a:lnSpc>
                  <a:spcPct val="100000"/>
                </a:lnSpc>
              </a:pPr>
              <a:r>
                <a:rPr sz="37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技术</a:t>
              </a:r>
            </a:p>
          </p:txBody>
        </p:sp>
        <p:sp>
          <p:nvSpPr>
            <p:cNvPr id="86" name="ring"/>
            <p:cNvSpPr/>
            <p:nvPr/>
          </p:nvSpPr>
          <p:spPr>
            <a:xfrm>
              <a:off x="13058775" y="9010650"/>
              <a:ext cx="3448050" cy="34480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2E3A4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core"/>
            <p:cNvSpPr/>
            <p:nvPr/>
          </p:nvSpPr>
          <p:spPr>
            <a:xfrm>
              <a:off x="13477875" y="9429750"/>
              <a:ext cx="2609850" cy="2609850"/>
            </a:xfrm>
            <a:prstGeom prst="ellipse">
              <a:avLst/>
            </a:prstGeom>
            <a:solidFill>
              <a:srgbClr val="16457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t-core"/>
            <p:cNvSpPr txBox="1"/>
            <p:nvPr/>
          </p:nvSpPr>
          <p:spPr>
            <a:xfrm>
              <a:off x="13435965" y="10117455"/>
              <a:ext cx="2693670" cy="123444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6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离子输运与</a:t>
              </a:r>
            </a:p>
            <a:p>
              <a:pPr algn="ctr">
                <a:lnSpc>
                  <a:spcPct val="100000"/>
                </a:lnSpc>
              </a:pPr>
              <a:r>
                <a:rPr sz="36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界面缺陷</a:t>
              </a:r>
            </a:p>
          </p:txBody>
        </p:sp>
        <p:sp>
          <p:nvSpPr>
            <p:cNvPr id="89" name="c1"/>
            <p:cNvSpPr/>
            <p:nvPr/>
          </p:nvSpPr>
          <p:spPr>
            <a:xfrm>
              <a:off x="11753850" y="7677150"/>
              <a:ext cx="1905000" cy="19050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2E3A4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t-c1"/>
            <p:cNvSpPr txBox="1"/>
            <p:nvPr/>
          </p:nvSpPr>
          <p:spPr>
            <a:xfrm>
              <a:off x="12106275" y="7986712"/>
              <a:ext cx="1200150" cy="12858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750" b="1" i="0">
                  <a:solidFill>
                    <a:srgbClr val="1F1F1F"/>
                  </a:solidFill>
                  <a:latin typeface="Microsoft YaHei"/>
                  <a:ea typeface="Microsoft YaHei"/>
                  <a:cs typeface="Microsoft YaHei"/>
                </a:rPr>
                <a:t>材料</a:t>
              </a:r>
            </a:p>
            <a:p>
              <a:pPr algn="ctr">
                <a:lnSpc>
                  <a:spcPct val="100000"/>
                </a:lnSpc>
              </a:pPr>
              <a:r>
                <a:rPr sz="3750" b="1" i="0">
                  <a:solidFill>
                    <a:srgbClr val="1F1F1F"/>
                  </a:solidFill>
                  <a:latin typeface="Microsoft YaHei"/>
                  <a:ea typeface="Microsoft YaHei"/>
                  <a:cs typeface="Microsoft YaHei"/>
                </a:rPr>
                <a:t>合成</a:t>
              </a:r>
            </a:p>
          </p:txBody>
        </p:sp>
        <p:sp>
          <p:nvSpPr>
            <p:cNvPr id="91" name="c2"/>
            <p:cNvSpPr/>
            <p:nvPr/>
          </p:nvSpPr>
          <p:spPr>
            <a:xfrm>
              <a:off x="15925800" y="7677150"/>
              <a:ext cx="1905000" cy="19050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2E3A4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t-c2"/>
            <p:cNvSpPr txBox="1"/>
            <p:nvPr/>
          </p:nvSpPr>
          <p:spPr>
            <a:xfrm>
              <a:off x="16278225" y="7986712"/>
              <a:ext cx="1200150" cy="12858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750" b="1" i="0">
                  <a:solidFill>
                    <a:srgbClr val="1F1F1F"/>
                  </a:solidFill>
                  <a:latin typeface="Microsoft YaHei"/>
                  <a:ea typeface="Microsoft YaHei"/>
                  <a:cs typeface="Microsoft YaHei"/>
                </a:rPr>
                <a:t>界面</a:t>
              </a:r>
            </a:p>
            <a:p>
              <a:pPr algn="ctr">
                <a:lnSpc>
                  <a:spcPct val="100000"/>
                </a:lnSpc>
              </a:pPr>
              <a:r>
                <a:rPr sz="3750" b="1" i="0">
                  <a:solidFill>
                    <a:srgbClr val="1F1F1F"/>
                  </a:solidFill>
                  <a:latin typeface="Microsoft YaHei"/>
                  <a:ea typeface="Microsoft YaHei"/>
                  <a:cs typeface="Microsoft YaHei"/>
                </a:rPr>
                <a:t>劣化</a:t>
              </a:r>
            </a:p>
          </p:txBody>
        </p:sp>
        <p:sp>
          <p:nvSpPr>
            <p:cNvPr id="93" name="c3"/>
            <p:cNvSpPr/>
            <p:nvPr/>
          </p:nvSpPr>
          <p:spPr>
            <a:xfrm>
              <a:off x="11753850" y="11734800"/>
              <a:ext cx="1905000" cy="19050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2E3A4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t-c3"/>
            <p:cNvSpPr txBox="1"/>
            <p:nvPr/>
          </p:nvSpPr>
          <p:spPr>
            <a:xfrm>
              <a:off x="12106275" y="12044362"/>
              <a:ext cx="1200150" cy="12858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750" b="1" i="0">
                  <a:solidFill>
                    <a:srgbClr val="1F1F1F"/>
                  </a:solidFill>
                  <a:latin typeface="Microsoft YaHei"/>
                  <a:ea typeface="Microsoft YaHei"/>
                  <a:cs typeface="Microsoft YaHei"/>
                </a:rPr>
                <a:t>长期</a:t>
              </a:r>
            </a:p>
            <a:p>
              <a:pPr algn="ctr">
                <a:lnSpc>
                  <a:spcPct val="100000"/>
                </a:lnSpc>
              </a:pPr>
              <a:r>
                <a:rPr sz="3750" b="1" i="0">
                  <a:solidFill>
                    <a:srgbClr val="1F1F1F"/>
                  </a:solidFill>
                  <a:latin typeface="Microsoft YaHei"/>
                  <a:ea typeface="Microsoft YaHei"/>
                  <a:cs typeface="Microsoft YaHei"/>
                </a:rPr>
                <a:t>服役</a:t>
              </a:r>
            </a:p>
          </p:txBody>
        </p:sp>
        <p:sp>
          <p:nvSpPr>
            <p:cNvPr id="95" name="c4"/>
            <p:cNvSpPr/>
            <p:nvPr/>
          </p:nvSpPr>
          <p:spPr>
            <a:xfrm>
              <a:off x="15925800" y="11734800"/>
              <a:ext cx="1905000" cy="19050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2E3A4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t-c4"/>
            <p:cNvSpPr txBox="1"/>
            <p:nvPr/>
          </p:nvSpPr>
          <p:spPr>
            <a:xfrm>
              <a:off x="16278225" y="12044362"/>
              <a:ext cx="1200150" cy="12858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750" b="1" i="0">
                  <a:solidFill>
                    <a:srgbClr val="1F1F1F"/>
                  </a:solidFill>
                  <a:latin typeface="Microsoft YaHei"/>
                  <a:ea typeface="Microsoft YaHei"/>
                  <a:cs typeface="Microsoft YaHei"/>
                </a:rPr>
                <a:t>高温</a:t>
              </a:r>
            </a:p>
            <a:p>
              <a:pPr algn="ctr">
                <a:lnSpc>
                  <a:spcPct val="100000"/>
                </a:lnSpc>
              </a:pPr>
              <a:r>
                <a:rPr sz="3750" b="1" i="0">
                  <a:solidFill>
                    <a:srgbClr val="1F1F1F"/>
                  </a:solidFill>
                  <a:latin typeface="Microsoft YaHei"/>
                  <a:ea typeface="Microsoft YaHei"/>
                  <a:cs typeface="Microsoft YaHei"/>
                </a:rPr>
                <a:t>循环</a:t>
              </a:r>
            </a:p>
          </p:txBody>
        </p:sp>
        <p:cxnSp>
          <p:nvCxnSpPr>
            <p:cNvPr id="97" name="cyc1"/>
            <p:cNvCxnSpPr/>
            <p:nvPr/>
          </p:nvCxnSpPr>
          <p:spPr>
            <a:xfrm>
              <a:off x="13630275" y="8629650"/>
              <a:ext cx="2215039" cy="0"/>
            </a:xfrm>
            <a:prstGeom prst="line">
              <a:avLst/>
            </a:prstGeom>
            <a:ln w="30480">
              <a:solidFill>
                <a:srgbClr val="3F424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cyc1-head"/>
            <p:cNvSpPr/>
            <p:nvPr/>
          </p:nvSpPr>
          <p:spPr>
            <a:xfrm>
              <a:off x="15821025" y="8548688"/>
              <a:ext cx="161925" cy="161924"/>
            </a:xfrm>
            <a:custGeom>
              <a:avLst/>
              <a:gdLst/>
              <a:ahLst/>
              <a:cxnLst/>
              <a:rect l="l" t="t" r="r" b="b"/>
              <a:pathLst>
                <a:path w="161925" h="161924">
                  <a:moveTo>
                    <a:pt x="0" y="161924"/>
                  </a:moveTo>
                  <a:lnTo>
                    <a:pt x="161925" y="809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42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9" name="cyc2"/>
            <p:cNvCxnSpPr/>
            <p:nvPr/>
          </p:nvCxnSpPr>
          <p:spPr>
            <a:xfrm>
              <a:off x="16878300" y="9553575"/>
              <a:ext cx="0" cy="2119789"/>
            </a:xfrm>
            <a:prstGeom prst="line">
              <a:avLst/>
            </a:prstGeom>
            <a:ln w="30480">
              <a:solidFill>
                <a:srgbClr val="3F424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cyc2-head"/>
            <p:cNvSpPr/>
            <p:nvPr/>
          </p:nvSpPr>
          <p:spPr>
            <a:xfrm>
              <a:off x="16878300" y="11649075"/>
              <a:ext cx="0" cy="161925"/>
            </a:xfrm>
            <a:custGeom>
              <a:avLst/>
              <a:gdLst/>
              <a:ahLst/>
              <a:cxnLst/>
              <a:rect l="l" t="t" r="r" b="b"/>
              <a:pathLst>
                <a:path w="0" h="161925">
                  <a:moveTo>
                    <a:pt x="0" y="0"/>
                  </a:moveTo>
                  <a:lnTo>
                    <a:pt x="0" y="1619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42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01" name="cyc3"/>
            <p:cNvCxnSpPr/>
            <p:nvPr/>
          </p:nvCxnSpPr>
          <p:spPr>
            <a:xfrm flipH="1">
              <a:off x="13739336" y="12687300"/>
              <a:ext cx="2215039" cy="0"/>
            </a:xfrm>
            <a:prstGeom prst="line">
              <a:avLst/>
            </a:prstGeom>
            <a:ln w="30480">
              <a:solidFill>
                <a:srgbClr val="3F424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cyc3-head"/>
            <p:cNvSpPr/>
            <p:nvPr/>
          </p:nvSpPr>
          <p:spPr>
            <a:xfrm>
              <a:off x="13601700" y="12606338"/>
              <a:ext cx="161925" cy="161924"/>
            </a:xfrm>
            <a:custGeom>
              <a:avLst/>
              <a:gdLst/>
              <a:ahLst/>
              <a:cxnLst/>
              <a:rect l="l" t="t" r="r" b="b"/>
              <a:pathLst>
                <a:path w="161925" h="161924">
                  <a:moveTo>
                    <a:pt x="161925" y="0"/>
                  </a:moveTo>
                  <a:lnTo>
                    <a:pt x="0" y="80962"/>
                  </a:lnTo>
                  <a:lnTo>
                    <a:pt x="161925" y="161924"/>
                  </a:lnTo>
                  <a:close/>
                </a:path>
              </a:pathLst>
            </a:custGeom>
            <a:solidFill>
              <a:srgbClr val="3F42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03" name="cyc4"/>
            <p:cNvCxnSpPr/>
            <p:nvPr/>
          </p:nvCxnSpPr>
          <p:spPr>
            <a:xfrm flipV="1">
              <a:off x="12706350" y="9662636"/>
              <a:ext cx="0" cy="2119789"/>
            </a:xfrm>
            <a:prstGeom prst="line">
              <a:avLst/>
            </a:prstGeom>
            <a:ln w="30480">
              <a:solidFill>
                <a:srgbClr val="3F424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cyc4-head"/>
            <p:cNvSpPr/>
            <p:nvPr/>
          </p:nvSpPr>
          <p:spPr>
            <a:xfrm>
              <a:off x="12706350" y="9525000"/>
              <a:ext cx="0" cy="161925"/>
            </a:xfrm>
            <a:custGeom>
              <a:avLst/>
              <a:gdLst/>
              <a:ahLst/>
              <a:cxnLst/>
              <a:rect l="l" t="t" r="r" b="b"/>
              <a:pathLst>
                <a:path w="0" h="161925">
                  <a:moveTo>
                    <a:pt x="0" y="161925"/>
                  </a:moveTo>
                  <a:lnTo>
                    <a:pt x="0" y="0"/>
                  </a:lnTo>
                  <a:lnTo>
                    <a:pt x="0" y="161925"/>
                  </a:lnTo>
                  <a:close/>
                </a:path>
              </a:pathLst>
            </a:custGeom>
            <a:solidFill>
              <a:srgbClr val="3F42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t-cyc-top"/>
            <p:cNvSpPr txBox="1"/>
            <p:nvPr/>
          </p:nvSpPr>
          <p:spPr>
            <a:xfrm>
              <a:off x="13900785" y="7581900"/>
              <a:ext cx="1840230" cy="5143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1" i="0">
                  <a:solidFill>
                    <a:srgbClr val="1F1F1F"/>
                  </a:solidFill>
                  <a:latin typeface="Microsoft YaHei"/>
                  <a:ea typeface="Microsoft YaHei"/>
                  <a:cs typeface="Microsoft YaHei"/>
                </a:rPr>
                <a:t>传导受阻</a:t>
              </a:r>
            </a:p>
          </p:txBody>
        </p:sp>
        <p:sp>
          <p:nvSpPr>
            <p:cNvPr id="106" name="t-cyc-right"/>
            <p:cNvSpPr txBox="1"/>
            <p:nvPr/>
          </p:nvSpPr>
          <p:spPr>
            <a:xfrm>
              <a:off x="17194530" y="10134600"/>
              <a:ext cx="986790" cy="10287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1" i="0">
                  <a:solidFill>
                    <a:srgbClr val="1F1F1F"/>
                  </a:solidFill>
                  <a:latin typeface="Microsoft YaHei"/>
                  <a:ea typeface="Microsoft YaHei"/>
                  <a:cs typeface="Microsoft YaHei"/>
                </a:rPr>
                <a:t>阻抗</a:t>
              </a:r>
            </a:p>
            <a:p>
              <a:pPr algn="ctr">
                <a:lnSpc>
                  <a:spcPct val="100000"/>
                </a:lnSpc>
              </a:pPr>
              <a:r>
                <a:rPr sz="3000" b="1" i="0">
                  <a:solidFill>
                    <a:srgbClr val="1F1F1F"/>
                  </a:solidFill>
                  <a:latin typeface="Microsoft YaHei"/>
                  <a:ea typeface="Microsoft YaHei"/>
                  <a:cs typeface="Microsoft YaHei"/>
                </a:rPr>
                <a:t>升高</a:t>
              </a:r>
            </a:p>
          </p:txBody>
        </p:sp>
        <p:sp>
          <p:nvSpPr>
            <p:cNvPr id="107" name="t-cyc-bottom"/>
            <p:cNvSpPr txBox="1"/>
            <p:nvPr/>
          </p:nvSpPr>
          <p:spPr>
            <a:xfrm>
              <a:off x="13900785" y="13544550"/>
              <a:ext cx="1840230" cy="5143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1" i="0">
                  <a:solidFill>
                    <a:srgbClr val="1F1F1F"/>
                  </a:solidFill>
                  <a:latin typeface="Microsoft YaHei"/>
                  <a:ea typeface="Microsoft YaHei"/>
                  <a:cs typeface="Microsoft YaHei"/>
                </a:rPr>
                <a:t>隐患加剧</a:t>
              </a:r>
            </a:p>
          </p:txBody>
        </p:sp>
        <p:sp>
          <p:nvSpPr>
            <p:cNvPr id="108" name="t-cyc-left"/>
            <p:cNvSpPr txBox="1"/>
            <p:nvPr/>
          </p:nvSpPr>
          <p:spPr>
            <a:xfrm>
              <a:off x="11470005" y="10134600"/>
              <a:ext cx="986790" cy="10287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1" i="0">
                  <a:solidFill>
                    <a:srgbClr val="1F1F1F"/>
                  </a:solidFill>
                  <a:latin typeface="Microsoft YaHei"/>
                  <a:ea typeface="Microsoft YaHei"/>
                  <a:cs typeface="Microsoft YaHei"/>
                </a:rPr>
                <a:t>寿命</a:t>
              </a:r>
            </a:p>
            <a:p>
              <a:pPr algn="ctr">
                <a:lnSpc>
                  <a:spcPct val="100000"/>
                </a:lnSpc>
              </a:pPr>
              <a:r>
                <a:rPr sz="3000" b="1" i="0">
                  <a:solidFill>
                    <a:srgbClr val="1F1F1F"/>
                  </a:solidFill>
                  <a:latin typeface="Microsoft YaHei"/>
                  <a:ea typeface="Microsoft YaHei"/>
                  <a:cs typeface="Microsoft YaHei"/>
                </a:rPr>
                <a:t>衰减</a:t>
              </a:r>
            </a:p>
          </p:txBody>
        </p:sp>
        <p:sp>
          <p:nvSpPr>
            <p:cNvPr id="109" name="e-ul-ring"/>
            <p:cNvSpPr/>
            <p:nvPr/>
          </p:nvSpPr>
          <p:spPr>
            <a:xfrm>
              <a:off x="9365477" y="4930098"/>
              <a:ext cx="3138446" cy="3112854"/>
            </a:xfrm>
            <a:custGeom>
              <a:avLst/>
              <a:gdLst/>
              <a:ahLst/>
              <a:cxnLst/>
              <a:rect l="l" t="t" r="r" b="b"/>
              <a:pathLst>
                <a:path w="3138446" h="3112854">
                  <a:moveTo>
                    <a:pt x="3058703" y="82463"/>
                  </a:moveTo>
                  <a:lnTo>
                    <a:pt x="3096246" y="131738"/>
                  </a:lnTo>
                  <a:lnTo>
                    <a:pt x="3122167" y="191855"/>
                  </a:lnTo>
                  <a:lnTo>
                    <a:pt x="3136270" y="262358"/>
                  </a:lnTo>
                  <a:lnTo>
                    <a:pt x="3138446" y="342709"/>
                  </a:lnTo>
                  <a:lnTo>
                    <a:pt x="3128680" y="432297"/>
                  </a:lnTo>
                  <a:lnTo>
                    <a:pt x="3107045" y="530441"/>
                  </a:lnTo>
                  <a:lnTo>
                    <a:pt x="3073706" y="636393"/>
                  </a:lnTo>
                  <a:lnTo>
                    <a:pt x="3028917" y="749346"/>
                  </a:lnTo>
                  <a:lnTo>
                    <a:pt x="2973020" y="868443"/>
                  </a:lnTo>
                  <a:lnTo>
                    <a:pt x="2906438" y="992775"/>
                  </a:lnTo>
                  <a:lnTo>
                    <a:pt x="2829679" y="1121397"/>
                  </a:lnTo>
                  <a:lnTo>
                    <a:pt x="2743328" y="1253330"/>
                  </a:lnTo>
                  <a:lnTo>
                    <a:pt x="2648041" y="1387570"/>
                  </a:lnTo>
                  <a:lnTo>
                    <a:pt x="2544543" y="1523094"/>
                  </a:lnTo>
                  <a:lnTo>
                    <a:pt x="2433623" y="1658873"/>
                  </a:lnTo>
                  <a:lnTo>
                    <a:pt x="2316124" y="1793871"/>
                  </a:lnTo>
                  <a:lnTo>
                    <a:pt x="2192941" y="1927063"/>
                  </a:lnTo>
                  <a:lnTo>
                    <a:pt x="2065011" y="2057434"/>
                  </a:lnTo>
                  <a:lnTo>
                    <a:pt x="1933307" y="2183992"/>
                  </a:lnTo>
                  <a:lnTo>
                    <a:pt x="1798833" y="2305774"/>
                  </a:lnTo>
                  <a:lnTo>
                    <a:pt x="1662611" y="2421852"/>
                  </a:lnTo>
                  <a:lnTo>
                    <a:pt x="1525679" y="2531345"/>
                  </a:lnTo>
                  <a:lnTo>
                    <a:pt x="1389078" y="2633417"/>
                  </a:lnTo>
                  <a:lnTo>
                    <a:pt x="1253848" y="2727294"/>
                  </a:lnTo>
                  <a:lnTo>
                    <a:pt x="1121018" y="2812259"/>
                  </a:lnTo>
                  <a:lnTo>
                    <a:pt x="991599" y="2887666"/>
                  </a:lnTo>
                  <a:lnTo>
                    <a:pt x="866576" y="2952942"/>
                  </a:lnTo>
                  <a:lnTo>
                    <a:pt x="746901" y="3007590"/>
                  </a:lnTo>
                  <a:lnTo>
                    <a:pt x="633484" y="3051193"/>
                  </a:lnTo>
                  <a:lnTo>
                    <a:pt x="527189" y="3083420"/>
                  </a:lnTo>
                  <a:lnTo>
                    <a:pt x="428824" y="3104026"/>
                  </a:lnTo>
                  <a:lnTo>
                    <a:pt x="339139" y="3112854"/>
                  </a:lnTo>
                  <a:lnTo>
                    <a:pt x="258815" y="3109837"/>
                  </a:lnTo>
                  <a:lnTo>
                    <a:pt x="188464" y="3094997"/>
                  </a:lnTo>
                  <a:lnTo>
                    <a:pt x="128621" y="3068447"/>
                  </a:lnTo>
                  <a:lnTo>
                    <a:pt x="79743" y="3030391"/>
                  </a:lnTo>
                  <a:lnTo>
                    <a:pt x="42200" y="2981116"/>
                  </a:lnTo>
                  <a:lnTo>
                    <a:pt x="16279" y="2920999"/>
                  </a:lnTo>
                  <a:lnTo>
                    <a:pt x="2176" y="2850496"/>
                  </a:lnTo>
                  <a:lnTo>
                    <a:pt x="0" y="2770145"/>
                  </a:lnTo>
                  <a:lnTo>
                    <a:pt x="9766" y="2680557"/>
                  </a:lnTo>
                  <a:lnTo>
                    <a:pt x="31401" y="2582413"/>
                  </a:lnTo>
                  <a:lnTo>
                    <a:pt x="64740" y="2476461"/>
                  </a:lnTo>
                  <a:lnTo>
                    <a:pt x="109529" y="2363508"/>
                  </a:lnTo>
                  <a:lnTo>
                    <a:pt x="165426" y="2244411"/>
                  </a:lnTo>
                  <a:lnTo>
                    <a:pt x="232008" y="2120079"/>
                  </a:lnTo>
                  <a:lnTo>
                    <a:pt x="308767" y="1991457"/>
                  </a:lnTo>
                  <a:lnTo>
                    <a:pt x="395118" y="1859524"/>
                  </a:lnTo>
                  <a:lnTo>
                    <a:pt x="490405" y="1725284"/>
                  </a:lnTo>
                  <a:lnTo>
                    <a:pt x="593903" y="1589760"/>
                  </a:lnTo>
                  <a:lnTo>
                    <a:pt x="704823" y="1453981"/>
                  </a:lnTo>
                  <a:lnTo>
                    <a:pt x="822322" y="1318983"/>
                  </a:lnTo>
                  <a:lnTo>
                    <a:pt x="945505" y="1185791"/>
                  </a:lnTo>
                  <a:lnTo>
                    <a:pt x="1073435" y="1055420"/>
                  </a:lnTo>
                  <a:lnTo>
                    <a:pt x="1205139" y="928862"/>
                  </a:lnTo>
                  <a:lnTo>
                    <a:pt x="1339613" y="807080"/>
                  </a:lnTo>
                  <a:lnTo>
                    <a:pt x="1475835" y="691002"/>
                  </a:lnTo>
                  <a:lnTo>
                    <a:pt x="1612767" y="581509"/>
                  </a:lnTo>
                  <a:lnTo>
                    <a:pt x="1749368" y="479437"/>
                  </a:lnTo>
                  <a:lnTo>
                    <a:pt x="1884598" y="385560"/>
                  </a:lnTo>
                  <a:lnTo>
                    <a:pt x="2017428" y="300595"/>
                  </a:lnTo>
                  <a:lnTo>
                    <a:pt x="2146847" y="225188"/>
                  </a:lnTo>
                  <a:lnTo>
                    <a:pt x="2271870" y="159912"/>
                  </a:lnTo>
                  <a:lnTo>
                    <a:pt x="2391545" y="105264"/>
                  </a:lnTo>
                  <a:lnTo>
                    <a:pt x="2504962" y="61661"/>
                  </a:lnTo>
                  <a:lnTo>
                    <a:pt x="2611257" y="29434"/>
                  </a:lnTo>
                  <a:lnTo>
                    <a:pt x="2709622" y="8828"/>
                  </a:lnTo>
                  <a:lnTo>
                    <a:pt x="2799307" y="0"/>
                  </a:lnTo>
                  <a:lnTo>
                    <a:pt x="2879631" y="3017"/>
                  </a:lnTo>
                  <a:lnTo>
                    <a:pt x="2949982" y="17857"/>
                  </a:lnTo>
                  <a:lnTo>
                    <a:pt x="3009825" y="44407"/>
                  </a:lnTo>
                  <a:close/>
                </a:path>
              </a:pathLst>
            </a:custGeom>
            <a:solidFill>
              <a:srgbClr val="FFFFFF"/>
            </a:solidFill>
            <a:ln w="20955">
              <a:solidFill>
                <a:srgbClr val="8FA6C4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" name="e-ul-0"/>
            <p:cNvSpPr txBox="1"/>
            <p:nvPr/>
          </p:nvSpPr>
          <p:spPr>
            <a:xfrm>
              <a:off x="9818846" y="7002780"/>
              <a:ext cx="460058" cy="70104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450" b="1" i="0">
                  <a:solidFill>
                    <a:srgbClr val="0F6DB4"/>
                  </a:solidFill>
                  <a:latin typeface="Microsoft YaHei"/>
                  <a:ea typeface="Microsoft YaHei"/>
                  <a:cs typeface="Microsoft YaHei"/>
                </a:rPr>
                <a:t>电</a:t>
              </a:r>
            </a:p>
          </p:txBody>
        </p:sp>
        <p:sp>
          <p:nvSpPr>
            <p:cNvPr id="111" name="e-ul-1"/>
            <p:cNvSpPr txBox="1"/>
            <p:nvPr/>
          </p:nvSpPr>
          <p:spPr>
            <a:xfrm>
              <a:off x="10161746" y="6678930"/>
              <a:ext cx="460058" cy="70104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450" b="1" i="0">
                  <a:solidFill>
                    <a:srgbClr val="0F6DB4"/>
                  </a:solidFill>
                  <a:latin typeface="Microsoft YaHei"/>
                  <a:ea typeface="Microsoft YaHei"/>
                  <a:cs typeface="Microsoft YaHei"/>
                </a:rPr>
                <a:t>化</a:t>
              </a:r>
            </a:p>
          </p:txBody>
        </p:sp>
        <p:sp>
          <p:nvSpPr>
            <p:cNvPr id="112" name="e-ul-2"/>
            <p:cNvSpPr txBox="1"/>
            <p:nvPr/>
          </p:nvSpPr>
          <p:spPr>
            <a:xfrm>
              <a:off x="10476071" y="6316980"/>
              <a:ext cx="460058" cy="70104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450" b="1" i="0">
                  <a:solidFill>
                    <a:srgbClr val="0F6DB4"/>
                  </a:solidFill>
                  <a:latin typeface="Microsoft YaHei"/>
                  <a:ea typeface="Microsoft YaHei"/>
                  <a:cs typeface="Microsoft YaHei"/>
                </a:rPr>
                <a:t>学</a:t>
              </a:r>
            </a:p>
          </p:txBody>
        </p:sp>
        <p:sp>
          <p:nvSpPr>
            <p:cNvPr id="113" name="e-ul-3"/>
            <p:cNvSpPr txBox="1"/>
            <p:nvPr/>
          </p:nvSpPr>
          <p:spPr>
            <a:xfrm>
              <a:off x="10818971" y="6012180"/>
              <a:ext cx="460058" cy="70104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450" b="1" i="0">
                  <a:solidFill>
                    <a:srgbClr val="0F6DB4"/>
                  </a:solidFill>
                  <a:latin typeface="Microsoft YaHei"/>
                  <a:ea typeface="Microsoft YaHei"/>
                  <a:cs typeface="Microsoft YaHei"/>
                </a:rPr>
                <a:t>阻</a:t>
              </a:r>
            </a:p>
          </p:txBody>
        </p:sp>
        <p:sp>
          <p:nvSpPr>
            <p:cNvPr id="114" name="e-ul-4"/>
            <p:cNvSpPr txBox="1"/>
            <p:nvPr/>
          </p:nvSpPr>
          <p:spPr>
            <a:xfrm>
              <a:off x="11161871" y="5678805"/>
              <a:ext cx="460058" cy="70104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450" b="1" i="0">
                  <a:solidFill>
                    <a:srgbClr val="0F6DB4"/>
                  </a:solidFill>
                  <a:latin typeface="Microsoft YaHei"/>
                  <a:ea typeface="Microsoft YaHei"/>
                  <a:cs typeface="Microsoft YaHei"/>
                </a:rPr>
                <a:t>抗</a:t>
              </a:r>
            </a:p>
          </p:txBody>
        </p:sp>
        <p:sp>
          <p:nvSpPr>
            <p:cNvPr id="115" name="e-ul-5"/>
            <p:cNvSpPr txBox="1"/>
            <p:nvPr/>
          </p:nvSpPr>
          <p:spPr>
            <a:xfrm>
              <a:off x="11514296" y="5326380"/>
              <a:ext cx="460058" cy="70104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450" b="1" i="0">
                  <a:solidFill>
                    <a:srgbClr val="0F6DB4"/>
                  </a:solidFill>
                  <a:latin typeface="Microsoft YaHei"/>
                  <a:ea typeface="Microsoft YaHei"/>
                  <a:cs typeface="Microsoft YaHei"/>
                </a:rPr>
                <a:t>谱</a:t>
              </a:r>
            </a:p>
          </p:txBody>
        </p:sp>
        <p:sp>
          <p:nvSpPr>
            <p:cNvPr id="116" name="e-ur-ring"/>
            <p:cNvSpPr/>
            <p:nvPr/>
          </p:nvSpPr>
          <p:spPr>
            <a:xfrm>
              <a:off x="17453328" y="5005148"/>
              <a:ext cx="3117144" cy="3134204"/>
            </a:xfrm>
            <a:custGeom>
              <a:avLst/>
              <a:gdLst/>
              <a:ahLst/>
              <a:cxnLst/>
              <a:rect l="l" t="t" r="r" b="b"/>
              <a:pathLst>
                <a:path w="3117144" h="3134204">
                  <a:moveTo>
                    <a:pt x="3035133" y="3054007"/>
                  </a:moveTo>
                  <a:lnTo>
                    <a:pt x="2985924" y="3091636"/>
                  </a:lnTo>
                  <a:lnTo>
                    <a:pt x="2925852" y="3117662"/>
                  </a:lnTo>
                  <a:lnTo>
                    <a:pt x="2855374" y="3131888"/>
                  </a:lnTo>
                  <a:lnTo>
                    <a:pt x="2775027" y="3134204"/>
                  </a:lnTo>
                  <a:lnTo>
                    <a:pt x="2685422" y="3124594"/>
                  </a:lnTo>
                  <a:lnTo>
                    <a:pt x="2587241" y="3103131"/>
                  </a:lnTo>
                  <a:lnTo>
                    <a:pt x="2481231" y="3069977"/>
                  </a:lnTo>
                  <a:lnTo>
                    <a:pt x="2368199" y="3025385"/>
                  </a:lnTo>
                  <a:lnTo>
                    <a:pt x="2249005" y="2969696"/>
                  </a:lnTo>
                  <a:lnTo>
                    <a:pt x="2124557" y="2903331"/>
                  </a:lnTo>
                  <a:lnTo>
                    <a:pt x="1995801" y="2826797"/>
                  </a:lnTo>
                  <a:lnTo>
                    <a:pt x="1863718" y="2740676"/>
                  </a:lnTo>
                  <a:lnTo>
                    <a:pt x="1729312" y="2645624"/>
                  </a:lnTo>
                  <a:lnTo>
                    <a:pt x="1593607" y="2542363"/>
                  </a:lnTo>
                  <a:lnTo>
                    <a:pt x="1457635" y="2431680"/>
                  </a:lnTo>
                  <a:lnTo>
                    <a:pt x="1322431" y="2314416"/>
                  </a:lnTo>
                  <a:lnTo>
                    <a:pt x="1189025" y="2191466"/>
                  </a:lnTo>
                  <a:lnTo>
                    <a:pt x="1058431" y="2063763"/>
                  </a:lnTo>
                  <a:lnTo>
                    <a:pt x="931643" y="1932281"/>
                  </a:lnTo>
                  <a:lnTo>
                    <a:pt x="809627" y="1798020"/>
                  </a:lnTo>
                  <a:lnTo>
                    <a:pt x="693311" y="1662001"/>
                  </a:lnTo>
                  <a:lnTo>
                    <a:pt x="583580" y="1525259"/>
                  </a:lnTo>
                  <a:lnTo>
                    <a:pt x="481269" y="1388837"/>
                  </a:lnTo>
                  <a:lnTo>
                    <a:pt x="387157" y="1253771"/>
                  </a:lnTo>
                  <a:lnTo>
                    <a:pt x="301960" y="1121089"/>
                  </a:lnTo>
                  <a:lnTo>
                    <a:pt x="226327" y="991802"/>
                  </a:lnTo>
                  <a:lnTo>
                    <a:pt x="160833" y="866894"/>
                  </a:lnTo>
                  <a:lnTo>
                    <a:pt x="105976" y="747314"/>
                  </a:lnTo>
                  <a:lnTo>
                    <a:pt x="62175" y="633974"/>
                  </a:lnTo>
                  <a:lnTo>
                    <a:pt x="29762" y="527735"/>
                  </a:lnTo>
                  <a:lnTo>
                    <a:pt x="8985" y="429406"/>
                  </a:lnTo>
                  <a:lnTo>
                    <a:pt x="0" y="339736"/>
                  </a:lnTo>
                  <a:lnTo>
                    <a:pt x="2878" y="259407"/>
                  </a:lnTo>
                  <a:lnTo>
                    <a:pt x="17595" y="189030"/>
                  </a:lnTo>
                  <a:lnTo>
                    <a:pt x="44040" y="129142"/>
                  </a:lnTo>
                  <a:lnTo>
                    <a:pt x="82011" y="80197"/>
                  </a:lnTo>
                  <a:lnTo>
                    <a:pt x="131220" y="42568"/>
                  </a:lnTo>
                  <a:lnTo>
                    <a:pt x="191292" y="16542"/>
                  </a:lnTo>
                  <a:lnTo>
                    <a:pt x="261770" y="2316"/>
                  </a:lnTo>
                  <a:lnTo>
                    <a:pt x="342117" y="0"/>
                  </a:lnTo>
                  <a:lnTo>
                    <a:pt x="431722" y="9610"/>
                  </a:lnTo>
                  <a:lnTo>
                    <a:pt x="529903" y="31073"/>
                  </a:lnTo>
                  <a:lnTo>
                    <a:pt x="635913" y="64227"/>
                  </a:lnTo>
                  <a:lnTo>
                    <a:pt x="748945" y="108819"/>
                  </a:lnTo>
                  <a:lnTo>
                    <a:pt x="868139" y="164508"/>
                  </a:lnTo>
                  <a:lnTo>
                    <a:pt x="992587" y="230873"/>
                  </a:lnTo>
                  <a:lnTo>
                    <a:pt x="1121343" y="307407"/>
                  </a:lnTo>
                  <a:lnTo>
                    <a:pt x="1253426" y="393528"/>
                  </a:lnTo>
                  <a:lnTo>
                    <a:pt x="1387832" y="488580"/>
                  </a:lnTo>
                  <a:lnTo>
                    <a:pt x="1523537" y="591841"/>
                  </a:lnTo>
                  <a:lnTo>
                    <a:pt x="1659509" y="702524"/>
                  </a:lnTo>
                  <a:lnTo>
                    <a:pt x="1794713" y="819788"/>
                  </a:lnTo>
                  <a:lnTo>
                    <a:pt x="1928119" y="942738"/>
                  </a:lnTo>
                  <a:lnTo>
                    <a:pt x="2058713" y="1070441"/>
                  </a:lnTo>
                  <a:lnTo>
                    <a:pt x="2185501" y="1201923"/>
                  </a:lnTo>
                  <a:lnTo>
                    <a:pt x="2307517" y="1336184"/>
                  </a:lnTo>
                  <a:lnTo>
                    <a:pt x="2423833" y="1472203"/>
                  </a:lnTo>
                  <a:lnTo>
                    <a:pt x="2533564" y="1608945"/>
                  </a:lnTo>
                  <a:lnTo>
                    <a:pt x="2635875" y="1745367"/>
                  </a:lnTo>
                  <a:lnTo>
                    <a:pt x="2729987" y="1880433"/>
                  </a:lnTo>
                  <a:lnTo>
                    <a:pt x="2815184" y="2013115"/>
                  </a:lnTo>
                  <a:lnTo>
                    <a:pt x="2890817" y="2142402"/>
                  </a:lnTo>
                  <a:lnTo>
                    <a:pt x="2956311" y="2267310"/>
                  </a:lnTo>
                  <a:lnTo>
                    <a:pt x="3011168" y="2386890"/>
                  </a:lnTo>
                  <a:lnTo>
                    <a:pt x="3054969" y="2500230"/>
                  </a:lnTo>
                  <a:lnTo>
                    <a:pt x="3087382" y="2606469"/>
                  </a:lnTo>
                  <a:lnTo>
                    <a:pt x="3108159" y="2704798"/>
                  </a:lnTo>
                  <a:lnTo>
                    <a:pt x="3117144" y="2794468"/>
                  </a:lnTo>
                  <a:lnTo>
                    <a:pt x="3114266" y="2874797"/>
                  </a:lnTo>
                  <a:lnTo>
                    <a:pt x="3099549" y="2945174"/>
                  </a:lnTo>
                  <a:lnTo>
                    <a:pt x="3073104" y="3005062"/>
                  </a:lnTo>
                  <a:close/>
                </a:path>
              </a:pathLst>
            </a:custGeom>
            <a:solidFill>
              <a:srgbClr val="FFFFFF"/>
            </a:solidFill>
            <a:ln w="20955">
              <a:solidFill>
                <a:srgbClr val="8FA6C4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e-ur-0"/>
            <p:cNvSpPr txBox="1"/>
            <p:nvPr/>
          </p:nvSpPr>
          <p:spPr>
            <a:xfrm>
              <a:off x="18010346" y="5431155"/>
              <a:ext cx="460058" cy="70104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450" b="1" i="0">
                  <a:solidFill>
                    <a:srgbClr val="0F6DB4"/>
                  </a:solidFill>
                  <a:latin typeface="Microsoft YaHei"/>
                  <a:ea typeface="Microsoft YaHei"/>
                  <a:cs typeface="Microsoft YaHei"/>
                </a:rPr>
                <a:t>X</a:t>
              </a:r>
            </a:p>
          </p:txBody>
        </p:sp>
        <p:sp>
          <p:nvSpPr>
            <p:cNvPr id="118" name="e-ur-1"/>
            <p:cNvSpPr txBox="1"/>
            <p:nvPr/>
          </p:nvSpPr>
          <p:spPr>
            <a:xfrm>
              <a:off x="18372296" y="5802630"/>
              <a:ext cx="460058" cy="70104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450" b="1" i="0">
                  <a:solidFill>
                    <a:srgbClr val="0F6DB4"/>
                  </a:solidFill>
                  <a:latin typeface="Microsoft YaHei"/>
                  <a:ea typeface="Microsoft YaHei"/>
                  <a:cs typeface="Microsoft YaHei"/>
                </a:rPr>
                <a:t>射</a:t>
              </a:r>
            </a:p>
          </p:txBody>
        </p:sp>
        <p:sp>
          <p:nvSpPr>
            <p:cNvPr id="119" name="e-ur-2"/>
            <p:cNvSpPr txBox="1"/>
            <p:nvPr/>
          </p:nvSpPr>
          <p:spPr>
            <a:xfrm>
              <a:off x="18724721" y="6174105"/>
              <a:ext cx="460058" cy="70104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450" b="1" i="0">
                  <a:solidFill>
                    <a:srgbClr val="0F6DB4"/>
                  </a:solidFill>
                  <a:latin typeface="Microsoft YaHei"/>
                  <a:ea typeface="Microsoft YaHei"/>
                  <a:cs typeface="Microsoft YaHei"/>
                </a:rPr>
                <a:t>线</a:t>
              </a:r>
            </a:p>
          </p:txBody>
        </p:sp>
        <p:sp>
          <p:nvSpPr>
            <p:cNvPr id="120" name="e-ur-3"/>
            <p:cNvSpPr txBox="1"/>
            <p:nvPr/>
          </p:nvSpPr>
          <p:spPr>
            <a:xfrm>
              <a:off x="19058096" y="6488430"/>
              <a:ext cx="460058" cy="70104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450" b="1" i="0">
                  <a:solidFill>
                    <a:srgbClr val="0F6DB4"/>
                  </a:solidFill>
                  <a:latin typeface="Microsoft YaHei"/>
                  <a:ea typeface="Microsoft YaHei"/>
                  <a:cs typeface="Microsoft YaHei"/>
                </a:rPr>
                <a:t>衍</a:t>
              </a:r>
            </a:p>
          </p:txBody>
        </p:sp>
        <p:sp>
          <p:nvSpPr>
            <p:cNvPr id="121" name="e-ur-4"/>
            <p:cNvSpPr txBox="1"/>
            <p:nvPr/>
          </p:nvSpPr>
          <p:spPr>
            <a:xfrm>
              <a:off x="19391471" y="6831330"/>
              <a:ext cx="460058" cy="70104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450" b="1" i="0">
                  <a:solidFill>
                    <a:srgbClr val="0F6DB4"/>
                  </a:solidFill>
                  <a:latin typeface="Microsoft YaHei"/>
                  <a:ea typeface="Microsoft YaHei"/>
                  <a:cs typeface="Microsoft YaHei"/>
                </a:rPr>
                <a:t>射</a:t>
              </a:r>
            </a:p>
          </p:txBody>
        </p:sp>
        <p:sp>
          <p:nvSpPr>
            <p:cNvPr id="122" name="e-ll-ring"/>
            <p:cNvSpPr/>
            <p:nvPr/>
          </p:nvSpPr>
          <p:spPr>
            <a:xfrm>
              <a:off x="9379541" y="12974445"/>
              <a:ext cx="3091268" cy="3159510"/>
            </a:xfrm>
            <a:custGeom>
              <a:avLst/>
              <a:gdLst/>
              <a:ahLst/>
              <a:cxnLst/>
              <a:rect l="l" t="t" r="r" b="b"/>
              <a:pathLst>
                <a:path w="3091268" h="3159510">
                  <a:moveTo>
                    <a:pt x="3006543" y="3082041"/>
                  </a:moveTo>
                  <a:lnTo>
                    <a:pt x="2956943" y="3119153"/>
                  </a:lnTo>
                  <a:lnTo>
                    <a:pt x="2896602" y="3144548"/>
                  </a:lnTo>
                  <a:lnTo>
                    <a:pt x="2825979" y="3158035"/>
                  </a:lnTo>
                  <a:lnTo>
                    <a:pt x="2745612" y="3159510"/>
                  </a:lnTo>
                  <a:lnTo>
                    <a:pt x="2656113" y="3148962"/>
                  </a:lnTo>
                  <a:lnTo>
                    <a:pt x="2558161" y="3126471"/>
                  </a:lnTo>
                  <a:lnTo>
                    <a:pt x="2452505" y="3092209"/>
                  </a:lnTo>
                  <a:lnTo>
                    <a:pt x="2339946" y="3046437"/>
                  </a:lnTo>
                  <a:lnTo>
                    <a:pt x="2221342" y="2989502"/>
                  </a:lnTo>
                  <a:lnTo>
                    <a:pt x="2097595" y="2921838"/>
                  </a:lnTo>
                  <a:lnTo>
                    <a:pt x="1969648" y="2843960"/>
                  </a:lnTo>
                  <a:lnTo>
                    <a:pt x="1838474" y="2756460"/>
                  </a:lnTo>
                  <a:lnTo>
                    <a:pt x="1705071" y="2660005"/>
                  </a:lnTo>
                  <a:lnTo>
                    <a:pt x="1570454" y="2555329"/>
                  </a:lnTo>
                  <a:lnTo>
                    <a:pt x="1435649" y="2443228"/>
                  </a:lnTo>
                  <a:lnTo>
                    <a:pt x="1301681" y="2324556"/>
                  </a:lnTo>
                  <a:lnTo>
                    <a:pt x="1169569" y="2200215"/>
                  </a:lnTo>
                  <a:lnTo>
                    <a:pt x="1040320" y="2071152"/>
                  </a:lnTo>
                  <a:lnTo>
                    <a:pt x="914916" y="1938349"/>
                  </a:lnTo>
                  <a:lnTo>
                    <a:pt x="794312" y="1802817"/>
                  </a:lnTo>
                  <a:lnTo>
                    <a:pt x="679427" y="1665588"/>
                  </a:lnTo>
                  <a:lnTo>
                    <a:pt x="571133" y="1527705"/>
                  </a:lnTo>
                  <a:lnTo>
                    <a:pt x="470257" y="1390218"/>
                  </a:lnTo>
                  <a:lnTo>
                    <a:pt x="377564" y="1254174"/>
                  </a:lnTo>
                  <a:lnTo>
                    <a:pt x="293761" y="1120608"/>
                  </a:lnTo>
                  <a:lnTo>
                    <a:pt x="219486" y="990536"/>
                  </a:lnTo>
                  <a:lnTo>
                    <a:pt x="155304" y="864948"/>
                  </a:lnTo>
                  <a:lnTo>
                    <a:pt x="101703" y="744801"/>
                  </a:lnTo>
                  <a:lnTo>
                    <a:pt x="59091" y="631008"/>
                  </a:lnTo>
                  <a:lnTo>
                    <a:pt x="27792" y="524435"/>
                  </a:lnTo>
                  <a:lnTo>
                    <a:pt x="8045" y="425895"/>
                  </a:lnTo>
                  <a:lnTo>
                    <a:pt x="0" y="336135"/>
                  </a:lnTo>
                  <a:lnTo>
                    <a:pt x="3719" y="255841"/>
                  </a:lnTo>
                  <a:lnTo>
                    <a:pt x="19172" y="185622"/>
                  </a:lnTo>
                  <a:lnTo>
                    <a:pt x="46243" y="126014"/>
                  </a:lnTo>
                  <a:lnTo>
                    <a:pt x="84725" y="77469"/>
                  </a:lnTo>
                  <a:lnTo>
                    <a:pt x="134325" y="40357"/>
                  </a:lnTo>
                  <a:lnTo>
                    <a:pt x="194666" y="14962"/>
                  </a:lnTo>
                  <a:lnTo>
                    <a:pt x="265289" y="1475"/>
                  </a:lnTo>
                  <a:lnTo>
                    <a:pt x="345656" y="0"/>
                  </a:lnTo>
                  <a:lnTo>
                    <a:pt x="435155" y="10548"/>
                  </a:lnTo>
                  <a:lnTo>
                    <a:pt x="533107" y="33039"/>
                  </a:lnTo>
                  <a:lnTo>
                    <a:pt x="638763" y="67301"/>
                  </a:lnTo>
                  <a:lnTo>
                    <a:pt x="751322" y="113073"/>
                  </a:lnTo>
                  <a:lnTo>
                    <a:pt x="869926" y="170008"/>
                  </a:lnTo>
                  <a:lnTo>
                    <a:pt x="993673" y="237672"/>
                  </a:lnTo>
                  <a:lnTo>
                    <a:pt x="1121620" y="315550"/>
                  </a:lnTo>
                  <a:lnTo>
                    <a:pt x="1252794" y="403050"/>
                  </a:lnTo>
                  <a:lnTo>
                    <a:pt x="1386197" y="499505"/>
                  </a:lnTo>
                  <a:lnTo>
                    <a:pt x="1520814" y="604181"/>
                  </a:lnTo>
                  <a:lnTo>
                    <a:pt x="1655619" y="716282"/>
                  </a:lnTo>
                  <a:lnTo>
                    <a:pt x="1789587" y="834954"/>
                  </a:lnTo>
                  <a:lnTo>
                    <a:pt x="1921699" y="959295"/>
                  </a:lnTo>
                  <a:lnTo>
                    <a:pt x="2050948" y="1088358"/>
                  </a:lnTo>
                  <a:lnTo>
                    <a:pt x="2176352" y="1221161"/>
                  </a:lnTo>
                  <a:lnTo>
                    <a:pt x="2296956" y="1356693"/>
                  </a:lnTo>
                  <a:lnTo>
                    <a:pt x="2411841" y="1493922"/>
                  </a:lnTo>
                  <a:lnTo>
                    <a:pt x="2520135" y="1631805"/>
                  </a:lnTo>
                  <a:lnTo>
                    <a:pt x="2621011" y="1769292"/>
                  </a:lnTo>
                  <a:lnTo>
                    <a:pt x="2713704" y="1905336"/>
                  </a:lnTo>
                  <a:lnTo>
                    <a:pt x="2797507" y="2038902"/>
                  </a:lnTo>
                  <a:lnTo>
                    <a:pt x="2871782" y="2168974"/>
                  </a:lnTo>
                  <a:lnTo>
                    <a:pt x="2935964" y="2294562"/>
                  </a:lnTo>
                  <a:lnTo>
                    <a:pt x="2989565" y="2414709"/>
                  </a:lnTo>
                  <a:lnTo>
                    <a:pt x="3032177" y="2528502"/>
                  </a:lnTo>
                  <a:lnTo>
                    <a:pt x="3063476" y="2635075"/>
                  </a:lnTo>
                  <a:lnTo>
                    <a:pt x="3083223" y="2733615"/>
                  </a:lnTo>
                  <a:lnTo>
                    <a:pt x="3091268" y="2823375"/>
                  </a:lnTo>
                  <a:lnTo>
                    <a:pt x="3087549" y="2903669"/>
                  </a:lnTo>
                  <a:lnTo>
                    <a:pt x="3072096" y="2973888"/>
                  </a:lnTo>
                  <a:lnTo>
                    <a:pt x="3045025" y="3033496"/>
                  </a:lnTo>
                  <a:close/>
                </a:path>
              </a:pathLst>
            </a:custGeom>
            <a:solidFill>
              <a:srgbClr val="FFFFFF"/>
            </a:solidFill>
            <a:ln w="20955">
              <a:solidFill>
                <a:srgbClr val="8FA6C4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e-ll-0"/>
            <p:cNvSpPr txBox="1"/>
            <p:nvPr/>
          </p:nvSpPr>
          <p:spPr>
            <a:xfrm>
              <a:off x="9972675" y="13439775"/>
              <a:ext cx="40005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1" i="0">
                  <a:solidFill>
                    <a:srgbClr val="0F6DB4"/>
                  </a:solidFill>
                  <a:latin typeface="Microsoft YaHei"/>
                  <a:ea typeface="Microsoft YaHei"/>
                  <a:cs typeface="Microsoft YaHei"/>
                </a:rPr>
                <a:t>T</a:t>
              </a:r>
            </a:p>
          </p:txBody>
        </p:sp>
        <p:sp>
          <p:nvSpPr>
            <p:cNvPr id="124" name="e-ll-1"/>
            <p:cNvSpPr txBox="1"/>
            <p:nvPr/>
          </p:nvSpPr>
          <p:spPr>
            <a:xfrm>
              <a:off x="10153650" y="13687425"/>
              <a:ext cx="40005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1" i="0">
                  <a:solidFill>
                    <a:srgbClr val="0F6DB4"/>
                  </a:solidFill>
                  <a:latin typeface="Microsoft YaHei"/>
                  <a:ea typeface="Microsoft YaHei"/>
                  <a:cs typeface="Microsoft YaHei"/>
                </a:rPr>
                <a:t>O</a:t>
              </a:r>
            </a:p>
          </p:txBody>
        </p:sp>
        <p:sp>
          <p:nvSpPr>
            <p:cNvPr id="125" name="e-ll-2"/>
            <p:cNvSpPr txBox="1"/>
            <p:nvPr/>
          </p:nvSpPr>
          <p:spPr>
            <a:xfrm>
              <a:off x="10382250" y="13887450"/>
              <a:ext cx="40005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1" i="0">
                  <a:solidFill>
                    <a:srgbClr val="0F6DB4"/>
                  </a:solidFill>
                  <a:latin typeface="Microsoft YaHei"/>
                  <a:ea typeface="Microsoft YaHei"/>
                  <a:cs typeface="Microsoft YaHei"/>
                </a:rPr>
                <a:t>F</a:t>
              </a:r>
            </a:p>
          </p:txBody>
        </p:sp>
        <p:sp>
          <p:nvSpPr>
            <p:cNvPr id="126" name="e-ll-3"/>
            <p:cNvSpPr txBox="1"/>
            <p:nvPr/>
          </p:nvSpPr>
          <p:spPr>
            <a:xfrm>
              <a:off x="10553700" y="14116050"/>
              <a:ext cx="40005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1" i="0">
                  <a:solidFill>
                    <a:srgbClr val="0F6DB4"/>
                  </a:solidFill>
                  <a:latin typeface="Microsoft YaHei"/>
                  <a:ea typeface="Microsoft YaHei"/>
                  <a:cs typeface="Microsoft YaHei"/>
                </a:rPr>
                <a:t>-</a:t>
              </a:r>
            </a:p>
          </p:txBody>
        </p:sp>
        <p:sp>
          <p:nvSpPr>
            <p:cNvPr id="127" name="e-ll-4"/>
            <p:cNvSpPr txBox="1"/>
            <p:nvPr/>
          </p:nvSpPr>
          <p:spPr>
            <a:xfrm>
              <a:off x="10772775" y="14306550"/>
              <a:ext cx="40005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1" i="0">
                  <a:solidFill>
                    <a:srgbClr val="0F6DB4"/>
                  </a:solidFill>
                  <a:latin typeface="Microsoft YaHei"/>
                  <a:ea typeface="Microsoft YaHei"/>
                  <a:cs typeface="Microsoft YaHei"/>
                </a:rPr>
                <a:t>S</a:t>
              </a:r>
            </a:p>
          </p:txBody>
        </p:sp>
        <p:sp>
          <p:nvSpPr>
            <p:cNvPr id="128" name="e-ll-5"/>
            <p:cNvSpPr txBox="1"/>
            <p:nvPr/>
          </p:nvSpPr>
          <p:spPr>
            <a:xfrm>
              <a:off x="11001375" y="14525625"/>
              <a:ext cx="40005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1" i="0">
                  <a:solidFill>
                    <a:srgbClr val="0F6DB4"/>
                  </a:solidFill>
                  <a:latin typeface="Microsoft YaHei"/>
                  <a:ea typeface="Microsoft YaHei"/>
                  <a:cs typeface="Microsoft YaHei"/>
                </a:rPr>
                <a:t>I</a:t>
              </a:r>
            </a:p>
          </p:txBody>
        </p:sp>
        <p:sp>
          <p:nvSpPr>
            <p:cNvPr id="129" name="e-ll-6"/>
            <p:cNvSpPr txBox="1"/>
            <p:nvPr/>
          </p:nvSpPr>
          <p:spPr>
            <a:xfrm>
              <a:off x="11210925" y="14763750"/>
              <a:ext cx="40005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1" i="0">
                  <a:solidFill>
                    <a:srgbClr val="0F6DB4"/>
                  </a:solidFill>
                  <a:latin typeface="Microsoft YaHei"/>
                  <a:ea typeface="Microsoft YaHei"/>
                  <a:cs typeface="Microsoft YaHei"/>
                </a:rPr>
                <a:t>M</a:t>
              </a:r>
            </a:p>
          </p:txBody>
        </p:sp>
        <p:sp>
          <p:nvSpPr>
            <p:cNvPr id="130" name="e-ll-7"/>
            <p:cNvSpPr txBox="1"/>
            <p:nvPr/>
          </p:nvSpPr>
          <p:spPr>
            <a:xfrm>
              <a:off x="11439525" y="14963775"/>
              <a:ext cx="40005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1" i="0">
                  <a:solidFill>
                    <a:srgbClr val="0F6DB4"/>
                  </a:solidFill>
                  <a:latin typeface="Microsoft YaHei"/>
                  <a:ea typeface="Microsoft YaHei"/>
                  <a:cs typeface="Microsoft YaHei"/>
                </a:rPr>
                <a:t>S</a:t>
              </a:r>
            </a:p>
          </p:txBody>
        </p:sp>
        <p:sp>
          <p:nvSpPr>
            <p:cNvPr id="131" name="e-lr-ring"/>
            <p:cNvSpPr/>
            <p:nvPr/>
          </p:nvSpPr>
          <p:spPr>
            <a:xfrm>
              <a:off x="17458628" y="12925014"/>
              <a:ext cx="3163694" cy="3086922"/>
            </a:xfrm>
            <a:custGeom>
              <a:avLst/>
              <a:gdLst/>
              <a:ahLst/>
              <a:cxnLst/>
              <a:rect l="l" t="t" r="r" b="b"/>
              <a:pathLst>
                <a:path w="3163694" h="3086922">
                  <a:moveTo>
                    <a:pt x="3086681" y="85176"/>
                  </a:moveTo>
                  <a:lnTo>
                    <a:pt x="3123705" y="134841"/>
                  </a:lnTo>
                  <a:lnTo>
                    <a:pt x="3148996" y="195226"/>
                  </a:lnTo>
                  <a:lnTo>
                    <a:pt x="3162359" y="265872"/>
                  </a:lnTo>
                  <a:lnTo>
                    <a:pt x="3163694" y="346242"/>
                  </a:lnTo>
                  <a:lnTo>
                    <a:pt x="3152990" y="435723"/>
                  </a:lnTo>
                  <a:lnTo>
                    <a:pt x="3130328" y="533635"/>
                  </a:lnTo>
                  <a:lnTo>
                    <a:pt x="3095882" y="639232"/>
                  </a:lnTo>
                  <a:lnTo>
                    <a:pt x="3049913" y="751710"/>
                  </a:lnTo>
                  <a:lnTo>
                    <a:pt x="2992771" y="870215"/>
                  </a:lnTo>
                  <a:lnTo>
                    <a:pt x="2924891" y="993843"/>
                  </a:lnTo>
                  <a:lnTo>
                    <a:pt x="2846790" y="1121654"/>
                  </a:lnTo>
                  <a:lnTo>
                    <a:pt x="2759062" y="1252676"/>
                  </a:lnTo>
                  <a:lnTo>
                    <a:pt x="2662374" y="1385910"/>
                  </a:lnTo>
                  <a:lnTo>
                    <a:pt x="2557463" y="1520344"/>
                  </a:lnTo>
                  <a:lnTo>
                    <a:pt x="2445127" y="1654953"/>
                  </a:lnTo>
                  <a:lnTo>
                    <a:pt x="2326221" y="1788714"/>
                  </a:lnTo>
                  <a:lnTo>
                    <a:pt x="2201649" y="1920608"/>
                  </a:lnTo>
                  <a:lnTo>
                    <a:pt x="2072361" y="2049632"/>
                  </a:lnTo>
                  <a:lnTo>
                    <a:pt x="1939340" y="2174804"/>
                  </a:lnTo>
                  <a:lnTo>
                    <a:pt x="1803598" y="2295171"/>
                  </a:lnTo>
                  <a:lnTo>
                    <a:pt x="1666168" y="2409817"/>
                  </a:lnTo>
                  <a:lnTo>
                    <a:pt x="1528096" y="2517869"/>
                  </a:lnTo>
                  <a:lnTo>
                    <a:pt x="1390434" y="2618506"/>
                  </a:lnTo>
                  <a:lnTo>
                    <a:pt x="1254228" y="2710961"/>
                  </a:lnTo>
                  <a:lnTo>
                    <a:pt x="1120516" y="2794530"/>
                  </a:lnTo>
                  <a:lnTo>
                    <a:pt x="990314" y="2868578"/>
                  </a:lnTo>
                  <a:lnTo>
                    <a:pt x="864615" y="2932542"/>
                  </a:lnTo>
                  <a:lnTo>
                    <a:pt x="744374" y="2985933"/>
                  </a:lnTo>
                  <a:lnTo>
                    <a:pt x="630507" y="3028346"/>
                  </a:lnTo>
                  <a:lnTo>
                    <a:pt x="523880" y="3059459"/>
                  </a:lnTo>
                  <a:lnTo>
                    <a:pt x="425305" y="3079034"/>
                  </a:lnTo>
                  <a:lnTo>
                    <a:pt x="335532" y="3086922"/>
                  </a:lnTo>
                  <a:lnTo>
                    <a:pt x="255244" y="3083063"/>
                  </a:lnTo>
                  <a:lnTo>
                    <a:pt x="185052" y="3067487"/>
                  </a:lnTo>
                  <a:lnTo>
                    <a:pt x="125491" y="3040313"/>
                  </a:lnTo>
                  <a:lnTo>
                    <a:pt x="77013" y="3001746"/>
                  </a:lnTo>
                  <a:lnTo>
                    <a:pt x="39989" y="2952081"/>
                  </a:lnTo>
                  <a:lnTo>
                    <a:pt x="14698" y="2891696"/>
                  </a:lnTo>
                  <a:lnTo>
                    <a:pt x="1335" y="2821050"/>
                  </a:lnTo>
                  <a:lnTo>
                    <a:pt x="0" y="2740680"/>
                  </a:lnTo>
                  <a:lnTo>
                    <a:pt x="10704" y="2651199"/>
                  </a:lnTo>
                  <a:lnTo>
                    <a:pt x="33366" y="2553287"/>
                  </a:lnTo>
                  <a:lnTo>
                    <a:pt x="67812" y="2447690"/>
                  </a:lnTo>
                  <a:lnTo>
                    <a:pt x="113781" y="2335212"/>
                  </a:lnTo>
                  <a:lnTo>
                    <a:pt x="170923" y="2216707"/>
                  </a:lnTo>
                  <a:lnTo>
                    <a:pt x="238803" y="2093079"/>
                  </a:lnTo>
                  <a:lnTo>
                    <a:pt x="316904" y="1965268"/>
                  </a:lnTo>
                  <a:lnTo>
                    <a:pt x="404632" y="1834246"/>
                  </a:lnTo>
                  <a:lnTo>
                    <a:pt x="501320" y="1701012"/>
                  </a:lnTo>
                  <a:lnTo>
                    <a:pt x="606231" y="1566578"/>
                  </a:lnTo>
                  <a:lnTo>
                    <a:pt x="718567" y="1431969"/>
                  </a:lnTo>
                  <a:lnTo>
                    <a:pt x="837473" y="1298208"/>
                  </a:lnTo>
                  <a:lnTo>
                    <a:pt x="962045" y="1166314"/>
                  </a:lnTo>
                  <a:lnTo>
                    <a:pt x="1091333" y="1037290"/>
                  </a:lnTo>
                  <a:lnTo>
                    <a:pt x="1224354" y="912118"/>
                  </a:lnTo>
                  <a:lnTo>
                    <a:pt x="1360096" y="791751"/>
                  </a:lnTo>
                  <a:lnTo>
                    <a:pt x="1497526" y="677105"/>
                  </a:lnTo>
                  <a:lnTo>
                    <a:pt x="1635598" y="569053"/>
                  </a:lnTo>
                  <a:lnTo>
                    <a:pt x="1773260" y="468416"/>
                  </a:lnTo>
                  <a:lnTo>
                    <a:pt x="1909466" y="375961"/>
                  </a:lnTo>
                  <a:lnTo>
                    <a:pt x="2043178" y="292392"/>
                  </a:lnTo>
                  <a:lnTo>
                    <a:pt x="2173380" y="218344"/>
                  </a:lnTo>
                  <a:lnTo>
                    <a:pt x="2299079" y="154380"/>
                  </a:lnTo>
                  <a:lnTo>
                    <a:pt x="2419320" y="100989"/>
                  </a:lnTo>
                  <a:lnTo>
                    <a:pt x="2533187" y="58576"/>
                  </a:lnTo>
                  <a:lnTo>
                    <a:pt x="2639814" y="27463"/>
                  </a:lnTo>
                  <a:lnTo>
                    <a:pt x="2738389" y="7888"/>
                  </a:lnTo>
                  <a:lnTo>
                    <a:pt x="2828162" y="0"/>
                  </a:lnTo>
                  <a:lnTo>
                    <a:pt x="2908450" y="3859"/>
                  </a:lnTo>
                  <a:lnTo>
                    <a:pt x="2978642" y="19435"/>
                  </a:lnTo>
                  <a:lnTo>
                    <a:pt x="3038203" y="46609"/>
                  </a:lnTo>
                  <a:close/>
                </a:path>
              </a:pathLst>
            </a:custGeom>
            <a:solidFill>
              <a:srgbClr val="FFFFFF"/>
            </a:solidFill>
            <a:ln w="20955">
              <a:solidFill>
                <a:srgbClr val="8FA6C4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2" name="e-lr-0"/>
            <p:cNvSpPr txBox="1"/>
            <p:nvPr/>
          </p:nvSpPr>
          <p:spPr>
            <a:xfrm>
              <a:off x="17905571" y="14946630"/>
              <a:ext cx="460058" cy="70104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450" b="1" i="0">
                  <a:solidFill>
                    <a:srgbClr val="0F6DB4"/>
                  </a:solidFill>
                  <a:latin typeface="Microsoft YaHei"/>
                  <a:ea typeface="Microsoft YaHei"/>
                  <a:cs typeface="Microsoft YaHei"/>
                </a:rPr>
                <a:t>原</a:t>
              </a:r>
            </a:p>
          </p:txBody>
        </p:sp>
        <p:sp>
          <p:nvSpPr>
            <p:cNvPr id="133" name="e-lr-1"/>
            <p:cNvSpPr txBox="1"/>
            <p:nvPr/>
          </p:nvSpPr>
          <p:spPr>
            <a:xfrm>
              <a:off x="18257996" y="14689455"/>
              <a:ext cx="460058" cy="70104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450" b="1" i="0">
                  <a:solidFill>
                    <a:srgbClr val="0F6DB4"/>
                  </a:solidFill>
                  <a:latin typeface="Microsoft YaHei"/>
                  <a:ea typeface="Microsoft YaHei"/>
                  <a:cs typeface="Microsoft YaHei"/>
                </a:rPr>
                <a:t>位</a:t>
              </a:r>
            </a:p>
          </p:txBody>
        </p:sp>
        <p:sp>
          <p:nvSpPr>
            <p:cNvPr id="134" name="e-lr-2"/>
            <p:cNvSpPr txBox="1"/>
            <p:nvPr/>
          </p:nvSpPr>
          <p:spPr>
            <a:xfrm>
              <a:off x="18591371" y="14365605"/>
              <a:ext cx="460058" cy="70104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450" b="1" i="0">
                  <a:solidFill>
                    <a:srgbClr val="0F6DB4"/>
                  </a:solidFill>
                  <a:latin typeface="Microsoft YaHei"/>
                  <a:ea typeface="Microsoft YaHei"/>
                  <a:cs typeface="Microsoft YaHei"/>
                </a:rPr>
                <a:t>拉</a:t>
              </a:r>
            </a:p>
          </p:txBody>
        </p:sp>
        <p:sp>
          <p:nvSpPr>
            <p:cNvPr id="135" name="e-lr-3"/>
            <p:cNvSpPr txBox="1"/>
            <p:nvPr/>
          </p:nvSpPr>
          <p:spPr>
            <a:xfrm>
              <a:off x="18915221" y="14022705"/>
              <a:ext cx="460058" cy="70104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450" b="1" i="0">
                  <a:solidFill>
                    <a:srgbClr val="0F6DB4"/>
                  </a:solidFill>
                  <a:latin typeface="Microsoft YaHei"/>
                  <a:ea typeface="Microsoft YaHei"/>
                  <a:cs typeface="Microsoft YaHei"/>
                </a:rPr>
                <a:t>曼</a:t>
              </a:r>
            </a:p>
          </p:txBody>
        </p:sp>
        <p:sp>
          <p:nvSpPr>
            <p:cNvPr id="136" name="e-lr-4"/>
            <p:cNvSpPr txBox="1"/>
            <p:nvPr/>
          </p:nvSpPr>
          <p:spPr>
            <a:xfrm>
              <a:off x="19267646" y="13679805"/>
              <a:ext cx="460058" cy="70104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450" b="1" i="0">
                  <a:solidFill>
                    <a:srgbClr val="0F6DB4"/>
                  </a:solidFill>
                  <a:latin typeface="Microsoft YaHei"/>
                  <a:ea typeface="Microsoft YaHei"/>
                  <a:cs typeface="Microsoft YaHei"/>
                </a:rPr>
                <a:t>光</a:t>
              </a:r>
            </a:p>
          </p:txBody>
        </p:sp>
        <p:sp>
          <p:nvSpPr>
            <p:cNvPr id="137" name="e-lr-5"/>
            <p:cNvSpPr txBox="1"/>
            <p:nvPr/>
          </p:nvSpPr>
          <p:spPr>
            <a:xfrm>
              <a:off x="19601021" y="13336905"/>
              <a:ext cx="460058" cy="70104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450" b="1" i="0">
                  <a:solidFill>
                    <a:srgbClr val="0F6DB4"/>
                  </a:solidFill>
                  <a:latin typeface="Microsoft YaHei"/>
                  <a:ea typeface="Microsoft YaHei"/>
                  <a:cs typeface="Microsoft YaHei"/>
                </a:rPr>
                <a:t>谱</a:t>
              </a:r>
            </a:p>
          </p:txBody>
        </p:sp>
        <p:cxnSp>
          <p:nvCxnSpPr>
            <p:cNvPr id="138" name="lead-ul"/>
            <p:cNvCxnSpPr/>
            <p:nvPr/>
          </p:nvCxnSpPr>
          <p:spPr>
            <a:xfrm>
              <a:off x="7715250" y="4543425"/>
              <a:ext cx="485775" cy="0"/>
            </a:xfrm>
            <a:prstGeom prst="line">
              <a:avLst/>
            </a:prstGeom>
            <a:ln w="20955">
              <a:solidFill>
                <a:srgbClr val="1F1F1F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lead-ul2"/>
            <p:cNvCxnSpPr/>
            <p:nvPr/>
          </p:nvCxnSpPr>
          <p:spPr>
            <a:xfrm>
              <a:off x="8201025" y="4543425"/>
              <a:ext cx="1323975" cy="1295400"/>
            </a:xfrm>
            <a:prstGeom prst="line">
              <a:avLst/>
            </a:prstGeom>
            <a:ln w="20955">
              <a:solidFill>
                <a:srgbClr val="1F1F1F"/>
              </a:solidFill>
              <a:tailEnd type="triangle" w="med" len="med"/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lead-ur"/>
            <p:cNvCxnSpPr/>
            <p:nvPr/>
          </p:nvCxnSpPr>
          <p:spPr>
            <a:xfrm flipH="1">
              <a:off x="21336000" y="4543425"/>
              <a:ext cx="561975" cy="0"/>
            </a:xfrm>
            <a:prstGeom prst="line">
              <a:avLst/>
            </a:prstGeom>
            <a:ln w="20955">
              <a:solidFill>
                <a:srgbClr val="1F1F1F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lead-ur2"/>
            <p:cNvCxnSpPr/>
            <p:nvPr/>
          </p:nvCxnSpPr>
          <p:spPr>
            <a:xfrm flipH="1">
              <a:off x="20050125" y="4543425"/>
              <a:ext cx="1285875" cy="1285875"/>
            </a:xfrm>
            <a:prstGeom prst="line">
              <a:avLst/>
            </a:prstGeom>
            <a:ln w="20955">
              <a:solidFill>
                <a:srgbClr val="1F1F1F"/>
              </a:solidFill>
              <a:tailEnd type="triangle" w="med" len="med"/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lead-ll"/>
            <p:cNvCxnSpPr/>
            <p:nvPr/>
          </p:nvCxnSpPr>
          <p:spPr>
            <a:xfrm flipV="1">
              <a:off x="7715250" y="16783050"/>
              <a:ext cx="533400" cy="57150"/>
            </a:xfrm>
            <a:prstGeom prst="line">
              <a:avLst/>
            </a:prstGeom>
            <a:ln w="20955">
              <a:solidFill>
                <a:srgbClr val="1F1F1F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lead-ll2"/>
            <p:cNvCxnSpPr/>
            <p:nvPr/>
          </p:nvCxnSpPr>
          <p:spPr>
            <a:xfrm flipV="1">
              <a:off x="8248650" y="15430500"/>
              <a:ext cx="1276350" cy="1352550"/>
            </a:xfrm>
            <a:prstGeom prst="line">
              <a:avLst/>
            </a:prstGeom>
            <a:ln w="20955">
              <a:solidFill>
                <a:srgbClr val="1F1F1F"/>
              </a:solidFill>
              <a:tailEnd type="triangle" w="med" len="med"/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lead-lr"/>
            <p:cNvCxnSpPr/>
            <p:nvPr/>
          </p:nvCxnSpPr>
          <p:spPr>
            <a:xfrm flipH="1" flipV="1">
              <a:off x="21383625" y="16783050"/>
              <a:ext cx="514350" cy="57150"/>
            </a:xfrm>
            <a:prstGeom prst="line">
              <a:avLst/>
            </a:prstGeom>
            <a:ln w="20955">
              <a:solidFill>
                <a:srgbClr val="1F1F1F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lead-lr2"/>
            <p:cNvCxnSpPr/>
            <p:nvPr/>
          </p:nvCxnSpPr>
          <p:spPr>
            <a:xfrm flipH="1" flipV="1">
              <a:off x="20050125" y="15430500"/>
              <a:ext cx="1333500" cy="1352550"/>
            </a:xfrm>
            <a:prstGeom prst="line">
              <a:avLst/>
            </a:prstGeom>
            <a:ln w="20955">
              <a:solidFill>
                <a:srgbClr val="1F1F1F"/>
              </a:solidFill>
              <a:tailEnd type="triangle" w="med" len="med"/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