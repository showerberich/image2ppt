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7548800" cy="47586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47548800" cy="47586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ge-bg"/>
          <p:cNvSpPr/>
          <p:nvPr/>
        </p:nvSpPr>
        <p:spPr>
          <a:xfrm>
            <a:off x="0" y="0"/>
            <a:ext cx="47548800" cy="47586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ge-frame"/>
          <p:cNvSpPr/>
          <p:nvPr/>
        </p:nvSpPr>
        <p:spPr>
          <a:xfrm>
            <a:off x="123825" y="123825"/>
            <a:ext cx="47310675" cy="47348775"/>
          </a:xfrm>
          <a:prstGeom prst="rect">
            <a:avLst/>
          </a:prstGeom>
          <a:noFill/>
          <a:ln w="285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dr-bar"/>
          <p:cNvSpPr/>
          <p:nvPr/>
        </p:nvSpPr>
        <p:spPr>
          <a:xfrm>
            <a:off x="1066800" y="1057275"/>
            <a:ext cx="45415200" cy="1943100"/>
          </a:xfrm>
          <a:prstGeom prst="roundRect">
            <a:avLst>
              <a:gd name="adj" fmla="val 12745"/>
            </a:avLst>
          </a:prstGeom>
          <a:solidFill>
            <a:srgbClr val="013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dr-text"/>
          <p:cNvSpPr txBox="1"/>
          <p:nvPr/>
        </p:nvSpPr>
        <p:spPr>
          <a:xfrm>
            <a:off x="904875" y="618172"/>
            <a:ext cx="45729525" cy="14077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93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Research framework: How greenway landscape characteristics affect visual-thermal perception in Guangzhou, China</a:t>
            </a:r>
          </a:p>
        </p:txBody>
      </p:sp>
      <p:sp>
        <p:nvSpPr>
          <p:cNvPr id="7" name="ftr-bar"/>
          <p:cNvSpPr/>
          <p:nvPr/>
        </p:nvSpPr>
        <p:spPr>
          <a:xfrm>
            <a:off x="1066800" y="43938825"/>
            <a:ext cx="45415200" cy="2438400"/>
          </a:xfrm>
          <a:prstGeom prst="roundRect">
            <a:avLst>
              <a:gd name="adj" fmla="val 10156"/>
            </a:avLst>
          </a:prstGeom>
          <a:solidFill>
            <a:srgbClr val="047390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tr-text"/>
          <p:cNvSpPr txBox="1"/>
          <p:nvPr/>
        </p:nvSpPr>
        <p:spPr>
          <a:xfrm>
            <a:off x="4429125" y="43355895"/>
            <a:ext cx="38690550" cy="13744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76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Core contribution: an integrated workflow linking image analytics, field measurement, VR validation,</a:t>
            </a:r>
          </a:p>
          <a:p>
            <a:pPr algn="ctr">
              <a:lnSpc>
                <a:spcPct val="100000"/>
              </a:lnSpc>
            </a:pPr>
            <a:r>
              <a:rPr sz="676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controlled experimentation, and perception-coupling analysis for climate-adaptive greenway design.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5" y="43967400"/>
            <a:ext cx="2600325" cy="23717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4950" y="43967400"/>
            <a:ext cx="2533650" cy="2371725"/>
          </a:xfrm>
          <a:prstGeom prst="rect">
            <a:avLst/>
          </a:prstGeom>
        </p:spPr>
      </p:pic>
      <p:sp>
        <p:nvSpPr>
          <p:cNvPr id="11" name="step-1-box"/>
          <p:cNvSpPr/>
          <p:nvPr/>
        </p:nvSpPr>
        <p:spPr>
          <a:xfrm>
            <a:off x="1028700" y="3390900"/>
            <a:ext cx="45491400" cy="11401425"/>
          </a:xfrm>
          <a:prstGeom prst="roundRect">
            <a:avLst>
              <a:gd name="adj" fmla="val 2840"/>
            </a:avLst>
          </a:prstGeom>
          <a:solidFill>
            <a:srgbClr val="ECF7FD"/>
          </a:solidFill>
          <a:ln w="42862">
            <a:solidFill>
              <a:srgbClr val="194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step-1-div"/>
          <p:cNvCxnSpPr/>
          <p:nvPr/>
        </p:nvCxnSpPr>
        <p:spPr>
          <a:xfrm>
            <a:off x="1076325" y="4705350"/>
            <a:ext cx="45396150" cy="0"/>
          </a:xfrm>
          <a:prstGeom prst="line">
            <a:avLst/>
          </a:prstGeom>
          <a:ln w="42862">
            <a:solidFill>
              <a:srgbClr val="194E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ep-1-title"/>
          <p:cNvSpPr txBox="1"/>
          <p:nvPr/>
        </p:nvSpPr>
        <p:spPr>
          <a:xfrm>
            <a:off x="11613832" y="2727960"/>
            <a:ext cx="24331612" cy="1255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180" b="1" i="0">
                <a:solidFill>
                  <a:srgbClr val="072C5F"/>
                </a:solidFill>
                <a:latin typeface="Times New Roman"/>
                <a:ea typeface="Times New Roman"/>
                <a:cs typeface="Times New Roman"/>
              </a:rPr>
              <a:t>Step 1: Greenway image database construction and type identification</a:t>
            </a:r>
          </a:p>
        </p:txBody>
      </p:sp>
      <p:sp>
        <p:nvSpPr>
          <p:cNvPr id="14" name="s1p1"/>
          <p:cNvSpPr/>
          <p:nvPr/>
        </p:nvSpPr>
        <p:spPr>
          <a:xfrm>
            <a:off x="1219200" y="5105400"/>
            <a:ext cx="14706600" cy="9410700"/>
          </a:xfrm>
          <a:prstGeom prst="roundRect">
            <a:avLst>
              <a:gd name="adj" fmla="val 2631"/>
            </a:avLst>
          </a:prstGeom>
          <a:solidFill>
            <a:srgbClr val="F8FCFD"/>
          </a:solidFill>
          <a:ln w="38100">
            <a:solidFill>
              <a:srgbClr val="194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1p1-badge"/>
          <p:cNvSpPr/>
          <p:nvPr/>
        </p:nvSpPr>
        <p:spPr>
          <a:xfrm>
            <a:off x="4395788" y="5291138"/>
            <a:ext cx="800100" cy="800100"/>
          </a:xfrm>
          <a:prstGeom prst="ellipse">
            <a:avLst/>
          </a:prstGeom>
          <a:solidFill>
            <a:srgbClr val="045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1p1-badge-n"/>
          <p:cNvSpPr txBox="1"/>
          <p:nvPr/>
        </p:nvSpPr>
        <p:spPr>
          <a:xfrm>
            <a:off x="4624388" y="4585335"/>
            <a:ext cx="343852" cy="944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7" name="s1p1-title"/>
          <p:cNvSpPr txBox="1"/>
          <p:nvPr/>
        </p:nvSpPr>
        <p:spPr>
          <a:xfrm>
            <a:off x="5543550" y="4585335"/>
            <a:ext cx="9182100" cy="10420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130" b="1" i="0">
                <a:solidFill>
                  <a:srgbClr val="072C5F"/>
                </a:solidFill>
                <a:latin typeface="Times New Roman"/>
                <a:ea typeface="Times New Roman"/>
                <a:cs typeface="Times New Roman"/>
              </a:rPr>
              <a:t>Study area and data acquisition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6286500"/>
            <a:ext cx="6667500" cy="5543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8650" y="6305550"/>
            <a:ext cx="800100" cy="1066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0" y="7553325"/>
            <a:ext cx="1123950" cy="1104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675" y="9201150"/>
            <a:ext cx="1047750" cy="8477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675" y="10629900"/>
            <a:ext cx="1123950" cy="1114425"/>
          </a:xfrm>
          <a:prstGeom prst="rect">
            <a:avLst/>
          </a:prstGeom>
        </p:spPr>
      </p:pic>
      <p:sp>
        <p:nvSpPr>
          <p:cNvPr id="23" name="s1p1-t1"/>
          <p:cNvSpPr txBox="1"/>
          <p:nvPr/>
        </p:nvSpPr>
        <p:spPr>
          <a:xfrm>
            <a:off x="9486900" y="6015038"/>
            <a:ext cx="5785485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5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Guangzhou greenway network</a:t>
            </a:r>
          </a:p>
        </p:txBody>
      </p:sp>
      <p:sp>
        <p:nvSpPr>
          <p:cNvPr id="24" name="s1p1-t2"/>
          <p:cNvSpPr txBox="1"/>
          <p:nvPr/>
        </p:nvSpPr>
        <p:spPr>
          <a:xfrm>
            <a:off x="9486900" y="7096125"/>
            <a:ext cx="445008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5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OSM official greenway</a:t>
            </a:r>
          </a:p>
          <a:p>
            <a:pPr algn="l">
              <a:lnSpc>
                <a:spcPct val="100000"/>
              </a:lnSpc>
            </a:pPr>
            <a:r>
              <a:rPr sz="35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planning data</a:t>
            </a:r>
          </a:p>
        </p:txBody>
      </p:sp>
      <p:sp>
        <p:nvSpPr>
          <p:cNvPr id="25" name="s1p1-t3"/>
          <p:cNvSpPr txBox="1"/>
          <p:nvPr/>
        </p:nvSpPr>
        <p:spPr>
          <a:xfrm>
            <a:off x="9486900" y="8701088"/>
            <a:ext cx="5149215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5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Baidu street view sampling</a:t>
            </a:r>
          </a:p>
          <a:p>
            <a:pPr algn="l">
              <a:lnSpc>
                <a:spcPct val="100000"/>
              </a:lnSpc>
            </a:pPr>
            <a:r>
              <a:rPr sz="35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every 50 m</a:t>
            </a:r>
          </a:p>
        </p:txBody>
      </p:sp>
      <p:sp>
        <p:nvSpPr>
          <p:cNvPr id="26" name="s1p1-t4"/>
          <p:cNvSpPr txBox="1"/>
          <p:nvPr/>
        </p:nvSpPr>
        <p:spPr>
          <a:xfrm>
            <a:off x="9486900" y="10110788"/>
            <a:ext cx="5681662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5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8,428 images collected;</a:t>
            </a:r>
          </a:p>
          <a:p>
            <a:pPr algn="l">
              <a:lnSpc>
                <a:spcPct val="100000"/>
              </a:lnSpc>
            </a:pPr>
            <a:r>
              <a:rPr sz="35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2,994 valid panoramic images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1625" y="12211050"/>
            <a:ext cx="12211050" cy="2257425"/>
          </a:xfrm>
          <a:prstGeom prst="rect">
            <a:avLst/>
          </a:prstGeom>
        </p:spPr>
      </p:pic>
      <p:sp>
        <p:nvSpPr>
          <p:cNvPr id="28" name="s1p1-ell"/>
          <p:cNvSpPr txBox="1"/>
          <p:nvPr/>
        </p:nvSpPr>
        <p:spPr>
          <a:xfrm>
            <a:off x="14087475" y="12301538"/>
            <a:ext cx="378142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29" name="s1p2"/>
          <p:cNvSpPr/>
          <p:nvPr/>
        </p:nvSpPr>
        <p:spPr>
          <a:xfrm>
            <a:off x="16916400" y="5105400"/>
            <a:ext cx="12954000" cy="9410700"/>
          </a:xfrm>
          <a:prstGeom prst="roundRect">
            <a:avLst>
              <a:gd name="adj" fmla="val 2631"/>
            </a:avLst>
          </a:prstGeom>
          <a:solidFill>
            <a:srgbClr val="F8FCFD"/>
          </a:solidFill>
          <a:ln w="38100">
            <a:solidFill>
              <a:srgbClr val="194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1p2-badge"/>
          <p:cNvSpPr/>
          <p:nvPr/>
        </p:nvSpPr>
        <p:spPr>
          <a:xfrm>
            <a:off x="17597438" y="5367338"/>
            <a:ext cx="809625" cy="809625"/>
          </a:xfrm>
          <a:prstGeom prst="ellipse">
            <a:avLst/>
          </a:prstGeom>
          <a:solidFill>
            <a:srgbClr val="045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1p2-badge-n"/>
          <p:cNvSpPr txBox="1"/>
          <p:nvPr/>
        </p:nvSpPr>
        <p:spPr>
          <a:xfrm>
            <a:off x="17830800" y="4661535"/>
            <a:ext cx="343852" cy="944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2" name="s1p2-title"/>
          <p:cNvSpPr txBox="1"/>
          <p:nvPr/>
        </p:nvSpPr>
        <p:spPr>
          <a:xfrm>
            <a:off x="18783300" y="4791075"/>
            <a:ext cx="11296650" cy="9553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702" b="1" i="0">
                <a:solidFill>
                  <a:srgbClr val="072C5F"/>
                </a:solidFill>
                <a:latin typeface="Times New Roman"/>
                <a:ea typeface="Times New Roman"/>
                <a:cs typeface="Times New Roman"/>
              </a:rPr>
              <a:t>Semantic segmentation of greenway scenes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45000" y="6829425"/>
            <a:ext cx="6038850" cy="22383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355300" y="6762750"/>
            <a:ext cx="5981700" cy="2781300"/>
          </a:xfrm>
          <a:prstGeom prst="rect">
            <a:avLst/>
          </a:prstGeom>
        </p:spPr>
      </p:pic>
      <p:sp>
        <p:nvSpPr>
          <p:cNvPr id="35" name="s1p2-deeplab"/>
          <p:cNvSpPr txBox="1"/>
          <p:nvPr/>
        </p:nvSpPr>
        <p:spPr>
          <a:xfrm>
            <a:off x="18011775" y="8701088"/>
            <a:ext cx="2766060" cy="7677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77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DeepLab v3+</a:t>
            </a:r>
          </a:p>
        </p:txBody>
      </p:sp>
      <p:sp>
        <p:nvSpPr>
          <p:cNvPr id="36" name="s1p2-ade-box"/>
          <p:cNvSpPr/>
          <p:nvPr/>
        </p:nvSpPr>
        <p:spPr>
          <a:xfrm>
            <a:off x="17430750" y="10220325"/>
            <a:ext cx="4000500" cy="847725"/>
          </a:xfrm>
          <a:prstGeom prst="roundRect">
            <a:avLst>
              <a:gd name="adj" fmla="val 15730"/>
            </a:avLst>
          </a:prstGeom>
          <a:solidFill>
            <a:srgbClr val="DDEFFD"/>
          </a:solidFill>
          <a:ln w="285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1p2-ade-t"/>
          <p:cNvSpPr txBox="1"/>
          <p:nvPr/>
        </p:nvSpPr>
        <p:spPr>
          <a:xfrm>
            <a:off x="17928908" y="9899332"/>
            <a:ext cx="3088958" cy="6915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ADE20K dataset</a:t>
            </a:r>
          </a:p>
        </p:txBody>
      </p:sp>
      <p:sp>
        <p:nvSpPr>
          <p:cNvPr id="38" name="s1p2-quant"/>
          <p:cNvSpPr/>
          <p:nvPr/>
        </p:nvSpPr>
        <p:spPr>
          <a:xfrm>
            <a:off x="17421225" y="11677650"/>
            <a:ext cx="11830050" cy="2171700"/>
          </a:xfrm>
          <a:prstGeom prst="roundRect">
            <a:avLst>
              <a:gd name="adj" fmla="val 6140"/>
            </a:avLst>
          </a:prstGeom>
          <a:solidFill>
            <a:srgbClr val="EEF7FE"/>
          </a:solidFill>
          <a:ln w="33337">
            <a:solidFill>
              <a:srgbClr val="194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1p2-q-head"/>
          <p:cNvSpPr txBox="1"/>
          <p:nvPr/>
        </p:nvSpPr>
        <p:spPr>
          <a:xfrm>
            <a:off x="19107150" y="11262360"/>
            <a:ext cx="7545705" cy="8715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2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Quantification of visual elements</a:t>
            </a:r>
          </a:p>
        </p:txBody>
      </p:sp>
      <p:sp>
        <p:nvSpPr>
          <p:cNvPr id="40" name="s1p2-sw-Sky"/>
          <p:cNvSpPr/>
          <p:nvPr/>
        </p:nvSpPr>
        <p:spPr>
          <a:xfrm>
            <a:off x="17849850" y="12877800"/>
            <a:ext cx="438150" cy="457200"/>
          </a:xfrm>
          <a:prstGeom prst="rect">
            <a:avLst/>
          </a:prstGeom>
          <a:solidFill>
            <a:srgbClr val="2A8BCF"/>
          </a:solidFill>
          <a:ln w="14287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1p2-lg-Sky"/>
          <p:cNvSpPr txBox="1"/>
          <p:nvPr/>
        </p:nvSpPr>
        <p:spPr>
          <a:xfrm>
            <a:off x="18535650" y="12341542"/>
            <a:ext cx="777240" cy="7343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Sky</a:t>
            </a:r>
          </a:p>
        </p:txBody>
      </p:sp>
      <p:sp>
        <p:nvSpPr>
          <p:cNvPr id="42" name="s1p2-sw-Trees"/>
          <p:cNvSpPr/>
          <p:nvPr/>
        </p:nvSpPr>
        <p:spPr>
          <a:xfrm>
            <a:off x="19507200" y="12877800"/>
            <a:ext cx="438150" cy="457200"/>
          </a:xfrm>
          <a:prstGeom prst="rect">
            <a:avLst/>
          </a:prstGeom>
          <a:solidFill>
            <a:srgbClr val="24965A"/>
          </a:solidFill>
          <a:ln w="14287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1p2-lg-Trees"/>
          <p:cNvSpPr txBox="1"/>
          <p:nvPr/>
        </p:nvSpPr>
        <p:spPr>
          <a:xfrm>
            <a:off x="20202525" y="12374880"/>
            <a:ext cx="997268" cy="676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Trees</a:t>
            </a:r>
          </a:p>
        </p:txBody>
      </p:sp>
      <p:sp>
        <p:nvSpPr>
          <p:cNvPr id="44" name="s1p2-sw-Road"/>
          <p:cNvSpPr/>
          <p:nvPr/>
        </p:nvSpPr>
        <p:spPr>
          <a:xfrm>
            <a:off x="21450300" y="12877800"/>
            <a:ext cx="438150" cy="457200"/>
          </a:xfrm>
          <a:prstGeom prst="rect">
            <a:avLst/>
          </a:prstGeom>
          <a:solidFill>
            <a:srgbClr val="989898"/>
          </a:solidFill>
          <a:ln w="14287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1p2-lg-Road"/>
          <p:cNvSpPr txBox="1"/>
          <p:nvPr/>
        </p:nvSpPr>
        <p:spPr>
          <a:xfrm>
            <a:off x="22136100" y="12341542"/>
            <a:ext cx="1041082" cy="7343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Road</a:t>
            </a:r>
          </a:p>
        </p:txBody>
      </p:sp>
      <p:sp>
        <p:nvSpPr>
          <p:cNvPr id="46" name="s1p2-sw-Buildings"/>
          <p:cNvSpPr/>
          <p:nvPr/>
        </p:nvSpPr>
        <p:spPr>
          <a:xfrm>
            <a:off x="23241000" y="12877800"/>
            <a:ext cx="438150" cy="457200"/>
          </a:xfrm>
          <a:prstGeom prst="rect">
            <a:avLst/>
          </a:prstGeom>
          <a:solidFill>
            <a:srgbClr val="D95A37"/>
          </a:solidFill>
          <a:ln w="14287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1p2-lg-Buildings"/>
          <p:cNvSpPr txBox="1"/>
          <p:nvPr/>
        </p:nvSpPr>
        <p:spPr>
          <a:xfrm>
            <a:off x="23774400" y="12383452"/>
            <a:ext cx="1763078" cy="6838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Buildings</a:t>
            </a:r>
          </a:p>
        </p:txBody>
      </p:sp>
      <p:sp>
        <p:nvSpPr>
          <p:cNvPr id="48" name="s1p2-sw-Water"/>
          <p:cNvSpPr/>
          <p:nvPr/>
        </p:nvSpPr>
        <p:spPr>
          <a:xfrm>
            <a:off x="25555575" y="12877800"/>
            <a:ext cx="438150" cy="457200"/>
          </a:xfrm>
          <a:prstGeom prst="rect">
            <a:avLst/>
          </a:prstGeom>
          <a:solidFill>
            <a:srgbClr val="075DD4"/>
          </a:solidFill>
          <a:ln w="14287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1p2-lg-Water"/>
          <p:cNvSpPr txBox="1"/>
          <p:nvPr/>
        </p:nvSpPr>
        <p:spPr>
          <a:xfrm>
            <a:off x="26146125" y="12363450"/>
            <a:ext cx="1092518" cy="6886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Water</a:t>
            </a:r>
          </a:p>
        </p:txBody>
      </p:sp>
      <p:sp>
        <p:nvSpPr>
          <p:cNvPr id="50" name="s1p2-sw-Other"/>
          <p:cNvSpPr/>
          <p:nvPr/>
        </p:nvSpPr>
        <p:spPr>
          <a:xfrm>
            <a:off x="27298650" y="12877800"/>
            <a:ext cx="438150" cy="457200"/>
          </a:xfrm>
          <a:prstGeom prst="rect">
            <a:avLst/>
          </a:prstGeom>
          <a:solidFill>
            <a:srgbClr val="EBB539"/>
          </a:solidFill>
          <a:ln w="14287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1p2-lg-Other"/>
          <p:cNvSpPr txBox="1"/>
          <p:nvPr/>
        </p:nvSpPr>
        <p:spPr>
          <a:xfrm>
            <a:off x="27841575" y="12364402"/>
            <a:ext cx="1082992" cy="70675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7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Other</a:t>
            </a:r>
          </a:p>
        </p:txBody>
      </p:sp>
      <p:sp>
        <p:nvSpPr>
          <p:cNvPr id="52" name="s1p3"/>
          <p:cNvSpPr/>
          <p:nvPr/>
        </p:nvSpPr>
        <p:spPr>
          <a:xfrm>
            <a:off x="30975300" y="5105400"/>
            <a:ext cx="15087600" cy="9410700"/>
          </a:xfrm>
          <a:prstGeom prst="roundRect">
            <a:avLst>
              <a:gd name="adj" fmla="val 2631"/>
            </a:avLst>
          </a:prstGeom>
          <a:solidFill>
            <a:srgbClr val="F8FCFD"/>
          </a:solidFill>
          <a:ln w="38100">
            <a:solidFill>
              <a:srgbClr val="194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1p3-badge"/>
          <p:cNvSpPr/>
          <p:nvPr/>
        </p:nvSpPr>
        <p:spPr>
          <a:xfrm>
            <a:off x="31756350" y="5381625"/>
            <a:ext cx="809625" cy="809625"/>
          </a:xfrm>
          <a:prstGeom prst="ellipse">
            <a:avLst/>
          </a:prstGeom>
          <a:solidFill>
            <a:srgbClr val="045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1p3-badge-n"/>
          <p:cNvSpPr txBox="1"/>
          <p:nvPr/>
        </p:nvSpPr>
        <p:spPr>
          <a:xfrm>
            <a:off x="31989712" y="4680585"/>
            <a:ext cx="343852" cy="944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55" name="s1p3-title"/>
          <p:cNvSpPr txBox="1"/>
          <p:nvPr/>
        </p:nvSpPr>
        <p:spPr>
          <a:xfrm>
            <a:off x="32880300" y="4784408"/>
            <a:ext cx="11458575" cy="9553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702" b="1" i="0">
                <a:solidFill>
                  <a:srgbClr val="072C5F"/>
                </a:solidFill>
                <a:latin typeface="Times New Roman"/>
                <a:ea typeface="Times New Roman"/>
                <a:cs typeface="Times New Roman"/>
              </a:rPr>
              <a:t>Greenway typology and prototype selection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432500" y="6286500"/>
            <a:ext cx="4667250" cy="4810125"/>
          </a:xfrm>
          <a:prstGeom prst="rect">
            <a:avLst/>
          </a:prstGeom>
        </p:spPr>
      </p:pic>
      <p:sp>
        <p:nvSpPr>
          <p:cNvPr id="57" name="s1p3-urban"/>
          <p:cNvSpPr/>
          <p:nvPr/>
        </p:nvSpPr>
        <p:spPr>
          <a:xfrm>
            <a:off x="36328350" y="6438900"/>
            <a:ext cx="6172200" cy="771525"/>
          </a:xfrm>
          <a:prstGeom prst="roundRect">
            <a:avLst>
              <a:gd name="adj" fmla="val 14814"/>
            </a:avLst>
          </a:prstGeom>
          <a:solidFill>
            <a:srgbClr val="D1E8FA"/>
          </a:solidFill>
          <a:ln w="285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1p3-urban-t"/>
          <p:cNvSpPr txBox="1"/>
          <p:nvPr/>
        </p:nvSpPr>
        <p:spPr>
          <a:xfrm>
            <a:off x="37420868" y="5831205"/>
            <a:ext cx="3986212" cy="8667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2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Urban greenways</a:t>
            </a:r>
          </a:p>
        </p:txBody>
      </p:sp>
      <p:sp>
        <p:nvSpPr>
          <p:cNvPr id="59" name="s1p3-cl"/>
          <p:cNvSpPr/>
          <p:nvPr/>
        </p:nvSpPr>
        <p:spPr>
          <a:xfrm>
            <a:off x="36347400" y="7391400"/>
            <a:ext cx="4076700" cy="704850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2381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1p3-cl-t"/>
          <p:cNvSpPr txBox="1"/>
          <p:nvPr/>
        </p:nvSpPr>
        <p:spPr>
          <a:xfrm>
            <a:off x="36888420" y="7022782"/>
            <a:ext cx="2995612" cy="59245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9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Community leisure</a:t>
            </a:r>
          </a:p>
        </p:txBody>
      </p:sp>
      <p:sp>
        <p:nvSpPr>
          <p:cNvPr id="61" name="s1p3-rs"/>
          <p:cNvSpPr/>
          <p:nvPr/>
        </p:nvSpPr>
        <p:spPr>
          <a:xfrm>
            <a:off x="40690800" y="7391400"/>
            <a:ext cx="2981325" cy="704850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2381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1p3-rs-t"/>
          <p:cNvSpPr txBox="1"/>
          <p:nvPr/>
        </p:nvSpPr>
        <p:spPr>
          <a:xfrm>
            <a:off x="41176575" y="6827520"/>
            <a:ext cx="2009775" cy="81819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2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Roadside</a:t>
            </a:r>
          </a:p>
        </p:txBody>
      </p:sp>
      <p:sp>
        <p:nvSpPr>
          <p:cNvPr id="63" name="s1p3-cn"/>
          <p:cNvSpPr/>
          <p:nvPr/>
        </p:nvSpPr>
        <p:spPr>
          <a:xfrm>
            <a:off x="36347400" y="8486775"/>
            <a:ext cx="7324725" cy="781050"/>
          </a:xfrm>
          <a:prstGeom prst="roundRect">
            <a:avLst>
              <a:gd name="adj" fmla="val 14634"/>
            </a:avLst>
          </a:prstGeom>
          <a:solidFill>
            <a:srgbClr val="E5F2E1"/>
          </a:solidFill>
          <a:ln w="28575">
            <a:solidFill>
              <a:srgbClr val="4EA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1p3-cn-t"/>
          <p:cNvSpPr txBox="1"/>
          <p:nvPr/>
        </p:nvSpPr>
        <p:spPr>
          <a:xfrm>
            <a:off x="37623750" y="7961948"/>
            <a:ext cx="4772978" cy="775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8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Countryside greenways</a:t>
            </a:r>
          </a:p>
        </p:txBody>
      </p:sp>
      <p:sp>
        <p:nvSpPr>
          <p:cNvPr id="65" name="s1p3-op"/>
          <p:cNvSpPr/>
          <p:nvPr/>
        </p:nvSpPr>
        <p:spPr>
          <a:xfrm>
            <a:off x="36347400" y="9401175"/>
            <a:ext cx="151447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3812">
            <a:solidFill>
              <a:srgbClr val="4EA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1p3-op-t"/>
          <p:cNvSpPr txBox="1"/>
          <p:nvPr/>
        </p:nvSpPr>
        <p:spPr>
          <a:xfrm>
            <a:off x="36543615" y="8862060"/>
            <a:ext cx="1122045" cy="7724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Open</a:t>
            </a:r>
          </a:p>
        </p:txBody>
      </p:sp>
      <p:sp>
        <p:nvSpPr>
          <p:cNvPr id="67" name="s1p3-wf"/>
          <p:cNvSpPr/>
          <p:nvPr/>
        </p:nvSpPr>
        <p:spPr>
          <a:xfrm>
            <a:off x="37995225" y="9401175"/>
            <a:ext cx="328612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3812">
            <a:solidFill>
              <a:srgbClr val="4EA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1p3-wf-t"/>
          <p:cNvSpPr txBox="1"/>
          <p:nvPr/>
        </p:nvSpPr>
        <p:spPr>
          <a:xfrm>
            <a:off x="38389560" y="9070658"/>
            <a:ext cx="2497455" cy="55435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Waterfront forest</a:t>
            </a:r>
          </a:p>
        </p:txBody>
      </p:sp>
      <p:sp>
        <p:nvSpPr>
          <p:cNvPr id="69" name="s1p3-me"/>
          <p:cNvSpPr/>
          <p:nvPr/>
        </p:nvSpPr>
        <p:spPr>
          <a:xfrm>
            <a:off x="41500425" y="9401175"/>
            <a:ext cx="433387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3812">
            <a:solidFill>
              <a:srgbClr val="4EA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1p3-me-t"/>
          <p:cNvSpPr txBox="1"/>
          <p:nvPr/>
        </p:nvSpPr>
        <p:spPr>
          <a:xfrm>
            <a:off x="41977628" y="9032558"/>
            <a:ext cx="3380422" cy="59245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9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Mountain exploration</a:t>
            </a:r>
          </a:p>
        </p:txBody>
      </p:sp>
      <p:sp>
        <p:nvSpPr>
          <p:cNvPr id="71" name="s1p3-sel"/>
          <p:cNvSpPr/>
          <p:nvPr/>
        </p:nvSpPr>
        <p:spPr>
          <a:xfrm>
            <a:off x="31575375" y="11325225"/>
            <a:ext cx="13430250" cy="2676525"/>
          </a:xfrm>
          <a:prstGeom prst="roundRect">
            <a:avLst>
              <a:gd name="adj" fmla="val 7117"/>
            </a:avLst>
          </a:prstGeom>
          <a:solidFill>
            <a:srgbClr val="EFF6FC"/>
          </a:solidFill>
          <a:ln w="33337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975550" y="12144375"/>
            <a:ext cx="2286000" cy="1714500"/>
          </a:xfrm>
          <a:prstGeom prst="rect">
            <a:avLst/>
          </a:prstGeom>
        </p:spPr>
      </p:pic>
      <p:sp>
        <p:nvSpPr>
          <p:cNvPr id="73" name="s1p3-sel-t"/>
          <p:cNvSpPr txBox="1"/>
          <p:nvPr/>
        </p:nvSpPr>
        <p:spPr>
          <a:xfrm>
            <a:off x="35231070" y="11739562"/>
            <a:ext cx="7165658" cy="8791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327" b="1" i="0">
                <a:solidFill>
                  <a:srgbClr val="072C5F"/>
                </a:solidFill>
                <a:latin typeface="Times New Roman"/>
                <a:ea typeface="Times New Roman"/>
                <a:cs typeface="Times New Roman"/>
              </a:rPr>
              <a:t>Community leisure greenway</a:t>
            </a:r>
          </a:p>
          <a:p>
            <a:pPr algn="ctr">
              <a:lnSpc>
                <a:spcPct val="100000"/>
              </a:lnSpc>
            </a:pPr>
            <a:r>
              <a:rPr sz="4327" b="1" i="0">
                <a:solidFill>
                  <a:srgbClr val="072C5F"/>
                </a:solidFill>
                <a:latin typeface="Times New Roman"/>
                <a:ea typeface="Times New Roman"/>
                <a:cs typeface="Times New Roman"/>
              </a:rPr>
              <a:t>selected as the VR prototype</a:t>
            </a:r>
          </a:p>
        </p:txBody>
      </p:sp>
      <p:sp>
        <p:nvSpPr>
          <p:cNvPr id="74" name="step-2-box"/>
          <p:cNvSpPr/>
          <p:nvPr/>
        </p:nvSpPr>
        <p:spPr>
          <a:xfrm>
            <a:off x="1028700" y="15325725"/>
            <a:ext cx="45491400" cy="8524875"/>
          </a:xfrm>
          <a:prstGeom prst="roundRect">
            <a:avLst>
              <a:gd name="adj" fmla="val 3798"/>
            </a:avLst>
          </a:prstGeom>
          <a:solidFill>
            <a:srgbClr val="FDF1D9"/>
          </a:solidFill>
          <a:ln w="42862">
            <a:solidFill>
              <a:srgbClr val="C87E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step-2-div"/>
          <p:cNvCxnSpPr/>
          <p:nvPr/>
        </p:nvCxnSpPr>
        <p:spPr>
          <a:xfrm>
            <a:off x="1076325" y="16668750"/>
            <a:ext cx="45396150" cy="0"/>
          </a:xfrm>
          <a:prstGeom prst="line">
            <a:avLst/>
          </a:prstGeom>
          <a:ln w="42862">
            <a:solidFill>
              <a:srgbClr val="C87E0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step-2-title"/>
          <p:cNvSpPr txBox="1"/>
          <p:nvPr/>
        </p:nvSpPr>
        <p:spPr>
          <a:xfrm>
            <a:off x="12098655" y="14662785"/>
            <a:ext cx="23361015" cy="1255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180" b="1" i="0">
                <a:solidFill>
                  <a:srgbClr val="6D3C0D"/>
                </a:solidFill>
                <a:latin typeface="Times New Roman"/>
                <a:ea typeface="Times New Roman"/>
                <a:cs typeface="Times New Roman"/>
              </a:rPr>
              <a:t>Step 2: Construction of visual-thermal landscape feature indicators</a:t>
            </a:r>
          </a:p>
        </p:txBody>
      </p:sp>
      <p:sp>
        <p:nvSpPr>
          <p:cNvPr id="77" name="s2p1"/>
          <p:cNvSpPr/>
          <p:nvPr/>
        </p:nvSpPr>
        <p:spPr>
          <a:xfrm>
            <a:off x="1409700" y="16992600"/>
            <a:ext cx="12115800" cy="6591300"/>
          </a:xfrm>
          <a:prstGeom prst="roundRect">
            <a:avLst>
              <a:gd name="adj" fmla="val 3757"/>
            </a:avLst>
          </a:prstGeom>
          <a:solidFill>
            <a:srgbClr val="FDFAF1"/>
          </a:solidFill>
          <a:ln w="38100">
            <a:solidFill>
              <a:srgbClr val="C87E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2p2"/>
          <p:cNvSpPr/>
          <p:nvPr/>
        </p:nvSpPr>
        <p:spPr>
          <a:xfrm>
            <a:off x="14439900" y="16992600"/>
            <a:ext cx="13830300" cy="6591300"/>
          </a:xfrm>
          <a:prstGeom prst="roundRect">
            <a:avLst>
              <a:gd name="adj" fmla="val 3757"/>
            </a:avLst>
          </a:prstGeom>
          <a:solidFill>
            <a:srgbClr val="FDFAF1"/>
          </a:solidFill>
          <a:ln w="38100">
            <a:solidFill>
              <a:srgbClr val="C87E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2p3"/>
          <p:cNvSpPr/>
          <p:nvPr/>
        </p:nvSpPr>
        <p:spPr>
          <a:xfrm>
            <a:off x="29260800" y="16992600"/>
            <a:ext cx="16802100" cy="6591300"/>
          </a:xfrm>
          <a:prstGeom prst="roundRect">
            <a:avLst>
              <a:gd name="adj" fmla="val 3757"/>
            </a:avLst>
          </a:prstGeom>
          <a:solidFill>
            <a:srgbClr val="FDFAF1"/>
          </a:solidFill>
          <a:ln w="38100">
            <a:solidFill>
              <a:srgbClr val="C87E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2p1-badge"/>
          <p:cNvSpPr/>
          <p:nvPr/>
        </p:nvSpPr>
        <p:spPr>
          <a:xfrm>
            <a:off x="2919412" y="17235488"/>
            <a:ext cx="819150" cy="819150"/>
          </a:xfrm>
          <a:prstGeom prst="ellipse">
            <a:avLst/>
          </a:prstGeom>
          <a:solidFill>
            <a:srgbClr val="C87E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s2p1-badge-n"/>
          <p:cNvSpPr txBox="1"/>
          <p:nvPr/>
        </p:nvSpPr>
        <p:spPr>
          <a:xfrm>
            <a:off x="3157538" y="16528732"/>
            <a:ext cx="343852" cy="944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2" name="s2p1-title"/>
          <p:cNvSpPr txBox="1"/>
          <p:nvPr/>
        </p:nvSpPr>
        <p:spPr>
          <a:xfrm>
            <a:off x="4152900" y="16653510"/>
            <a:ext cx="7316152" cy="9505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680" b="1" i="0">
                <a:solidFill>
                  <a:srgbClr val="6D3C0D"/>
                </a:solidFill>
                <a:latin typeface="Times New Roman"/>
                <a:ea typeface="Times New Roman"/>
                <a:cs typeface="Times New Roman"/>
              </a:rPr>
              <a:t>Candidate factor extraction</a:t>
            </a:r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66900" y="18592800"/>
            <a:ext cx="2343150" cy="2000250"/>
          </a:xfrm>
          <a:prstGeom prst="rect">
            <a:avLst/>
          </a:prstGeom>
        </p:spPr>
      </p:pic>
      <p:sp>
        <p:nvSpPr>
          <p:cNvPr id="84" name="s2p1-l1"/>
          <p:cNvSpPr txBox="1"/>
          <p:nvPr/>
        </p:nvSpPr>
        <p:spPr>
          <a:xfrm>
            <a:off x="1976438" y="20343495"/>
            <a:ext cx="2342198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 candidate</a:t>
            </a:r>
          </a:p>
        </p:txBody>
      </p:sp>
      <p:sp>
        <p:nvSpPr>
          <p:cNvPr id="85" name="s2p1-l2"/>
          <p:cNvSpPr txBox="1"/>
          <p:nvPr/>
        </p:nvSpPr>
        <p:spPr>
          <a:xfrm>
            <a:off x="2202180" y="21057870"/>
            <a:ext cx="1824990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landscape</a:t>
            </a:r>
          </a:p>
        </p:txBody>
      </p:sp>
      <p:sp>
        <p:nvSpPr>
          <p:cNvPr id="86" name="s2p1-l3"/>
          <p:cNvSpPr txBox="1"/>
          <p:nvPr/>
        </p:nvSpPr>
        <p:spPr>
          <a:xfrm>
            <a:off x="2483168" y="21777008"/>
            <a:ext cx="1272540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factors</a:t>
            </a:r>
          </a:p>
        </p:txBody>
      </p:sp>
      <p:sp>
        <p:nvSpPr>
          <p:cNvPr id="87" name="s2p1-dash"/>
          <p:cNvSpPr/>
          <p:nvPr/>
        </p:nvSpPr>
        <p:spPr>
          <a:xfrm>
            <a:off x="5857875" y="18259425"/>
            <a:ext cx="6858000" cy="4867275"/>
          </a:xfrm>
          <a:prstGeom prst="roundRect">
            <a:avLst>
              <a:gd name="adj" fmla="val 4305"/>
            </a:avLst>
          </a:prstGeom>
          <a:noFill/>
          <a:ln w="28575">
            <a:solidFill>
              <a:srgbClr val="C87E0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18592800"/>
            <a:ext cx="1428750" cy="1238250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19945350"/>
            <a:ext cx="1276350" cy="1028700"/>
          </a:xfrm>
          <a:prstGeom prst="rect">
            <a:avLst/>
          </a:prstGeom>
        </p:spPr>
      </p:pic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29350" y="21078825"/>
            <a:ext cx="1619250" cy="1581150"/>
          </a:xfrm>
          <a:prstGeom prst="rect">
            <a:avLst/>
          </a:prstGeom>
        </p:spPr>
      </p:pic>
      <p:sp>
        <p:nvSpPr>
          <p:cNvPr id="91" name="s2p1-r1"/>
          <p:cNvSpPr txBox="1"/>
          <p:nvPr/>
        </p:nvSpPr>
        <p:spPr>
          <a:xfrm>
            <a:off x="8362950" y="18147982"/>
            <a:ext cx="2492692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Derived from</a:t>
            </a:r>
          </a:p>
        </p:txBody>
      </p:sp>
      <p:sp>
        <p:nvSpPr>
          <p:cNvPr id="92" name="s2p1-r2"/>
          <p:cNvSpPr txBox="1"/>
          <p:nvPr/>
        </p:nvSpPr>
        <p:spPr>
          <a:xfrm>
            <a:off x="8372475" y="18667095"/>
            <a:ext cx="2946082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semantic results</a:t>
            </a:r>
          </a:p>
        </p:txBody>
      </p:sp>
      <p:sp>
        <p:nvSpPr>
          <p:cNvPr id="93" name="s2p1-r3"/>
          <p:cNvSpPr txBox="1"/>
          <p:nvPr/>
        </p:nvSpPr>
        <p:spPr>
          <a:xfrm>
            <a:off x="8362950" y="19586258"/>
            <a:ext cx="2492692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Derived from</a:t>
            </a:r>
          </a:p>
        </p:txBody>
      </p:sp>
      <p:sp>
        <p:nvSpPr>
          <p:cNvPr id="94" name="s2p1-r4"/>
          <p:cNvSpPr txBox="1"/>
          <p:nvPr/>
        </p:nvSpPr>
        <p:spPr>
          <a:xfrm>
            <a:off x="8372475" y="20105370"/>
            <a:ext cx="1674495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literature</a:t>
            </a:r>
          </a:p>
        </p:txBody>
      </p:sp>
      <p:sp>
        <p:nvSpPr>
          <p:cNvPr id="95" name="s2p1-r5"/>
          <p:cNvSpPr txBox="1"/>
          <p:nvPr/>
        </p:nvSpPr>
        <p:spPr>
          <a:xfrm>
            <a:off x="8362950" y="20967382"/>
            <a:ext cx="3638550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Derived from linear</a:t>
            </a:r>
          </a:p>
        </p:txBody>
      </p:sp>
      <p:sp>
        <p:nvSpPr>
          <p:cNvPr id="96" name="s2p1-r6"/>
          <p:cNvSpPr txBox="1"/>
          <p:nvPr/>
        </p:nvSpPr>
        <p:spPr>
          <a:xfrm>
            <a:off x="8362950" y="21486495"/>
            <a:ext cx="4506278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greenway characteristics</a:t>
            </a:r>
          </a:p>
        </p:txBody>
      </p:sp>
      <p:sp>
        <p:nvSpPr>
          <p:cNvPr id="97" name="s2p2-badge"/>
          <p:cNvSpPr/>
          <p:nvPr/>
        </p:nvSpPr>
        <p:spPr>
          <a:xfrm>
            <a:off x="14873288" y="17273588"/>
            <a:ext cx="819150" cy="819150"/>
          </a:xfrm>
          <a:prstGeom prst="ellipse">
            <a:avLst/>
          </a:prstGeom>
          <a:solidFill>
            <a:srgbClr val="C87E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2p2-badge-n"/>
          <p:cNvSpPr txBox="1"/>
          <p:nvPr/>
        </p:nvSpPr>
        <p:spPr>
          <a:xfrm>
            <a:off x="15111412" y="16566832"/>
            <a:ext cx="343852" cy="944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9" name="s2p2-title"/>
          <p:cNvSpPr txBox="1"/>
          <p:nvPr/>
        </p:nvSpPr>
        <p:spPr>
          <a:xfrm>
            <a:off x="16049625" y="16703040"/>
            <a:ext cx="12509182" cy="9096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77" b="1" i="0">
                <a:solidFill>
                  <a:srgbClr val="6D3C0D"/>
                </a:solidFill>
                <a:latin typeface="Times New Roman"/>
                <a:ea typeface="Times New Roman"/>
                <a:cs typeface="Times New Roman"/>
              </a:rPr>
              <a:t>Questionnaire screening and dimension reduction</a:t>
            </a:r>
          </a:p>
        </p:txBody>
      </p:sp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106650" y="18935700"/>
            <a:ext cx="1990725" cy="2371725"/>
          </a:xfrm>
          <a:prstGeom prst="rect">
            <a:avLst/>
          </a:prstGeom>
        </p:spPr>
      </p:pic>
      <p:sp>
        <p:nvSpPr>
          <p:cNvPr id="101" name="s2p2-ar1"/>
          <p:cNvSpPr/>
          <p:nvPr/>
        </p:nvSpPr>
        <p:spPr>
          <a:xfrm>
            <a:off x="18268950" y="19783425"/>
            <a:ext cx="952500" cy="904875"/>
          </a:xfrm>
          <a:prstGeom prst="rightArrow">
            <a:avLst/>
          </a:prstGeom>
          <a:solidFill>
            <a:srgbClr val="C87E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831050" y="18945225"/>
            <a:ext cx="1885950" cy="2238375"/>
          </a:xfrm>
          <a:prstGeom prst="rect">
            <a:avLst/>
          </a:prstGeom>
        </p:spPr>
      </p:pic>
      <p:sp>
        <p:nvSpPr>
          <p:cNvPr id="103" name="s2p2-ar2"/>
          <p:cNvSpPr/>
          <p:nvPr/>
        </p:nvSpPr>
        <p:spPr>
          <a:xfrm>
            <a:off x="22498050" y="19764375"/>
            <a:ext cx="1104900" cy="904875"/>
          </a:xfrm>
          <a:prstGeom prst="rightArrow">
            <a:avLst/>
          </a:prstGeom>
          <a:solidFill>
            <a:srgbClr val="C87E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193500" y="18707100"/>
            <a:ext cx="3219450" cy="2705100"/>
          </a:xfrm>
          <a:prstGeom prst="rect">
            <a:avLst/>
          </a:prstGeom>
        </p:spPr>
      </p:pic>
      <p:sp>
        <p:nvSpPr>
          <p:cNvPr id="105" name="s2p2-c1a"/>
          <p:cNvSpPr txBox="1"/>
          <p:nvPr/>
        </p:nvSpPr>
        <p:spPr>
          <a:xfrm>
            <a:off x="15499080" y="21010245"/>
            <a:ext cx="1738312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306 valid</a:t>
            </a:r>
          </a:p>
        </p:txBody>
      </p:sp>
      <p:sp>
        <p:nvSpPr>
          <p:cNvPr id="106" name="s2p2-c1b"/>
          <p:cNvSpPr txBox="1"/>
          <p:nvPr/>
        </p:nvSpPr>
        <p:spPr>
          <a:xfrm>
            <a:off x="15025688" y="21672232"/>
            <a:ext cx="2658428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questionnaires</a:t>
            </a:r>
          </a:p>
        </p:txBody>
      </p:sp>
      <p:sp>
        <p:nvSpPr>
          <p:cNvPr id="107" name="s2p2-c2a"/>
          <p:cNvSpPr txBox="1"/>
          <p:nvPr/>
        </p:nvSpPr>
        <p:spPr>
          <a:xfrm>
            <a:off x="19883438" y="21010245"/>
            <a:ext cx="1952625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Reliability</a:t>
            </a:r>
          </a:p>
        </p:txBody>
      </p:sp>
      <p:sp>
        <p:nvSpPr>
          <p:cNvPr id="108" name="s2p2-c2b"/>
          <p:cNvSpPr txBox="1"/>
          <p:nvPr/>
        </p:nvSpPr>
        <p:spPr>
          <a:xfrm>
            <a:off x="20105370" y="21686520"/>
            <a:ext cx="1499235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analysis</a:t>
            </a:r>
          </a:p>
        </p:txBody>
      </p:sp>
      <p:sp>
        <p:nvSpPr>
          <p:cNvPr id="109" name="s2p2-c3a"/>
          <p:cNvSpPr txBox="1"/>
          <p:nvPr/>
        </p:nvSpPr>
        <p:spPr>
          <a:xfrm>
            <a:off x="23739158" y="21019770"/>
            <a:ext cx="3804285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Principal component</a:t>
            </a:r>
          </a:p>
        </p:txBody>
      </p:sp>
      <p:sp>
        <p:nvSpPr>
          <p:cNvPr id="110" name="s2p2-c3b"/>
          <p:cNvSpPr txBox="1"/>
          <p:nvPr/>
        </p:nvSpPr>
        <p:spPr>
          <a:xfrm>
            <a:off x="24295418" y="21686520"/>
            <a:ext cx="2682240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analysis(PCA)</a:t>
            </a:r>
          </a:p>
        </p:txBody>
      </p:sp>
      <p:sp>
        <p:nvSpPr>
          <p:cNvPr id="111" name="s2p3-badge"/>
          <p:cNvSpPr/>
          <p:nvPr/>
        </p:nvSpPr>
        <p:spPr>
          <a:xfrm>
            <a:off x="31732538" y="17235488"/>
            <a:ext cx="819150" cy="819150"/>
          </a:xfrm>
          <a:prstGeom prst="ellipse">
            <a:avLst/>
          </a:prstGeom>
          <a:solidFill>
            <a:srgbClr val="C87E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s2p3-badge-n"/>
          <p:cNvSpPr txBox="1"/>
          <p:nvPr/>
        </p:nvSpPr>
        <p:spPr>
          <a:xfrm>
            <a:off x="31970662" y="16528732"/>
            <a:ext cx="343852" cy="944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13" name="s2p3-title"/>
          <p:cNvSpPr txBox="1"/>
          <p:nvPr/>
        </p:nvSpPr>
        <p:spPr>
          <a:xfrm>
            <a:off x="32556450" y="16667798"/>
            <a:ext cx="11907202" cy="9124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92" b="1" i="0">
                <a:solidFill>
                  <a:srgbClr val="6D3C0D"/>
                </a:solidFill>
                <a:latin typeface="Times New Roman"/>
                <a:ea typeface="Times New Roman"/>
                <a:cs typeface="Times New Roman"/>
              </a:rPr>
              <a:t>Expert confirmation and final indicator system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099000" y="18097500"/>
            <a:ext cx="2000250" cy="1143000"/>
          </a:xfrm>
          <a:prstGeom prst="rect">
            <a:avLst/>
          </a:prstGeom>
        </p:spPr>
      </p:pic>
      <p:sp>
        <p:nvSpPr>
          <p:cNvPr id="115" name="s2p3-int1"/>
          <p:cNvSpPr txBox="1"/>
          <p:nvPr/>
        </p:nvSpPr>
        <p:spPr>
          <a:xfrm>
            <a:off x="32423100" y="17819370"/>
            <a:ext cx="2544128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and</a:t>
            </a:r>
          </a:p>
        </p:txBody>
      </p:sp>
      <p:sp>
        <p:nvSpPr>
          <p:cNvPr id="116" name="s2p3-int2"/>
          <p:cNvSpPr txBox="1"/>
          <p:nvPr/>
        </p:nvSpPr>
        <p:spPr>
          <a:xfrm>
            <a:off x="32423100" y="18343245"/>
            <a:ext cx="4989195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UAV-video-assisted review</a:t>
            </a:r>
          </a:p>
        </p:txBody>
      </p:sp>
      <p:sp>
        <p:nvSpPr>
          <p:cNvPr id="117" name="s2p3-ar"/>
          <p:cNvSpPr/>
          <p:nvPr/>
        </p:nvSpPr>
        <p:spPr>
          <a:xfrm>
            <a:off x="36718875" y="18288000"/>
            <a:ext cx="1143000" cy="857250"/>
          </a:xfrm>
          <a:prstGeom prst="rightArrow">
            <a:avLst/>
          </a:prstGeom>
          <a:solidFill>
            <a:srgbClr val="C87E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8" name="Picture 11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747700" y="18192750"/>
            <a:ext cx="1571625" cy="1200150"/>
          </a:xfrm>
          <a:prstGeom prst="rect">
            <a:avLst/>
          </a:prstGeom>
        </p:spPr>
      </p:pic>
      <p:sp>
        <p:nvSpPr>
          <p:cNvPr id="119" name="s2p3-exp1"/>
          <p:cNvSpPr txBox="1"/>
          <p:nvPr/>
        </p:nvSpPr>
        <p:spPr>
          <a:xfrm>
            <a:off x="40786050" y="17838420"/>
            <a:ext cx="3528060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17 experts/students</a:t>
            </a:r>
          </a:p>
        </p:txBody>
      </p:sp>
      <p:sp>
        <p:nvSpPr>
          <p:cNvPr id="120" name="s2p3-exp2"/>
          <p:cNvSpPr txBox="1"/>
          <p:nvPr/>
        </p:nvSpPr>
        <p:spPr>
          <a:xfrm>
            <a:off x="40786050" y="18362295"/>
            <a:ext cx="1775460" cy="701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consulted</a:t>
            </a:r>
          </a:p>
        </p:txBody>
      </p:sp>
      <p:sp>
        <p:nvSpPr>
          <p:cNvPr id="121" name="s2p3-final"/>
          <p:cNvSpPr/>
          <p:nvPr/>
        </p:nvSpPr>
        <p:spPr>
          <a:xfrm>
            <a:off x="29603700" y="19802475"/>
            <a:ext cx="15706725" cy="3695700"/>
          </a:xfrm>
          <a:prstGeom prst="roundRect">
            <a:avLst>
              <a:gd name="adj" fmla="val 6701"/>
            </a:avLst>
          </a:prstGeom>
          <a:solidFill>
            <a:srgbClr val="FDFAF1"/>
          </a:solidFill>
          <a:ln w="38100">
            <a:solidFill>
              <a:srgbClr val="C87E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s2p3-final-t"/>
          <p:cNvSpPr txBox="1"/>
          <p:nvPr/>
        </p:nvSpPr>
        <p:spPr>
          <a:xfrm>
            <a:off x="33863280" y="19491960"/>
            <a:ext cx="7320915" cy="6991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42" b="1" i="0">
                <a:solidFill>
                  <a:srgbClr val="6D3C0D"/>
                </a:solidFill>
                <a:latin typeface="Times New Roman"/>
                <a:ea typeface="Times New Roman"/>
                <a:cs typeface="Times New Roman"/>
              </a:rPr>
              <a:t>Final 7 dimensions and 10 key factors</a:t>
            </a:r>
          </a:p>
        </p:txBody>
      </p:sp>
      <p:sp>
        <p:nvSpPr>
          <p:cNvPr id="123" name="s2p3-ch00"/>
          <p:cNvSpPr/>
          <p:nvPr/>
        </p:nvSpPr>
        <p:spPr>
          <a:xfrm>
            <a:off x="29698950" y="20764500"/>
            <a:ext cx="3219450" cy="1304925"/>
          </a:xfrm>
          <a:prstGeom prst="roundRect">
            <a:avLst>
              <a:gd name="adj" fmla="val 8759"/>
            </a:avLst>
          </a:prstGeom>
          <a:solidFill>
            <a:srgbClr val="FDFAF1"/>
          </a:solidFill>
          <a:ln w="28575">
            <a:solidFill>
              <a:srgbClr val="C87E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s2p3-ch00-t"/>
          <p:cNvSpPr txBox="1"/>
          <p:nvPr/>
        </p:nvSpPr>
        <p:spPr>
          <a:xfrm>
            <a:off x="29956125" y="20367308"/>
            <a:ext cx="2705100" cy="6915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Environmental</a:t>
            </a:r>
          </a:p>
          <a:p>
            <a:pPr algn="ctr">
              <a:lnSpc>
                <a:spcPct val="100000"/>
              </a:lnSpc>
            </a:pPr>
            <a:r>
              <a:rPr sz="34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naturalness</a:t>
            </a:r>
          </a:p>
        </p:txBody>
      </p:sp>
      <p:sp>
        <p:nvSpPr>
          <p:cNvPr id="125" name="s2p3-ch01"/>
          <p:cNvSpPr/>
          <p:nvPr/>
        </p:nvSpPr>
        <p:spPr>
          <a:xfrm>
            <a:off x="33156525" y="20764500"/>
            <a:ext cx="2819400" cy="1304925"/>
          </a:xfrm>
          <a:prstGeom prst="roundRect">
            <a:avLst>
              <a:gd name="adj" fmla="val 8759"/>
            </a:avLst>
          </a:prstGeom>
          <a:solidFill>
            <a:srgbClr val="FDFAF1"/>
          </a:solidFill>
          <a:ln w="28575">
            <a:solidFill>
              <a:srgbClr val="C87E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s2p3-ch01-t"/>
          <p:cNvSpPr txBox="1"/>
          <p:nvPr/>
        </p:nvSpPr>
        <p:spPr>
          <a:xfrm>
            <a:off x="33381315" y="20062508"/>
            <a:ext cx="2369820" cy="101155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9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Water</a:t>
            </a:r>
          </a:p>
          <a:p>
            <a:pPr algn="ctr">
              <a:lnSpc>
                <a:spcPct val="100000"/>
              </a:lnSpc>
            </a:pPr>
            <a:r>
              <a:rPr sz="49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visibility</a:t>
            </a:r>
          </a:p>
        </p:txBody>
      </p:sp>
      <p:sp>
        <p:nvSpPr>
          <p:cNvPr id="127" name="s2p3-ch02"/>
          <p:cNvSpPr/>
          <p:nvPr/>
        </p:nvSpPr>
        <p:spPr>
          <a:xfrm>
            <a:off x="36271200" y="20764500"/>
            <a:ext cx="2714625" cy="1304925"/>
          </a:xfrm>
          <a:prstGeom prst="roundRect">
            <a:avLst>
              <a:gd name="adj" fmla="val 8759"/>
            </a:avLst>
          </a:prstGeom>
          <a:solidFill>
            <a:srgbClr val="FDFAF1"/>
          </a:solidFill>
          <a:ln w="28575">
            <a:solidFill>
              <a:srgbClr val="C87E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s2p3-ch02-t"/>
          <p:cNvSpPr txBox="1"/>
          <p:nvPr/>
        </p:nvSpPr>
        <p:spPr>
          <a:xfrm>
            <a:off x="36486465" y="20277772"/>
            <a:ext cx="2283142" cy="7953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Plant color</a:t>
            </a:r>
          </a:p>
          <a:p>
            <a:pPr algn="ctr">
              <a:lnSpc>
                <a:spcPct val="100000"/>
              </a:lnSpc>
            </a:pPr>
            <a:r>
              <a:rPr sz="39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richness</a:t>
            </a:r>
          </a:p>
        </p:txBody>
      </p:sp>
      <p:sp>
        <p:nvSpPr>
          <p:cNvPr id="129" name="s2p3-ch03"/>
          <p:cNvSpPr/>
          <p:nvPr/>
        </p:nvSpPr>
        <p:spPr>
          <a:xfrm>
            <a:off x="39281100" y="20764500"/>
            <a:ext cx="3067050" cy="1304925"/>
          </a:xfrm>
          <a:prstGeom prst="roundRect">
            <a:avLst>
              <a:gd name="adj" fmla="val 8759"/>
            </a:avLst>
          </a:prstGeom>
          <a:solidFill>
            <a:srgbClr val="FDFAF1"/>
          </a:solidFill>
          <a:ln w="28575">
            <a:solidFill>
              <a:srgbClr val="C87E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s2p3-ch03-t"/>
          <p:cNvSpPr txBox="1"/>
          <p:nvPr/>
        </p:nvSpPr>
        <p:spPr>
          <a:xfrm>
            <a:off x="39523988" y="20269200"/>
            <a:ext cx="2581275" cy="8029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Plant</a:t>
            </a:r>
          </a:p>
          <a:p>
            <a:pPr algn="ctr">
              <a:lnSpc>
                <a:spcPct val="100000"/>
              </a:lnSpc>
            </a:pPr>
            <a:r>
              <a:rPr sz="39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morphology</a:t>
            </a:r>
          </a:p>
        </p:txBody>
      </p:sp>
      <p:sp>
        <p:nvSpPr>
          <p:cNvPr id="131" name="s2p3-ch04"/>
          <p:cNvSpPr/>
          <p:nvPr/>
        </p:nvSpPr>
        <p:spPr>
          <a:xfrm>
            <a:off x="42643425" y="20764500"/>
            <a:ext cx="2590800" cy="1304925"/>
          </a:xfrm>
          <a:prstGeom prst="roundRect">
            <a:avLst>
              <a:gd name="adj" fmla="val 8759"/>
            </a:avLst>
          </a:prstGeom>
          <a:solidFill>
            <a:srgbClr val="FDFAF1"/>
          </a:solidFill>
          <a:ln w="28575">
            <a:solidFill>
              <a:srgbClr val="C87E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s2p3-ch04-t"/>
          <p:cNvSpPr txBox="1"/>
          <p:nvPr/>
        </p:nvSpPr>
        <p:spPr>
          <a:xfrm>
            <a:off x="42849165" y="19972020"/>
            <a:ext cx="2180272" cy="11458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6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Plant</a:t>
            </a:r>
          </a:p>
          <a:p>
            <a:pPr algn="ctr">
              <a:lnSpc>
                <a:spcPct val="100000"/>
              </a:lnSpc>
            </a:pPr>
            <a:r>
              <a:rPr sz="56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density</a:t>
            </a:r>
          </a:p>
        </p:txBody>
      </p:sp>
      <p:sp>
        <p:nvSpPr>
          <p:cNvPr id="133" name="s2p3-ch05"/>
          <p:cNvSpPr/>
          <p:nvPr/>
        </p:nvSpPr>
        <p:spPr>
          <a:xfrm>
            <a:off x="29708475" y="22174200"/>
            <a:ext cx="3200400" cy="1304925"/>
          </a:xfrm>
          <a:prstGeom prst="roundRect">
            <a:avLst>
              <a:gd name="adj" fmla="val 8759"/>
            </a:avLst>
          </a:prstGeom>
          <a:solidFill>
            <a:srgbClr val="FDFAF1"/>
          </a:solidFill>
          <a:ln w="28575">
            <a:solidFill>
              <a:srgbClr val="C87E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2p3-ch05-t"/>
          <p:cNvSpPr txBox="1"/>
          <p:nvPr/>
        </p:nvSpPr>
        <p:spPr>
          <a:xfrm>
            <a:off x="29962792" y="21748432"/>
            <a:ext cx="2692718" cy="7267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5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Road material</a:t>
            </a:r>
          </a:p>
          <a:p>
            <a:pPr algn="ctr">
              <a:lnSpc>
                <a:spcPct val="100000"/>
              </a:lnSpc>
            </a:pPr>
            <a:r>
              <a:rPr sz="35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naturalness</a:t>
            </a:r>
          </a:p>
        </p:txBody>
      </p:sp>
      <p:sp>
        <p:nvSpPr>
          <p:cNvPr id="135" name="s2p3-ch06"/>
          <p:cNvSpPr/>
          <p:nvPr/>
        </p:nvSpPr>
        <p:spPr>
          <a:xfrm>
            <a:off x="33166050" y="22174200"/>
            <a:ext cx="3057525" cy="1304925"/>
          </a:xfrm>
          <a:prstGeom prst="roundRect">
            <a:avLst>
              <a:gd name="adj" fmla="val 8759"/>
            </a:avLst>
          </a:prstGeom>
          <a:solidFill>
            <a:srgbClr val="FDFAF1"/>
          </a:solidFill>
          <a:ln w="28575">
            <a:solidFill>
              <a:srgbClr val="C87E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s2p3-ch06-t"/>
          <p:cNvSpPr txBox="1"/>
          <p:nvPr/>
        </p:nvSpPr>
        <p:spPr>
          <a:xfrm>
            <a:off x="33411795" y="21896070"/>
            <a:ext cx="2566988" cy="55435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Surrounding</a:t>
            </a:r>
          </a:p>
          <a:p>
            <a:pPr algn="ctr">
              <a:lnSpc>
                <a:spcPct val="100000"/>
              </a:lnSpc>
            </a:pPr>
            <a:r>
              <a:rPr sz="27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environment type</a:t>
            </a:r>
          </a:p>
        </p:txBody>
      </p:sp>
      <p:sp>
        <p:nvSpPr>
          <p:cNvPr id="137" name="s2p3-ch07"/>
          <p:cNvSpPr/>
          <p:nvPr/>
        </p:nvSpPr>
        <p:spPr>
          <a:xfrm>
            <a:off x="36537900" y="22174200"/>
            <a:ext cx="2571750" cy="1304925"/>
          </a:xfrm>
          <a:prstGeom prst="roundRect">
            <a:avLst>
              <a:gd name="adj" fmla="val 8759"/>
            </a:avLst>
          </a:prstGeom>
          <a:solidFill>
            <a:srgbClr val="FDFAF1"/>
          </a:solidFill>
          <a:ln w="28575">
            <a:solidFill>
              <a:srgbClr val="C87E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2p3-ch07-t"/>
          <p:cNvSpPr txBox="1"/>
          <p:nvPr/>
        </p:nvSpPr>
        <p:spPr>
          <a:xfrm>
            <a:off x="36738878" y="21459825"/>
            <a:ext cx="2169795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Sky</a:t>
            </a:r>
          </a:p>
          <a:p>
            <a:pPr algn="ctr">
              <a:lnSpc>
                <a:spcPct val="100000"/>
              </a:lnSpc>
            </a:pPr>
            <a:r>
              <a:rPr sz="52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shading</a:t>
            </a:r>
          </a:p>
        </p:txBody>
      </p:sp>
      <p:sp>
        <p:nvSpPr>
          <p:cNvPr id="139" name="s2p3-ch08"/>
          <p:cNvSpPr/>
          <p:nvPr/>
        </p:nvSpPr>
        <p:spPr>
          <a:xfrm>
            <a:off x="39423975" y="22174200"/>
            <a:ext cx="2695575" cy="1304925"/>
          </a:xfrm>
          <a:prstGeom prst="roundRect">
            <a:avLst>
              <a:gd name="adj" fmla="val 8759"/>
            </a:avLst>
          </a:prstGeom>
          <a:solidFill>
            <a:srgbClr val="FDFAF1"/>
          </a:solidFill>
          <a:ln w="28575">
            <a:solidFill>
              <a:srgbClr val="C87E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s2p3-ch08-t"/>
          <p:cNvSpPr txBox="1"/>
          <p:nvPr/>
        </p:nvSpPr>
        <p:spPr>
          <a:xfrm>
            <a:off x="39635430" y="21587460"/>
            <a:ext cx="2273618" cy="9124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Sky</a:t>
            </a:r>
          </a:p>
          <a:p>
            <a:pPr algn="ctr">
              <a:lnSpc>
                <a:spcPct val="100000"/>
              </a:lnSpc>
            </a:pPr>
            <a:r>
              <a:rPr sz="449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condition</a:t>
            </a:r>
          </a:p>
        </p:txBody>
      </p:sp>
      <p:sp>
        <p:nvSpPr>
          <p:cNvPr id="141" name="s2p3-ch09"/>
          <p:cNvSpPr/>
          <p:nvPr/>
        </p:nvSpPr>
        <p:spPr>
          <a:xfrm>
            <a:off x="42433875" y="22174200"/>
            <a:ext cx="2790825" cy="1304925"/>
          </a:xfrm>
          <a:prstGeom prst="roundRect">
            <a:avLst>
              <a:gd name="adj" fmla="val 8759"/>
            </a:avLst>
          </a:prstGeom>
          <a:solidFill>
            <a:srgbClr val="FDFAF1"/>
          </a:solidFill>
          <a:ln w="28575">
            <a:solidFill>
              <a:srgbClr val="C87E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s2p3-ch09-t"/>
          <p:cNvSpPr txBox="1"/>
          <p:nvPr/>
        </p:nvSpPr>
        <p:spPr>
          <a:xfrm>
            <a:off x="42655808" y="21607462"/>
            <a:ext cx="2346960" cy="8667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2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Greenway</a:t>
            </a:r>
          </a:p>
          <a:p>
            <a:pPr algn="ctr">
              <a:lnSpc>
                <a:spcPct val="100000"/>
              </a:lnSpc>
            </a:pPr>
            <a:r>
              <a:rPr sz="42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curvature</a:t>
            </a:r>
          </a:p>
        </p:txBody>
      </p:sp>
      <p:sp>
        <p:nvSpPr>
          <p:cNvPr id="143" name="step-3-box"/>
          <p:cNvSpPr/>
          <p:nvPr/>
        </p:nvSpPr>
        <p:spPr>
          <a:xfrm>
            <a:off x="1028700" y="24307800"/>
            <a:ext cx="45491400" cy="9429750"/>
          </a:xfrm>
          <a:prstGeom prst="roundRect">
            <a:avLst>
              <a:gd name="adj" fmla="val 3434"/>
            </a:avLst>
          </a:prstGeom>
          <a:solidFill>
            <a:srgbClr val="FCECEF"/>
          </a:solidFill>
          <a:ln w="42862">
            <a:solidFill>
              <a:srgbClr val="AC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step-3-div"/>
          <p:cNvCxnSpPr/>
          <p:nvPr/>
        </p:nvCxnSpPr>
        <p:spPr>
          <a:xfrm>
            <a:off x="1076325" y="25593675"/>
            <a:ext cx="45396150" cy="0"/>
          </a:xfrm>
          <a:prstGeom prst="line">
            <a:avLst/>
          </a:prstGeom>
          <a:ln w="42862">
            <a:solidFill>
              <a:srgbClr val="AC36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step-3-title"/>
          <p:cNvSpPr txBox="1"/>
          <p:nvPr/>
        </p:nvSpPr>
        <p:spPr>
          <a:xfrm>
            <a:off x="13233082" y="23622952"/>
            <a:ext cx="21110258" cy="12525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165" b="1" i="0">
                <a:solidFill>
                  <a:srgbClr val="9D3C58"/>
                </a:solidFill>
                <a:latin typeface="Times New Roman"/>
                <a:ea typeface="Times New Roman"/>
                <a:cs typeface="Times New Roman"/>
              </a:rPr>
              <a:t>Step 3: Field validation and VR-climate chamber experiment</a:t>
            </a:r>
          </a:p>
        </p:txBody>
      </p:sp>
      <p:sp>
        <p:nvSpPr>
          <p:cNvPr id="146" name="s3p1"/>
          <p:cNvSpPr/>
          <p:nvPr/>
        </p:nvSpPr>
        <p:spPr>
          <a:xfrm>
            <a:off x="1295400" y="25869900"/>
            <a:ext cx="12230100" cy="7581900"/>
          </a:xfrm>
          <a:prstGeom prst="roundRect">
            <a:avLst>
              <a:gd name="adj" fmla="val 3266"/>
            </a:avLst>
          </a:prstGeom>
          <a:solidFill>
            <a:srgbClr val="FEFAFB"/>
          </a:solidFill>
          <a:ln w="38100">
            <a:solidFill>
              <a:srgbClr val="AC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s3p2"/>
          <p:cNvSpPr/>
          <p:nvPr/>
        </p:nvSpPr>
        <p:spPr>
          <a:xfrm>
            <a:off x="14325600" y="25869900"/>
            <a:ext cx="15354300" cy="7581900"/>
          </a:xfrm>
          <a:prstGeom prst="roundRect">
            <a:avLst>
              <a:gd name="adj" fmla="val 3266"/>
            </a:avLst>
          </a:prstGeom>
          <a:solidFill>
            <a:srgbClr val="FEFAFB"/>
          </a:solidFill>
          <a:ln w="38100">
            <a:solidFill>
              <a:srgbClr val="AC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s3p3"/>
          <p:cNvSpPr/>
          <p:nvPr/>
        </p:nvSpPr>
        <p:spPr>
          <a:xfrm>
            <a:off x="30594300" y="25869900"/>
            <a:ext cx="15468600" cy="7581900"/>
          </a:xfrm>
          <a:prstGeom prst="roundRect">
            <a:avLst>
              <a:gd name="adj" fmla="val 3266"/>
            </a:avLst>
          </a:prstGeom>
          <a:solidFill>
            <a:srgbClr val="FEFAFB"/>
          </a:solidFill>
          <a:ln w="38100">
            <a:solidFill>
              <a:srgbClr val="AC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s3p1-badge"/>
          <p:cNvSpPr/>
          <p:nvPr/>
        </p:nvSpPr>
        <p:spPr>
          <a:xfrm>
            <a:off x="2043112" y="26431875"/>
            <a:ext cx="876300" cy="876300"/>
          </a:xfrm>
          <a:prstGeom prst="ellipse">
            <a:avLst/>
          </a:prstGeom>
          <a:solidFill>
            <a:srgbClr val="AC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s3p1-badge-n"/>
          <p:cNvSpPr txBox="1"/>
          <p:nvPr/>
        </p:nvSpPr>
        <p:spPr>
          <a:xfrm>
            <a:off x="2309812" y="25710832"/>
            <a:ext cx="343852" cy="944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51" name="s3p1-title"/>
          <p:cNvSpPr txBox="1"/>
          <p:nvPr/>
        </p:nvSpPr>
        <p:spPr>
          <a:xfrm>
            <a:off x="3429000" y="26064210"/>
            <a:ext cx="4661535" cy="5848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79" b="1" i="0">
                <a:solidFill>
                  <a:srgbClr val="9D3C58"/>
                </a:solidFill>
                <a:latin typeface="Times New Roman"/>
                <a:ea typeface="Times New Roman"/>
                <a:cs typeface="Times New Roman"/>
              </a:rPr>
              <a:t>Outdoor field measurements</a:t>
            </a:r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038350" y="27374850"/>
            <a:ext cx="723900" cy="1028700"/>
          </a:xfrm>
          <a:prstGeom prst="rect">
            <a:avLst/>
          </a:prstGeom>
        </p:spPr>
      </p:pic>
      <p:pic>
        <p:nvPicPr>
          <p:cNvPr id="153" name="Picture 15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38350" y="28517850"/>
            <a:ext cx="723900" cy="952500"/>
          </a:xfrm>
          <a:prstGeom prst="rect">
            <a:avLst/>
          </a:prstGeom>
        </p:spPr>
      </p:pic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38350" y="29660850"/>
            <a:ext cx="723900" cy="990600"/>
          </a:xfrm>
          <a:prstGeom prst="rect">
            <a:avLst/>
          </a:prstGeom>
        </p:spPr>
      </p:pic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038350" y="30994350"/>
            <a:ext cx="723900" cy="990600"/>
          </a:xfrm>
          <a:prstGeom prst="rect">
            <a:avLst/>
          </a:prstGeom>
        </p:spPr>
      </p:pic>
      <p:sp>
        <p:nvSpPr>
          <p:cNvPr id="156" name="s3p1-r1"/>
          <p:cNvSpPr txBox="1"/>
          <p:nvPr/>
        </p:nvSpPr>
        <p:spPr>
          <a:xfrm>
            <a:off x="3143250" y="26850975"/>
            <a:ext cx="3708082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 typical scenes on a</a:t>
            </a:r>
          </a:p>
        </p:txBody>
      </p:sp>
      <p:sp>
        <p:nvSpPr>
          <p:cNvPr id="157" name="s3p1-r2"/>
          <p:cNvSpPr txBox="1"/>
          <p:nvPr/>
        </p:nvSpPr>
        <p:spPr>
          <a:xfrm>
            <a:off x="3143250" y="27363420"/>
            <a:ext cx="535876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campus community greenway</a:t>
            </a:r>
          </a:p>
        </p:txBody>
      </p:sp>
      <p:sp>
        <p:nvSpPr>
          <p:cNvPr id="158" name="s3p1-r3"/>
          <p:cNvSpPr txBox="1"/>
          <p:nvPr/>
        </p:nvSpPr>
        <p:spPr>
          <a:xfrm>
            <a:off x="3143250" y="28498800"/>
            <a:ext cx="472059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Microclimate: Ta, RH, Va,</a:t>
            </a:r>
          </a:p>
        </p:txBody>
      </p:sp>
      <p:sp>
        <p:nvSpPr>
          <p:cNvPr id="159" name="s3p1-r4"/>
          <p:cNvSpPr txBox="1"/>
          <p:nvPr/>
        </p:nvSpPr>
        <p:spPr>
          <a:xfrm>
            <a:off x="3143250" y="29024580"/>
            <a:ext cx="1576388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Tg.MRT</a:t>
            </a:r>
          </a:p>
        </p:txBody>
      </p:sp>
      <p:sp>
        <p:nvSpPr>
          <p:cNvPr id="160" name="s3p1-r5"/>
          <p:cNvSpPr txBox="1"/>
          <p:nvPr/>
        </p:nvSpPr>
        <p:spPr>
          <a:xfrm>
            <a:off x="3143250" y="30337125"/>
            <a:ext cx="3205162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Subjective survey</a:t>
            </a:r>
          </a:p>
        </p:txBody>
      </p:sp>
      <p:sp>
        <p:nvSpPr>
          <p:cNvPr id="161" name="s3p1-r6"/>
          <p:cNvSpPr txBox="1"/>
          <p:nvPr/>
        </p:nvSpPr>
        <p:spPr>
          <a:xfrm>
            <a:off x="3143250" y="30861000"/>
            <a:ext cx="5077778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physiological measurements</a:t>
            </a:r>
          </a:p>
        </p:txBody>
      </p:sp>
      <p:sp>
        <p:nvSpPr>
          <p:cNvPr id="162" name="s3p1-r7"/>
          <p:cNvSpPr txBox="1"/>
          <p:nvPr/>
        </p:nvSpPr>
        <p:spPr>
          <a:xfrm>
            <a:off x="3143250" y="31840170"/>
            <a:ext cx="266319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40 participants</a:t>
            </a:r>
          </a:p>
        </p:txBody>
      </p:sp>
      <p:pic>
        <p:nvPicPr>
          <p:cNvPr id="163" name="Picture 162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01150" y="26269950"/>
            <a:ext cx="4076700" cy="2162175"/>
          </a:xfrm>
          <a:prstGeom prst="rect">
            <a:avLst/>
          </a:prstGeom>
        </p:spPr>
      </p:pic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201150" y="28546425"/>
            <a:ext cx="4076700" cy="2162175"/>
          </a:xfrm>
          <a:prstGeom prst="rect">
            <a:avLst/>
          </a:prstGeom>
        </p:spPr>
      </p:pic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201150" y="30822900"/>
            <a:ext cx="4076700" cy="2362200"/>
          </a:xfrm>
          <a:prstGeom prst="rect">
            <a:avLst/>
          </a:prstGeom>
        </p:spPr>
      </p:pic>
      <p:sp>
        <p:nvSpPr>
          <p:cNvPr id="166" name="s3p2-badge"/>
          <p:cNvSpPr/>
          <p:nvPr/>
        </p:nvSpPr>
        <p:spPr>
          <a:xfrm>
            <a:off x="15006638" y="26455688"/>
            <a:ext cx="857250" cy="857250"/>
          </a:xfrm>
          <a:prstGeom prst="ellipse">
            <a:avLst/>
          </a:prstGeom>
          <a:solidFill>
            <a:srgbClr val="AC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s3p2-badge-n"/>
          <p:cNvSpPr txBox="1"/>
          <p:nvPr/>
        </p:nvSpPr>
        <p:spPr>
          <a:xfrm>
            <a:off x="15263812" y="25729882"/>
            <a:ext cx="343852" cy="944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68" name="s3p2-title"/>
          <p:cNvSpPr txBox="1"/>
          <p:nvPr/>
        </p:nvSpPr>
        <p:spPr>
          <a:xfrm>
            <a:off x="16773525" y="25607962"/>
            <a:ext cx="8281988" cy="8820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342" b="1" i="0">
                <a:solidFill>
                  <a:srgbClr val="9D3C58"/>
                </a:solidFill>
                <a:latin typeface="Times New Roman"/>
                <a:ea typeface="Times New Roman"/>
                <a:cs typeface="Times New Roman"/>
              </a:rPr>
              <a:t>VR platform feasibility validation</a:t>
            </a:r>
          </a:p>
        </p:txBody>
      </p:sp>
      <p:pic>
        <p:nvPicPr>
          <p:cNvPr id="169" name="Picture 168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782800" y="27584400"/>
            <a:ext cx="1371600" cy="1504950"/>
          </a:xfrm>
          <a:prstGeom prst="rect">
            <a:avLst/>
          </a:prstGeom>
        </p:spPr>
      </p:pic>
      <p:pic>
        <p:nvPicPr>
          <p:cNvPr id="170" name="Picture 169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4630400" y="29413200"/>
            <a:ext cx="1600200" cy="1247775"/>
          </a:xfrm>
          <a:prstGeom prst="rect">
            <a:avLst/>
          </a:prstGeom>
        </p:spPr>
      </p:pic>
      <p:pic>
        <p:nvPicPr>
          <p:cNvPr id="171" name="Picture 170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4630400" y="31242000"/>
            <a:ext cx="1600200" cy="1304925"/>
          </a:xfrm>
          <a:prstGeom prst="rect">
            <a:avLst/>
          </a:prstGeom>
        </p:spPr>
      </p:pic>
      <p:sp>
        <p:nvSpPr>
          <p:cNvPr id="172" name="s3p2-r1"/>
          <p:cNvSpPr txBox="1"/>
          <p:nvPr/>
        </p:nvSpPr>
        <p:spPr>
          <a:xfrm>
            <a:off x="16621125" y="27134820"/>
            <a:ext cx="434911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1:1 scene reconstruction</a:t>
            </a:r>
          </a:p>
        </p:txBody>
      </p:sp>
      <p:sp>
        <p:nvSpPr>
          <p:cNvPr id="173" name="s3p2-r2"/>
          <p:cNvSpPr txBox="1"/>
          <p:nvPr/>
        </p:nvSpPr>
        <p:spPr>
          <a:xfrm>
            <a:off x="16621125" y="27670125"/>
            <a:ext cx="308229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 MARS2020</a:t>
            </a:r>
          </a:p>
        </p:txBody>
      </p:sp>
      <p:sp>
        <p:nvSpPr>
          <p:cNvPr id="174" name="s3p2-r3"/>
          <p:cNvSpPr txBox="1"/>
          <p:nvPr/>
        </p:nvSpPr>
        <p:spPr>
          <a:xfrm>
            <a:off x="16630650" y="29089350"/>
            <a:ext cx="388239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Immersive display by</a:t>
            </a:r>
          </a:p>
        </p:txBody>
      </p:sp>
      <p:sp>
        <p:nvSpPr>
          <p:cNvPr id="175" name="s3p2-r4"/>
          <p:cNvSpPr txBox="1"/>
          <p:nvPr/>
        </p:nvSpPr>
        <p:spPr>
          <a:xfrm>
            <a:off x="16621125" y="29608462"/>
            <a:ext cx="2088832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HTC VIVE</a:t>
            </a:r>
          </a:p>
        </p:txBody>
      </p:sp>
      <p:sp>
        <p:nvSpPr>
          <p:cNvPr id="176" name="s3p2-r5"/>
          <p:cNvSpPr txBox="1"/>
          <p:nvPr/>
        </p:nvSpPr>
        <p:spPr>
          <a:xfrm>
            <a:off x="16630650" y="31041975"/>
            <a:ext cx="305752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Compare real vs.</a:t>
            </a:r>
          </a:p>
        </p:txBody>
      </p:sp>
      <p:sp>
        <p:nvSpPr>
          <p:cNvPr id="177" name="s3p2-r6"/>
          <p:cNvSpPr txBox="1"/>
          <p:nvPr/>
        </p:nvSpPr>
        <p:spPr>
          <a:xfrm>
            <a:off x="16621125" y="31565850"/>
            <a:ext cx="3549968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virtual environment</a:t>
            </a:r>
          </a:p>
        </p:txBody>
      </p:sp>
      <p:sp>
        <p:nvSpPr>
          <p:cNvPr id="178" name="s3p2-dash"/>
          <p:cNvSpPr/>
          <p:nvPr/>
        </p:nvSpPr>
        <p:spPr>
          <a:xfrm>
            <a:off x="22193250" y="27165300"/>
            <a:ext cx="6886575" cy="6143625"/>
          </a:xfrm>
          <a:prstGeom prst="roundRect">
            <a:avLst>
              <a:gd name="adj" fmla="val 3410"/>
            </a:avLst>
          </a:prstGeom>
          <a:noFill/>
          <a:ln w="28575">
            <a:solidFill>
              <a:srgbClr val="AC365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s3p2-cons"/>
          <p:cNvSpPr txBox="1"/>
          <p:nvPr/>
        </p:nvSpPr>
        <p:spPr>
          <a:xfrm>
            <a:off x="23325772" y="26783348"/>
            <a:ext cx="4412932" cy="8715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2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Consistency results</a:t>
            </a:r>
          </a:p>
        </p:txBody>
      </p:sp>
      <p:sp>
        <p:nvSpPr>
          <p:cNvPr id="180" name="s3p2-chk0"/>
          <p:cNvSpPr/>
          <p:nvPr/>
        </p:nvSpPr>
        <p:spPr>
          <a:xfrm>
            <a:off x="22736175" y="28403550"/>
            <a:ext cx="819150" cy="8191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C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s3p2-chk0a"/>
          <p:cNvCxnSpPr/>
          <p:nvPr/>
        </p:nvCxnSpPr>
        <p:spPr>
          <a:xfrm>
            <a:off x="22964775" y="28822650"/>
            <a:ext cx="123825" cy="133350"/>
          </a:xfrm>
          <a:prstGeom prst="line">
            <a:avLst/>
          </a:prstGeom>
          <a:ln w="57150">
            <a:solidFill>
              <a:srgbClr val="4EA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3p2-chk0b"/>
          <p:cNvCxnSpPr/>
          <p:nvPr/>
        </p:nvCxnSpPr>
        <p:spPr>
          <a:xfrm flipV="1">
            <a:off x="23088600" y="28651200"/>
            <a:ext cx="257175" cy="304800"/>
          </a:xfrm>
          <a:prstGeom prst="line">
            <a:avLst/>
          </a:prstGeom>
          <a:ln w="57150">
            <a:solidFill>
              <a:srgbClr val="4EA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s3p2-chk1"/>
          <p:cNvSpPr/>
          <p:nvPr/>
        </p:nvSpPr>
        <p:spPr>
          <a:xfrm>
            <a:off x="22745700" y="29641800"/>
            <a:ext cx="819150" cy="8191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C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4" name="s3p2-chk1a"/>
          <p:cNvCxnSpPr/>
          <p:nvPr/>
        </p:nvCxnSpPr>
        <p:spPr>
          <a:xfrm>
            <a:off x="22974300" y="30060900"/>
            <a:ext cx="123825" cy="133350"/>
          </a:xfrm>
          <a:prstGeom prst="line">
            <a:avLst/>
          </a:prstGeom>
          <a:ln w="57150">
            <a:solidFill>
              <a:srgbClr val="4EA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3p2-chk1b"/>
          <p:cNvCxnSpPr/>
          <p:nvPr/>
        </p:nvCxnSpPr>
        <p:spPr>
          <a:xfrm flipV="1">
            <a:off x="23098125" y="29889450"/>
            <a:ext cx="257175" cy="304800"/>
          </a:xfrm>
          <a:prstGeom prst="line">
            <a:avLst/>
          </a:prstGeom>
          <a:ln w="57150">
            <a:solidFill>
              <a:srgbClr val="4EA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s3p2-chk2"/>
          <p:cNvSpPr/>
          <p:nvPr/>
        </p:nvSpPr>
        <p:spPr>
          <a:xfrm>
            <a:off x="22736175" y="30718125"/>
            <a:ext cx="819150" cy="8191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C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s3p2-chk2a"/>
          <p:cNvCxnSpPr/>
          <p:nvPr/>
        </p:nvCxnSpPr>
        <p:spPr>
          <a:xfrm>
            <a:off x="22964775" y="31137225"/>
            <a:ext cx="123825" cy="133350"/>
          </a:xfrm>
          <a:prstGeom prst="line">
            <a:avLst/>
          </a:prstGeom>
          <a:ln w="57150">
            <a:solidFill>
              <a:srgbClr val="4EA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3p2-chk2b"/>
          <p:cNvCxnSpPr/>
          <p:nvPr/>
        </p:nvCxnSpPr>
        <p:spPr>
          <a:xfrm flipV="1">
            <a:off x="23088600" y="30965775"/>
            <a:ext cx="257175" cy="304800"/>
          </a:xfrm>
          <a:prstGeom prst="line">
            <a:avLst/>
          </a:prstGeom>
          <a:ln w="57150">
            <a:solidFill>
              <a:srgbClr val="4EA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s3p2-chk3"/>
          <p:cNvSpPr/>
          <p:nvPr/>
        </p:nvSpPr>
        <p:spPr>
          <a:xfrm>
            <a:off x="22736175" y="31937325"/>
            <a:ext cx="819150" cy="8191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C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0" name="s3p2-chk3a"/>
          <p:cNvCxnSpPr/>
          <p:nvPr/>
        </p:nvCxnSpPr>
        <p:spPr>
          <a:xfrm>
            <a:off x="22964775" y="32356425"/>
            <a:ext cx="123825" cy="133350"/>
          </a:xfrm>
          <a:prstGeom prst="line">
            <a:avLst/>
          </a:prstGeom>
          <a:ln w="57150">
            <a:solidFill>
              <a:srgbClr val="4EA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3p2-chk3b"/>
          <p:cNvCxnSpPr/>
          <p:nvPr/>
        </p:nvCxnSpPr>
        <p:spPr>
          <a:xfrm flipV="1">
            <a:off x="23088600" y="32184975"/>
            <a:ext cx="257175" cy="304800"/>
          </a:xfrm>
          <a:prstGeom prst="line">
            <a:avLst/>
          </a:prstGeom>
          <a:ln w="57150">
            <a:solidFill>
              <a:srgbClr val="4EA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s3p2-v1"/>
          <p:cNvSpPr txBox="1"/>
          <p:nvPr/>
        </p:nvSpPr>
        <p:spPr>
          <a:xfrm>
            <a:off x="23898225" y="27846338"/>
            <a:ext cx="417385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Temperature difference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 0.5 °C</a:t>
            </a:r>
          </a:p>
        </p:txBody>
      </p:sp>
      <p:sp>
        <p:nvSpPr>
          <p:cNvPr id="193" name="s3p2-v2"/>
          <p:cNvSpPr txBox="1"/>
          <p:nvPr/>
        </p:nvSpPr>
        <p:spPr>
          <a:xfrm>
            <a:off x="23898225" y="29284612"/>
            <a:ext cx="470344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Humidity difference &lt; 2%</a:t>
            </a:r>
          </a:p>
        </p:txBody>
      </p:sp>
      <p:sp>
        <p:nvSpPr>
          <p:cNvPr id="194" name="s3p2-v3"/>
          <p:cNvSpPr txBox="1"/>
          <p:nvPr/>
        </p:nvSpPr>
        <p:spPr>
          <a:xfrm>
            <a:off x="23898225" y="30218062"/>
            <a:ext cx="461200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Blood pressure difference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 4 mmHg</a:t>
            </a:r>
          </a:p>
        </p:txBody>
      </p:sp>
      <p:sp>
        <p:nvSpPr>
          <p:cNvPr id="195" name="s3p2-v4"/>
          <p:cNvSpPr txBox="1"/>
          <p:nvPr/>
        </p:nvSpPr>
        <p:spPr>
          <a:xfrm>
            <a:off x="23898225" y="31565850"/>
            <a:ext cx="3734752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Most subjective vote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differences 8%</a:t>
            </a:r>
          </a:p>
        </p:txBody>
      </p:sp>
      <p:sp>
        <p:nvSpPr>
          <p:cNvPr id="196" name="s3p3-badge"/>
          <p:cNvSpPr/>
          <p:nvPr/>
        </p:nvSpPr>
        <p:spPr>
          <a:xfrm>
            <a:off x="31318200" y="26460450"/>
            <a:ext cx="838200" cy="838200"/>
          </a:xfrm>
          <a:prstGeom prst="ellipse">
            <a:avLst/>
          </a:prstGeom>
          <a:solidFill>
            <a:srgbClr val="AC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s3p3-badge-n"/>
          <p:cNvSpPr txBox="1"/>
          <p:nvPr/>
        </p:nvSpPr>
        <p:spPr>
          <a:xfrm>
            <a:off x="31565850" y="25729882"/>
            <a:ext cx="343852" cy="944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98" name="s3p3-title"/>
          <p:cNvSpPr txBox="1"/>
          <p:nvPr/>
        </p:nvSpPr>
        <p:spPr>
          <a:xfrm>
            <a:off x="32823150" y="25722262"/>
            <a:ext cx="12799695" cy="8791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327" b="1" i="0">
                <a:solidFill>
                  <a:srgbClr val="9D3C58"/>
                </a:solidFill>
                <a:latin typeface="Times New Roman"/>
                <a:ea typeface="Times New Roman"/>
                <a:cs typeface="Times New Roman"/>
              </a:rPr>
              <a:t>Controlled VR experiment under thermal conditions</a:t>
            </a:r>
          </a:p>
        </p:txBody>
      </p:sp>
      <p:cxnSp>
        <p:nvCxnSpPr>
          <p:cNvPr id="199" name="s3p3-dash"/>
          <p:cNvCxnSpPr/>
          <p:nvPr/>
        </p:nvCxnSpPr>
        <p:spPr>
          <a:xfrm>
            <a:off x="38338125" y="27670125"/>
            <a:ext cx="0" cy="4772025"/>
          </a:xfrm>
          <a:prstGeom prst="line">
            <a:avLst/>
          </a:prstGeom>
          <a:ln w="28575">
            <a:solidFill>
              <a:srgbClr val="AC365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0" name="Picture 199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1375350" y="27422475"/>
            <a:ext cx="762000" cy="1104900"/>
          </a:xfrm>
          <a:prstGeom prst="rect">
            <a:avLst/>
          </a:prstGeom>
        </p:spPr>
      </p:pic>
      <p:pic>
        <p:nvPicPr>
          <p:cNvPr id="201" name="Picture 200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1375350" y="29089350"/>
            <a:ext cx="571500" cy="1552575"/>
          </a:xfrm>
          <a:prstGeom prst="rect">
            <a:avLst/>
          </a:prstGeom>
        </p:spPr>
      </p:pic>
      <p:pic>
        <p:nvPicPr>
          <p:cNvPr id="202" name="Picture 201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1375350" y="31137225"/>
            <a:ext cx="838200" cy="1266825"/>
          </a:xfrm>
          <a:prstGeom prst="rect">
            <a:avLst/>
          </a:prstGeom>
        </p:spPr>
      </p:pic>
      <p:sp>
        <p:nvSpPr>
          <p:cNvPr id="203" name="s3p3-l1"/>
          <p:cNvSpPr txBox="1"/>
          <p:nvPr/>
        </p:nvSpPr>
        <p:spPr>
          <a:xfrm>
            <a:off x="32556450" y="27136725"/>
            <a:ext cx="506539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Pretest based on 12 monthly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typical meteorological days</a:t>
            </a:r>
          </a:p>
        </p:txBody>
      </p:sp>
      <p:sp>
        <p:nvSpPr>
          <p:cNvPr id="204" name="s3p3-l2"/>
          <p:cNvSpPr txBox="1"/>
          <p:nvPr/>
        </p:nvSpPr>
        <p:spPr>
          <a:xfrm>
            <a:off x="32556450" y="28670250"/>
            <a:ext cx="5161598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 thermal conditions: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cold(December),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hot(June), moderate(August)</a:t>
            </a:r>
          </a:p>
        </p:txBody>
      </p:sp>
      <p:sp>
        <p:nvSpPr>
          <p:cNvPr id="205" name="s3p3-l3"/>
          <p:cNvSpPr txBox="1"/>
          <p:nvPr/>
        </p:nvSpPr>
        <p:spPr>
          <a:xfrm>
            <a:off x="32565975" y="30908625"/>
            <a:ext cx="492823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 standardized VR scenes: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base scene+ 10 single-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factor scenarios</a:t>
            </a:r>
          </a:p>
        </p:txBody>
      </p:sp>
      <p:pic>
        <p:nvPicPr>
          <p:cNvPr id="206" name="Picture 205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8766750" y="28384500"/>
            <a:ext cx="1638300" cy="1295400"/>
          </a:xfrm>
          <a:prstGeom prst="rect">
            <a:avLst/>
          </a:prstGeom>
        </p:spPr>
      </p:pic>
      <p:pic>
        <p:nvPicPr>
          <p:cNvPr id="207" name="Picture 206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8804850" y="30670500"/>
            <a:ext cx="1466850" cy="1466850"/>
          </a:xfrm>
          <a:prstGeom prst="rect">
            <a:avLst/>
          </a:prstGeom>
        </p:spPr>
      </p:pic>
      <p:sp>
        <p:nvSpPr>
          <p:cNvPr id="208" name="s3p3-r1"/>
          <p:cNvSpPr txBox="1"/>
          <p:nvPr/>
        </p:nvSpPr>
        <p:spPr>
          <a:xfrm>
            <a:off x="40881300" y="28011120"/>
            <a:ext cx="29337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83 participants,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randomized into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 groups</a:t>
            </a:r>
          </a:p>
        </p:txBody>
      </p:sp>
      <p:sp>
        <p:nvSpPr>
          <p:cNvPr id="209" name="s3p3-r2"/>
          <p:cNvSpPr txBox="1"/>
          <p:nvPr/>
        </p:nvSpPr>
        <p:spPr>
          <a:xfrm>
            <a:off x="40900350" y="30546675"/>
            <a:ext cx="3490912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30 min adaptation+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 min observation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 scene</a:t>
            </a:r>
          </a:p>
        </p:txBody>
      </p:sp>
      <p:sp>
        <p:nvSpPr>
          <p:cNvPr id="210" name="step-4-box"/>
          <p:cNvSpPr/>
          <p:nvPr/>
        </p:nvSpPr>
        <p:spPr>
          <a:xfrm>
            <a:off x="1028700" y="34175700"/>
            <a:ext cx="45491400" cy="9029700"/>
          </a:xfrm>
          <a:prstGeom prst="roundRect">
            <a:avLst>
              <a:gd name="adj" fmla="val 3586"/>
            </a:avLst>
          </a:prstGeom>
          <a:solidFill>
            <a:srgbClr val="EDF7F9"/>
          </a:solidFill>
          <a:ln w="42862">
            <a:solidFill>
              <a:srgbClr val="068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1" name="step-4-div"/>
          <p:cNvCxnSpPr/>
          <p:nvPr/>
        </p:nvCxnSpPr>
        <p:spPr>
          <a:xfrm>
            <a:off x="1076325" y="35518725"/>
            <a:ext cx="45396150" cy="0"/>
          </a:xfrm>
          <a:prstGeom prst="line">
            <a:avLst/>
          </a:prstGeom>
          <a:ln w="42862">
            <a:solidFill>
              <a:srgbClr val="068A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step-4-title"/>
          <p:cNvSpPr txBox="1"/>
          <p:nvPr/>
        </p:nvSpPr>
        <p:spPr>
          <a:xfrm>
            <a:off x="12270105" y="33475612"/>
            <a:ext cx="23180992" cy="14125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952" b="1" i="0">
                <a:solidFill>
                  <a:srgbClr val="194D5A"/>
                </a:solidFill>
                <a:latin typeface="Times New Roman"/>
                <a:ea typeface="Times New Roman"/>
                <a:cs typeface="Times New Roman"/>
              </a:rPr>
              <a:t>Step 4: Coupling analysis and design implication extraction</a:t>
            </a:r>
          </a:p>
        </p:txBody>
      </p:sp>
      <p:sp>
        <p:nvSpPr>
          <p:cNvPr id="213" name="s4p1"/>
          <p:cNvSpPr/>
          <p:nvPr/>
        </p:nvSpPr>
        <p:spPr>
          <a:xfrm>
            <a:off x="1295400" y="35699700"/>
            <a:ext cx="8001000" cy="7162800"/>
          </a:xfrm>
          <a:prstGeom prst="roundRect">
            <a:avLst>
              <a:gd name="adj" fmla="val 3457"/>
            </a:avLst>
          </a:prstGeom>
          <a:solidFill>
            <a:srgbClr val="F7FBFC"/>
          </a:solidFill>
          <a:ln w="38100">
            <a:solidFill>
              <a:srgbClr val="068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s4p2"/>
          <p:cNvSpPr/>
          <p:nvPr/>
        </p:nvSpPr>
        <p:spPr>
          <a:xfrm>
            <a:off x="10248900" y="35699700"/>
            <a:ext cx="19316700" cy="7162800"/>
          </a:xfrm>
          <a:prstGeom prst="roundRect">
            <a:avLst>
              <a:gd name="adj" fmla="val 3457"/>
            </a:avLst>
          </a:prstGeom>
          <a:solidFill>
            <a:srgbClr val="F7FBFC"/>
          </a:solidFill>
          <a:ln w="38100">
            <a:solidFill>
              <a:srgbClr val="068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s4p3"/>
          <p:cNvSpPr/>
          <p:nvPr/>
        </p:nvSpPr>
        <p:spPr>
          <a:xfrm>
            <a:off x="30480000" y="35699700"/>
            <a:ext cx="15582900" cy="7162800"/>
          </a:xfrm>
          <a:prstGeom prst="roundRect">
            <a:avLst>
              <a:gd name="adj" fmla="val 3457"/>
            </a:avLst>
          </a:prstGeom>
          <a:solidFill>
            <a:srgbClr val="F7FBFC"/>
          </a:solidFill>
          <a:ln w="38100">
            <a:solidFill>
              <a:srgbClr val="068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s4p1-badge"/>
          <p:cNvSpPr/>
          <p:nvPr/>
        </p:nvSpPr>
        <p:spPr>
          <a:xfrm>
            <a:off x="1857375" y="35952112"/>
            <a:ext cx="885825" cy="885825"/>
          </a:xfrm>
          <a:prstGeom prst="ellipse">
            <a:avLst/>
          </a:prstGeom>
          <a:solidFill>
            <a:srgbClr val="06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s4p1-badge-n"/>
          <p:cNvSpPr txBox="1"/>
          <p:nvPr/>
        </p:nvSpPr>
        <p:spPr>
          <a:xfrm>
            <a:off x="2133600" y="35235832"/>
            <a:ext cx="343852" cy="944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18" name="s4p1-title"/>
          <p:cNvSpPr txBox="1"/>
          <p:nvPr/>
        </p:nvSpPr>
        <p:spPr>
          <a:xfrm>
            <a:off x="3238500" y="35449192"/>
            <a:ext cx="4649152" cy="904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55" b="1" i="0">
                <a:solidFill>
                  <a:srgbClr val="194D5A"/>
                </a:solidFill>
                <a:latin typeface="Times New Roman"/>
                <a:ea typeface="Times New Roman"/>
                <a:cs typeface="Times New Roman"/>
              </a:rPr>
              <a:t>Statistical analysis</a:t>
            </a:r>
          </a:p>
        </p:txBody>
      </p:sp>
      <p:pic>
        <p:nvPicPr>
          <p:cNvPr id="219" name="Picture 218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600200" y="37166550"/>
            <a:ext cx="1847850" cy="1809750"/>
          </a:xfrm>
          <a:prstGeom prst="rect">
            <a:avLst/>
          </a:prstGeom>
        </p:spPr>
      </p:pic>
      <p:pic>
        <p:nvPicPr>
          <p:cNvPr id="220" name="Picture 219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562100" y="39071550"/>
            <a:ext cx="1943100" cy="1476375"/>
          </a:xfrm>
          <a:prstGeom prst="rect">
            <a:avLst/>
          </a:prstGeom>
        </p:spPr>
      </p:pic>
      <p:pic>
        <p:nvPicPr>
          <p:cNvPr id="221" name="Picture 220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514475" y="40614600"/>
            <a:ext cx="1943100" cy="1828800"/>
          </a:xfrm>
          <a:prstGeom prst="rect">
            <a:avLst/>
          </a:prstGeom>
        </p:spPr>
      </p:pic>
      <p:sp>
        <p:nvSpPr>
          <p:cNvPr id="222" name="s4p1-r1"/>
          <p:cNvSpPr txBox="1"/>
          <p:nvPr/>
        </p:nvSpPr>
        <p:spPr>
          <a:xfrm>
            <a:off x="3743325" y="37271325"/>
            <a:ext cx="501396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Pearson correlation analysis</a:t>
            </a:r>
          </a:p>
        </p:txBody>
      </p:sp>
      <p:sp>
        <p:nvSpPr>
          <p:cNvPr id="223" name="s4p1-r2"/>
          <p:cNvSpPr txBox="1"/>
          <p:nvPr/>
        </p:nvSpPr>
        <p:spPr>
          <a:xfrm>
            <a:off x="3743325" y="38928675"/>
            <a:ext cx="4622482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Multiple linear regression</a:t>
            </a:r>
          </a:p>
        </p:txBody>
      </p:sp>
      <p:sp>
        <p:nvSpPr>
          <p:cNvPr id="224" name="s4p1-r3"/>
          <p:cNvSpPr txBox="1"/>
          <p:nvPr/>
        </p:nvSpPr>
        <p:spPr>
          <a:xfrm>
            <a:off x="3752850" y="40376475"/>
            <a:ext cx="4892992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Comparison across thermal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conditions and scenarios</a:t>
            </a:r>
          </a:p>
        </p:txBody>
      </p:sp>
      <p:sp>
        <p:nvSpPr>
          <p:cNvPr id="225" name="s4p2-badge"/>
          <p:cNvSpPr/>
          <p:nvPr/>
        </p:nvSpPr>
        <p:spPr>
          <a:xfrm>
            <a:off x="10715625" y="35952112"/>
            <a:ext cx="885825" cy="885825"/>
          </a:xfrm>
          <a:prstGeom prst="ellipse">
            <a:avLst/>
          </a:prstGeom>
          <a:solidFill>
            <a:srgbClr val="06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s4p2-badge-n"/>
          <p:cNvSpPr txBox="1"/>
          <p:nvPr/>
        </p:nvSpPr>
        <p:spPr>
          <a:xfrm>
            <a:off x="10991850" y="35235832"/>
            <a:ext cx="343852" cy="944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27" name="s4p2-title"/>
          <p:cNvSpPr txBox="1"/>
          <p:nvPr/>
        </p:nvSpPr>
        <p:spPr>
          <a:xfrm>
            <a:off x="15687675" y="35422522"/>
            <a:ext cx="6463665" cy="9124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92" b="1" i="0">
                <a:solidFill>
                  <a:srgbClr val="194D5A"/>
                </a:solidFill>
                <a:latin typeface="Times New Roman"/>
                <a:ea typeface="Times New Roman"/>
                <a:cs typeface="Times New Roman"/>
              </a:rPr>
              <a:t>Mechanism identification</a:t>
            </a:r>
          </a:p>
        </p:txBody>
      </p:sp>
      <p:sp>
        <p:nvSpPr>
          <p:cNvPr id="228" name="s4p2-sub"/>
          <p:cNvSpPr txBox="1"/>
          <p:nvPr/>
        </p:nvSpPr>
        <p:spPr>
          <a:xfrm>
            <a:off x="14639925" y="36531232"/>
            <a:ext cx="9662160" cy="7648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76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Coupling between perception and satisfaction</a:t>
            </a:r>
          </a:p>
        </p:txBody>
      </p:sp>
      <p:sp>
        <p:nvSpPr>
          <p:cNvPr id="229" name="s4p2-b1"/>
          <p:cNvSpPr/>
          <p:nvPr/>
        </p:nvSpPr>
        <p:spPr>
          <a:xfrm>
            <a:off x="10763250" y="38328600"/>
            <a:ext cx="4314825" cy="1971675"/>
          </a:xfrm>
          <a:prstGeom prst="roundRect">
            <a:avLst>
              <a:gd name="adj" fmla="val 6763"/>
            </a:avLst>
          </a:prstGeom>
          <a:solidFill>
            <a:srgbClr val="E7F1FB"/>
          </a:solidFill>
          <a:ln w="285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0" name="Picture 229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096625" y="38814375"/>
            <a:ext cx="2000250" cy="1524000"/>
          </a:xfrm>
          <a:prstGeom prst="rect">
            <a:avLst/>
          </a:prstGeom>
        </p:spPr>
      </p:pic>
      <p:sp>
        <p:nvSpPr>
          <p:cNvPr id="231" name="s4p2-t1"/>
          <p:cNvSpPr txBox="1"/>
          <p:nvPr/>
        </p:nvSpPr>
        <p:spPr>
          <a:xfrm>
            <a:off x="13525500" y="38116192"/>
            <a:ext cx="2699385" cy="904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Visual</a:t>
            </a:r>
          </a:p>
          <a:p>
            <a:pPr algn="l">
              <a:lnSpc>
                <a:spcPct val="100000"/>
              </a:lnSpc>
            </a:pPr>
            <a:r>
              <a:rPr sz="44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perception</a:t>
            </a:r>
          </a:p>
        </p:txBody>
      </p:sp>
      <p:sp>
        <p:nvSpPr>
          <p:cNvPr id="232" name="s4p2-ar1"/>
          <p:cNvSpPr/>
          <p:nvPr/>
        </p:nvSpPr>
        <p:spPr>
          <a:xfrm>
            <a:off x="15192375" y="38928675"/>
            <a:ext cx="1905000" cy="66675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3" name="s4p2-ar1b"/>
          <p:cNvCxnSpPr/>
          <p:nvPr/>
        </p:nvCxnSpPr>
        <p:spPr>
          <a:xfrm>
            <a:off x="15382875" y="39262050"/>
            <a:ext cx="1476375" cy="0"/>
          </a:xfrm>
          <a:prstGeom prst="line">
            <a:avLst/>
          </a:prstGeom>
          <a:ln w="5715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s4p2-b2"/>
          <p:cNvSpPr/>
          <p:nvPr/>
        </p:nvSpPr>
        <p:spPr>
          <a:xfrm>
            <a:off x="17278350" y="38328600"/>
            <a:ext cx="6105525" cy="1971675"/>
          </a:xfrm>
          <a:prstGeom prst="roundRect">
            <a:avLst>
              <a:gd name="adj" fmla="val 6763"/>
            </a:avLst>
          </a:prstGeom>
          <a:solidFill>
            <a:srgbClr val="FDF3E9"/>
          </a:solidFill>
          <a:ln w="28575">
            <a:solidFill>
              <a:srgbClr val="C87E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5" name="Picture 234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7668875" y="38719125"/>
            <a:ext cx="1428750" cy="1666875"/>
          </a:xfrm>
          <a:prstGeom prst="rect">
            <a:avLst/>
          </a:prstGeom>
        </p:spPr>
      </p:pic>
      <p:sp>
        <p:nvSpPr>
          <p:cNvPr id="236" name="s4p2-t2"/>
          <p:cNvSpPr txBox="1"/>
          <p:nvPr/>
        </p:nvSpPr>
        <p:spPr>
          <a:xfrm>
            <a:off x="19335750" y="38116192"/>
            <a:ext cx="2699385" cy="904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Thermal</a:t>
            </a:r>
          </a:p>
          <a:p>
            <a:pPr algn="l">
              <a:lnSpc>
                <a:spcPct val="100000"/>
              </a:lnSpc>
            </a:pPr>
            <a:r>
              <a:rPr sz="44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perception</a:t>
            </a:r>
          </a:p>
        </p:txBody>
      </p:sp>
      <p:sp>
        <p:nvSpPr>
          <p:cNvPr id="237" name="s4p2-ar2"/>
          <p:cNvSpPr/>
          <p:nvPr/>
        </p:nvSpPr>
        <p:spPr>
          <a:xfrm>
            <a:off x="22117050" y="38842950"/>
            <a:ext cx="1276350" cy="904875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4p2-b3"/>
          <p:cNvSpPr/>
          <p:nvPr/>
        </p:nvSpPr>
        <p:spPr>
          <a:xfrm>
            <a:off x="23745825" y="38300025"/>
            <a:ext cx="4867275" cy="1971675"/>
          </a:xfrm>
          <a:prstGeom prst="roundRect">
            <a:avLst>
              <a:gd name="adj" fmla="val 6763"/>
            </a:avLst>
          </a:prstGeom>
          <a:solidFill>
            <a:srgbClr val="E9F5E9"/>
          </a:solidFill>
          <a:ln w="28575">
            <a:solidFill>
              <a:srgbClr val="4EA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9" name="Picture 238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3669625" y="38814375"/>
            <a:ext cx="1666875" cy="1476375"/>
          </a:xfrm>
          <a:prstGeom prst="rect">
            <a:avLst/>
          </a:prstGeom>
        </p:spPr>
      </p:pic>
      <p:sp>
        <p:nvSpPr>
          <p:cNvPr id="240" name="s4p2-t3"/>
          <p:cNvSpPr txBox="1"/>
          <p:nvPr/>
        </p:nvSpPr>
        <p:spPr>
          <a:xfrm>
            <a:off x="25431750" y="38124765"/>
            <a:ext cx="2849880" cy="89725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Overall</a:t>
            </a:r>
          </a:p>
          <a:p>
            <a:pPr algn="l">
              <a:lnSpc>
                <a:spcPct val="100000"/>
              </a:lnSpc>
            </a:pPr>
            <a:r>
              <a:rPr sz="44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satisfaction</a:t>
            </a:r>
          </a:p>
        </p:txBody>
      </p:sp>
      <p:sp>
        <p:nvSpPr>
          <p:cNvPr id="241" name="s4p2-eq"/>
          <p:cNvSpPr/>
          <p:nvPr/>
        </p:nvSpPr>
        <p:spPr>
          <a:xfrm>
            <a:off x="10658475" y="40852725"/>
            <a:ext cx="18068925" cy="1609725"/>
          </a:xfrm>
          <a:prstGeom prst="roundRect">
            <a:avLst>
              <a:gd name="adj" fmla="val 11834"/>
            </a:avLst>
          </a:prstGeom>
          <a:solidFill>
            <a:srgbClr val="E2F1F4"/>
          </a:solidFill>
          <a:ln w="28575">
            <a:solidFill>
              <a:srgbClr val="068A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s4p2-eq-t"/>
          <p:cNvSpPr txBox="1"/>
          <p:nvPr/>
        </p:nvSpPr>
        <p:spPr>
          <a:xfrm>
            <a:off x="10736580" y="40641270"/>
            <a:ext cx="17960340" cy="85629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2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Overall satisfaction 0.659 × visual satisfaction + 0.344 × thermal satisfaction</a:t>
            </a:r>
          </a:p>
        </p:txBody>
      </p:sp>
      <p:sp>
        <p:nvSpPr>
          <p:cNvPr id="243" name="s4p3-badge"/>
          <p:cNvSpPr/>
          <p:nvPr/>
        </p:nvSpPr>
        <p:spPr>
          <a:xfrm>
            <a:off x="31180088" y="35952112"/>
            <a:ext cx="885825" cy="885825"/>
          </a:xfrm>
          <a:prstGeom prst="ellipse">
            <a:avLst/>
          </a:prstGeom>
          <a:solidFill>
            <a:srgbClr val="06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s4p3-badge-n"/>
          <p:cNvSpPr txBox="1"/>
          <p:nvPr/>
        </p:nvSpPr>
        <p:spPr>
          <a:xfrm>
            <a:off x="31456312" y="35235832"/>
            <a:ext cx="343852" cy="944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45" name="s4p3-title"/>
          <p:cNvSpPr txBox="1"/>
          <p:nvPr/>
        </p:nvSpPr>
        <p:spPr>
          <a:xfrm>
            <a:off x="32489775" y="35455860"/>
            <a:ext cx="7819072" cy="8743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305" b="1" i="0">
                <a:solidFill>
                  <a:srgbClr val="194D5A"/>
                </a:solidFill>
                <a:latin typeface="Times New Roman"/>
                <a:ea typeface="Times New Roman"/>
                <a:cs typeface="Times New Roman"/>
              </a:rPr>
              <a:t>Key findings and design outputs</a:t>
            </a:r>
          </a:p>
        </p:txBody>
      </p:sp>
      <p:pic>
        <p:nvPicPr>
          <p:cNvPr id="246" name="Picture 245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0290750" y="35909250"/>
            <a:ext cx="5286375" cy="3333750"/>
          </a:xfrm>
          <a:prstGeom prst="rect">
            <a:avLst/>
          </a:prstGeom>
        </p:spPr>
      </p:pic>
      <p:pic>
        <p:nvPicPr>
          <p:cNvPr id="247" name="Picture 246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1261050" y="37023675"/>
            <a:ext cx="552450" cy="1066800"/>
          </a:xfrm>
          <a:prstGeom prst="rect">
            <a:avLst/>
          </a:prstGeom>
        </p:spPr>
      </p:pic>
      <p:pic>
        <p:nvPicPr>
          <p:cNvPr id="248" name="Picture 247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1261050" y="38433375"/>
            <a:ext cx="590550" cy="952500"/>
          </a:xfrm>
          <a:prstGeom prst="rect">
            <a:avLst/>
          </a:prstGeom>
        </p:spPr>
      </p:pic>
      <p:pic>
        <p:nvPicPr>
          <p:cNvPr id="249" name="Picture 248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1261050" y="40967025"/>
            <a:ext cx="571500" cy="1143000"/>
          </a:xfrm>
          <a:prstGeom prst="rect">
            <a:avLst/>
          </a:prstGeom>
        </p:spPr>
      </p:pic>
      <p:sp>
        <p:nvSpPr>
          <p:cNvPr id="250" name="s4p3-r1"/>
          <p:cNvSpPr txBox="1"/>
          <p:nvPr/>
        </p:nvSpPr>
        <p:spPr>
          <a:xfrm>
            <a:off x="32042100" y="36685538"/>
            <a:ext cx="674179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Water visibility is the most influential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cross-dimensional factor</a:t>
            </a:r>
          </a:p>
        </p:txBody>
      </p:sp>
      <p:sp>
        <p:nvSpPr>
          <p:cNvPr id="251" name="s4p3-r2"/>
          <p:cNvSpPr txBox="1"/>
          <p:nvPr/>
        </p:nvSpPr>
        <p:spPr>
          <a:xfrm>
            <a:off x="32042100" y="38095238"/>
            <a:ext cx="682561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Important factors: environmental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naturalness, road material naturalness,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greenway curvature, sky shading,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plant density</a:t>
            </a:r>
          </a:p>
        </p:txBody>
      </p:sp>
      <p:sp>
        <p:nvSpPr>
          <p:cNvPr id="252" name="s4p3-r3"/>
          <p:cNvSpPr txBox="1"/>
          <p:nvPr/>
        </p:nvSpPr>
        <p:spPr>
          <a:xfrm>
            <a:off x="32042100" y="40543162"/>
            <a:ext cx="811911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Output: evidence for visual-thermal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integrated greenway design and</a:t>
            </a:r>
          </a:p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climate-adaptive planning in hot-humid cities</a:t>
            </a:r>
          </a:p>
        </p:txBody>
      </p:sp>
      <p:pic>
        <p:nvPicPr>
          <p:cNvPr id="253" name="Picture 252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9576375" y="39290625"/>
            <a:ext cx="6572250" cy="3238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