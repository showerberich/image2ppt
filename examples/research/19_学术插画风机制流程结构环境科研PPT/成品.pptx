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880050" cy="179260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30880050" cy="17926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2" name="hdr"/>
          <p:cNvGrpSpPr/>
          <p:nvPr/>
        </p:nvGrpSpPr>
        <p:grpSpPr>
          <a:xfrm>
            <a:off x="1171575" y="1619250"/>
            <a:ext cx="28451175" cy="3019425"/>
            <a:chOff x="1171575" y="1619250"/>
            <a:chExt cx="28451175" cy="3019425"/>
          </a:xfrm>
        </p:grpSpPr>
        <p:sp>
          <p:nvSpPr>
            <p:cNvPr id="3" name="h-title"/>
            <p:cNvSpPr txBox="1"/>
            <p:nvPr/>
          </p:nvSpPr>
          <p:spPr>
            <a:xfrm>
              <a:off x="1314450" y="1619250"/>
              <a:ext cx="14287500" cy="914400"/>
            </a:xfrm>
            <a:prstGeom prst="rect">
              <a:avLst/>
            </a:prstGeom>
            <a:noFill/>
            <a:effectLst/>
          </p:spPr>
          <p:txBody>
            <a:bodyPr wrap="none" lIns="0" rIns="0" tIns="0" bIns="0" anchor="ctr">
              <a:spAutoFit/>
            </a:bodyPr>
            <a:lstStyle/>
            <a:p>
              <a:pPr algn="l">
                <a:lnSpc>
                  <a:spcPct val="100000"/>
                </a:lnSpc>
              </a:pPr>
              <a:r>
                <a:rPr sz="6600" b="1" i="0">
                  <a:solidFill>
                    <a:srgbClr val="3362B0"/>
                  </a:solidFill>
                  <a:latin typeface="Microsoft YaHei"/>
                  <a:ea typeface="Microsoft YaHei"/>
                  <a:cs typeface="Microsoft YaHei"/>
                </a:rPr>
                <a:t>冰川融化与海平面上升影响机制研究</a:t>
              </a:r>
            </a:p>
          </p:txBody>
        </p:sp>
        <p:sp>
          <p:nvSpPr>
            <p:cNvPr id="4" name="h-rule"/>
            <p:cNvSpPr/>
            <p:nvPr/>
          </p:nvSpPr>
          <p:spPr>
            <a:xfrm>
              <a:off x="1171575" y="2933700"/>
              <a:ext cx="28451175" cy="38100"/>
            </a:xfrm>
            <a:prstGeom prst="rect">
              <a:avLst/>
            </a:prstGeom>
            <a:solidFill>
              <a:srgbClr val="447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h-banner"/>
            <p:cNvSpPr/>
            <p:nvPr/>
          </p:nvSpPr>
          <p:spPr>
            <a:xfrm>
              <a:off x="1247775" y="3381375"/>
              <a:ext cx="27993975" cy="1257300"/>
            </a:xfrm>
            <a:prstGeom prst="roundRect">
              <a:avLst>
                <a:gd name="adj" fmla="val 6060"/>
              </a:avLst>
            </a:prstGeom>
            <a:solidFill>
              <a:srgbClr val="336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chev1"/>
            <p:cNvSpPr/>
            <p:nvPr/>
          </p:nvSpPr>
          <p:spPr>
            <a:xfrm>
              <a:off x="1628775" y="3695700"/>
              <a:ext cx="400050" cy="590550"/>
            </a:xfrm>
            <a:custGeom>
              <a:avLst/>
              <a:gdLst/>
              <a:ahLst/>
              <a:cxnLst/>
              <a:rect l="l" t="t" r="r" b="b"/>
              <a:pathLst>
                <a:path w="400050" h="590550">
                  <a:moveTo>
                    <a:pt x="0" y="0"/>
                  </a:moveTo>
                  <a:lnTo>
                    <a:pt x="85725" y="0"/>
                  </a:lnTo>
                  <a:lnTo>
                    <a:pt x="400050" y="295275"/>
                  </a:lnTo>
                  <a:lnTo>
                    <a:pt x="85725" y="590550"/>
                  </a:lnTo>
                  <a:lnTo>
                    <a:pt x="0" y="590550"/>
                  </a:lnTo>
                  <a:lnTo>
                    <a:pt x="152400" y="295275"/>
                  </a:lnTo>
                  <a:close/>
                </a:path>
              </a:pathLst>
            </a:custGeom>
            <a:solidFill>
              <a:srgbClr val="ACB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h-chev2"/>
            <p:cNvSpPr/>
            <p:nvPr/>
          </p:nvSpPr>
          <p:spPr>
            <a:xfrm>
              <a:off x="1943100" y="3695700"/>
              <a:ext cx="400050" cy="590550"/>
            </a:xfrm>
            <a:custGeom>
              <a:avLst/>
              <a:gdLst/>
              <a:ahLst/>
              <a:cxnLst/>
              <a:rect l="l" t="t" r="r" b="b"/>
              <a:pathLst>
                <a:path w="400050" h="590550">
                  <a:moveTo>
                    <a:pt x="0" y="0"/>
                  </a:moveTo>
                  <a:lnTo>
                    <a:pt x="85725" y="0"/>
                  </a:lnTo>
                  <a:lnTo>
                    <a:pt x="400050" y="295275"/>
                  </a:lnTo>
                  <a:lnTo>
                    <a:pt x="85725" y="590550"/>
                  </a:lnTo>
                  <a:lnTo>
                    <a:pt x="0" y="590550"/>
                  </a:lnTo>
                  <a:lnTo>
                    <a:pt x="152400" y="295275"/>
                  </a:lnTo>
                  <a:close/>
                </a:path>
              </a:pathLst>
            </a:custGeom>
            <a:solidFill>
              <a:srgbClr val="ACBC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h-bannertxt"/>
            <p:cNvSpPr txBox="1"/>
            <p:nvPr/>
          </p:nvSpPr>
          <p:spPr>
            <a:xfrm>
              <a:off x="2771775" y="3790950"/>
              <a:ext cx="20383500" cy="457200"/>
            </a:xfrm>
            <a:prstGeom prst="rect">
              <a:avLst/>
            </a:prstGeom>
            <a:noFill/>
            <a:effectLst/>
          </p:spPr>
          <p:txBody>
            <a:bodyPr wrap="none" lIns="0" rIns="0" tIns="0" bIns="0" anchor="ctr">
              <a:spAutoFit/>
            </a:bodyPr>
            <a:lstStyle/>
            <a:p>
              <a:pPr algn="l">
                <a:lnSpc>
                  <a:spcPct val="100000"/>
                </a:lnSpc>
              </a:pPr>
              <a:r>
                <a:rPr sz="3525" b="1" i="0">
                  <a:solidFill>
                    <a:srgbClr val="FFFFFF"/>
                  </a:solidFill>
                  <a:latin typeface="Microsoft YaHei"/>
                  <a:ea typeface="Microsoft YaHei"/>
                  <a:cs typeface="Microsoft YaHei"/>
                </a:rPr>
                <a:t>研究目的：揭示气候变暖导致冰川加速融化及其对全球海平面上升和海岸带生态系统的复杂影响机制。</a:t>
              </a:r>
            </a:p>
          </p:txBody>
        </p:sp>
      </p:grpSp>
      <p:grpSp>
        <p:nvGrpSpPr>
          <p:cNvPr id="139" name="tabs"/>
          <p:cNvGrpSpPr/>
          <p:nvPr/>
        </p:nvGrpSpPr>
        <p:grpSpPr>
          <a:xfrm>
            <a:off x="1219200" y="4953000"/>
            <a:ext cx="1076325" cy="10820400"/>
            <a:chOff x="1219200" y="4953000"/>
            <a:chExt cx="1076325" cy="10820400"/>
          </a:xfrm>
        </p:grpSpPr>
        <p:sp>
          <p:nvSpPr>
            <p:cNvPr id="9" name="tab1-bg"/>
            <p:cNvSpPr/>
            <p:nvPr/>
          </p:nvSpPr>
          <p:spPr>
            <a:xfrm>
              <a:off x="1238250" y="4953000"/>
              <a:ext cx="1057275" cy="5505450"/>
            </a:xfrm>
            <a:prstGeom prst="rect">
              <a:avLst/>
            </a:prstGeom>
            <a:solidFill>
              <a:srgbClr val="336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ab1-c0"/>
            <p:cNvSpPr txBox="1"/>
            <p:nvPr/>
          </p:nvSpPr>
          <p:spPr>
            <a:xfrm>
              <a:off x="1428750" y="541972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驱</a:t>
              </a:r>
            </a:p>
          </p:txBody>
        </p:sp>
        <p:sp>
          <p:nvSpPr>
            <p:cNvPr id="11" name="tab1-c1"/>
            <p:cNvSpPr txBox="1"/>
            <p:nvPr/>
          </p:nvSpPr>
          <p:spPr>
            <a:xfrm>
              <a:off x="1428750" y="608647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动</a:t>
              </a:r>
            </a:p>
          </p:txBody>
        </p:sp>
        <p:sp>
          <p:nvSpPr>
            <p:cNvPr id="12" name="tab1-c2"/>
            <p:cNvSpPr txBox="1"/>
            <p:nvPr/>
          </p:nvSpPr>
          <p:spPr>
            <a:xfrm>
              <a:off x="1428750" y="675322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因</a:t>
              </a:r>
            </a:p>
          </p:txBody>
        </p:sp>
        <p:sp>
          <p:nvSpPr>
            <p:cNvPr id="13" name="tab1-c3"/>
            <p:cNvSpPr txBox="1"/>
            <p:nvPr/>
          </p:nvSpPr>
          <p:spPr>
            <a:xfrm>
              <a:off x="1428750" y="741997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素</a:t>
              </a:r>
            </a:p>
          </p:txBody>
        </p:sp>
        <p:sp>
          <p:nvSpPr>
            <p:cNvPr id="14" name="tab1-c4"/>
            <p:cNvSpPr txBox="1"/>
            <p:nvPr/>
          </p:nvSpPr>
          <p:spPr>
            <a:xfrm>
              <a:off x="1428750" y="808672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与</a:t>
              </a:r>
            </a:p>
          </p:txBody>
        </p:sp>
        <p:sp>
          <p:nvSpPr>
            <p:cNvPr id="15" name="tab1-c5"/>
            <p:cNvSpPr txBox="1"/>
            <p:nvPr/>
          </p:nvSpPr>
          <p:spPr>
            <a:xfrm>
              <a:off x="1428750" y="875347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过</a:t>
              </a:r>
            </a:p>
          </p:txBody>
        </p:sp>
        <p:sp>
          <p:nvSpPr>
            <p:cNvPr id="16" name="tab1-c6"/>
            <p:cNvSpPr txBox="1"/>
            <p:nvPr/>
          </p:nvSpPr>
          <p:spPr>
            <a:xfrm>
              <a:off x="1428750" y="9420225"/>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程</a:t>
              </a:r>
            </a:p>
          </p:txBody>
        </p:sp>
        <p:sp>
          <p:nvSpPr>
            <p:cNvPr id="17" name="tab2-bg"/>
            <p:cNvSpPr/>
            <p:nvPr/>
          </p:nvSpPr>
          <p:spPr>
            <a:xfrm>
              <a:off x="1219200" y="10706100"/>
              <a:ext cx="1057275" cy="5067300"/>
            </a:xfrm>
            <a:prstGeom prst="rect">
              <a:avLst/>
            </a:prstGeom>
            <a:solidFill>
              <a:srgbClr val="D846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b2-c0"/>
            <p:cNvSpPr txBox="1"/>
            <p:nvPr/>
          </p:nvSpPr>
          <p:spPr>
            <a:xfrm>
              <a:off x="1409700" y="1093470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机</a:t>
              </a:r>
            </a:p>
          </p:txBody>
        </p:sp>
        <p:sp>
          <p:nvSpPr>
            <p:cNvPr id="19" name="tab2-c1"/>
            <p:cNvSpPr txBox="1"/>
            <p:nvPr/>
          </p:nvSpPr>
          <p:spPr>
            <a:xfrm>
              <a:off x="1409700" y="1160145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制</a:t>
              </a:r>
            </a:p>
          </p:txBody>
        </p:sp>
        <p:sp>
          <p:nvSpPr>
            <p:cNvPr id="20" name="tab2-c2"/>
            <p:cNvSpPr txBox="1"/>
            <p:nvPr/>
          </p:nvSpPr>
          <p:spPr>
            <a:xfrm>
              <a:off x="1409700" y="1226820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与</a:t>
              </a:r>
            </a:p>
          </p:txBody>
        </p:sp>
        <p:sp>
          <p:nvSpPr>
            <p:cNvPr id="21" name="tab2-c3"/>
            <p:cNvSpPr txBox="1"/>
            <p:nvPr/>
          </p:nvSpPr>
          <p:spPr>
            <a:xfrm>
              <a:off x="1409700" y="1293495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相</a:t>
              </a:r>
            </a:p>
          </p:txBody>
        </p:sp>
        <p:sp>
          <p:nvSpPr>
            <p:cNvPr id="22" name="tab2-c4"/>
            <p:cNvSpPr txBox="1"/>
            <p:nvPr/>
          </p:nvSpPr>
          <p:spPr>
            <a:xfrm>
              <a:off x="1409700" y="1360170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互</a:t>
              </a:r>
            </a:p>
          </p:txBody>
        </p:sp>
        <p:sp>
          <p:nvSpPr>
            <p:cNvPr id="23" name="tab2-c5"/>
            <p:cNvSpPr txBox="1"/>
            <p:nvPr/>
          </p:nvSpPr>
          <p:spPr>
            <a:xfrm>
              <a:off x="1409700" y="1426845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作</a:t>
              </a:r>
            </a:p>
          </p:txBody>
        </p:sp>
        <p:sp>
          <p:nvSpPr>
            <p:cNvPr id="24" name="tab2-c6"/>
            <p:cNvSpPr txBox="1"/>
            <p:nvPr/>
          </p:nvSpPr>
          <p:spPr>
            <a:xfrm>
              <a:off x="1409700" y="14935200"/>
              <a:ext cx="685800" cy="609600"/>
            </a:xfrm>
            <a:prstGeom prst="rect">
              <a:avLst/>
            </a:prstGeom>
            <a:noFill/>
            <a:effectLst/>
          </p:spPr>
          <p:txBody>
            <a:bodyPr wrap="none" lIns="0" rIns="0" tIns="0" bIns="0" anchor="ctr">
              <a:spAutoFit/>
            </a:bodyPr>
            <a:lstStyle/>
            <a:p>
              <a:pPr algn="ctr">
                <a:lnSpc>
                  <a:spcPct val="100000"/>
                </a:lnSpc>
              </a:pPr>
              <a:r>
                <a:rPr sz="3525" b="1" i="0">
                  <a:solidFill>
                    <a:srgbClr val="FFFFFF"/>
                  </a:solidFill>
                  <a:latin typeface="Microsoft YaHei"/>
                  <a:ea typeface="Microsoft YaHei"/>
                  <a:cs typeface="Microsoft YaHei"/>
                </a:rPr>
                <a:t>用</a:t>
              </a:r>
            </a:p>
          </p:txBody>
        </p:sp>
      </p:grpSp>
      <p:grpSp>
        <p:nvGrpSpPr>
          <p:cNvPr id="143" name="col1"/>
          <p:cNvGrpSpPr/>
          <p:nvPr/>
        </p:nvGrpSpPr>
        <p:grpSpPr>
          <a:xfrm>
            <a:off x="2686050" y="5076825"/>
            <a:ext cx="7553325" cy="7877175"/>
            <a:chOff x="2686050" y="5076825"/>
            <a:chExt cx="7553325" cy="7877175"/>
          </a:xfrm>
        </p:grpSpPr>
        <p:sp>
          <p:nvSpPr>
            <p:cNvPr id="25" name="c1-cardA"/>
            <p:cNvSpPr/>
            <p:nvPr/>
          </p:nvSpPr>
          <p:spPr>
            <a:xfrm>
              <a:off x="3409950" y="5076825"/>
              <a:ext cx="2962275" cy="2819400"/>
            </a:xfrm>
            <a:prstGeom prst="roundRect">
              <a:avLst>
                <a:gd name="adj" fmla="val 6756"/>
              </a:avLst>
            </a:prstGeom>
            <a:solidFill>
              <a:srgbClr val="E8EAF6"/>
            </a:solidFill>
            <a:ln w="19050">
              <a:solidFill>
                <a:srgbClr val="4870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1-cardA-t"/>
            <p:cNvSpPr txBox="1"/>
            <p:nvPr/>
          </p:nvSpPr>
          <p:spPr>
            <a:xfrm>
              <a:off x="3524250" y="5334000"/>
              <a:ext cx="2667000" cy="495300"/>
            </a:xfrm>
            <a:prstGeom prst="rect">
              <a:avLst/>
            </a:prstGeom>
            <a:noFill/>
            <a:effectLst/>
          </p:spPr>
          <p:txBody>
            <a:bodyPr wrap="none" lIns="0" rIns="0" tIns="0" bIns="0" anchor="ctr">
              <a:spAutoFit/>
            </a:bodyPr>
            <a:lstStyle/>
            <a:p>
              <a:pPr algn="ctr">
                <a:lnSpc>
                  <a:spcPct val="100000"/>
                </a:lnSpc>
              </a:pPr>
              <a:r>
                <a:rPr sz="3075" b="1" i="0">
                  <a:solidFill>
                    <a:srgbClr val="444547"/>
                  </a:solidFill>
                  <a:latin typeface="Microsoft YaHei"/>
                  <a:ea typeface="Microsoft YaHei"/>
                  <a:cs typeface="Microsoft YaHei"/>
                </a:rPr>
                <a:t>温室气体排放</a:t>
              </a:r>
            </a:p>
          </p:txBody>
        </p:sp>
        <p:sp>
          <p:nvSpPr>
            <p:cNvPr id="27" name="c1-cardB"/>
            <p:cNvSpPr/>
            <p:nvPr/>
          </p:nvSpPr>
          <p:spPr>
            <a:xfrm>
              <a:off x="6953250" y="5076825"/>
              <a:ext cx="2962275" cy="2819400"/>
            </a:xfrm>
            <a:prstGeom prst="roundRect">
              <a:avLst>
                <a:gd name="adj" fmla="val 6756"/>
              </a:avLst>
            </a:prstGeom>
            <a:solidFill>
              <a:srgbClr val="E8EAF6"/>
            </a:solidFill>
            <a:ln w="19050">
              <a:solidFill>
                <a:srgbClr val="4870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1-cardB-t"/>
            <p:cNvSpPr txBox="1"/>
            <p:nvPr/>
          </p:nvSpPr>
          <p:spPr>
            <a:xfrm>
              <a:off x="7096125" y="5334000"/>
              <a:ext cx="2667000" cy="495300"/>
            </a:xfrm>
            <a:prstGeom prst="rect">
              <a:avLst/>
            </a:prstGeom>
            <a:noFill/>
            <a:effectLst/>
          </p:spPr>
          <p:txBody>
            <a:bodyPr wrap="none" lIns="0" rIns="0" tIns="0" bIns="0" anchor="ctr">
              <a:spAutoFit/>
            </a:bodyPr>
            <a:lstStyle/>
            <a:p>
              <a:pPr algn="ctr">
                <a:lnSpc>
                  <a:spcPct val="100000"/>
                </a:lnSpc>
              </a:pPr>
              <a:r>
                <a:rPr sz="3075" b="1" i="0">
                  <a:solidFill>
                    <a:srgbClr val="444547"/>
                  </a:solidFill>
                  <a:latin typeface="Microsoft YaHei"/>
                  <a:ea typeface="Microsoft YaHei"/>
                  <a:cs typeface="Microsoft YaHei"/>
                </a:rPr>
                <a:t>全球气候变暖</a:t>
              </a:r>
            </a:p>
          </p:txBody>
        </p:sp>
        <p:sp>
          <p:nvSpPr>
            <p:cNvPr id="29" name="c1-cardC"/>
            <p:cNvSpPr/>
            <p:nvPr/>
          </p:nvSpPr>
          <p:spPr>
            <a:xfrm>
              <a:off x="3619500" y="8686800"/>
              <a:ext cx="5886450" cy="4267200"/>
            </a:xfrm>
            <a:prstGeom prst="roundRect">
              <a:avLst>
                <a:gd name="adj" fmla="val 5357"/>
              </a:avLst>
            </a:prstGeom>
            <a:solidFill>
              <a:srgbClr val="E8EAF6"/>
            </a:solidFill>
            <a:ln w="19050">
              <a:solidFill>
                <a:srgbClr val="4870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1-cardC-t"/>
            <p:cNvSpPr txBox="1"/>
            <p:nvPr/>
          </p:nvSpPr>
          <p:spPr>
            <a:xfrm>
              <a:off x="5048250" y="9001125"/>
              <a:ext cx="3048000" cy="495300"/>
            </a:xfrm>
            <a:prstGeom prst="rect">
              <a:avLst/>
            </a:prstGeom>
            <a:noFill/>
            <a:effectLst/>
          </p:spPr>
          <p:txBody>
            <a:bodyPr wrap="none" lIns="0" rIns="0" tIns="0" bIns="0" anchor="ctr">
              <a:spAutoFit/>
            </a:bodyPr>
            <a:lstStyle/>
            <a:p>
              <a:pPr algn="ctr">
                <a:lnSpc>
                  <a:spcPct val="100000"/>
                </a:lnSpc>
              </a:pPr>
              <a:r>
                <a:rPr sz="3075" b="1" i="0">
                  <a:solidFill>
                    <a:srgbClr val="444547"/>
                  </a:solidFill>
                  <a:latin typeface="Microsoft YaHei"/>
                  <a:ea typeface="Microsoft YaHei"/>
                  <a:cs typeface="Microsoft YaHei"/>
                </a:rPr>
                <a:t>大气与海洋升温</a:t>
              </a:r>
            </a:p>
          </p:txBody>
        </p:sp>
        <p:pic>
          <p:nvPicPr>
            <p:cNvPr id="31" name="c1-photo-earth" descr="p1-earth-ocean.png"/>
            <p:cNvPicPr>
              <a:picLocks noChangeAspect="1"/>
            </p:cNvPicPr>
            <p:nvPr/>
          </p:nvPicPr>
          <p:blipFill>
            <a:blip r:embed="rId2"/>
            <a:stretch>
              <a:fillRect/>
            </a:stretch>
          </p:blipFill>
          <p:spPr>
            <a:xfrm>
              <a:off x="3714750" y="9791700"/>
              <a:ext cx="5715000" cy="3105150"/>
            </a:xfrm>
            <a:prstGeom prst="rect">
              <a:avLst/>
            </a:prstGeom>
            <a:effectLst/>
          </p:spPr>
        </p:pic>
        <p:sp>
          <p:nvSpPr>
            <p:cNvPr id="32" name="c1-arr-tab"/>
            <p:cNvSpPr/>
            <p:nvPr/>
          </p:nvSpPr>
          <p:spPr>
            <a:xfrm>
              <a:off x="2686050" y="6267450"/>
              <a:ext cx="533400" cy="628650"/>
            </a:xfrm>
            <a:prstGeom prst="rightArrow">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1-arr-ab"/>
            <p:cNvSpPr/>
            <p:nvPr/>
          </p:nvSpPr>
          <p:spPr>
            <a:xfrm>
              <a:off x="6343650" y="6305550"/>
              <a:ext cx="647700" cy="533400"/>
            </a:xfrm>
            <a:prstGeom prst="rightArrow">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1-arr-bc"/>
            <p:cNvSpPr/>
            <p:nvPr/>
          </p:nvSpPr>
          <p:spPr>
            <a:xfrm>
              <a:off x="8153400" y="7905750"/>
              <a:ext cx="552450" cy="809625"/>
            </a:xfrm>
            <a:prstGeom prst="downArrow">
              <a:avLst/>
            </a:prstGeom>
            <a:solidFill>
              <a:srgbClr val="5B9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1-arr-cp2"/>
            <p:cNvSpPr/>
            <p:nvPr/>
          </p:nvSpPr>
          <p:spPr>
            <a:xfrm>
              <a:off x="9677400" y="8696325"/>
              <a:ext cx="561975" cy="609600"/>
            </a:xfrm>
            <a:prstGeom prst="rightArrow">
              <a:avLst>
                <a:gd name="adj1" fmla="val 40000"/>
                <a:gd name="adj2" fmla="val 42000"/>
              </a:avLst>
            </a:prstGeom>
            <a:solidFill>
              <a:srgbClr val="7BA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1-gas1-a"/>
            <p:cNvSpPr/>
            <p:nvPr/>
          </p:nvSpPr>
          <p:spPr>
            <a:xfrm>
              <a:off x="3886200" y="6555486"/>
              <a:ext cx="584454" cy="498729"/>
            </a:xfrm>
            <a:prstGeom prst="ellipse">
              <a:avLst/>
            </a:prstGeom>
            <a:solidFill>
              <a:srgbClr val="7D7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1-gas1-b"/>
            <p:cNvSpPr/>
            <p:nvPr/>
          </p:nvSpPr>
          <p:spPr>
            <a:xfrm>
              <a:off x="4178427" y="6467475"/>
              <a:ext cx="606933" cy="498729"/>
            </a:xfrm>
            <a:prstGeom prst="ellipse">
              <a:avLst/>
            </a:prstGeom>
            <a:solidFill>
              <a:srgbClr val="7D7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1-gas1-c"/>
            <p:cNvSpPr/>
            <p:nvPr/>
          </p:nvSpPr>
          <p:spPr>
            <a:xfrm>
              <a:off x="4538091" y="6599492"/>
              <a:ext cx="472059" cy="440055"/>
            </a:xfrm>
            <a:prstGeom prst="ellipse">
              <a:avLst/>
            </a:prstGeom>
            <a:solidFill>
              <a:srgbClr val="7D7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1-gas1-d"/>
            <p:cNvSpPr/>
            <p:nvPr/>
          </p:nvSpPr>
          <p:spPr>
            <a:xfrm>
              <a:off x="3908679" y="6834188"/>
              <a:ext cx="1078992" cy="352044"/>
            </a:xfrm>
            <a:prstGeom prst="roundRect">
              <a:avLst>
                <a:gd name="adj" fmla="val 20833"/>
              </a:avLst>
            </a:prstGeom>
            <a:solidFill>
              <a:srgbClr val="7D7C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1-gas1-t"/>
            <p:cNvSpPr txBox="1"/>
            <p:nvPr/>
          </p:nvSpPr>
          <p:spPr>
            <a:xfrm>
              <a:off x="4067175" y="6743700"/>
              <a:ext cx="762000" cy="266700"/>
            </a:xfrm>
            <a:prstGeom prst="rect">
              <a:avLst/>
            </a:prstGeom>
            <a:noFill/>
            <a:effectLst/>
          </p:spPr>
          <p:txBody>
            <a:bodyPr wrap="none" lIns="0" rIns="0" tIns="0" bIns="0" anchor="ctr">
              <a:spAutoFit/>
            </a:bodyPr>
            <a:lstStyle/>
            <a:p>
              <a:pPr algn="ctr">
                <a:lnSpc>
                  <a:spcPct val="100000"/>
                </a:lnSpc>
              </a:pPr>
              <a:r>
                <a:rPr sz="1575" b="1" i="0">
                  <a:solidFill>
                    <a:srgbClr val="FFFFFF"/>
                  </a:solidFill>
                  <a:latin typeface="Microsoft YaHei"/>
                  <a:ea typeface="Microsoft YaHei"/>
                  <a:cs typeface="Microsoft YaHei"/>
                </a:rPr>
                <a:t>CO₂</a:t>
              </a:r>
            </a:p>
          </p:txBody>
        </p:sp>
        <p:sp>
          <p:nvSpPr>
            <p:cNvPr id="41" name="c1-gas2-a"/>
            <p:cNvSpPr/>
            <p:nvPr/>
          </p:nvSpPr>
          <p:spPr>
            <a:xfrm>
              <a:off x="4867275" y="6201537"/>
              <a:ext cx="445770" cy="382143"/>
            </a:xfrm>
            <a:prstGeom prst="ellipse">
              <a:avLst/>
            </a:prstGeom>
            <a:solidFill>
              <a:srgbClr val="A2A2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1-gas2-b"/>
            <p:cNvSpPr/>
            <p:nvPr/>
          </p:nvSpPr>
          <p:spPr>
            <a:xfrm>
              <a:off x="5090160" y="6134100"/>
              <a:ext cx="462915" cy="382143"/>
            </a:xfrm>
            <a:prstGeom prst="ellipse">
              <a:avLst/>
            </a:prstGeom>
            <a:solidFill>
              <a:srgbClr val="A2A2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1-gas2-c"/>
            <p:cNvSpPr/>
            <p:nvPr/>
          </p:nvSpPr>
          <p:spPr>
            <a:xfrm>
              <a:off x="5364480" y="6235256"/>
              <a:ext cx="360045" cy="337185"/>
            </a:xfrm>
            <a:prstGeom prst="ellipse">
              <a:avLst/>
            </a:prstGeom>
            <a:solidFill>
              <a:srgbClr val="A2A2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1-gas2-d"/>
            <p:cNvSpPr/>
            <p:nvPr/>
          </p:nvSpPr>
          <p:spPr>
            <a:xfrm>
              <a:off x="4884420" y="6415088"/>
              <a:ext cx="822960" cy="269748"/>
            </a:xfrm>
            <a:prstGeom prst="roundRect">
              <a:avLst>
                <a:gd name="adj" fmla="val 20833"/>
              </a:avLst>
            </a:prstGeom>
            <a:solidFill>
              <a:srgbClr val="A2A2A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1-gas2-t"/>
            <p:cNvSpPr txBox="1"/>
            <p:nvPr/>
          </p:nvSpPr>
          <p:spPr>
            <a:xfrm>
              <a:off x="4943475" y="6324600"/>
              <a:ext cx="628650" cy="228600"/>
            </a:xfrm>
            <a:prstGeom prst="rect">
              <a:avLst/>
            </a:prstGeom>
            <a:noFill/>
            <a:effectLst/>
          </p:spPr>
          <p:txBody>
            <a:bodyPr wrap="none" lIns="0" rIns="0" tIns="0" bIns="0" anchor="ctr">
              <a:spAutoFit/>
            </a:bodyPr>
            <a:lstStyle/>
            <a:p>
              <a:pPr algn="ctr">
                <a:lnSpc>
                  <a:spcPct val="100000"/>
                </a:lnSpc>
              </a:pPr>
              <a:r>
                <a:rPr sz="1350" b="1" i="0">
                  <a:solidFill>
                    <a:srgbClr val="FFFFFF"/>
                  </a:solidFill>
                  <a:latin typeface="Microsoft YaHei"/>
                  <a:ea typeface="Microsoft YaHei"/>
                  <a:cs typeface="Microsoft YaHei"/>
                </a:rPr>
                <a:t>CO₂</a:t>
              </a:r>
            </a:p>
          </p:txBody>
        </p:sp>
        <p:sp>
          <p:nvSpPr>
            <p:cNvPr id="46" name="c1-gas3-a"/>
            <p:cNvSpPr/>
            <p:nvPr/>
          </p:nvSpPr>
          <p:spPr>
            <a:xfrm>
              <a:off x="4981575" y="6877050"/>
              <a:ext cx="647700" cy="533400"/>
            </a:xfrm>
            <a:prstGeom prst="ellipse">
              <a:avLst/>
            </a:prstGeom>
            <a:solidFill>
              <a:srgbClr val="8E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1-gas3-b"/>
            <p:cNvSpPr/>
            <p:nvPr/>
          </p:nvSpPr>
          <p:spPr>
            <a:xfrm>
              <a:off x="5010150" y="7219950"/>
              <a:ext cx="590550" cy="457200"/>
            </a:xfrm>
            <a:custGeom>
              <a:avLst/>
              <a:gdLst/>
              <a:ahLst/>
              <a:cxnLst/>
              <a:rect l="l" t="t" r="r" b="b"/>
              <a:pathLst>
                <a:path w="590550" h="457200">
                  <a:moveTo>
                    <a:pt x="295275" y="457200"/>
                  </a:moveTo>
                  <a:lnTo>
                    <a:pt x="0" y="0"/>
                  </a:lnTo>
                  <a:lnTo>
                    <a:pt x="590550" y="0"/>
                  </a:lnTo>
                  <a:close/>
                </a:path>
              </a:pathLst>
            </a:custGeom>
            <a:solidFill>
              <a:srgbClr val="8E9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1-gas3-t"/>
            <p:cNvSpPr txBox="1"/>
            <p:nvPr/>
          </p:nvSpPr>
          <p:spPr>
            <a:xfrm>
              <a:off x="5067300" y="7134225"/>
              <a:ext cx="685800" cy="247650"/>
            </a:xfrm>
            <a:prstGeom prst="rect">
              <a:avLst/>
            </a:prstGeom>
            <a:noFill/>
            <a:effectLst/>
          </p:spPr>
          <p:txBody>
            <a:bodyPr wrap="none" lIns="0" rIns="0" tIns="0" bIns="0" anchor="ctr">
              <a:spAutoFit/>
            </a:bodyPr>
            <a:lstStyle/>
            <a:p>
              <a:pPr algn="ctr">
                <a:lnSpc>
                  <a:spcPct val="100000"/>
                </a:lnSpc>
              </a:pPr>
              <a:r>
                <a:rPr sz="1500" b="1" i="0">
                  <a:solidFill>
                    <a:srgbClr val="FFFFFF"/>
                  </a:solidFill>
                  <a:latin typeface="Microsoft YaHei"/>
                  <a:ea typeface="Microsoft YaHei"/>
                  <a:cs typeface="Microsoft YaHei"/>
                </a:rPr>
                <a:t>CH₄</a:t>
              </a:r>
            </a:p>
          </p:txBody>
        </p:sp>
        <p:sp>
          <p:nvSpPr>
            <p:cNvPr id="49" name="c1-gas4"/>
            <p:cNvSpPr/>
            <p:nvPr/>
          </p:nvSpPr>
          <p:spPr>
            <a:xfrm>
              <a:off x="5524500" y="6838950"/>
              <a:ext cx="209550" cy="228600"/>
            </a:xfrm>
            <a:prstGeom prst="ellipse">
              <a:avLst/>
            </a:prstGeom>
            <a:solidFill>
              <a:srgbClr val="959A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1-th-stem"/>
            <p:cNvSpPr/>
            <p:nvPr/>
          </p:nvSpPr>
          <p:spPr>
            <a:xfrm>
              <a:off x="8143875" y="5915025"/>
              <a:ext cx="266700" cy="1381125"/>
            </a:xfrm>
            <a:prstGeom prst="roundRect">
              <a:avLst>
                <a:gd name="adj" fmla="val 50000"/>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1-th-bulb"/>
            <p:cNvSpPr/>
            <p:nvPr/>
          </p:nvSpPr>
          <p:spPr>
            <a:xfrm>
              <a:off x="7934325" y="6991350"/>
              <a:ext cx="838200" cy="781050"/>
            </a:xfrm>
            <a:prstGeom prst="ellipse">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1-th-slot"/>
            <p:cNvSpPr/>
            <p:nvPr/>
          </p:nvSpPr>
          <p:spPr>
            <a:xfrm>
              <a:off x="8258175" y="6143625"/>
              <a:ext cx="38100" cy="10953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1-th-bulbw"/>
            <p:cNvSpPr/>
            <p:nvPr/>
          </p:nvSpPr>
          <p:spPr>
            <a:xfrm>
              <a:off x="8058150" y="7105650"/>
              <a:ext cx="590550" cy="5524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1-th-merc"/>
            <p:cNvSpPr/>
            <p:nvPr/>
          </p:nvSpPr>
          <p:spPr>
            <a:xfrm>
              <a:off x="8120062" y="7162800"/>
              <a:ext cx="466725" cy="438150"/>
            </a:xfrm>
            <a:prstGeom prst="ellipse">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1-th-core"/>
            <p:cNvSpPr/>
            <p:nvPr/>
          </p:nvSpPr>
          <p:spPr>
            <a:xfrm>
              <a:off x="8220075" y="7258050"/>
              <a:ext cx="266700" cy="24765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1-th-tick0"/>
            <p:cNvSpPr/>
            <p:nvPr/>
          </p:nvSpPr>
          <p:spPr>
            <a:xfrm>
              <a:off x="8458200" y="6134100"/>
              <a:ext cx="342900" cy="123825"/>
            </a:xfrm>
            <a:prstGeom prst="roundRect">
              <a:avLst>
                <a:gd name="adj" fmla="val 46153"/>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1-th-tick1"/>
            <p:cNvSpPr/>
            <p:nvPr/>
          </p:nvSpPr>
          <p:spPr>
            <a:xfrm>
              <a:off x="8458200" y="6280785"/>
              <a:ext cx="342900" cy="123825"/>
            </a:xfrm>
            <a:prstGeom prst="roundRect">
              <a:avLst>
                <a:gd name="adj" fmla="val 46153"/>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1-th-tick2"/>
            <p:cNvSpPr/>
            <p:nvPr/>
          </p:nvSpPr>
          <p:spPr>
            <a:xfrm>
              <a:off x="8458200" y="6427470"/>
              <a:ext cx="342900" cy="123825"/>
            </a:xfrm>
            <a:prstGeom prst="roundRect">
              <a:avLst>
                <a:gd name="adj" fmla="val 46153"/>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c1-th-tick3"/>
            <p:cNvSpPr/>
            <p:nvPr/>
          </p:nvSpPr>
          <p:spPr>
            <a:xfrm>
              <a:off x="8458200" y="6574155"/>
              <a:ext cx="342900" cy="123825"/>
            </a:xfrm>
            <a:prstGeom prst="roundRect">
              <a:avLst>
                <a:gd name="adj" fmla="val 46153"/>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c1-th-tick4"/>
            <p:cNvSpPr/>
            <p:nvPr/>
          </p:nvSpPr>
          <p:spPr>
            <a:xfrm>
              <a:off x="8458200" y="6720840"/>
              <a:ext cx="342900" cy="123825"/>
            </a:xfrm>
            <a:prstGeom prst="roundRect">
              <a:avLst>
                <a:gd name="adj" fmla="val 46153"/>
              </a:avLst>
            </a:prstGeom>
            <a:solidFill>
              <a:srgbClr val="F06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37" name="panel2"/>
          <p:cNvGrpSpPr/>
          <p:nvPr/>
        </p:nvGrpSpPr>
        <p:grpSpPr>
          <a:xfrm>
            <a:off x="10277475" y="5076825"/>
            <a:ext cx="6638925" cy="7886700"/>
            <a:chOff x="10277475" y="5076825"/>
            <a:chExt cx="6638925" cy="7886700"/>
          </a:xfrm>
        </p:grpSpPr>
        <p:sp>
          <p:nvSpPr>
            <p:cNvPr id="61" name="p2-panel"/>
            <p:cNvSpPr/>
            <p:nvPr/>
          </p:nvSpPr>
          <p:spPr>
            <a:xfrm>
              <a:off x="10277475" y="5848350"/>
              <a:ext cx="5895975" cy="7115175"/>
            </a:xfrm>
            <a:prstGeom prst="roundRect">
              <a:avLst>
                <a:gd name="adj" fmla="val 3877"/>
              </a:avLst>
            </a:prstGeom>
            <a:solidFill>
              <a:srgbClr val="FFFFFF"/>
            </a:solidFill>
            <a:ln w="23812">
              <a:solidFill>
                <a:srgbClr val="4870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2-arr-p3"/>
            <p:cNvSpPr/>
            <p:nvPr/>
          </p:nvSpPr>
          <p:spPr>
            <a:xfrm>
              <a:off x="16325850" y="8724900"/>
              <a:ext cx="590550" cy="609600"/>
            </a:xfrm>
            <a:prstGeom prst="rightArrow">
              <a:avLst>
                <a:gd name="adj1" fmla="val 40000"/>
                <a:gd name="adj2" fmla="val 42000"/>
              </a:avLst>
            </a:prstGeom>
            <a:solidFill>
              <a:srgbClr val="7BA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p2-hdr"/>
            <p:cNvSpPr/>
            <p:nvPr/>
          </p:nvSpPr>
          <p:spPr>
            <a:xfrm>
              <a:off x="10553700" y="5076825"/>
              <a:ext cx="5353050" cy="1257300"/>
            </a:xfrm>
            <a:prstGeom prst="roundRect">
              <a:avLst>
                <a:gd name="adj" fmla="val 6060"/>
              </a:avLst>
            </a:prstGeom>
            <a:solidFill>
              <a:srgbClr val="336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2-hdr-t"/>
            <p:cNvSpPr txBox="1"/>
            <p:nvPr/>
          </p:nvSpPr>
          <p:spPr>
            <a:xfrm>
              <a:off x="10553700" y="5438775"/>
              <a:ext cx="5353050" cy="552450"/>
            </a:xfrm>
            <a:prstGeom prst="rect">
              <a:avLst/>
            </a:prstGeom>
            <a:noFill/>
            <a:effectLst/>
          </p:spPr>
          <p:txBody>
            <a:bodyPr wrap="none" lIns="0" rIns="0" tIns="0" bIns="0" anchor="ctr">
              <a:spAutoFit/>
            </a:bodyPr>
            <a:lstStyle/>
            <a:p>
              <a:pPr algn="ctr">
                <a:lnSpc>
                  <a:spcPct val="100000"/>
                </a:lnSpc>
              </a:pPr>
              <a:r>
                <a:rPr sz="3562" b="1" i="0">
                  <a:solidFill>
                    <a:srgbClr val="FFFFFF"/>
                  </a:solidFill>
                  <a:latin typeface="Microsoft YaHei"/>
                  <a:ea typeface="Microsoft YaHei"/>
                  <a:cs typeface="Microsoft YaHei"/>
                </a:rPr>
                <a:t>冰川加速融化</a:t>
              </a:r>
            </a:p>
          </p:txBody>
        </p:sp>
        <p:pic>
          <p:nvPicPr>
            <p:cNvPr id="65" name="p2-photo" descr="p2-glacier.png"/>
            <p:cNvPicPr>
              <a:picLocks noChangeAspect="1"/>
            </p:cNvPicPr>
            <p:nvPr/>
          </p:nvPicPr>
          <p:blipFill>
            <a:blip r:embed="rId3"/>
            <a:stretch>
              <a:fillRect/>
            </a:stretch>
          </p:blipFill>
          <p:spPr>
            <a:xfrm>
              <a:off x="10420350" y="6829425"/>
              <a:ext cx="5562600" cy="3952875"/>
            </a:xfrm>
            <a:prstGeom prst="rect">
              <a:avLst/>
            </a:prstGeom>
            <a:effectLst/>
          </p:spPr>
        </p:pic>
        <p:sp>
          <p:nvSpPr>
            <p:cNvPr id="66" name="p2-lab-1"/>
            <p:cNvSpPr txBox="1"/>
            <p:nvPr/>
          </p:nvSpPr>
          <p:spPr>
            <a:xfrm>
              <a:off x="10639425" y="6419850"/>
              <a:ext cx="2286000" cy="476250"/>
            </a:xfrm>
            <a:prstGeom prst="rect">
              <a:avLst/>
            </a:prstGeom>
            <a:noFill/>
            <a:effectLst/>
          </p:spPr>
          <p:txBody>
            <a:bodyPr wrap="none" lIns="0" rIns="0" tIns="0" bIns="0" anchor="ctr">
              <a:spAutoFit/>
            </a:bodyPr>
            <a:lstStyle/>
            <a:p>
              <a:pPr algn="l">
                <a:lnSpc>
                  <a:spcPct val="100000"/>
                </a:lnSpc>
              </a:pPr>
              <a:r>
                <a:rPr sz="2475" b="1" i="0">
                  <a:solidFill>
                    <a:srgbClr val="3A3A3A"/>
                  </a:solidFill>
                  <a:latin typeface="Microsoft YaHei"/>
                  <a:ea typeface="Microsoft YaHei"/>
                  <a:cs typeface="Microsoft YaHei"/>
                </a:rPr>
                <a:t>冰川震荡融化</a:t>
              </a:r>
            </a:p>
          </p:txBody>
        </p:sp>
        <p:sp>
          <p:nvSpPr>
            <p:cNvPr id="67" name="p2-lab-2"/>
            <p:cNvSpPr txBox="1"/>
            <p:nvPr/>
          </p:nvSpPr>
          <p:spPr>
            <a:xfrm>
              <a:off x="13449300" y="6972300"/>
              <a:ext cx="1619250" cy="476250"/>
            </a:xfrm>
            <a:prstGeom prst="rect">
              <a:avLst/>
            </a:prstGeom>
            <a:noFill/>
            <a:effectLst/>
          </p:spPr>
          <p:txBody>
            <a:bodyPr wrap="none" lIns="0" rIns="0" tIns="0" bIns="0" anchor="ctr">
              <a:spAutoFit/>
            </a:bodyPr>
            <a:lstStyle/>
            <a:p>
              <a:pPr algn="l">
                <a:lnSpc>
                  <a:spcPct val="100000"/>
                </a:lnSpc>
              </a:pPr>
              <a:r>
                <a:rPr sz="2475" b="1" i="0">
                  <a:solidFill>
                    <a:srgbClr val="3A3A3A"/>
                  </a:solidFill>
                  <a:latin typeface="Microsoft YaHei"/>
                  <a:ea typeface="Microsoft YaHei"/>
                  <a:cs typeface="Microsoft YaHei"/>
                </a:rPr>
                <a:t>融水径流</a:t>
              </a:r>
            </a:p>
          </p:txBody>
        </p:sp>
        <p:sp>
          <p:nvSpPr>
            <p:cNvPr id="68" name="p2-lab-3"/>
            <p:cNvSpPr txBox="1"/>
            <p:nvPr/>
          </p:nvSpPr>
          <p:spPr>
            <a:xfrm>
              <a:off x="14725650" y="7867650"/>
              <a:ext cx="1619250" cy="476250"/>
            </a:xfrm>
            <a:prstGeom prst="rect">
              <a:avLst/>
            </a:prstGeom>
            <a:noFill/>
            <a:effectLst/>
          </p:spPr>
          <p:txBody>
            <a:bodyPr wrap="none" lIns="0" rIns="0" tIns="0" bIns="0" anchor="ctr">
              <a:spAutoFit/>
            </a:bodyPr>
            <a:lstStyle/>
            <a:p>
              <a:pPr algn="l">
                <a:lnSpc>
                  <a:spcPct val="100000"/>
                </a:lnSpc>
              </a:pPr>
              <a:r>
                <a:rPr sz="2475" b="1" i="0">
                  <a:solidFill>
                    <a:srgbClr val="3A3A3A"/>
                  </a:solidFill>
                  <a:latin typeface="Microsoft YaHei"/>
                  <a:ea typeface="Microsoft YaHei"/>
                  <a:cs typeface="Microsoft YaHei"/>
                </a:rPr>
                <a:t>冰崖崩解</a:t>
              </a:r>
            </a:p>
          </p:txBody>
        </p:sp>
        <p:sp>
          <p:nvSpPr>
            <p:cNvPr id="69" name="p2-lab-4"/>
            <p:cNvSpPr txBox="1"/>
            <p:nvPr/>
          </p:nvSpPr>
          <p:spPr>
            <a:xfrm>
              <a:off x="11572875" y="9191625"/>
              <a:ext cx="1524000" cy="476250"/>
            </a:xfrm>
            <a:prstGeom prst="rect">
              <a:avLst/>
            </a:prstGeom>
            <a:noFill/>
            <a:effectLst/>
          </p:spPr>
          <p:txBody>
            <a:bodyPr wrap="none" lIns="0" rIns="0" tIns="0" bIns="0" anchor="ctr">
              <a:spAutoFit/>
            </a:bodyPr>
            <a:lstStyle/>
            <a:p>
              <a:pPr algn="l">
                <a:lnSpc>
                  <a:spcPct val="100000"/>
                </a:lnSpc>
              </a:pPr>
              <a:r>
                <a:rPr sz="2475" b="1" i="0">
                  <a:solidFill>
                    <a:srgbClr val="FFFFFF"/>
                  </a:solidFill>
                  <a:latin typeface="Microsoft YaHei"/>
                  <a:ea typeface="Microsoft YaHei"/>
                  <a:cs typeface="Microsoft YaHei"/>
                </a:rPr>
                <a:t>基底活化</a:t>
              </a:r>
            </a:p>
          </p:txBody>
        </p:sp>
        <p:sp>
          <p:nvSpPr>
            <p:cNvPr id="70" name="p2-boxA"/>
            <p:cNvSpPr/>
            <p:nvPr/>
          </p:nvSpPr>
          <p:spPr>
            <a:xfrm>
              <a:off x="11010900" y="10772775"/>
              <a:ext cx="4381500" cy="790575"/>
            </a:xfrm>
            <a:prstGeom prst="roundRect">
              <a:avLst>
                <a:gd name="adj" fmla="val 24096"/>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p2-boxA-t"/>
            <p:cNvSpPr txBox="1"/>
            <p:nvPr/>
          </p:nvSpPr>
          <p:spPr>
            <a:xfrm>
              <a:off x="11010900" y="10963275"/>
              <a:ext cx="4381500" cy="457200"/>
            </a:xfrm>
            <a:prstGeom prst="rect">
              <a:avLst/>
            </a:prstGeom>
            <a:noFill/>
            <a:effectLst/>
          </p:spPr>
          <p:txBody>
            <a:bodyPr wrap="none" lIns="0" rIns="0" tIns="0" bIns="0" anchor="ctr">
              <a:spAutoFit/>
            </a:bodyPr>
            <a:lstStyle/>
            <a:p>
              <a:pPr algn="ctr">
                <a:lnSpc>
                  <a:spcPct val="100000"/>
                </a:lnSpc>
              </a:pPr>
              <a:r>
                <a:rPr sz="3037" b="1" i="0">
                  <a:solidFill>
                    <a:srgbClr val="3B3B3B"/>
                  </a:solidFill>
                  <a:latin typeface="Microsoft YaHei"/>
                  <a:ea typeface="Microsoft YaHei"/>
                  <a:cs typeface="Microsoft YaHei"/>
                </a:rPr>
                <a:t>冰盖与山地冰川消融</a:t>
              </a:r>
            </a:p>
          </p:txBody>
        </p:sp>
        <p:sp>
          <p:nvSpPr>
            <p:cNvPr id="72" name="p2-arrow"/>
            <p:cNvSpPr/>
            <p:nvPr/>
          </p:nvSpPr>
          <p:spPr>
            <a:xfrm>
              <a:off x="12896850" y="11601450"/>
              <a:ext cx="609600" cy="400050"/>
            </a:xfrm>
            <a:prstGeom prst="downArrow">
              <a:avLst>
                <a:gd name="adj1" fmla="val 40000"/>
                <a:gd name="adj2" fmla="val 42000"/>
              </a:avLst>
            </a:prstGeom>
            <a:solidFill>
              <a:srgbClr val="E8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p2-boxB"/>
            <p:cNvSpPr/>
            <p:nvPr/>
          </p:nvSpPr>
          <p:spPr>
            <a:xfrm>
              <a:off x="11010900" y="12011025"/>
              <a:ext cx="4381500" cy="790575"/>
            </a:xfrm>
            <a:prstGeom prst="roundRect">
              <a:avLst>
                <a:gd name="adj" fmla="val 24096"/>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p2-boxB-t"/>
            <p:cNvSpPr txBox="1"/>
            <p:nvPr/>
          </p:nvSpPr>
          <p:spPr>
            <a:xfrm>
              <a:off x="11010900" y="12201525"/>
              <a:ext cx="4381500" cy="457200"/>
            </a:xfrm>
            <a:prstGeom prst="rect">
              <a:avLst/>
            </a:prstGeom>
            <a:noFill/>
            <a:effectLst/>
          </p:spPr>
          <p:txBody>
            <a:bodyPr wrap="none" lIns="0" rIns="0" tIns="0" bIns="0" anchor="ctr">
              <a:spAutoFit/>
            </a:bodyPr>
            <a:lstStyle/>
            <a:p>
              <a:pPr algn="ctr">
                <a:lnSpc>
                  <a:spcPct val="100000"/>
                </a:lnSpc>
              </a:pPr>
              <a:r>
                <a:rPr sz="3037" b="1" i="0">
                  <a:solidFill>
                    <a:srgbClr val="3B3B3B"/>
                  </a:solidFill>
                  <a:latin typeface="Microsoft YaHei"/>
                  <a:ea typeface="Microsoft YaHei"/>
                  <a:cs typeface="Microsoft YaHei"/>
                </a:rPr>
                <a:t>融水径流注入海洋</a:t>
              </a:r>
            </a:p>
          </p:txBody>
        </p:sp>
      </p:grpSp>
      <p:grpSp>
        <p:nvGrpSpPr>
          <p:cNvPr id="136" name="panel3"/>
          <p:cNvGrpSpPr/>
          <p:nvPr/>
        </p:nvGrpSpPr>
        <p:grpSpPr>
          <a:xfrm>
            <a:off x="16944975" y="5076825"/>
            <a:ext cx="5895975" cy="7886700"/>
            <a:chOff x="16944975" y="5076825"/>
            <a:chExt cx="5895975" cy="7886700"/>
          </a:xfrm>
        </p:grpSpPr>
        <p:sp>
          <p:nvSpPr>
            <p:cNvPr id="75" name="p3-panel"/>
            <p:cNvSpPr/>
            <p:nvPr/>
          </p:nvSpPr>
          <p:spPr>
            <a:xfrm>
              <a:off x="16944975" y="5848350"/>
              <a:ext cx="5895975" cy="7115175"/>
            </a:xfrm>
            <a:prstGeom prst="roundRect">
              <a:avLst>
                <a:gd name="adj" fmla="val 3877"/>
              </a:avLst>
            </a:prstGeom>
            <a:solidFill>
              <a:srgbClr val="FFFFFF"/>
            </a:solidFill>
            <a:ln w="23812">
              <a:solidFill>
                <a:srgbClr val="4870A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p3-hdr"/>
            <p:cNvSpPr/>
            <p:nvPr/>
          </p:nvSpPr>
          <p:spPr>
            <a:xfrm>
              <a:off x="17211675" y="5076825"/>
              <a:ext cx="5353050" cy="1247775"/>
            </a:xfrm>
            <a:prstGeom prst="roundRect">
              <a:avLst>
                <a:gd name="adj" fmla="val 6106"/>
              </a:avLst>
            </a:prstGeom>
            <a:solidFill>
              <a:srgbClr val="336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3-hdr-t"/>
            <p:cNvSpPr txBox="1"/>
            <p:nvPr/>
          </p:nvSpPr>
          <p:spPr>
            <a:xfrm>
              <a:off x="17211675" y="5438775"/>
              <a:ext cx="5353050" cy="552450"/>
            </a:xfrm>
            <a:prstGeom prst="rect">
              <a:avLst/>
            </a:prstGeom>
            <a:noFill/>
            <a:effectLst/>
          </p:spPr>
          <p:txBody>
            <a:bodyPr wrap="none" lIns="0" rIns="0" tIns="0" bIns="0" anchor="ctr">
              <a:spAutoFit/>
            </a:bodyPr>
            <a:lstStyle/>
            <a:p>
              <a:pPr algn="ctr">
                <a:lnSpc>
                  <a:spcPct val="100000"/>
                </a:lnSpc>
              </a:pPr>
              <a:r>
                <a:rPr sz="3562" b="1" i="0">
                  <a:solidFill>
                    <a:srgbClr val="FFFFFF"/>
                  </a:solidFill>
                  <a:latin typeface="Microsoft YaHei"/>
                  <a:ea typeface="Microsoft YaHei"/>
                  <a:cs typeface="Microsoft YaHei"/>
                </a:rPr>
                <a:t>冰川加速融化</a:t>
              </a:r>
            </a:p>
          </p:txBody>
        </p:sp>
        <p:pic>
          <p:nvPicPr>
            <p:cNvPr id="78" name="p3-photo-top" descr="p3-ocean-top.png"/>
            <p:cNvPicPr>
              <a:picLocks noChangeAspect="1"/>
            </p:cNvPicPr>
            <p:nvPr/>
          </p:nvPicPr>
          <p:blipFill>
            <a:blip r:embed="rId4"/>
            <a:stretch>
              <a:fillRect/>
            </a:stretch>
          </p:blipFill>
          <p:spPr>
            <a:xfrm>
              <a:off x="17192625" y="6419850"/>
              <a:ext cx="5267325" cy="2781300"/>
            </a:xfrm>
            <a:prstGeom prst="rect">
              <a:avLst/>
            </a:prstGeom>
            <a:effectLst/>
          </p:spPr>
        </p:pic>
        <p:sp>
          <p:nvSpPr>
            <p:cNvPr id="79" name="p3-box1"/>
            <p:cNvSpPr/>
            <p:nvPr/>
          </p:nvSpPr>
          <p:spPr>
            <a:xfrm>
              <a:off x="17678400" y="9296400"/>
              <a:ext cx="4400550" cy="781050"/>
            </a:xfrm>
            <a:prstGeom prst="roundRect">
              <a:avLst>
                <a:gd name="adj" fmla="val 2439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p3-box1-t"/>
            <p:cNvSpPr txBox="1"/>
            <p:nvPr/>
          </p:nvSpPr>
          <p:spPr>
            <a:xfrm>
              <a:off x="17678400" y="9467850"/>
              <a:ext cx="4400550" cy="457200"/>
            </a:xfrm>
            <a:prstGeom prst="rect">
              <a:avLst/>
            </a:prstGeom>
            <a:noFill/>
            <a:effectLst/>
          </p:spPr>
          <p:txBody>
            <a:bodyPr wrap="none" lIns="0" rIns="0" tIns="0" bIns="0" anchor="ctr">
              <a:spAutoFit/>
            </a:bodyPr>
            <a:lstStyle/>
            <a:p>
              <a:pPr algn="ctr">
                <a:lnSpc>
                  <a:spcPct val="100000"/>
                </a:lnSpc>
              </a:pPr>
              <a:r>
                <a:rPr sz="3037" b="1" i="0">
                  <a:solidFill>
                    <a:srgbClr val="3B3B3B"/>
                  </a:solidFill>
                  <a:latin typeface="Microsoft YaHei"/>
                  <a:ea typeface="Microsoft YaHei"/>
                  <a:cs typeface="Microsoft YaHei"/>
                </a:rPr>
                <a:t>海水热膨胀与融水注入</a:t>
              </a:r>
            </a:p>
          </p:txBody>
        </p:sp>
        <p:sp>
          <p:nvSpPr>
            <p:cNvPr id="81" name="p3-arrow"/>
            <p:cNvSpPr/>
            <p:nvPr/>
          </p:nvSpPr>
          <p:spPr>
            <a:xfrm>
              <a:off x="19621500" y="10077450"/>
              <a:ext cx="533400" cy="361950"/>
            </a:xfrm>
            <a:prstGeom prst="downArrow">
              <a:avLst/>
            </a:prstGeom>
            <a:solidFill>
              <a:srgbClr val="E8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3-box2"/>
            <p:cNvSpPr/>
            <p:nvPr/>
          </p:nvSpPr>
          <p:spPr>
            <a:xfrm>
              <a:off x="17678400" y="10439400"/>
              <a:ext cx="4400550" cy="781050"/>
            </a:xfrm>
            <a:prstGeom prst="roundRect">
              <a:avLst>
                <a:gd name="adj" fmla="val 24390"/>
              </a:avLst>
            </a:prstGeom>
            <a:solidFill>
              <a:srgbClr val="E8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3-box2-t"/>
            <p:cNvSpPr txBox="1"/>
            <p:nvPr/>
          </p:nvSpPr>
          <p:spPr>
            <a:xfrm>
              <a:off x="17678400" y="10620375"/>
              <a:ext cx="4400550" cy="457200"/>
            </a:xfrm>
            <a:prstGeom prst="rect">
              <a:avLst/>
            </a:prstGeom>
            <a:noFill/>
            <a:effectLst/>
          </p:spPr>
          <p:txBody>
            <a:bodyPr wrap="none" lIns="0" rIns="0" tIns="0" bIns="0" anchor="ctr">
              <a:spAutoFit/>
            </a:bodyPr>
            <a:lstStyle/>
            <a:p>
              <a:pPr algn="ctr">
                <a:lnSpc>
                  <a:spcPct val="100000"/>
                </a:lnSpc>
              </a:pPr>
              <a:r>
                <a:rPr sz="3037" b="1" i="0">
                  <a:solidFill>
                    <a:srgbClr val="3B3B3B"/>
                  </a:solidFill>
                  <a:latin typeface="Microsoft YaHei"/>
                  <a:ea typeface="Microsoft YaHei"/>
                  <a:cs typeface="Microsoft YaHei"/>
                </a:rPr>
                <a:t>海平面变化机制</a:t>
              </a:r>
            </a:p>
          </p:txBody>
        </p:sp>
        <p:sp>
          <p:nvSpPr>
            <p:cNvPr id="84" name="p3-lab"/>
            <p:cNvSpPr txBox="1"/>
            <p:nvPr/>
          </p:nvSpPr>
          <p:spPr>
            <a:xfrm>
              <a:off x="18092738" y="11582400"/>
              <a:ext cx="3619500" cy="476250"/>
            </a:xfrm>
            <a:prstGeom prst="rect">
              <a:avLst/>
            </a:prstGeom>
            <a:noFill/>
            <a:effectLst/>
          </p:spPr>
          <p:txBody>
            <a:bodyPr wrap="none" lIns="0" rIns="0" tIns="0" bIns="0" anchor="ctr">
              <a:spAutoFit/>
            </a:bodyPr>
            <a:lstStyle/>
            <a:p>
              <a:pPr algn="ctr">
                <a:lnSpc>
                  <a:spcPct val="100000"/>
                </a:lnSpc>
              </a:pPr>
              <a:r>
                <a:rPr sz="2475" b="1" i="0">
                  <a:solidFill>
                    <a:srgbClr val="3B3B3B"/>
                  </a:solidFill>
                  <a:latin typeface="Microsoft YaHei"/>
                  <a:ea typeface="Microsoft YaHei"/>
                  <a:cs typeface="Microsoft YaHei"/>
                </a:rPr>
                <a:t>垂直抬升与水平扩张</a:t>
              </a:r>
            </a:p>
          </p:txBody>
        </p:sp>
        <p:pic>
          <p:nvPicPr>
            <p:cNvPr id="85" name="p3-photo-bot" descr="p3-bottom.png"/>
            <p:cNvPicPr>
              <a:picLocks noChangeAspect="1"/>
            </p:cNvPicPr>
            <p:nvPr/>
          </p:nvPicPr>
          <p:blipFill>
            <a:blip r:embed="rId5"/>
            <a:stretch>
              <a:fillRect/>
            </a:stretch>
          </p:blipFill>
          <p:spPr>
            <a:xfrm>
              <a:off x="17221200" y="11487150"/>
              <a:ext cx="5562600" cy="1390650"/>
            </a:xfrm>
            <a:prstGeom prst="rect">
              <a:avLst/>
            </a:prstGeom>
            <a:effectLst/>
          </p:spPr>
        </p:pic>
      </p:grpSp>
      <p:grpSp>
        <p:nvGrpSpPr>
          <p:cNvPr id="138" name="panel4"/>
          <p:cNvGrpSpPr/>
          <p:nvPr/>
        </p:nvGrpSpPr>
        <p:grpSpPr>
          <a:xfrm>
            <a:off x="23602950" y="5076825"/>
            <a:ext cx="5905500" cy="7886700"/>
            <a:chOff x="23602950" y="5076825"/>
            <a:chExt cx="5905500" cy="7886700"/>
          </a:xfrm>
        </p:grpSpPr>
        <p:sp>
          <p:nvSpPr>
            <p:cNvPr id="86" name="p4-panel"/>
            <p:cNvSpPr/>
            <p:nvPr/>
          </p:nvSpPr>
          <p:spPr>
            <a:xfrm>
              <a:off x="23602950" y="5848350"/>
              <a:ext cx="5905500" cy="7115175"/>
            </a:xfrm>
            <a:prstGeom prst="roundRect">
              <a:avLst>
                <a:gd name="adj" fmla="val 3870"/>
              </a:avLst>
            </a:prstGeom>
            <a:solidFill>
              <a:srgbClr val="FFFFFF"/>
            </a:solidFill>
            <a:ln w="23812">
              <a:solidFill>
                <a:srgbClr val="7DD4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4-hdr"/>
            <p:cNvSpPr/>
            <p:nvPr/>
          </p:nvSpPr>
          <p:spPr>
            <a:xfrm>
              <a:off x="23879175" y="5076825"/>
              <a:ext cx="5353050" cy="1257300"/>
            </a:xfrm>
            <a:prstGeom prst="roundRect">
              <a:avLst>
                <a:gd name="adj" fmla="val 6060"/>
              </a:avLst>
            </a:prstGeom>
            <a:solidFill>
              <a:srgbClr val="57C2B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4-hdr-t"/>
            <p:cNvSpPr txBox="1"/>
            <p:nvPr/>
          </p:nvSpPr>
          <p:spPr>
            <a:xfrm>
              <a:off x="23879175" y="5438775"/>
              <a:ext cx="5353050" cy="552450"/>
            </a:xfrm>
            <a:prstGeom prst="rect">
              <a:avLst/>
            </a:prstGeom>
            <a:noFill/>
            <a:effectLst/>
          </p:spPr>
          <p:txBody>
            <a:bodyPr wrap="none" lIns="0" rIns="0" tIns="0" bIns="0" anchor="ctr">
              <a:spAutoFit/>
            </a:bodyPr>
            <a:lstStyle/>
            <a:p>
              <a:pPr algn="ctr">
                <a:lnSpc>
                  <a:spcPct val="100000"/>
                </a:lnSpc>
              </a:pPr>
              <a:r>
                <a:rPr sz="3562" b="1" i="0">
                  <a:solidFill>
                    <a:srgbClr val="FFFFFF"/>
                  </a:solidFill>
                  <a:latin typeface="Microsoft YaHei"/>
                  <a:ea typeface="Microsoft YaHei"/>
                  <a:cs typeface="Microsoft YaHei"/>
                </a:rPr>
                <a:t>影响与风险</a:t>
              </a:r>
            </a:p>
          </p:txBody>
        </p:sp>
        <p:sp>
          <p:nvSpPr>
            <p:cNvPr id="89" name="p4-cardTL"/>
            <p:cNvSpPr/>
            <p:nvPr/>
          </p:nvSpPr>
          <p:spPr>
            <a:xfrm>
              <a:off x="23812500" y="6629400"/>
              <a:ext cx="2638425" cy="3238500"/>
            </a:xfrm>
            <a:prstGeom prst="roundRect">
              <a:avLst>
                <a:gd name="adj" fmla="val 7220"/>
              </a:avLst>
            </a:prstGeom>
            <a:solidFill>
              <a:srgbClr val="EA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0" name="p4-photo-city" descr="p4-city.png"/>
            <p:cNvPicPr>
              <a:picLocks noChangeAspect="1"/>
            </p:cNvPicPr>
            <p:nvPr/>
          </p:nvPicPr>
          <p:blipFill>
            <a:blip r:embed="rId6"/>
            <a:stretch>
              <a:fillRect/>
            </a:stretch>
          </p:blipFill>
          <p:spPr>
            <a:xfrm>
              <a:off x="23850600" y="6648450"/>
              <a:ext cx="2562225" cy="1695450"/>
            </a:xfrm>
            <a:prstGeom prst="rect">
              <a:avLst/>
            </a:prstGeom>
            <a:effectLst/>
          </p:spPr>
        </p:pic>
        <p:sp>
          <p:nvSpPr>
            <p:cNvPr id="91" name="p4-cardTL-t"/>
            <p:cNvSpPr txBox="1"/>
            <p:nvPr/>
          </p:nvSpPr>
          <p:spPr>
            <a:xfrm>
              <a:off x="23822025" y="8915400"/>
              <a:ext cx="2667000" cy="495300"/>
            </a:xfrm>
            <a:prstGeom prst="rect">
              <a:avLst/>
            </a:prstGeom>
            <a:noFill/>
            <a:effectLst/>
          </p:spPr>
          <p:txBody>
            <a:bodyPr wrap="none" lIns="0" rIns="0" tIns="0" bIns="0" anchor="ctr">
              <a:spAutoFit/>
            </a:bodyPr>
            <a:lstStyle/>
            <a:p>
              <a:pPr algn="ctr">
                <a:lnSpc>
                  <a:spcPct val="100000"/>
                </a:lnSpc>
              </a:pPr>
              <a:r>
                <a:rPr sz="3037" b="1" i="0">
                  <a:solidFill>
                    <a:srgbClr val="444547"/>
                  </a:solidFill>
                  <a:latin typeface="Microsoft YaHei"/>
                  <a:ea typeface="Microsoft YaHei"/>
                  <a:cs typeface="Microsoft YaHei"/>
                </a:rPr>
                <a:t>海洋带淹没</a:t>
              </a:r>
            </a:p>
          </p:txBody>
        </p:sp>
        <p:sp>
          <p:nvSpPr>
            <p:cNvPr id="92" name="p4-cardTR"/>
            <p:cNvSpPr/>
            <p:nvPr/>
          </p:nvSpPr>
          <p:spPr>
            <a:xfrm>
              <a:off x="26612850" y="6629400"/>
              <a:ext cx="2638425" cy="3238500"/>
            </a:xfrm>
            <a:prstGeom prst="roundRect">
              <a:avLst>
                <a:gd name="adj" fmla="val 7220"/>
              </a:avLst>
            </a:prstGeom>
            <a:solidFill>
              <a:srgbClr val="EA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3" name="p4-photo-storm" descr="p4-storm.png"/>
            <p:cNvPicPr>
              <a:picLocks noChangeAspect="1"/>
            </p:cNvPicPr>
            <p:nvPr/>
          </p:nvPicPr>
          <p:blipFill>
            <a:blip r:embed="rId7"/>
            <a:stretch>
              <a:fillRect/>
            </a:stretch>
          </p:blipFill>
          <p:spPr>
            <a:xfrm>
              <a:off x="26650950" y="6648450"/>
              <a:ext cx="2552700" cy="1695450"/>
            </a:xfrm>
            <a:prstGeom prst="rect">
              <a:avLst/>
            </a:prstGeom>
            <a:effectLst/>
          </p:spPr>
        </p:pic>
        <p:sp>
          <p:nvSpPr>
            <p:cNvPr id="94" name="p4-cardTR-t1"/>
            <p:cNvSpPr txBox="1"/>
            <p:nvPr/>
          </p:nvSpPr>
          <p:spPr>
            <a:xfrm>
              <a:off x="26812875" y="8677275"/>
              <a:ext cx="2286000" cy="495300"/>
            </a:xfrm>
            <a:prstGeom prst="rect">
              <a:avLst/>
            </a:prstGeom>
            <a:noFill/>
            <a:effectLst/>
          </p:spPr>
          <p:txBody>
            <a:bodyPr wrap="none" lIns="0" rIns="0" tIns="0" bIns="0" anchor="ctr">
              <a:spAutoFit/>
            </a:bodyPr>
            <a:lstStyle/>
            <a:p>
              <a:pPr algn="ctr">
                <a:lnSpc>
                  <a:spcPct val="100000"/>
                </a:lnSpc>
              </a:pPr>
              <a:r>
                <a:rPr sz="3037" b="1" i="0">
                  <a:solidFill>
                    <a:srgbClr val="444547"/>
                  </a:solidFill>
                  <a:latin typeface="Microsoft YaHei"/>
                  <a:ea typeface="Microsoft YaHei"/>
                  <a:cs typeface="Microsoft YaHei"/>
                </a:rPr>
                <a:t>极端天气</a:t>
              </a:r>
            </a:p>
          </p:txBody>
        </p:sp>
        <p:sp>
          <p:nvSpPr>
            <p:cNvPr id="95" name="p4-cardTR-t2"/>
            <p:cNvSpPr txBox="1"/>
            <p:nvPr/>
          </p:nvSpPr>
          <p:spPr>
            <a:xfrm>
              <a:off x="26793825" y="9177338"/>
              <a:ext cx="2286000" cy="495300"/>
            </a:xfrm>
            <a:prstGeom prst="rect">
              <a:avLst/>
            </a:prstGeom>
            <a:noFill/>
            <a:effectLst/>
          </p:spPr>
          <p:txBody>
            <a:bodyPr wrap="none" lIns="0" rIns="0" tIns="0" bIns="0" anchor="ctr">
              <a:spAutoFit/>
            </a:bodyPr>
            <a:lstStyle/>
            <a:p>
              <a:pPr algn="ctr">
                <a:lnSpc>
                  <a:spcPct val="100000"/>
                </a:lnSpc>
              </a:pPr>
              <a:r>
                <a:rPr sz="3037" b="1" i="0">
                  <a:solidFill>
                    <a:srgbClr val="444547"/>
                  </a:solidFill>
                  <a:latin typeface="Microsoft YaHei"/>
                  <a:ea typeface="Microsoft YaHei"/>
                  <a:cs typeface="Microsoft YaHei"/>
                </a:rPr>
                <a:t>加剧</a:t>
              </a:r>
            </a:p>
          </p:txBody>
        </p:sp>
        <p:sp>
          <p:nvSpPr>
            <p:cNvPr id="96" name="p4-cardB"/>
            <p:cNvSpPr/>
            <p:nvPr/>
          </p:nvSpPr>
          <p:spPr>
            <a:xfrm>
              <a:off x="23869650" y="10229850"/>
              <a:ext cx="5381625" cy="2314575"/>
            </a:xfrm>
            <a:prstGeom prst="roundRect">
              <a:avLst>
                <a:gd name="adj" fmla="val 8230"/>
              </a:avLst>
            </a:prstGeom>
            <a:solidFill>
              <a:srgbClr val="EA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7" name="p4-photo-reef" descr="p4-reef.png"/>
            <p:cNvPicPr>
              <a:picLocks noChangeAspect="1"/>
            </p:cNvPicPr>
            <p:nvPr/>
          </p:nvPicPr>
          <p:blipFill>
            <a:blip r:embed="rId8"/>
            <a:stretch>
              <a:fillRect/>
            </a:stretch>
          </p:blipFill>
          <p:spPr>
            <a:xfrm>
              <a:off x="23907750" y="10267950"/>
              <a:ext cx="2762250" cy="2228850"/>
            </a:xfrm>
            <a:prstGeom prst="rect">
              <a:avLst/>
            </a:prstGeom>
            <a:effectLst/>
          </p:spPr>
        </p:pic>
        <p:sp>
          <p:nvSpPr>
            <p:cNvPr id="98" name="p4-cardB-t1"/>
            <p:cNvSpPr txBox="1"/>
            <p:nvPr/>
          </p:nvSpPr>
          <p:spPr>
            <a:xfrm>
              <a:off x="26812875" y="10887075"/>
              <a:ext cx="2286000" cy="495300"/>
            </a:xfrm>
            <a:prstGeom prst="rect">
              <a:avLst/>
            </a:prstGeom>
            <a:noFill/>
            <a:effectLst/>
          </p:spPr>
          <p:txBody>
            <a:bodyPr wrap="none" lIns="0" rIns="0" tIns="0" bIns="0" anchor="ctr">
              <a:spAutoFit/>
            </a:bodyPr>
            <a:lstStyle/>
            <a:p>
              <a:pPr algn="ctr">
                <a:lnSpc>
                  <a:spcPct val="100000"/>
                </a:lnSpc>
              </a:pPr>
              <a:r>
                <a:rPr sz="3037" b="1" i="0">
                  <a:solidFill>
                    <a:srgbClr val="444547"/>
                  </a:solidFill>
                  <a:latin typeface="Microsoft YaHei"/>
                  <a:ea typeface="Microsoft YaHei"/>
                  <a:cs typeface="Microsoft YaHei"/>
                </a:rPr>
                <a:t>生态系统</a:t>
              </a:r>
            </a:p>
          </p:txBody>
        </p:sp>
        <p:sp>
          <p:nvSpPr>
            <p:cNvPr id="99" name="p4-cardB-t2"/>
            <p:cNvSpPr txBox="1"/>
            <p:nvPr/>
          </p:nvSpPr>
          <p:spPr>
            <a:xfrm>
              <a:off x="26812875" y="11391900"/>
              <a:ext cx="2286000" cy="495300"/>
            </a:xfrm>
            <a:prstGeom prst="rect">
              <a:avLst/>
            </a:prstGeom>
            <a:noFill/>
            <a:effectLst/>
          </p:spPr>
          <p:txBody>
            <a:bodyPr wrap="none" lIns="0" rIns="0" tIns="0" bIns="0" anchor="ctr">
              <a:spAutoFit/>
            </a:bodyPr>
            <a:lstStyle/>
            <a:p>
              <a:pPr algn="ctr">
                <a:lnSpc>
                  <a:spcPct val="100000"/>
                </a:lnSpc>
              </a:pPr>
              <a:r>
                <a:rPr sz="3037" b="1" i="0">
                  <a:solidFill>
                    <a:srgbClr val="444547"/>
                  </a:solidFill>
                  <a:latin typeface="Microsoft YaHei"/>
                  <a:ea typeface="Microsoft YaHei"/>
                  <a:cs typeface="Microsoft YaHei"/>
                </a:rPr>
                <a:t>破坏</a:t>
              </a:r>
            </a:p>
          </p:txBody>
        </p:sp>
      </p:grpSp>
      <p:grpSp>
        <p:nvGrpSpPr>
          <p:cNvPr id="140" name="bottom"/>
          <p:cNvGrpSpPr/>
          <p:nvPr/>
        </p:nvGrpSpPr>
        <p:grpSpPr>
          <a:xfrm>
            <a:off x="2505075" y="13287375"/>
            <a:ext cx="26993850" cy="2171700"/>
            <a:chOff x="2505075" y="13287375"/>
            <a:chExt cx="26993850" cy="2171700"/>
          </a:xfrm>
        </p:grpSpPr>
        <p:sp>
          <p:nvSpPr>
            <p:cNvPr id="100" name="bot-box"/>
            <p:cNvSpPr/>
            <p:nvPr/>
          </p:nvSpPr>
          <p:spPr>
            <a:xfrm>
              <a:off x="3609975" y="13306425"/>
              <a:ext cx="25888950" cy="2152650"/>
            </a:xfrm>
            <a:prstGeom prst="roundRect">
              <a:avLst>
                <a:gd name="adj" fmla="val 3539"/>
              </a:avLst>
            </a:prstGeom>
            <a:solidFill>
              <a:srgbClr val="FFFFFF"/>
            </a:solidFill>
            <a:ln w="23812">
              <a:solidFill>
                <a:srgbClr val="DC5C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bot-chev1"/>
            <p:cNvSpPr/>
            <p:nvPr/>
          </p:nvSpPr>
          <p:spPr>
            <a:xfrm>
              <a:off x="2505075" y="14125575"/>
              <a:ext cx="400050" cy="581025"/>
            </a:xfrm>
            <a:custGeom>
              <a:avLst/>
              <a:gdLst/>
              <a:ahLst/>
              <a:cxnLst/>
              <a:rect l="l" t="t" r="r" b="b"/>
              <a:pathLst>
                <a:path w="400050" h="581025">
                  <a:moveTo>
                    <a:pt x="0" y="0"/>
                  </a:moveTo>
                  <a:lnTo>
                    <a:pt x="85725" y="0"/>
                  </a:lnTo>
                  <a:lnTo>
                    <a:pt x="400050" y="285750"/>
                  </a:lnTo>
                  <a:lnTo>
                    <a:pt x="85725" y="581025"/>
                  </a:lnTo>
                  <a:lnTo>
                    <a:pt x="0" y="581025"/>
                  </a:lnTo>
                  <a:lnTo>
                    <a:pt x="152400" y="285750"/>
                  </a:lnTo>
                  <a:close/>
                </a:path>
              </a:pathLst>
            </a:custGeom>
            <a:solidFill>
              <a:srgbClr val="F3C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bot-chev2"/>
            <p:cNvSpPr/>
            <p:nvPr/>
          </p:nvSpPr>
          <p:spPr>
            <a:xfrm>
              <a:off x="2819400" y="14125575"/>
              <a:ext cx="400050" cy="581025"/>
            </a:xfrm>
            <a:custGeom>
              <a:avLst/>
              <a:gdLst/>
              <a:ahLst/>
              <a:cxnLst/>
              <a:rect l="l" t="t" r="r" b="b"/>
              <a:pathLst>
                <a:path w="400050" h="581025">
                  <a:moveTo>
                    <a:pt x="0" y="0"/>
                  </a:moveTo>
                  <a:lnTo>
                    <a:pt x="85725" y="0"/>
                  </a:lnTo>
                  <a:lnTo>
                    <a:pt x="400050" y="285750"/>
                  </a:lnTo>
                  <a:lnTo>
                    <a:pt x="85725" y="581025"/>
                  </a:lnTo>
                  <a:lnTo>
                    <a:pt x="0" y="581025"/>
                  </a:lnTo>
                  <a:lnTo>
                    <a:pt x="152400" y="285750"/>
                  </a:lnTo>
                  <a:close/>
                </a:path>
              </a:pathLst>
            </a:custGeom>
            <a:solidFill>
              <a:srgbClr val="E473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bot-arrow"/>
            <p:cNvSpPr/>
            <p:nvPr/>
          </p:nvSpPr>
          <p:spPr>
            <a:xfrm>
              <a:off x="11906250" y="13287375"/>
              <a:ext cx="7153275" cy="2095500"/>
            </a:xfrm>
            <a:prstGeom prst="rightArrow">
              <a:avLst>
                <a:gd name="adj1" fmla="val 59100"/>
                <a:gd name="adj2" fmla="val 78600"/>
              </a:avLst>
            </a:prstGeom>
            <a:solidFill>
              <a:srgbClr val="E857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bot-fade0"/>
            <p:cNvSpPr/>
            <p:nvPr/>
          </p:nvSpPr>
          <p:spPr>
            <a:xfrm>
              <a:off x="11906250" y="13696950"/>
              <a:ext cx="215265" cy="1276350"/>
            </a:xfrm>
            <a:prstGeom prst="rect">
              <a:avLst/>
            </a:prstGeom>
            <a:solidFill>
              <a:srgbClr val="FFFFFF">
                <a:alpha val="973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bot-fade1"/>
            <p:cNvSpPr/>
            <p:nvPr/>
          </p:nvSpPr>
          <p:spPr>
            <a:xfrm>
              <a:off x="12120562" y="13696950"/>
              <a:ext cx="215265" cy="1276350"/>
            </a:xfrm>
            <a:prstGeom prst="rect">
              <a:avLst/>
            </a:prstGeom>
            <a:solidFill>
              <a:srgbClr val="FFFFFF">
                <a:alpha val="87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bot-fade2"/>
            <p:cNvSpPr/>
            <p:nvPr/>
          </p:nvSpPr>
          <p:spPr>
            <a:xfrm>
              <a:off x="12334875" y="13696950"/>
              <a:ext cx="215265" cy="1276350"/>
            </a:xfrm>
            <a:prstGeom prst="rect">
              <a:avLst/>
            </a:prstGeom>
            <a:solidFill>
              <a:srgbClr val="FFFFFF">
                <a:alpha val="77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bot-fade3"/>
            <p:cNvSpPr/>
            <p:nvPr/>
          </p:nvSpPr>
          <p:spPr>
            <a:xfrm>
              <a:off x="12549188" y="13696950"/>
              <a:ext cx="215265" cy="1276350"/>
            </a:xfrm>
            <a:prstGeom prst="rect">
              <a:avLst/>
            </a:prstGeom>
            <a:solidFill>
              <a:srgbClr val="FFFFFF">
                <a:alpha val="68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bot-fade4"/>
            <p:cNvSpPr/>
            <p:nvPr/>
          </p:nvSpPr>
          <p:spPr>
            <a:xfrm>
              <a:off x="12763500" y="13696950"/>
              <a:ext cx="215265" cy="1276350"/>
            </a:xfrm>
            <a:prstGeom prst="rect">
              <a:avLst/>
            </a:prstGeom>
            <a:solidFill>
              <a:srgbClr val="FFFFFF">
                <a:alpha val="582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bot-fade5"/>
            <p:cNvSpPr/>
            <p:nvPr/>
          </p:nvSpPr>
          <p:spPr>
            <a:xfrm>
              <a:off x="12977812" y="13696950"/>
              <a:ext cx="215265" cy="1276350"/>
            </a:xfrm>
            <a:prstGeom prst="rect">
              <a:avLst/>
            </a:prstGeom>
            <a:solidFill>
              <a:srgbClr val="FFFFFF">
                <a:alpha val="48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bot-fade6"/>
            <p:cNvSpPr/>
            <p:nvPr/>
          </p:nvSpPr>
          <p:spPr>
            <a:xfrm>
              <a:off x="13192125" y="13696950"/>
              <a:ext cx="215265" cy="1276350"/>
            </a:xfrm>
            <a:prstGeom prst="rect">
              <a:avLst/>
            </a:prstGeom>
            <a:solidFill>
              <a:srgbClr val="FFFFFF">
                <a:alpha val="4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bot-fade7"/>
            <p:cNvSpPr/>
            <p:nvPr/>
          </p:nvSpPr>
          <p:spPr>
            <a:xfrm>
              <a:off x="13406438" y="13696950"/>
              <a:ext cx="215265" cy="1276350"/>
            </a:xfrm>
            <a:prstGeom prst="rect">
              <a:avLst/>
            </a:prstGeom>
            <a:solidFill>
              <a:srgbClr val="FFFFFF">
                <a:alpha val="41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bot-fade8"/>
            <p:cNvSpPr/>
            <p:nvPr/>
          </p:nvSpPr>
          <p:spPr>
            <a:xfrm>
              <a:off x="13620750" y="13696950"/>
              <a:ext cx="215265" cy="1276350"/>
            </a:xfrm>
            <a:prstGeom prst="rect">
              <a:avLst/>
            </a:prstGeom>
            <a:solidFill>
              <a:srgbClr val="FFFFFF">
                <a:alpha val="39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bot-fade9"/>
            <p:cNvSpPr/>
            <p:nvPr/>
          </p:nvSpPr>
          <p:spPr>
            <a:xfrm>
              <a:off x="13835062" y="13696950"/>
              <a:ext cx="215265" cy="1276350"/>
            </a:xfrm>
            <a:prstGeom prst="rect">
              <a:avLst/>
            </a:prstGeom>
            <a:solidFill>
              <a:srgbClr val="FFFFFF">
                <a:alpha val="365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bot-fade10"/>
            <p:cNvSpPr/>
            <p:nvPr/>
          </p:nvSpPr>
          <p:spPr>
            <a:xfrm>
              <a:off x="14049375" y="13696950"/>
              <a:ext cx="215265" cy="1276350"/>
            </a:xfrm>
            <a:prstGeom prst="rect">
              <a:avLst/>
            </a:prstGeom>
            <a:solidFill>
              <a:srgbClr val="FFFFFF">
                <a:alpha val="3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bot-fade11"/>
            <p:cNvSpPr/>
            <p:nvPr/>
          </p:nvSpPr>
          <p:spPr>
            <a:xfrm>
              <a:off x="14263688" y="13696950"/>
              <a:ext cx="215265" cy="1276350"/>
            </a:xfrm>
            <a:prstGeom prst="rect">
              <a:avLst/>
            </a:prstGeom>
            <a:solidFill>
              <a:srgbClr val="FFFFFF">
                <a:alpha val="314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bot-fade12"/>
            <p:cNvSpPr/>
            <p:nvPr/>
          </p:nvSpPr>
          <p:spPr>
            <a:xfrm>
              <a:off x="14478000" y="13696950"/>
              <a:ext cx="215265" cy="1276350"/>
            </a:xfrm>
            <a:prstGeom prst="rect">
              <a:avLst/>
            </a:prstGeom>
            <a:solidFill>
              <a:srgbClr val="FFFFFF">
                <a:alpha val="28899"/>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bot-fade13"/>
            <p:cNvSpPr/>
            <p:nvPr/>
          </p:nvSpPr>
          <p:spPr>
            <a:xfrm>
              <a:off x="14692312" y="13696950"/>
              <a:ext cx="215265" cy="1276350"/>
            </a:xfrm>
            <a:prstGeom prst="rect">
              <a:avLst/>
            </a:prstGeom>
            <a:solidFill>
              <a:srgbClr val="FFFFFF">
                <a:alpha val="264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bot-fade14"/>
            <p:cNvSpPr/>
            <p:nvPr/>
          </p:nvSpPr>
          <p:spPr>
            <a:xfrm>
              <a:off x="14906625" y="13696950"/>
              <a:ext cx="215265" cy="1276350"/>
            </a:xfrm>
            <a:prstGeom prst="rect">
              <a:avLst/>
            </a:prstGeom>
            <a:solidFill>
              <a:srgbClr val="FFFFFF">
                <a:alpha val="23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bot-fade15"/>
            <p:cNvSpPr/>
            <p:nvPr/>
          </p:nvSpPr>
          <p:spPr>
            <a:xfrm>
              <a:off x="15120938" y="13696950"/>
              <a:ext cx="215265" cy="1276350"/>
            </a:xfrm>
            <a:prstGeom prst="rect">
              <a:avLst/>
            </a:prstGeom>
            <a:solidFill>
              <a:srgbClr val="FFFFFF">
                <a:alpha val="214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bot-fade16"/>
            <p:cNvSpPr/>
            <p:nvPr/>
          </p:nvSpPr>
          <p:spPr>
            <a:xfrm>
              <a:off x="15335250" y="13696950"/>
              <a:ext cx="215265" cy="1276350"/>
            </a:xfrm>
            <a:prstGeom prst="rect">
              <a:avLst/>
            </a:prstGeom>
            <a:solidFill>
              <a:srgbClr val="FFFFFF">
                <a:alpha val="189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bot-fade17"/>
            <p:cNvSpPr/>
            <p:nvPr/>
          </p:nvSpPr>
          <p:spPr>
            <a:xfrm>
              <a:off x="15549562" y="13696950"/>
              <a:ext cx="215265" cy="1276350"/>
            </a:xfrm>
            <a:prstGeom prst="rect">
              <a:avLst/>
            </a:prstGeom>
            <a:solidFill>
              <a:srgbClr val="FFFFFF">
                <a:alpha val="163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bot-fade18"/>
            <p:cNvSpPr/>
            <p:nvPr/>
          </p:nvSpPr>
          <p:spPr>
            <a:xfrm>
              <a:off x="15763875" y="13696950"/>
              <a:ext cx="215265" cy="1276350"/>
            </a:xfrm>
            <a:prstGeom prst="rect">
              <a:avLst/>
            </a:prstGeom>
            <a:solidFill>
              <a:srgbClr val="FFFFFF">
                <a:alpha val="13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bot-fade19"/>
            <p:cNvSpPr/>
            <p:nvPr/>
          </p:nvSpPr>
          <p:spPr>
            <a:xfrm>
              <a:off x="15978188" y="13696950"/>
              <a:ext cx="215265" cy="1276350"/>
            </a:xfrm>
            <a:prstGeom prst="rect">
              <a:avLst/>
            </a:prstGeom>
            <a:solidFill>
              <a:srgbClr val="FFFFFF">
                <a:alpha val="113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bot-fade20"/>
            <p:cNvSpPr/>
            <p:nvPr/>
          </p:nvSpPr>
          <p:spPr>
            <a:xfrm>
              <a:off x="16192500" y="13696950"/>
              <a:ext cx="215265" cy="1276350"/>
            </a:xfrm>
            <a:prstGeom prst="rect">
              <a:avLst/>
            </a:prstGeom>
            <a:solidFill>
              <a:srgbClr val="FFFFFF">
                <a:alpha val="8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bot-fade21"/>
            <p:cNvSpPr/>
            <p:nvPr/>
          </p:nvSpPr>
          <p:spPr>
            <a:xfrm>
              <a:off x="16406812" y="13696950"/>
              <a:ext cx="215265" cy="1276350"/>
            </a:xfrm>
            <a:prstGeom prst="rect">
              <a:avLst/>
            </a:prstGeom>
            <a:solidFill>
              <a:srgbClr val="FFFFFF">
                <a:alpha val="63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bot-fade22"/>
            <p:cNvSpPr/>
            <p:nvPr/>
          </p:nvSpPr>
          <p:spPr>
            <a:xfrm>
              <a:off x="16621125" y="13696950"/>
              <a:ext cx="215265" cy="1276350"/>
            </a:xfrm>
            <a:prstGeom prst="rect">
              <a:avLst/>
            </a:prstGeom>
            <a:solidFill>
              <a:srgbClr val="FFFFFF">
                <a:alpha val="38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bot-arrow-t1"/>
            <p:cNvSpPr txBox="1"/>
            <p:nvPr/>
          </p:nvSpPr>
          <p:spPr>
            <a:xfrm>
              <a:off x="13649325" y="13830300"/>
              <a:ext cx="4057650" cy="476250"/>
            </a:xfrm>
            <a:prstGeom prst="rect">
              <a:avLst/>
            </a:prstGeom>
            <a:noFill/>
            <a:effectLst/>
          </p:spPr>
          <p:txBody>
            <a:bodyPr wrap="none" lIns="0" rIns="0" tIns="0" bIns="0" anchor="ctr">
              <a:spAutoFit/>
            </a:bodyPr>
            <a:lstStyle/>
            <a:p>
              <a:pPr algn="ctr">
                <a:lnSpc>
                  <a:spcPct val="100000"/>
                </a:lnSpc>
              </a:pPr>
              <a:r>
                <a:rPr sz="3600" b="1" i="0">
                  <a:solidFill>
                    <a:srgbClr val="FFFFFF"/>
                  </a:solidFill>
                  <a:latin typeface="Microsoft YaHei"/>
                  <a:ea typeface="Microsoft YaHei"/>
                  <a:cs typeface="Microsoft YaHei"/>
                </a:rPr>
                <a:t>多重机制叠加效应与</a:t>
              </a:r>
            </a:p>
          </p:txBody>
        </p:sp>
        <p:sp>
          <p:nvSpPr>
            <p:cNvPr id="128" name="bot-arrow-t2"/>
            <p:cNvSpPr txBox="1"/>
            <p:nvPr/>
          </p:nvSpPr>
          <p:spPr>
            <a:xfrm>
              <a:off x="14325600" y="14444662"/>
              <a:ext cx="2686050" cy="476250"/>
            </a:xfrm>
            <a:prstGeom prst="rect">
              <a:avLst/>
            </a:prstGeom>
            <a:noFill/>
            <a:effectLst/>
          </p:spPr>
          <p:txBody>
            <a:bodyPr wrap="none" lIns="0" rIns="0" tIns="0" bIns="0" anchor="ctr">
              <a:spAutoFit/>
            </a:bodyPr>
            <a:lstStyle/>
            <a:p>
              <a:pPr algn="ctr">
                <a:lnSpc>
                  <a:spcPct val="100000"/>
                </a:lnSpc>
              </a:pPr>
              <a:r>
                <a:rPr sz="3600" b="1" i="0">
                  <a:solidFill>
                    <a:srgbClr val="FFFFFF"/>
                  </a:solidFill>
                  <a:latin typeface="Microsoft YaHei"/>
                  <a:ea typeface="Microsoft YaHei"/>
                  <a:cs typeface="Microsoft YaHei"/>
                </a:rPr>
                <a:t>复杂系统响应</a:t>
              </a:r>
            </a:p>
          </p:txBody>
        </p:sp>
        <p:sp>
          <p:nvSpPr>
            <p:cNvPr id="129" name="bot-left1"/>
            <p:cNvSpPr txBox="1"/>
            <p:nvPr/>
          </p:nvSpPr>
          <p:spPr>
            <a:xfrm>
              <a:off x="4348162" y="13816012"/>
              <a:ext cx="7496175" cy="514350"/>
            </a:xfrm>
            <a:prstGeom prst="rect">
              <a:avLst/>
            </a:prstGeom>
            <a:noFill/>
            <a:effectLst/>
          </p:spPr>
          <p:txBody>
            <a:bodyPr wrap="none" lIns="0" rIns="0" tIns="0" bIns="0" anchor="ctr">
              <a:spAutoFit/>
            </a:bodyPr>
            <a:lstStyle/>
            <a:p>
              <a:pPr algn="ctr">
                <a:lnSpc>
                  <a:spcPct val="100000"/>
                </a:lnSpc>
              </a:pPr>
              <a:r>
                <a:rPr sz="3600" b="1" i="0">
                  <a:solidFill>
                    <a:srgbClr val="B23A39"/>
                  </a:solidFill>
                  <a:latin typeface="Microsoft YaHei"/>
                  <a:ea typeface="Microsoft YaHei"/>
                  <a:cs typeface="Microsoft YaHei"/>
                </a:rPr>
                <a:t>海平面上升速率显著加快，未来百年</a:t>
              </a:r>
            </a:p>
          </p:txBody>
        </p:sp>
        <p:sp>
          <p:nvSpPr>
            <p:cNvPr id="130" name="bot-left2"/>
            <p:cNvSpPr txBox="1"/>
            <p:nvPr/>
          </p:nvSpPr>
          <p:spPr>
            <a:xfrm>
              <a:off x="6329362" y="14420850"/>
              <a:ext cx="3533775" cy="514350"/>
            </a:xfrm>
            <a:prstGeom prst="rect">
              <a:avLst/>
            </a:prstGeom>
            <a:noFill/>
            <a:effectLst/>
          </p:spPr>
          <p:txBody>
            <a:bodyPr wrap="none" lIns="0" rIns="0" tIns="0" bIns="0" anchor="ctr">
              <a:spAutoFit/>
            </a:bodyPr>
            <a:lstStyle/>
            <a:p>
              <a:pPr algn="ctr">
                <a:lnSpc>
                  <a:spcPct val="100000"/>
                </a:lnSpc>
              </a:pPr>
              <a:r>
                <a:rPr sz="3600" b="1" i="0">
                  <a:solidFill>
                    <a:srgbClr val="B23A39"/>
                  </a:solidFill>
                  <a:latin typeface="Microsoft YaHei"/>
                  <a:ea typeface="Microsoft YaHei"/>
                  <a:cs typeface="Microsoft YaHei"/>
                </a:rPr>
                <a:t>可能上升超 1 米</a:t>
              </a:r>
            </a:p>
          </p:txBody>
        </p:sp>
        <p:sp>
          <p:nvSpPr>
            <p:cNvPr id="131" name="bot-right1"/>
            <p:cNvSpPr txBox="1"/>
            <p:nvPr/>
          </p:nvSpPr>
          <p:spPr>
            <a:xfrm>
              <a:off x="19130962" y="13849350"/>
              <a:ext cx="10201275" cy="514350"/>
            </a:xfrm>
            <a:prstGeom prst="rect">
              <a:avLst/>
            </a:prstGeom>
            <a:noFill/>
            <a:effectLst/>
          </p:spPr>
          <p:txBody>
            <a:bodyPr wrap="none" lIns="0" rIns="0" tIns="0" bIns="0" anchor="ctr">
              <a:spAutoFit/>
            </a:bodyPr>
            <a:lstStyle/>
            <a:p>
              <a:pPr algn="ctr">
                <a:lnSpc>
                  <a:spcPct val="100000"/>
                </a:lnSpc>
              </a:pPr>
              <a:r>
                <a:rPr sz="3600" b="1" i="0">
                  <a:solidFill>
                    <a:srgbClr val="2D508A"/>
                  </a:solidFill>
                  <a:latin typeface="Microsoft YaHei"/>
                  <a:ea typeface="Microsoft YaHei"/>
                  <a:cs typeface="Microsoft YaHei"/>
                </a:rPr>
                <a:t>研究路径：通过观测、模拟与评估，明确关键阈值</a:t>
              </a:r>
            </a:p>
          </p:txBody>
        </p:sp>
        <p:sp>
          <p:nvSpPr>
            <p:cNvPr id="132" name="bot-right2"/>
            <p:cNvSpPr txBox="1"/>
            <p:nvPr/>
          </p:nvSpPr>
          <p:spPr>
            <a:xfrm>
              <a:off x="19359562" y="14463712"/>
              <a:ext cx="9744075" cy="514350"/>
            </a:xfrm>
            <a:prstGeom prst="rect">
              <a:avLst/>
            </a:prstGeom>
            <a:noFill/>
            <a:effectLst/>
          </p:spPr>
          <p:txBody>
            <a:bodyPr wrap="none" lIns="0" rIns="0" tIns="0" bIns="0" anchor="ctr">
              <a:spAutoFit/>
            </a:bodyPr>
            <a:lstStyle/>
            <a:p>
              <a:pPr algn="ctr">
                <a:lnSpc>
                  <a:spcPct val="100000"/>
                </a:lnSpc>
              </a:pPr>
              <a:r>
                <a:rPr sz="3600" b="1" i="0">
                  <a:solidFill>
                    <a:srgbClr val="2D508A"/>
                  </a:solidFill>
                  <a:latin typeface="Microsoft YaHei"/>
                  <a:ea typeface="Microsoft YaHei"/>
                  <a:cs typeface="Microsoft YaHei"/>
                </a:rPr>
                <a:t>与不可逆转风险，为应对策略制定提供科学依据</a:t>
              </a:r>
            </a:p>
          </p:txBody>
        </p:sp>
      </p:grpSp>
      <p:grpSp>
        <p:nvGrpSpPr>
          <p:cNvPr id="141" name="footer"/>
          <p:cNvGrpSpPr/>
          <p:nvPr/>
        </p:nvGrpSpPr>
        <p:grpSpPr>
          <a:xfrm>
            <a:off x="1200150" y="15925800"/>
            <a:ext cx="28317825" cy="981075"/>
            <a:chOff x="1200150" y="15925800"/>
            <a:chExt cx="28317825" cy="981075"/>
          </a:xfrm>
        </p:grpSpPr>
        <p:sp>
          <p:nvSpPr>
            <p:cNvPr id="133" name="foot-bar"/>
            <p:cNvSpPr/>
            <p:nvPr/>
          </p:nvSpPr>
          <p:spPr>
            <a:xfrm>
              <a:off x="1200150" y="15925800"/>
              <a:ext cx="28317825" cy="981075"/>
            </a:xfrm>
            <a:prstGeom prst="roundRect">
              <a:avLst>
                <a:gd name="adj" fmla="val 11650"/>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foot-text"/>
            <p:cNvSpPr txBox="1"/>
            <p:nvPr/>
          </p:nvSpPr>
          <p:spPr>
            <a:xfrm>
              <a:off x="1285875" y="16173450"/>
              <a:ext cx="25336500" cy="514350"/>
            </a:xfrm>
            <a:prstGeom prst="rect">
              <a:avLst/>
            </a:prstGeom>
            <a:noFill/>
            <a:effectLst/>
          </p:spPr>
          <p:txBody>
            <a:bodyPr wrap="none" lIns="0" rIns="0" tIns="0" bIns="0" anchor="ctr">
              <a:spAutoFit/>
            </a:bodyPr>
            <a:lstStyle/>
            <a:p>
              <a:pPr algn="l">
                <a:lnSpc>
                  <a:spcPct val="100000"/>
                </a:lnSpc>
              </a:pPr>
              <a:r>
                <a:rPr sz="3562" b="1">
                  <a:solidFill>
                    <a:srgbClr val="454545"/>
                  </a:solidFill>
                  <a:latin typeface="Microsoft YaHei"/>
                  <a:ea typeface="Microsoft YaHei"/>
                  <a:cs typeface="Microsoft YaHei"/>
                </a:rPr>
                <a:t>综合研究揭示了冰冻圈快速变化对海平面上升的决定性作用，</a:t>
              </a:r>
              <a:r>
                <a:rPr sz="3562" b="1">
                  <a:solidFill>
                    <a:srgbClr val="B23A39"/>
                  </a:solidFill>
                  <a:latin typeface="Microsoft YaHei"/>
                  <a:ea typeface="Microsoft YaHei"/>
                  <a:cs typeface="Microsoft YaHei"/>
                </a:rPr>
                <a:t>强调了减排与适应并举的紧迫性</a:t>
              </a:r>
              <a:r>
                <a:rPr sz="3562" b="1">
                  <a:solidFill>
                    <a:srgbClr val="454545"/>
                  </a:solidFill>
                  <a:latin typeface="Microsoft YaHei"/>
                  <a:ea typeface="Microsoft YaHei"/>
                  <a:cs typeface="Microsoft YaHei"/>
                </a:rPr>
                <a:t>，为全球气候治理提供关键支撑。</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