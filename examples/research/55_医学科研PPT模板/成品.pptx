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01854" cy="5120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9101854" cy="5120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1-cover" descr="0e9a65d162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01854" cy="5121205"/>
          </a:xfrm>
          <a:prstGeom prst="rect">
            <a:avLst/>
          </a:prstGeom>
          <a:effectLst/>
        </p:spPr>
      </p:pic>
      <p:sp>
        <p:nvSpPr>
          <p:cNvPr id="4" name="p1-title"/>
          <p:cNvSpPr txBox="1"/>
          <p:nvPr/>
        </p:nvSpPr>
        <p:spPr>
          <a:xfrm>
            <a:off x="440412" y="1222426"/>
            <a:ext cx="3387787" cy="7057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17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科学PPT模板</a:t>
            </a:r>
          </a:p>
        </p:txBody>
      </p:sp>
      <p:sp>
        <p:nvSpPr>
          <p:cNvPr id="5" name="p1-rule"/>
          <p:cNvSpPr/>
          <p:nvPr/>
        </p:nvSpPr>
        <p:spPr>
          <a:xfrm>
            <a:off x="454528" y="2667882"/>
            <a:ext cx="3828199" cy="42347"/>
          </a:xfrm>
          <a:prstGeom prst="rect">
            <a:avLst/>
          </a:prstGeom>
          <a:solidFill>
            <a:srgbClr val="2DA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1-sub"/>
          <p:cNvSpPr txBox="1"/>
          <p:nvPr/>
        </p:nvSpPr>
        <p:spPr>
          <a:xfrm>
            <a:off x="440412" y="2103251"/>
            <a:ext cx="4291197" cy="3670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6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基于深度学习的医学影像智能诊断研究</a:t>
            </a:r>
          </a:p>
        </p:txBody>
      </p:sp>
      <p:grpSp>
        <p:nvGrpSpPr>
          <p:cNvPr id="312" name="p1-ic1"/>
          <p:cNvGrpSpPr/>
          <p:nvPr/>
        </p:nvGrpSpPr>
        <p:grpSpPr>
          <a:xfrm>
            <a:off x="458622" y="3672587"/>
            <a:ext cx="206372" cy="213656"/>
            <a:chOff x="458622" y="3672587"/>
            <a:chExt cx="206372" cy="213656"/>
          </a:xfrm>
        </p:grpSpPr>
        <p:sp>
          <p:nvSpPr>
            <p:cNvPr id="7" name="Oval 6"/>
            <p:cNvSpPr/>
            <p:nvPr/>
          </p:nvSpPr>
          <p:spPr>
            <a:xfrm>
              <a:off x="510822" y="3672587"/>
              <a:ext cx="101972" cy="1019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458622" y="3789127"/>
              <a:ext cx="206372" cy="97116"/>
            </a:xfrm>
            <a:custGeom>
              <a:avLst/>
              <a:gdLst/>
              <a:ahLst/>
              <a:cxnLst/>
              <a:rect l="l" t="t" r="r" b="b"/>
              <a:pathLst>
                <a:path w="206372" h="97116">
                  <a:moveTo>
                    <a:pt x="0" y="97116"/>
                  </a:moveTo>
                  <a:lnTo>
                    <a:pt x="103186" y="0"/>
                  </a:lnTo>
                  <a:lnTo>
                    <a:pt x="206372" y="971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p1-t1"/>
          <p:cNvSpPr txBox="1"/>
          <p:nvPr/>
        </p:nvSpPr>
        <p:spPr>
          <a:xfrm>
            <a:off x="750959" y="3619286"/>
            <a:ext cx="1129262" cy="2314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11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演讲者：XXX</a:t>
            </a:r>
          </a:p>
        </p:txBody>
      </p:sp>
      <p:grpSp>
        <p:nvGrpSpPr>
          <p:cNvPr id="313" name="p1-ic2"/>
          <p:cNvGrpSpPr/>
          <p:nvPr/>
        </p:nvGrpSpPr>
        <p:grpSpPr>
          <a:xfrm>
            <a:off x="488971" y="4048462"/>
            <a:ext cx="145675" cy="208801"/>
            <a:chOff x="488971" y="4048462"/>
            <a:chExt cx="145675" cy="208801"/>
          </a:xfrm>
        </p:grpSpPr>
        <p:sp>
          <p:nvSpPr>
            <p:cNvPr id="10" name="Rounded Rectangle 9"/>
            <p:cNvSpPr/>
            <p:nvPr/>
          </p:nvSpPr>
          <p:spPr>
            <a:xfrm>
              <a:off x="488971" y="4048462"/>
              <a:ext cx="145675" cy="208801"/>
            </a:xfrm>
            <a:prstGeom prst="roundRect">
              <a:avLst>
                <a:gd name="adj" fmla="val 8333"/>
              </a:avLst>
            </a:prstGeom>
            <a:noFill/>
            <a:ln w="152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13250" y="4082453"/>
              <a:ext cx="24279" cy="242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49668" y="4082453"/>
              <a:ext cx="24279" cy="242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86087" y="4082453"/>
              <a:ext cx="24279" cy="242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13250" y="4131011"/>
              <a:ext cx="24279" cy="242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49668" y="4131011"/>
              <a:ext cx="24279" cy="242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86087" y="4131011"/>
              <a:ext cx="24279" cy="242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42385" y="4194137"/>
              <a:ext cx="38847" cy="63126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p1-t2"/>
          <p:cNvSpPr txBox="1"/>
          <p:nvPr/>
        </p:nvSpPr>
        <p:spPr>
          <a:xfrm>
            <a:off x="750959" y="4006058"/>
            <a:ext cx="2766693" cy="2314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11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  位：XXX大学 / 医学院 / 实验室</a:t>
            </a:r>
          </a:p>
        </p:txBody>
      </p:sp>
      <p:grpSp>
        <p:nvGrpSpPr>
          <p:cNvPr id="314" name="p1-ic3"/>
          <p:cNvGrpSpPr/>
          <p:nvPr/>
        </p:nvGrpSpPr>
        <p:grpSpPr>
          <a:xfrm>
            <a:off x="457408" y="4440881"/>
            <a:ext cx="208801" cy="208801"/>
            <a:chOff x="457408" y="4440881"/>
            <a:chExt cx="208801" cy="208801"/>
          </a:xfrm>
        </p:grpSpPr>
        <p:sp>
          <p:nvSpPr>
            <p:cNvPr id="19" name="Oval 18"/>
            <p:cNvSpPr/>
            <p:nvPr/>
          </p:nvSpPr>
          <p:spPr>
            <a:xfrm>
              <a:off x="457408" y="4440881"/>
              <a:ext cx="208801" cy="208801"/>
            </a:xfrm>
            <a:prstGeom prst="ellipse">
              <a:avLst/>
            </a:prstGeom>
            <a:noFill/>
            <a:ln w="152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 flipV="1">
              <a:off x="561808" y="4484583"/>
              <a:ext cx="0" cy="60698"/>
            </a:xfrm>
            <a:prstGeom prst="line">
              <a:avLst/>
            </a:prstGeom>
            <a:ln w="22094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61808" y="4545281"/>
              <a:ext cx="43702" cy="14567"/>
            </a:xfrm>
            <a:prstGeom prst="line">
              <a:avLst/>
            </a:prstGeom>
            <a:ln w="22094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p1-t3"/>
          <p:cNvSpPr txBox="1"/>
          <p:nvPr/>
        </p:nvSpPr>
        <p:spPr>
          <a:xfrm>
            <a:off x="750959" y="4401300"/>
            <a:ext cx="2258525" cy="2314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11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  期：2026年XX月XX日</a:t>
            </a:r>
          </a:p>
        </p:txBody>
      </p:sp>
      <p:sp>
        <p:nvSpPr>
          <p:cNvPr id="23" name="p2-bg"/>
          <p:cNvSpPr/>
          <p:nvPr/>
        </p:nvSpPr>
        <p:spPr>
          <a:xfrm>
            <a:off x="0" y="5121205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2-frame" descr="8206672de3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1205"/>
            <a:ext cx="9101854" cy="5121205"/>
          </a:xfrm>
          <a:prstGeom prst="rect">
            <a:avLst/>
          </a:prstGeom>
          <a:effectLst/>
        </p:spPr>
      </p:pic>
      <p:sp>
        <p:nvSpPr>
          <p:cNvPr id="25" name="p2-panel"/>
          <p:cNvSpPr/>
          <p:nvPr/>
        </p:nvSpPr>
        <p:spPr>
          <a:xfrm>
            <a:off x="711435" y="5897572"/>
            <a:ext cx="7724154" cy="3500713"/>
          </a:xfrm>
          <a:prstGeom prst="roundRect">
            <a:avLst>
              <a:gd name="adj" fmla="val 3548"/>
            </a:avLst>
          </a:prstGeom>
          <a:solidFill>
            <a:srgbClr val="FCFCFC"/>
          </a:solidFill>
          <a:ln w="8469">
            <a:solidFill>
              <a:srgbClr val="CBE9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2-title1"/>
          <p:cNvSpPr txBox="1"/>
          <p:nvPr/>
        </p:nvSpPr>
        <p:spPr>
          <a:xfrm>
            <a:off x="3825376" y="5654781"/>
            <a:ext cx="454528" cy="4658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779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27" name="p2-title2"/>
          <p:cNvSpPr txBox="1"/>
          <p:nvPr/>
        </p:nvSpPr>
        <p:spPr>
          <a:xfrm>
            <a:off x="4799365" y="5654781"/>
            <a:ext cx="584393" cy="4658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779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grpSp>
        <p:nvGrpSpPr>
          <p:cNvPr id="337" name="p2-cardgrp0"/>
          <p:cNvGrpSpPr/>
          <p:nvPr/>
        </p:nvGrpSpPr>
        <p:grpSpPr>
          <a:xfrm>
            <a:off x="1366407" y="6301284"/>
            <a:ext cx="2365805" cy="2879619"/>
            <a:chOff x="1366407" y="6301284"/>
            <a:chExt cx="2365805" cy="2879619"/>
          </a:xfrm>
        </p:grpSpPr>
        <p:sp>
          <p:nvSpPr>
            <p:cNvPr id="28" name="p2-card0"/>
            <p:cNvSpPr/>
            <p:nvPr/>
          </p:nvSpPr>
          <p:spPr>
            <a:xfrm>
              <a:off x="1366407" y="6786867"/>
              <a:ext cx="2365805" cy="2394036"/>
            </a:xfrm>
            <a:prstGeom prst="roundRect">
              <a:avLst>
                <a:gd name="adj" fmla="val 3579"/>
              </a:avLst>
            </a:prstGeom>
            <a:solidFill>
              <a:srgbClr val="EFF8F7"/>
            </a:solidFill>
            <a:ln w="5646">
              <a:solidFill>
                <a:srgbClr val="CBE9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p2-barbg0"/>
            <p:cNvSpPr/>
            <p:nvPr/>
          </p:nvSpPr>
          <p:spPr>
            <a:xfrm>
              <a:off x="1388993" y="8983282"/>
              <a:ext cx="2320634" cy="191975"/>
            </a:xfrm>
            <a:prstGeom prst="roundRect">
              <a:avLst>
                <a:gd name="adj" fmla="val 17647"/>
              </a:avLst>
            </a:prstGeom>
            <a:solidFill>
              <a:srgbClr val="BCE3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p2-num0"/>
            <p:cNvSpPr txBox="1"/>
            <p:nvPr/>
          </p:nvSpPr>
          <p:spPr>
            <a:xfrm>
              <a:off x="2046788" y="6301284"/>
              <a:ext cx="1016336" cy="8469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68" b="1" i="0">
                  <a:solidFill>
                    <a:srgbClr val="2DABAA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31" name="p2-lab0"/>
            <p:cNvSpPr txBox="1"/>
            <p:nvPr/>
          </p:nvSpPr>
          <p:spPr>
            <a:xfrm>
              <a:off x="1708009" y="7566058"/>
              <a:ext cx="1693893" cy="28231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44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研究背景与意义</a:t>
              </a:r>
            </a:p>
          </p:txBody>
        </p:sp>
        <p:grpSp>
          <p:nvGrpSpPr>
            <p:cNvPr id="315" name="p2-ic0"/>
            <p:cNvGrpSpPr/>
            <p:nvPr/>
          </p:nvGrpSpPr>
          <p:grpSpPr>
            <a:xfrm>
              <a:off x="2311600" y="8328310"/>
              <a:ext cx="498005" cy="491088"/>
              <a:chOff x="2311600" y="8328310"/>
              <a:chExt cx="498005" cy="491088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2484518" y="8328310"/>
                <a:ext cx="152168" cy="190210"/>
              </a:xfrm>
              <a:prstGeom prst="rect">
                <a:avLst/>
              </a:pr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2311600" y="8466644"/>
                <a:ext cx="498005" cy="352754"/>
              </a:xfrm>
              <a:custGeom>
                <a:avLst/>
                <a:gdLst/>
                <a:ahLst/>
                <a:cxnLst/>
                <a:rect l="l" t="t" r="r" b="b"/>
                <a:pathLst>
                  <a:path w="498005" h="352754">
                    <a:moveTo>
                      <a:pt x="166002" y="0"/>
                    </a:moveTo>
                    <a:lnTo>
                      <a:pt x="0" y="352754"/>
                    </a:lnTo>
                    <a:lnTo>
                      <a:pt x="498005" y="352754"/>
                    </a:lnTo>
                    <a:lnTo>
                      <a:pt x="332003" y="0"/>
                    </a:lnTo>
                    <a:close/>
                  </a:path>
                </a:pathLst>
              </a:cu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26" name="p2-cardgrp1"/>
          <p:cNvGrpSpPr/>
          <p:nvPr/>
        </p:nvGrpSpPr>
        <p:grpSpPr>
          <a:xfrm>
            <a:off x="5386581" y="6301284"/>
            <a:ext cx="2365805" cy="2879619"/>
            <a:chOff x="5386581" y="6301284"/>
            <a:chExt cx="2365805" cy="2879619"/>
          </a:xfrm>
        </p:grpSpPr>
        <p:sp>
          <p:nvSpPr>
            <p:cNvPr id="34" name="p2-card1"/>
            <p:cNvSpPr/>
            <p:nvPr/>
          </p:nvSpPr>
          <p:spPr>
            <a:xfrm>
              <a:off x="5386581" y="6786867"/>
              <a:ext cx="2365805" cy="2394036"/>
            </a:xfrm>
            <a:prstGeom prst="roundRect">
              <a:avLst>
                <a:gd name="adj" fmla="val 3579"/>
              </a:avLst>
            </a:prstGeom>
            <a:solidFill>
              <a:srgbClr val="EFF8F7"/>
            </a:solidFill>
            <a:ln w="5646">
              <a:solidFill>
                <a:srgbClr val="CBE9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p2-barbg1"/>
            <p:cNvSpPr/>
            <p:nvPr/>
          </p:nvSpPr>
          <p:spPr>
            <a:xfrm>
              <a:off x="5409167" y="8983282"/>
              <a:ext cx="2320634" cy="191975"/>
            </a:xfrm>
            <a:prstGeom prst="roundRect">
              <a:avLst>
                <a:gd name="adj" fmla="val 17647"/>
              </a:avLst>
            </a:prstGeom>
            <a:solidFill>
              <a:srgbClr val="BCE3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p2-num1"/>
            <p:cNvSpPr txBox="1"/>
            <p:nvPr/>
          </p:nvSpPr>
          <p:spPr>
            <a:xfrm>
              <a:off x="6066962" y="6301284"/>
              <a:ext cx="1016336" cy="8469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68" b="1" i="0">
                  <a:solidFill>
                    <a:srgbClr val="2DABAA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37" name="p2-lab1"/>
            <p:cNvSpPr txBox="1"/>
            <p:nvPr/>
          </p:nvSpPr>
          <p:spPr>
            <a:xfrm>
              <a:off x="5728183" y="7566058"/>
              <a:ext cx="1693893" cy="28231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44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研究内容与结果</a:t>
              </a:r>
            </a:p>
          </p:txBody>
        </p:sp>
        <p:grpSp>
          <p:nvGrpSpPr>
            <p:cNvPr id="316" name="p2-ic1"/>
            <p:cNvGrpSpPr/>
            <p:nvPr/>
          </p:nvGrpSpPr>
          <p:grpSpPr>
            <a:xfrm>
              <a:off x="6366357" y="8369810"/>
              <a:ext cx="428838" cy="456504"/>
              <a:chOff x="6366357" y="8369810"/>
              <a:chExt cx="428838" cy="456504"/>
            </a:xfrm>
          </p:grpSpPr>
          <p:sp>
            <p:nvSpPr>
              <p:cNvPr id="38" name="Rounded Rectangle 37"/>
              <p:cNvSpPr/>
              <p:nvPr/>
            </p:nvSpPr>
            <p:spPr>
              <a:xfrm>
                <a:off x="6366357" y="8625729"/>
                <a:ext cx="124501" cy="200585"/>
              </a:xfrm>
              <a:prstGeom prst="roundRect">
                <a:avLst>
                  <a:gd name="adj" fmla="val 33333"/>
                </a:avLst>
              </a:pr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6518526" y="8483936"/>
                <a:ext cx="124501" cy="342378"/>
              </a:xfrm>
              <a:prstGeom prst="roundRect">
                <a:avLst>
                  <a:gd name="adj" fmla="val 33333"/>
                </a:avLst>
              </a:pr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6670694" y="8369810"/>
                <a:ext cx="124501" cy="456504"/>
              </a:xfrm>
              <a:prstGeom prst="roundRect">
                <a:avLst>
                  <a:gd name="adj" fmla="val 33333"/>
                </a:avLst>
              </a:pr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41" name="wave-light-1"/>
          <p:cNvSpPr/>
          <p:nvPr/>
        </p:nvSpPr>
        <p:spPr>
          <a:xfrm>
            <a:off x="112926" y="8785661"/>
            <a:ext cx="8988928" cy="1456748"/>
          </a:xfrm>
          <a:custGeom>
            <a:avLst/>
            <a:gdLst/>
            <a:ahLst/>
            <a:cxnLst/>
            <a:rect l="l" t="t" r="r" b="b"/>
            <a:pathLst>
              <a:path w="8988928" h="1456748">
                <a:moveTo>
                  <a:pt x="0" y="84695"/>
                </a:moveTo>
                <a:lnTo>
                  <a:pt x="451705" y="141158"/>
                </a:lnTo>
                <a:lnTo>
                  <a:pt x="903410" y="446058"/>
                </a:lnTo>
                <a:lnTo>
                  <a:pt x="1355115" y="564631"/>
                </a:lnTo>
                <a:lnTo>
                  <a:pt x="1863283" y="573100"/>
                </a:lnTo>
                <a:lnTo>
                  <a:pt x="2427914" y="573100"/>
                </a:lnTo>
                <a:lnTo>
                  <a:pt x="2992545" y="573100"/>
                </a:lnTo>
                <a:lnTo>
                  <a:pt x="3557177" y="587216"/>
                </a:lnTo>
                <a:lnTo>
                  <a:pt x="3895955" y="654972"/>
                </a:lnTo>
                <a:lnTo>
                  <a:pt x="4178271" y="824361"/>
                </a:lnTo>
                <a:lnTo>
                  <a:pt x="4438001" y="965519"/>
                </a:lnTo>
                <a:lnTo>
                  <a:pt x="4686439" y="824361"/>
                </a:lnTo>
                <a:lnTo>
                  <a:pt x="4968754" y="677557"/>
                </a:lnTo>
                <a:lnTo>
                  <a:pt x="5420459" y="575924"/>
                </a:lnTo>
                <a:lnTo>
                  <a:pt x="6098017" y="573100"/>
                </a:lnTo>
                <a:lnTo>
                  <a:pt x="7227279" y="573100"/>
                </a:lnTo>
                <a:lnTo>
                  <a:pt x="7678984" y="547692"/>
                </a:lnTo>
                <a:lnTo>
                  <a:pt x="8130689" y="392419"/>
                </a:lnTo>
                <a:lnTo>
                  <a:pt x="8469468" y="141158"/>
                </a:lnTo>
                <a:lnTo>
                  <a:pt x="8751783" y="28231"/>
                </a:lnTo>
                <a:lnTo>
                  <a:pt x="8988928" y="0"/>
                </a:lnTo>
                <a:lnTo>
                  <a:pt x="8988928" y="1456748"/>
                </a:lnTo>
                <a:lnTo>
                  <a:pt x="0" y="1456748"/>
                </a:lnTo>
                <a:close/>
              </a:path>
            </a:pathLst>
          </a:custGeom>
          <a:solidFill>
            <a:srgbClr val="CD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wave-deep-1"/>
          <p:cNvSpPr/>
          <p:nvPr/>
        </p:nvSpPr>
        <p:spPr>
          <a:xfrm>
            <a:off x="112926" y="8932465"/>
            <a:ext cx="8988928" cy="1185725"/>
          </a:xfrm>
          <a:custGeom>
            <a:avLst/>
            <a:gdLst/>
            <a:ahLst/>
            <a:cxnLst/>
            <a:rect l="l" t="t" r="r" b="b"/>
            <a:pathLst>
              <a:path w="8988928" h="1185725">
                <a:moveTo>
                  <a:pt x="0" y="84695"/>
                </a:moveTo>
                <a:lnTo>
                  <a:pt x="451705" y="141158"/>
                </a:lnTo>
                <a:lnTo>
                  <a:pt x="903410" y="446059"/>
                </a:lnTo>
                <a:lnTo>
                  <a:pt x="1355115" y="564631"/>
                </a:lnTo>
                <a:lnTo>
                  <a:pt x="1863283" y="573101"/>
                </a:lnTo>
                <a:lnTo>
                  <a:pt x="2427914" y="573101"/>
                </a:lnTo>
                <a:lnTo>
                  <a:pt x="2992545" y="573101"/>
                </a:lnTo>
                <a:lnTo>
                  <a:pt x="3557177" y="587216"/>
                </a:lnTo>
                <a:lnTo>
                  <a:pt x="3895955" y="654972"/>
                </a:lnTo>
                <a:lnTo>
                  <a:pt x="4178271" y="824361"/>
                </a:lnTo>
                <a:lnTo>
                  <a:pt x="4438001" y="965519"/>
                </a:lnTo>
                <a:lnTo>
                  <a:pt x="4686439" y="824361"/>
                </a:lnTo>
                <a:lnTo>
                  <a:pt x="4968754" y="677557"/>
                </a:lnTo>
                <a:lnTo>
                  <a:pt x="5420459" y="575924"/>
                </a:lnTo>
                <a:lnTo>
                  <a:pt x="6098017" y="573101"/>
                </a:lnTo>
                <a:lnTo>
                  <a:pt x="7227279" y="573101"/>
                </a:lnTo>
                <a:lnTo>
                  <a:pt x="7678984" y="547692"/>
                </a:lnTo>
                <a:lnTo>
                  <a:pt x="8130689" y="392419"/>
                </a:lnTo>
                <a:lnTo>
                  <a:pt x="8469468" y="141158"/>
                </a:lnTo>
                <a:lnTo>
                  <a:pt x="8751783" y="28232"/>
                </a:lnTo>
                <a:lnTo>
                  <a:pt x="8988928" y="0"/>
                </a:lnTo>
                <a:lnTo>
                  <a:pt x="8988928" y="1185725"/>
                </a:lnTo>
                <a:lnTo>
                  <a:pt x="0" y="1185725"/>
                </a:lnTo>
                <a:close/>
              </a:path>
            </a:pathLst>
          </a:custGeom>
          <a:solidFill>
            <a:srgbClr val="2D9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-bg2"/>
          <p:cNvSpPr/>
          <p:nvPr/>
        </p:nvSpPr>
        <p:spPr>
          <a:xfrm>
            <a:off x="0" y="10242409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3-frame" descr="c0ed0b9982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242409"/>
            <a:ext cx="9101854" cy="5121205"/>
          </a:xfrm>
          <a:prstGeom prst="rect">
            <a:avLst/>
          </a:prstGeom>
          <a:effectLst/>
        </p:spPr>
      </p:pic>
      <p:sp>
        <p:nvSpPr>
          <p:cNvPr id="45" name="d-panel2"/>
          <p:cNvSpPr/>
          <p:nvPr/>
        </p:nvSpPr>
        <p:spPr>
          <a:xfrm>
            <a:off x="638033" y="10603773"/>
            <a:ext cx="7825788" cy="4150039"/>
          </a:xfrm>
          <a:prstGeom prst="roundRect">
            <a:avLst>
              <a:gd name="adj" fmla="val 3129"/>
            </a:avLst>
          </a:prstGeom>
          <a:solidFill>
            <a:srgbClr val="FEFEFE"/>
          </a:solidFill>
          <a:ln w="8469">
            <a:solidFill>
              <a:srgbClr val="D8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-num2"/>
          <p:cNvSpPr txBox="1"/>
          <p:nvPr/>
        </p:nvSpPr>
        <p:spPr>
          <a:xfrm>
            <a:off x="1626138" y="12292020"/>
            <a:ext cx="756606" cy="5505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45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7" name="d-title2"/>
          <p:cNvSpPr txBox="1"/>
          <p:nvPr/>
        </p:nvSpPr>
        <p:spPr>
          <a:xfrm>
            <a:off x="3565646" y="12404947"/>
            <a:ext cx="2540840" cy="3331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89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研究背景与意义</a:t>
            </a:r>
          </a:p>
        </p:txBody>
      </p:sp>
      <p:grpSp>
        <p:nvGrpSpPr>
          <p:cNvPr id="317" name="d-ic2"/>
          <p:cNvGrpSpPr/>
          <p:nvPr/>
        </p:nvGrpSpPr>
        <p:grpSpPr>
          <a:xfrm>
            <a:off x="7071441" y="13268832"/>
            <a:ext cx="650455" cy="641421"/>
            <a:chOff x="7071441" y="13268832"/>
            <a:chExt cx="650455" cy="641421"/>
          </a:xfrm>
        </p:grpSpPr>
        <p:sp>
          <p:nvSpPr>
            <p:cNvPr id="48" name="Rectangle 47"/>
            <p:cNvSpPr/>
            <p:nvPr/>
          </p:nvSpPr>
          <p:spPr>
            <a:xfrm>
              <a:off x="7297293" y="13268832"/>
              <a:ext cx="198750" cy="248438"/>
            </a:xfrm>
            <a:prstGeom prst="rect">
              <a:avLst/>
            </a:prstGeom>
            <a:solidFill>
              <a:srgbClr val="DCEF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071441" y="13449514"/>
              <a:ext cx="650455" cy="460739"/>
            </a:xfrm>
            <a:custGeom>
              <a:avLst/>
              <a:gdLst/>
              <a:ahLst/>
              <a:cxnLst/>
              <a:rect l="l" t="t" r="r" b="b"/>
              <a:pathLst>
                <a:path w="650455" h="460739">
                  <a:moveTo>
                    <a:pt x="216818" y="0"/>
                  </a:moveTo>
                  <a:lnTo>
                    <a:pt x="0" y="460739"/>
                  </a:lnTo>
                  <a:lnTo>
                    <a:pt x="650455" y="460739"/>
                  </a:lnTo>
                  <a:lnTo>
                    <a:pt x="433636" y="0"/>
                  </a:lnTo>
                  <a:close/>
                </a:path>
              </a:pathLst>
            </a:custGeom>
            <a:solidFill>
              <a:srgbClr val="DCEF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0" name="wave-light-2"/>
          <p:cNvSpPr/>
          <p:nvPr/>
        </p:nvSpPr>
        <p:spPr>
          <a:xfrm>
            <a:off x="112926" y="13906865"/>
            <a:ext cx="8988928" cy="1456749"/>
          </a:xfrm>
          <a:custGeom>
            <a:avLst/>
            <a:gdLst/>
            <a:ahLst/>
            <a:cxnLst/>
            <a:rect l="l" t="t" r="r" b="b"/>
            <a:pathLst>
              <a:path w="8988928" h="1456749">
                <a:moveTo>
                  <a:pt x="0" y="84695"/>
                </a:moveTo>
                <a:lnTo>
                  <a:pt x="451705" y="141158"/>
                </a:lnTo>
                <a:lnTo>
                  <a:pt x="903410" y="446059"/>
                </a:lnTo>
                <a:lnTo>
                  <a:pt x="1355115" y="564632"/>
                </a:lnTo>
                <a:lnTo>
                  <a:pt x="1863283" y="573101"/>
                </a:lnTo>
                <a:lnTo>
                  <a:pt x="2427914" y="573101"/>
                </a:lnTo>
                <a:lnTo>
                  <a:pt x="2992545" y="573101"/>
                </a:lnTo>
                <a:lnTo>
                  <a:pt x="3557177" y="587217"/>
                </a:lnTo>
                <a:lnTo>
                  <a:pt x="3895955" y="654973"/>
                </a:lnTo>
                <a:lnTo>
                  <a:pt x="4178271" y="824362"/>
                </a:lnTo>
                <a:lnTo>
                  <a:pt x="4438001" y="965520"/>
                </a:lnTo>
                <a:lnTo>
                  <a:pt x="4686439" y="824362"/>
                </a:lnTo>
                <a:lnTo>
                  <a:pt x="4968754" y="677558"/>
                </a:lnTo>
                <a:lnTo>
                  <a:pt x="5420459" y="575924"/>
                </a:lnTo>
                <a:lnTo>
                  <a:pt x="6098017" y="573101"/>
                </a:lnTo>
                <a:lnTo>
                  <a:pt x="7227279" y="573101"/>
                </a:lnTo>
                <a:lnTo>
                  <a:pt x="7678984" y="547693"/>
                </a:lnTo>
                <a:lnTo>
                  <a:pt x="8130689" y="392419"/>
                </a:lnTo>
                <a:lnTo>
                  <a:pt x="8469468" y="141158"/>
                </a:lnTo>
                <a:lnTo>
                  <a:pt x="8751783" y="28232"/>
                </a:lnTo>
                <a:lnTo>
                  <a:pt x="8988928" y="0"/>
                </a:lnTo>
                <a:lnTo>
                  <a:pt x="8988928" y="1456749"/>
                </a:lnTo>
                <a:lnTo>
                  <a:pt x="0" y="1456749"/>
                </a:lnTo>
                <a:close/>
              </a:path>
            </a:pathLst>
          </a:custGeom>
          <a:solidFill>
            <a:srgbClr val="CD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wave-deep-2"/>
          <p:cNvSpPr/>
          <p:nvPr/>
        </p:nvSpPr>
        <p:spPr>
          <a:xfrm>
            <a:off x="112926" y="14053670"/>
            <a:ext cx="8988928" cy="1185725"/>
          </a:xfrm>
          <a:custGeom>
            <a:avLst/>
            <a:gdLst/>
            <a:ahLst/>
            <a:cxnLst/>
            <a:rect l="l" t="t" r="r" b="b"/>
            <a:pathLst>
              <a:path w="8988928" h="1185725">
                <a:moveTo>
                  <a:pt x="0" y="84694"/>
                </a:moveTo>
                <a:lnTo>
                  <a:pt x="451705" y="141157"/>
                </a:lnTo>
                <a:lnTo>
                  <a:pt x="903410" y="446058"/>
                </a:lnTo>
                <a:lnTo>
                  <a:pt x="1355115" y="564631"/>
                </a:lnTo>
                <a:lnTo>
                  <a:pt x="1863283" y="573100"/>
                </a:lnTo>
                <a:lnTo>
                  <a:pt x="2427914" y="573100"/>
                </a:lnTo>
                <a:lnTo>
                  <a:pt x="2992545" y="573100"/>
                </a:lnTo>
                <a:lnTo>
                  <a:pt x="3557177" y="587216"/>
                </a:lnTo>
                <a:lnTo>
                  <a:pt x="3895955" y="654972"/>
                </a:lnTo>
                <a:lnTo>
                  <a:pt x="4178271" y="824361"/>
                </a:lnTo>
                <a:lnTo>
                  <a:pt x="4438001" y="965519"/>
                </a:lnTo>
                <a:lnTo>
                  <a:pt x="4686439" y="824361"/>
                </a:lnTo>
                <a:lnTo>
                  <a:pt x="4968754" y="677557"/>
                </a:lnTo>
                <a:lnTo>
                  <a:pt x="5420459" y="575923"/>
                </a:lnTo>
                <a:lnTo>
                  <a:pt x="6098017" y="573100"/>
                </a:lnTo>
                <a:lnTo>
                  <a:pt x="7227279" y="573100"/>
                </a:lnTo>
                <a:lnTo>
                  <a:pt x="7678984" y="547692"/>
                </a:lnTo>
                <a:lnTo>
                  <a:pt x="8130689" y="392418"/>
                </a:lnTo>
                <a:lnTo>
                  <a:pt x="8469468" y="141157"/>
                </a:lnTo>
                <a:lnTo>
                  <a:pt x="8751783" y="28231"/>
                </a:lnTo>
                <a:lnTo>
                  <a:pt x="8988928" y="0"/>
                </a:lnTo>
                <a:lnTo>
                  <a:pt x="8988928" y="1185725"/>
                </a:lnTo>
                <a:lnTo>
                  <a:pt x="0" y="1185725"/>
                </a:lnTo>
                <a:close/>
              </a:path>
            </a:pathLst>
          </a:custGeom>
          <a:solidFill>
            <a:srgbClr val="2D9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4-bg"/>
          <p:cNvSpPr/>
          <p:nvPr/>
        </p:nvSpPr>
        <p:spPr>
          <a:xfrm>
            <a:off x="0" y="15360791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4-frame" descr="c77f5ca65f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360791"/>
            <a:ext cx="9101854" cy="5121205"/>
          </a:xfrm>
          <a:prstGeom prst="rect">
            <a:avLst/>
          </a:prstGeom>
          <a:effectLst/>
        </p:spPr>
      </p:pic>
      <p:sp>
        <p:nvSpPr>
          <p:cNvPr id="54" name="Freeform 53"/>
          <p:cNvSpPr/>
          <p:nvPr/>
        </p:nvSpPr>
        <p:spPr>
          <a:xfrm>
            <a:off x="197621" y="15716508"/>
            <a:ext cx="367010" cy="367011"/>
          </a:xfrm>
          <a:custGeom>
            <a:avLst/>
            <a:gdLst/>
            <a:ahLst/>
            <a:cxnLst/>
            <a:rect l="l" t="t" r="r" b="b"/>
            <a:pathLst>
              <a:path w="367010" h="367011">
                <a:moveTo>
                  <a:pt x="183505" y="0"/>
                </a:moveTo>
                <a:lnTo>
                  <a:pt x="231216" y="135794"/>
                </a:lnTo>
                <a:lnTo>
                  <a:pt x="367010" y="183505"/>
                </a:lnTo>
                <a:lnTo>
                  <a:pt x="231216" y="231217"/>
                </a:lnTo>
                <a:lnTo>
                  <a:pt x="183505" y="367011"/>
                </a:lnTo>
                <a:lnTo>
                  <a:pt x="135794" y="231217"/>
                </a:lnTo>
                <a:lnTo>
                  <a:pt x="0" y="183505"/>
                </a:lnTo>
                <a:lnTo>
                  <a:pt x="135794" y="135794"/>
                </a:lnTo>
                <a:close/>
              </a:path>
            </a:pathLst>
          </a:cu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tl-3"/>
          <p:cNvSpPr txBox="1"/>
          <p:nvPr/>
        </p:nvSpPr>
        <p:spPr>
          <a:xfrm>
            <a:off x="609802" y="15719332"/>
            <a:ext cx="2258525" cy="3613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6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研究背景与问题提出</a:t>
            </a:r>
          </a:p>
        </p:txBody>
      </p:sp>
      <p:pic>
        <p:nvPicPr>
          <p:cNvPr id="56" name="s4-illus" descr="787df9896c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24" y="16315017"/>
            <a:ext cx="2871149" cy="3687041"/>
          </a:xfrm>
          <a:prstGeom prst="rect">
            <a:avLst/>
          </a:prstGeom>
          <a:effectLst/>
        </p:spPr>
      </p:pic>
      <p:grpSp>
        <p:nvGrpSpPr>
          <p:cNvPr id="333" name="s4-chipgrp0"/>
          <p:cNvGrpSpPr/>
          <p:nvPr/>
        </p:nvGrpSpPr>
        <p:grpSpPr>
          <a:xfrm>
            <a:off x="4195210" y="16523931"/>
            <a:ext cx="1103854" cy="951404"/>
            <a:chOff x="4195210" y="16523931"/>
            <a:chExt cx="1103854" cy="951404"/>
          </a:xfrm>
        </p:grpSpPr>
        <p:sp>
          <p:nvSpPr>
            <p:cNvPr id="57" name="s4-chip0"/>
            <p:cNvSpPr/>
            <p:nvPr/>
          </p:nvSpPr>
          <p:spPr>
            <a:xfrm>
              <a:off x="4195210" y="16523931"/>
              <a:ext cx="1103854" cy="951404"/>
            </a:xfrm>
            <a:prstGeom prst="roundRect">
              <a:avLst>
                <a:gd name="adj" fmla="val 7715"/>
              </a:avLst>
            </a:prstGeom>
            <a:solidFill>
              <a:srgbClr val="34C2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18" name="s4-chipic0"/>
            <p:cNvGrpSpPr/>
            <p:nvPr/>
          </p:nvGrpSpPr>
          <p:grpSpPr>
            <a:xfrm>
              <a:off x="4652222" y="16730586"/>
              <a:ext cx="187006" cy="184408"/>
              <a:chOff x="4652222" y="16730586"/>
              <a:chExt cx="187006" cy="184408"/>
            </a:xfrm>
          </p:grpSpPr>
          <p:sp>
            <p:nvSpPr>
              <p:cNvPr id="58" name="Rectangle 57"/>
              <p:cNvSpPr/>
              <p:nvPr/>
            </p:nvSpPr>
            <p:spPr>
              <a:xfrm>
                <a:off x="4717155" y="16730586"/>
                <a:ext cx="57141" cy="714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4652222" y="16782532"/>
                <a:ext cx="187006" cy="132462"/>
              </a:xfrm>
              <a:custGeom>
                <a:avLst/>
                <a:gdLst/>
                <a:ahLst/>
                <a:cxnLst/>
                <a:rect l="l" t="t" r="r" b="b"/>
                <a:pathLst>
                  <a:path w="187006" h="132462">
                    <a:moveTo>
                      <a:pt x="62335" y="0"/>
                    </a:moveTo>
                    <a:lnTo>
                      <a:pt x="0" y="132462"/>
                    </a:lnTo>
                    <a:lnTo>
                      <a:pt x="187006" y="132462"/>
                    </a:lnTo>
                    <a:lnTo>
                      <a:pt x="1246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0" name="s4-chiptxt0_0"/>
            <p:cNvSpPr txBox="1"/>
            <p:nvPr/>
          </p:nvSpPr>
          <p:spPr>
            <a:xfrm>
              <a:off x="4234734" y="16998221"/>
              <a:ext cx="1027629" cy="1976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传统诊断</a:t>
              </a:r>
            </a:p>
          </p:txBody>
        </p:sp>
        <p:sp>
          <p:nvSpPr>
            <p:cNvPr id="61" name="s4-chiptxt0_1"/>
            <p:cNvSpPr txBox="1"/>
            <p:nvPr/>
          </p:nvSpPr>
          <p:spPr>
            <a:xfrm>
              <a:off x="4234734" y="17212781"/>
              <a:ext cx="1027629" cy="1976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瓶颈</a:t>
              </a:r>
            </a:p>
          </p:txBody>
        </p:sp>
      </p:grpSp>
      <p:sp>
        <p:nvSpPr>
          <p:cNvPr id="62" name="s4-arrow0"/>
          <p:cNvSpPr/>
          <p:nvPr/>
        </p:nvSpPr>
        <p:spPr>
          <a:xfrm>
            <a:off x="5386581" y="16919173"/>
            <a:ext cx="203267" cy="169389"/>
          </a:xfrm>
          <a:prstGeom prst="rightArrow">
            <a:avLst/>
          </a:prstGeom>
          <a:solidFill>
            <a:srgbClr val="8F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4-body0"/>
          <p:cNvSpPr/>
          <p:nvPr/>
        </p:nvSpPr>
        <p:spPr>
          <a:xfrm>
            <a:off x="5691482" y="16665089"/>
            <a:ext cx="2382743" cy="643680"/>
          </a:xfrm>
          <a:prstGeom prst="roundRect">
            <a:avLst>
              <a:gd name="adj" fmla="val 9649"/>
            </a:avLst>
          </a:prstGeom>
          <a:solidFill>
            <a:srgbClr val="FFFFFF"/>
          </a:solidFill>
          <a:ln w="8469">
            <a:solidFill>
              <a:srgbClr val="E4E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4-txt0_0"/>
          <p:cNvSpPr txBox="1"/>
          <p:nvPr/>
        </p:nvSpPr>
        <p:spPr>
          <a:xfrm>
            <a:off x="5742299" y="16673558"/>
            <a:ext cx="217947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● 主观性强：高度依赖医生个人经验</a:t>
            </a:r>
          </a:p>
        </p:txBody>
      </p:sp>
      <p:sp>
        <p:nvSpPr>
          <p:cNvPr id="65" name="s4-txt0_1"/>
          <p:cNvSpPr txBox="1"/>
          <p:nvPr/>
        </p:nvSpPr>
        <p:spPr>
          <a:xfrm>
            <a:off x="5742299" y="16888118"/>
            <a:ext cx="217947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● 风险波动：疲劳或经验不足易致漏诊</a:t>
            </a:r>
          </a:p>
        </p:txBody>
      </p:sp>
      <p:sp>
        <p:nvSpPr>
          <p:cNvPr id="66" name="s4-txt0_2"/>
          <p:cNvSpPr txBox="1"/>
          <p:nvPr/>
        </p:nvSpPr>
        <p:spPr>
          <a:xfrm>
            <a:off x="5742299" y="17102678"/>
            <a:ext cx="217947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● 资源不均：基层医疗机构人才匮乏</a:t>
            </a:r>
          </a:p>
        </p:txBody>
      </p:sp>
      <p:grpSp>
        <p:nvGrpSpPr>
          <p:cNvPr id="335" name="s4-chipgrp1"/>
          <p:cNvGrpSpPr/>
          <p:nvPr/>
        </p:nvGrpSpPr>
        <p:grpSpPr>
          <a:xfrm>
            <a:off x="4195210" y="17746357"/>
            <a:ext cx="1103854" cy="951404"/>
            <a:chOff x="4195210" y="17746357"/>
            <a:chExt cx="1103854" cy="951404"/>
          </a:xfrm>
        </p:grpSpPr>
        <p:sp>
          <p:nvSpPr>
            <p:cNvPr id="67" name="s4-chip1"/>
            <p:cNvSpPr/>
            <p:nvPr/>
          </p:nvSpPr>
          <p:spPr>
            <a:xfrm>
              <a:off x="4195210" y="17746357"/>
              <a:ext cx="1103854" cy="951404"/>
            </a:xfrm>
            <a:prstGeom prst="roundRect">
              <a:avLst>
                <a:gd name="adj" fmla="val 7715"/>
              </a:avLst>
            </a:prstGeom>
            <a:solidFill>
              <a:srgbClr val="34C2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19" name="s4-chipic1"/>
            <p:cNvGrpSpPr/>
            <p:nvPr/>
          </p:nvGrpSpPr>
          <p:grpSpPr>
            <a:xfrm>
              <a:off x="4631444" y="17955610"/>
              <a:ext cx="228562" cy="202589"/>
              <a:chOff x="4631444" y="17955610"/>
              <a:chExt cx="228562" cy="202589"/>
            </a:xfrm>
          </p:grpSpPr>
          <p:cxnSp>
            <p:nvCxnSpPr>
              <p:cNvPr id="68" name="Connector 67"/>
              <p:cNvCxnSpPr/>
              <p:nvPr/>
            </p:nvCxnSpPr>
            <p:spPr>
              <a:xfrm>
                <a:off x="4631444" y="18158199"/>
                <a:ext cx="228562" cy="0"/>
              </a:xfrm>
              <a:prstGeom prst="line">
                <a:avLst/>
              </a:prstGeom>
              <a:ln w="20258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nector 68"/>
              <p:cNvCxnSpPr/>
              <p:nvPr/>
            </p:nvCxnSpPr>
            <p:spPr>
              <a:xfrm flipV="1">
                <a:off x="4631444" y="17955610"/>
                <a:ext cx="0" cy="202589"/>
              </a:xfrm>
              <a:prstGeom prst="line">
                <a:avLst/>
              </a:prstGeom>
              <a:ln w="20258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nector 69"/>
              <p:cNvCxnSpPr/>
              <p:nvPr/>
            </p:nvCxnSpPr>
            <p:spPr>
              <a:xfrm flipV="1">
                <a:off x="4660014" y="18043918"/>
                <a:ext cx="59738" cy="51946"/>
              </a:xfrm>
              <a:prstGeom prst="line">
                <a:avLst/>
              </a:prstGeom>
              <a:ln w="2363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nector 70"/>
              <p:cNvCxnSpPr/>
              <p:nvPr/>
            </p:nvCxnSpPr>
            <p:spPr>
              <a:xfrm>
                <a:off x="4719752" y="18043918"/>
                <a:ext cx="54543" cy="28570"/>
              </a:xfrm>
              <a:prstGeom prst="line">
                <a:avLst/>
              </a:prstGeom>
              <a:ln w="2363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nector 71"/>
              <p:cNvCxnSpPr/>
              <p:nvPr/>
            </p:nvCxnSpPr>
            <p:spPr>
              <a:xfrm flipV="1">
                <a:off x="4774295" y="17978985"/>
                <a:ext cx="59738" cy="93503"/>
              </a:xfrm>
              <a:prstGeom prst="line">
                <a:avLst/>
              </a:prstGeom>
              <a:ln w="2363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/>
              <p:cNvSpPr/>
              <p:nvPr/>
            </p:nvSpPr>
            <p:spPr>
              <a:xfrm>
                <a:off x="4815852" y="17960804"/>
                <a:ext cx="36362" cy="363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4" name="s4-chiptxt1_0"/>
            <p:cNvSpPr txBox="1"/>
            <p:nvPr/>
          </p:nvSpPr>
          <p:spPr>
            <a:xfrm>
              <a:off x="4234734" y="18220648"/>
              <a:ext cx="1027629" cy="1976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AI 技术</a:t>
              </a:r>
            </a:p>
          </p:txBody>
        </p:sp>
        <p:sp>
          <p:nvSpPr>
            <p:cNvPr id="75" name="s4-chiptxt1_1"/>
            <p:cNvSpPr txBox="1"/>
            <p:nvPr/>
          </p:nvSpPr>
          <p:spPr>
            <a:xfrm>
              <a:off x="4234734" y="18435207"/>
              <a:ext cx="1027629" cy="1976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新机遇</a:t>
              </a:r>
            </a:p>
          </p:txBody>
        </p:sp>
      </p:grpSp>
      <p:sp>
        <p:nvSpPr>
          <p:cNvPr id="76" name="s4-arrow1"/>
          <p:cNvSpPr/>
          <p:nvPr/>
        </p:nvSpPr>
        <p:spPr>
          <a:xfrm>
            <a:off x="5386581" y="18141599"/>
            <a:ext cx="203267" cy="169389"/>
          </a:xfrm>
          <a:prstGeom prst="rightArrow">
            <a:avLst/>
          </a:prstGeom>
          <a:solidFill>
            <a:srgbClr val="8F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4-body1"/>
          <p:cNvSpPr/>
          <p:nvPr/>
        </p:nvSpPr>
        <p:spPr>
          <a:xfrm>
            <a:off x="5691482" y="17814113"/>
            <a:ext cx="2382743" cy="510991"/>
          </a:xfrm>
          <a:prstGeom prst="roundRect">
            <a:avLst>
              <a:gd name="adj" fmla="val 12154"/>
            </a:avLst>
          </a:prstGeom>
          <a:solidFill>
            <a:srgbClr val="FFFFFF"/>
          </a:solidFill>
          <a:ln w="8469">
            <a:solidFill>
              <a:srgbClr val="E4E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4-txt1_0"/>
          <p:cNvSpPr txBox="1"/>
          <p:nvPr/>
        </p:nvSpPr>
        <p:spPr>
          <a:xfrm>
            <a:off x="5742299" y="17845168"/>
            <a:ext cx="217947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深度学习在图像特征提取与分类任务上展现出强大潜力，在特定场景</a:t>
            </a:r>
          </a:p>
        </p:txBody>
      </p:sp>
      <p:sp>
        <p:nvSpPr>
          <p:cNvPr id="79" name="s4-txt1_1"/>
          <p:cNvSpPr txBox="1"/>
          <p:nvPr/>
        </p:nvSpPr>
        <p:spPr>
          <a:xfrm>
            <a:off x="5742299" y="18099252"/>
            <a:ext cx="217947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下已具备超越人类专家的准确率。</a:t>
            </a:r>
          </a:p>
        </p:txBody>
      </p:sp>
      <p:grpSp>
        <p:nvGrpSpPr>
          <p:cNvPr id="327" name="s4-chipgrp2"/>
          <p:cNvGrpSpPr/>
          <p:nvPr/>
        </p:nvGrpSpPr>
        <p:grpSpPr>
          <a:xfrm>
            <a:off x="4195210" y="18861504"/>
            <a:ext cx="1103854" cy="951404"/>
            <a:chOff x="4195210" y="18861504"/>
            <a:chExt cx="1103854" cy="951404"/>
          </a:xfrm>
        </p:grpSpPr>
        <p:sp>
          <p:nvSpPr>
            <p:cNvPr id="80" name="s4-chip2"/>
            <p:cNvSpPr/>
            <p:nvPr/>
          </p:nvSpPr>
          <p:spPr>
            <a:xfrm>
              <a:off x="4195210" y="18861504"/>
              <a:ext cx="1103854" cy="951404"/>
            </a:xfrm>
            <a:prstGeom prst="roundRect">
              <a:avLst>
                <a:gd name="adj" fmla="val 7715"/>
              </a:avLst>
            </a:prstGeom>
            <a:solidFill>
              <a:srgbClr val="34C2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20" name="s4-chipic2"/>
            <p:cNvGrpSpPr/>
            <p:nvPr/>
          </p:nvGrpSpPr>
          <p:grpSpPr>
            <a:xfrm>
              <a:off x="4652222" y="19091535"/>
              <a:ext cx="187006" cy="163630"/>
              <a:chOff x="4652222" y="19091535"/>
              <a:chExt cx="187006" cy="163630"/>
            </a:xfrm>
          </p:grpSpPr>
          <p:sp>
            <p:nvSpPr>
              <p:cNvPr id="81" name="Rounded Rectangle 80"/>
              <p:cNvSpPr/>
              <p:nvPr/>
            </p:nvSpPr>
            <p:spPr>
              <a:xfrm>
                <a:off x="4652222" y="19091535"/>
                <a:ext cx="187006" cy="129865"/>
              </a:xfrm>
              <a:prstGeom prst="roundRect">
                <a:avLst>
                  <a:gd name="adj" fmla="val 3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711960" y="19208413"/>
                <a:ext cx="59738" cy="46752"/>
              </a:xfrm>
              <a:custGeom>
                <a:avLst/>
                <a:gdLst/>
                <a:ahLst/>
                <a:cxnLst/>
                <a:rect l="l" t="t" r="r" b="b"/>
                <a:pathLst>
                  <a:path w="59738" h="46752">
                    <a:moveTo>
                      <a:pt x="0" y="0"/>
                    </a:moveTo>
                    <a:lnTo>
                      <a:pt x="0" y="46752"/>
                    </a:lnTo>
                    <a:lnTo>
                      <a:pt x="597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4692480" y="19142182"/>
                <a:ext cx="28570" cy="2857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4731440" y="19142182"/>
                <a:ext cx="28570" cy="2857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4770399" y="19142182"/>
                <a:ext cx="28570" cy="2857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6" name="s4-chiptxt2_0"/>
            <p:cNvSpPr txBox="1"/>
            <p:nvPr/>
          </p:nvSpPr>
          <p:spPr>
            <a:xfrm>
              <a:off x="4234734" y="19335794"/>
              <a:ext cx="1027629" cy="1976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核心问题</a:t>
              </a:r>
            </a:p>
          </p:txBody>
        </p:sp>
      </p:grpSp>
      <p:sp>
        <p:nvSpPr>
          <p:cNvPr id="87" name="s4-arrow2"/>
          <p:cNvSpPr/>
          <p:nvPr/>
        </p:nvSpPr>
        <p:spPr>
          <a:xfrm>
            <a:off x="5386581" y="19256746"/>
            <a:ext cx="203267" cy="169389"/>
          </a:xfrm>
          <a:prstGeom prst="rightArrow">
            <a:avLst/>
          </a:prstGeom>
          <a:solidFill>
            <a:srgbClr val="8F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4-body2"/>
          <p:cNvSpPr/>
          <p:nvPr/>
        </p:nvSpPr>
        <p:spPr>
          <a:xfrm>
            <a:off x="5691482" y="19030893"/>
            <a:ext cx="2382743" cy="479936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8469">
            <a:solidFill>
              <a:srgbClr val="E4E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4-txt2_0"/>
          <p:cNvSpPr txBox="1"/>
          <p:nvPr/>
        </p:nvSpPr>
        <p:spPr>
          <a:xfrm>
            <a:off x="5742299" y="19053479"/>
            <a:ext cx="217947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如何构建一个高精度、强泛化能力且具备一定可解释性的医学影像智能</a:t>
            </a:r>
          </a:p>
        </p:txBody>
      </p:sp>
      <p:sp>
        <p:nvSpPr>
          <p:cNvPr id="90" name="s4-txt2_1"/>
          <p:cNvSpPr txBox="1"/>
          <p:nvPr/>
        </p:nvSpPr>
        <p:spPr>
          <a:xfrm>
            <a:off x="5742299" y="19293447"/>
            <a:ext cx="217947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诊断模型？</a:t>
            </a:r>
          </a:p>
        </p:txBody>
      </p:sp>
      <p:sp>
        <p:nvSpPr>
          <p:cNvPr id="91" name="s5-bg"/>
          <p:cNvSpPr/>
          <p:nvPr/>
        </p:nvSpPr>
        <p:spPr>
          <a:xfrm>
            <a:off x="0" y="20481995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5-frame" descr="98497f56367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0481995"/>
            <a:ext cx="9101854" cy="5121205"/>
          </a:xfrm>
          <a:prstGeom prst="rect">
            <a:avLst/>
          </a:prstGeom>
          <a:effectLst/>
        </p:spPr>
      </p:pic>
      <p:sp>
        <p:nvSpPr>
          <p:cNvPr id="93" name="Freeform 92"/>
          <p:cNvSpPr/>
          <p:nvPr/>
        </p:nvSpPr>
        <p:spPr>
          <a:xfrm>
            <a:off x="197621" y="20849006"/>
            <a:ext cx="367010" cy="367010"/>
          </a:xfrm>
          <a:custGeom>
            <a:avLst/>
            <a:gdLst/>
            <a:ahLst/>
            <a:cxnLst/>
            <a:rect l="l" t="t" r="r" b="b"/>
            <a:pathLst>
              <a:path w="367010" h="367010">
                <a:moveTo>
                  <a:pt x="183505" y="0"/>
                </a:moveTo>
                <a:lnTo>
                  <a:pt x="231216" y="135793"/>
                </a:lnTo>
                <a:lnTo>
                  <a:pt x="367010" y="183505"/>
                </a:lnTo>
                <a:lnTo>
                  <a:pt x="231216" y="231216"/>
                </a:lnTo>
                <a:lnTo>
                  <a:pt x="183505" y="367010"/>
                </a:lnTo>
                <a:lnTo>
                  <a:pt x="135794" y="231216"/>
                </a:lnTo>
                <a:lnTo>
                  <a:pt x="0" y="183505"/>
                </a:lnTo>
                <a:lnTo>
                  <a:pt x="135794" y="135793"/>
                </a:lnTo>
                <a:close/>
              </a:path>
            </a:pathLst>
          </a:cu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tl-4"/>
          <p:cNvSpPr txBox="1"/>
          <p:nvPr/>
        </p:nvSpPr>
        <p:spPr>
          <a:xfrm>
            <a:off x="609802" y="20851829"/>
            <a:ext cx="1727771" cy="3613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6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研究目标与意义</a:t>
            </a:r>
          </a:p>
        </p:txBody>
      </p:sp>
      <p:pic>
        <p:nvPicPr>
          <p:cNvPr id="95" name="s5-illus" descr="ab4eb85d98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255" y="21464454"/>
            <a:ext cx="3783029" cy="3794321"/>
          </a:xfrm>
          <a:prstGeom prst="rect">
            <a:avLst/>
          </a:prstGeom>
          <a:effectLst/>
        </p:spPr>
      </p:pic>
      <p:grpSp>
        <p:nvGrpSpPr>
          <p:cNvPr id="336" name="s5-cardgrp0"/>
          <p:cNvGrpSpPr/>
          <p:nvPr/>
        </p:nvGrpSpPr>
        <p:grpSpPr>
          <a:xfrm>
            <a:off x="745313" y="21413637"/>
            <a:ext cx="3670103" cy="1801173"/>
            <a:chOff x="745313" y="21413637"/>
            <a:chExt cx="3670103" cy="1801173"/>
          </a:xfrm>
        </p:grpSpPr>
        <p:sp>
          <p:nvSpPr>
            <p:cNvPr id="96" name="s5-card0"/>
            <p:cNvSpPr/>
            <p:nvPr/>
          </p:nvSpPr>
          <p:spPr>
            <a:xfrm>
              <a:off x="745313" y="21413637"/>
              <a:ext cx="3670103" cy="1801173"/>
            </a:xfrm>
            <a:prstGeom prst="roundRect">
              <a:avLst>
                <a:gd name="adj" fmla="val 4075"/>
              </a:avLst>
            </a:prstGeom>
            <a:solidFill>
              <a:srgbClr val="FFFFFF"/>
            </a:solidFill>
            <a:ln w="8469">
              <a:solidFill>
                <a:srgbClr val="E4EF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s5-side0"/>
            <p:cNvSpPr/>
            <p:nvPr/>
          </p:nvSpPr>
          <p:spPr>
            <a:xfrm>
              <a:off x="745313" y="21413637"/>
              <a:ext cx="654972" cy="1801173"/>
            </a:xfrm>
            <a:prstGeom prst="roundRect">
              <a:avLst>
                <a:gd name="adj" fmla="val 11206"/>
              </a:avLst>
            </a:prstGeom>
            <a:solidFill>
              <a:srgbClr val="2DAB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s5-side0_0"/>
            <p:cNvSpPr txBox="1"/>
            <p:nvPr/>
          </p:nvSpPr>
          <p:spPr>
            <a:xfrm>
              <a:off x="790484" y="22099664"/>
              <a:ext cx="564631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33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</a:t>
              </a:r>
            </a:p>
          </p:txBody>
        </p:sp>
        <p:sp>
          <p:nvSpPr>
            <p:cNvPr id="99" name="s5-side0_1"/>
            <p:cNvSpPr txBox="1"/>
            <p:nvPr/>
          </p:nvSpPr>
          <p:spPr>
            <a:xfrm>
              <a:off x="790484" y="22314223"/>
              <a:ext cx="564631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33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究</a:t>
              </a:r>
            </a:p>
          </p:txBody>
        </p:sp>
        <p:sp>
          <p:nvSpPr>
            <p:cNvPr id="100" name="s5-side0_2"/>
            <p:cNvSpPr txBox="1"/>
            <p:nvPr/>
          </p:nvSpPr>
          <p:spPr>
            <a:xfrm>
              <a:off x="790484" y="22528783"/>
              <a:ext cx="564631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33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</a:t>
              </a:r>
            </a:p>
          </p:txBody>
        </p:sp>
        <p:sp>
          <p:nvSpPr>
            <p:cNvPr id="101" name="s5-side0_3"/>
            <p:cNvSpPr txBox="1"/>
            <p:nvPr/>
          </p:nvSpPr>
          <p:spPr>
            <a:xfrm>
              <a:off x="790484" y="22743343"/>
              <a:ext cx="564631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33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标</a:t>
              </a:r>
            </a:p>
          </p:txBody>
        </p:sp>
      </p:grpSp>
      <p:sp>
        <p:nvSpPr>
          <p:cNvPr id="102" name="s5-txt0_0"/>
          <p:cNvSpPr txBox="1"/>
          <p:nvPr/>
        </p:nvSpPr>
        <p:spPr>
          <a:xfrm>
            <a:off x="1580967" y="21631020"/>
            <a:ext cx="69449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模型构建：</a:t>
            </a:r>
          </a:p>
        </p:txBody>
      </p:sp>
      <p:sp>
        <p:nvSpPr>
          <p:cNvPr id="103" name="s5-txt0_1"/>
          <p:cNvSpPr txBox="1"/>
          <p:nvPr/>
        </p:nvSpPr>
        <p:spPr>
          <a:xfrm>
            <a:off x="1612022" y="21893573"/>
            <a:ext cx="2529548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● 设计并实现基于深度学习的医学影像智能</a:t>
            </a:r>
          </a:p>
        </p:txBody>
      </p:sp>
      <p:sp>
        <p:nvSpPr>
          <p:cNvPr id="104" name="s5-txt0_2"/>
          <p:cNvSpPr txBox="1"/>
          <p:nvPr/>
        </p:nvSpPr>
        <p:spPr>
          <a:xfrm>
            <a:off x="1724948" y="22105310"/>
            <a:ext cx="584393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诊断模型。</a:t>
            </a:r>
          </a:p>
        </p:txBody>
      </p:sp>
      <p:sp>
        <p:nvSpPr>
          <p:cNvPr id="105" name="s5-txt0_3"/>
          <p:cNvSpPr txBox="1"/>
          <p:nvPr/>
        </p:nvSpPr>
        <p:spPr>
          <a:xfrm>
            <a:off x="1580967" y="22396095"/>
            <a:ext cx="69449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性能提升：</a:t>
            </a:r>
          </a:p>
        </p:txBody>
      </p:sp>
      <p:sp>
        <p:nvSpPr>
          <p:cNvPr id="106" name="s5-txt0_4"/>
          <p:cNvSpPr txBox="1"/>
          <p:nvPr/>
        </p:nvSpPr>
        <p:spPr>
          <a:xfrm>
            <a:off x="1612022" y="22661472"/>
            <a:ext cx="2526724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● 显著优化准确率、召回率等核心指标，确</a:t>
            </a:r>
          </a:p>
        </p:txBody>
      </p:sp>
      <p:sp>
        <p:nvSpPr>
          <p:cNvPr id="107" name="s5-txt0_5"/>
          <p:cNvSpPr txBox="1"/>
          <p:nvPr/>
        </p:nvSpPr>
        <p:spPr>
          <a:xfrm>
            <a:off x="1719302" y="22873208"/>
            <a:ext cx="85541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保临床可用性。</a:t>
            </a:r>
          </a:p>
        </p:txBody>
      </p:sp>
      <p:grpSp>
        <p:nvGrpSpPr>
          <p:cNvPr id="328" name="s5-cardgrp1"/>
          <p:cNvGrpSpPr/>
          <p:nvPr/>
        </p:nvGrpSpPr>
        <p:grpSpPr>
          <a:xfrm>
            <a:off x="745313" y="23423724"/>
            <a:ext cx="3670103" cy="1801173"/>
            <a:chOff x="745313" y="23423724"/>
            <a:chExt cx="3670103" cy="1801173"/>
          </a:xfrm>
        </p:grpSpPr>
        <p:sp>
          <p:nvSpPr>
            <p:cNvPr id="108" name="s5-card1"/>
            <p:cNvSpPr/>
            <p:nvPr/>
          </p:nvSpPr>
          <p:spPr>
            <a:xfrm>
              <a:off x="745313" y="23423724"/>
              <a:ext cx="3670103" cy="1801173"/>
            </a:xfrm>
            <a:prstGeom prst="roundRect">
              <a:avLst>
                <a:gd name="adj" fmla="val 4075"/>
              </a:avLst>
            </a:prstGeom>
            <a:solidFill>
              <a:srgbClr val="FFFFFF"/>
            </a:solidFill>
            <a:ln w="8469">
              <a:solidFill>
                <a:srgbClr val="E4EF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5-side1"/>
            <p:cNvSpPr/>
            <p:nvPr/>
          </p:nvSpPr>
          <p:spPr>
            <a:xfrm>
              <a:off x="745313" y="23423724"/>
              <a:ext cx="654972" cy="1801173"/>
            </a:xfrm>
            <a:prstGeom prst="roundRect">
              <a:avLst>
                <a:gd name="adj" fmla="val 11206"/>
              </a:avLst>
            </a:prstGeom>
            <a:solidFill>
              <a:srgbClr val="2DAB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5-side1_0"/>
            <p:cNvSpPr txBox="1"/>
            <p:nvPr/>
          </p:nvSpPr>
          <p:spPr>
            <a:xfrm>
              <a:off x="790484" y="24109751"/>
              <a:ext cx="564631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33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</a:t>
              </a:r>
            </a:p>
          </p:txBody>
        </p:sp>
        <p:sp>
          <p:nvSpPr>
            <p:cNvPr id="111" name="s5-side1_1"/>
            <p:cNvSpPr txBox="1"/>
            <p:nvPr/>
          </p:nvSpPr>
          <p:spPr>
            <a:xfrm>
              <a:off x="790484" y="24324310"/>
              <a:ext cx="564631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33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究</a:t>
              </a:r>
            </a:p>
          </p:txBody>
        </p:sp>
        <p:sp>
          <p:nvSpPr>
            <p:cNvPr id="112" name="s5-side1_2"/>
            <p:cNvSpPr txBox="1"/>
            <p:nvPr/>
          </p:nvSpPr>
          <p:spPr>
            <a:xfrm>
              <a:off x="790484" y="24538870"/>
              <a:ext cx="564631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33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意</a:t>
              </a:r>
            </a:p>
          </p:txBody>
        </p:sp>
        <p:sp>
          <p:nvSpPr>
            <p:cNvPr id="113" name="s5-side1_3"/>
            <p:cNvSpPr txBox="1"/>
            <p:nvPr/>
          </p:nvSpPr>
          <p:spPr>
            <a:xfrm>
              <a:off x="790484" y="24753430"/>
              <a:ext cx="564631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33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义</a:t>
              </a:r>
            </a:p>
          </p:txBody>
        </p:sp>
      </p:grpSp>
      <p:sp>
        <p:nvSpPr>
          <p:cNvPr id="114" name="s5-txt1_0"/>
          <p:cNvSpPr txBox="1"/>
          <p:nvPr/>
        </p:nvSpPr>
        <p:spPr>
          <a:xfrm>
            <a:off x="1586614" y="23635460"/>
            <a:ext cx="694496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理论探索：</a:t>
            </a:r>
          </a:p>
        </p:txBody>
      </p:sp>
      <p:sp>
        <p:nvSpPr>
          <p:cNvPr id="115" name="s5-txt1_1"/>
          <p:cNvSpPr txBox="1"/>
          <p:nvPr/>
        </p:nvSpPr>
        <p:spPr>
          <a:xfrm>
            <a:off x="1612022" y="23900837"/>
            <a:ext cx="2526724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● 挖掘深度学习在医学影像分析中的前沿潜</a:t>
            </a:r>
          </a:p>
        </p:txBody>
      </p:sp>
      <p:sp>
        <p:nvSpPr>
          <p:cNvPr id="116" name="s5-txt1_2"/>
          <p:cNvSpPr txBox="1"/>
          <p:nvPr/>
        </p:nvSpPr>
        <p:spPr>
          <a:xfrm>
            <a:off x="1719302" y="24115397"/>
            <a:ext cx="858239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力与应用边界。</a:t>
            </a:r>
          </a:p>
        </p:txBody>
      </p:sp>
      <p:sp>
        <p:nvSpPr>
          <p:cNvPr id="117" name="s5-txt1_3"/>
          <p:cNvSpPr txBox="1"/>
          <p:nvPr/>
        </p:nvSpPr>
        <p:spPr>
          <a:xfrm>
            <a:off x="1592260" y="24406182"/>
            <a:ext cx="688850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临床价值：</a:t>
            </a:r>
          </a:p>
        </p:txBody>
      </p:sp>
      <p:sp>
        <p:nvSpPr>
          <p:cNvPr id="118" name="s5-txt1_4"/>
          <p:cNvSpPr txBox="1"/>
          <p:nvPr/>
        </p:nvSpPr>
        <p:spPr>
          <a:xfrm>
            <a:off x="1612022" y="24668735"/>
            <a:ext cx="2636828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● 自动化分析提效·量化数据降误诊·模型赋能</a:t>
            </a:r>
          </a:p>
        </p:txBody>
      </p:sp>
      <p:sp>
        <p:nvSpPr>
          <p:cNvPr id="119" name="s5-txt1_5"/>
          <p:cNvSpPr txBox="1"/>
          <p:nvPr/>
        </p:nvSpPr>
        <p:spPr>
          <a:xfrm>
            <a:off x="1722125" y="24883295"/>
            <a:ext cx="852593" cy="197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能解资源紧张。</a:t>
            </a:r>
          </a:p>
        </p:txBody>
      </p:sp>
      <p:sp>
        <p:nvSpPr>
          <p:cNvPr id="120" name="d-bg5"/>
          <p:cNvSpPr/>
          <p:nvPr/>
        </p:nvSpPr>
        <p:spPr>
          <a:xfrm>
            <a:off x="0" y="25603200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p6-frame" descr="63f1b96285a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5603200"/>
            <a:ext cx="9101854" cy="5121205"/>
          </a:xfrm>
          <a:prstGeom prst="rect">
            <a:avLst/>
          </a:prstGeom>
          <a:effectLst/>
        </p:spPr>
      </p:pic>
      <p:sp>
        <p:nvSpPr>
          <p:cNvPr id="122" name="d-panel5"/>
          <p:cNvSpPr/>
          <p:nvPr/>
        </p:nvSpPr>
        <p:spPr>
          <a:xfrm>
            <a:off x="638033" y="25964564"/>
            <a:ext cx="7825788" cy="4150039"/>
          </a:xfrm>
          <a:prstGeom prst="roundRect">
            <a:avLst>
              <a:gd name="adj" fmla="val 3129"/>
            </a:avLst>
          </a:prstGeom>
          <a:solidFill>
            <a:srgbClr val="FEFEFE"/>
          </a:solidFill>
          <a:ln w="8469">
            <a:solidFill>
              <a:srgbClr val="D8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-num5"/>
          <p:cNvSpPr txBox="1"/>
          <p:nvPr/>
        </p:nvSpPr>
        <p:spPr>
          <a:xfrm>
            <a:off x="1626138" y="27652811"/>
            <a:ext cx="756606" cy="5505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45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4" name="d-title5"/>
          <p:cNvSpPr txBox="1"/>
          <p:nvPr/>
        </p:nvSpPr>
        <p:spPr>
          <a:xfrm>
            <a:off x="3565646" y="27765737"/>
            <a:ext cx="2540840" cy="3331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89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研究内容与结果</a:t>
            </a:r>
          </a:p>
        </p:txBody>
      </p:sp>
      <p:grpSp>
        <p:nvGrpSpPr>
          <p:cNvPr id="321" name="d-ic5"/>
          <p:cNvGrpSpPr/>
          <p:nvPr/>
        </p:nvGrpSpPr>
        <p:grpSpPr>
          <a:xfrm>
            <a:off x="7125645" y="28638657"/>
            <a:ext cx="542046" cy="704660"/>
            <a:chOff x="7125645" y="28638657"/>
            <a:chExt cx="542046" cy="704660"/>
          </a:xfrm>
        </p:grpSpPr>
        <p:sp>
          <p:nvSpPr>
            <p:cNvPr id="125" name="Rounded Rectangle 124"/>
            <p:cNvSpPr/>
            <p:nvPr/>
          </p:nvSpPr>
          <p:spPr>
            <a:xfrm>
              <a:off x="7125645" y="28638657"/>
              <a:ext cx="542046" cy="704660"/>
            </a:xfrm>
            <a:prstGeom prst="roundRect">
              <a:avLst>
                <a:gd name="adj" fmla="val 18333"/>
              </a:avLst>
            </a:prstGeom>
            <a:solidFill>
              <a:srgbClr val="DCEF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6" name="Connector 125"/>
            <p:cNvCxnSpPr/>
            <p:nvPr/>
          </p:nvCxnSpPr>
          <p:spPr>
            <a:xfrm>
              <a:off x="7252123" y="28855475"/>
              <a:ext cx="289091" cy="0"/>
            </a:xfrm>
            <a:prstGeom prst="line">
              <a:avLst/>
            </a:prstGeom>
            <a:ln w="7046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>
              <a:off x="7252123" y="29018089"/>
              <a:ext cx="289091" cy="0"/>
            </a:xfrm>
            <a:prstGeom prst="line">
              <a:avLst/>
            </a:prstGeom>
            <a:ln w="7046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>
              <a:off x="7252123" y="29180703"/>
              <a:ext cx="189716" cy="0"/>
            </a:xfrm>
            <a:prstGeom prst="line">
              <a:avLst/>
            </a:prstGeom>
            <a:ln w="7046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wave-light-5"/>
          <p:cNvSpPr/>
          <p:nvPr/>
        </p:nvSpPr>
        <p:spPr>
          <a:xfrm>
            <a:off x="112926" y="29267656"/>
            <a:ext cx="8988928" cy="1456749"/>
          </a:xfrm>
          <a:custGeom>
            <a:avLst/>
            <a:gdLst/>
            <a:ahLst/>
            <a:cxnLst/>
            <a:rect l="l" t="t" r="r" b="b"/>
            <a:pathLst>
              <a:path w="8988928" h="1456749">
                <a:moveTo>
                  <a:pt x="0" y="84695"/>
                </a:moveTo>
                <a:lnTo>
                  <a:pt x="451705" y="141158"/>
                </a:lnTo>
                <a:lnTo>
                  <a:pt x="903410" y="446059"/>
                </a:lnTo>
                <a:lnTo>
                  <a:pt x="1355115" y="564631"/>
                </a:lnTo>
                <a:lnTo>
                  <a:pt x="1863283" y="573101"/>
                </a:lnTo>
                <a:lnTo>
                  <a:pt x="2427914" y="573101"/>
                </a:lnTo>
                <a:lnTo>
                  <a:pt x="2992545" y="573101"/>
                </a:lnTo>
                <a:lnTo>
                  <a:pt x="3557177" y="587217"/>
                </a:lnTo>
                <a:lnTo>
                  <a:pt x="3895955" y="654972"/>
                </a:lnTo>
                <a:lnTo>
                  <a:pt x="4178271" y="824362"/>
                </a:lnTo>
                <a:lnTo>
                  <a:pt x="4438001" y="965520"/>
                </a:lnTo>
                <a:lnTo>
                  <a:pt x="4686439" y="824362"/>
                </a:lnTo>
                <a:lnTo>
                  <a:pt x="4968754" y="677558"/>
                </a:lnTo>
                <a:lnTo>
                  <a:pt x="5420459" y="575924"/>
                </a:lnTo>
                <a:lnTo>
                  <a:pt x="6098017" y="573101"/>
                </a:lnTo>
                <a:lnTo>
                  <a:pt x="7227279" y="573101"/>
                </a:lnTo>
                <a:lnTo>
                  <a:pt x="7678984" y="547692"/>
                </a:lnTo>
                <a:lnTo>
                  <a:pt x="8130689" y="392419"/>
                </a:lnTo>
                <a:lnTo>
                  <a:pt x="8469468" y="141158"/>
                </a:lnTo>
                <a:lnTo>
                  <a:pt x="8751783" y="28232"/>
                </a:lnTo>
                <a:lnTo>
                  <a:pt x="8988928" y="0"/>
                </a:lnTo>
                <a:lnTo>
                  <a:pt x="8988928" y="1456749"/>
                </a:lnTo>
                <a:lnTo>
                  <a:pt x="0" y="1456749"/>
                </a:lnTo>
                <a:close/>
              </a:path>
            </a:pathLst>
          </a:custGeom>
          <a:solidFill>
            <a:srgbClr val="CD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wave-deep-5"/>
          <p:cNvSpPr/>
          <p:nvPr/>
        </p:nvSpPr>
        <p:spPr>
          <a:xfrm>
            <a:off x="112926" y="29414460"/>
            <a:ext cx="8988928" cy="1185726"/>
          </a:xfrm>
          <a:custGeom>
            <a:avLst/>
            <a:gdLst/>
            <a:ahLst/>
            <a:cxnLst/>
            <a:rect l="l" t="t" r="r" b="b"/>
            <a:pathLst>
              <a:path w="8988928" h="1185726">
                <a:moveTo>
                  <a:pt x="0" y="84695"/>
                </a:moveTo>
                <a:lnTo>
                  <a:pt x="451705" y="141158"/>
                </a:lnTo>
                <a:lnTo>
                  <a:pt x="903410" y="446059"/>
                </a:lnTo>
                <a:lnTo>
                  <a:pt x="1355115" y="564631"/>
                </a:lnTo>
                <a:lnTo>
                  <a:pt x="1863283" y="573101"/>
                </a:lnTo>
                <a:lnTo>
                  <a:pt x="2427914" y="573101"/>
                </a:lnTo>
                <a:lnTo>
                  <a:pt x="2992545" y="573101"/>
                </a:lnTo>
                <a:lnTo>
                  <a:pt x="3557177" y="587217"/>
                </a:lnTo>
                <a:lnTo>
                  <a:pt x="3895955" y="654972"/>
                </a:lnTo>
                <a:lnTo>
                  <a:pt x="4178271" y="824362"/>
                </a:lnTo>
                <a:lnTo>
                  <a:pt x="4438001" y="965520"/>
                </a:lnTo>
                <a:lnTo>
                  <a:pt x="4686439" y="824362"/>
                </a:lnTo>
                <a:lnTo>
                  <a:pt x="4968754" y="677558"/>
                </a:lnTo>
                <a:lnTo>
                  <a:pt x="5420459" y="575924"/>
                </a:lnTo>
                <a:lnTo>
                  <a:pt x="6098017" y="573101"/>
                </a:lnTo>
                <a:lnTo>
                  <a:pt x="7227279" y="573101"/>
                </a:lnTo>
                <a:lnTo>
                  <a:pt x="7678984" y="547693"/>
                </a:lnTo>
                <a:lnTo>
                  <a:pt x="8130689" y="392419"/>
                </a:lnTo>
                <a:lnTo>
                  <a:pt x="8469468" y="141158"/>
                </a:lnTo>
                <a:lnTo>
                  <a:pt x="8751783" y="28232"/>
                </a:lnTo>
                <a:lnTo>
                  <a:pt x="8988928" y="0"/>
                </a:lnTo>
                <a:lnTo>
                  <a:pt x="8988928" y="1185726"/>
                </a:lnTo>
                <a:lnTo>
                  <a:pt x="0" y="1185726"/>
                </a:lnTo>
                <a:close/>
              </a:path>
            </a:pathLst>
          </a:custGeom>
          <a:solidFill>
            <a:srgbClr val="2D9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7-bg"/>
          <p:cNvSpPr/>
          <p:nvPr/>
        </p:nvSpPr>
        <p:spPr>
          <a:xfrm>
            <a:off x="0" y="30724405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2" name="p7-frame" descr="d089677020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0724405"/>
            <a:ext cx="9101854" cy="5121205"/>
          </a:xfrm>
          <a:prstGeom prst="rect">
            <a:avLst/>
          </a:prstGeom>
          <a:effectLst/>
        </p:spPr>
      </p:pic>
      <p:sp>
        <p:nvSpPr>
          <p:cNvPr id="133" name="Freeform 132"/>
          <p:cNvSpPr/>
          <p:nvPr/>
        </p:nvSpPr>
        <p:spPr>
          <a:xfrm>
            <a:off x="197621" y="31074476"/>
            <a:ext cx="367010" cy="367010"/>
          </a:xfrm>
          <a:custGeom>
            <a:avLst/>
            <a:gdLst/>
            <a:ahLst/>
            <a:cxnLst/>
            <a:rect l="l" t="t" r="r" b="b"/>
            <a:pathLst>
              <a:path w="367010" h="367010">
                <a:moveTo>
                  <a:pt x="183505" y="0"/>
                </a:moveTo>
                <a:lnTo>
                  <a:pt x="231216" y="135794"/>
                </a:lnTo>
                <a:lnTo>
                  <a:pt x="367010" y="183505"/>
                </a:lnTo>
                <a:lnTo>
                  <a:pt x="231216" y="231216"/>
                </a:lnTo>
                <a:lnTo>
                  <a:pt x="183505" y="367010"/>
                </a:lnTo>
                <a:lnTo>
                  <a:pt x="135794" y="231216"/>
                </a:lnTo>
                <a:lnTo>
                  <a:pt x="0" y="183505"/>
                </a:lnTo>
                <a:lnTo>
                  <a:pt x="135794" y="135794"/>
                </a:lnTo>
                <a:close/>
              </a:path>
            </a:pathLst>
          </a:cu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tl-6"/>
          <p:cNvSpPr txBox="1"/>
          <p:nvPr/>
        </p:nvSpPr>
        <p:spPr>
          <a:xfrm>
            <a:off x="609802" y="31080122"/>
            <a:ext cx="2264171" cy="3613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6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模型架构与方法对比</a:t>
            </a:r>
          </a:p>
        </p:txBody>
      </p:sp>
      <p:sp>
        <p:nvSpPr>
          <p:cNvPr id="135" name="s7-lpanel"/>
          <p:cNvSpPr/>
          <p:nvPr/>
        </p:nvSpPr>
        <p:spPr>
          <a:xfrm>
            <a:off x="468644" y="31853667"/>
            <a:ext cx="3359555" cy="3274861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8469">
            <a:solidFill>
              <a:srgbClr val="DC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7-lchip"/>
          <p:cNvSpPr/>
          <p:nvPr/>
        </p:nvSpPr>
        <p:spPr>
          <a:xfrm>
            <a:off x="468644" y="32000471"/>
            <a:ext cx="1863283" cy="423473"/>
          </a:xfrm>
          <a:prstGeom prst="roundRect">
            <a:avLst>
              <a:gd name="adj" fmla="val 13333"/>
            </a:avLst>
          </a:prstGeom>
          <a:solidFill>
            <a:srgbClr val="16A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7-lchiptxt"/>
          <p:cNvSpPr txBox="1"/>
          <p:nvPr/>
        </p:nvSpPr>
        <p:spPr>
          <a:xfrm>
            <a:off x="496875" y="32000471"/>
            <a:ext cx="1806820" cy="42347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4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模型架构设计</a:t>
            </a:r>
          </a:p>
        </p:txBody>
      </p:sp>
      <p:grpSp>
        <p:nvGrpSpPr>
          <p:cNvPr id="331" name="s7-nodegrp0"/>
          <p:cNvGrpSpPr/>
          <p:nvPr/>
        </p:nvGrpSpPr>
        <p:grpSpPr>
          <a:xfrm>
            <a:off x="635210" y="32700614"/>
            <a:ext cx="1259127" cy="386772"/>
            <a:chOff x="635210" y="32700614"/>
            <a:chExt cx="1259127" cy="386772"/>
          </a:xfrm>
        </p:grpSpPr>
        <p:sp>
          <p:nvSpPr>
            <p:cNvPr id="138" name="s7-node0"/>
            <p:cNvSpPr/>
            <p:nvPr/>
          </p:nvSpPr>
          <p:spPr>
            <a:xfrm>
              <a:off x="635210" y="32700614"/>
              <a:ext cx="1259127" cy="386772"/>
            </a:xfrm>
            <a:prstGeom prst="roundRect">
              <a:avLst>
                <a:gd name="adj" fmla="val 13138"/>
              </a:avLst>
            </a:prstGeom>
            <a:solidFill>
              <a:srgbClr val="E8F0F3"/>
            </a:solidFill>
            <a:ln w="8469">
              <a:solidFill>
                <a:srgbClr val="34C2C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7-nodetxt0"/>
            <p:cNvSpPr txBox="1"/>
            <p:nvPr/>
          </p:nvSpPr>
          <p:spPr>
            <a:xfrm>
              <a:off x="652149" y="32790955"/>
              <a:ext cx="1225250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237C86"/>
                  </a:solidFill>
                  <a:latin typeface="Microsoft YaHei"/>
                  <a:ea typeface="Microsoft YaHei"/>
                  <a:cs typeface="Microsoft YaHei"/>
                </a:rPr>
                <a:t>输入层</a:t>
              </a:r>
            </a:p>
          </p:txBody>
        </p:sp>
      </p:grpSp>
      <p:sp>
        <p:nvSpPr>
          <p:cNvPr id="140" name="s7-desc0"/>
          <p:cNvSpPr txBox="1"/>
          <p:nvPr/>
        </p:nvSpPr>
        <p:spPr>
          <a:xfrm>
            <a:off x="2021380" y="32762723"/>
            <a:ext cx="2540840" cy="2710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3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接收标准化的医学影像数据，统一</a:t>
            </a:r>
          </a:p>
          <a:p>
            <a:pPr algn="l">
              <a:lnSpc>
                <a:spcPct val="100000"/>
              </a:lnSpc>
            </a:pPr>
            <a:r>
              <a:rPr sz="933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尺寸与格式</a:t>
            </a:r>
          </a:p>
        </p:txBody>
      </p:sp>
      <p:sp>
        <p:nvSpPr>
          <p:cNvPr id="141" name="s7-darrow0"/>
          <p:cNvSpPr/>
          <p:nvPr/>
        </p:nvSpPr>
        <p:spPr>
          <a:xfrm>
            <a:off x="1182902" y="33109971"/>
            <a:ext cx="163743" cy="118573"/>
          </a:xfrm>
          <a:prstGeom prst="downArrow">
            <a:avLst/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8" name="s7-nodegrp1"/>
          <p:cNvGrpSpPr/>
          <p:nvPr/>
        </p:nvGrpSpPr>
        <p:grpSpPr>
          <a:xfrm>
            <a:off x="635210" y="33316062"/>
            <a:ext cx="1259127" cy="386772"/>
            <a:chOff x="635210" y="33316062"/>
            <a:chExt cx="1259127" cy="386772"/>
          </a:xfrm>
        </p:grpSpPr>
        <p:sp>
          <p:nvSpPr>
            <p:cNvPr id="142" name="s7-node1"/>
            <p:cNvSpPr/>
            <p:nvPr/>
          </p:nvSpPr>
          <p:spPr>
            <a:xfrm>
              <a:off x="635210" y="33316062"/>
              <a:ext cx="1259127" cy="386772"/>
            </a:xfrm>
            <a:prstGeom prst="roundRect">
              <a:avLst>
                <a:gd name="adj" fmla="val 13138"/>
              </a:avLst>
            </a:prstGeom>
            <a:solidFill>
              <a:srgbClr val="E8F0F3"/>
            </a:solidFill>
            <a:ln w="8469">
              <a:solidFill>
                <a:srgbClr val="34C2C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s7-nodetxt1"/>
            <p:cNvSpPr txBox="1"/>
            <p:nvPr/>
          </p:nvSpPr>
          <p:spPr>
            <a:xfrm>
              <a:off x="652149" y="33406403"/>
              <a:ext cx="1225250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237C86"/>
                  </a:solidFill>
                  <a:latin typeface="Microsoft YaHei"/>
                  <a:ea typeface="Microsoft YaHei"/>
                  <a:cs typeface="Microsoft YaHei"/>
                </a:rPr>
                <a:t>特征提取层</a:t>
              </a:r>
            </a:p>
          </p:txBody>
        </p:sp>
      </p:grpSp>
      <p:sp>
        <p:nvSpPr>
          <p:cNvPr id="144" name="s7-desc1"/>
          <p:cNvSpPr txBox="1"/>
          <p:nvPr/>
        </p:nvSpPr>
        <p:spPr>
          <a:xfrm>
            <a:off x="2021380" y="33378171"/>
            <a:ext cx="2540840" cy="2710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3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堆叠多层CNN卷积模块，逐层提取</a:t>
            </a:r>
          </a:p>
          <a:p>
            <a:pPr algn="l">
              <a:lnSpc>
                <a:spcPct val="100000"/>
              </a:lnSpc>
            </a:pPr>
            <a:r>
              <a:rPr sz="933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图像深层语义特征</a:t>
            </a:r>
          </a:p>
        </p:txBody>
      </p:sp>
      <p:sp>
        <p:nvSpPr>
          <p:cNvPr id="145" name="s7-darrow1"/>
          <p:cNvSpPr/>
          <p:nvPr/>
        </p:nvSpPr>
        <p:spPr>
          <a:xfrm>
            <a:off x="1182902" y="33725419"/>
            <a:ext cx="163743" cy="118573"/>
          </a:xfrm>
          <a:prstGeom prst="downArrow">
            <a:avLst/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25" name="s7-nodegrp2"/>
          <p:cNvGrpSpPr/>
          <p:nvPr/>
        </p:nvGrpSpPr>
        <p:grpSpPr>
          <a:xfrm>
            <a:off x="635210" y="33931510"/>
            <a:ext cx="1259127" cy="386772"/>
            <a:chOff x="635210" y="33931510"/>
            <a:chExt cx="1259127" cy="386772"/>
          </a:xfrm>
        </p:grpSpPr>
        <p:sp>
          <p:nvSpPr>
            <p:cNvPr id="146" name="s7-node2"/>
            <p:cNvSpPr/>
            <p:nvPr/>
          </p:nvSpPr>
          <p:spPr>
            <a:xfrm>
              <a:off x="635210" y="33931510"/>
              <a:ext cx="1259127" cy="386772"/>
            </a:xfrm>
            <a:prstGeom prst="roundRect">
              <a:avLst>
                <a:gd name="adj" fmla="val 13138"/>
              </a:avLst>
            </a:prstGeom>
            <a:solidFill>
              <a:srgbClr val="E8F0F3"/>
            </a:solidFill>
            <a:ln w="8469">
              <a:solidFill>
                <a:srgbClr val="34C2C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s7-nodetxt2"/>
            <p:cNvSpPr txBox="1"/>
            <p:nvPr/>
          </p:nvSpPr>
          <p:spPr>
            <a:xfrm>
              <a:off x="652149" y="34021851"/>
              <a:ext cx="1225250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237C86"/>
                  </a:solidFill>
                  <a:latin typeface="Microsoft YaHei"/>
                  <a:ea typeface="Microsoft YaHei"/>
                  <a:cs typeface="Microsoft YaHei"/>
                </a:rPr>
                <a:t>注意力模块</a:t>
              </a:r>
            </a:p>
          </p:txBody>
        </p:sp>
      </p:grpSp>
      <p:sp>
        <p:nvSpPr>
          <p:cNvPr id="148" name="s7-desc2"/>
          <p:cNvSpPr txBox="1"/>
          <p:nvPr/>
        </p:nvSpPr>
        <p:spPr>
          <a:xfrm>
            <a:off x="2021380" y="33993619"/>
            <a:ext cx="2540840" cy="2710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3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计算特征图空间权重，自适应增强</a:t>
            </a:r>
          </a:p>
          <a:p>
            <a:pPr algn="l">
              <a:lnSpc>
                <a:spcPct val="100000"/>
              </a:lnSpc>
            </a:pPr>
            <a:r>
              <a:rPr sz="933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病灶等关键区域关注度</a:t>
            </a:r>
          </a:p>
        </p:txBody>
      </p:sp>
      <p:sp>
        <p:nvSpPr>
          <p:cNvPr id="149" name="s7-darrow2"/>
          <p:cNvSpPr/>
          <p:nvPr/>
        </p:nvSpPr>
        <p:spPr>
          <a:xfrm>
            <a:off x="1182902" y="34340867"/>
            <a:ext cx="163743" cy="118573"/>
          </a:xfrm>
          <a:prstGeom prst="downArrow">
            <a:avLst/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4" name="s7-nodegrp3"/>
          <p:cNvGrpSpPr/>
          <p:nvPr/>
        </p:nvGrpSpPr>
        <p:grpSpPr>
          <a:xfrm>
            <a:off x="635210" y="34546958"/>
            <a:ext cx="1259127" cy="386772"/>
            <a:chOff x="635210" y="34546958"/>
            <a:chExt cx="1259127" cy="386772"/>
          </a:xfrm>
        </p:grpSpPr>
        <p:sp>
          <p:nvSpPr>
            <p:cNvPr id="150" name="s7-node3"/>
            <p:cNvSpPr/>
            <p:nvPr/>
          </p:nvSpPr>
          <p:spPr>
            <a:xfrm>
              <a:off x="635210" y="34546958"/>
              <a:ext cx="1259127" cy="386772"/>
            </a:xfrm>
            <a:prstGeom prst="roundRect">
              <a:avLst>
                <a:gd name="adj" fmla="val 13138"/>
              </a:avLst>
            </a:prstGeom>
            <a:solidFill>
              <a:srgbClr val="E8F0F3"/>
            </a:solidFill>
            <a:ln w="8469">
              <a:solidFill>
                <a:srgbClr val="34C2C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s7-nodetxt3"/>
            <p:cNvSpPr txBox="1"/>
            <p:nvPr/>
          </p:nvSpPr>
          <p:spPr>
            <a:xfrm>
              <a:off x="652149" y="34637299"/>
              <a:ext cx="1225250" cy="2089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44" b="1" i="0">
                  <a:solidFill>
                    <a:srgbClr val="237C86"/>
                  </a:solidFill>
                  <a:latin typeface="Microsoft YaHei"/>
                  <a:ea typeface="Microsoft YaHei"/>
                  <a:cs typeface="Microsoft YaHei"/>
                </a:rPr>
                <a:t>分类层</a:t>
              </a:r>
            </a:p>
          </p:txBody>
        </p:sp>
      </p:grpSp>
      <p:sp>
        <p:nvSpPr>
          <p:cNvPr id="152" name="s7-desc3"/>
          <p:cNvSpPr txBox="1"/>
          <p:nvPr/>
        </p:nvSpPr>
        <p:spPr>
          <a:xfrm>
            <a:off x="2021380" y="34609067"/>
            <a:ext cx="2540840" cy="2710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3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全连接层输出最终诊断概率，实现</a:t>
            </a:r>
          </a:p>
          <a:p>
            <a:pPr algn="l">
              <a:lnSpc>
                <a:spcPct val="100000"/>
              </a:lnSpc>
            </a:pPr>
            <a:r>
              <a:rPr sz="933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疾病的精准分类</a:t>
            </a:r>
          </a:p>
        </p:txBody>
      </p:sp>
      <p:sp>
        <p:nvSpPr>
          <p:cNvPr id="153" name="s7-rpanel"/>
          <p:cNvSpPr/>
          <p:nvPr/>
        </p:nvSpPr>
        <p:spPr>
          <a:xfrm>
            <a:off x="4517049" y="31797204"/>
            <a:ext cx="3500713" cy="3430134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8469">
            <a:solidFill>
              <a:srgbClr val="DC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7-rchip"/>
          <p:cNvSpPr/>
          <p:nvPr/>
        </p:nvSpPr>
        <p:spPr>
          <a:xfrm>
            <a:off x="5420459" y="31802850"/>
            <a:ext cx="2032672" cy="395242"/>
          </a:xfrm>
          <a:prstGeom prst="roundRect">
            <a:avLst>
              <a:gd name="adj" fmla="val 14285"/>
            </a:avLst>
          </a:prstGeom>
          <a:solidFill>
            <a:srgbClr val="16A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s7-rchiptxt"/>
          <p:cNvSpPr txBox="1"/>
          <p:nvPr/>
        </p:nvSpPr>
        <p:spPr>
          <a:xfrm>
            <a:off x="5448691" y="31802850"/>
            <a:ext cx="1976209" cy="3952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6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方法对比分析</a:t>
            </a:r>
          </a:p>
        </p:txBody>
      </p:sp>
      <p:sp>
        <p:nvSpPr>
          <p:cNvPr id="156" name="s7-tblbg"/>
          <p:cNvSpPr/>
          <p:nvPr/>
        </p:nvSpPr>
        <p:spPr>
          <a:xfrm>
            <a:off x="4567866" y="32418298"/>
            <a:ext cx="3633402" cy="2780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7-alt2"/>
          <p:cNvSpPr/>
          <p:nvPr/>
        </p:nvSpPr>
        <p:spPr>
          <a:xfrm>
            <a:off x="4567866" y="32836125"/>
            <a:ext cx="3633402" cy="462998"/>
          </a:xfrm>
          <a:prstGeom prst="rect">
            <a:avLst/>
          </a:prstGeom>
          <a:solidFill>
            <a:srgbClr val="F0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7-alt4"/>
          <p:cNvSpPr/>
          <p:nvPr/>
        </p:nvSpPr>
        <p:spPr>
          <a:xfrm>
            <a:off x="4567866" y="33784706"/>
            <a:ext cx="3633402" cy="462998"/>
          </a:xfrm>
          <a:prstGeom prst="rect">
            <a:avLst/>
          </a:prstGeom>
          <a:solidFill>
            <a:srgbClr val="F0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7-alt6"/>
          <p:cNvSpPr/>
          <p:nvPr/>
        </p:nvSpPr>
        <p:spPr>
          <a:xfrm>
            <a:off x="4567866" y="34733286"/>
            <a:ext cx="3633402" cy="462998"/>
          </a:xfrm>
          <a:prstGeom prst="rect">
            <a:avLst/>
          </a:prstGeom>
          <a:solidFill>
            <a:srgbClr val="F0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s7-line0"/>
          <p:cNvCxnSpPr/>
          <p:nvPr/>
        </p:nvCxnSpPr>
        <p:spPr>
          <a:xfrm>
            <a:off x="4567866" y="32418298"/>
            <a:ext cx="3633402" cy="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7-line1"/>
          <p:cNvCxnSpPr/>
          <p:nvPr/>
        </p:nvCxnSpPr>
        <p:spPr>
          <a:xfrm>
            <a:off x="4567866" y="32827656"/>
            <a:ext cx="3633402" cy="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7-line2"/>
          <p:cNvCxnSpPr/>
          <p:nvPr/>
        </p:nvCxnSpPr>
        <p:spPr>
          <a:xfrm>
            <a:off x="4567866" y="33301946"/>
            <a:ext cx="3633402" cy="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7-line3"/>
          <p:cNvCxnSpPr/>
          <p:nvPr/>
        </p:nvCxnSpPr>
        <p:spPr>
          <a:xfrm>
            <a:off x="4567866" y="33776236"/>
            <a:ext cx="3633402" cy="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7-line4"/>
          <p:cNvCxnSpPr/>
          <p:nvPr/>
        </p:nvCxnSpPr>
        <p:spPr>
          <a:xfrm>
            <a:off x="4567866" y="34250526"/>
            <a:ext cx="3633402" cy="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7-line5"/>
          <p:cNvCxnSpPr/>
          <p:nvPr/>
        </p:nvCxnSpPr>
        <p:spPr>
          <a:xfrm>
            <a:off x="4567866" y="34724816"/>
            <a:ext cx="3633402" cy="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7-line6"/>
          <p:cNvCxnSpPr/>
          <p:nvPr/>
        </p:nvCxnSpPr>
        <p:spPr>
          <a:xfrm>
            <a:off x="4567866" y="35199107"/>
            <a:ext cx="3633402" cy="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7-vline0_0"/>
          <p:cNvCxnSpPr/>
          <p:nvPr/>
        </p:nvCxnSpPr>
        <p:spPr>
          <a:xfrm>
            <a:off x="5406343" y="32418298"/>
            <a:ext cx="0" cy="409358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7-vline0_1"/>
          <p:cNvCxnSpPr/>
          <p:nvPr/>
        </p:nvCxnSpPr>
        <p:spPr>
          <a:xfrm>
            <a:off x="5406343" y="32827656"/>
            <a:ext cx="0" cy="47429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7-vline0_2"/>
          <p:cNvCxnSpPr/>
          <p:nvPr/>
        </p:nvCxnSpPr>
        <p:spPr>
          <a:xfrm>
            <a:off x="5406343" y="33301946"/>
            <a:ext cx="0" cy="47429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7-vline0_3"/>
          <p:cNvCxnSpPr/>
          <p:nvPr/>
        </p:nvCxnSpPr>
        <p:spPr>
          <a:xfrm>
            <a:off x="5406343" y="33776236"/>
            <a:ext cx="0" cy="47429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7-vline0_4"/>
          <p:cNvCxnSpPr/>
          <p:nvPr/>
        </p:nvCxnSpPr>
        <p:spPr>
          <a:xfrm>
            <a:off x="5406343" y="34250526"/>
            <a:ext cx="0" cy="47429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7-vline0_5"/>
          <p:cNvCxnSpPr/>
          <p:nvPr/>
        </p:nvCxnSpPr>
        <p:spPr>
          <a:xfrm>
            <a:off x="5406343" y="34724816"/>
            <a:ext cx="0" cy="474291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7-vline1_0"/>
          <p:cNvCxnSpPr/>
          <p:nvPr/>
        </p:nvCxnSpPr>
        <p:spPr>
          <a:xfrm>
            <a:off x="6959079" y="32418298"/>
            <a:ext cx="0" cy="409358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7-vline1_1"/>
          <p:cNvCxnSpPr/>
          <p:nvPr/>
        </p:nvCxnSpPr>
        <p:spPr>
          <a:xfrm>
            <a:off x="6959079" y="32827656"/>
            <a:ext cx="0" cy="47429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7-vline1_2"/>
          <p:cNvCxnSpPr/>
          <p:nvPr/>
        </p:nvCxnSpPr>
        <p:spPr>
          <a:xfrm>
            <a:off x="6959079" y="33301946"/>
            <a:ext cx="0" cy="47429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7-vline1_3"/>
          <p:cNvCxnSpPr/>
          <p:nvPr/>
        </p:nvCxnSpPr>
        <p:spPr>
          <a:xfrm>
            <a:off x="6959079" y="33776236"/>
            <a:ext cx="0" cy="47429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7-vline1_4"/>
          <p:cNvCxnSpPr/>
          <p:nvPr/>
        </p:nvCxnSpPr>
        <p:spPr>
          <a:xfrm>
            <a:off x="6959079" y="34250526"/>
            <a:ext cx="0" cy="474290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7-vline1_5"/>
          <p:cNvCxnSpPr/>
          <p:nvPr/>
        </p:nvCxnSpPr>
        <p:spPr>
          <a:xfrm>
            <a:off x="6959079" y="34724816"/>
            <a:ext cx="0" cy="474291"/>
          </a:xfrm>
          <a:prstGeom prst="line">
            <a:avLst/>
          </a:prstGeom>
          <a:ln w="28575">
            <a:solidFill>
              <a:srgbClr val="CDE9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s7-hdr-传统方法"/>
          <p:cNvSpPr txBox="1"/>
          <p:nvPr/>
        </p:nvSpPr>
        <p:spPr>
          <a:xfrm>
            <a:off x="5462806" y="32356189"/>
            <a:ext cx="1750357" cy="2540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11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传统方法</a:t>
            </a:r>
          </a:p>
        </p:txBody>
      </p:sp>
      <p:sp>
        <p:nvSpPr>
          <p:cNvPr id="180" name="s7-hdr-我们的深度学习方法"/>
          <p:cNvSpPr txBox="1"/>
          <p:nvPr/>
        </p:nvSpPr>
        <p:spPr>
          <a:xfrm>
            <a:off x="7018365" y="32356189"/>
            <a:ext cx="1750357" cy="2540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11" b="1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我们的深度学习方法</a:t>
            </a:r>
          </a:p>
        </p:txBody>
      </p:sp>
      <p:sp>
        <p:nvSpPr>
          <p:cNvPr id="181" name="s7-rowlab0"/>
          <p:cNvSpPr txBox="1"/>
          <p:nvPr/>
        </p:nvSpPr>
        <p:spPr>
          <a:xfrm>
            <a:off x="4629976" y="32951875"/>
            <a:ext cx="734021" cy="2258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1" i="0">
                <a:solidFill>
                  <a:srgbClr val="2F5D62"/>
                </a:solidFill>
                <a:latin typeface="Microsoft YaHei"/>
                <a:ea typeface="Microsoft YaHei"/>
                <a:cs typeface="Microsoft YaHei"/>
              </a:rPr>
              <a:t>特征提取</a:t>
            </a:r>
          </a:p>
        </p:txBody>
      </p:sp>
      <p:sp>
        <p:nvSpPr>
          <p:cNvPr id="182" name="s7-cell0_0"/>
          <p:cNvSpPr txBox="1"/>
          <p:nvPr/>
        </p:nvSpPr>
        <p:spPr>
          <a:xfrm>
            <a:off x="5451514" y="32982929"/>
            <a:ext cx="1355115" cy="1835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依赖专家设计的人工特征工程</a:t>
            </a:r>
          </a:p>
        </p:txBody>
      </p:sp>
      <p:sp>
        <p:nvSpPr>
          <p:cNvPr id="183" name="s7-cell0_1"/>
          <p:cNvSpPr txBox="1"/>
          <p:nvPr/>
        </p:nvSpPr>
        <p:spPr>
          <a:xfrm>
            <a:off x="7007073" y="32903881"/>
            <a:ext cx="1033275" cy="344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自动特征学习</a:t>
            </a:r>
          </a:p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数据自主驱动</a:t>
            </a:r>
          </a:p>
        </p:txBody>
      </p:sp>
      <p:sp>
        <p:nvSpPr>
          <p:cNvPr id="184" name="s7-rowlab1"/>
          <p:cNvSpPr txBox="1"/>
          <p:nvPr/>
        </p:nvSpPr>
        <p:spPr>
          <a:xfrm>
            <a:off x="4629976" y="33426165"/>
            <a:ext cx="734021" cy="2258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1" i="0">
                <a:solidFill>
                  <a:srgbClr val="2F5D62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185" name="s7-cell1_0"/>
          <p:cNvSpPr txBox="1"/>
          <p:nvPr/>
        </p:nvSpPr>
        <p:spPr>
          <a:xfrm>
            <a:off x="5451514" y="33457219"/>
            <a:ext cx="1355115" cy="1835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难以应对高维、复杂的医学影像</a:t>
            </a:r>
          </a:p>
        </p:txBody>
      </p:sp>
      <p:sp>
        <p:nvSpPr>
          <p:cNvPr id="186" name="s7-cell1_1"/>
          <p:cNvSpPr txBox="1"/>
          <p:nvPr/>
        </p:nvSpPr>
        <p:spPr>
          <a:xfrm>
            <a:off x="7007073" y="33378171"/>
            <a:ext cx="1033275" cy="344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强高维建模能力</a:t>
            </a:r>
          </a:p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捕捉深层数据模式</a:t>
            </a:r>
          </a:p>
        </p:txBody>
      </p:sp>
      <p:sp>
        <p:nvSpPr>
          <p:cNvPr id="187" name="s7-rowlab2"/>
          <p:cNvSpPr txBox="1"/>
          <p:nvPr/>
        </p:nvSpPr>
        <p:spPr>
          <a:xfrm>
            <a:off x="4629976" y="33900455"/>
            <a:ext cx="734021" cy="2258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1" i="0">
                <a:solidFill>
                  <a:srgbClr val="2F5D62"/>
                </a:solidFill>
                <a:latin typeface="Microsoft YaHei"/>
                <a:ea typeface="Microsoft YaHei"/>
                <a:cs typeface="Microsoft YaHei"/>
              </a:rPr>
              <a:t>规模适应</a:t>
            </a:r>
          </a:p>
        </p:txBody>
      </p:sp>
      <p:sp>
        <p:nvSpPr>
          <p:cNvPr id="188" name="s7-cell2_0"/>
          <p:cNvSpPr txBox="1"/>
          <p:nvPr/>
        </p:nvSpPr>
        <p:spPr>
          <a:xfrm>
            <a:off x="5451514" y="33931510"/>
            <a:ext cx="1355115" cy="1835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仅适用于小规模、特征明确的数据集</a:t>
            </a:r>
          </a:p>
        </p:txBody>
      </p:sp>
      <p:sp>
        <p:nvSpPr>
          <p:cNvPr id="189" name="s7-cell2_1"/>
          <p:cNvSpPr txBox="1"/>
          <p:nvPr/>
        </p:nvSpPr>
        <p:spPr>
          <a:xfrm>
            <a:off x="7007073" y="33852461"/>
            <a:ext cx="1033275" cy="344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完美适配大规模数据</a:t>
            </a:r>
          </a:p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数据越多性能越好</a:t>
            </a:r>
          </a:p>
        </p:txBody>
      </p:sp>
      <p:sp>
        <p:nvSpPr>
          <p:cNvPr id="190" name="s7-rowlab3"/>
          <p:cNvSpPr txBox="1"/>
          <p:nvPr/>
        </p:nvSpPr>
        <p:spPr>
          <a:xfrm>
            <a:off x="4629976" y="34374745"/>
            <a:ext cx="734021" cy="2258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1" i="0">
                <a:solidFill>
                  <a:srgbClr val="2F5D62"/>
                </a:solidFill>
                <a:latin typeface="Microsoft YaHei"/>
                <a:ea typeface="Microsoft YaHei"/>
                <a:cs typeface="Microsoft YaHei"/>
              </a:rPr>
              <a:t>泛化能力</a:t>
            </a:r>
          </a:p>
        </p:txBody>
      </p:sp>
      <p:sp>
        <p:nvSpPr>
          <p:cNvPr id="191" name="s7-cell3_0"/>
          <p:cNvSpPr txBox="1"/>
          <p:nvPr/>
        </p:nvSpPr>
        <p:spPr>
          <a:xfrm>
            <a:off x="5451514" y="34405800"/>
            <a:ext cx="1355115" cy="1835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泛化性较弱，难以适应新数据分布</a:t>
            </a:r>
          </a:p>
        </p:txBody>
      </p:sp>
      <p:sp>
        <p:nvSpPr>
          <p:cNvPr id="192" name="s7-cell3_1"/>
          <p:cNvSpPr txBox="1"/>
          <p:nvPr/>
        </p:nvSpPr>
        <p:spPr>
          <a:xfrm>
            <a:off x="7007073" y="34326751"/>
            <a:ext cx="1033275" cy="344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泛化能力极强</a:t>
            </a:r>
          </a:p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数据增强提升鲁棒性</a:t>
            </a:r>
          </a:p>
        </p:txBody>
      </p:sp>
      <p:sp>
        <p:nvSpPr>
          <p:cNvPr id="193" name="s7-rowlab4"/>
          <p:cNvSpPr txBox="1"/>
          <p:nvPr/>
        </p:nvSpPr>
        <p:spPr>
          <a:xfrm>
            <a:off x="4629976" y="34849035"/>
            <a:ext cx="734021" cy="2258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1" i="0">
                <a:solidFill>
                  <a:srgbClr val="2F5D62"/>
                </a:solidFill>
                <a:latin typeface="Microsoft YaHei"/>
                <a:ea typeface="Microsoft YaHei"/>
                <a:cs typeface="Microsoft YaHei"/>
              </a:rPr>
              <a:t>诊断性能</a:t>
            </a:r>
          </a:p>
        </p:txBody>
      </p:sp>
      <p:sp>
        <p:nvSpPr>
          <p:cNvPr id="194" name="s7-cell4_0"/>
          <p:cNvSpPr txBox="1"/>
          <p:nvPr/>
        </p:nvSpPr>
        <p:spPr>
          <a:xfrm>
            <a:off x="5451514" y="34880090"/>
            <a:ext cx="1355115" cy="1835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准确率受限于人工特征的设计上限</a:t>
            </a:r>
          </a:p>
        </p:txBody>
      </p:sp>
      <p:sp>
        <p:nvSpPr>
          <p:cNvPr id="195" name="s7-cell4_1"/>
          <p:cNvSpPr txBox="1"/>
          <p:nvPr/>
        </p:nvSpPr>
        <p:spPr>
          <a:xfrm>
            <a:off x="7007073" y="34801042"/>
            <a:ext cx="1033275" cy="344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准确率显著提升</a:t>
            </a:r>
          </a:p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全面超越传统方法</a:t>
            </a:r>
          </a:p>
        </p:txBody>
      </p:sp>
      <p:sp>
        <p:nvSpPr>
          <p:cNvPr id="196" name="s8-bg"/>
          <p:cNvSpPr/>
          <p:nvPr/>
        </p:nvSpPr>
        <p:spPr>
          <a:xfrm>
            <a:off x="0" y="35845609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7" name="p8-frame" descr="1a0cfc02df7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5845609"/>
            <a:ext cx="9101854" cy="5121205"/>
          </a:xfrm>
          <a:prstGeom prst="rect">
            <a:avLst/>
          </a:prstGeom>
          <a:effectLst/>
        </p:spPr>
      </p:pic>
      <p:sp>
        <p:nvSpPr>
          <p:cNvPr id="198" name="Freeform 197"/>
          <p:cNvSpPr/>
          <p:nvPr/>
        </p:nvSpPr>
        <p:spPr>
          <a:xfrm>
            <a:off x="197621" y="36198504"/>
            <a:ext cx="367010" cy="367010"/>
          </a:xfrm>
          <a:custGeom>
            <a:avLst/>
            <a:gdLst/>
            <a:ahLst/>
            <a:cxnLst/>
            <a:rect l="l" t="t" r="r" b="b"/>
            <a:pathLst>
              <a:path w="367010" h="367010">
                <a:moveTo>
                  <a:pt x="183505" y="0"/>
                </a:moveTo>
                <a:lnTo>
                  <a:pt x="231216" y="135794"/>
                </a:lnTo>
                <a:lnTo>
                  <a:pt x="367010" y="183505"/>
                </a:lnTo>
                <a:lnTo>
                  <a:pt x="231216" y="231216"/>
                </a:lnTo>
                <a:lnTo>
                  <a:pt x="183505" y="367010"/>
                </a:lnTo>
                <a:lnTo>
                  <a:pt x="135794" y="231216"/>
                </a:lnTo>
                <a:lnTo>
                  <a:pt x="0" y="183505"/>
                </a:lnTo>
                <a:lnTo>
                  <a:pt x="135794" y="135794"/>
                </a:lnTo>
                <a:close/>
              </a:path>
            </a:pathLst>
          </a:cu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tl-7"/>
          <p:cNvSpPr txBox="1"/>
          <p:nvPr/>
        </p:nvSpPr>
        <p:spPr>
          <a:xfrm>
            <a:off x="609802" y="36204150"/>
            <a:ext cx="2258525" cy="3613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6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实验设计与数据说明</a:t>
            </a:r>
          </a:p>
        </p:txBody>
      </p:sp>
      <p:sp>
        <p:nvSpPr>
          <p:cNvPr id="200" name="s8-c1"/>
          <p:cNvSpPr/>
          <p:nvPr/>
        </p:nvSpPr>
        <p:spPr>
          <a:xfrm>
            <a:off x="598509" y="36760312"/>
            <a:ext cx="3816907" cy="1801173"/>
          </a:xfrm>
          <a:prstGeom prst="roundRect">
            <a:avLst>
              <a:gd name="adj" fmla="val 4075"/>
            </a:avLst>
          </a:prstGeom>
          <a:solidFill>
            <a:srgbClr val="FFFFFF"/>
          </a:solidFill>
          <a:ln w="8469">
            <a:solidFill>
              <a:srgbClr val="E3E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s8-c1-ban"/>
          <p:cNvSpPr/>
          <p:nvPr/>
        </p:nvSpPr>
        <p:spPr>
          <a:xfrm>
            <a:off x="1702363" y="36760312"/>
            <a:ext cx="1609199" cy="237145"/>
          </a:xfrm>
          <a:prstGeom prst="roundRect">
            <a:avLst>
              <a:gd name="adj" fmla="val 16666"/>
            </a:avLst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s8-c1-bantxt"/>
          <p:cNvSpPr txBox="1"/>
          <p:nvPr/>
        </p:nvSpPr>
        <p:spPr>
          <a:xfrm>
            <a:off x="1702363" y="36760312"/>
            <a:ext cx="1609199" cy="23714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11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数据来源构成</a:t>
            </a:r>
          </a:p>
        </p:txBody>
      </p:sp>
      <p:sp>
        <p:nvSpPr>
          <p:cNvPr id="203" name="s8-c2"/>
          <p:cNvSpPr/>
          <p:nvPr/>
        </p:nvSpPr>
        <p:spPr>
          <a:xfrm>
            <a:off x="598509" y="38815569"/>
            <a:ext cx="3816907" cy="1801173"/>
          </a:xfrm>
          <a:prstGeom prst="roundRect">
            <a:avLst>
              <a:gd name="adj" fmla="val 4075"/>
            </a:avLst>
          </a:prstGeom>
          <a:solidFill>
            <a:srgbClr val="FFFFFF"/>
          </a:solidFill>
          <a:ln w="8469">
            <a:solidFill>
              <a:srgbClr val="E3E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s8-c2-ban"/>
          <p:cNvSpPr/>
          <p:nvPr/>
        </p:nvSpPr>
        <p:spPr>
          <a:xfrm>
            <a:off x="1702363" y="38815569"/>
            <a:ext cx="1609199" cy="237145"/>
          </a:xfrm>
          <a:prstGeom prst="roundRect">
            <a:avLst>
              <a:gd name="adj" fmla="val 16666"/>
            </a:avLst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s8-c2-bantxt"/>
          <p:cNvSpPr txBox="1"/>
          <p:nvPr/>
        </p:nvSpPr>
        <p:spPr>
          <a:xfrm>
            <a:off x="1702363" y="38815569"/>
            <a:ext cx="1609199" cy="23714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11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样本覆盖</a:t>
            </a:r>
          </a:p>
        </p:txBody>
      </p:sp>
      <p:sp>
        <p:nvSpPr>
          <p:cNvPr id="206" name="s8-c3"/>
          <p:cNvSpPr/>
          <p:nvPr/>
        </p:nvSpPr>
        <p:spPr>
          <a:xfrm>
            <a:off x="4652561" y="36749019"/>
            <a:ext cx="3816907" cy="3890309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8469">
            <a:solidFill>
              <a:srgbClr val="E3E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s8-c3-ban"/>
          <p:cNvSpPr/>
          <p:nvPr/>
        </p:nvSpPr>
        <p:spPr>
          <a:xfrm>
            <a:off x="5756415" y="36749019"/>
            <a:ext cx="1609199" cy="237145"/>
          </a:xfrm>
          <a:prstGeom prst="roundRect">
            <a:avLst>
              <a:gd name="adj" fmla="val 16666"/>
            </a:avLst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s8-c3-bantxt"/>
          <p:cNvSpPr txBox="1"/>
          <p:nvPr/>
        </p:nvSpPr>
        <p:spPr>
          <a:xfrm>
            <a:off x="5756415" y="36749019"/>
            <a:ext cx="1609199" cy="23714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11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系统性研究流程</a:t>
            </a:r>
          </a:p>
        </p:txBody>
      </p:sp>
      <p:sp>
        <p:nvSpPr>
          <p:cNvPr id="209" name="s8-pie0"/>
          <p:cNvSpPr/>
          <p:nvPr/>
        </p:nvSpPr>
        <p:spPr>
          <a:xfrm>
            <a:off x="1693893" y="37652429"/>
            <a:ext cx="638034" cy="638033"/>
          </a:xfrm>
          <a:custGeom>
            <a:avLst/>
            <a:gdLst/>
            <a:ahLst/>
            <a:cxnLst/>
            <a:rect l="l" t="t" r="r" b="b"/>
            <a:pathLst>
              <a:path w="638034" h="638033">
                <a:moveTo>
                  <a:pt x="0" y="0"/>
                </a:moveTo>
                <a:lnTo>
                  <a:pt x="638034" y="0"/>
                </a:lnTo>
                <a:lnTo>
                  <a:pt x="635211" y="67756"/>
                </a:lnTo>
                <a:lnTo>
                  <a:pt x="623918" y="132688"/>
                </a:lnTo>
                <a:lnTo>
                  <a:pt x="606979" y="197621"/>
                </a:lnTo>
                <a:lnTo>
                  <a:pt x="581571" y="259730"/>
                </a:lnTo>
                <a:lnTo>
                  <a:pt x="553339" y="319017"/>
                </a:lnTo>
                <a:lnTo>
                  <a:pt x="516638" y="375480"/>
                </a:lnTo>
                <a:lnTo>
                  <a:pt x="474291" y="426297"/>
                </a:lnTo>
                <a:lnTo>
                  <a:pt x="426297" y="474290"/>
                </a:lnTo>
                <a:lnTo>
                  <a:pt x="375480" y="516637"/>
                </a:lnTo>
                <a:lnTo>
                  <a:pt x="319017" y="553339"/>
                </a:lnTo>
                <a:lnTo>
                  <a:pt x="259731" y="581570"/>
                </a:lnTo>
                <a:lnTo>
                  <a:pt x="197621" y="606978"/>
                </a:lnTo>
                <a:lnTo>
                  <a:pt x="132689" y="623917"/>
                </a:lnTo>
                <a:lnTo>
                  <a:pt x="67756" y="635210"/>
                </a:lnTo>
                <a:lnTo>
                  <a:pt x="0" y="638033"/>
                </a:lnTo>
                <a:close/>
              </a:path>
            </a:pathLst>
          </a:custGeom>
          <a:solidFill>
            <a:srgbClr val="4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s8-pielab0"/>
          <p:cNvSpPr txBox="1"/>
          <p:nvPr/>
        </p:nvSpPr>
        <p:spPr>
          <a:xfrm>
            <a:off x="1775765" y="37847227"/>
            <a:ext cx="395242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211" name="s8-pie1"/>
          <p:cNvSpPr/>
          <p:nvPr/>
        </p:nvSpPr>
        <p:spPr>
          <a:xfrm>
            <a:off x="1055860" y="37135791"/>
            <a:ext cx="638033" cy="1154671"/>
          </a:xfrm>
          <a:custGeom>
            <a:avLst/>
            <a:gdLst/>
            <a:ahLst/>
            <a:cxnLst/>
            <a:rect l="l" t="t" r="r" b="b"/>
            <a:pathLst>
              <a:path w="638033" h="1154671">
                <a:moveTo>
                  <a:pt x="638033" y="516638"/>
                </a:moveTo>
                <a:lnTo>
                  <a:pt x="638033" y="1154671"/>
                </a:lnTo>
                <a:lnTo>
                  <a:pt x="570278" y="1151848"/>
                </a:lnTo>
                <a:lnTo>
                  <a:pt x="505345" y="1140555"/>
                </a:lnTo>
                <a:lnTo>
                  <a:pt x="440413" y="1123616"/>
                </a:lnTo>
                <a:lnTo>
                  <a:pt x="378303" y="1098208"/>
                </a:lnTo>
                <a:lnTo>
                  <a:pt x="319017" y="1069977"/>
                </a:lnTo>
                <a:lnTo>
                  <a:pt x="262554" y="1033275"/>
                </a:lnTo>
                <a:lnTo>
                  <a:pt x="211737" y="990928"/>
                </a:lnTo>
                <a:lnTo>
                  <a:pt x="163743" y="942935"/>
                </a:lnTo>
                <a:lnTo>
                  <a:pt x="121396" y="892118"/>
                </a:lnTo>
                <a:lnTo>
                  <a:pt x="84695" y="835655"/>
                </a:lnTo>
                <a:lnTo>
                  <a:pt x="56463" y="776368"/>
                </a:lnTo>
                <a:lnTo>
                  <a:pt x="31055" y="714259"/>
                </a:lnTo>
                <a:lnTo>
                  <a:pt x="14116" y="649326"/>
                </a:lnTo>
                <a:lnTo>
                  <a:pt x="2823" y="584394"/>
                </a:lnTo>
                <a:lnTo>
                  <a:pt x="0" y="516638"/>
                </a:lnTo>
                <a:lnTo>
                  <a:pt x="2823" y="448882"/>
                </a:lnTo>
                <a:lnTo>
                  <a:pt x="14116" y="383950"/>
                </a:lnTo>
                <a:lnTo>
                  <a:pt x="31055" y="319017"/>
                </a:lnTo>
                <a:lnTo>
                  <a:pt x="56463" y="256908"/>
                </a:lnTo>
                <a:lnTo>
                  <a:pt x="84695" y="197621"/>
                </a:lnTo>
                <a:lnTo>
                  <a:pt x="121396" y="141158"/>
                </a:lnTo>
                <a:lnTo>
                  <a:pt x="163743" y="90341"/>
                </a:lnTo>
                <a:lnTo>
                  <a:pt x="211737" y="42348"/>
                </a:lnTo>
                <a:lnTo>
                  <a:pt x="262554" y="0"/>
                </a:lnTo>
                <a:close/>
              </a:path>
            </a:pathLst>
          </a:custGeom>
          <a:solidFill>
            <a:srgbClr val="7F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s8-pielab1"/>
          <p:cNvSpPr txBox="1"/>
          <p:nvPr/>
        </p:nvSpPr>
        <p:spPr>
          <a:xfrm>
            <a:off x="1120793" y="37689130"/>
            <a:ext cx="395242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13" name="s8-pie2"/>
          <p:cNvSpPr/>
          <p:nvPr/>
        </p:nvSpPr>
        <p:spPr>
          <a:xfrm>
            <a:off x="1318414" y="37014396"/>
            <a:ext cx="1013513" cy="638033"/>
          </a:xfrm>
          <a:custGeom>
            <a:avLst/>
            <a:gdLst/>
            <a:ahLst/>
            <a:cxnLst/>
            <a:rect l="l" t="t" r="r" b="b"/>
            <a:pathLst>
              <a:path w="1013513" h="638033">
                <a:moveTo>
                  <a:pt x="375479" y="638033"/>
                </a:moveTo>
                <a:lnTo>
                  <a:pt x="0" y="121395"/>
                </a:lnTo>
                <a:lnTo>
                  <a:pt x="56463" y="84694"/>
                </a:lnTo>
                <a:lnTo>
                  <a:pt x="115749" y="56463"/>
                </a:lnTo>
                <a:lnTo>
                  <a:pt x="177859" y="31054"/>
                </a:lnTo>
                <a:lnTo>
                  <a:pt x="242791" y="14116"/>
                </a:lnTo>
                <a:lnTo>
                  <a:pt x="307724" y="2823"/>
                </a:lnTo>
                <a:lnTo>
                  <a:pt x="375479" y="0"/>
                </a:lnTo>
                <a:lnTo>
                  <a:pt x="443235" y="2823"/>
                </a:lnTo>
                <a:lnTo>
                  <a:pt x="508168" y="14116"/>
                </a:lnTo>
                <a:lnTo>
                  <a:pt x="573100" y="31054"/>
                </a:lnTo>
                <a:lnTo>
                  <a:pt x="635210" y="56463"/>
                </a:lnTo>
                <a:lnTo>
                  <a:pt x="694496" y="84694"/>
                </a:lnTo>
                <a:lnTo>
                  <a:pt x="750959" y="121395"/>
                </a:lnTo>
                <a:lnTo>
                  <a:pt x="801776" y="163743"/>
                </a:lnTo>
                <a:lnTo>
                  <a:pt x="849770" y="211736"/>
                </a:lnTo>
                <a:lnTo>
                  <a:pt x="892117" y="262553"/>
                </a:lnTo>
                <a:lnTo>
                  <a:pt x="928818" y="319016"/>
                </a:lnTo>
                <a:lnTo>
                  <a:pt x="957050" y="378303"/>
                </a:lnTo>
                <a:lnTo>
                  <a:pt x="982458" y="440412"/>
                </a:lnTo>
                <a:lnTo>
                  <a:pt x="999397" y="505345"/>
                </a:lnTo>
                <a:lnTo>
                  <a:pt x="1010690" y="570277"/>
                </a:lnTo>
                <a:lnTo>
                  <a:pt x="1013513" y="638033"/>
                </a:lnTo>
                <a:close/>
              </a:path>
            </a:pathLst>
          </a:custGeom>
          <a:solidFill>
            <a:srgbClr val="2DA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8-pielab2"/>
          <p:cNvSpPr txBox="1"/>
          <p:nvPr/>
        </p:nvSpPr>
        <p:spPr>
          <a:xfrm>
            <a:off x="1676955" y="37214840"/>
            <a:ext cx="395242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215" name="s8-lgd0"/>
          <p:cNvSpPr/>
          <p:nvPr/>
        </p:nvSpPr>
        <p:spPr>
          <a:xfrm>
            <a:off x="2385567" y="37499979"/>
            <a:ext cx="95987" cy="95987"/>
          </a:xfrm>
          <a:prstGeom prst="ellipse">
            <a:avLst/>
          </a:prstGeom>
          <a:solidFill>
            <a:srgbClr val="2DA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s8-lgdtxt0"/>
          <p:cNvSpPr txBox="1"/>
          <p:nvPr/>
        </p:nvSpPr>
        <p:spPr>
          <a:xfrm>
            <a:off x="2529548" y="37474570"/>
            <a:ext cx="1468041" cy="1468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公开数据集1</a:t>
            </a:r>
          </a:p>
        </p:txBody>
      </p:sp>
      <p:sp>
        <p:nvSpPr>
          <p:cNvPr id="217" name="s8-lgd1"/>
          <p:cNvSpPr/>
          <p:nvPr/>
        </p:nvSpPr>
        <p:spPr>
          <a:xfrm>
            <a:off x="2385567" y="37720185"/>
            <a:ext cx="95987" cy="95987"/>
          </a:xfrm>
          <a:prstGeom prst="ellipse">
            <a:avLst/>
          </a:prstGeom>
          <a:solidFill>
            <a:srgbClr val="7F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8-lgdtxt1"/>
          <p:cNvSpPr txBox="1"/>
          <p:nvPr/>
        </p:nvSpPr>
        <p:spPr>
          <a:xfrm>
            <a:off x="2529548" y="37694776"/>
            <a:ext cx="1468041" cy="1468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公开数据集2</a:t>
            </a:r>
          </a:p>
        </p:txBody>
      </p:sp>
      <p:sp>
        <p:nvSpPr>
          <p:cNvPr id="219" name="s8-lgd2"/>
          <p:cNvSpPr/>
          <p:nvPr/>
        </p:nvSpPr>
        <p:spPr>
          <a:xfrm>
            <a:off x="2385567" y="37940391"/>
            <a:ext cx="95987" cy="95987"/>
          </a:xfrm>
          <a:prstGeom prst="ellipse">
            <a:avLst/>
          </a:prstGeom>
          <a:solidFill>
            <a:srgbClr val="4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8-lgdtxt2"/>
          <p:cNvSpPr txBox="1"/>
          <p:nvPr/>
        </p:nvSpPr>
        <p:spPr>
          <a:xfrm>
            <a:off x="2529548" y="37914982"/>
            <a:ext cx="1468041" cy="1468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三甲医院临床合作数据</a:t>
            </a:r>
          </a:p>
        </p:txBody>
      </p:sp>
      <p:sp>
        <p:nvSpPr>
          <p:cNvPr id="221" name="s8-cap"/>
          <p:cNvSpPr txBox="1"/>
          <p:nvPr/>
        </p:nvSpPr>
        <p:spPr>
          <a:xfrm>
            <a:off x="1053037" y="38307401"/>
            <a:ext cx="2885265" cy="1835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9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整合公开数据集与临床数据，确保数据的多样性与代表性。</a:t>
            </a:r>
          </a:p>
        </p:txBody>
      </p:sp>
      <p:sp>
        <p:nvSpPr>
          <p:cNvPr id="222" name="s8-bt"/>
          <p:cNvSpPr txBox="1"/>
          <p:nvPr/>
        </p:nvSpPr>
        <p:spPr>
          <a:xfrm>
            <a:off x="1228073" y="39114824"/>
            <a:ext cx="1750357" cy="1750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78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总样本 &gt; 50,000</a:t>
            </a:r>
          </a:p>
        </p:txBody>
      </p:sp>
      <p:cxnSp>
        <p:nvCxnSpPr>
          <p:cNvPr id="223" name="s8-xaxis"/>
          <p:cNvCxnSpPr/>
          <p:nvPr/>
        </p:nvCxnSpPr>
        <p:spPr>
          <a:xfrm>
            <a:off x="1228073" y="40396536"/>
            <a:ext cx="2577541" cy="0"/>
          </a:xfrm>
          <a:prstGeom prst="line">
            <a:avLst/>
          </a:prstGeom>
          <a:ln w="28575">
            <a:solidFill>
              <a:srgbClr val="CF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s8-tick0"/>
          <p:cNvSpPr txBox="1"/>
          <p:nvPr/>
        </p:nvSpPr>
        <p:spPr>
          <a:xfrm>
            <a:off x="1044568" y="40399360"/>
            <a:ext cx="367010" cy="1552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25" name="s8-tick1"/>
          <p:cNvSpPr txBox="1"/>
          <p:nvPr/>
        </p:nvSpPr>
        <p:spPr>
          <a:xfrm>
            <a:off x="1555559" y="40399360"/>
            <a:ext cx="367010" cy="1552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4200</a:t>
            </a:r>
          </a:p>
        </p:txBody>
      </p:sp>
      <p:sp>
        <p:nvSpPr>
          <p:cNvPr id="226" name="s8-tick2"/>
          <p:cNvSpPr txBox="1"/>
          <p:nvPr/>
        </p:nvSpPr>
        <p:spPr>
          <a:xfrm>
            <a:off x="2063727" y="40399360"/>
            <a:ext cx="367010" cy="1552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8400</a:t>
            </a:r>
          </a:p>
        </p:txBody>
      </p:sp>
      <p:sp>
        <p:nvSpPr>
          <p:cNvPr id="227" name="s8-tick3"/>
          <p:cNvSpPr txBox="1"/>
          <p:nvPr/>
        </p:nvSpPr>
        <p:spPr>
          <a:xfrm>
            <a:off x="2574718" y="40399360"/>
            <a:ext cx="367010" cy="1552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12600</a:t>
            </a:r>
          </a:p>
        </p:txBody>
      </p:sp>
      <p:sp>
        <p:nvSpPr>
          <p:cNvPr id="228" name="s8-tick4"/>
          <p:cNvSpPr txBox="1"/>
          <p:nvPr/>
        </p:nvSpPr>
        <p:spPr>
          <a:xfrm>
            <a:off x="3082886" y="40399360"/>
            <a:ext cx="367010" cy="1552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16800</a:t>
            </a:r>
          </a:p>
        </p:txBody>
      </p:sp>
      <p:sp>
        <p:nvSpPr>
          <p:cNvPr id="229" name="s8-tick5"/>
          <p:cNvSpPr txBox="1"/>
          <p:nvPr/>
        </p:nvSpPr>
        <p:spPr>
          <a:xfrm>
            <a:off x="3593877" y="40399360"/>
            <a:ext cx="367010" cy="1552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21000</a:t>
            </a:r>
          </a:p>
        </p:txBody>
      </p:sp>
      <p:sp>
        <p:nvSpPr>
          <p:cNvPr id="230" name="s8-axname"/>
          <p:cNvSpPr txBox="1"/>
          <p:nvPr/>
        </p:nvSpPr>
        <p:spPr>
          <a:xfrm>
            <a:off x="3842315" y="40325958"/>
            <a:ext cx="386772" cy="1552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5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样本数</a:t>
            </a:r>
          </a:p>
        </p:txBody>
      </p:sp>
      <p:sp>
        <p:nvSpPr>
          <p:cNvPr id="231" name="s8-bar0"/>
          <p:cNvSpPr/>
          <p:nvPr/>
        </p:nvSpPr>
        <p:spPr>
          <a:xfrm>
            <a:off x="1228073" y="39295506"/>
            <a:ext cx="606978" cy="169389"/>
          </a:xfrm>
          <a:prstGeom prst="rect">
            <a:avLst/>
          </a:pr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8-barval0"/>
          <p:cNvSpPr txBox="1"/>
          <p:nvPr/>
        </p:nvSpPr>
        <p:spPr>
          <a:xfrm>
            <a:off x="1228073" y="39295506"/>
            <a:ext cx="606978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5000</a:t>
            </a:r>
          </a:p>
        </p:txBody>
      </p:sp>
      <p:sp>
        <p:nvSpPr>
          <p:cNvPr id="233" name="s8-barax0"/>
          <p:cNvSpPr txBox="1"/>
          <p:nvPr/>
        </p:nvSpPr>
        <p:spPr>
          <a:xfrm>
            <a:off x="705789" y="39295506"/>
            <a:ext cx="494052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疾病E</a:t>
            </a:r>
          </a:p>
        </p:txBody>
      </p:sp>
      <p:sp>
        <p:nvSpPr>
          <p:cNvPr id="234" name="s8-bar1"/>
          <p:cNvSpPr/>
          <p:nvPr/>
        </p:nvSpPr>
        <p:spPr>
          <a:xfrm>
            <a:off x="1228073" y="39507242"/>
            <a:ext cx="2549310" cy="169389"/>
          </a:xfrm>
          <a:prstGeom prst="rect">
            <a:avLst/>
          </a:pr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8-barval1"/>
          <p:cNvSpPr txBox="1"/>
          <p:nvPr/>
        </p:nvSpPr>
        <p:spPr>
          <a:xfrm>
            <a:off x="1228073" y="39507242"/>
            <a:ext cx="2549310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21000</a:t>
            </a:r>
          </a:p>
        </p:txBody>
      </p:sp>
      <p:sp>
        <p:nvSpPr>
          <p:cNvPr id="236" name="s8-barax1"/>
          <p:cNvSpPr txBox="1"/>
          <p:nvPr/>
        </p:nvSpPr>
        <p:spPr>
          <a:xfrm>
            <a:off x="705789" y="39507242"/>
            <a:ext cx="494052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疾病D</a:t>
            </a:r>
          </a:p>
        </p:txBody>
      </p:sp>
      <p:sp>
        <p:nvSpPr>
          <p:cNvPr id="237" name="s8-bar2"/>
          <p:cNvSpPr/>
          <p:nvPr/>
        </p:nvSpPr>
        <p:spPr>
          <a:xfrm>
            <a:off x="1228073" y="39718979"/>
            <a:ext cx="1092561" cy="169389"/>
          </a:xfrm>
          <a:prstGeom prst="rect">
            <a:avLst/>
          </a:pr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8-barval2"/>
          <p:cNvSpPr txBox="1"/>
          <p:nvPr/>
        </p:nvSpPr>
        <p:spPr>
          <a:xfrm>
            <a:off x="1228073" y="39718979"/>
            <a:ext cx="1092561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9000</a:t>
            </a:r>
          </a:p>
        </p:txBody>
      </p:sp>
      <p:sp>
        <p:nvSpPr>
          <p:cNvPr id="239" name="s8-barax2"/>
          <p:cNvSpPr txBox="1"/>
          <p:nvPr/>
        </p:nvSpPr>
        <p:spPr>
          <a:xfrm>
            <a:off x="705789" y="39718979"/>
            <a:ext cx="494052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疾病C</a:t>
            </a:r>
          </a:p>
        </p:txBody>
      </p:sp>
      <p:sp>
        <p:nvSpPr>
          <p:cNvPr id="240" name="s8-bar3"/>
          <p:cNvSpPr/>
          <p:nvPr/>
        </p:nvSpPr>
        <p:spPr>
          <a:xfrm>
            <a:off x="1228073" y="39930716"/>
            <a:ext cx="1335353" cy="169389"/>
          </a:xfrm>
          <a:prstGeom prst="rect">
            <a:avLst/>
          </a:pr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8-barval3"/>
          <p:cNvSpPr txBox="1"/>
          <p:nvPr/>
        </p:nvSpPr>
        <p:spPr>
          <a:xfrm>
            <a:off x="1228073" y="39930716"/>
            <a:ext cx="1335353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11000</a:t>
            </a:r>
          </a:p>
        </p:txBody>
      </p:sp>
      <p:sp>
        <p:nvSpPr>
          <p:cNvPr id="242" name="s8-barax3"/>
          <p:cNvSpPr txBox="1"/>
          <p:nvPr/>
        </p:nvSpPr>
        <p:spPr>
          <a:xfrm>
            <a:off x="705789" y="39930716"/>
            <a:ext cx="494052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疾病B</a:t>
            </a:r>
          </a:p>
        </p:txBody>
      </p:sp>
      <p:sp>
        <p:nvSpPr>
          <p:cNvPr id="243" name="s8-bar4"/>
          <p:cNvSpPr/>
          <p:nvPr/>
        </p:nvSpPr>
        <p:spPr>
          <a:xfrm>
            <a:off x="1228073" y="40142452"/>
            <a:ext cx="1456748" cy="169389"/>
          </a:xfrm>
          <a:prstGeom prst="rect">
            <a:avLst/>
          </a:pr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8-barval4"/>
          <p:cNvSpPr txBox="1"/>
          <p:nvPr/>
        </p:nvSpPr>
        <p:spPr>
          <a:xfrm>
            <a:off x="1228073" y="40142452"/>
            <a:ext cx="1456748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12000</a:t>
            </a:r>
          </a:p>
        </p:txBody>
      </p:sp>
      <p:sp>
        <p:nvSpPr>
          <p:cNvPr id="245" name="s8-barax4"/>
          <p:cNvSpPr txBox="1"/>
          <p:nvPr/>
        </p:nvSpPr>
        <p:spPr>
          <a:xfrm>
            <a:off x="705789" y="40142452"/>
            <a:ext cx="494052" cy="1693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疾病A</a:t>
            </a:r>
          </a:p>
        </p:txBody>
      </p:sp>
      <p:sp>
        <p:nvSpPr>
          <p:cNvPr id="246" name="s8-step0"/>
          <p:cNvSpPr/>
          <p:nvPr/>
        </p:nvSpPr>
        <p:spPr>
          <a:xfrm>
            <a:off x="4771133" y="37178139"/>
            <a:ext cx="3585408" cy="465821"/>
          </a:xfrm>
          <a:prstGeom prst="roundRect">
            <a:avLst>
              <a:gd name="adj" fmla="val 12121"/>
            </a:avLst>
          </a:prstGeom>
          <a:solidFill>
            <a:srgbClr val="EDF4FA"/>
          </a:solidFill>
          <a:ln w="8469">
            <a:solidFill>
              <a:srgbClr val="34C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8-steptxt0"/>
          <p:cNvSpPr txBox="1"/>
          <p:nvPr/>
        </p:nvSpPr>
        <p:spPr>
          <a:xfrm>
            <a:off x="4884060" y="37178139"/>
            <a:ext cx="3387787" cy="4658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7" b="1" i="0">
                <a:solidFill>
                  <a:srgbClr val="17494B"/>
                </a:solidFill>
                <a:latin typeface="Microsoft YaHei"/>
                <a:ea typeface="Microsoft YaHei"/>
                <a:cs typeface="Microsoft YaHei"/>
              </a:rPr>
              <a:t>01  问题与需求：明确临床痛点</a:t>
            </a:r>
          </a:p>
        </p:txBody>
      </p:sp>
      <p:sp>
        <p:nvSpPr>
          <p:cNvPr id="248" name="s8-sarrow0"/>
          <p:cNvSpPr/>
          <p:nvPr/>
        </p:nvSpPr>
        <p:spPr>
          <a:xfrm>
            <a:off x="6507374" y="37652429"/>
            <a:ext cx="124219" cy="135511"/>
          </a:xfrm>
          <a:prstGeom prst="downArrow">
            <a:avLst/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8-step1"/>
          <p:cNvSpPr/>
          <p:nvPr/>
        </p:nvSpPr>
        <p:spPr>
          <a:xfrm>
            <a:off x="4771133" y="37875458"/>
            <a:ext cx="3585408" cy="465821"/>
          </a:xfrm>
          <a:prstGeom prst="roundRect">
            <a:avLst>
              <a:gd name="adj" fmla="val 12121"/>
            </a:avLst>
          </a:prstGeom>
          <a:solidFill>
            <a:srgbClr val="E6F4F1"/>
          </a:solidFill>
          <a:ln w="8469">
            <a:solidFill>
              <a:srgbClr val="34C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8-steptxt1"/>
          <p:cNvSpPr txBox="1"/>
          <p:nvPr/>
        </p:nvSpPr>
        <p:spPr>
          <a:xfrm>
            <a:off x="4884060" y="37875458"/>
            <a:ext cx="3387787" cy="4658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7" b="1" i="0">
                <a:solidFill>
                  <a:srgbClr val="17494B"/>
                </a:solidFill>
                <a:latin typeface="Microsoft YaHei"/>
                <a:ea typeface="Microsoft YaHei"/>
                <a:cs typeface="Microsoft YaHei"/>
              </a:rPr>
              <a:t>02  采集与清洗：多源整合去噪</a:t>
            </a:r>
          </a:p>
        </p:txBody>
      </p:sp>
      <p:sp>
        <p:nvSpPr>
          <p:cNvPr id="251" name="s8-sarrow1"/>
          <p:cNvSpPr/>
          <p:nvPr/>
        </p:nvSpPr>
        <p:spPr>
          <a:xfrm>
            <a:off x="6507374" y="38349748"/>
            <a:ext cx="124219" cy="135511"/>
          </a:xfrm>
          <a:prstGeom prst="downArrow">
            <a:avLst/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8-step2"/>
          <p:cNvSpPr/>
          <p:nvPr/>
        </p:nvSpPr>
        <p:spPr>
          <a:xfrm>
            <a:off x="4771133" y="38572778"/>
            <a:ext cx="3585408" cy="465821"/>
          </a:xfrm>
          <a:prstGeom prst="roundRect">
            <a:avLst>
              <a:gd name="adj" fmla="val 12121"/>
            </a:avLst>
          </a:prstGeom>
          <a:solidFill>
            <a:srgbClr val="E9F2FA"/>
          </a:solidFill>
          <a:ln w="8469">
            <a:solidFill>
              <a:srgbClr val="34C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8-steptxt2"/>
          <p:cNvSpPr txBox="1"/>
          <p:nvPr/>
        </p:nvSpPr>
        <p:spPr>
          <a:xfrm>
            <a:off x="4884060" y="38572778"/>
            <a:ext cx="3387787" cy="4658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7" b="1" i="0">
                <a:solidFill>
                  <a:srgbClr val="17494B"/>
                </a:solidFill>
                <a:latin typeface="Microsoft YaHei"/>
                <a:ea typeface="Microsoft YaHei"/>
                <a:cs typeface="Microsoft YaHei"/>
              </a:rPr>
              <a:t>03  模型设计训练：CNN网络构建</a:t>
            </a:r>
          </a:p>
        </p:txBody>
      </p:sp>
      <p:sp>
        <p:nvSpPr>
          <p:cNvPr id="254" name="s8-sarrow2"/>
          <p:cNvSpPr/>
          <p:nvPr/>
        </p:nvSpPr>
        <p:spPr>
          <a:xfrm>
            <a:off x="6507374" y="39047068"/>
            <a:ext cx="124219" cy="135511"/>
          </a:xfrm>
          <a:prstGeom prst="downArrow">
            <a:avLst/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8-step3"/>
          <p:cNvSpPr/>
          <p:nvPr/>
        </p:nvSpPr>
        <p:spPr>
          <a:xfrm>
            <a:off x="4771133" y="39267274"/>
            <a:ext cx="3585408" cy="465821"/>
          </a:xfrm>
          <a:prstGeom prst="roundRect">
            <a:avLst>
              <a:gd name="adj" fmla="val 12121"/>
            </a:avLst>
          </a:prstGeom>
          <a:solidFill>
            <a:srgbClr val="D6EEEA"/>
          </a:solidFill>
          <a:ln w="8469">
            <a:solidFill>
              <a:srgbClr val="34C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8-steptxt3"/>
          <p:cNvSpPr txBox="1"/>
          <p:nvPr/>
        </p:nvSpPr>
        <p:spPr>
          <a:xfrm>
            <a:off x="4884060" y="39267274"/>
            <a:ext cx="3387787" cy="4658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7" b="1" i="0">
                <a:solidFill>
                  <a:srgbClr val="17494B"/>
                </a:solidFill>
                <a:latin typeface="Microsoft YaHei"/>
                <a:ea typeface="Microsoft YaHei"/>
                <a:cs typeface="Microsoft YaHei"/>
              </a:rPr>
              <a:t>04  实验有效性验证：多维度评估</a:t>
            </a:r>
          </a:p>
        </p:txBody>
      </p:sp>
      <p:sp>
        <p:nvSpPr>
          <p:cNvPr id="257" name="s8-sarrow3"/>
          <p:cNvSpPr/>
          <p:nvPr/>
        </p:nvSpPr>
        <p:spPr>
          <a:xfrm>
            <a:off x="6507374" y="39741564"/>
            <a:ext cx="124219" cy="135511"/>
          </a:xfrm>
          <a:prstGeom prst="downArrow">
            <a:avLst/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8-step4"/>
          <p:cNvSpPr/>
          <p:nvPr/>
        </p:nvSpPr>
        <p:spPr>
          <a:xfrm>
            <a:off x="4771133" y="39967417"/>
            <a:ext cx="3585408" cy="465821"/>
          </a:xfrm>
          <a:prstGeom prst="roundRect">
            <a:avLst>
              <a:gd name="adj" fmla="val 12121"/>
            </a:avLst>
          </a:prstGeom>
          <a:solidFill>
            <a:srgbClr val="EDE6F8"/>
          </a:solidFill>
          <a:ln w="8469">
            <a:solidFill>
              <a:srgbClr val="34C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8-steptxt4"/>
          <p:cNvSpPr txBox="1"/>
          <p:nvPr/>
        </p:nvSpPr>
        <p:spPr>
          <a:xfrm>
            <a:off x="4884060" y="39967417"/>
            <a:ext cx="3387787" cy="4658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7" b="1" i="0">
                <a:solidFill>
                  <a:srgbClr val="17494B"/>
                </a:solidFill>
                <a:latin typeface="Microsoft YaHei"/>
                <a:ea typeface="Microsoft YaHei"/>
                <a:cs typeface="Microsoft YaHei"/>
              </a:rPr>
              <a:t>05  结果分析优化：混淆矩阵迭代</a:t>
            </a:r>
          </a:p>
        </p:txBody>
      </p:sp>
      <p:sp>
        <p:nvSpPr>
          <p:cNvPr id="260" name="s9-bg"/>
          <p:cNvSpPr/>
          <p:nvPr/>
        </p:nvSpPr>
        <p:spPr>
          <a:xfrm>
            <a:off x="0" y="40963991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1" name="p9-frame" descr="c2b96328d38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0963991"/>
            <a:ext cx="9101854" cy="5121205"/>
          </a:xfrm>
          <a:prstGeom prst="rect">
            <a:avLst/>
          </a:prstGeom>
          <a:effectLst/>
        </p:spPr>
      </p:pic>
      <p:sp>
        <p:nvSpPr>
          <p:cNvPr id="262" name="Freeform 261"/>
          <p:cNvSpPr/>
          <p:nvPr/>
        </p:nvSpPr>
        <p:spPr>
          <a:xfrm>
            <a:off x="197621" y="41308416"/>
            <a:ext cx="367010" cy="367010"/>
          </a:xfrm>
          <a:custGeom>
            <a:avLst/>
            <a:gdLst/>
            <a:ahLst/>
            <a:cxnLst/>
            <a:rect l="l" t="t" r="r" b="b"/>
            <a:pathLst>
              <a:path w="367010" h="367010">
                <a:moveTo>
                  <a:pt x="183505" y="0"/>
                </a:moveTo>
                <a:lnTo>
                  <a:pt x="231216" y="135794"/>
                </a:lnTo>
                <a:lnTo>
                  <a:pt x="367010" y="183505"/>
                </a:lnTo>
                <a:lnTo>
                  <a:pt x="231216" y="231216"/>
                </a:lnTo>
                <a:lnTo>
                  <a:pt x="183505" y="367010"/>
                </a:lnTo>
                <a:lnTo>
                  <a:pt x="135794" y="231216"/>
                </a:lnTo>
                <a:lnTo>
                  <a:pt x="0" y="183505"/>
                </a:lnTo>
                <a:lnTo>
                  <a:pt x="135794" y="135794"/>
                </a:lnTo>
                <a:close/>
              </a:path>
            </a:pathLst>
          </a:custGeom>
          <a:solidFill>
            <a:srgbClr val="1BB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tl-8"/>
          <p:cNvSpPr txBox="1"/>
          <p:nvPr/>
        </p:nvSpPr>
        <p:spPr>
          <a:xfrm>
            <a:off x="609802" y="41311239"/>
            <a:ext cx="2272640" cy="3613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6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实验结果与性能评估</a:t>
            </a:r>
          </a:p>
        </p:txBody>
      </p:sp>
      <p:grpSp>
        <p:nvGrpSpPr>
          <p:cNvPr id="330" name="s9-kpigrp0"/>
          <p:cNvGrpSpPr/>
          <p:nvPr/>
        </p:nvGrpSpPr>
        <p:grpSpPr>
          <a:xfrm>
            <a:off x="677557" y="41878693"/>
            <a:ext cx="2410975" cy="1688247"/>
            <a:chOff x="677557" y="41878693"/>
            <a:chExt cx="2410975" cy="1688247"/>
          </a:xfrm>
        </p:grpSpPr>
        <p:sp>
          <p:nvSpPr>
            <p:cNvPr id="264" name="s9-kpi0"/>
            <p:cNvSpPr/>
            <p:nvPr/>
          </p:nvSpPr>
          <p:spPr>
            <a:xfrm>
              <a:off x="677557" y="41878693"/>
              <a:ext cx="2410975" cy="1688247"/>
            </a:xfrm>
            <a:prstGeom prst="roundRect">
              <a:avLst>
                <a:gd name="adj" fmla="val 4347"/>
              </a:avLst>
            </a:prstGeom>
            <a:solidFill>
              <a:srgbClr val="FFFFFF"/>
            </a:solidFill>
            <a:ln w="8469">
              <a:solidFill>
                <a:srgbClr val="E3ED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22" name="s9-kpiic0"/>
            <p:cNvGrpSpPr/>
            <p:nvPr/>
          </p:nvGrpSpPr>
          <p:grpSpPr>
            <a:xfrm>
              <a:off x="1767521" y="42116177"/>
              <a:ext cx="231047" cy="245953"/>
              <a:chOff x="1767521" y="42116177"/>
              <a:chExt cx="231047" cy="245953"/>
            </a:xfrm>
          </p:grpSpPr>
          <p:sp>
            <p:nvSpPr>
              <p:cNvPr id="265" name="Rounded Rectangle 264"/>
              <p:cNvSpPr/>
              <p:nvPr/>
            </p:nvSpPr>
            <p:spPr>
              <a:xfrm>
                <a:off x="1767521" y="42254060"/>
                <a:ext cx="67078" cy="108070"/>
              </a:xfrm>
              <a:prstGeom prst="roundRect">
                <a:avLst>
                  <a:gd name="adj" fmla="val 33333"/>
                </a:avLst>
              </a:pr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Rounded Rectangle 265"/>
              <p:cNvSpPr/>
              <p:nvPr/>
            </p:nvSpPr>
            <p:spPr>
              <a:xfrm>
                <a:off x="1849506" y="42177665"/>
                <a:ext cx="67078" cy="184465"/>
              </a:xfrm>
              <a:prstGeom prst="roundRect">
                <a:avLst>
                  <a:gd name="adj" fmla="val 33333"/>
                </a:avLst>
              </a:pr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Rounded Rectangle 266"/>
              <p:cNvSpPr/>
              <p:nvPr/>
            </p:nvSpPr>
            <p:spPr>
              <a:xfrm>
                <a:off x="1931490" y="42116177"/>
                <a:ext cx="67078" cy="245953"/>
              </a:xfrm>
              <a:prstGeom prst="roundRect">
                <a:avLst>
                  <a:gd name="adj" fmla="val 33333"/>
                </a:avLst>
              </a:pr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68" name="s9-kpilab0"/>
            <p:cNvSpPr txBox="1"/>
            <p:nvPr/>
          </p:nvSpPr>
          <p:spPr>
            <a:xfrm>
              <a:off x="677557" y="42621183"/>
              <a:ext cx="2410975" cy="1411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67" b="1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准确率</a:t>
              </a:r>
            </a:p>
          </p:txBody>
        </p:sp>
        <p:sp>
          <p:nvSpPr>
            <p:cNvPr id="269" name="s9-kpival0"/>
            <p:cNvSpPr txBox="1"/>
            <p:nvPr/>
          </p:nvSpPr>
          <p:spPr>
            <a:xfrm>
              <a:off x="677557" y="43053126"/>
              <a:ext cx="2410975" cy="2286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44" b="1" i="0">
                  <a:solidFill>
                    <a:srgbClr val="2DABAA"/>
                  </a:solidFill>
                  <a:latin typeface="Microsoft YaHei"/>
                  <a:ea typeface="Microsoft YaHei"/>
                  <a:cs typeface="Microsoft YaHei"/>
                </a:rPr>
                <a:t>92.5%</a:t>
              </a:r>
            </a:p>
          </p:txBody>
        </p:sp>
      </p:grpSp>
      <p:grpSp>
        <p:nvGrpSpPr>
          <p:cNvPr id="329" name="s9-kpigrp1"/>
          <p:cNvGrpSpPr/>
          <p:nvPr/>
        </p:nvGrpSpPr>
        <p:grpSpPr>
          <a:xfrm>
            <a:off x="3297446" y="41878693"/>
            <a:ext cx="2405329" cy="1688247"/>
            <a:chOff x="3297446" y="41878693"/>
            <a:chExt cx="2405329" cy="1688247"/>
          </a:xfrm>
        </p:grpSpPr>
        <p:sp>
          <p:nvSpPr>
            <p:cNvPr id="270" name="s9-kpi1"/>
            <p:cNvSpPr/>
            <p:nvPr/>
          </p:nvSpPr>
          <p:spPr>
            <a:xfrm>
              <a:off x="3297446" y="41878693"/>
              <a:ext cx="2405329" cy="1688247"/>
            </a:xfrm>
            <a:prstGeom prst="roundRect">
              <a:avLst>
                <a:gd name="adj" fmla="val 4347"/>
              </a:avLst>
            </a:prstGeom>
            <a:solidFill>
              <a:srgbClr val="FFFFFF"/>
            </a:solidFill>
            <a:ln w="8469">
              <a:solidFill>
                <a:srgbClr val="E3ED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23" name="s9-kpiic1"/>
            <p:cNvGrpSpPr/>
            <p:nvPr/>
          </p:nvGrpSpPr>
          <p:grpSpPr>
            <a:xfrm>
              <a:off x="4369681" y="42112451"/>
              <a:ext cx="260859" cy="260859"/>
              <a:chOff x="4369681" y="42112451"/>
              <a:chExt cx="260859" cy="260859"/>
            </a:xfrm>
          </p:grpSpPr>
          <p:cxnSp>
            <p:nvCxnSpPr>
              <p:cNvPr id="271" name="Connector 270"/>
              <p:cNvCxnSpPr/>
              <p:nvPr/>
            </p:nvCxnSpPr>
            <p:spPr>
              <a:xfrm flipV="1">
                <a:off x="4384587" y="42127357"/>
                <a:ext cx="231047" cy="231047"/>
              </a:xfrm>
              <a:prstGeom prst="line">
                <a:avLst/>
              </a:prstGeom>
              <a:ln w="34880">
                <a:solidFill>
                  <a:srgbClr val="2DABA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Oval 271"/>
              <p:cNvSpPr/>
              <p:nvPr/>
            </p:nvSpPr>
            <p:spPr>
              <a:xfrm>
                <a:off x="4369681" y="42112451"/>
                <a:ext cx="96891" cy="96891"/>
              </a:xfrm>
              <a:prstGeom prst="ellipse">
                <a:avLst/>
              </a:prstGeom>
              <a:noFill/>
              <a:ln w="15240">
                <a:solidFill>
                  <a:srgbClr val="2DABA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Oval 272"/>
              <p:cNvSpPr/>
              <p:nvPr/>
            </p:nvSpPr>
            <p:spPr>
              <a:xfrm>
                <a:off x="4533649" y="42276419"/>
                <a:ext cx="96891" cy="96891"/>
              </a:xfrm>
              <a:prstGeom prst="ellipse">
                <a:avLst/>
              </a:prstGeom>
              <a:noFill/>
              <a:ln w="15240">
                <a:solidFill>
                  <a:srgbClr val="2DABA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74" name="s9-kpilab1"/>
            <p:cNvSpPr txBox="1"/>
            <p:nvPr/>
          </p:nvSpPr>
          <p:spPr>
            <a:xfrm>
              <a:off x="3297446" y="42621183"/>
              <a:ext cx="2405329" cy="1411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67" b="1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召回率</a:t>
              </a:r>
            </a:p>
          </p:txBody>
        </p:sp>
        <p:sp>
          <p:nvSpPr>
            <p:cNvPr id="275" name="s9-kpival1"/>
            <p:cNvSpPr txBox="1"/>
            <p:nvPr/>
          </p:nvSpPr>
          <p:spPr>
            <a:xfrm>
              <a:off x="3297446" y="43053126"/>
              <a:ext cx="2405329" cy="2286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44" b="1" i="0">
                  <a:solidFill>
                    <a:srgbClr val="2DABAA"/>
                  </a:solidFill>
                  <a:latin typeface="Microsoft YaHei"/>
                  <a:ea typeface="Microsoft YaHei"/>
                  <a:cs typeface="Microsoft YaHei"/>
                </a:rPr>
                <a:t>90.2%</a:t>
              </a:r>
            </a:p>
          </p:txBody>
        </p:sp>
      </p:grpSp>
      <p:grpSp>
        <p:nvGrpSpPr>
          <p:cNvPr id="332" name="s9-kpigrp2"/>
          <p:cNvGrpSpPr/>
          <p:nvPr/>
        </p:nvGrpSpPr>
        <p:grpSpPr>
          <a:xfrm>
            <a:off x="5922981" y="41878693"/>
            <a:ext cx="2405329" cy="1688247"/>
            <a:chOff x="5922981" y="41878693"/>
            <a:chExt cx="2405329" cy="1688247"/>
          </a:xfrm>
        </p:grpSpPr>
        <p:sp>
          <p:nvSpPr>
            <p:cNvPr id="276" name="s9-kpi2"/>
            <p:cNvSpPr/>
            <p:nvPr/>
          </p:nvSpPr>
          <p:spPr>
            <a:xfrm>
              <a:off x="5922981" y="41878693"/>
              <a:ext cx="2405329" cy="1688247"/>
            </a:xfrm>
            <a:prstGeom prst="roundRect">
              <a:avLst>
                <a:gd name="adj" fmla="val 4347"/>
              </a:avLst>
            </a:prstGeom>
            <a:solidFill>
              <a:srgbClr val="FFFFFF"/>
            </a:solidFill>
            <a:ln w="8469">
              <a:solidFill>
                <a:srgbClr val="E3ED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24" name="s9-kpiic2"/>
            <p:cNvGrpSpPr/>
            <p:nvPr/>
          </p:nvGrpSpPr>
          <p:grpSpPr>
            <a:xfrm>
              <a:off x="6961676" y="42097544"/>
              <a:ext cx="327938" cy="290672"/>
              <a:chOff x="6961676" y="42097544"/>
              <a:chExt cx="327938" cy="290672"/>
            </a:xfrm>
          </p:grpSpPr>
          <p:cxnSp>
            <p:nvCxnSpPr>
              <p:cNvPr id="277" name="Connector 276"/>
              <p:cNvCxnSpPr/>
              <p:nvPr/>
            </p:nvCxnSpPr>
            <p:spPr>
              <a:xfrm>
                <a:off x="6961676" y="42388216"/>
                <a:ext cx="327938" cy="0"/>
              </a:xfrm>
              <a:prstGeom prst="line">
                <a:avLst/>
              </a:prstGeom>
              <a:ln w="29067">
                <a:solidFill>
                  <a:srgbClr val="2DABA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Connector 277"/>
              <p:cNvCxnSpPr/>
              <p:nvPr/>
            </p:nvCxnSpPr>
            <p:spPr>
              <a:xfrm flipV="1">
                <a:off x="6961676" y="42097544"/>
                <a:ext cx="0" cy="290672"/>
              </a:xfrm>
              <a:prstGeom prst="line">
                <a:avLst/>
              </a:prstGeom>
              <a:ln w="29067">
                <a:solidFill>
                  <a:srgbClr val="2DABA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Connector 278"/>
              <p:cNvCxnSpPr/>
              <p:nvPr/>
            </p:nvCxnSpPr>
            <p:spPr>
              <a:xfrm flipV="1">
                <a:off x="7002669" y="42224247"/>
                <a:ext cx="85711" cy="74532"/>
              </a:xfrm>
              <a:prstGeom prst="line">
                <a:avLst/>
              </a:prstGeom>
              <a:ln w="33911">
                <a:solidFill>
                  <a:srgbClr val="2DABA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Connector 279"/>
              <p:cNvCxnSpPr/>
              <p:nvPr/>
            </p:nvCxnSpPr>
            <p:spPr>
              <a:xfrm>
                <a:off x="7088380" y="42224247"/>
                <a:ext cx="78257" cy="40993"/>
              </a:xfrm>
              <a:prstGeom prst="line">
                <a:avLst/>
              </a:prstGeom>
              <a:ln w="33911">
                <a:solidFill>
                  <a:srgbClr val="2DABA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Connector 280"/>
              <p:cNvCxnSpPr/>
              <p:nvPr/>
            </p:nvCxnSpPr>
            <p:spPr>
              <a:xfrm flipV="1">
                <a:off x="7166637" y="42131083"/>
                <a:ext cx="85711" cy="134157"/>
              </a:xfrm>
              <a:prstGeom prst="line">
                <a:avLst/>
              </a:prstGeom>
              <a:ln w="33911">
                <a:solidFill>
                  <a:srgbClr val="2DABA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Oval 281"/>
              <p:cNvSpPr/>
              <p:nvPr/>
            </p:nvSpPr>
            <p:spPr>
              <a:xfrm>
                <a:off x="7226263" y="42104997"/>
                <a:ext cx="52172" cy="52172"/>
              </a:xfrm>
              <a:prstGeom prst="ellipse">
                <a:avLst/>
              </a:prstGeom>
              <a:solidFill>
                <a:srgbClr val="2DA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3" name="s9-kpilab2"/>
            <p:cNvSpPr txBox="1"/>
            <p:nvPr/>
          </p:nvSpPr>
          <p:spPr>
            <a:xfrm>
              <a:off x="5922981" y="42621183"/>
              <a:ext cx="2405329" cy="1411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67" b="1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F1分数</a:t>
              </a:r>
            </a:p>
          </p:txBody>
        </p:sp>
        <p:sp>
          <p:nvSpPr>
            <p:cNvPr id="284" name="s9-kpival2"/>
            <p:cNvSpPr txBox="1"/>
            <p:nvPr/>
          </p:nvSpPr>
          <p:spPr>
            <a:xfrm>
              <a:off x="5922981" y="43053126"/>
              <a:ext cx="2405329" cy="2286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44" b="1" i="0">
                  <a:solidFill>
                    <a:srgbClr val="2DABAA"/>
                  </a:solidFill>
                  <a:latin typeface="Microsoft YaHei"/>
                  <a:ea typeface="Microsoft YaHei"/>
                  <a:cs typeface="Microsoft YaHei"/>
                </a:rPr>
                <a:t>91.3%</a:t>
              </a:r>
            </a:p>
          </p:txBody>
        </p:sp>
      </p:grpSp>
      <p:sp>
        <p:nvSpPr>
          <p:cNvPr id="285" name="s9-pan0"/>
          <p:cNvSpPr/>
          <p:nvPr/>
        </p:nvSpPr>
        <p:spPr>
          <a:xfrm>
            <a:off x="609802" y="43905719"/>
            <a:ext cx="3816907" cy="1801173"/>
          </a:xfrm>
          <a:prstGeom prst="roundRect">
            <a:avLst>
              <a:gd name="adj" fmla="val 4075"/>
            </a:avLst>
          </a:prstGeom>
          <a:solidFill>
            <a:srgbClr val="FFFFFF"/>
          </a:solidFill>
          <a:ln w="8469">
            <a:solidFill>
              <a:srgbClr val="E3E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9-panban0"/>
          <p:cNvSpPr/>
          <p:nvPr/>
        </p:nvSpPr>
        <p:spPr>
          <a:xfrm>
            <a:off x="1705186" y="43905719"/>
            <a:ext cx="1631784" cy="242791"/>
          </a:xfrm>
          <a:prstGeom prst="roundRect">
            <a:avLst>
              <a:gd name="adj" fmla="val 16279"/>
            </a:avLst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9-panbantxt0"/>
          <p:cNvSpPr txBox="1"/>
          <p:nvPr/>
        </p:nvSpPr>
        <p:spPr>
          <a:xfrm>
            <a:off x="1705186" y="43905719"/>
            <a:ext cx="1631784" cy="2427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11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性能显著提升</a:t>
            </a:r>
          </a:p>
        </p:txBody>
      </p:sp>
      <p:sp>
        <p:nvSpPr>
          <p:cNvPr id="288" name="s9-pan1"/>
          <p:cNvSpPr/>
          <p:nvPr/>
        </p:nvSpPr>
        <p:spPr>
          <a:xfrm>
            <a:off x="4567866" y="43905719"/>
            <a:ext cx="3816907" cy="1801173"/>
          </a:xfrm>
          <a:prstGeom prst="roundRect">
            <a:avLst>
              <a:gd name="adj" fmla="val 4075"/>
            </a:avLst>
          </a:prstGeom>
          <a:solidFill>
            <a:srgbClr val="FFFFFF"/>
          </a:solidFill>
          <a:ln w="8469">
            <a:solidFill>
              <a:srgbClr val="E3E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9-panban1"/>
          <p:cNvSpPr/>
          <p:nvPr/>
        </p:nvSpPr>
        <p:spPr>
          <a:xfrm>
            <a:off x="5668897" y="43905719"/>
            <a:ext cx="1609199" cy="242791"/>
          </a:xfrm>
          <a:prstGeom prst="roundRect">
            <a:avLst>
              <a:gd name="adj" fmla="val 16279"/>
            </a:avLst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9-panbantxt1"/>
          <p:cNvSpPr txBox="1"/>
          <p:nvPr/>
        </p:nvSpPr>
        <p:spPr>
          <a:xfrm>
            <a:off x="5668897" y="43905719"/>
            <a:ext cx="1609199" cy="2427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11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临床应用稳定性</a:t>
            </a:r>
          </a:p>
        </p:txBody>
      </p:sp>
      <p:sp>
        <p:nvSpPr>
          <p:cNvPr id="291" name="s9-l1"/>
          <p:cNvSpPr txBox="1"/>
          <p:nvPr/>
        </p:nvSpPr>
        <p:spPr>
          <a:xfrm>
            <a:off x="965519" y="44566338"/>
            <a:ext cx="3071594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与传统基于人工特征的方法相比，本研究方法的综合</a:t>
            </a:r>
          </a:p>
        </p:txBody>
      </p:sp>
      <p:sp>
        <p:nvSpPr>
          <p:cNvPr id="292" name="s9-l2a"/>
          <p:cNvSpPr txBox="1"/>
          <p:nvPr/>
        </p:nvSpPr>
        <p:spPr>
          <a:xfrm>
            <a:off x="948580" y="44826068"/>
            <a:ext cx="1513212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性能指标提升了约15%-20%，</a:t>
            </a:r>
          </a:p>
        </p:txBody>
      </p:sp>
      <p:sp>
        <p:nvSpPr>
          <p:cNvPr id="293" name="s9-l2b"/>
          <p:cNvSpPr txBox="1"/>
          <p:nvPr/>
        </p:nvSpPr>
        <p:spPr>
          <a:xfrm>
            <a:off x="2467438" y="44826068"/>
            <a:ext cx="1575321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验证了深度学习</a:t>
            </a:r>
          </a:p>
        </p:txBody>
      </p:sp>
      <p:sp>
        <p:nvSpPr>
          <p:cNvPr id="294" name="s9-l3"/>
          <p:cNvSpPr txBox="1"/>
          <p:nvPr/>
        </p:nvSpPr>
        <p:spPr>
          <a:xfrm>
            <a:off x="1883045" y="45085798"/>
            <a:ext cx="1140555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特征提取的有效性。</a:t>
            </a:r>
          </a:p>
        </p:txBody>
      </p:sp>
      <p:sp>
        <p:nvSpPr>
          <p:cNvPr id="295" name="s9-r1a"/>
          <p:cNvSpPr txBox="1"/>
          <p:nvPr/>
        </p:nvSpPr>
        <p:spPr>
          <a:xfrm>
            <a:off x="4920761" y="44566338"/>
            <a:ext cx="1758826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模型在处理包含多种疾病类型、</a:t>
            </a:r>
          </a:p>
        </p:txBody>
      </p:sp>
      <p:sp>
        <p:nvSpPr>
          <p:cNvPr id="296" name="s9-r1b"/>
          <p:cNvSpPr txBox="1"/>
          <p:nvPr/>
        </p:nvSpPr>
        <p:spPr>
          <a:xfrm>
            <a:off x="6685233" y="44566338"/>
            <a:ext cx="1338176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不同设备成像条件的</a:t>
            </a:r>
          </a:p>
        </p:txBody>
      </p:sp>
      <p:sp>
        <p:nvSpPr>
          <p:cNvPr id="297" name="s9-r2a"/>
          <p:cNvSpPr txBox="1"/>
          <p:nvPr/>
        </p:nvSpPr>
        <p:spPr>
          <a:xfrm>
            <a:off x="5019571" y="44800659"/>
            <a:ext cx="2354512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复杂临床场景下，表现出良好的</a:t>
            </a:r>
          </a:p>
        </p:txBody>
      </p:sp>
      <p:sp>
        <p:nvSpPr>
          <p:cNvPr id="298" name="s9-r2b"/>
          <p:cNvSpPr txBox="1"/>
          <p:nvPr/>
        </p:nvSpPr>
        <p:spPr>
          <a:xfrm>
            <a:off x="7379729" y="44800659"/>
            <a:ext cx="553339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稳定性与可靠</a:t>
            </a:r>
          </a:p>
        </p:txBody>
      </p:sp>
      <p:sp>
        <p:nvSpPr>
          <p:cNvPr id="299" name="s9-r3a"/>
          <p:cNvSpPr txBox="1"/>
          <p:nvPr/>
        </p:nvSpPr>
        <p:spPr>
          <a:xfrm>
            <a:off x="5507977" y="45074506"/>
            <a:ext cx="183505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2DABAA"/>
                </a:solidFill>
                <a:latin typeface="Microsoft YaHei"/>
                <a:ea typeface="Microsoft YaHei"/>
                <a:cs typeface="Microsoft YaHei"/>
              </a:rPr>
              <a:t>性，</a:t>
            </a:r>
          </a:p>
        </p:txBody>
      </p:sp>
      <p:sp>
        <p:nvSpPr>
          <p:cNvPr id="300" name="s9-r3b"/>
          <p:cNvSpPr txBox="1"/>
          <p:nvPr/>
        </p:nvSpPr>
        <p:spPr>
          <a:xfrm>
            <a:off x="5714067" y="45074506"/>
            <a:ext cx="1634607" cy="2117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具备较高的实际部署价值。</a:t>
            </a:r>
          </a:p>
        </p:txBody>
      </p:sp>
      <p:sp>
        <p:nvSpPr>
          <p:cNvPr id="301" name="p10-bg"/>
          <p:cNvSpPr/>
          <p:nvPr/>
        </p:nvSpPr>
        <p:spPr>
          <a:xfrm>
            <a:off x="0" y="46085195"/>
            <a:ext cx="9101854" cy="5121205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2" name="p10-frame" descr="75899e8a51b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6085195"/>
            <a:ext cx="9101854" cy="5121205"/>
          </a:xfrm>
          <a:prstGeom prst="rect">
            <a:avLst/>
          </a:prstGeom>
          <a:effectLst/>
        </p:spPr>
      </p:pic>
      <p:sp>
        <p:nvSpPr>
          <p:cNvPr id="303" name="p10-deco-tl"/>
          <p:cNvSpPr/>
          <p:nvPr/>
        </p:nvSpPr>
        <p:spPr>
          <a:xfrm>
            <a:off x="0" y="46085195"/>
            <a:ext cx="1976209" cy="1806820"/>
          </a:xfrm>
          <a:custGeom>
            <a:avLst/>
            <a:gdLst/>
            <a:ahLst/>
            <a:cxnLst/>
            <a:rect l="l" t="t" r="r" b="b"/>
            <a:pathLst>
              <a:path w="1976209" h="1806820">
                <a:moveTo>
                  <a:pt x="0" y="0"/>
                </a:moveTo>
                <a:lnTo>
                  <a:pt x="1976209" y="0"/>
                </a:lnTo>
                <a:lnTo>
                  <a:pt x="0" y="1806820"/>
                </a:lnTo>
                <a:close/>
              </a:path>
            </a:pathLst>
          </a:custGeom>
          <a:solidFill>
            <a:srgbClr val="D8F0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p10-deco-tr"/>
          <p:cNvSpPr/>
          <p:nvPr/>
        </p:nvSpPr>
        <p:spPr>
          <a:xfrm>
            <a:off x="7227279" y="46085195"/>
            <a:ext cx="1874575" cy="2258525"/>
          </a:xfrm>
          <a:custGeom>
            <a:avLst/>
            <a:gdLst/>
            <a:ahLst/>
            <a:cxnLst/>
            <a:rect l="l" t="t" r="r" b="b"/>
            <a:pathLst>
              <a:path w="1874575" h="2258525">
                <a:moveTo>
                  <a:pt x="1874575" y="0"/>
                </a:moveTo>
                <a:lnTo>
                  <a:pt x="1874575" y="2258525"/>
                </a:lnTo>
                <a:lnTo>
                  <a:pt x="0" y="0"/>
                </a:lnTo>
                <a:close/>
              </a:path>
            </a:pathLst>
          </a:custGeom>
          <a:solidFill>
            <a:srgbClr val="E4DCF2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p10-title"/>
          <p:cNvSpPr txBox="1"/>
          <p:nvPr/>
        </p:nvSpPr>
        <p:spPr>
          <a:xfrm>
            <a:off x="1657192" y="47141056"/>
            <a:ext cx="5900396" cy="9147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45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Thank You</a:t>
            </a:r>
          </a:p>
        </p:txBody>
      </p:sp>
      <p:sp>
        <p:nvSpPr>
          <p:cNvPr id="306" name="p10-sub"/>
          <p:cNvSpPr txBox="1"/>
          <p:nvPr/>
        </p:nvSpPr>
        <p:spPr>
          <a:xfrm>
            <a:off x="3387787" y="48143276"/>
            <a:ext cx="2365805" cy="3613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56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感谢导师与团队支持</a:t>
            </a:r>
          </a:p>
        </p:txBody>
      </p:sp>
      <p:sp>
        <p:nvSpPr>
          <p:cNvPr id="307" name="p10-rule"/>
          <p:cNvSpPr/>
          <p:nvPr/>
        </p:nvSpPr>
        <p:spPr>
          <a:xfrm>
            <a:off x="3181697" y="48690968"/>
            <a:ext cx="2772339" cy="42347"/>
          </a:xfrm>
          <a:prstGeom prst="rect">
            <a:avLst/>
          </a:prstGeom>
          <a:solidFill>
            <a:srgbClr val="2DA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p10-i0"/>
          <p:cNvSpPr txBox="1"/>
          <p:nvPr/>
        </p:nvSpPr>
        <p:spPr>
          <a:xfrm>
            <a:off x="4006058" y="49247130"/>
            <a:ext cx="1123616" cy="214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演讲者：XXX</a:t>
            </a:r>
          </a:p>
        </p:txBody>
      </p:sp>
      <p:sp>
        <p:nvSpPr>
          <p:cNvPr id="309" name="p10-i1"/>
          <p:cNvSpPr txBox="1"/>
          <p:nvPr/>
        </p:nvSpPr>
        <p:spPr>
          <a:xfrm>
            <a:off x="3320031" y="49605671"/>
            <a:ext cx="2498493" cy="214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邮箱：xxx@email.com</a:t>
            </a:r>
          </a:p>
        </p:txBody>
      </p:sp>
      <p:sp>
        <p:nvSpPr>
          <p:cNvPr id="310" name="p10-i2"/>
          <p:cNvSpPr txBox="1"/>
          <p:nvPr/>
        </p:nvSpPr>
        <p:spPr>
          <a:xfrm>
            <a:off x="3472482" y="50015028"/>
            <a:ext cx="2193592" cy="214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4" b="0" i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日期：2026年XX月XX日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