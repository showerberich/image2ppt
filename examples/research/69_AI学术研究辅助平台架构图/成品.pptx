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08600" cy="173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08600" cy="1737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3" name="frame"/>
          <p:cNvSpPr/>
          <p:nvPr/>
        </p:nvSpPr>
        <p:spPr>
          <a:xfrm>
            <a:off x="114300" y="114300"/>
            <a:ext cx="30480000" cy="17145000"/>
          </a:xfrm>
          <a:prstGeom prst="rect">
            <a:avLst/>
          </a:prstGeom>
          <a:noFill/>
          <a:ln w="33337">
            <a:solidFill>
              <a:srgbClr val="808080"/>
            </a:solidFill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4" name="title-main"/>
          <p:cNvSpPr txBox="1"/>
          <p:nvPr/>
        </p:nvSpPr>
        <p:spPr>
          <a:xfrm>
            <a:off x="10586085" y="1589722"/>
            <a:ext cx="7602855" cy="792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AI 学术研究辅助平台系统架构图</a:t>
            </a:r>
          </a:p>
        </p:txBody>
      </p:sp>
      <p:sp>
        <p:nvSpPr>
          <p:cNvPr id="5" name="dashed-box"/>
          <p:cNvSpPr/>
          <p:nvPr/>
        </p:nvSpPr>
        <p:spPr>
          <a:xfrm>
            <a:off x="4810125" y="2714625"/>
            <a:ext cx="17268825" cy="13373100"/>
          </a:xfrm>
          <a:prstGeom prst="roundRect">
            <a:avLst>
              <a:gd name="adj" fmla="val 1566"/>
            </a:avLst>
          </a:prstGeom>
          <a:noFill/>
          <a:ln w="23812">
            <a:solidFill>
              <a:srgbClr val="B85D5C"/>
            </a:solidFill>
            <a:prstDash val="dash"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grpSp>
        <p:nvGrpSpPr>
          <p:cNvPr id="224" name="col-left"/>
          <p:cNvGrpSpPr/>
          <p:nvPr/>
        </p:nvGrpSpPr>
        <p:grpSpPr>
          <a:xfrm>
            <a:off x="1666875" y="2905125"/>
            <a:ext cx="2314575" cy="12954000"/>
            <a:chOff x="1666875" y="2905125"/>
            <a:chExt cx="2314575" cy="12954000"/>
          </a:xfrm>
        </p:grpSpPr>
        <p:sp>
          <p:nvSpPr>
            <p:cNvPr id="6" name="lcol-card"/>
            <p:cNvSpPr/>
            <p:nvPr/>
          </p:nvSpPr>
          <p:spPr>
            <a:xfrm>
              <a:off x="2133600" y="2905125"/>
              <a:ext cx="1847850" cy="12954000"/>
            </a:xfrm>
            <a:prstGeom prst="roundRect">
              <a:avLst>
                <a:gd name="adj" fmla="val 8247"/>
              </a:avLst>
            </a:prstGeom>
            <a:solidFill>
              <a:srgbClr val="FFEDED"/>
            </a:solidFill>
            <a:ln w="28575">
              <a:solidFill>
                <a:srgbClr val="B85F5B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7" name="lcol-text"/>
            <p:cNvSpPr txBox="1"/>
            <p:nvPr/>
          </p:nvSpPr>
          <p:spPr>
            <a:xfrm>
              <a:off x="3020378" y="3154680"/>
              <a:ext cx="456248" cy="1218819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构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建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I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学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术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究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辅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助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平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台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实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现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科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全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流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程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智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能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化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提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升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效</a:t>
              </a:r>
            </a:p>
            <a:p>
              <a:pPr algn="ctr">
                <a:lnSpc>
                  <a:spcPts val="342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率</a:t>
              </a:r>
            </a:p>
          </p:txBody>
        </p:sp>
        <p:sp>
          <p:nvSpPr>
            <p:cNvPr id="8" name="ltag-bg"/>
            <p:cNvSpPr/>
            <p:nvPr/>
          </p:nvSpPr>
          <p:spPr>
            <a:xfrm>
              <a:off x="1666875" y="7134225"/>
              <a:ext cx="914400" cy="4486275"/>
            </a:xfrm>
            <a:prstGeom prst="roundRect">
              <a:avLst>
                <a:gd name="adj" fmla="val 12500"/>
              </a:avLst>
            </a:prstGeom>
            <a:solidFill>
              <a:srgbClr val="BD5B58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9" name="ltag-icon-p1"/>
            <p:cNvSpPr/>
            <p:nvPr/>
          </p:nvSpPr>
          <p:spPr>
            <a:xfrm>
              <a:off x="1782318" y="7987856"/>
              <a:ext cx="683514" cy="683514"/>
            </a:xfrm>
            <a:prstGeom prst="ellipse">
              <a:avLst/>
            </a:prstGeom>
            <a:noFill/>
            <a:ln w="52006">
              <a:solidFill>
                <a:srgbClr val="FFFFFF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0" name="ltag-icon-p2"/>
            <p:cNvSpPr/>
            <p:nvPr/>
          </p:nvSpPr>
          <p:spPr>
            <a:xfrm>
              <a:off x="1916049" y="8121586"/>
              <a:ext cx="416052" cy="416052"/>
            </a:xfrm>
            <a:prstGeom prst="ellipse">
              <a:avLst/>
            </a:prstGeom>
            <a:noFill/>
            <a:ln w="52006">
              <a:solidFill>
                <a:srgbClr val="FFFFFF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1" name="ltag-icon-p3"/>
            <p:cNvSpPr/>
            <p:nvPr/>
          </p:nvSpPr>
          <p:spPr>
            <a:xfrm>
              <a:off x="2053495" y="8259032"/>
              <a:ext cx="141160" cy="1411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cxnSp>
          <p:nvCxnSpPr>
            <p:cNvPr id="12" name="ltag-icon-p4"/>
            <p:cNvCxnSpPr/>
            <p:nvPr/>
          </p:nvCxnSpPr>
          <p:spPr>
            <a:xfrm flipH="1">
              <a:off x="2272665" y="7961852"/>
              <a:ext cx="219170" cy="219170"/>
            </a:xfrm>
            <a:prstGeom prst="line">
              <a:avLst/>
            </a:prstGeom>
            <a:ln w="52006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ltag-icon-p5"/>
            <p:cNvSpPr/>
            <p:nvPr/>
          </p:nvSpPr>
          <p:spPr>
            <a:xfrm>
              <a:off x="2205800" y="8084439"/>
              <a:ext cx="163448" cy="163449"/>
            </a:xfrm>
            <a:custGeom>
              <a:avLst/>
              <a:gdLst/>
              <a:ahLst/>
              <a:cxnLst/>
              <a:rect l="l" t="t" r="r" b="b"/>
              <a:pathLst>
                <a:path w="163448" h="163449">
                  <a:moveTo>
                    <a:pt x="0" y="163449"/>
                  </a:moveTo>
                  <a:lnTo>
                    <a:pt x="163448" y="111443"/>
                  </a:lnTo>
                  <a:lnTo>
                    <a:pt x="5200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4" name="ltag-text"/>
            <p:cNvSpPr txBox="1"/>
            <p:nvPr/>
          </p:nvSpPr>
          <p:spPr>
            <a:xfrm>
              <a:off x="1834515" y="9069705"/>
              <a:ext cx="580072" cy="2076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究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标</a:t>
              </a:r>
            </a:p>
          </p:txBody>
        </p:sp>
      </p:grpSp>
      <p:grpSp>
        <p:nvGrpSpPr>
          <p:cNvPr id="228" name="col-right"/>
          <p:cNvGrpSpPr/>
          <p:nvPr/>
        </p:nvGrpSpPr>
        <p:grpSpPr>
          <a:xfrm>
            <a:off x="23012400" y="2905125"/>
            <a:ext cx="2305050" cy="12954000"/>
            <a:chOff x="23012400" y="2905125"/>
            <a:chExt cx="2305050" cy="12954000"/>
          </a:xfrm>
        </p:grpSpPr>
        <p:sp>
          <p:nvSpPr>
            <p:cNvPr id="15" name="rcol-panel"/>
            <p:cNvSpPr/>
            <p:nvPr/>
          </p:nvSpPr>
          <p:spPr>
            <a:xfrm>
              <a:off x="23012400" y="2905125"/>
              <a:ext cx="1866900" cy="12954000"/>
            </a:xfrm>
            <a:prstGeom prst="roundRect">
              <a:avLst>
                <a:gd name="adj" fmla="val 11224"/>
              </a:avLst>
            </a:prstGeom>
            <a:solidFill>
              <a:srgbClr val="FFEDED"/>
            </a:solidFill>
            <a:ln w="28575">
              <a:solidFill>
                <a:srgbClr val="B85F5B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6" name="rcard1-bg"/>
            <p:cNvSpPr/>
            <p:nvPr/>
          </p:nvSpPr>
          <p:spPr>
            <a:xfrm>
              <a:off x="23241000" y="3248025"/>
              <a:ext cx="904875" cy="4276725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9050">
              <a:solidFill>
                <a:srgbClr val="F6C4C3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7" name="rcard1-text"/>
            <p:cNvSpPr txBox="1"/>
            <p:nvPr/>
          </p:nvSpPr>
          <p:spPr>
            <a:xfrm>
              <a:off x="23465790" y="3337560"/>
              <a:ext cx="456248" cy="40547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数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据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安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全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隐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私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保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护</a:t>
              </a:r>
            </a:p>
          </p:txBody>
        </p:sp>
        <p:sp>
          <p:nvSpPr>
            <p:cNvPr id="18" name="rcard2-bg"/>
            <p:cNvSpPr/>
            <p:nvPr/>
          </p:nvSpPr>
          <p:spPr>
            <a:xfrm>
              <a:off x="23241000" y="7820025"/>
              <a:ext cx="904875" cy="3743325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9050">
              <a:solidFill>
                <a:srgbClr val="F6C4C3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9" name="rcard2-text"/>
            <p:cNvSpPr txBox="1"/>
            <p:nvPr/>
          </p:nvSpPr>
          <p:spPr>
            <a:xfrm>
              <a:off x="23465790" y="8314372"/>
              <a:ext cx="456248" cy="27031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算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力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资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源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</a:p>
          </p:txBody>
        </p:sp>
        <p:sp>
          <p:nvSpPr>
            <p:cNvPr id="20" name="rcard3-bg"/>
            <p:cNvSpPr/>
            <p:nvPr/>
          </p:nvSpPr>
          <p:spPr>
            <a:xfrm>
              <a:off x="23241000" y="11858625"/>
              <a:ext cx="904875" cy="3743325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9050">
              <a:solidFill>
                <a:srgbClr val="F6C4C3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21" name="rcard3-text"/>
            <p:cNvSpPr txBox="1"/>
            <p:nvPr/>
          </p:nvSpPr>
          <p:spPr>
            <a:xfrm>
              <a:off x="23465790" y="12127230"/>
              <a:ext cx="456248" cy="315372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团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队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协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作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与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管</a:t>
              </a:r>
            </a:p>
            <a:p>
              <a:pPr algn="ctr">
                <a:lnSpc>
                  <a:spcPts val="3547"/>
                </a:lnSpc>
              </a:pPr>
              <a:r>
                <a:rPr sz="247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理</a:t>
              </a:r>
            </a:p>
          </p:txBody>
        </p:sp>
        <p:sp>
          <p:nvSpPr>
            <p:cNvPr id="22" name="rtag-bg"/>
            <p:cNvSpPr/>
            <p:nvPr/>
          </p:nvSpPr>
          <p:spPr>
            <a:xfrm>
              <a:off x="24384000" y="7134225"/>
              <a:ext cx="933450" cy="4486275"/>
            </a:xfrm>
            <a:prstGeom prst="roundRect">
              <a:avLst>
                <a:gd name="adj" fmla="val 12244"/>
              </a:avLst>
            </a:prstGeom>
            <a:solidFill>
              <a:srgbClr val="BD5B58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23" name="rtag-icon-p1"/>
            <p:cNvSpPr/>
            <p:nvPr/>
          </p:nvSpPr>
          <p:spPr>
            <a:xfrm>
              <a:off x="24602884" y="8018907"/>
              <a:ext cx="448056" cy="416052"/>
            </a:xfrm>
            <a:custGeom>
              <a:avLst/>
              <a:gdLst/>
              <a:ahLst/>
              <a:cxnLst/>
              <a:rect l="l" t="t" r="r" b="b"/>
              <a:pathLst>
                <a:path w="448056" h="416052">
                  <a:moveTo>
                    <a:pt x="224028" y="416052"/>
                  </a:moveTo>
                  <a:lnTo>
                    <a:pt x="64008" y="232029"/>
                  </a:lnTo>
                  <a:lnTo>
                    <a:pt x="0" y="120015"/>
                  </a:lnTo>
                  <a:lnTo>
                    <a:pt x="64008" y="24003"/>
                  </a:lnTo>
                  <a:lnTo>
                    <a:pt x="156020" y="0"/>
                  </a:lnTo>
                  <a:lnTo>
                    <a:pt x="224028" y="96012"/>
                  </a:lnTo>
                  <a:lnTo>
                    <a:pt x="292037" y="0"/>
                  </a:lnTo>
                  <a:lnTo>
                    <a:pt x="384048" y="24003"/>
                  </a:lnTo>
                  <a:lnTo>
                    <a:pt x="448056" y="120015"/>
                  </a:lnTo>
                  <a:lnTo>
                    <a:pt x="384048" y="232029"/>
                  </a:lnTo>
                  <a:close/>
                </a:path>
              </a:pathLst>
            </a:custGeom>
            <a:noFill/>
            <a:ln w="56007">
              <a:solidFill>
                <a:srgbClr val="FFFFFF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24" name="rtag-icon-p2"/>
            <p:cNvSpPr/>
            <p:nvPr/>
          </p:nvSpPr>
          <p:spPr>
            <a:xfrm>
              <a:off x="24498872" y="8450961"/>
              <a:ext cx="632078" cy="232029"/>
            </a:xfrm>
            <a:custGeom>
              <a:avLst/>
              <a:gdLst/>
              <a:ahLst/>
              <a:cxnLst/>
              <a:rect l="l" t="t" r="r" b="b"/>
              <a:pathLst>
                <a:path w="632078" h="232029">
                  <a:moveTo>
                    <a:pt x="0" y="24003"/>
                  </a:moveTo>
                  <a:lnTo>
                    <a:pt x="0" y="160020"/>
                  </a:lnTo>
                  <a:lnTo>
                    <a:pt x="264033" y="160020"/>
                  </a:lnTo>
                  <a:lnTo>
                    <a:pt x="432054" y="232029"/>
                  </a:lnTo>
                  <a:lnTo>
                    <a:pt x="568070" y="184023"/>
                  </a:lnTo>
                  <a:lnTo>
                    <a:pt x="632078" y="56007"/>
                  </a:lnTo>
                  <a:lnTo>
                    <a:pt x="560070" y="0"/>
                  </a:lnTo>
                  <a:lnTo>
                    <a:pt x="416051" y="24003"/>
                  </a:lnTo>
                  <a:lnTo>
                    <a:pt x="344042" y="88011"/>
                  </a:lnTo>
                  <a:close/>
                </a:path>
              </a:pathLst>
            </a:custGeom>
            <a:noFill/>
            <a:ln w="56007">
              <a:solidFill>
                <a:srgbClr val="FFFFFF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cxnSp>
          <p:nvCxnSpPr>
            <p:cNvPr id="25" name="rtag-icon-p3"/>
            <p:cNvCxnSpPr/>
            <p:nvPr/>
          </p:nvCxnSpPr>
          <p:spPr>
            <a:xfrm>
              <a:off x="24874918" y="8530971"/>
              <a:ext cx="136018" cy="80010"/>
            </a:xfrm>
            <a:prstGeom prst="line">
              <a:avLst/>
            </a:prstGeom>
            <a:ln w="56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tag-text"/>
            <p:cNvSpPr txBox="1"/>
            <p:nvPr/>
          </p:nvSpPr>
          <p:spPr>
            <a:xfrm>
              <a:off x="24561165" y="9015412"/>
              <a:ext cx="580072" cy="2076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保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障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支</a:t>
              </a:r>
            </a:p>
            <a:p>
              <a:pPr algn="ctr">
                <a:lnSpc>
                  <a:spcPts val="4087"/>
                </a:lnSpc>
              </a:pPr>
              <a:r>
                <a:rPr sz="31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持</a:t>
              </a:r>
            </a:p>
          </p:txBody>
        </p:sp>
      </p:grpSp>
      <p:grpSp>
        <p:nvGrpSpPr>
          <p:cNvPr id="229" name="palette"/>
          <p:cNvGrpSpPr/>
          <p:nvPr/>
        </p:nvGrpSpPr>
        <p:grpSpPr>
          <a:xfrm>
            <a:off x="26142315" y="10565130"/>
            <a:ext cx="2899410" cy="5303520"/>
            <a:chOff x="26142315" y="10565130"/>
            <a:chExt cx="2899410" cy="5303520"/>
          </a:xfrm>
        </p:grpSpPr>
        <p:sp>
          <p:nvSpPr>
            <p:cNvPr id="27" name="pal-label"/>
            <p:cNvSpPr txBox="1"/>
            <p:nvPr/>
          </p:nvSpPr>
          <p:spPr>
            <a:xfrm>
              <a:off x="26142315" y="10565130"/>
              <a:ext cx="580072" cy="208788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4109"/>
                </a:lnSpc>
              </a:pPr>
              <a:r>
                <a:rPr sz="3150" b="1" i="0">
                  <a:solidFill>
                    <a:srgbClr val="B59445"/>
                  </a:solidFill>
                  <a:latin typeface="Microsoft YaHei"/>
                  <a:ea typeface="Microsoft YaHei"/>
                  <a:cs typeface="Microsoft YaHei"/>
                </a:rPr>
                <a:t>配</a:t>
              </a:r>
            </a:p>
            <a:p>
              <a:pPr algn="ctr">
                <a:lnSpc>
                  <a:spcPts val="4109"/>
                </a:lnSpc>
              </a:pPr>
              <a:r>
                <a:rPr sz="3150" b="1" i="0">
                  <a:solidFill>
                    <a:srgbClr val="B59445"/>
                  </a:solidFill>
                  <a:latin typeface="Microsoft YaHei"/>
                  <a:ea typeface="Microsoft YaHei"/>
                  <a:cs typeface="Microsoft YaHei"/>
                </a:rPr>
                <a:t>色</a:t>
              </a:r>
            </a:p>
            <a:p>
              <a:pPr algn="ctr">
                <a:lnSpc>
                  <a:spcPts val="4109"/>
                </a:lnSpc>
              </a:pPr>
              <a:r>
                <a:rPr sz="3150" b="1" i="0">
                  <a:solidFill>
                    <a:srgbClr val="B59445"/>
                  </a:solidFill>
                  <a:latin typeface="Microsoft YaHei"/>
                  <a:ea typeface="Microsoft YaHei"/>
                  <a:cs typeface="Microsoft YaHei"/>
                </a:rPr>
                <a:t>色</a:t>
              </a:r>
            </a:p>
            <a:p>
              <a:pPr algn="ctr">
                <a:lnSpc>
                  <a:spcPts val="4109"/>
                </a:lnSpc>
              </a:pPr>
              <a:r>
                <a:rPr sz="3150" b="1" i="0">
                  <a:solidFill>
                    <a:srgbClr val="B59445"/>
                  </a:solidFill>
                  <a:latin typeface="Microsoft YaHei"/>
                  <a:ea typeface="Microsoft YaHei"/>
                  <a:cs typeface="Microsoft YaHei"/>
                </a:rPr>
                <a:t>卡</a:t>
              </a:r>
            </a:p>
          </p:txBody>
        </p:sp>
        <p:sp>
          <p:nvSpPr>
            <p:cNvPr id="28" name="pal-r1c1"/>
            <p:cNvSpPr/>
            <p:nvPr/>
          </p:nvSpPr>
          <p:spPr>
            <a:xfrm>
              <a:off x="26965275" y="10601325"/>
              <a:ext cx="523875" cy="523875"/>
            </a:xfrm>
            <a:prstGeom prst="ellipse">
              <a:avLst/>
            </a:prstGeom>
            <a:solidFill>
              <a:srgbClr val="FF7E79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29" name="pal-r1c2"/>
            <p:cNvSpPr/>
            <p:nvPr/>
          </p:nvSpPr>
          <p:spPr>
            <a:xfrm>
              <a:off x="27741562" y="10601325"/>
              <a:ext cx="523875" cy="523875"/>
            </a:xfrm>
            <a:prstGeom prst="ellipse">
              <a:avLst/>
            </a:prstGeom>
            <a:solidFill>
              <a:srgbClr val="FECC53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0" name="pal-r1c3"/>
            <p:cNvSpPr/>
            <p:nvPr/>
          </p:nvSpPr>
          <p:spPr>
            <a:xfrm>
              <a:off x="28517850" y="10601325"/>
              <a:ext cx="523875" cy="523875"/>
            </a:xfrm>
            <a:prstGeom prst="ellipse">
              <a:avLst/>
            </a:prstGeom>
            <a:solidFill>
              <a:srgbClr val="8DC0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1" name="pal-r2c1"/>
            <p:cNvSpPr/>
            <p:nvPr/>
          </p:nvSpPr>
          <p:spPr>
            <a:xfrm>
              <a:off x="26965275" y="11391900"/>
              <a:ext cx="523875" cy="523875"/>
            </a:xfrm>
            <a:prstGeom prst="ellipse">
              <a:avLst/>
            </a:prstGeom>
            <a:solidFill>
              <a:srgbClr val="FFEDED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2" name="pal-r2c2"/>
            <p:cNvSpPr/>
            <p:nvPr/>
          </p:nvSpPr>
          <p:spPr>
            <a:xfrm>
              <a:off x="27741562" y="11391900"/>
              <a:ext cx="523875" cy="523875"/>
            </a:xfrm>
            <a:prstGeom prst="ellipse">
              <a:avLst/>
            </a:prstGeom>
            <a:solidFill>
              <a:srgbClr val="FFF5E9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3" name="pal-r2c3"/>
            <p:cNvSpPr/>
            <p:nvPr/>
          </p:nvSpPr>
          <p:spPr>
            <a:xfrm>
              <a:off x="28517850" y="11391900"/>
              <a:ext cx="523875" cy="523875"/>
            </a:xfrm>
            <a:prstGeom prst="ellipse">
              <a:avLst/>
            </a:prstGeom>
            <a:solidFill>
              <a:srgbClr val="EDF3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4" name="pal-r3c1"/>
            <p:cNvSpPr/>
            <p:nvPr/>
          </p:nvSpPr>
          <p:spPr>
            <a:xfrm>
              <a:off x="26965275" y="12182475"/>
              <a:ext cx="523875" cy="523875"/>
            </a:xfrm>
            <a:prstGeom prst="ellipse">
              <a:avLst/>
            </a:prstGeom>
            <a:solidFill>
              <a:srgbClr val="FFD8D8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5" name="pal-r3c2"/>
            <p:cNvSpPr/>
            <p:nvPr/>
          </p:nvSpPr>
          <p:spPr>
            <a:xfrm>
              <a:off x="27741562" y="12182475"/>
              <a:ext cx="523875" cy="523875"/>
            </a:xfrm>
            <a:prstGeom prst="ellipse">
              <a:avLst/>
            </a:prstGeom>
            <a:solidFill>
              <a:srgbClr val="FFECD1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6" name="pal-r3c3"/>
            <p:cNvSpPr/>
            <p:nvPr/>
          </p:nvSpPr>
          <p:spPr>
            <a:xfrm>
              <a:off x="28517850" y="12182475"/>
              <a:ext cx="523875" cy="523875"/>
            </a:xfrm>
            <a:prstGeom prst="ellipse">
              <a:avLst/>
            </a:prstGeom>
            <a:solidFill>
              <a:srgbClr val="DCE8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7" name="pal-r4c1"/>
            <p:cNvSpPr/>
            <p:nvPr/>
          </p:nvSpPr>
          <p:spPr>
            <a:xfrm>
              <a:off x="26965275" y="12977812"/>
              <a:ext cx="523875" cy="523875"/>
            </a:xfrm>
            <a:prstGeom prst="ellipse">
              <a:avLst/>
            </a:prstGeom>
            <a:solidFill>
              <a:srgbClr val="FFC0B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8" name="pal-r4c2"/>
            <p:cNvSpPr/>
            <p:nvPr/>
          </p:nvSpPr>
          <p:spPr>
            <a:xfrm>
              <a:off x="27741562" y="12977812"/>
              <a:ext cx="523875" cy="523875"/>
            </a:xfrm>
            <a:prstGeom prst="ellipse">
              <a:avLst/>
            </a:prstGeom>
            <a:solidFill>
              <a:srgbClr val="FEE2B3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39" name="pal-r4c3"/>
            <p:cNvSpPr/>
            <p:nvPr/>
          </p:nvSpPr>
          <p:spPr>
            <a:xfrm>
              <a:off x="28517850" y="12977812"/>
              <a:ext cx="523875" cy="523875"/>
            </a:xfrm>
            <a:prstGeom prst="ellipse">
              <a:avLst/>
            </a:prstGeom>
            <a:solidFill>
              <a:srgbClr val="C5DCF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0" name="pal-r5c1"/>
            <p:cNvSpPr/>
            <p:nvPr/>
          </p:nvSpPr>
          <p:spPr>
            <a:xfrm>
              <a:off x="26965275" y="13763625"/>
              <a:ext cx="523875" cy="523875"/>
            </a:xfrm>
            <a:prstGeom prst="ellipse">
              <a:avLst/>
            </a:prstGeom>
            <a:solidFill>
              <a:srgbClr val="FEA3A0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1" name="pal-r5c2"/>
            <p:cNvSpPr/>
            <p:nvPr/>
          </p:nvSpPr>
          <p:spPr>
            <a:xfrm>
              <a:off x="27741562" y="13763625"/>
              <a:ext cx="523875" cy="523875"/>
            </a:xfrm>
            <a:prstGeom prst="ellipse">
              <a:avLst/>
            </a:prstGeom>
            <a:solidFill>
              <a:srgbClr val="FFD78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2" name="pal-r5c3"/>
            <p:cNvSpPr/>
            <p:nvPr/>
          </p:nvSpPr>
          <p:spPr>
            <a:xfrm>
              <a:off x="28517850" y="13763625"/>
              <a:ext cx="523875" cy="523875"/>
            </a:xfrm>
            <a:prstGeom prst="ellipse">
              <a:avLst/>
            </a:prstGeom>
            <a:solidFill>
              <a:srgbClr val="ADCFFF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3" name="pal-r6c1"/>
            <p:cNvSpPr/>
            <p:nvPr/>
          </p:nvSpPr>
          <p:spPr>
            <a:xfrm>
              <a:off x="26965275" y="14549438"/>
              <a:ext cx="523875" cy="523875"/>
            </a:xfrm>
            <a:prstGeom prst="ellipse">
              <a:avLst/>
            </a:prstGeom>
            <a:solidFill>
              <a:srgbClr val="E16E6B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4" name="pal-r6c2"/>
            <p:cNvSpPr/>
            <p:nvPr/>
          </p:nvSpPr>
          <p:spPr>
            <a:xfrm>
              <a:off x="27741562" y="14549438"/>
              <a:ext cx="523875" cy="523875"/>
            </a:xfrm>
            <a:prstGeom prst="ellipse">
              <a:avLst/>
            </a:prstGeom>
            <a:solidFill>
              <a:srgbClr val="E2B349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5" name="pal-r6c3"/>
            <p:cNvSpPr/>
            <p:nvPr/>
          </p:nvSpPr>
          <p:spPr>
            <a:xfrm>
              <a:off x="28517850" y="14549438"/>
              <a:ext cx="523875" cy="523875"/>
            </a:xfrm>
            <a:prstGeom prst="ellipse">
              <a:avLst/>
            </a:prstGeom>
            <a:solidFill>
              <a:srgbClr val="7BAAE2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6" name="pal-r7c1"/>
            <p:cNvSpPr/>
            <p:nvPr/>
          </p:nvSpPr>
          <p:spPr>
            <a:xfrm>
              <a:off x="26965275" y="15344775"/>
              <a:ext cx="523875" cy="523875"/>
            </a:xfrm>
            <a:prstGeom prst="ellipse">
              <a:avLst/>
            </a:prstGeom>
            <a:solidFill>
              <a:srgbClr val="BD5B58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7" name="pal-r7c2"/>
            <p:cNvSpPr/>
            <p:nvPr/>
          </p:nvSpPr>
          <p:spPr>
            <a:xfrm>
              <a:off x="27741562" y="15344775"/>
              <a:ext cx="523875" cy="523875"/>
            </a:xfrm>
            <a:prstGeom prst="ellipse">
              <a:avLst/>
            </a:prstGeom>
            <a:solidFill>
              <a:srgbClr val="BC953A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48" name="pal-r7c3"/>
            <p:cNvSpPr/>
            <p:nvPr/>
          </p:nvSpPr>
          <p:spPr>
            <a:xfrm>
              <a:off x="28517850" y="15344775"/>
              <a:ext cx="523875" cy="523875"/>
            </a:xfrm>
            <a:prstGeom prst="ellipse">
              <a:avLst/>
            </a:prstGeom>
            <a:solidFill>
              <a:srgbClr val="668CBB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</p:grpSp>
      <p:sp>
        <p:nvSpPr>
          <p:cNvPr id="49" name="arrow-to-center"/>
          <p:cNvSpPr/>
          <p:nvPr/>
        </p:nvSpPr>
        <p:spPr>
          <a:xfrm>
            <a:off x="4124325" y="8848725"/>
            <a:ext cx="685800" cy="1076325"/>
          </a:xfrm>
          <a:custGeom>
            <a:avLst/>
            <a:gdLst/>
            <a:ahLst/>
            <a:cxnLst/>
            <a:rect l="l" t="t" r="r" b="b"/>
            <a:pathLst>
              <a:path w="685800" h="1076325">
                <a:moveTo>
                  <a:pt x="0" y="114300"/>
                </a:moveTo>
                <a:lnTo>
                  <a:pt x="419100" y="114300"/>
                </a:lnTo>
                <a:lnTo>
                  <a:pt x="419100" y="0"/>
                </a:lnTo>
                <a:lnTo>
                  <a:pt x="685800" y="542925"/>
                </a:lnTo>
                <a:lnTo>
                  <a:pt x="419100" y="1076325"/>
                </a:lnTo>
                <a:lnTo>
                  <a:pt x="419100" y="876300"/>
                </a:lnTo>
                <a:lnTo>
                  <a:pt x="0" y="876300"/>
                </a:lnTo>
                <a:close/>
              </a:path>
            </a:pathLst>
          </a:custGeom>
          <a:solidFill>
            <a:srgbClr val="FFC8C6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sp>
        <p:nvSpPr>
          <p:cNvPr id="50" name="arrow-to-center-r"/>
          <p:cNvSpPr/>
          <p:nvPr/>
        </p:nvSpPr>
        <p:spPr>
          <a:xfrm>
            <a:off x="22107525" y="8848725"/>
            <a:ext cx="685800" cy="1076325"/>
          </a:xfrm>
          <a:custGeom>
            <a:avLst/>
            <a:gdLst/>
            <a:ahLst/>
            <a:cxnLst/>
            <a:rect l="l" t="t" r="r" b="b"/>
            <a:pathLst>
              <a:path w="685800" h="1076325">
                <a:moveTo>
                  <a:pt x="685800" y="114300"/>
                </a:moveTo>
                <a:lnTo>
                  <a:pt x="266700" y="114300"/>
                </a:lnTo>
                <a:lnTo>
                  <a:pt x="266700" y="0"/>
                </a:lnTo>
                <a:lnTo>
                  <a:pt x="0" y="542925"/>
                </a:lnTo>
                <a:lnTo>
                  <a:pt x="266700" y="1076325"/>
                </a:lnTo>
                <a:lnTo>
                  <a:pt x="266700" y="876300"/>
                </a:lnTo>
                <a:lnTo>
                  <a:pt x="685800" y="876300"/>
                </a:lnTo>
                <a:close/>
              </a:path>
            </a:pathLst>
          </a:custGeom>
          <a:solidFill>
            <a:srgbClr val="FFC8C6"/>
          </a:solidFill>
          <a:ln>
            <a:noFill/>
          </a:ln>
          <a:effectLst/>
        </p:spPr>
        <p:txBody>
          <a:bodyPr rtlCol="0" anchor="ctr" wrap="none">
            <a:noAutofit/>
          </a:bodyPr>
          <a:lstStyle/>
          <a:p>
            <a:pPr algn="ctr"/>
          </a:p>
        </p:txBody>
      </p:sp>
      <p:grpSp>
        <p:nvGrpSpPr>
          <p:cNvPr id="222" name="band-1"/>
          <p:cNvGrpSpPr/>
          <p:nvPr/>
        </p:nvGrpSpPr>
        <p:grpSpPr>
          <a:xfrm>
            <a:off x="4962525" y="2962275"/>
            <a:ext cx="16925925" cy="2390775"/>
            <a:chOff x="4962525" y="2962275"/>
            <a:chExt cx="16925925" cy="2390775"/>
          </a:xfrm>
        </p:grpSpPr>
        <p:sp>
          <p:nvSpPr>
            <p:cNvPr id="51" name="band1-bg"/>
            <p:cNvSpPr/>
            <p:nvPr/>
          </p:nvSpPr>
          <p:spPr>
            <a:xfrm>
              <a:off x="4962525" y="2962275"/>
              <a:ext cx="16925925" cy="2066925"/>
            </a:xfrm>
            <a:prstGeom prst="roundRect">
              <a:avLst>
                <a:gd name="adj" fmla="val 10138"/>
              </a:avLst>
            </a:prstGeom>
            <a:solidFill>
              <a:srgbClr val="FFEDED"/>
            </a:solidFill>
            <a:ln w="23812">
              <a:solidFill>
                <a:srgbClr val="B45F5C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grpSp>
          <p:nvGrpSpPr>
            <p:cNvPr id="215" name="tag1"/>
            <p:cNvGrpSpPr/>
            <p:nvPr/>
          </p:nvGrpSpPr>
          <p:grpSpPr>
            <a:xfrm>
              <a:off x="4962525" y="2962275"/>
              <a:ext cx="2105025" cy="2066925"/>
              <a:chOff x="4962525" y="2962275"/>
              <a:chExt cx="2105025" cy="2066925"/>
            </a:xfrm>
          </p:grpSpPr>
          <p:sp>
            <p:nvSpPr>
              <p:cNvPr id="52" name="tag1-bg"/>
              <p:cNvSpPr/>
              <p:nvPr/>
            </p:nvSpPr>
            <p:spPr>
              <a:xfrm>
                <a:off x="4962525" y="2962275"/>
                <a:ext cx="2105025" cy="2066925"/>
              </a:xfrm>
              <a:prstGeom prst="roundRect">
                <a:avLst>
                  <a:gd name="adj" fmla="val 10138"/>
                </a:avLst>
              </a:prstGeom>
              <a:solidFill>
                <a:srgbClr val="BD5B58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53" name="tag1-icon-p1"/>
              <p:cNvSpPr/>
              <p:nvPr/>
            </p:nvSpPr>
            <p:spPr>
              <a:xfrm>
                <a:off x="5719572" y="3274504"/>
                <a:ext cx="543306" cy="718566"/>
              </a:xfrm>
              <a:prstGeom prst="roundRect">
                <a:avLst>
                  <a:gd name="adj" fmla="val 9677"/>
                </a:avLst>
              </a:prstGeom>
              <a:noFill/>
              <a:ln w="61341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54" name="tag1-icon-p2"/>
              <p:cNvSpPr/>
              <p:nvPr/>
            </p:nvSpPr>
            <p:spPr>
              <a:xfrm>
                <a:off x="5833491" y="3362134"/>
                <a:ext cx="306705" cy="201550"/>
              </a:xfrm>
              <a:custGeom>
                <a:avLst/>
                <a:gdLst/>
                <a:ahLst/>
                <a:cxnLst/>
                <a:rect l="l" t="t" r="r" b="b"/>
                <a:pathLst>
                  <a:path w="306705" h="201550">
                    <a:moveTo>
                      <a:pt x="0" y="201550"/>
                    </a:moveTo>
                    <a:lnTo>
                      <a:pt x="105156" y="70104"/>
                    </a:lnTo>
                    <a:lnTo>
                      <a:pt x="192786" y="148972"/>
                    </a:lnTo>
                    <a:lnTo>
                      <a:pt x="306705" y="0"/>
                    </a:lnTo>
                  </a:path>
                </a:pathLst>
              </a:custGeom>
              <a:noFill/>
              <a:ln w="61341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55" name="tag1-icon-p3"/>
              <p:cNvCxnSpPr/>
              <p:nvPr/>
            </p:nvCxnSpPr>
            <p:spPr>
              <a:xfrm>
                <a:off x="5833491" y="3747706"/>
                <a:ext cx="201549" cy="0"/>
              </a:xfrm>
              <a:prstGeom prst="line">
                <a:avLst/>
              </a:prstGeom>
              <a:ln w="61341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tag1-icon-p4"/>
              <p:cNvCxnSpPr/>
              <p:nvPr/>
            </p:nvCxnSpPr>
            <p:spPr>
              <a:xfrm>
                <a:off x="5833491" y="3879152"/>
                <a:ext cx="201549" cy="0"/>
              </a:xfrm>
              <a:prstGeom prst="line">
                <a:avLst/>
              </a:prstGeom>
              <a:ln w="61341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ag1-icon-p5"/>
              <p:cNvSpPr/>
              <p:nvPr/>
            </p:nvSpPr>
            <p:spPr>
              <a:xfrm>
                <a:off x="5973699" y="3695128"/>
                <a:ext cx="297942" cy="297942"/>
              </a:xfrm>
              <a:prstGeom prst="ellipse">
                <a:avLst/>
              </a:prstGeom>
              <a:noFill/>
              <a:ln w="61341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58" name="tag1-icon-p6"/>
              <p:cNvCxnSpPr/>
              <p:nvPr/>
            </p:nvCxnSpPr>
            <p:spPr>
              <a:xfrm>
                <a:off x="6236589" y="3958018"/>
                <a:ext cx="131445" cy="131446"/>
              </a:xfrm>
              <a:prstGeom prst="line">
                <a:avLst/>
              </a:prstGeom>
              <a:ln w="61341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ag1-t1"/>
              <p:cNvSpPr txBox="1"/>
              <p:nvPr/>
            </p:nvSpPr>
            <p:spPr>
              <a:xfrm>
                <a:off x="5183505" y="4114800"/>
                <a:ext cx="161544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需求分析</a:t>
                </a:r>
              </a:p>
            </p:txBody>
          </p:sp>
        </p:grpSp>
        <p:grpSp>
          <p:nvGrpSpPr>
            <p:cNvPr id="221" name="card1-1"/>
            <p:cNvGrpSpPr/>
            <p:nvPr/>
          </p:nvGrpSpPr>
          <p:grpSpPr>
            <a:xfrm>
              <a:off x="7410450" y="3181350"/>
              <a:ext cx="3286125" cy="1638300"/>
              <a:chOff x="7410450" y="3181350"/>
              <a:chExt cx="3286125" cy="1638300"/>
            </a:xfrm>
          </p:grpSpPr>
          <p:sp>
            <p:nvSpPr>
              <p:cNvPr id="60" name="card1-1-bg"/>
              <p:cNvSpPr/>
              <p:nvPr/>
            </p:nvSpPr>
            <p:spPr>
              <a:xfrm>
                <a:off x="7410450" y="31813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F6C4C3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61" name="card1-1-title"/>
              <p:cNvSpPr txBox="1"/>
              <p:nvPr/>
            </p:nvSpPr>
            <p:spPr>
              <a:xfrm>
                <a:off x="8054340" y="3348990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D5B58"/>
                    </a:solidFill>
                    <a:latin typeface="Microsoft YaHei"/>
                    <a:ea typeface="Microsoft YaHei"/>
                    <a:cs typeface="Microsoft YaHei"/>
                  </a:rPr>
                  <a:t>科研流程梳理</a:t>
                </a:r>
              </a:p>
            </p:txBody>
          </p:sp>
          <p:sp>
            <p:nvSpPr>
              <p:cNvPr id="62" name="card1-1-sub"/>
              <p:cNvSpPr txBox="1"/>
              <p:nvPr/>
            </p:nvSpPr>
            <p:spPr>
              <a:xfrm>
                <a:off x="7780972" y="4115752"/>
                <a:ext cx="2544128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识别关键环节与痛点</a:t>
                </a:r>
              </a:p>
            </p:txBody>
          </p:sp>
        </p:grpSp>
        <p:grpSp>
          <p:nvGrpSpPr>
            <p:cNvPr id="216" name="card1-2"/>
            <p:cNvGrpSpPr/>
            <p:nvPr/>
          </p:nvGrpSpPr>
          <p:grpSpPr>
            <a:xfrm>
              <a:off x="11029950" y="3181350"/>
              <a:ext cx="3286125" cy="1638300"/>
              <a:chOff x="11029950" y="3181350"/>
              <a:chExt cx="3286125" cy="1638300"/>
            </a:xfrm>
          </p:grpSpPr>
          <p:sp>
            <p:nvSpPr>
              <p:cNvPr id="63" name="card1-2-bg"/>
              <p:cNvSpPr/>
              <p:nvPr/>
            </p:nvSpPr>
            <p:spPr>
              <a:xfrm>
                <a:off x="11029950" y="31813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F6C4C3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64" name="card1-2-title"/>
              <p:cNvSpPr txBox="1"/>
              <p:nvPr/>
            </p:nvSpPr>
            <p:spPr>
              <a:xfrm>
                <a:off x="11673840" y="3348990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D5B58"/>
                    </a:solidFill>
                    <a:latin typeface="Microsoft YaHei"/>
                    <a:ea typeface="Microsoft YaHei"/>
                    <a:cs typeface="Microsoft YaHei"/>
                  </a:rPr>
                  <a:t>用户需求调研</a:t>
                </a:r>
              </a:p>
            </p:txBody>
          </p:sp>
          <p:sp>
            <p:nvSpPr>
              <p:cNvPr id="65" name="card1-2-sub"/>
              <p:cNvSpPr txBox="1"/>
              <p:nvPr/>
            </p:nvSpPr>
            <p:spPr>
              <a:xfrm>
                <a:off x="11118532" y="4115752"/>
                <a:ext cx="3109912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科研人员场景与功能需求</a:t>
                </a:r>
              </a:p>
            </p:txBody>
          </p:sp>
        </p:grpSp>
        <p:grpSp>
          <p:nvGrpSpPr>
            <p:cNvPr id="206" name="card1-3"/>
            <p:cNvGrpSpPr/>
            <p:nvPr/>
          </p:nvGrpSpPr>
          <p:grpSpPr>
            <a:xfrm>
              <a:off x="14639925" y="3181350"/>
              <a:ext cx="3286125" cy="1638300"/>
              <a:chOff x="14639925" y="3181350"/>
              <a:chExt cx="3286125" cy="1638300"/>
            </a:xfrm>
          </p:grpSpPr>
          <p:sp>
            <p:nvSpPr>
              <p:cNvPr id="66" name="card1-3-bg"/>
              <p:cNvSpPr/>
              <p:nvPr/>
            </p:nvSpPr>
            <p:spPr>
              <a:xfrm>
                <a:off x="14639925" y="31813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F6C4C3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67" name="card1-3-title"/>
              <p:cNvSpPr txBox="1"/>
              <p:nvPr/>
            </p:nvSpPr>
            <p:spPr>
              <a:xfrm>
                <a:off x="15283815" y="3348990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D5B58"/>
                    </a:solidFill>
                    <a:latin typeface="Microsoft YaHei"/>
                    <a:ea typeface="Microsoft YaHei"/>
                    <a:cs typeface="Microsoft YaHei"/>
                  </a:rPr>
                  <a:t>功能需求定义</a:t>
                </a:r>
              </a:p>
            </p:txBody>
          </p:sp>
          <p:sp>
            <p:nvSpPr>
              <p:cNvPr id="68" name="card1-3-sub"/>
              <p:cNvSpPr txBox="1"/>
              <p:nvPr/>
            </p:nvSpPr>
            <p:spPr>
              <a:xfrm>
                <a:off x="15010448" y="4115752"/>
                <a:ext cx="2544128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核心功能与性能指标</a:t>
                </a:r>
              </a:p>
            </p:txBody>
          </p:sp>
        </p:grpSp>
        <p:grpSp>
          <p:nvGrpSpPr>
            <p:cNvPr id="210" name="card1-4"/>
            <p:cNvGrpSpPr/>
            <p:nvPr/>
          </p:nvGrpSpPr>
          <p:grpSpPr>
            <a:xfrm>
              <a:off x="18259425" y="3181350"/>
              <a:ext cx="3286125" cy="1638300"/>
              <a:chOff x="18259425" y="3181350"/>
              <a:chExt cx="3286125" cy="1638300"/>
            </a:xfrm>
          </p:grpSpPr>
          <p:sp>
            <p:nvSpPr>
              <p:cNvPr id="69" name="card1-4-bg"/>
              <p:cNvSpPr/>
              <p:nvPr/>
            </p:nvSpPr>
            <p:spPr>
              <a:xfrm>
                <a:off x="18259425" y="31813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F6C4C3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70" name="card1-4-title"/>
              <p:cNvSpPr txBox="1"/>
              <p:nvPr/>
            </p:nvSpPr>
            <p:spPr>
              <a:xfrm>
                <a:off x="18903315" y="3348990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D5B58"/>
                    </a:solidFill>
                    <a:latin typeface="Microsoft YaHei"/>
                    <a:ea typeface="Microsoft YaHei"/>
                    <a:cs typeface="Microsoft YaHei"/>
                  </a:rPr>
                  <a:t>数据需求分析</a:t>
                </a:r>
              </a:p>
            </p:txBody>
          </p:sp>
          <p:sp>
            <p:nvSpPr>
              <p:cNvPr id="71" name="card1-4-sub"/>
              <p:cNvSpPr txBox="1"/>
              <p:nvPr/>
            </p:nvSpPr>
            <p:spPr>
              <a:xfrm>
                <a:off x="18629948" y="4115752"/>
                <a:ext cx="2544128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学术数据来源与规范</a:t>
                </a:r>
              </a:p>
            </p:txBody>
          </p:sp>
        </p:grpSp>
        <p:sp>
          <p:nvSpPr>
            <p:cNvPr id="72" name="down-arrow1"/>
            <p:cNvSpPr/>
            <p:nvPr/>
          </p:nvSpPr>
          <p:spPr>
            <a:xfrm>
              <a:off x="14239875" y="5029200"/>
              <a:ext cx="438150" cy="323850"/>
            </a:xfrm>
            <a:custGeom>
              <a:avLst/>
              <a:gdLst/>
              <a:ahLst/>
              <a:cxnLst/>
              <a:rect l="l" t="t" r="r" b="b"/>
              <a:pathLst>
                <a:path w="438150" h="323850">
                  <a:moveTo>
                    <a:pt x="123825" y="0"/>
                  </a:moveTo>
                  <a:lnTo>
                    <a:pt x="314325" y="0"/>
                  </a:lnTo>
                  <a:lnTo>
                    <a:pt x="314325" y="190500"/>
                  </a:lnTo>
                  <a:lnTo>
                    <a:pt x="438150" y="190500"/>
                  </a:lnTo>
                  <a:lnTo>
                    <a:pt x="219075" y="323850"/>
                  </a:lnTo>
                  <a:lnTo>
                    <a:pt x="0" y="190500"/>
                  </a:lnTo>
                  <a:lnTo>
                    <a:pt x="123825" y="190500"/>
                  </a:lnTo>
                  <a:close/>
                </a:path>
              </a:pathLst>
            </a:custGeom>
            <a:solidFill>
              <a:srgbClr val="E16D6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</p:grpSp>
      <p:grpSp>
        <p:nvGrpSpPr>
          <p:cNvPr id="226" name="band-2"/>
          <p:cNvGrpSpPr/>
          <p:nvPr/>
        </p:nvGrpSpPr>
        <p:grpSpPr>
          <a:xfrm>
            <a:off x="4962525" y="5391150"/>
            <a:ext cx="16925925" cy="3562350"/>
            <a:chOff x="4962525" y="5391150"/>
            <a:chExt cx="16925925" cy="3562350"/>
          </a:xfrm>
        </p:grpSpPr>
        <p:sp>
          <p:nvSpPr>
            <p:cNvPr id="73" name="band2-bg"/>
            <p:cNvSpPr/>
            <p:nvPr/>
          </p:nvSpPr>
          <p:spPr>
            <a:xfrm>
              <a:off x="4962525" y="5391150"/>
              <a:ext cx="16925925" cy="3228975"/>
            </a:xfrm>
            <a:prstGeom prst="roundRect">
              <a:avLst>
                <a:gd name="adj" fmla="val 6489"/>
              </a:avLst>
            </a:prstGeom>
            <a:solidFill>
              <a:srgbClr val="FFF6E0"/>
            </a:solidFill>
            <a:ln w="23812">
              <a:solidFill>
                <a:srgbClr val="BA9441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grpSp>
          <p:nvGrpSpPr>
            <p:cNvPr id="217" name="tag2"/>
            <p:cNvGrpSpPr/>
            <p:nvPr/>
          </p:nvGrpSpPr>
          <p:grpSpPr>
            <a:xfrm>
              <a:off x="4962525" y="5391150"/>
              <a:ext cx="2105025" cy="3228975"/>
              <a:chOff x="4962525" y="5391150"/>
              <a:chExt cx="2105025" cy="3228975"/>
            </a:xfrm>
          </p:grpSpPr>
          <p:sp>
            <p:nvSpPr>
              <p:cNvPr id="74" name="tag2-bg"/>
              <p:cNvSpPr/>
              <p:nvPr/>
            </p:nvSpPr>
            <p:spPr>
              <a:xfrm>
                <a:off x="4962525" y="5391150"/>
                <a:ext cx="2105025" cy="3228975"/>
              </a:xfrm>
              <a:prstGeom prst="roundRect">
                <a:avLst>
                  <a:gd name="adj" fmla="val 9954"/>
                </a:avLst>
              </a:prstGeom>
              <a:solidFill>
                <a:srgbClr val="BC953A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75" name="tag2-icon-p1"/>
              <p:cNvSpPr/>
              <p:nvPr/>
            </p:nvSpPr>
            <p:spPr>
              <a:xfrm>
                <a:off x="5874639" y="5881878"/>
                <a:ext cx="233172" cy="155448"/>
              </a:xfrm>
              <a:prstGeom prst="roundRect">
                <a:avLst>
                  <a:gd name="adj" fmla="val 18750"/>
                </a:avLst>
              </a:prstGeom>
              <a:noFill/>
              <a:ln w="68008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76" name="tag2-icon-p2"/>
              <p:cNvCxnSpPr/>
              <p:nvPr/>
            </p:nvCxnSpPr>
            <p:spPr>
              <a:xfrm>
                <a:off x="5991225" y="6037326"/>
                <a:ext cx="0" cy="369189"/>
              </a:xfrm>
              <a:prstGeom prst="line">
                <a:avLst/>
              </a:prstGeom>
              <a:ln w="6800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tag2-icon-p3"/>
              <p:cNvCxnSpPr/>
              <p:nvPr/>
            </p:nvCxnSpPr>
            <p:spPr>
              <a:xfrm>
                <a:off x="5670614" y="6406515"/>
                <a:ext cx="641222" cy="0"/>
              </a:xfrm>
              <a:prstGeom prst="line">
                <a:avLst/>
              </a:prstGeom>
              <a:ln w="6800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tag2-icon-p4"/>
              <p:cNvCxnSpPr/>
              <p:nvPr/>
            </p:nvCxnSpPr>
            <p:spPr>
              <a:xfrm>
                <a:off x="5670614" y="6406515"/>
                <a:ext cx="0" cy="145733"/>
              </a:xfrm>
              <a:prstGeom prst="line">
                <a:avLst/>
              </a:prstGeom>
              <a:ln w="6800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tag2-icon-p5"/>
              <p:cNvCxnSpPr/>
              <p:nvPr/>
            </p:nvCxnSpPr>
            <p:spPr>
              <a:xfrm>
                <a:off x="5991225" y="6406515"/>
                <a:ext cx="0" cy="145733"/>
              </a:xfrm>
              <a:prstGeom prst="line">
                <a:avLst/>
              </a:prstGeom>
              <a:ln w="6800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tag2-icon-p6"/>
              <p:cNvCxnSpPr/>
              <p:nvPr/>
            </p:nvCxnSpPr>
            <p:spPr>
              <a:xfrm>
                <a:off x="6311836" y="6406515"/>
                <a:ext cx="0" cy="145733"/>
              </a:xfrm>
              <a:prstGeom prst="line">
                <a:avLst/>
              </a:prstGeom>
              <a:ln w="68008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ag2-icon-p7"/>
              <p:cNvSpPr/>
              <p:nvPr/>
            </p:nvSpPr>
            <p:spPr>
              <a:xfrm>
                <a:off x="5563743" y="6552248"/>
                <a:ext cx="213741" cy="155448"/>
              </a:xfrm>
              <a:prstGeom prst="roundRect">
                <a:avLst>
                  <a:gd name="adj" fmla="val 18750"/>
                </a:avLst>
              </a:prstGeom>
              <a:noFill/>
              <a:ln w="68008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82" name="tag2-icon-p8"/>
              <p:cNvSpPr/>
              <p:nvPr/>
            </p:nvSpPr>
            <p:spPr>
              <a:xfrm>
                <a:off x="5884354" y="6552248"/>
                <a:ext cx="213741" cy="155448"/>
              </a:xfrm>
              <a:prstGeom prst="roundRect">
                <a:avLst>
                  <a:gd name="adj" fmla="val 18750"/>
                </a:avLst>
              </a:prstGeom>
              <a:noFill/>
              <a:ln w="68008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83" name="tag2-icon-p9"/>
              <p:cNvSpPr/>
              <p:nvPr/>
            </p:nvSpPr>
            <p:spPr>
              <a:xfrm>
                <a:off x="6204966" y="6552248"/>
                <a:ext cx="213741" cy="155448"/>
              </a:xfrm>
              <a:prstGeom prst="roundRect">
                <a:avLst>
                  <a:gd name="adj" fmla="val 18750"/>
                </a:avLst>
              </a:prstGeom>
              <a:noFill/>
              <a:ln w="68008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84" name="tag2-t1"/>
              <p:cNvSpPr txBox="1"/>
              <p:nvPr/>
            </p:nvSpPr>
            <p:spPr>
              <a:xfrm>
                <a:off x="5183505" y="7058025"/>
                <a:ext cx="161544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核心系统</a:t>
                </a:r>
              </a:p>
            </p:txBody>
          </p:sp>
          <p:sp>
            <p:nvSpPr>
              <p:cNvPr id="85" name="tag2-t2"/>
              <p:cNvSpPr txBox="1"/>
              <p:nvPr/>
            </p:nvSpPr>
            <p:spPr>
              <a:xfrm>
                <a:off x="5587365" y="7581900"/>
                <a:ext cx="80772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架构</a:t>
                </a:r>
              </a:p>
            </p:txBody>
          </p:sp>
        </p:grpSp>
        <p:grpSp>
          <p:nvGrpSpPr>
            <p:cNvPr id="195" name="card2-1"/>
            <p:cNvGrpSpPr/>
            <p:nvPr/>
          </p:nvGrpSpPr>
          <p:grpSpPr>
            <a:xfrm>
              <a:off x="7419975" y="5629275"/>
              <a:ext cx="2447925" cy="1628775"/>
              <a:chOff x="7419975" y="5629275"/>
              <a:chExt cx="2447925" cy="1628775"/>
            </a:xfrm>
          </p:grpSpPr>
          <p:sp>
            <p:nvSpPr>
              <p:cNvPr id="86" name="card2-1-bg"/>
              <p:cNvSpPr/>
              <p:nvPr/>
            </p:nvSpPr>
            <p:spPr>
              <a:xfrm>
                <a:off x="7419975" y="5629275"/>
                <a:ext cx="2447925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87" name="card2-1-title"/>
              <p:cNvSpPr txBox="1"/>
              <p:nvPr/>
            </p:nvSpPr>
            <p:spPr>
              <a:xfrm>
                <a:off x="8143875" y="5796915"/>
                <a:ext cx="99917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感知层</a:t>
                </a:r>
              </a:p>
            </p:txBody>
          </p:sp>
          <p:sp>
            <p:nvSpPr>
              <p:cNvPr id="88" name="card2-1-sub"/>
              <p:cNvSpPr txBox="1"/>
              <p:nvPr/>
            </p:nvSpPr>
            <p:spPr>
              <a:xfrm>
                <a:off x="7513320" y="6415088"/>
                <a:ext cx="2261235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文献、科研数据、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用户行为采集</a:t>
                </a:r>
              </a:p>
            </p:txBody>
          </p:sp>
        </p:grpSp>
        <p:grpSp>
          <p:nvGrpSpPr>
            <p:cNvPr id="211" name="card2-2"/>
            <p:cNvGrpSpPr/>
            <p:nvPr/>
          </p:nvGrpSpPr>
          <p:grpSpPr>
            <a:xfrm>
              <a:off x="10325100" y="5629275"/>
              <a:ext cx="2447925" cy="1628775"/>
              <a:chOff x="10325100" y="5629275"/>
              <a:chExt cx="2447925" cy="1628775"/>
            </a:xfrm>
          </p:grpSpPr>
          <p:sp>
            <p:nvSpPr>
              <p:cNvPr id="89" name="card2-2-bg"/>
              <p:cNvSpPr/>
              <p:nvPr/>
            </p:nvSpPr>
            <p:spPr>
              <a:xfrm>
                <a:off x="10325100" y="5629275"/>
                <a:ext cx="2447925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90" name="card2-2-title"/>
              <p:cNvSpPr txBox="1"/>
              <p:nvPr/>
            </p:nvSpPr>
            <p:spPr>
              <a:xfrm>
                <a:off x="11049000" y="5796915"/>
                <a:ext cx="99917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理解层</a:t>
                </a:r>
              </a:p>
            </p:txBody>
          </p:sp>
          <p:sp>
            <p:nvSpPr>
              <p:cNvPr id="91" name="card2-2-sub"/>
              <p:cNvSpPr txBox="1"/>
              <p:nvPr/>
            </p:nvSpPr>
            <p:spPr>
              <a:xfrm>
                <a:off x="10701338" y="6415088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学术语义解析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与知识理解</a:t>
                </a:r>
              </a:p>
            </p:txBody>
          </p:sp>
        </p:grpSp>
        <p:grpSp>
          <p:nvGrpSpPr>
            <p:cNvPr id="199" name="card2-3"/>
            <p:cNvGrpSpPr/>
            <p:nvPr/>
          </p:nvGrpSpPr>
          <p:grpSpPr>
            <a:xfrm>
              <a:off x="13230225" y="5629275"/>
              <a:ext cx="2457450" cy="1628775"/>
              <a:chOff x="13230225" y="5629275"/>
              <a:chExt cx="2457450" cy="1628775"/>
            </a:xfrm>
          </p:grpSpPr>
          <p:sp>
            <p:nvSpPr>
              <p:cNvPr id="92" name="card2-3-bg"/>
              <p:cNvSpPr/>
              <p:nvPr/>
            </p:nvSpPr>
            <p:spPr>
              <a:xfrm>
                <a:off x="13230225" y="5629275"/>
                <a:ext cx="245745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93" name="card2-3-title"/>
              <p:cNvSpPr txBox="1"/>
              <p:nvPr/>
            </p:nvSpPr>
            <p:spPr>
              <a:xfrm>
                <a:off x="13958888" y="5796915"/>
                <a:ext cx="99917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决策层</a:t>
                </a:r>
              </a:p>
            </p:txBody>
          </p:sp>
          <p:sp>
            <p:nvSpPr>
              <p:cNvPr id="94" name="card2-3-sub"/>
              <p:cNvSpPr txBox="1"/>
              <p:nvPr/>
            </p:nvSpPr>
            <p:spPr>
              <a:xfrm>
                <a:off x="13611225" y="6415088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任务规划与研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究方案生成</a:t>
                </a:r>
              </a:p>
            </p:txBody>
          </p:sp>
        </p:grpSp>
        <p:grpSp>
          <p:nvGrpSpPr>
            <p:cNvPr id="203" name="card2-4"/>
            <p:cNvGrpSpPr/>
            <p:nvPr/>
          </p:nvGrpSpPr>
          <p:grpSpPr>
            <a:xfrm>
              <a:off x="16144875" y="5629275"/>
              <a:ext cx="2447925" cy="1628775"/>
              <a:chOff x="16144875" y="5629275"/>
              <a:chExt cx="2447925" cy="1628775"/>
            </a:xfrm>
          </p:grpSpPr>
          <p:sp>
            <p:nvSpPr>
              <p:cNvPr id="95" name="card2-4-bg"/>
              <p:cNvSpPr/>
              <p:nvPr/>
            </p:nvSpPr>
            <p:spPr>
              <a:xfrm>
                <a:off x="16144875" y="5629275"/>
                <a:ext cx="2447925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96" name="card2-4-title"/>
              <p:cNvSpPr txBox="1"/>
              <p:nvPr/>
            </p:nvSpPr>
            <p:spPr>
              <a:xfrm>
                <a:off x="16868775" y="5796915"/>
                <a:ext cx="99917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执行层</a:t>
                </a:r>
              </a:p>
            </p:txBody>
          </p:sp>
          <p:sp>
            <p:nvSpPr>
              <p:cNvPr id="97" name="card2-4-sub"/>
              <p:cNvSpPr txBox="1"/>
              <p:nvPr/>
            </p:nvSpPr>
            <p:spPr>
              <a:xfrm>
                <a:off x="16521112" y="6415088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工具调用与科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研任务执行</a:t>
                </a:r>
              </a:p>
            </p:txBody>
          </p:sp>
        </p:grpSp>
        <p:grpSp>
          <p:nvGrpSpPr>
            <p:cNvPr id="213" name="card2-5"/>
            <p:cNvGrpSpPr/>
            <p:nvPr/>
          </p:nvGrpSpPr>
          <p:grpSpPr>
            <a:xfrm>
              <a:off x="19050000" y="5629275"/>
              <a:ext cx="2457450" cy="1628775"/>
              <a:chOff x="19050000" y="5629275"/>
              <a:chExt cx="2457450" cy="1628775"/>
            </a:xfrm>
          </p:grpSpPr>
          <p:sp>
            <p:nvSpPr>
              <p:cNvPr id="98" name="card2-5-bg"/>
              <p:cNvSpPr/>
              <p:nvPr/>
            </p:nvSpPr>
            <p:spPr>
              <a:xfrm>
                <a:off x="19050000" y="5629275"/>
                <a:ext cx="245745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99" name="card2-5-title"/>
              <p:cNvSpPr txBox="1"/>
              <p:nvPr/>
            </p:nvSpPr>
            <p:spPr>
              <a:xfrm>
                <a:off x="19778662" y="5796915"/>
                <a:ext cx="99917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反馈层</a:t>
                </a:r>
              </a:p>
            </p:txBody>
          </p:sp>
          <p:sp>
            <p:nvSpPr>
              <p:cNvPr id="100" name="card2-5-sub"/>
              <p:cNvSpPr txBox="1"/>
              <p:nvPr/>
            </p:nvSpPr>
            <p:spPr>
              <a:xfrm>
                <a:off x="19571970" y="6415088"/>
                <a:ext cx="1413510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结果评估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与持续优化</a:t>
                </a:r>
              </a:p>
            </p:txBody>
          </p:sp>
        </p:grpSp>
        <p:sp>
          <p:nvSpPr>
            <p:cNvPr id="101" name="band2-arrow1"/>
            <p:cNvSpPr/>
            <p:nvPr/>
          </p:nvSpPr>
          <p:spPr>
            <a:xfrm>
              <a:off x="9896475" y="6224588"/>
              <a:ext cx="342900" cy="438150"/>
            </a:xfrm>
            <a:custGeom>
              <a:avLst/>
              <a:gdLst/>
              <a:ahLst/>
              <a:cxnLst/>
              <a:rect l="l" t="t" r="r" b="b"/>
              <a:pathLst>
                <a:path w="342900" h="438150">
                  <a:moveTo>
                    <a:pt x="0" y="119062"/>
                  </a:moveTo>
                  <a:lnTo>
                    <a:pt x="209550" y="119062"/>
                  </a:lnTo>
                  <a:lnTo>
                    <a:pt x="209550" y="0"/>
                  </a:lnTo>
                  <a:lnTo>
                    <a:pt x="342900" y="219074"/>
                  </a:lnTo>
                  <a:lnTo>
                    <a:pt x="209550" y="438150"/>
                  </a:lnTo>
                  <a:lnTo>
                    <a:pt x="209550" y="319087"/>
                  </a:lnTo>
                  <a:lnTo>
                    <a:pt x="0" y="319087"/>
                  </a:lnTo>
                  <a:close/>
                </a:path>
              </a:pathLst>
            </a:custGeom>
            <a:solidFill>
              <a:srgbClr val="E0AE45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02" name="band2-arrow2"/>
            <p:cNvSpPr/>
            <p:nvPr/>
          </p:nvSpPr>
          <p:spPr>
            <a:xfrm>
              <a:off x="12801600" y="6224588"/>
              <a:ext cx="342900" cy="438150"/>
            </a:xfrm>
            <a:custGeom>
              <a:avLst/>
              <a:gdLst/>
              <a:ahLst/>
              <a:cxnLst/>
              <a:rect l="l" t="t" r="r" b="b"/>
              <a:pathLst>
                <a:path w="342900" h="438150">
                  <a:moveTo>
                    <a:pt x="0" y="119062"/>
                  </a:moveTo>
                  <a:lnTo>
                    <a:pt x="209550" y="119062"/>
                  </a:lnTo>
                  <a:lnTo>
                    <a:pt x="209550" y="0"/>
                  </a:lnTo>
                  <a:lnTo>
                    <a:pt x="342900" y="219074"/>
                  </a:lnTo>
                  <a:lnTo>
                    <a:pt x="209550" y="438150"/>
                  </a:lnTo>
                  <a:lnTo>
                    <a:pt x="209550" y="319087"/>
                  </a:lnTo>
                  <a:lnTo>
                    <a:pt x="0" y="319087"/>
                  </a:lnTo>
                  <a:close/>
                </a:path>
              </a:pathLst>
            </a:custGeom>
            <a:solidFill>
              <a:srgbClr val="E0AE45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03" name="band2-arrow3"/>
            <p:cNvSpPr/>
            <p:nvPr/>
          </p:nvSpPr>
          <p:spPr>
            <a:xfrm>
              <a:off x="15716250" y="6224588"/>
              <a:ext cx="342900" cy="438150"/>
            </a:xfrm>
            <a:custGeom>
              <a:avLst/>
              <a:gdLst/>
              <a:ahLst/>
              <a:cxnLst/>
              <a:rect l="l" t="t" r="r" b="b"/>
              <a:pathLst>
                <a:path w="342900" h="438150">
                  <a:moveTo>
                    <a:pt x="0" y="119062"/>
                  </a:moveTo>
                  <a:lnTo>
                    <a:pt x="209550" y="119062"/>
                  </a:lnTo>
                  <a:lnTo>
                    <a:pt x="209550" y="0"/>
                  </a:lnTo>
                  <a:lnTo>
                    <a:pt x="342900" y="219074"/>
                  </a:lnTo>
                  <a:lnTo>
                    <a:pt x="209550" y="438150"/>
                  </a:lnTo>
                  <a:lnTo>
                    <a:pt x="209550" y="319087"/>
                  </a:lnTo>
                  <a:lnTo>
                    <a:pt x="0" y="319087"/>
                  </a:lnTo>
                  <a:close/>
                </a:path>
              </a:pathLst>
            </a:custGeom>
            <a:solidFill>
              <a:srgbClr val="E0AE45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04" name="band2-arrow4"/>
            <p:cNvSpPr/>
            <p:nvPr/>
          </p:nvSpPr>
          <p:spPr>
            <a:xfrm>
              <a:off x="18621375" y="6224588"/>
              <a:ext cx="342900" cy="438150"/>
            </a:xfrm>
            <a:custGeom>
              <a:avLst/>
              <a:gdLst/>
              <a:ahLst/>
              <a:cxnLst/>
              <a:rect l="l" t="t" r="r" b="b"/>
              <a:pathLst>
                <a:path w="342900" h="438150">
                  <a:moveTo>
                    <a:pt x="0" y="119062"/>
                  </a:moveTo>
                  <a:lnTo>
                    <a:pt x="209550" y="119062"/>
                  </a:lnTo>
                  <a:lnTo>
                    <a:pt x="209550" y="0"/>
                  </a:lnTo>
                  <a:lnTo>
                    <a:pt x="342900" y="219074"/>
                  </a:lnTo>
                  <a:lnTo>
                    <a:pt x="209550" y="438150"/>
                  </a:lnTo>
                  <a:lnTo>
                    <a:pt x="209550" y="319087"/>
                  </a:lnTo>
                  <a:lnTo>
                    <a:pt x="0" y="319087"/>
                  </a:lnTo>
                  <a:close/>
                </a:path>
              </a:pathLst>
            </a:custGeom>
            <a:solidFill>
              <a:srgbClr val="E0AE45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05" name="down-arrow2"/>
            <p:cNvSpPr/>
            <p:nvPr/>
          </p:nvSpPr>
          <p:spPr>
            <a:xfrm>
              <a:off x="14239875" y="8629650"/>
              <a:ext cx="438150" cy="323850"/>
            </a:xfrm>
            <a:custGeom>
              <a:avLst/>
              <a:gdLst/>
              <a:ahLst/>
              <a:cxnLst/>
              <a:rect l="l" t="t" r="r" b="b"/>
              <a:pathLst>
                <a:path w="438150" h="323850">
                  <a:moveTo>
                    <a:pt x="123825" y="0"/>
                  </a:moveTo>
                  <a:lnTo>
                    <a:pt x="314325" y="0"/>
                  </a:lnTo>
                  <a:lnTo>
                    <a:pt x="314325" y="190500"/>
                  </a:lnTo>
                  <a:lnTo>
                    <a:pt x="438150" y="190500"/>
                  </a:lnTo>
                  <a:lnTo>
                    <a:pt x="219075" y="323850"/>
                  </a:lnTo>
                  <a:lnTo>
                    <a:pt x="0" y="190500"/>
                  </a:lnTo>
                  <a:lnTo>
                    <a:pt x="123825" y="190500"/>
                  </a:lnTo>
                  <a:close/>
                </a:path>
              </a:pathLst>
            </a:custGeom>
            <a:solidFill>
              <a:srgbClr val="E16D6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</p:grpSp>
      <p:grpSp>
        <p:nvGrpSpPr>
          <p:cNvPr id="225" name="band-3"/>
          <p:cNvGrpSpPr/>
          <p:nvPr/>
        </p:nvGrpSpPr>
        <p:grpSpPr>
          <a:xfrm>
            <a:off x="4962525" y="8972550"/>
            <a:ext cx="16925925" cy="2400300"/>
            <a:chOff x="4962525" y="8972550"/>
            <a:chExt cx="16925925" cy="2400300"/>
          </a:xfrm>
        </p:grpSpPr>
        <p:sp>
          <p:nvSpPr>
            <p:cNvPr id="106" name="band3-bg"/>
            <p:cNvSpPr/>
            <p:nvPr/>
          </p:nvSpPr>
          <p:spPr>
            <a:xfrm>
              <a:off x="4962525" y="8972550"/>
              <a:ext cx="16925925" cy="2066925"/>
            </a:xfrm>
            <a:prstGeom prst="roundRect">
              <a:avLst>
                <a:gd name="adj" fmla="val 10138"/>
              </a:avLst>
            </a:prstGeom>
            <a:solidFill>
              <a:srgbClr val="FFF6E0"/>
            </a:solidFill>
            <a:ln w="23812">
              <a:solidFill>
                <a:srgbClr val="BA9441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grpSp>
          <p:nvGrpSpPr>
            <p:cNvPr id="198" name="tag3"/>
            <p:cNvGrpSpPr/>
            <p:nvPr/>
          </p:nvGrpSpPr>
          <p:grpSpPr>
            <a:xfrm>
              <a:off x="4962525" y="8972550"/>
              <a:ext cx="2105025" cy="2066925"/>
              <a:chOff x="4962525" y="8972550"/>
              <a:chExt cx="2105025" cy="2066925"/>
            </a:xfrm>
          </p:grpSpPr>
          <p:sp>
            <p:nvSpPr>
              <p:cNvPr id="107" name="tag3-bg"/>
              <p:cNvSpPr/>
              <p:nvPr/>
            </p:nvSpPr>
            <p:spPr>
              <a:xfrm>
                <a:off x="4962525" y="8972550"/>
                <a:ext cx="2105025" cy="2066925"/>
              </a:xfrm>
              <a:prstGeom prst="roundRect">
                <a:avLst>
                  <a:gd name="adj" fmla="val 10138"/>
                </a:avLst>
              </a:prstGeom>
              <a:solidFill>
                <a:srgbClr val="BC953A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grpSp>
            <p:nvGrpSpPr>
              <p:cNvPr id="193" name="tag3-icon"/>
              <p:cNvGrpSpPr/>
              <p:nvPr/>
            </p:nvGrpSpPr>
            <p:grpSpPr>
              <a:xfrm>
                <a:off x="5589842" y="9336596"/>
                <a:ext cx="802767" cy="746759"/>
                <a:chOff x="5589842" y="9336596"/>
                <a:chExt cx="802767" cy="746759"/>
              </a:xfrm>
            </p:grpSpPr>
            <p:sp>
              <p:nvSpPr>
                <p:cNvPr id="108" name="Rounded Rectangle 107"/>
                <p:cNvSpPr/>
                <p:nvPr/>
              </p:nvSpPr>
              <p:spPr>
                <a:xfrm>
                  <a:off x="5589842" y="9336596"/>
                  <a:ext cx="802767" cy="578739"/>
                </a:xfrm>
                <a:prstGeom prst="roundRect">
                  <a:avLst>
                    <a:gd name="adj" fmla="val 14516"/>
                  </a:avLst>
                </a:prstGeom>
                <a:noFill/>
                <a:ln w="15240">
                  <a:solidFill>
                    <a:srgbClr val="FFFFFF"/>
                  </a:solidFill>
                </a:ln>
                <a:effectLst/>
              </p:spPr>
              <p:txBody>
                <a:bodyPr rtlCol="0" anchor="ctr" wrap="none">
                  <a:noAutofit/>
                </a:bodyPr>
                <a:lstStyle/>
                <a:p>
                  <a:pPr algn="ctr"/>
                </a:p>
              </p:txBody>
            </p:sp>
            <p:cxnSp>
              <p:nvCxnSpPr>
                <p:cNvPr id="109" name="Connector 108"/>
                <p:cNvCxnSpPr/>
                <p:nvPr/>
              </p:nvCxnSpPr>
              <p:spPr>
                <a:xfrm>
                  <a:off x="5785866" y="9569958"/>
                  <a:ext cx="93345" cy="93345"/>
                </a:xfrm>
                <a:prstGeom prst="line">
                  <a:avLst/>
                </a:prstGeom>
                <a:ln w="72809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Connector 109"/>
                <p:cNvCxnSpPr/>
                <p:nvPr/>
              </p:nvCxnSpPr>
              <p:spPr>
                <a:xfrm flipH="1">
                  <a:off x="5785866" y="9663303"/>
                  <a:ext cx="93345" cy="93345"/>
                </a:xfrm>
                <a:prstGeom prst="line">
                  <a:avLst/>
                </a:prstGeom>
                <a:ln w="72809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Connector 110"/>
                <p:cNvCxnSpPr/>
                <p:nvPr/>
              </p:nvCxnSpPr>
              <p:spPr>
                <a:xfrm flipH="1">
                  <a:off x="6103239" y="9569958"/>
                  <a:ext cx="93345" cy="93345"/>
                </a:xfrm>
                <a:prstGeom prst="line">
                  <a:avLst/>
                </a:prstGeom>
                <a:ln w="72809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Connector 111"/>
                <p:cNvCxnSpPr/>
                <p:nvPr/>
              </p:nvCxnSpPr>
              <p:spPr>
                <a:xfrm>
                  <a:off x="6103239" y="9663303"/>
                  <a:ext cx="93345" cy="93345"/>
                </a:xfrm>
                <a:prstGeom prst="line">
                  <a:avLst/>
                </a:prstGeom>
                <a:ln w="72809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Connector 112"/>
                <p:cNvCxnSpPr/>
                <p:nvPr/>
              </p:nvCxnSpPr>
              <p:spPr>
                <a:xfrm flipV="1">
                  <a:off x="5953887" y="9541954"/>
                  <a:ext cx="74676" cy="261366"/>
                </a:xfrm>
                <a:prstGeom prst="line">
                  <a:avLst/>
                </a:prstGeom>
                <a:ln w="72809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Connector 113"/>
                <p:cNvCxnSpPr/>
                <p:nvPr/>
              </p:nvCxnSpPr>
              <p:spPr>
                <a:xfrm>
                  <a:off x="5991225" y="9962007"/>
                  <a:ext cx="0" cy="121348"/>
                </a:xfrm>
                <a:prstGeom prst="line">
                  <a:avLst/>
                </a:prstGeom>
                <a:ln w="8494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Connector 114"/>
                <p:cNvCxnSpPr/>
                <p:nvPr/>
              </p:nvCxnSpPr>
              <p:spPr>
                <a:xfrm>
                  <a:off x="5776532" y="10083355"/>
                  <a:ext cx="429386" cy="0"/>
                </a:xfrm>
                <a:prstGeom prst="line">
                  <a:avLst/>
                </a:prstGeom>
                <a:ln w="8494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6" name="tag3-t1"/>
              <p:cNvSpPr txBox="1"/>
              <p:nvPr/>
            </p:nvSpPr>
            <p:spPr>
              <a:xfrm>
                <a:off x="5183505" y="10125075"/>
                <a:ext cx="161544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关键技术</a:t>
                </a:r>
              </a:p>
            </p:txBody>
          </p:sp>
        </p:grpSp>
        <p:grpSp>
          <p:nvGrpSpPr>
            <p:cNvPr id="220" name="card3-1"/>
            <p:cNvGrpSpPr/>
            <p:nvPr/>
          </p:nvGrpSpPr>
          <p:grpSpPr>
            <a:xfrm>
              <a:off x="7334250" y="9191625"/>
              <a:ext cx="3276600" cy="1628775"/>
              <a:chOff x="7334250" y="9191625"/>
              <a:chExt cx="3276600" cy="1628775"/>
            </a:xfrm>
          </p:grpSpPr>
          <p:sp>
            <p:nvSpPr>
              <p:cNvPr id="117" name="card3-1-bg"/>
              <p:cNvSpPr/>
              <p:nvPr/>
            </p:nvSpPr>
            <p:spPr>
              <a:xfrm>
                <a:off x="7334250" y="9191625"/>
                <a:ext cx="327660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18" name="card3-1-title"/>
              <p:cNvSpPr txBox="1"/>
              <p:nvPr/>
            </p:nvSpPr>
            <p:spPr>
              <a:xfrm>
                <a:off x="7973378" y="9359265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文献智能管理</a:t>
                </a:r>
              </a:p>
            </p:txBody>
          </p:sp>
          <p:sp>
            <p:nvSpPr>
              <p:cNvPr id="119" name="card3-1-sub"/>
              <p:cNvSpPr txBox="1"/>
              <p:nvPr/>
            </p:nvSpPr>
            <p:spPr>
              <a:xfrm>
                <a:off x="7559040" y="10126028"/>
                <a:ext cx="2827020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检索、分类与引用生成</a:t>
                </a:r>
              </a:p>
            </p:txBody>
          </p:sp>
        </p:grpSp>
        <p:grpSp>
          <p:nvGrpSpPr>
            <p:cNvPr id="201" name="card3-2"/>
            <p:cNvGrpSpPr/>
            <p:nvPr/>
          </p:nvGrpSpPr>
          <p:grpSpPr>
            <a:xfrm>
              <a:off x="10953750" y="9191625"/>
              <a:ext cx="3276600" cy="1628775"/>
              <a:chOff x="10953750" y="9191625"/>
              <a:chExt cx="3276600" cy="1628775"/>
            </a:xfrm>
          </p:grpSpPr>
          <p:sp>
            <p:nvSpPr>
              <p:cNvPr id="120" name="card3-2-bg"/>
              <p:cNvSpPr/>
              <p:nvPr/>
            </p:nvSpPr>
            <p:spPr>
              <a:xfrm>
                <a:off x="10953750" y="9191625"/>
                <a:ext cx="327660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21" name="card3-2-title"/>
              <p:cNvSpPr txBox="1"/>
              <p:nvPr/>
            </p:nvSpPr>
            <p:spPr>
              <a:xfrm>
                <a:off x="11592878" y="9359265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科研数据处理</a:t>
                </a:r>
              </a:p>
            </p:txBody>
          </p:sp>
          <p:sp>
            <p:nvSpPr>
              <p:cNvPr id="122" name="card3-2-sub"/>
              <p:cNvSpPr txBox="1"/>
              <p:nvPr/>
            </p:nvSpPr>
            <p:spPr>
              <a:xfrm>
                <a:off x="11178540" y="10126028"/>
                <a:ext cx="2827020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数据清洗与可视化分析</a:t>
                </a:r>
              </a:p>
            </p:txBody>
          </p:sp>
        </p:grpSp>
        <p:grpSp>
          <p:nvGrpSpPr>
            <p:cNvPr id="207" name="card3-3"/>
            <p:cNvGrpSpPr/>
            <p:nvPr/>
          </p:nvGrpSpPr>
          <p:grpSpPr>
            <a:xfrm>
              <a:off x="14563725" y="9191625"/>
              <a:ext cx="3276600" cy="1628775"/>
              <a:chOff x="14563725" y="9191625"/>
              <a:chExt cx="3276600" cy="1628775"/>
            </a:xfrm>
          </p:grpSpPr>
          <p:sp>
            <p:nvSpPr>
              <p:cNvPr id="123" name="card3-3-bg"/>
              <p:cNvSpPr/>
              <p:nvPr/>
            </p:nvSpPr>
            <p:spPr>
              <a:xfrm>
                <a:off x="14563725" y="9191625"/>
                <a:ext cx="327660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24" name="card3-3-title"/>
              <p:cNvSpPr txBox="1"/>
              <p:nvPr/>
            </p:nvSpPr>
            <p:spPr>
              <a:xfrm>
                <a:off x="15202852" y="9359265"/>
                <a:ext cx="199929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智能写作辅助</a:t>
                </a:r>
              </a:p>
            </p:txBody>
          </p:sp>
          <p:sp>
            <p:nvSpPr>
              <p:cNvPr id="125" name="card3-3-sub"/>
              <p:cNvSpPr txBox="1"/>
              <p:nvPr/>
            </p:nvSpPr>
            <p:spPr>
              <a:xfrm>
                <a:off x="14788515" y="10126028"/>
                <a:ext cx="2827020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大纲、润色与格式规范</a:t>
                </a:r>
              </a:p>
            </p:txBody>
          </p:sp>
        </p:grpSp>
        <p:grpSp>
          <p:nvGrpSpPr>
            <p:cNvPr id="202" name="card3-4"/>
            <p:cNvGrpSpPr/>
            <p:nvPr/>
          </p:nvGrpSpPr>
          <p:grpSpPr>
            <a:xfrm>
              <a:off x="18183225" y="9191625"/>
              <a:ext cx="3276600" cy="1628775"/>
              <a:chOff x="18183225" y="9191625"/>
              <a:chExt cx="3276600" cy="1628775"/>
            </a:xfrm>
          </p:grpSpPr>
          <p:sp>
            <p:nvSpPr>
              <p:cNvPr id="126" name="card3-4-bg"/>
              <p:cNvSpPr/>
              <p:nvPr/>
            </p:nvSpPr>
            <p:spPr>
              <a:xfrm>
                <a:off x="18183225" y="9191625"/>
                <a:ext cx="3276600" cy="1628775"/>
              </a:xfrm>
              <a:prstGeom prst="roundRect">
                <a:avLst>
                  <a:gd name="adj" fmla="val 5847"/>
                </a:avLst>
              </a:prstGeom>
              <a:solidFill>
                <a:srgbClr val="FFFFFF"/>
              </a:solidFill>
              <a:ln w="19050">
                <a:solidFill>
                  <a:srgbClr val="F8E2BE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27" name="card3-4-title"/>
              <p:cNvSpPr txBox="1"/>
              <p:nvPr/>
            </p:nvSpPr>
            <p:spPr>
              <a:xfrm>
                <a:off x="18988088" y="9359265"/>
                <a:ext cx="166592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BC953A"/>
                    </a:solidFill>
                    <a:latin typeface="Microsoft YaHei"/>
                    <a:ea typeface="Microsoft YaHei"/>
                    <a:cs typeface="Microsoft YaHei"/>
                  </a:rPr>
                  <a:t>多场景适配</a:t>
                </a:r>
              </a:p>
            </p:txBody>
          </p:sp>
          <p:sp>
            <p:nvSpPr>
              <p:cNvPr id="128" name="card3-4-sub"/>
              <p:cNvSpPr txBox="1"/>
              <p:nvPr/>
            </p:nvSpPr>
            <p:spPr>
              <a:xfrm>
                <a:off x="18548985" y="10126028"/>
                <a:ext cx="2544128" cy="4267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跨学科研究方法适配</a:t>
                </a:r>
              </a:p>
            </p:txBody>
          </p:sp>
        </p:grpSp>
        <p:sp>
          <p:nvSpPr>
            <p:cNvPr id="129" name="down-arrow3"/>
            <p:cNvSpPr/>
            <p:nvPr/>
          </p:nvSpPr>
          <p:spPr>
            <a:xfrm>
              <a:off x="14239875" y="11049000"/>
              <a:ext cx="438150" cy="323850"/>
            </a:xfrm>
            <a:custGeom>
              <a:avLst/>
              <a:gdLst/>
              <a:ahLst/>
              <a:cxnLst/>
              <a:rect l="l" t="t" r="r" b="b"/>
              <a:pathLst>
                <a:path w="438150" h="323850">
                  <a:moveTo>
                    <a:pt x="123825" y="0"/>
                  </a:moveTo>
                  <a:lnTo>
                    <a:pt x="314325" y="0"/>
                  </a:lnTo>
                  <a:lnTo>
                    <a:pt x="314325" y="190500"/>
                  </a:lnTo>
                  <a:lnTo>
                    <a:pt x="438150" y="190500"/>
                  </a:lnTo>
                  <a:lnTo>
                    <a:pt x="219075" y="323850"/>
                  </a:lnTo>
                  <a:lnTo>
                    <a:pt x="0" y="190500"/>
                  </a:lnTo>
                  <a:lnTo>
                    <a:pt x="123825" y="190500"/>
                  </a:lnTo>
                  <a:close/>
                </a:path>
              </a:pathLst>
            </a:custGeom>
            <a:solidFill>
              <a:srgbClr val="E16D6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</p:grpSp>
      <p:grpSp>
        <p:nvGrpSpPr>
          <p:cNvPr id="227" name="band-4"/>
          <p:cNvGrpSpPr/>
          <p:nvPr/>
        </p:nvGrpSpPr>
        <p:grpSpPr>
          <a:xfrm>
            <a:off x="4962525" y="11401425"/>
            <a:ext cx="16925925" cy="2400300"/>
            <a:chOff x="4962525" y="11401425"/>
            <a:chExt cx="16925925" cy="2400300"/>
          </a:xfrm>
        </p:grpSpPr>
        <p:sp>
          <p:nvSpPr>
            <p:cNvPr id="130" name="band4-bg"/>
            <p:cNvSpPr/>
            <p:nvPr/>
          </p:nvSpPr>
          <p:spPr>
            <a:xfrm>
              <a:off x="4962525" y="11401425"/>
              <a:ext cx="16925925" cy="2066925"/>
            </a:xfrm>
            <a:prstGeom prst="roundRect">
              <a:avLst>
                <a:gd name="adj" fmla="val 10138"/>
              </a:avLst>
            </a:prstGeom>
            <a:solidFill>
              <a:srgbClr val="EDF3FF"/>
            </a:solidFill>
            <a:ln w="23812">
              <a:solidFill>
                <a:srgbClr val="6A8BB6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grpSp>
          <p:nvGrpSpPr>
            <p:cNvPr id="205" name="tag4"/>
            <p:cNvGrpSpPr/>
            <p:nvPr/>
          </p:nvGrpSpPr>
          <p:grpSpPr>
            <a:xfrm>
              <a:off x="4962525" y="11401425"/>
              <a:ext cx="2105025" cy="2066925"/>
              <a:chOff x="4962525" y="11401425"/>
              <a:chExt cx="2105025" cy="2066925"/>
            </a:xfrm>
          </p:grpSpPr>
          <p:sp>
            <p:nvSpPr>
              <p:cNvPr id="131" name="tag4-bg"/>
              <p:cNvSpPr/>
              <p:nvPr/>
            </p:nvSpPr>
            <p:spPr>
              <a:xfrm>
                <a:off x="4962525" y="11401425"/>
                <a:ext cx="2105025" cy="2066925"/>
              </a:xfrm>
              <a:prstGeom prst="roundRect">
                <a:avLst>
                  <a:gd name="adj" fmla="val 10138"/>
                </a:avLst>
              </a:prstGeom>
              <a:solidFill>
                <a:srgbClr val="668CBB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32" name="tag4-icon-p1"/>
              <p:cNvSpPr/>
              <p:nvPr/>
            </p:nvSpPr>
            <p:spPr>
              <a:xfrm>
                <a:off x="5524500" y="11749088"/>
                <a:ext cx="228600" cy="209550"/>
              </a:xfrm>
              <a:prstGeom prst="roundRect">
                <a:avLst>
                  <a:gd name="adj" fmla="val 22727"/>
                </a:avLst>
              </a:prstGeom>
              <a:noFill/>
              <a:ln w="66675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33" name="tag4-icon-p2"/>
              <p:cNvSpPr/>
              <p:nvPr/>
            </p:nvSpPr>
            <p:spPr>
              <a:xfrm>
                <a:off x="5581650" y="11787188"/>
                <a:ext cx="114300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9062">
                    <a:moveTo>
                      <a:pt x="0" y="119062"/>
                    </a:moveTo>
                    <a:lnTo>
                      <a:pt x="57150" y="0"/>
                    </a:lnTo>
                    <a:lnTo>
                      <a:pt x="114300" y="1190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134" name="tag4-icon-p3"/>
              <p:cNvCxnSpPr/>
              <p:nvPr/>
            </p:nvCxnSpPr>
            <p:spPr>
              <a:xfrm>
                <a:off x="5819775" y="11853862"/>
                <a:ext cx="638175" cy="0"/>
              </a:xfrm>
              <a:prstGeom prst="line">
                <a:avLst/>
              </a:prstGeom>
              <a:ln w="666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ag4-icon-p4"/>
              <p:cNvSpPr/>
              <p:nvPr/>
            </p:nvSpPr>
            <p:spPr>
              <a:xfrm>
                <a:off x="5524500" y="12063412"/>
                <a:ext cx="228600" cy="209550"/>
              </a:xfrm>
              <a:prstGeom prst="roundRect">
                <a:avLst>
                  <a:gd name="adj" fmla="val 22727"/>
                </a:avLst>
              </a:prstGeom>
              <a:noFill/>
              <a:ln w="66675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36" name="tag4-icon-p5"/>
              <p:cNvSpPr/>
              <p:nvPr/>
            </p:nvSpPr>
            <p:spPr>
              <a:xfrm>
                <a:off x="5581650" y="12101512"/>
                <a:ext cx="114300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9063">
                    <a:moveTo>
                      <a:pt x="0" y="119063"/>
                    </a:moveTo>
                    <a:lnTo>
                      <a:pt x="57150" y="0"/>
                    </a:lnTo>
                    <a:lnTo>
                      <a:pt x="114300" y="1190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137" name="tag4-icon-p6"/>
              <p:cNvCxnSpPr/>
              <p:nvPr/>
            </p:nvCxnSpPr>
            <p:spPr>
              <a:xfrm>
                <a:off x="5819775" y="12168188"/>
                <a:ext cx="638175" cy="0"/>
              </a:xfrm>
              <a:prstGeom prst="line">
                <a:avLst/>
              </a:prstGeom>
              <a:ln w="666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ag4-icon-p7"/>
              <p:cNvSpPr/>
              <p:nvPr/>
            </p:nvSpPr>
            <p:spPr>
              <a:xfrm>
                <a:off x="5524500" y="12377738"/>
                <a:ext cx="228600" cy="209550"/>
              </a:xfrm>
              <a:prstGeom prst="roundRect">
                <a:avLst>
                  <a:gd name="adj" fmla="val 22727"/>
                </a:avLst>
              </a:prstGeom>
              <a:noFill/>
              <a:ln w="66675">
                <a:solidFill>
                  <a:srgbClr val="FFFFFF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39" name="tag4-icon-p8"/>
              <p:cNvSpPr/>
              <p:nvPr/>
            </p:nvSpPr>
            <p:spPr>
              <a:xfrm>
                <a:off x="5581650" y="12415838"/>
                <a:ext cx="114300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9062">
                    <a:moveTo>
                      <a:pt x="0" y="119062"/>
                    </a:moveTo>
                    <a:lnTo>
                      <a:pt x="57150" y="0"/>
                    </a:lnTo>
                    <a:lnTo>
                      <a:pt x="114300" y="1190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cxnSp>
            <p:nvCxnSpPr>
              <p:cNvPr id="140" name="tag4-icon-p9"/>
              <p:cNvCxnSpPr/>
              <p:nvPr/>
            </p:nvCxnSpPr>
            <p:spPr>
              <a:xfrm>
                <a:off x="5819775" y="12482512"/>
                <a:ext cx="638175" cy="0"/>
              </a:xfrm>
              <a:prstGeom prst="line">
                <a:avLst/>
              </a:prstGeom>
              <a:ln w="66675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tag4-t1"/>
              <p:cNvSpPr txBox="1"/>
              <p:nvPr/>
            </p:nvSpPr>
            <p:spPr>
              <a:xfrm>
                <a:off x="5183505" y="12553950"/>
                <a:ext cx="161544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平台功能</a:t>
                </a:r>
              </a:p>
            </p:txBody>
          </p:sp>
        </p:grpSp>
        <p:grpSp>
          <p:nvGrpSpPr>
            <p:cNvPr id="212" name="card4-1"/>
            <p:cNvGrpSpPr/>
            <p:nvPr/>
          </p:nvGrpSpPr>
          <p:grpSpPr>
            <a:xfrm>
              <a:off x="7362825" y="11610975"/>
              <a:ext cx="2466975" cy="1647825"/>
              <a:chOff x="7362825" y="11610975"/>
              <a:chExt cx="2466975" cy="1647825"/>
            </a:xfrm>
          </p:grpSpPr>
          <p:sp>
            <p:nvSpPr>
              <p:cNvPr id="142" name="card4-1-bg"/>
              <p:cNvSpPr/>
              <p:nvPr/>
            </p:nvSpPr>
            <p:spPr>
              <a:xfrm>
                <a:off x="7362825" y="11610975"/>
                <a:ext cx="2466975" cy="1647825"/>
              </a:xfrm>
              <a:prstGeom prst="roundRect">
                <a:avLst>
                  <a:gd name="adj" fmla="val 5780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43" name="card4-1-title"/>
              <p:cNvSpPr txBox="1"/>
              <p:nvPr/>
            </p:nvSpPr>
            <p:spPr>
              <a:xfrm>
                <a:off x="7929562" y="11778615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原型开发</a:t>
                </a:r>
              </a:p>
            </p:txBody>
          </p:sp>
          <p:sp>
            <p:nvSpPr>
              <p:cNvPr id="144" name="card4-1-sub"/>
              <p:cNvSpPr txBox="1"/>
              <p:nvPr/>
            </p:nvSpPr>
            <p:spPr>
              <a:xfrm>
                <a:off x="7748588" y="12387262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核心功能模块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开发实现</a:t>
                </a:r>
              </a:p>
            </p:txBody>
          </p:sp>
        </p:grpSp>
        <p:grpSp>
          <p:nvGrpSpPr>
            <p:cNvPr id="208" name="card4-2"/>
            <p:cNvGrpSpPr/>
            <p:nvPr/>
          </p:nvGrpSpPr>
          <p:grpSpPr>
            <a:xfrm>
              <a:off x="10267950" y="11610975"/>
              <a:ext cx="2466975" cy="1647825"/>
              <a:chOff x="10267950" y="11610975"/>
              <a:chExt cx="2466975" cy="1647825"/>
            </a:xfrm>
          </p:grpSpPr>
          <p:sp>
            <p:nvSpPr>
              <p:cNvPr id="145" name="card4-2-bg"/>
              <p:cNvSpPr/>
              <p:nvPr/>
            </p:nvSpPr>
            <p:spPr>
              <a:xfrm>
                <a:off x="10267950" y="11610975"/>
                <a:ext cx="2466975" cy="1647825"/>
              </a:xfrm>
              <a:prstGeom prst="roundRect">
                <a:avLst>
                  <a:gd name="adj" fmla="val 5780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46" name="card4-2-title"/>
              <p:cNvSpPr txBox="1"/>
              <p:nvPr/>
            </p:nvSpPr>
            <p:spPr>
              <a:xfrm>
                <a:off x="10668000" y="11778615"/>
                <a:ext cx="1665922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数据集构建</a:t>
                </a:r>
              </a:p>
            </p:txBody>
          </p:sp>
          <p:sp>
            <p:nvSpPr>
              <p:cNvPr id="147" name="card4-2-sub"/>
              <p:cNvSpPr txBox="1"/>
              <p:nvPr/>
            </p:nvSpPr>
            <p:spPr>
              <a:xfrm>
                <a:off x="10653712" y="12387262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科研数据整理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与标注</a:t>
                </a:r>
              </a:p>
            </p:txBody>
          </p:sp>
        </p:grpSp>
        <p:grpSp>
          <p:nvGrpSpPr>
            <p:cNvPr id="204" name="card4-3"/>
            <p:cNvGrpSpPr/>
            <p:nvPr/>
          </p:nvGrpSpPr>
          <p:grpSpPr>
            <a:xfrm>
              <a:off x="13182600" y="11610975"/>
              <a:ext cx="2466975" cy="1647825"/>
              <a:chOff x="13182600" y="11610975"/>
              <a:chExt cx="2466975" cy="1647825"/>
            </a:xfrm>
          </p:grpSpPr>
          <p:sp>
            <p:nvSpPr>
              <p:cNvPr id="148" name="card4-3-bg"/>
              <p:cNvSpPr/>
              <p:nvPr/>
            </p:nvSpPr>
            <p:spPr>
              <a:xfrm>
                <a:off x="13182600" y="11610975"/>
                <a:ext cx="2466975" cy="1647825"/>
              </a:xfrm>
              <a:prstGeom prst="roundRect">
                <a:avLst>
                  <a:gd name="adj" fmla="val 5780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49" name="card4-3-title"/>
              <p:cNvSpPr txBox="1"/>
              <p:nvPr/>
            </p:nvSpPr>
            <p:spPr>
              <a:xfrm>
                <a:off x="13749338" y="11778615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系统集成</a:t>
                </a:r>
              </a:p>
            </p:txBody>
          </p:sp>
          <p:sp>
            <p:nvSpPr>
              <p:cNvPr id="150" name="card4-3-sub"/>
              <p:cNvSpPr txBox="1"/>
              <p:nvPr/>
            </p:nvSpPr>
            <p:spPr>
              <a:xfrm>
                <a:off x="13568362" y="12387262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第三方工具接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口对接</a:t>
                </a:r>
              </a:p>
            </p:txBody>
          </p:sp>
        </p:grpSp>
        <p:grpSp>
          <p:nvGrpSpPr>
            <p:cNvPr id="196" name="card4-4"/>
            <p:cNvGrpSpPr/>
            <p:nvPr/>
          </p:nvGrpSpPr>
          <p:grpSpPr>
            <a:xfrm>
              <a:off x="16087725" y="11610975"/>
              <a:ext cx="2466975" cy="1647825"/>
              <a:chOff x="16087725" y="11610975"/>
              <a:chExt cx="2466975" cy="1647825"/>
            </a:xfrm>
          </p:grpSpPr>
          <p:sp>
            <p:nvSpPr>
              <p:cNvPr id="151" name="card4-4-bg"/>
              <p:cNvSpPr/>
              <p:nvPr/>
            </p:nvSpPr>
            <p:spPr>
              <a:xfrm>
                <a:off x="16087725" y="11610975"/>
                <a:ext cx="2466975" cy="1647825"/>
              </a:xfrm>
              <a:prstGeom prst="roundRect">
                <a:avLst>
                  <a:gd name="adj" fmla="val 5780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52" name="card4-4-title"/>
              <p:cNvSpPr txBox="1"/>
              <p:nvPr/>
            </p:nvSpPr>
            <p:spPr>
              <a:xfrm>
                <a:off x="16654462" y="11778615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实验验证</a:t>
                </a:r>
              </a:p>
            </p:txBody>
          </p:sp>
          <p:sp>
            <p:nvSpPr>
              <p:cNvPr id="153" name="card4-4-sub"/>
              <p:cNvSpPr txBox="1"/>
              <p:nvPr/>
            </p:nvSpPr>
            <p:spPr>
              <a:xfrm>
                <a:off x="16473488" y="12387262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功能测试与性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能评估</a:t>
                </a:r>
              </a:p>
            </p:txBody>
          </p:sp>
        </p:grpSp>
        <p:grpSp>
          <p:nvGrpSpPr>
            <p:cNvPr id="219" name="card4-5"/>
            <p:cNvGrpSpPr/>
            <p:nvPr/>
          </p:nvGrpSpPr>
          <p:grpSpPr>
            <a:xfrm>
              <a:off x="19002375" y="11610975"/>
              <a:ext cx="2457450" cy="1647825"/>
              <a:chOff x="19002375" y="11610975"/>
              <a:chExt cx="2457450" cy="1647825"/>
            </a:xfrm>
          </p:grpSpPr>
          <p:sp>
            <p:nvSpPr>
              <p:cNvPr id="154" name="card4-5-bg"/>
              <p:cNvSpPr/>
              <p:nvPr/>
            </p:nvSpPr>
            <p:spPr>
              <a:xfrm>
                <a:off x="19002375" y="11610975"/>
                <a:ext cx="2457450" cy="1647825"/>
              </a:xfrm>
              <a:prstGeom prst="roundRect">
                <a:avLst>
                  <a:gd name="adj" fmla="val 5780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55" name="card4-5-title"/>
              <p:cNvSpPr txBox="1"/>
              <p:nvPr/>
            </p:nvSpPr>
            <p:spPr>
              <a:xfrm>
                <a:off x="19564350" y="11778615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用户评估</a:t>
                </a:r>
              </a:p>
            </p:txBody>
          </p:sp>
          <p:sp>
            <p:nvSpPr>
              <p:cNvPr id="156" name="card4-5-sub"/>
              <p:cNvSpPr txBox="1"/>
              <p:nvPr/>
            </p:nvSpPr>
            <p:spPr>
              <a:xfrm>
                <a:off x="19383375" y="12387262"/>
                <a:ext cx="1696402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试用反馈与优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化建议收集</a:t>
                </a:r>
              </a:p>
            </p:txBody>
          </p:sp>
        </p:grpSp>
        <p:sp>
          <p:nvSpPr>
            <p:cNvPr id="157" name="down-arrow4"/>
            <p:cNvSpPr/>
            <p:nvPr/>
          </p:nvSpPr>
          <p:spPr>
            <a:xfrm>
              <a:off x="14239875" y="13477875"/>
              <a:ext cx="438150" cy="323850"/>
            </a:xfrm>
            <a:custGeom>
              <a:avLst/>
              <a:gdLst/>
              <a:ahLst/>
              <a:cxnLst/>
              <a:rect l="l" t="t" r="r" b="b"/>
              <a:pathLst>
                <a:path w="438150" h="323850">
                  <a:moveTo>
                    <a:pt x="123825" y="0"/>
                  </a:moveTo>
                  <a:lnTo>
                    <a:pt x="314325" y="0"/>
                  </a:lnTo>
                  <a:lnTo>
                    <a:pt x="314325" y="190500"/>
                  </a:lnTo>
                  <a:lnTo>
                    <a:pt x="438150" y="190500"/>
                  </a:lnTo>
                  <a:lnTo>
                    <a:pt x="219075" y="323850"/>
                  </a:lnTo>
                  <a:lnTo>
                    <a:pt x="0" y="190500"/>
                  </a:lnTo>
                  <a:lnTo>
                    <a:pt x="123825" y="190500"/>
                  </a:lnTo>
                  <a:close/>
                </a:path>
              </a:pathLst>
            </a:custGeom>
            <a:solidFill>
              <a:srgbClr val="E16D6E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</p:grpSp>
      <p:grpSp>
        <p:nvGrpSpPr>
          <p:cNvPr id="223" name="band-5"/>
          <p:cNvGrpSpPr/>
          <p:nvPr/>
        </p:nvGrpSpPr>
        <p:grpSpPr>
          <a:xfrm>
            <a:off x="4962525" y="13830300"/>
            <a:ext cx="16925925" cy="2057400"/>
            <a:chOff x="4962525" y="13830300"/>
            <a:chExt cx="16925925" cy="2057400"/>
          </a:xfrm>
        </p:grpSpPr>
        <p:sp>
          <p:nvSpPr>
            <p:cNvPr id="158" name="band5-bg"/>
            <p:cNvSpPr/>
            <p:nvPr/>
          </p:nvSpPr>
          <p:spPr>
            <a:xfrm>
              <a:off x="4962525" y="13830300"/>
              <a:ext cx="16925925" cy="2057400"/>
            </a:xfrm>
            <a:prstGeom prst="roundRect">
              <a:avLst>
                <a:gd name="adj" fmla="val 10185"/>
              </a:avLst>
            </a:prstGeom>
            <a:solidFill>
              <a:srgbClr val="EDF3FF"/>
            </a:solidFill>
            <a:ln w="23812">
              <a:solidFill>
                <a:srgbClr val="6A8BB6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grpSp>
          <p:nvGrpSpPr>
            <p:cNvPr id="218" name="tag5"/>
            <p:cNvGrpSpPr/>
            <p:nvPr/>
          </p:nvGrpSpPr>
          <p:grpSpPr>
            <a:xfrm>
              <a:off x="4962525" y="13830300"/>
              <a:ext cx="2105025" cy="2057400"/>
              <a:chOff x="4962525" y="13830300"/>
              <a:chExt cx="2105025" cy="2057400"/>
            </a:xfrm>
          </p:grpSpPr>
          <p:sp>
            <p:nvSpPr>
              <p:cNvPr id="159" name="tag5-bg"/>
              <p:cNvSpPr/>
              <p:nvPr/>
            </p:nvSpPr>
            <p:spPr>
              <a:xfrm>
                <a:off x="4962525" y="13830300"/>
                <a:ext cx="2105025" cy="2057400"/>
              </a:xfrm>
              <a:prstGeom prst="roundRect">
                <a:avLst>
                  <a:gd name="adj" fmla="val 10185"/>
                </a:avLst>
              </a:prstGeom>
              <a:solidFill>
                <a:srgbClr val="668CBB"/>
              </a:solidFill>
              <a:ln>
                <a:noFill/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grpSp>
            <p:nvGrpSpPr>
              <p:cNvPr id="194" name="tag5-icon"/>
              <p:cNvGrpSpPr/>
              <p:nvPr/>
            </p:nvGrpSpPr>
            <p:grpSpPr>
              <a:xfrm>
                <a:off x="5594985" y="13998892"/>
                <a:ext cx="792480" cy="871728"/>
                <a:chOff x="5594985" y="13998892"/>
                <a:chExt cx="792480" cy="871728"/>
              </a:xfrm>
            </p:grpSpPr>
            <p:cxnSp>
              <p:nvCxnSpPr>
                <p:cNvPr id="160" name="Connector 159"/>
                <p:cNvCxnSpPr/>
                <p:nvPr/>
              </p:nvCxnSpPr>
              <p:spPr>
                <a:xfrm flipV="1">
                  <a:off x="5594985" y="13998892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Connector 160"/>
                <p:cNvCxnSpPr/>
                <p:nvPr/>
              </p:nvCxnSpPr>
              <p:spPr>
                <a:xfrm>
                  <a:off x="5991225" y="13998892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Connector 161"/>
                <p:cNvCxnSpPr/>
                <p:nvPr/>
              </p:nvCxnSpPr>
              <p:spPr>
                <a:xfrm flipH="1">
                  <a:off x="5991225" y="14216824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Connector 162"/>
                <p:cNvCxnSpPr/>
                <p:nvPr/>
              </p:nvCxnSpPr>
              <p:spPr>
                <a:xfrm flipH="1" flipV="1">
                  <a:off x="5594985" y="14216824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Connector 163"/>
                <p:cNvCxnSpPr/>
                <p:nvPr/>
              </p:nvCxnSpPr>
              <p:spPr>
                <a:xfrm>
                  <a:off x="5594985" y="14216824"/>
                  <a:ext cx="0" cy="435864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Connector 164"/>
                <p:cNvCxnSpPr/>
                <p:nvPr/>
              </p:nvCxnSpPr>
              <p:spPr>
                <a:xfrm>
                  <a:off x="6387465" y="14216824"/>
                  <a:ext cx="0" cy="435864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Connector 165"/>
                <p:cNvCxnSpPr/>
                <p:nvPr/>
              </p:nvCxnSpPr>
              <p:spPr>
                <a:xfrm>
                  <a:off x="5991225" y="14434756"/>
                  <a:ext cx="0" cy="435864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Connector 166"/>
                <p:cNvCxnSpPr/>
                <p:nvPr/>
              </p:nvCxnSpPr>
              <p:spPr>
                <a:xfrm>
                  <a:off x="5594985" y="14652688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Connector 167"/>
                <p:cNvCxnSpPr/>
                <p:nvPr/>
              </p:nvCxnSpPr>
              <p:spPr>
                <a:xfrm flipV="1">
                  <a:off x="5991225" y="14652688"/>
                  <a:ext cx="396240" cy="217932"/>
                </a:xfrm>
                <a:prstGeom prst="line">
                  <a:avLst/>
                </a:prstGeom>
                <a:ln w="96583">
                  <a:solidFill>
                    <a:srgbClr val="FFFFFF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tag5-t1"/>
              <p:cNvSpPr txBox="1"/>
              <p:nvPr/>
            </p:nvSpPr>
            <p:spPr>
              <a:xfrm>
                <a:off x="5183505" y="14973300"/>
                <a:ext cx="1615440" cy="6096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应用场景</a:t>
                </a:r>
              </a:p>
            </p:txBody>
          </p:sp>
        </p:grpSp>
        <p:grpSp>
          <p:nvGrpSpPr>
            <p:cNvPr id="197" name="card5-1"/>
            <p:cNvGrpSpPr/>
            <p:nvPr/>
          </p:nvGrpSpPr>
          <p:grpSpPr>
            <a:xfrm>
              <a:off x="7334250" y="14039850"/>
              <a:ext cx="3286125" cy="1638300"/>
              <a:chOff x="7334250" y="14039850"/>
              <a:chExt cx="3286125" cy="1638300"/>
            </a:xfrm>
          </p:grpSpPr>
          <p:sp>
            <p:nvSpPr>
              <p:cNvPr id="170" name="card5-1-bg"/>
              <p:cNvSpPr/>
              <p:nvPr/>
            </p:nvSpPr>
            <p:spPr>
              <a:xfrm>
                <a:off x="7334250" y="140398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71" name="card5-1-title"/>
              <p:cNvSpPr txBox="1"/>
              <p:nvPr/>
            </p:nvSpPr>
            <p:spPr>
              <a:xfrm>
                <a:off x="8310562" y="14207490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典型场景</a:t>
                </a:r>
              </a:p>
            </p:txBody>
          </p:sp>
          <p:sp>
            <p:nvSpPr>
              <p:cNvPr id="172" name="card5-1-sub"/>
              <p:cNvSpPr txBox="1"/>
              <p:nvPr/>
            </p:nvSpPr>
            <p:spPr>
              <a:xfrm>
                <a:off x="7563802" y="14816138"/>
                <a:ext cx="2827020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文献调研、实验数据分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析、论文写作</a:t>
                </a:r>
              </a:p>
            </p:txBody>
          </p:sp>
        </p:grpSp>
        <p:grpSp>
          <p:nvGrpSpPr>
            <p:cNvPr id="200" name="card5-2"/>
            <p:cNvGrpSpPr/>
            <p:nvPr/>
          </p:nvGrpSpPr>
          <p:grpSpPr>
            <a:xfrm>
              <a:off x="10953750" y="14039850"/>
              <a:ext cx="3276600" cy="1638300"/>
              <a:chOff x="10953750" y="14039850"/>
              <a:chExt cx="3276600" cy="1638300"/>
            </a:xfrm>
          </p:grpSpPr>
          <p:sp>
            <p:nvSpPr>
              <p:cNvPr id="173" name="card5-2-bg"/>
              <p:cNvSpPr/>
              <p:nvPr/>
            </p:nvSpPr>
            <p:spPr>
              <a:xfrm>
                <a:off x="10953750" y="14039850"/>
                <a:ext cx="3276600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74" name="card5-2-title"/>
              <p:cNvSpPr txBox="1"/>
              <p:nvPr/>
            </p:nvSpPr>
            <p:spPr>
              <a:xfrm>
                <a:off x="11925300" y="14207490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效果评估</a:t>
                </a:r>
              </a:p>
            </p:txBody>
          </p:sp>
          <p:sp>
            <p:nvSpPr>
              <p:cNvPr id="175" name="card5-2-sub"/>
              <p:cNvSpPr txBox="1"/>
              <p:nvPr/>
            </p:nvSpPr>
            <p:spPr>
              <a:xfrm>
                <a:off x="11178540" y="14816138"/>
                <a:ext cx="2827020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效率、论文产出质量、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用户使用满意度评估</a:t>
                </a:r>
              </a:p>
            </p:txBody>
          </p:sp>
        </p:grpSp>
        <p:grpSp>
          <p:nvGrpSpPr>
            <p:cNvPr id="209" name="card5-3"/>
            <p:cNvGrpSpPr/>
            <p:nvPr/>
          </p:nvGrpSpPr>
          <p:grpSpPr>
            <a:xfrm>
              <a:off x="14563725" y="14039850"/>
              <a:ext cx="3286125" cy="1638300"/>
              <a:chOff x="14563725" y="14039850"/>
              <a:chExt cx="3286125" cy="1638300"/>
            </a:xfrm>
          </p:grpSpPr>
          <p:sp>
            <p:nvSpPr>
              <p:cNvPr id="176" name="card5-3-bg"/>
              <p:cNvSpPr/>
              <p:nvPr/>
            </p:nvSpPr>
            <p:spPr>
              <a:xfrm>
                <a:off x="14563725" y="140398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77" name="card5-3-title"/>
              <p:cNvSpPr txBox="1"/>
              <p:nvPr/>
            </p:nvSpPr>
            <p:spPr>
              <a:xfrm>
                <a:off x="15540038" y="14207490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推广落地</a:t>
                </a:r>
              </a:p>
            </p:txBody>
          </p:sp>
          <p:sp>
            <p:nvSpPr>
              <p:cNvPr id="178" name="card5-3-sub"/>
              <p:cNvSpPr txBox="1"/>
              <p:nvPr/>
            </p:nvSpPr>
            <p:spPr>
              <a:xfrm>
                <a:off x="14793278" y="14816138"/>
                <a:ext cx="2827020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高校科研平台部署、用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户培训与生态资源建设</a:t>
                </a:r>
              </a:p>
            </p:txBody>
          </p:sp>
        </p:grpSp>
        <p:grpSp>
          <p:nvGrpSpPr>
            <p:cNvPr id="214" name="card5-4"/>
            <p:cNvGrpSpPr/>
            <p:nvPr/>
          </p:nvGrpSpPr>
          <p:grpSpPr>
            <a:xfrm>
              <a:off x="18173700" y="14039850"/>
              <a:ext cx="3286125" cy="1638300"/>
              <a:chOff x="18173700" y="14039850"/>
              <a:chExt cx="3286125" cy="1638300"/>
            </a:xfrm>
          </p:grpSpPr>
          <p:sp>
            <p:nvSpPr>
              <p:cNvPr id="179" name="card5-4-bg"/>
              <p:cNvSpPr/>
              <p:nvPr/>
            </p:nvSpPr>
            <p:spPr>
              <a:xfrm>
                <a:off x="18173700" y="14039850"/>
                <a:ext cx="3286125" cy="1638300"/>
              </a:xfrm>
              <a:prstGeom prst="roundRect">
                <a:avLst>
                  <a:gd name="adj" fmla="val 5813"/>
                </a:avLst>
              </a:prstGeom>
              <a:solidFill>
                <a:srgbClr val="FFFFFF"/>
              </a:solidFill>
              <a:ln w="19050">
                <a:solidFill>
                  <a:srgbClr val="CFDDF5"/>
                </a:solidFill>
              </a:ln>
              <a:effectLst/>
            </p:spPr>
            <p:txBody>
              <a:bodyPr rtlCol="0" anchor="ctr" wrap="none">
                <a:noAutofit/>
              </a:bodyPr>
              <a:lstStyle/>
              <a:p>
                <a:pPr algn="ctr"/>
              </a:p>
            </p:txBody>
          </p:sp>
          <p:sp>
            <p:nvSpPr>
              <p:cNvPr id="180" name="card5-4-title"/>
              <p:cNvSpPr txBox="1"/>
              <p:nvPr/>
            </p:nvSpPr>
            <p:spPr>
              <a:xfrm>
                <a:off x="19150012" y="14207490"/>
                <a:ext cx="1332548" cy="5029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2475" b="1" i="0">
                    <a:solidFill>
                      <a:srgbClr val="668CBB"/>
                    </a:solidFill>
                    <a:latin typeface="Microsoft YaHei"/>
                    <a:ea typeface="Microsoft YaHei"/>
                    <a:cs typeface="Microsoft YaHei"/>
                  </a:rPr>
                  <a:t>持续迭代</a:t>
                </a:r>
              </a:p>
            </p:txBody>
          </p:sp>
          <p:sp>
            <p:nvSpPr>
              <p:cNvPr id="181" name="card5-4-sub"/>
              <p:cNvSpPr txBox="1"/>
              <p:nvPr/>
            </p:nvSpPr>
            <p:spPr>
              <a:xfrm>
                <a:off x="18403252" y="14816138"/>
                <a:ext cx="2827020" cy="76200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noAutofit/>
              </a:bodyPr>
              <a:lstStyle/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功能优化、模型算法升</a:t>
                </a:r>
              </a:p>
              <a:p>
                <a:pPr algn="ctr">
                  <a:lnSpc>
                    <a:spcPts val="3000"/>
                  </a:lnSpc>
                </a:pPr>
                <a:r>
                  <a:rPr sz="2100" b="0" i="0">
                    <a:solidFill>
                      <a:srgbClr val="191919"/>
                    </a:solidFill>
                    <a:latin typeface="Microsoft YaHei"/>
                    <a:ea typeface="Microsoft YaHei"/>
                    <a:cs typeface="Microsoft YaHei"/>
                  </a:rPr>
                  <a:t>级、跨学科场景扩展</a:t>
                </a:r>
              </a:p>
            </p:txBody>
          </p:sp>
        </p:grpSp>
      </p:grpSp>
      <p:grpSp>
        <p:nvGrpSpPr>
          <p:cNvPr id="230" name="kb-bar"/>
          <p:cNvGrpSpPr/>
          <p:nvPr/>
        </p:nvGrpSpPr>
        <p:grpSpPr>
          <a:xfrm>
            <a:off x="7381875" y="7543800"/>
            <a:ext cx="14116050" cy="866775"/>
            <a:chOff x="7381875" y="7543800"/>
            <a:chExt cx="14116050" cy="866775"/>
          </a:xfrm>
        </p:grpSpPr>
        <p:sp>
          <p:nvSpPr>
            <p:cNvPr id="182" name="kb-bg"/>
            <p:cNvSpPr/>
            <p:nvPr/>
          </p:nvSpPr>
          <p:spPr>
            <a:xfrm>
              <a:off x="7381875" y="7543800"/>
              <a:ext cx="14116050" cy="866775"/>
            </a:xfrm>
            <a:prstGeom prst="roundRect">
              <a:avLst>
                <a:gd name="adj" fmla="val 24175"/>
              </a:avLst>
            </a:prstGeom>
            <a:solidFill>
              <a:srgbClr val="FFFFFF"/>
            </a:solidFill>
            <a:ln w="19050">
              <a:solidFill>
                <a:srgbClr val="F9E3BC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83" name="kb-icon-p1"/>
            <p:cNvSpPr/>
            <p:nvPr/>
          </p:nvSpPr>
          <p:spPr>
            <a:xfrm>
              <a:off x="10748582" y="7669911"/>
              <a:ext cx="496062" cy="160020"/>
            </a:xfrm>
            <a:prstGeom prst="ellipse">
              <a:avLst/>
            </a:prstGeom>
            <a:solidFill>
              <a:srgbClr val="BC953A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84" name="kb-icon-p2"/>
            <p:cNvSpPr/>
            <p:nvPr/>
          </p:nvSpPr>
          <p:spPr>
            <a:xfrm>
              <a:off x="10748582" y="7749921"/>
              <a:ext cx="496062" cy="368046"/>
            </a:xfrm>
            <a:prstGeom prst="rect">
              <a:avLst/>
            </a:prstGeom>
            <a:solidFill>
              <a:srgbClr val="BC953A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sp>
          <p:nvSpPr>
            <p:cNvPr id="185" name="kb-icon-p3"/>
            <p:cNvSpPr/>
            <p:nvPr/>
          </p:nvSpPr>
          <p:spPr>
            <a:xfrm>
              <a:off x="10748582" y="8037957"/>
              <a:ext cx="496062" cy="160020"/>
            </a:xfrm>
            <a:prstGeom prst="ellipse">
              <a:avLst/>
            </a:prstGeom>
            <a:solidFill>
              <a:srgbClr val="BC953A"/>
            </a:solidFill>
            <a:ln>
              <a:noFill/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cxnSp>
          <p:nvCxnSpPr>
            <p:cNvPr id="186" name="kb-icon-p4"/>
            <p:cNvCxnSpPr/>
            <p:nvPr/>
          </p:nvCxnSpPr>
          <p:spPr>
            <a:xfrm>
              <a:off x="10756582" y="7901940"/>
              <a:ext cx="480060" cy="0"/>
            </a:xfrm>
            <a:prstGeom prst="line">
              <a:avLst/>
            </a:prstGeom>
            <a:ln w="56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kb-icon-p5"/>
            <p:cNvCxnSpPr/>
            <p:nvPr/>
          </p:nvCxnSpPr>
          <p:spPr>
            <a:xfrm>
              <a:off x="10756582" y="8021955"/>
              <a:ext cx="480060" cy="0"/>
            </a:xfrm>
            <a:prstGeom prst="line">
              <a:avLst/>
            </a:prstGeom>
            <a:ln w="56007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kb-icon-p6"/>
            <p:cNvSpPr/>
            <p:nvPr/>
          </p:nvSpPr>
          <p:spPr>
            <a:xfrm>
              <a:off x="11108626" y="8109966"/>
              <a:ext cx="240030" cy="240030"/>
            </a:xfrm>
            <a:prstGeom prst="ellipse">
              <a:avLst/>
            </a:prstGeom>
            <a:solidFill>
              <a:srgbClr val="FFFFFF"/>
            </a:solidFill>
            <a:ln w="56007">
              <a:solidFill>
                <a:srgbClr val="BC953A"/>
              </a:solidFill>
            </a:ln>
            <a:effectLst/>
          </p:spPr>
          <p:txBody>
            <a:bodyPr rtlCol="0" anchor="ctr" wrap="none">
              <a:noAutofit/>
            </a:bodyPr>
            <a:lstStyle/>
            <a:p>
              <a:pPr algn="ctr"/>
            </a:p>
          </p:txBody>
        </p:sp>
        <p:cxnSp>
          <p:nvCxnSpPr>
            <p:cNvPr id="189" name="kb-icon-p7"/>
            <p:cNvCxnSpPr/>
            <p:nvPr/>
          </p:nvCxnSpPr>
          <p:spPr>
            <a:xfrm>
              <a:off x="11316652" y="8317992"/>
              <a:ext cx="88012" cy="88011"/>
            </a:xfrm>
            <a:prstGeom prst="line">
              <a:avLst/>
            </a:prstGeom>
            <a:ln w="56007">
              <a:solidFill>
                <a:srgbClr val="BC95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kb-title"/>
            <p:cNvSpPr txBox="1"/>
            <p:nvPr/>
          </p:nvSpPr>
          <p:spPr>
            <a:xfrm>
              <a:off x="11745278" y="7716202"/>
              <a:ext cx="1645920" cy="5029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475" b="1" i="0">
                  <a:solidFill>
                    <a:srgbClr val="BC953A"/>
                  </a:solidFill>
                  <a:latin typeface="Microsoft YaHei"/>
                  <a:ea typeface="Microsoft YaHei"/>
                  <a:cs typeface="Microsoft YaHei"/>
                </a:rPr>
                <a:t>学术知识库</a:t>
              </a:r>
            </a:p>
          </p:txBody>
        </p:sp>
        <p:sp>
          <p:nvSpPr>
            <p:cNvPr id="191" name="kb-detail"/>
            <p:cNvSpPr txBox="1"/>
            <p:nvPr/>
          </p:nvSpPr>
          <p:spPr>
            <a:xfrm>
              <a:off x="13603605" y="7744778"/>
              <a:ext cx="5331142" cy="4267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100" b="0" i="0" spc="-157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（文献库 / 数据库 / 方法库 / 领域知识图谱）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