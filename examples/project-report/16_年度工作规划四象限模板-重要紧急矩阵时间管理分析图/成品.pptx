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6403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640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525000" y="1257300"/>
            <a:ext cx="11430000" cy="137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775" b="1" i="0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年度工作规划四象限</a:t>
            </a:r>
          </a:p>
        </p:txBody>
      </p:sp>
      <p:sp>
        <p:nvSpPr>
          <p:cNvPr id="4" name="axis-h"/>
          <p:cNvSpPr/>
          <p:nvPr/>
        </p:nvSpPr>
        <p:spPr>
          <a:xfrm>
            <a:off x="1371600" y="8229600"/>
            <a:ext cx="27774900" cy="3429000"/>
          </a:xfrm>
          <a:custGeom>
            <a:avLst/>
            <a:gdLst/>
            <a:ahLst/>
            <a:cxnLst/>
            <a:rect l="l" t="t" r="r" b="b"/>
            <a:pathLst>
              <a:path w="27774900" h="3429000">
                <a:moveTo>
                  <a:pt x="0" y="1714500"/>
                </a:moveTo>
                <a:lnTo>
                  <a:pt x="1390650" y="0"/>
                </a:lnTo>
                <a:lnTo>
                  <a:pt x="1390650" y="914400"/>
                </a:lnTo>
                <a:lnTo>
                  <a:pt x="26346150" y="914400"/>
                </a:lnTo>
                <a:lnTo>
                  <a:pt x="26346150" y="0"/>
                </a:lnTo>
                <a:lnTo>
                  <a:pt x="27774900" y="1714500"/>
                </a:lnTo>
                <a:lnTo>
                  <a:pt x="26346150" y="3429000"/>
                </a:lnTo>
                <a:lnTo>
                  <a:pt x="26346150" y="2514600"/>
                </a:lnTo>
                <a:lnTo>
                  <a:pt x="1390650" y="2514600"/>
                </a:lnTo>
                <a:lnTo>
                  <a:pt x="1390650" y="3429000"/>
                </a:lnTo>
                <a:close/>
              </a:path>
            </a:pathLst>
          </a:custGeom>
          <a:solidFill>
            <a:srgbClr val="E5C2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axis-v"/>
          <p:cNvSpPr/>
          <p:nvPr/>
        </p:nvSpPr>
        <p:spPr>
          <a:xfrm>
            <a:off x="13468350" y="3705225"/>
            <a:ext cx="3448050" cy="12496800"/>
          </a:xfrm>
          <a:custGeom>
            <a:avLst/>
            <a:gdLst/>
            <a:ahLst/>
            <a:cxnLst/>
            <a:rect l="l" t="t" r="r" b="b"/>
            <a:pathLst>
              <a:path w="3448050" h="12496800">
                <a:moveTo>
                  <a:pt x="1733550" y="0"/>
                </a:moveTo>
                <a:lnTo>
                  <a:pt x="3448050" y="1533525"/>
                </a:lnTo>
                <a:lnTo>
                  <a:pt x="2524125" y="1533525"/>
                </a:lnTo>
                <a:lnTo>
                  <a:pt x="2524125" y="10963275"/>
                </a:lnTo>
                <a:lnTo>
                  <a:pt x="3448050" y="10963275"/>
                </a:lnTo>
                <a:lnTo>
                  <a:pt x="1733550" y="12496800"/>
                </a:lnTo>
                <a:lnTo>
                  <a:pt x="0" y="10963275"/>
                </a:lnTo>
                <a:lnTo>
                  <a:pt x="952500" y="10963275"/>
                </a:lnTo>
                <a:lnTo>
                  <a:pt x="952500" y="1533525"/>
                </a:lnTo>
                <a:lnTo>
                  <a:pt x="0" y="1533525"/>
                </a:lnTo>
                <a:close/>
              </a:path>
            </a:pathLst>
          </a:custGeom>
          <a:solidFill>
            <a:srgbClr val="E5C2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bl-重要"/>
          <p:cNvSpPr txBox="1"/>
          <p:nvPr/>
        </p:nvSpPr>
        <p:spPr>
          <a:xfrm>
            <a:off x="8277225" y="9667875"/>
            <a:ext cx="11049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重要</a:t>
            </a:r>
          </a:p>
        </p:txBody>
      </p:sp>
      <p:sp>
        <p:nvSpPr>
          <p:cNvPr id="7" name="lbl-不重要"/>
          <p:cNvSpPr txBox="1"/>
          <p:nvPr/>
        </p:nvSpPr>
        <p:spPr>
          <a:xfrm>
            <a:off x="23069550" y="9667875"/>
            <a:ext cx="16002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不重要</a:t>
            </a:r>
          </a:p>
        </p:txBody>
      </p:sp>
      <p:sp>
        <p:nvSpPr>
          <p:cNvPr id="8" name="lbl-紧急-0"/>
          <p:cNvSpPr txBox="1"/>
          <p:nvPr/>
        </p:nvSpPr>
        <p:spPr>
          <a:xfrm>
            <a:off x="14782800" y="6858000"/>
            <a:ext cx="8001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紧</a:t>
            </a:r>
          </a:p>
        </p:txBody>
      </p:sp>
      <p:sp>
        <p:nvSpPr>
          <p:cNvPr id="9" name="lbl-紧急-1"/>
          <p:cNvSpPr txBox="1"/>
          <p:nvPr/>
        </p:nvSpPr>
        <p:spPr>
          <a:xfrm>
            <a:off x="14782800" y="7515225"/>
            <a:ext cx="8001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急</a:t>
            </a:r>
          </a:p>
        </p:txBody>
      </p:sp>
      <p:sp>
        <p:nvSpPr>
          <p:cNvPr id="10" name="lbl-不紧急-0"/>
          <p:cNvSpPr txBox="1"/>
          <p:nvPr/>
        </p:nvSpPr>
        <p:spPr>
          <a:xfrm>
            <a:off x="14782800" y="11706225"/>
            <a:ext cx="8001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不</a:t>
            </a:r>
          </a:p>
        </p:txBody>
      </p:sp>
      <p:sp>
        <p:nvSpPr>
          <p:cNvPr id="11" name="lbl-不紧急-1"/>
          <p:cNvSpPr txBox="1"/>
          <p:nvPr/>
        </p:nvSpPr>
        <p:spPr>
          <a:xfrm>
            <a:off x="14782800" y="12353925"/>
            <a:ext cx="8001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紧</a:t>
            </a:r>
          </a:p>
        </p:txBody>
      </p:sp>
      <p:sp>
        <p:nvSpPr>
          <p:cNvPr id="12" name="lbl-不紧急-2"/>
          <p:cNvSpPr txBox="1"/>
          <p:nvPr/>
        </p:nvSpPr>
        <p:spPr>
          <a:xfrm>
            <a:off x="14782800" y="13011150"/>
            <a:ext cx="8001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急</a:t>
            </a:r>
          </a:p>
        </p:txBody>
      </p:sp>
      <p:sp>
        <p:nvSpPr>
          <p:cNvPr id="13" name="ic-star"/>
          <p:cNvSpPr/>
          <p:nvPr/>
        </p:nvSpPr>
        <p:spPr>
          <a:xfrm>
            <a:off x="2226945" y="9363075"/>
            <a:ext cx="1051560" cy="999173"/>
          </a:xfrm>
          <a:custGeom>
            <a:avLst/>
            <a:gdLst/>
            <a:ahLst/>
            <a:cxnLst/>
            <a:rect l="l" t="t" r="r" b="b"/>
            <a:pathLst>
              <a:path w="1051560" h="999173">
                <a:moveTo>
                  <a:pt x="525780" y="0"/>
                </a:moveTo>
                <a:lnTo>
                  <a:pt x="661987" y="364807"/>
                </a:lnTo>
                <a:lnTo>
                  <a:pt x="1051560" y="381953"/>
                </a:lnTo>
                <a:lnTo>
                  <a:pt x="746760" y="623887"/>
                </a:lnTo>
                <a:lnTo>
                  <a:pt x="850583" y="999173"/>
                </a:lnTo>
                <a:lnTo>
                  <a:pt x="525780" y="784860"/>
                </a:lnTo>
                <a:lnTo>
                  <a:pt x="200977" y="999173"/>
                </a:lnTo>
                <a:lnTo>
                  <a:pt x="304800" y="623887"/>
                </a:lnTo>
                <a:lnTo>
                  <a:pt x="0" y="381953"/>
                </a:lnTo>
                <a:lnTo>
                  <a:pt x="389573" y="364807"/>
                </a:lnTo>
                <a:close/>
              </a:path>
            </a:pathLst>
          </a:custGeom>
          <a:solidFill>
            <a:srgbClr val="E5C2EC"/>
          </a:solidFill>
          <a:ln w="85725">
            <a:solidFill>
              <a:srgbClr val="3A6F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ic-x-stem"/>
          <p:cNvSpPr/>
          <p:nvPr/>
        </p:nvSpPr>
        <p:spPr>
          <a:xfrm>
            <a:off x="27927300" y="8934450"/>
            <a:ext cx="85725" cy="628650"/>
          </a:xfrm>
          <a:prstGeom prst="roundRect">
            <a:avLst>
              <a:gd name="adj" fmla="val 44444"/>
            </a:avLst>
          </a:prstGeom>
          <a:solidFill>
            <a:srgbClr val="294B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ic-x-circle"/>
          <p:cNvSpPr/>
          <p:nvPr/>
        </p:nvSpPr>
        <p:spPr>
          <a:xfrm>
            <a:off x="27479625" y="9496425"/>
            <a:ext cx="952500" cy="952500"/>
          </a:xfrm>
          <a:prstGeom prst="ellipse">
            <a:avLst/>
          </a:prstGeom>
          <a:solidFill>
            <a:srgbClr val="294B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ic-x-1"/>
          <p:cNvCxnSpPr/>
          <p:nvPr/>
        </p:nvCxnSpPr>
        <p:spPr>
          <a:xfrm>
            <a:off x="27708225" y="9725025"/>
            <a:ext cx="495300" cy="495300"/>
          </a:xfrm>
          <a:prstGeom prst="line">
            <a:avLst/>
          </a:prstGeom>
          <a:ln w="95250">
            <a:solidFill>
              <a:srgbClr val="E5C2EC"/>
            </a:solidFill>
          </a:ln>
          <a:effectLst/>
        </p:spPr>
      </p:cxnSp>
      <p:cxnSp>
        <p:nvCxnSpPr>
          <p:cNvPr id="17" name="ic-x-2"/>
          <p:cNvCxnSpPr/>
          <p:nvPr/>
        </p:nvCxnSpPr>
        <p:spPr>
          <a:xfrm flipH="1">
            <a:off x="27708225" y="9725025"/>
            <a:ext cx="495300" cy="495300"/>
          </a:xfrm>
          <a:prstGeom prst="line">
            <a:avLst/>
          </a:prstGeom>
          <a:ln w="95250">
            <a:solidFill>
              <a:srgbClr val="E5C2EC"/>
            </a:solidFill>
          </a:ln>
          <a:effectLst/>
        </p:spPr>
      </p:cxnSp>
      <p:sp>
        <p:nvSpPr>
          <p:cNvPr id="18" name="ic-t-ring"/>
          <p:cNvSpPr/>
          <p:nvPr/>
        </p:nvSpPr>
        <p:spPr>
          <a:xfrm>
            <a:off x="14506575" y="4400550"/>
            <a:ext cx="655320" cy="666750"/>
          </a:xfrm>
          <a:custGeom>
            <a:avLst/>
            <a:gdLst/>
            <a:ahLst/>
            <a:cxnLst/>
            <a:rect l="l" t="t" r="r" b="b"/>
            <a:pathLst>
              <a:path w="655320" h="666750">
                <a:moveTo>
                  <a:pt x="655320" y="420052"/>
                </a:moveTo>
                <a:lnTo>
                  <a:pt x="648653" y="441960"/>
                </a:lnTo>
                <a:lnTo>
                  <a:pt x="640080" y="463868"/>
                </a:lnTo>
                <a:lnTo>
                  <a:pt x="630555" y="484822"/>
                </a:lnTo>
                <a:lnTo>
                  <a:pt x="619125" y="504825"/>
                </a:lnTo>
                <a:lnTo>
                  <a:pt x="606743" y="524828"/>
                </a:lnTo>
                <a:lnTo>
                  <a:pt x="592455" y="542925"/>
                </a:lnTo>
                <a:lnTo>
                  <a:pt x="577215" y="561022"/>
                </a:lnTo>
                <a:lnTo>
                  <a:pt x="561023" y="577215"/>
                </a:lnTo>
                <a:lnTo>
                  <a:pt x="542925" y="592455"/>
                </a:lnTo>
                <a:lnTo>
                  <a:pt x="524827" y="606742"/>
                </a:lnTo>
                <a:lnTo>
                  <a:pt x="504825" y="619125"/>
                </a:lnTo>
                <a:lnTo>
                  <a:pt x="484823" y="630555"/>
                </a:lnTo>
                <a:lnTo>
                  <a:pt x="463867" y="640080"/>
                </a:lnTo>
                <a:lnTo>
                  <a:pt x="441960" y="648652"/>
                </a:lnTo>
                <a:lnTo>
                  <a:pt x="420053" y="655320"/>
                </a:lnTo>
                <a:lnTo>
                  <a:pt x="397193" y="661035"/>
                </a:lnTo>
                <a:lnTo>
                  <a:pt x="374333" y="663892"/>
                </a:lnTo>
                <a:lnTo>
                  <a:pt x="350520" y="666750"/>
                </a:lnTo>
                <a:lnTo>
                  <a:pt x="327660" y="666750"/>
                </a:lnTo>
                <a:lnTo>
                  <a:pt x="303847" y="665798"/>
                </a:lnTo>
                <a:lnTo>
                  <a:pt x="280987" y="662940"/>
                </a:lnTo>
                <a:lnTo>
                  <a:pt x="258127" y="658178"/>
                </a:lnTo>
                <a:lnTo>
                  <a:pt x="236220" y="652462"/>
                </a:lnTo>
                <a:lnTo>
                  <a:pt x="214313" y="644842"/>
                </a:lnTo>
                <a:lnTo>
                  <a:pt x="192405" y="635318"/>
                </a:lnTo>
                <a:lnTo>
                  <a:pt x="171450" y="624840"/>
                </a:lnTo>
                <a:lnTo>
                  <a:pt x="151447" y="613410"/>
                </a:lnTo>
                <a:lnTo>
                  <a:pt x="132397" y="600075"/>
                </a:lnTo>
                <a:lnTo>
                  <a:pt x="114300" y="584835"/>
                </a:lnTo>
                <a:lnTo>
                  <a:pt x="98107" y="568642"/>
                </a:lnTo>
                <a:lnTo>
                  <a:pt x="81915" y="552450"/>
                </a:lnTo>
                <a:lnTo>
                  <a:pt x="66675" y="534352"/>
                </a:lnTo>
                <a:lnTo>
                  <a:pt x="53340" y="515302"/>
                </a:lnTo>
                <a:lnTo>
                  <a:pt x="41910" y="495300"/>
                </a:lnTo>
                <a:lnTo>
                  <a:pt x="31433" y="474345"/>
                </a:lnTo>
                <a:lnTo>
                  <a:pt x="21907" y="452438"/>
                </a:lnTo>
                <a:lnTo>
                  <a:pt x="14287" y="430530"/>
                </a:lnTo>
                <a:lnTo>
                  <a:pt x="8573" y="408622"/>
                </a:lnTo>
                <a:lnTo>
                  <a:pt x="3810" y="385762"/>
                </a:lnTo>
                <a:lnTo>
                  <a:pt x="953" y="362902"/>
                </a:lnTo>
                <a:lnTo>
                  <a:pt x="0" y="339090"/>
                </a:lnTo>
                <a:lnTo>
                  <a:pt x="0" y="316230"/>
                </a:lnTo>
                <a:lnTo>
                  <a:pt x="2857" y="292418"/>
                </a:lnTo>
                <a:lnTo>
                  <a:pt x="5715" y="269558"/>
                </a:lnTo>
                <a:lnTo>
                  <a:pt x="11430" y="246698"/>
                </a:lnTo>
                <a:lnTo>
                  <a:pt x="18097" y="224790"/>
                </a:lnTo>
                <a:lnTo>
                  <a:pt x="26670" y="202882"/>
                </a:lnTo>
                <a:lnTo>
                  <a:pt x="36195" y="181928"/>
                </a:lnTo>
                <a:lnTo>
                  <a:pt x="47625" y="161925"/>
                </a:lnTo>
                <a:lnTo>
                  <a:pt x="60007" y="141922"/>
                </a:lnTo>
                <a:lnTo>
                  <a:pt x="74295" y="123825"/>
                </a:lnTo>
                <a:lnTo>
                  <a:pt x="89535" y="105728"/>
                </a:lnTo>
                <a:lnTo>
                  <a:pt x="105727" y="89535"/>
                </a:lnTo>
                <a:lnTo>
                  <a:pt x="123825" y="74295"/>
                </a:lnTo>
                <a:lnTo>
                  <a:pt x="141923" y="60008"/>
                </a:lnTo>
                <a:lnTo>
                  <a:pt x="161925" y="47625"/>
                </a:lnTo>
                <a:lnTo>
                  <a:pt x="181927" y="36195"/>
                </a:lnTo>
                <a:lnTo>
                  <a:pt x="202883" y="26670"/>
                </a:lnTo>
                <a:lnTo>
                  <a:pt x="224790" y="18098"/>
                </a:lnTo>
                <a:lnTo>
                  <a:pt x="246697" y="11430"/>
                </a:lnTo>
                <a:lnTo>
                  <a:pt x="269557" y="5715"/>
                </a:lnTo>
                <a:lnTo>
                  <a:pt x="292417" y="2858"/>
                </a:lnTo>
                <a:lnTo>
                  <a:pt x="316230" y="0"/>
                </a:lnTo>
                <a:lnTo>
                  <a:pt x="339090" y="0"/>
                </a:lnTo>
                <a:lnTo>
                  <a:pt x="362903" y="952"/>
                </a:lnTo>
                <a:lnTo>
                  <a:pt x="385763" y="3810"/>
                </a:lnTo>
                <a:lnTo>
                  <a:pt x="408623" y="8572"/>
                </a:lnTo>
                <a:lnTo>
                  <a:pt x="430530" y="14288"/>
                </a:lnTo>
                <a:lnTo>
                  <a:pt x="452437" y="21908"/>
                </a:lnTo>
                <a:lnTo>
                  <a:pt x="474345" y="31432"/>
                </a:lnTo>
                <a:lnTo>
                  <a:pt x="495300" y="41910"/>
                </a:lnTo>
              </a:path>
            </a:pathLst>
          </a:custGeom>
          <a:noFill/>
          <a:ln w="76200">
            <a:solidFill>
              <a:srgbClr val="ED6E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ic-t-h1"/>
          <p:cNvCxnSpPr/>
          <p:nvPr/>
        </p:nvCxnSpPr>
        <p:spPr>
          <a:xfrm flipV="1">
            <a:off x="14839950" y="4524375"/>
            <a:ext cx="0" cy="209550"/>
          </a:xfrm>
          <a:prstGeom prst="line">
            <a:avLst/>
          </a:prstGeom>
          <a:ln w="76200">
            <a:solidFill>
              <a:srgbClr val="ED6E65"/>
            </a:solidFill>
          </a:ln>
          <a:effectLst/>
        </p:spPr>
      </p:cxnSp>
      <p:cxnSp>
        <p:nvCxnSpPr>
          <p:cNvPr id="20" name="ic-t-h2"/>
          <p:cNvCxnSpPr/>
          <p:nvPr/>
        </p:nvCxnSpPr>
        <p:spPr>
          <a:xfrm flipH="1">
            <a:off x="14649450" y="4733925"/>
            <a:ext cx="190500" cy="0"/>
          </a:xfrm>
          <a:prstGeom prst="line">
            <a:avLst/>
          </a:prstGeom>
          <a:ln w="76200">
            <a:solidFill>
              <a:srgbClr val="ED6E65"/>
            </a:solidFill>
          </a:ln>
          <a:effectLst/>
        </p:spPr>
      </p:cxnSp>
      <p:sp>
        <p:nvSpPr>
          <p:cNvPr id="21" name="ic-t-tri"/>
          <p:cNvSpPr/>
          <p:nvPr/>
        </p:nvSpPr>
        <p:spPr>
          <a:xfrm>
            <a:off x="15373350" y="4781550"/>
            <a:ext cx="400050" cy="514350"/>
          </a:xfrm>
          <a:custGeom>
            <a:avLst/>
            <a:gdLst/>
            <a:ahLst/>
            <a:cxnLst/>
            <a:rect l="l" t="t" r="r" b="b"/>
            <a:pathLst>
              <a:path w="400050" h="514350">
                <a:moveTo>
                  <a:pt x="0" y="0"/>
                </a:moveTo>
                <a:lnTo>
                  <a:pt x="400050" y="95250"/>
                </a:lnTo>
                <a:lnTo>
                  <a:pt x="57150" y="514350"/>
                </a:lnTo>
                <a:close/>
              </a:path>
            </a:pathLst>
          </a:custGeom>
          <a:solidFill>
            <a:srgbClr val="E5C2EC"/>
          </a:solidFill>
          <a:ln w="76200">
            <a:solidFill>
              <a:srgbClr val="ED6E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c-t-ex"/>
          <p:cNvSpPr/>
          <p:nvPr/>
        </p:nvSpPr>
        <p:spPr>
          <a:xfrm>
            <a:off x="15544800" y="4838700"/>
            <a:ext cx="76200" cy="228600"/>
          </a:xfrm>
          <a:prstGeom prst="roundRect">
            <a:avLst>
              <a:gd name="adj" fmla="val 37500"/>
            </a:avLst>
          </a:prstGeom>
          <a:solidFill>
            <a:srgbClr val="ED6E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ic-t-exdot"/>
          <p:cNvSpPr/>
          <p:nvPr/>
        </p:nvSpPr>
        <p:spPr>
          <a:xfrm>
            <a:off x="15535275" y="5124450"/>
            <a:ext cx="95250" cy="95250"/>
          </a:xfrm>
          <a:prstGeom prst="ellipse">
            <a:avLst/>
          </a:prstGeom>
          <a:solidFill>
            <a:srgbClr val="ED6E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66" name="ic-clock"/>
          <p:cNvGrpSpPr/>
          <p:nvPr/>
        </p:nvGrpSpPr>
        <p:grpSpPr>
          <a:xfrm>
            <a:off x="14681835" y="14567535"/>
            <a:ext cx="982980" cy="982980"/>
            <a:chOff x="14681835" y="14567535"/>
            <a:chExt cx="982980" cy="982980"/>
          </a:xfrm>
        </p:grpSpPr>
        <p:sp>
          <p:nvSpPr>
            <p:cNvPr id="24" name="Oval 23"/>
            <p:cNvSpPr/>
            <p:nvPr/>
          </p:nvSpPr>
          <p:spPr>
            <a:xfrm>
              <a:off x="14681835" y="14567535"/>
              <a:ext cx="982980" cy="982980"/>
            </a:xfrm>
            <a:prstGeom prst="ellipse">
              <a:avLst/>
            </a:prstGeom>
            <a:noFill/>
            <a:ln w="15240">
              <a:solidFill>
                <a:srgbClr val="3191E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 flipV="1">
              <a:off x="15173325" y="14773275"/>
              <a:ext cx="0" cy="285750"/>
            </a:xfrm>
            <a:prstGeom prst="line">
              <a:avLst/>
            </a:prstGeom>
            <a:ln w="104013">
              <a:solidFill>
                <a:srgbClr val="3191E5"/>
              </a:solidFill>
            </a:ln>
            <a:effectLst/>
          </p:spPr>
        </p:cxnSp>
        <p:cxnSp>
          <p:nvCxnSpPr>
            <p:cNvPr id="26" name="Connector 25"/>
            <p:cNvCxnSpPr/>
            <p:nvPr/>
          </p:nvCxnSpPr>
          <p:spPr>
            <a:xfrm>
              <a:off x="15173325" y="15059025"/>
              <a:ext cx="205740" cy="68580"/>
            </a:xfrm>
            <a:prstGeom prst="line">
              <a:avLst/>
            </a:prstGeom>
            <a:ln w="104013">
              <a:solidFill>
                <a:srgbClr val="3191E5"/>
              </a:solidFill>
            </a:ln>
            <a:effectLst/>
          </p:spPr>
        </p:cxnSp>
      </p:grpSp>
      <p:cxnSp>
        <p:nvCxnSpPr>
          <p:cNvPr id="27" name="ic-clock-h1"/>
          <p:cNvCxnSpPr/>
          <p:nvPr/>
        </p:nvCxnSpPr>
        <p:spPr>
          <a:xfrm flipV="1">
            <a:off x="15173325" y="14792325"/>
            <a:ext cx="0" cy="266700"/>
          </a:xfrm>
          <a:prstGeom prst="line">
            <a:avLst/>
          </a:prstGeom>
          <a:ln w="76200">
            <a:solidFill>
              <a:srgbClr val="ED6E65"/>
            </a:solidFill>
          </a:ln>
          <a:effectLst/>
        </p:spPr>
      </p:cxnSp>
      <p:cxnSp>
        <p:nvCxnSpPr>
          <p:cNvPr id="28" name="ic-clock-h2"/>
          <p:cNvCxnSpPr/>
          <p:nvPr/>
        </p:nvCxnSpPr>
        <p:spPr>
          <a:xfrm flipH="1">
            <a:off x="14954250" y="15059025"/>
            <a:ext cx="219075" cy="0"/>
          </a:xfrm>
          <a:prstGeom prst="line">
            <a:avLst/>
          </a:prstGeom>
          <a:ln w="76200">
            <a:solidFill>
              <a:srgbClr val="ED6E65"/>
            </a:solidFill>
          </a:ln>
          <a:effectLst/>
        </p:spPr>
      </p:cxnSp>
      <p:sp>
        <p:nvSpPr>
          <p:cNvPr id="29" name="ban-TL"/>
          <p:cNvSpPr/>
          <p:nvPr/>
        </p:nvSpPr>
        <p:spPr>
          <a:xfrm>
            <a:off x="1024509" y="3524250"/>
            <a:ext cx="13238607" cy="1085850"/>
          </a:xfrm>
          <a:custGeom>
            <a:avLst/>
            <a:gdLst/>
            <a:ahLst/>
            <a:cxnLst/>
            <a:rect l="l" t="t" r="r" b="b"/>
            <a:pathLst>
              <a:path w="13238607" h="1085850">
                <a:moveTo>
                  <a:pt x="0" y="542925"/>
                </a:moveTo>
                <a:lnTo>
                  <a:pt x="499491" y="0"/>
                </a:lnTo>
                <a:lnTo>
                  <a:pt x="12739116" y="0"/>
                </a:lnTo>
                <a:lnTo>
                  <a:pt x="13238607" y="542925"/>
                </a:lnTo>
                <a:lnTo>
                  <a:pt x="12739116" y="1085850"/>
                </a:lnTo>
                <a:lnTo>
                  <a:pt x="499491" y="1085850"/>
                </a:lnTo>
                <a:close/>
              </a:path>
            </a:pathLst>
          </a:custGeom>
          <a:solidFill>
            <a:srgbClr val="C4C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an-TL-shadow"/>
          <p:cNvSpPr/>
          <p:nvPr/>
        </p:nvSpPr>
        <p:spPr>
          <a:xfrm>
            <a:off x="1809750" y="3381375"/>
            <a:ext cx="11668125" cy="142875"/>
          </a:xfrm>
          <a:prstGeom prst="rect">
            <a:avLst/>
          </a:prstGeom>
          <a:gradFill rotWithShape="1">
            <a:gsLst>
              <a:gs pos="0">
                <a:srgbClr val="7E84A6"/>
              </a:gs>
              <a:gs pos="55000">
                <a:srgbClr val="A9AECB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ban-TL-txt"/>
          <p:cNvSpPr txBox="1"/>
          <p:nvPr/>
        </p:nvSpPr>
        <p:spPr>
          <a:xfrm>
            <a:off x="6500812" y="3657600"/>
            <a:ext cx="2190750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75" b="1" i="0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立即行动</a:t>
            </a:r>
          </a:p>
        </p:txBody>
      </p:sp>
      <p:sp>
        <p:nvSpPr>
          <p:cNvPr id="32" name="ban-TR"/>
          <p:cNvSpPr/>
          <p:nvPr/>
        </p:nvSpPr>
        <p:spPr>
          <a:xfrm>
            <a:off x="16131159" y="3524250"/>
            <a:ext cx="13514832" cy="1085850"/>
          </a:xfrm>
          <a:custGeom>
            <a:avLst/>
            <a:gdLst/>
            <a:ahLst/>
            <a:cxnLst/>
            <a:rect l="l" t="t" r="r" b="b"/>
            <a:pathLst>
              <a:path w="13514832" h="1085850">
                <a:moveTo>
                  <a:pt x="0" y="542925"/>
                </a:moveTo>
                <a:lnTo>
                  <a:pt x="499491" y="0"/>
                </a:lnTo>
                <a:lnTo>
                  <a:pt x="13015341" y="0"/>
                </a:lnTo>
                <a:lnTo>
                  <a:pt x="13514832" y="542925"/>
                </a:lnTo>
                <a:lnTo>
                  <a:pt x="13015341" y="1085850"/>
                </a:lnTo>
                <a:lnTo>
                  <a:pt x="499491" y="1085850"/>
                </a:lnTo>
                <a:close/>
              </a:path>
            </a:pathLst>
          </a:custGeom>
          <a:solidFill>
            <a:srgbClr val="FDC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ban-TR-shadow"/>
          <p:cNvSpPr/>
          <p:nvPr/>
        </p:nvSpPr>
        <p:spPr>
          <a:xfrm>
            <a:off x="16916400" y="3381375"/>
            <a:ext cx="11944350" cy="142875"/>
          </a:xfrm>
          <a:prstGeom prst="rect">
            <a:avLst/>
          </a:prstGeom>
          <a:gradFill rotWithShape="1">
            <a:gsLst>
              <a:gs pos="0">
                <a:srgbClr val="7E84A6"/>
              </a:gs>
              <a:gs pos="55000">
                <a:srgbClr val="A9AECB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an-TR-txt"/>
          <p:cNvSpPr txBox="1"/>
          <p:nvPr/>
        </p:nvSpPr>
        <p:spPr>
          <a:xfrm>
            <a:off x="21802725" y="3657600"/>
            <a:ext cx="2190750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75" b="1" i="0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计划安排</a:t>
            </a:r>
          </a:p>
        </p:txBody>
      </p:sp>
      <p:sp>
        <p:nvSpPr>
          <p:cNvPr id="35" name="ban-BL"/>
          <p:cNvSpPr/>
          <p:nvPr/>
        </p:nvSpPr>
        <p:spPr>
          <a:xfrm>
            <a:off x="976312" y="15430500"/>
            <a:ext cx="13335000" cy="1190625"/>
          </a:xfrm>
          <a:custGeom>
            <a:avLst/>
            <a:gdLst/>
            <a:ahLst/>
            <a:cxnLst/>
            <a:rect l="l" t="t" r="r" b="b"/>
            <a:pathLst>
              <a:path w="13335000" h="1190625">
                <a:moveTo>
                  <a:pt x="0" y="595312"/>
                </a:moveTo>
                <a:lnTo>
                  <a:pt x="547688" y="0"/>
                </a:lnTo>
                <a:lnTo>
                  <a:pt x="12787313" y="0"/>
                </a:lnTo>
                <a:lnTo>
                  <a:pt x="13335000" y="595312"/>
                </a:lnTo>
                <a:lnTo>
                  <a:pt x="12787313" y="1190625"/>
                </a:lnTo>
                <a:lnTo>
                  <a:pt x="547688" y="1190625"/>
                </a:lnTo>
                <a:close/>
              </a:path>
            </a:pathLst>
          </a:custGeom>
          <a:solidFill>
            <a:srgbClr val="B7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an-BL-shadow"/>
          <p:cNvSpPr/>
          <p:nvPr/>
        </p:nvSpPr>
        <p:spPr>
          <a:xfrm>
            <a:off x="1809750" y="15430500"/>
            <a:ext cx="11668125" cy="8572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60000">
                <a:srgbClr val="63688A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ban-BL-txt"/>
          <p:cNvSpPr txBox="1"/>
          <p:nvPr/>
        </p:nvSpPr>
        <p:spPr>
          <a:xfrm>
            <a:off x="6500812" y="15559088"/>
            <a:ext cx="2190750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75" b="1" i="0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委托他人</a:t>
            </a:r>
          </a:p>
        </p:txBody>
      </p:sp>
      <p:sp>
        <p:nvSpPr>
          <p:cNvPr id="38" name="ban-BR"/>
          <p:cNvSpPr/>
          <p:nvPr/>
        </p:nvSpPr>
        <p:spPr>
          <a:xfrm>
            <a:off x="16078581" y="15420975"/>
            <a:ext cx="13619988" cy="1200150"/>
          </a:xfrm>
          <a:custGeom>
            <a:avLst/>
            <a:gdLst/>
            <a:ahLst/>
            <a:cxnLst/>
            <a:rect l="l" t="t" r="r" b="b"/>
            <a:pathLst>
              <a:path w="13619988" h="1200150">
                <a:moveTo>
                  <a:pt x="0" y="600075"/>
                </a:moveTo>
                <a:lnTo>
                  <a:pt x="552069" y="0"/>
                </a:lnTo>
                <a:lnTo>
                  <a:pt x="13067919" y="0"/>
                </a:lnTo>
                <a:lnTo>
                  <a:pt x="13619988" y="600075"/>
                </a:lnTo>
                <a:lnTo>
                  <a:pt x="13067919" y="1200150"/>
                </a:lnTo>
                <a:lnTo>
                  <a:pt x="552069" y="1200150"/>
                </a:lnTo>
                <a:close/>
              </a:path>
            </a:pathLst>
          </a:custGeom>
          <a:solidFill>
            <a:srgbClr val="C0F4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ban-BR-shadow"/>
          <p:cNvSpPr/>
          <p:nvPr/>
        </p:nvSpPr>
        <p:spPr>
          <a:xfrm>
            <a:off x="16916400" y="15420975"/>
            <a:ext cx="11944350" cy="8572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60000">
                <a:srgbClr val="63688A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an-BR-txt"/>
          <p:cNvSpPr txBox="1"/>
          <p:nvPr/>
        </p:nvSpPr>
        <p:spPr>
          <a:xfrm>
            <a:off x="21802725" y="15554325"/>
            <a:ext cx="2190750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75" b="1" i="0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删除淘汰</a:t>
            </a:r>
          </a:p>
        </p:txBody>
      </p:sp>
      <p:grpSp>
        <p:nvGrpSpPr>
          <p:cNvPr id="68" name="grp-tl"/>
          <p:cNvGrpSpPr/>
          <p:nvPr/>
        </p:nvGrpSpPr>
        <p:grpSpPr>
          <a:xfrm>
            <a:off x="1905000" y="4933950"/>
            <a:ext cx="10553700" cy="3409950"/>
            <a:chOff x="1905000" y="4933950"/>
            <a:chExt cx="10553700" cy="3409950"/>
          </a:xfrm>
        </p:grpSpPr>
        <p:sp>
          <p:nvSpPr>
            <p:cNvPr id="41" name="card-tl-1"/>
            <p:cNvSpPr/>
            <p:nvPr/>
          </p:nvSpPr>
          <p:spPr>
            <a:xfrm>
              <a:off x="1905000" y="4933950"/>
              <a:ext cx="5048250" cy="1543050"/>
            </a:xfrm>
            <a:prstGeom prst="roundRect">
              <a:avLst>
                <a:gd name="adj" fmla="val 14814"/>
              </a:avLst>
            </a:prstGeom>
            <a:solidFill>
              <a:srgbClr val="C4CC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card-tl-2"/>
            <p:cNvSpPr/>
            <p:nvPr/>
          </p:nvSpPr>
          <p:spPr>
            <a:xfrm>
              <a:off x="7410450" y="4933950"/>
              <a:ext cx="5048250" cy="1543050"/>
            </a:xfrm>
            <a:prstGeom prst="roundRect">
              <a:avLst>
                <a:gd name="adj" fmla="val 14814"/>
              </a:avLst>
            </a:prstGeom>
            <a:solidFill>
              <a:srgbClr val="C4CC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card-tl-3"/>
            <p:cNvSpPr/>
            <p:nvPr/>
          </p:nvSpPr>
          <p:spPr>
            <a:xfrm>
              <a:off x="7410450" y="6800850"/>
              <a:ext cx="5048250" cy="1543050"/>
            </a:xfrm>
            <a:prstGeom prst="roundRect">
              <a:avLst>
                <a:gd name="adj" fmla="val 14814"/>
              </a:avLst>
            </a:prstGeom>
            <a:solidFill>
              <a:srgbClr val="C4CC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txt-tl-1"/>
            <p:cNvSpPr txBox="1"/>
            <p:nvPr/>
          </p:nvSpPr>
          <p:spPr>
            <a:xfrm>
              <a:off x="2219325" y="5400675"/>
              <a:ext cx="44196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E1E1E"/>
                  </a:solidFill>
                  <a:latin typeface="Microsoft YaHei"/>
                  <a:ea typeface="Microsoft YaHei"/>
                  <a:cs typeface="Microsoft YaHei"/>
                </a:rPr>
                <a:t>制定2026年核心业务战略</a:t>
              </a:r>
            </a:p>
          </p:txBody>
        </p:sp>
        <p:sp>
          <p:nvSpPr>
            <p:cNvPr id="45" name="txt-tl-2"/>
            <p:cNvSpPr txBox="1"/>
            <p:nvPr/>
          </p:nvSpPr>
          <p:spPr>
            <a:xfrm>
              <a:off x="7953375" y="5400675"/>
              <a:ext cx="3962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E1E1E"/>
                  </a:solidFill>
                  <a:latin typeface="Microsoft YaHei"/>
                  <a:ea typeface="Microsoft YaHei"/>
                  <a:cs typeface="Microsoft YaHei"/>
                </a:rPr>
                <a:t>完成年度绩效考核指标</a:t>
              </a:r>
            </a:p>
          </p:txBody>
        </p:sp>
        <p:sp>
          <p:nvSpPr>
            <p:cNvPr id="46" name="txt-tl-3"/>
            <p:cNvSpPr txBox="1"/>
            <p:nvPr/>
          </p:nvSpPr>
          <p:spPr>
            <a:xfrm>
              <a:off x="7572375" y="7267575"/>
              <a:ext cx="4724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E1E1E"/>
                  </a:solidFill>
                  <a:latin typeface="Microsoft YaHei"/>
                  <a:ea typeface="Microsoft YaHei"/>
                  <a:cs typeface="Microsoft YaHei"/>
                </a:rPr>
                <a:t>解决团队关键人员流失问题</a:t>
              </a:r>
            </a:p>
          </p:txBody>
        </p:sp>
      </p:grpSp>
      <p:grpSp>
        <p:nvGrpSpPr>
          <p:cNvPr id="69" name="grp-tr"/>
          <p:cNvGrpSpPr/>
          <p:nvPr/>
        </p:nvGrpSpPr>
        <p:grpSpPr>
          <a:xfrm>
            <a:off x="17640300" y="4933950"/>
            <a:ext cx="10534650" cy="3409950"/>
            <a:chOff x="17640300" y="4933950"/>
            <a:chExt cx="10534650" cy="3409950"/>
          </a:xfrm>
        </p:grpSpPr>
        <p:sp>
          <p:nvSpPr>
            <p:cNvPr id="47" name="card-tr-1"/>
            <p:cNvSpPr/>
            <p:nvPr/>
          </p:nvSpPr>
          <p:spPr>
            <a:xfrm>
              <a:off x="17640300" y="4933950"/>
              <a:ext cx="5048250" cy="1543050"/>
            </a:xfrm>
            <a:prstGeom prst="roundRect">
              <a:avLst>
                <a:gd name="adj" fmla="val 14814"/>
              </a:avLst>
            </a:prstGeom>
            <a:solidFill>
              <a:srgbClr val="FDCBC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card-tr-2"/>
            <p:cNvSpPr/>
            <p:nvPr/>
          </p:nvSpPr>
          <p:spPr>
            <a:xfrm>
              <a:off x="23126700" y="4933950"/>
              <a:ext cx="5048250" cy="1543050"/>
            </a:xfrm>
            <a:prstGeom prst="roundRect">
              <a:avLst>
                <a:gd name="adj" fmla="val 14814"/>
              </a:avLst>
            </a:prstGeom>
            <a:solidFill>
              <a:srgbClr val="FDCBC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card-tr-3"/>
            <p:cNvSpPr/>
            <p:nvPr/>
          </p:nvSpPr>
          <p:spPr>
            <a:xfrm>
              <a:off x="17640300" y="6800850"/>
              <a:ext cx="5048250" cy="1543050"/>
            </a:xfrm>
            <a:prstGeom prst="roundRect">
              <a:avLst>
                <a:gd name="adj" fmla="val 14814"/>
              </a:avLst>
            </a:prstGeom>
            <a:solidFill>
              <a:srgbClr val="FDCBC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txt-tr-1"/>
            <p:cNvSpPr txBox="1"/>
            <p:nvPr/>
          </p:nvSpPr>
          <p:spPr>
            <a:xfrm>
              <a:off x="18183225" y="5400675"/>
              <a:ext cx="3962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E1E1E"/>
                  </a:solidFill>
                  <a:latin typeface="Microsoft YaHei"/>
                  <a:ea typeface="Microsoft YaHei"/>
                  <a:cs typeface="Microsoft YaHei"/>
                </a:rPr>
                <a:t>建立员工培训体系规划</a:t>
              </a:r>
            </a:p>
          </p:txBody>
        </p:sp>
        <p:sp>
          <p:nvSpPr>
            <p:cNvPr id="51" name="txt-tr-2"/>
            <p:cNvSpPr txBox="1"/>
            <p:nvPr/>
          </p:nvSpPr>
          <p:spPr>
            <a:xfrm>
              <a:off x="23669625" y="5400675"/>
              <a:ext cx="3962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E1E1E"/>
                  </a:solidFill>
                  <a:latin typeface="Microsoft YaHei"/>
                  <a:ea typeface="Microsoft YaHei"/>
                  <a:cs typeface="Microsoft YaHei"/>
                </a:rPr>
                <a:t>制定数字化转型路线图</a:t>
              </a:r>
            </a:p>
          </p:txBody>
        </p:sp>
        <p:sp>
          <p:nvSpPr>
            <p:cNvPr id="52" name="txt-tr-3"/>
            <p:cNvSpPr txBox="1"/>
            <p:nvPr/>
          </p:nvSpPr>
          <p:spPr>
            <a:xfrm>
              <a:off x="18373725" y="7267575"/>
              <a:ext cx="3581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E1E1E"/>
                  </a:solidFill>
                  <a:latin typeface="Microsoft YaHei"/>
                  <a:ea typeface="Microsoft YaHei"/>
                  <a:cs typeface="Microsoft YaHei"/>
                </a:rPr>
                <a:t>建立合作伙伴生态圈</a:t>
              </a:r>
            </a:p>
          </p:txBody>
        </p:sp>
      </p:grpSp>
      <p:grpSp>
        <p:nvGrpSpPr>
          <p:cNvPr id="70" name="grp-bl"/>
          <p:cNvGrpSpPr/>
          <p:nvPr/>
        </p:nvGrpSpPr>
        <p:grpSpPr>
          <a:xfrm>
            <a:off x="1905000" y="11677650"/>
            <a:ext cx="10553700" cy="3409950"/>
            <a:chOff x="1905000" y="11677650"/>
            <a:chExt cx="10553700" cy="3409950"/>
          </a:xfrm>
        </p:grpSpPr>
        <p:sp>
          <p:nvSpPr>
            <p:cNvPr id="53" name="card-bl-1"/>
            <p:cNvSpPr/>
            <p:nvPr/>
          </p:nvSpPr>
          <p:spPr>
            <a:xfrm>
              <a:off x="7410450" y="11677650"/>
              <a:ext cx="5048250" cy="1543050"/>
            </a:xfrm>
            <a:prstGeom prst="roundRect">
              <a:avLst>
                <a:gd name="adj" fmla="val 14814"/>
              </a:avLst>
            </a:prstGeom>
            <a:solidFill>
              <a:srgbClr val="B7F9F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card-bl-2"/>
            <p:cNvSpPr/>
            <p:nvPr/>
          </p:nvSpPr>
          <p:spPr>
            <a:xfrm>
              <a:off x="1905000" y="13544550"/>
              <a:ext cx="5048250" cy="1543050"/>
            </a:xfrm>
            <a:prstGeom prst="roundRect">
              <a:avLst>
                <a:gd name="adj" fmla="val 14814"/>
              </a:avLst>
            </a:prstGeom>
            <a:solidFill>
              <a:srgbClr val="B7F9F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card-bl-3"/>
            <p:cNvSpPr/>
            <p:nvPr/>
          </p:nvSpPr>
          <p:spPr>
            <a:xfrm>
              <a:off x="7410450" y="13544550"/>
              <a:ext cx="5048250" cy="1543050"/>
            </a:xfrm>
            <a:prstGeom prst="roundRect">
              <a:avLst>
                <a:gd name="adj" fmla="val 14814"/>
              </a:avLst>
            </a:prstGeom>
            <a:solidFill>
              <a:srgbClr val="B7F9F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txt-bl-1"/>
            <p:cNvSpPr txBox="1"/>
            <p:nvPr/>
          </p:nvSpPr>
          <p:spPr>
            <a:xfrm>
              <a:off x="8334375" y="12144375"/>
              <a:ext cx="3200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E1E1E"/>
                  </a:solidFill>
                  <a:latin typeface="Microsoft YaHei"/>
                  <a:ea typeface="Microsoft YaHei"/>
                  <a:cs typeface="Microsoft YaHei"/>
                </a:rPr>
                <a:t>参加例行部门会议</a:t>
              </a:r>
            </a:p>
          </p:txBody>
        </p:sp>
        <p:sp>
          <p:nvSpPr>
            <p:cNvPr id="57" name="txt-bl-2"/>
            <p:cNvSpPr txBox="1"/>
            <p:nvPr/>
          </p:nvSpPr>
          <p:spPr>
            <a:xfrm>
              <a:off x="2828925" y="14011275"/>
              <a:ext cx="3200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E1E1E"/>
                  </a:solidFill>
                  <a:latin typeface="Microsoft YaHei"/>
                  <a:ea typeface="Microsoft YaHei"/>
                  <a:cs typeface="Microsoft YaHei"/>
                </a:rPr>
                <a:t>处理常规行政审批</a:t>
              </a:r>
            </a:p>
          </p:txBody>
        </p:sp>
        <p:sp>
          <p:nvSpPr>
            <p:cNvPr id="58" name="txt-bl-3"/>
            <p:cNvSpPr txBox="1"/>
            <p:nvPr/>
          </p:nvSpPr>
          <p:spPr>
            <a:xfrm>
              <a:off x="8334375" y="14011275"/>
              <a:ext cx="3200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E1E1E"/>
                  </a:solidFill>
                  <a:latin typeface="Microsoft YaHei"/>
                  <a:ea typeface="Microsoft YaHei"/>
                  <a:cs typeface="Microsoft YaHei"/>
                </a:rPr>
                <a:t>制作月度汇报材料</a:t>
              </a:r>
            </a:p>
          </p:txBody>
        </p:sp>
      </p:grpSp>
      <p:grpSp>
        <p:nvGrpSpPr>
          <p:cNvPr id="67" name="grp-br"/>
          <p:cNvGrpSpPr/>
          <p:nvPr/>
        </p:nvGrpSpPr>
        <p:grpSpPr>
          <a:xfrm>
            <a:off x="17640300" y="11677650"/>
            <a:ext cx="10534650" cy="3409950"/>
            <a:chOff x="17640300" y="11677650"/>
            <a:chExt cx="10534650" cy="3409950"/>
          </a:xfrm>
        </p:grpSpPr>
        <p:sp>
          <p:nvSpPr>
            <p:cNvPr id="59" name="card-br-1"/>
            <p:cNvSpPr/>
            <p:nvPr/>
          </p:nvSpPr>
          <p:spPr>
            <a:xfrm>
              <a:off x="17640300" y="11677650"/>
              <a:ext cx="5048250" cy="1543050"/>
            </a:xfrm>
            <a:prstGeom prst="roundRect">
              <a:avLst>
                <a:gd name="adj" fmla="val 14814"/>
              </a:avLst>
            </a:prstGeom>
            <a:solidFill>
              <a:srgbClr val="C0F4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card-br-2"/>
            <p:cNvSpPr/>
            <p:nvPr/>
          </p:nvSpPr>
          <p:spPr>
            <a:xfrm>
              <a:off x="17640300" y="13544550"/>
              <a:ext cx="5048250" cy="1543050"/>
            </a:xfrm>
            <a:prstGeom prst="roundRect">
              <a:avLst>
                <a:gd name="adj" fmla="val 14814"/>
              </a:avLst>
            </a:prstGeom>
            <a:solidFill>
              <a:srgbClr val="C0F4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card-br-3"/>
            <p:cNvSpPr/>
            <p:nvPr/>
          </p:nvSpPr>
          <p:spPr>
            <a:xfrm>
              <a:off x="23126700" y="13544550"/>
              <a:ext cx="5048250" cy="1543050"/>
            </a:xfrm>
            <a:prstGeom prst="roundRect">
              <a:avLst>
                <a:gd name="adj" fmla="val 14814"/>
              </a:avLst>
            </a:prstGeom>
            <a:solidFill>
              <a:srgbClr val="C0F4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txt-br-1"/>
            <p:cNvSpPr txBox="1"/>
            <p:nvPr/>
          </p:nvSpPr>
          <p:spPr>
            <a:xfrm>
              <a:off x="18373725" y="12144375"/>
              <a:ext cx="3581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E1E1E"/>
                  </a:solidFill>
                  <a:latin typeface="Microsoft YaHei"/>
                  <a:ea typeface="Microsoft YaHei"/>
                  <a:cs typeface="Microsoft YaHei"/>
                </a:rPr>
                <a:t>参与无关的行业论坛</a:t>
              </a:r>
            </a:p>
          </p:txBody>
        </p:sp>
        <p:sp>
          <p:nvSpPr>
            <p:cNvPr id="63" name="txt-br-2"/>
            <p:cNvSpPr txBox="1"/>
            <p:nvPr/>
          </p:nvSpPr>
          <p:spPr>
            <a:xfrm>
              <a:off x="18564225" y="14011275"/>
              <a:ext cx="3200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E1E1E"/>
                  </a:solidFill>
                  <a:latin typeface="Microsoft YaHei"/>
                  <a:ea typeface="Microsoft YaHei"/>
                  <a:cs typeface="Microsoft YaHei"/>
                </a:rPr>
                <a:t>频繁调整办公环境</a:t>
              </a:r>
            </a:p>
          </p:txBody>
        </p:sp>
        <p:sp>
          <p:nvSpPr>
            <p:cNvPr id="64" name="txt-br-3"/>
            <p:cNvSpPr txBox="1"/>
            <p:nvPr/>
          </p:nvSpPr>
          <p:spPr>
            <a:xfrm>
              <a:off x="24050625" y="14011275"/>
              <a:ext cx="3200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E1E1E"/>
                  </a:solidFill>
                  <a:latin typeface="Microsoft YaHei"/>
                  <a:ea typeface="Microsoft YaHei"/>
                  <a:cs typeface="Microsoft YaHei"/>
                </a:rPr>
                <a:t>过多关注竞品动态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