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933575" y="1543050"/>
            <a:ext cx="68580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141414"/>
                </a:solidFill>
                <a:latin typeface="Microsoft YaHei"/>
                <a:ea typeface="Microsoft YaHei"/>
                <a:cs typeface="Microsoft YaHei"/>
              </a:rPr>
              <a:t>产品迭代路线图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933575" y="2952750"/>
            <a:ext cx="10763250" cy="1143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625" b="1" i="0">
                <a:solidFill>
                  <a:srgbClr val="2FB3A3"/>
                </a:solidFill>
                <a:latin typeface="Microsoft YaHei"/>
                <a:ea typeface="Microsoft YaHei"/>
                <a:cs typeface="Microsoft YaHei"/>
              </a:rPr>
              <a:t>年度产品规划与版本节奏管理</a:t>
            </a:r>
          </a:p>
        </p:txBody>
      </p:sp>
      <p:sp>
        <p:nvSpPr>
          <p:cNvPr id="5" name="ul-arrow"/>
          <p:cNvSpPr/>
          <p:nvPr/>
        </p:nvSpPr>
        <p:spPr>
          <a:xfrm>
            <a:off x="3000375" y="4038600"/>
            <a:ext cx="9896475" cy="552450"/>
          </a:xfrm>
          <a:custGeom>
            <a:avLst/>
            <a:gdLst/>
            <a:ahLst/>
            <a:cxnLst/>
            <a:rect l="l" t="t" r="r" b="b"/>
            <a:pathLst>
              <a:path w="9896475" h="552450">
                <a:moveTo>
                  <a:pt x="0" y="180975"/>
                </a:moveTo>
                <a:lnTo>
                  <a:pt x="8963025" y="180975"/>
                </a:lnTo>
                <a:lnTo>
                  <a:pt x="8963025" y="0"/>
                </a:lnTo>
                <a:lnTo>
                  <a:pt x="9896475" y="276225"/>
                </a:lnTo>
                <a:lnTo>
                  <a:pt x="8963025" y="552450"/>
                </a:lnTo>
                <a:lnTo>
                  <a:pt x="8963025" y="371475"/>
                </a:lnTo>
                <a:lnTo>
                  <a:pt x="0" y="371475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4ED7C5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b1-dot"/>
          <p:cNvSpPr/>
          <p:nvPr/>
        </p:nvSpPr>
        <p:spPr>
          <a:xfrm>
            <a:off x="2105025" y="4752975"/>
            <a:ext cx="400050" cy="40005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b1-dot-g"/>
          <p:cNvSpPr txBox="1"/>
          <p:nvPr/>
        </p:nvSpPr>
        <p:spPr>
          <a:xfrm>
            <a:off x="2076450" y="4724400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8" name="b1-teal"/>
          <p:cNvSpPr txBox="1"/>
          <p:nvPr/>
        </p:nvSpPr>
        <p:spPr>
          <a:xfrm>
            <a:off x="2905125" y="4552950"/>
            <a:ext cx="3619500" cy="790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FB3A3"/>
                </a:solidFill>
                <a:latin typeface="Microsoft YaHei"/>
                <a:ea typeface="Microsoft YaHei"/>
                <a:cs typeface="Microsoft YaHei"/>
              </a:rPr>
              <a:t>年度产品规划：</a:t>
            </a:r>
          </a:p>
        </p:txBody>
      </p:sp>
      <p:sp>
        <p:nvSpPr>
          <p:cNvPr id="9" name="b1-dark"/>
          <p:cNvSpPr txBox="1"/>
          <p:nvPr/>
        </p:nvSpPr>
        <p:spPr>
          <a:xfrm>
            <a:off x="6305550" y="4552950"/>
            <a:ext cx="5905500" cy="790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明确产品发展方向与目标</a:t>
            </a:r>
          </a:p>
        </p:txBody>
      </p:sp>
      <p:sp>
        <p:nvSpPr>
          <p:cNvPr id="10" name="b2-dot"/>
          <p:cNvSpPr/>
          <p:nvPr/>
        </p:nvSpPr>
        <p:spPr>
          <a:xfrm>
            <a:off x="2105025" y="5562600"/>
            <a:ext cx="400050" cy="40005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2-dot-g"/>
          <p:cNvSpPr txBox="1"/>
          <p:nvPr/>
        </p:nvSpPr>
        <p:spPr>
          <a:xfrm>
            <a:off x="2076450" y="5534025"/>
            <a:ext cx="4572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»</a:t>
            </a:r>
          </a:p>
        </p:txBody>
      </p:sp>
      <p:sp>
        <p:nvSpPr>
          <p:cNvPr id="12" name="b2-teal"/>
          <p:cNvSpPr txBox="1"/>
          <p:nvPr/>
        </p:nvSpPr>
        <p:spPr>
          <a:xfrm>
            <a:off x="2905125" y="5362575"/>
            <a:ext cx="3619500" cy="790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 i="0">
                <a:solidFill>
                  <a:srgbClr val="2FB3A3"/>
                </a:solidFill>
                <a:latin typeface="Microsoft YaHei"/>
                <a:ea typeface="Microsoft YaHei"/>
                <a:cs typeface="Microsoft YaHei"/>
              </a:rPr>
              <a:t>版本节奏管理：</a:t>
            </a:r>
          </a:p>
        </p:txBody>
      </p:sp>
      <p:sp>
        <p:nvSpPr>
          <p:cNvPr id="13" name="b2-dark"/>
          <p:cNvSpPr txBox="1"/>
          <p:nvPr/>
        </p:nvSpPr>
        <p:spPr>
          <a:xfrm>
            <a:off x="6305550" y="5362575"/>
            <a:ext cx="5905500" cy="790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0" i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把控版本发布时间与进度</a:t>
            </a:r>
          </a:p>
        </p:txBody>
      </p:sp>
      <p:sp>
        <p:nvSpPr>
          <p:cNvPr id="14" name="arrow-ribbon"/>
          <p:cNvSpPr/>
          <p:nvPr/>
        </p:nvSpPr>
        <p:spPr>
          <a:xfrm>
            <a:off x="3429000" y="2657475"/>
            <a:ext cx="23355300" cy="4619625"/>
          </a:xfrm>
          <a:custGeom>
            <a:avLst/>
            <a:gdLst/>
            <a:ahLst/>
            <a:cxnLst/>
            <a:rect l="l" t="t" r="r" b="b"/>
            <a:pathLst>
              <a:path w="23355300" h="4619625">
                <a:moveTo>
                  <a:pt x="0" y="4314825"/>
                </a:moveTo>
                <a:lnTo>
                  <a:pt x="3238500" y="4391025"/>
                </a:lnTo>
                <a:lnTo>
                  <a:pt x="7048500" y="4467225"/>
                </a:lnTo>
                <a:lnTo>
                  <a:pt x="10848975" y="4524375"/>
                </a:lnTo>
                <a:lnTo>
                  <a:pt x="13754100" y="4619625"/>
                </a:lnTo>
                <a:lnTo>
                  <a:pt x="16192500" y="4000500"/>
                </a:lnTo>
                <a:lnTo>
                  <a:pt x="18611850" y="3200400"/>
                </a:lnTo>
                <a:lnTo>
                  <a:pt x="20554950" y="2352675"/>
                </a:lnTo>
                <a:lnTo>
                  <a:pt x="22012275" y="1485900"/>
                </a:lnTo>
                <a:lnTo>
                  <a:pt x="23355300" y="685800"/>
                </a:lnTo>
                <a:lnTo>
                  <a:pt x="22936200" y="0"/>
                </a:lnTo>
                <a:lnTo>
                  <a:pt x="21612225" y="819150"/>
                </a:lnTo>
                <a:lnTo>
                  <a:pt x="20212050" y="1666875"/>
                </a:lnTo>
                <a:lnTo>
                  <a:pt x="18345150" y="2533650"/>
                </a:lnTo>
                <a:lnTo>
                  <a:pt x="16002000" y="3352800"/>
                </a:lnTo>
                <a:lnTo>
                  <a:pt x="13677900" y="3971925"/>
                </a:lnTo>
                <a:lnTo>
                  <a:pt x="10868025" y="3914775"/>
                </a:lnTo>
                <a:lnTo>
                  <a:pt x="7048500" y="3895725"/>
                </a:lnTo>
                <a:lnTo>
                  <a:pt x="3238500" y="3857625"/>
                </a:lnTo>
                <a:lnTo>
                  <a:pt x="0" y="3819525"/>
                </a:lnTo>
                <a:close/>
              </a:path>
            </a:pathLst>
          </a:custGeom>
          <a:gradFill rotWithShape="1">
            <a:gsLst>
              <a:gs pos="0">
                <a:srgbClr val="D9F6F0"/>
              </a:gs>
              <a:gs pos="100000">
                <a:srgbClr val="4ED7C5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rrow-head"/>
          <p:cNvSpPr/>
          <p:nvPr/>
        </p:nvSpPr>
        <p:spPr>
          <a:xfrm>
            <a:off x="25641300" y="1847850"/>
            <a:ext cx="2476500" cy="2343150"/>
          </a:xfrm>
          <a:custGeom>
            <a:avLst/>
            <a:gdLst/>
            <a:ahLst/>
            <a:cxnLst/>
            <a:rect l="l" t="t" r="r" b="b"/>
            <a:pathLst>
              <a:path w="2476500" h="2343150">
                <a:moveTo>
                  <a:pt x="2476500" y="28575"/>
                </a:moveTo>
                <a:lnTo>
                  <a:pt x="1638300" y="2343150"/>
                </a:lnTo>
                <a:lnTo>
                  <a:pt x="0" y="0"/>
                </a:lnTo>
                <a:close/>
              </a:path>
            </a:pathLst>
          </a:cu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100" name="card1"/>
          <p:cNvGrpSpPr/>
          <p:nvPr/>
        </p:nvGrpSpPr>
        <p:grpSpPr>
          <a:xfrm>
            <a:off x="2790825" y="8134350"/>
            <a:ext cx="4381500" cy="6019800"/>
            <a:chOff x="2790825" y="8134350"/>
            <a:chExt cx="4381500" cy="6019800"/>
          </a:xfrm>
        </p:grpSpPr>
        <p:sp>
          <p:nvSpPr>
            <p:cNvPr id="16" name="card1-roof"/>
            <p:cNvSpPr/>
            <p:nvPr/>
          </p:nvSpPr>
          <p:spPr>
            <a:xfrm>
              <a:off x="2847975" y="8134350"/>
              <a:ext cx="4267200" cy="533400"/>
            </a:xfrm>
            <a:custGeom>
              <a:avLst/>
              <a:gdLst/>
              <a:ahLst/>
              <a:cxnLst/>
              <a:rect l="l" t="t" r="r" b="b"/>
              <a:pathLst>
                <a:path w="4267200" h="533400">
                  <a:moveTo>
                    <a:pt x="628650" y="0"/>
                  </a:moveTo>
                  <a:lnTo>
                    <a:pt x="3638550" y="0"/>
                  </a:lnTo>
                  <a:lnTo>
                    <a:pt x="4267200" y="533400"/>
                  </a:lnTo>
                  <a:lnTo>
                    <a:pt x="0" y="5334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E4F8F4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card1-body"/>
            <p:cNvSpPr/>
            <p:nvPr/>
          </p:nvSpPr>
          <p:spPr>
            <a:xfrm>
              <a:off x="2790825" y="8648700"/>
              <a:ext cx="4381500" cy="5505450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57150">
              <a:solidFill>
                <a:srgbClr val="4ED7C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card1-wash1"/>
            <p:cNvSpPr/>
            <p:nvPr/>
          </p:nvSpPr>
          <p:spPr>
            <a:xfrm>
              <a:off x="2857500" y="8972550"/>
              <a:ext cx="4248150" cy="2381250"/>
            </a:xfrm>
            <a:prstGeom prst="roundRect">
              <a:avLst>
                <a:gd name="adj" fmla="val 4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6F1EB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card1-wash2"/>
            <p:cNvSpPr/>
            <p:nvPr/>
          </p:nvSpPr>
          <p:spPr>
            <a:xfrm>
              <a:off x="2857500" y="11353800"/>
              <a:ext cx="4248150" cy="1905000"/>
            </a:xfrm>
            <a:prstGeom prst="roundRect">
              <a:avLst>
                <a:gd name="adj" fmla="val 5000"/>
              </a:avLst>
            </a:prstGeom>
            <a:gradFill rotWithShape="1">
              <a:gsLst>
                <a:gs pos="0">
                  <a:srgbClr val="C6F1EB"/>
                </a:gs>
                <a:gs pos="100000">
                  <a:srgbClr val="FFFFFF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card1-cap"/>
            <p:cNvSpPr/>
            <p:nvPr/>
          </p:nvSpPr>
          <p:spPr>
            <a:xfrm>
              <a:off x="2800350" y="8658225"/>
              <a:ext cx="4362450" cy="323850"/>
            </a:xfrm>
            <a:custGeom>
              <a:avLst/>
              <a:gdLst/>
              <a:ahLst/>
              <a:cxnLst/>
              <a:rect l="l" t="t" r="r" b="b"/>
              <a:pathLst>
                <a:path w="4362450" h="323850">
                  <a:moveTo>
                    <a:pt x="0" y="228600"/>
                  </a:moveTo>
                  <a:lnTo>
                    <a:pt x="0" y="190500"/>
                  </a:lnTo>
                  <a:lnTo>
                    <a:pt x="9525" y="161925"/>
                  </a:lnTo>
                  <a:lnTo>
                    <a:pt x="28575" y="123825"/>
                  </a:lnTo>
                  <a:lnTo>
                    <a:pt x="47625" y="95250"/>
                  </a:lnTo>
                  <a:lnTo>
                    <a:pt x="66675" y="66675"/>
                  </a:lnTo>
                  <a:lnTo>
                    <a:pt x="95250" y="47625"/>
                  </a:lnTo>
                  <a:lnTo>
                    <a:pt x="123825" y="28575"/>
                  </a:lnTo>
                  <a:lnTo>
                    <a:pt x="161925" y="9525"/>
                  </a:lnTo>
                  <a:lnTo>
                    <a:pt x="190500" y="0"/>
                  </a:lnTo>
                  <a:lnTo>
                    <a:pt x="228600" y="0"/>
                  </a:lnTo>
                  <a:lnTo>
                    <a:pt x="4133850" y="0"/>
                  </a:lnTo>
                  <a:lnTo>
                    <a:pt x="4171950" y="0"/>
                  </a:lnTo>
                  <a:lnTo>
                    <a:pt x="4200525" y="9525"/>
                  </a:lnTo>
                  <a:lnTo>
                    <a:pt x="4238625" y="28575"/>
                  </a:lnTo>
                  <a:lnTo>
                    <a:pt x="4267200" y="47625"/>
                  </a:lnTo>
                  <a:lnTo>
                    <a:pt x="4295775" y="66675"/>
                  </a:lnTo>
                  <a:lnTo>
                    <a:pt x="4314825" y="95250"/>
                  </a:lnTo>
                  <a:lnTo>
                    <a:pt x="4333875" y="123825"/>
                  </a:lnTo>
                  <a:lnTo>
                    <a:pt x="4352925" y="161925"/>
                  </a:lnTo>
                  <a:lnTo>
                    <a:pt x="4362450" y="190500"/>
                  </a:lnTo>
                  <a:lnTo>
                    <a:pt x="4362450" y="228600"/>
                  </a:lnTo>
                  <a:lnTo>
                    <a:pt x="43624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card1-title"/>
            <p:cNvSpPr txBox="1"/>
            <p:nvPr/>
          </p:nvSpPr>
          <p:spPr>
            <a:xfrm>
              <a:off x="3076575" y="9058275"/>
              <a:ext cx="38100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年初</a:t>
              </a:r>
            </a:p>
          </p:txBody>
        </p:sp>
        <p:sp>
          <p:nvSpPr>
            <p:cNvPr id="22" name="card1-pill1"/>
            <p:cNvSpPr/>
            <p:nvPr/>
          </p:nvSpPr>
          <p:spPr>
            <a:xfrm>
              <a:off x="3438525" y="10058400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card1-pill1-t"/>
            <p:cNvSpPr txBox="1"/>
            <p:nvPr/>
          </p:nvSpPr>
          <p:spPr>
            <a:xfrm>
              <a:off x="3552825" y="10125075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产品规划</a:t>
              </a:r>
            </a:p>
          </p:txBody>
        </p:sp>
        <p:sp>
          <p:nvSpPr>
            <p:cNvPr id="24" name="card1-body1"/>
            <p:cNvSpPr txBox="1"/>
            <p:nvPr/>
          </p:nvSpPr>
          <p:spPr>
            <a:xfrm>
              <a:off x="2981325" y="1087755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确立全年核心</a:t>
              </a:r>
            </a:p>
          </p:txBody>
        </p:sp>
        <p:sp>
          <p:nvSpPr>
            <p:cNvPr id="25" name="card1-body2"/>
            <p:cNvSpPr txBox="1"/>
            <p:nvPr/>
          </p:nvSpPr>
          <p:spPr>
            <a:xfrm>
              <a:off x="2981325" y="1144905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产品目标</a:t>
              </a:r>
            </a:p>
          </p:txBody>
        </p:sp>
        <p:sp>
          <p:nvSpPr>
            <p:cNvPr id="26" name="card1-pill2"/>
            <p:cNvSpPr/>
            <p:nvPr/>
          </p:nvSpPr>
          <p:spPr>
            <a:xfrm>
              <a:off x="3438525" y="12153900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card1-pill2-t"/>
            <p:cNvSpPr txBox="1"/>
            <p:nvPr/>
          </p:nvSpPr>
          <p:spPr>
            <a:xfrm>
              <a:off x="3552825" y="12220575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节奏管理</a:t>
              </a:r>
            </a:p>
          </p:txBody>
        </p:sp>
        <p:sp>
          <p:nvSpPr>
            <p:cNvPr id="28" name="card1-body3"/>
            <p:cNvSpPr txBox="1"/>
            <p:nvPr/>
          </p:nvSpPr>
          <p:spPr>
            <a:xfrm>
              <a:off x="2981325" y="1295400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规划版本发布</a:t>
              </a:r>
            </a:p>
          </p:txBody>
        </p:sp>
        <p:sp>
          <p:nvSpPr>
            <p:cNvPr id="29" name="card1-body4"/>
            <p:cNvSpPr txBox="1"/>
            <p:nvPr/>
          </p:nvSpPr>
          <p:spPr>
            <a:xfrm>
              <a:off x="2981325" y="1352550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时间节点</a:t>
              </a:r>
            </a:p>
          </p:txBody>
        </p:sp>
      </p:grpSp>
      <p:sp>
        <p:nvSpPr>
          <p:cNvPr id="30" name="circle1"/>
          <p:cNvSpPr/>
          <p:nvPr/>
        </p:nvSpPr>
        <p:spPr>
          <a:xfrm>
            <a:off x="4229100" y="6419850"/>
            <a:ext cx="1485900" cy="148590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ircle1-num"/>
          <p:cNvSpPr txBox="1"/>
          <p:nvPr/>
        </p:nvSpPr>
        <p:spPr>
          <a:xfrm>
            <a:off x="4257675" y="6610350"/>
            <a:ext cx="142875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grpSp>
        <p:nvGrpSpPr>
          <p:cNvPr id="99" name="card2"/>
          <p:cNvGrpSpPr/>
          <p:nvPr/>
        </p:nvGrpSpPr>
        <p:grpSpPr>
          <a:xfrm>
            <a:off x="7972425" y="8582025"/>
            <a:ext cx="4381500" cy="6019800"/>
            <a:chOff x="7972425" y="8582025"/>
            <a:chExt cx="4381500" cy="6019800"/>
          </a:xfrm>
        </p:grpSpPr>
        <p:sp>
          <p:nvSpPr>
            <p:cNvPr id="32" name="card2-roof"/>
            <p:cNvSpPr/>
            <p:nvPr/>
          </p:nvSpPr>
          <p:spPr>
            <a:xfrm>
              <a:off x="8029575" y="8582025"/>
              <a:ext cx="4267200" cy="533400"/>
            </a:xfrm>
            <a:custGeom>
              <a:avLst/>
              <a:gdLst/>
              <a:ahLst/>
              <a:cxnLst/>
              <a:rect l="l" t="t" r="r" b="b"/>
              <a:pathLst>
                <a:path w="4267200" h="533400">
                  <a:moveTo>
                    <a:pt x="628650" y="0"/>
                  </a:moveTo>
                  <a:lnTo>
                    <a:pt x="3638550" y="0"/>
                  </a:lnTo>
                  <a:lnTo>
                    <a:pt x="4267200" y="533400"/>
                  </a:lnTo>
                  <a:lnTo>
                    <a:pt x="0" y="5334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DF0DC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card2-body"/>
            <p:cNvSpPr/>
            <p:nvPr/>
          </p:nvSpPr>
          <p:spPr>
            <a:xfrm>
              <a:off x="7972425" y="9096375"/>
              <a:ext cx="4381500" cy="5505450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57150">
              <a:solidFill>
                <a:srgbClr val="FE9D1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card2-wash1"/>
            <p:cNvSpPr/>
            <p:nvPr/>
          </p:nvSpPr>
          <p:spPr>
            <a:xfrm>
              <a:off x="8039100" y="9420225"/>
              <a:ext cx="4248150" cy="2381250"/>
            </a:xfrm>
            <a:prstGeom prst="roundRect">
              <a:avLst>
                <a:gd name="adj" fmla="val 4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1E5C8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card2-wash2"/>
            <p:cNvSpPr/>
            <p:nvPr/>
          </p:nvSpPr>
          <p:spPr>
            <a:xfrm>
              <a:off x="8039100" y="11801475"/>
              <a:ext cx="4248150" cy="1905000"/>
            </a:xfrm>
            <a:prstGeom prst="roundRect">
              <a:avLst>
                <a:gd name="adj" fmla="val 5000"/>
              </a:avLst>
            </a:prstGeom>
            <a:gradFill rotWithShape="1">
              <a:gsLst>
                <a:gs pos="0">
                  <a:srgbClr val="E1E5C8"/>
                </a:gs>
                <a:gs pos="100000">
                  <a:srgbClr val="E8F9F4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card2-cap"/>
            <p:cNvSpPr/>
            <p:nvPr/>
          </p:nvSpPr>
          <p:spPr>
            <a:xfrm>
              <a:off x="7981950" y="9105900"/>
              <a:ext cx="4362450" cy="323850"/>
            </a:xfrm>
            <a:custGeom>
              <a:avLst/>
              <a:gdLst/>
              <a:ahLst/>
              <a:cxnLst/>
              <a:rect l="l" t="t" r="r" b="b"/>
              <a:pathLst>
                <a:path w="4362450" h="323850">
                  <a:moveTo>
                    <a:pt x="0" y="228600"/>
                  </a:moveTo>
                  <a:lnTo>
                    <a:pt x="0" y="190500"/>
                  </a:lnTo>
                  <a:lnTo>
                    <a:pt x="9525" y="161925"/>
                  </a:lnTo>
                  <a:lnTo>
                    <a:pt x="28575" y="123825"/>
                  </a:lnTo>
                  <a:lnTo>
                    <a:pt x="47625" y="95250"/>
                  </a:lnTo>
                  <a:lnTo>
                    <a:pt x="66675" y="66675"/>
                  </a:lnTo>
                  <a:lnTo>
                    <a:pt x="95250" y="47625"/>
                  </a:lnTo>
                  <a:lnTo>
                    <a:pt x="123825" y="28575"/>
                  </a:lnTo>
                  <a:lnTo>
                    <a:pt x="161925" y="9525"/>
                  </a:lnTo>
                  <a:lnTo>
                    <a:pt x="190500" y="0"/>
                  </a:lnTo>
                  <a:lnTo>
                    <a:pt x="228600" y="0"/>
                  </a:lnTo>
                  <a:lnTo>
                    <a:pt x="4133850" y="0"/>
                  </a:lnTo>
                  <a:lnTo>
                    <a:pt x="4171950" y="0"/>
                  </a:lnTo>
                  <a:lnTo>
                    <a:pt x="4200525" y="9525"/>
                  </a:lnTo>
                  <a:lnTo>
                    <a:pt x="4238625" y="28575"/>
                  </a:lnTo>
                  <a:lnTo>
                    <a:pt x="4267200" y="47625"/>
                  </a:lnTo>
                  <a:lnTo>
                    <a:pt x="4295775" y="66675"/>
                  </a:lnTo>
                  <a:lnTo>
                    <a:pt x="4314825" y="95250"/>
                  </a:lnTo>
                  <a:lnTo>
                    <a:pt x="4333875" y="123825"/>
                  </a:lnTo>
                  <a:lnTo>
                    <a:pt x="4352925" y="161925"/>
                  </a:lnTo>
                  <a:lnTo>
                    <a:pt x="4362450" y="190500"/>
                  </a:lnTo>
                  <a:lnTo>
                    <a:pt x="4362450" y="228600"/>
                  </a:lnTo>
                  <a:lnTo>
                    <a:pt x="43624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E9D1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card2-title"/>
            <p:cNvSpPr txBox="1"/>
            <p:nvPr/>
          </p:nvSpPr>
          <p:spPr>
            <a:xfrm>
              <a:off x="8258175" y="9505950"/>
              <a:ext cx="38100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第一季度末</a:t>
              </a:r>
            </a:p>
          </p:txBody>
        </p:sp>
        <p:sp>
          <p:nvSpPr>
            <p:cNvPr id="38" name="card2-pill1"/>
            <p:cNvSpPr/>
            <p:nvPr/>
          </p:nvSpPr>
          <p:spPr>
            <a:xfrm>
              <a:off x="8620125" y="10506075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FE9D1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ard2-pill1-t"/>
            <p:cNvSpPr txBox="1"/>
            <p:nvPr/>
          </p:nvSpPr>
          <p:spPr>
            <a:xfrm>
              <a:off x="8734425" y="10572750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产品规划</a:t>
              </a:r>
            </a:p>
          </p:txBody>
        </p:sp>
        <p:sp>
          <p:nvSpPr>
            <p:cNvPr id="40" name="card2-body1"/>
            <p:cNvSpPr txBox="1"/>
            <p:nvPr/>
          </p:nvSpPr>
          <p:spPr>
            <a:xfrm>
              <a:off x="8162925" y="1132522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优化产品</a:t>
              </a:r>
            </a:p>
          </p:txBody>
        </p:sp>
        <p:sp>
          <p:nvSpPr>
            <p:cNvPr id="41" name="card2-body2"/>
            <p:cNvSpPr txBox="1"/>
            <p:nvPr/>
          </p:nvSpPr>
          <p:spPr>
            <a:xfrm>
              <a:off x="8162925" y="1189672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功能体验</a:t>
              </a:r>
            </a:p>
          </p:txBody>
        </p:sp>
        <p:sp>
          <p:nvSpPr>
            <p:cNvPr id="42" name="card2-pill2"/>
            <p:cNvSpPr/>
            <p:nvPr/>
          </p:nvSpPr>
          <p:spPr>
            <a:xfrm>
              <a:off x="8620125" y="12601575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FE9D1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card2-pill2-t"/>
            <p:cNvSpPr txBox="1"/>
            <p:nvPr/>
          </p:nvSpPr>
          <p:spPr>
            <a:xfrm>
              <a:off x="8734425" y="12668250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节奏管理</a:t>
              </a:r>
            </a:p>
          </p:txBody>
        </p:sp>
        <p:sp>
          <p:nvSpPr>
            <p:cNvPr id="44" name="card2-body3"/>
            <p:cNvSpPr txBox="1"/>
            <p:nvPr/>
          </p:nvSpPr>
          <p:spPr>
            <a:xfrm>
              <a:off x="8162925" y="1340167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开展版本内测</a:t>
              </a:r>
            </a:p>
          </p:txBody>
        </p:sp>
        <p:sp>
          <p:nvSpPr>
            <p:cNvPr id="45" name="card2-body4"/>
            <p:cNvSpPr txBox="1"/>
            <p:nvPr/>
          </p:nvSpPr>
          <p:spPr>
            <a:xfrm>
              <a:off x="8162925" y="1397317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与反馈收集</a:t>
              </a:r>
            </a:p>
          </p:txBody>
        </p:sp>
      </p:grpSp>
      <p:sp>
        <p:nvSpPr>
          <p:cNvPr id="46" name="circle2"/>
          <p:cNvSpPr/>
          <p:nvPr/>
        </p:nvSpPr>
        <p:spPr>
          <a:xfrm>
            <a:off x="9429750" y="7010400"/>
            <a:ext cx="1485900" cy="1485900"/>
          </a:xfrm>
          <a:prstGeom prst="ellipse">
            <a:avLst/>
          </a:prstGeom>
          <a:solidFill>
            <a:srgbClr val="FE9D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ircle2-num"/>
          <p:cNvSpPr txBox="1"/>
          <p:nvPr/>
        </p:nvSpPr>
        <p:spPr>
          <a:xfrm>
            <a:off x="9458325" y="7200900"/>
            <a:ext cx="142875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pSp>
        <p:nvGrpSpPr>
          <p:cNvPr id="102" name="card3"/>
          <p:cNvGrpSpPr/>
          <p:nvPr/>
        </p:nvGrpSpPr>
        <p:grpSpPr>
          <a:xfrm>
            <a:off x="13163550" y="8305800"/>
            <a:ext cx="4381500" cy="6019800"/>
            <a:chOff x="13163550" y="8305800"/>
            <a:chExt cx="4381500" cy="6019800"/>
          </a:xfrm>
        </p:grpSpPr>
        <p:sp>
          <p:nvSpPr>
            <p:cNvPr id="48" name="card3-roof"/>
            <p:cNvSpPr/>
            <p:nvPr/>
          </p:nvSpPr>
          <p:spPr>
            <a:xfrm>
              <a:off x="13220700" y="8305800"/>
              <a:ext cx="4267200" cy="533400"/>
            </a:xfrm>
            <a:custGeom>
              <a:avLst/>
              <a:gdLst/>
              <a:ahLst/>
              <a:cxnLst/>
              <a:rect l="l" t="t" r="r" b="b"/>
              <a:pathLst>
                <a:path w="4267200" h="533400">
                  <a:moveTo>
                    <a:pt x="628650" y="0"/>
                  </a:moveTo>
                  <a:lnTo>
                    <a:pt x="3638550" y="0"/>
                  </a:lnTo>
                  <a:lnTo>
                    <a:pt x="4267200" y="533400"/>
                  </a:lnTo>
                  <a:lnTo>
                    <a:pt x="0" y="5334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E4F8F4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card3-body"/>
            <p:cNvSpPr/>
            <p:nvPr/>
          </p:nvSpPr>
          <p:spPr>
            <a:xfrm>
              <a:off x="13163550" y="8820150"/>
              <a:ext cx="4381500" cy="5505450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57150">
              <a:solidFill>
                <a:srgbClr val="4ED7C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card3-wash1"/>
            <p:cNvSpPr/>
            <p:nvPr/>
          </p:nvSpPr>
          <p:spPr>
            <a:xfrm>
              <a:off x="13230225" y="9144000"/>
              <a:ext cx="4248150" cy="2381250"/>
            </a:xfrm>
            <a:prstGeom prst="roundRect">
              <a:avLst>
                <a:gd name="adj" fmla="val 4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6F1EB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card3-wash2"/>
            <p:cNvSpPr/>
            <p:nvPr/>
          </p:nvSpPr>
          <p:spPr>
            <a:xfrm>
              <a:off x="13230225" y="11525250"/>
              <a:ext cx="4248150" cy="1905000"/>
            </a:xfrm>
            <a:prstGeom prst="roundRect">
              <a:avLst>
                <a:gd name="adj" fmla="val 5000"/>
              </a:avLst>
            </a:prstGeom>
            <a:gradFill rotWithShape="1">
              <a:gsLst>
                <a:gs pos="0">
                  <a:srgbClr val="C6F1EB"/>
                </a:gs>
                <a:gs pos="100000">
                  <a:srgbClr val="FFFFFF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card3-cap"/>
            <p:cNvSpPr/>
            <p:nvPr/>
          </p:nvSpPr>
          <p:spPr>
            <a:xfrm>
              <a:off x="13173075" y="8829675"/>
              <a:ext cx="4362450" cy="323850"/>
            </a:xfrm>
            <a:custGeom>
              <a:avLst/>
              <a:gdLst/>
              <a:ahLst/>
              <a:cxnLst/>
              <a:rect l="l" t="t" r="r" b="b"/>
              <a:pathLst>
                <a:path w="4362450" h="323850">
                  <a:moveTo>
                    <a:pt x="0" y="228600"/>
                  </a:moveTo>
                  <a:lnTo>
                    <a:pt x="0" y="190500"/>
                  </a:lnTo>
                  <a:lnTo>
                    <a:pt x="9525" y="161925"/>
                  </a:lnTo>
                  <a:lnTo>
                    <a:pt x="28575" y="123825"/>
                  </a:lnTo>
                  <a:lnTo>
                    <a:pt x="47625" y="95250"/>
                  </a:lnTo>
                  <a:lnTo>
                    <a:pt x="66675" y="66675"/>
                  </a:lnTo>
                  <a:lnTo>
                    <a:pt x="95250" y="47625"/>
                  </a:lnTo>
                  <a:lnTo>
                    <a:pt x="123825" y="28575"/>
                  </a:lnTo>
                  <a:lnTo>
                    <a:pt x="161925" y="9525"/>
                  </a:lnTo>
                  <a:lnTo>
                    <a:pt x="190500" y="0"/>
                  </a:lnTo>
                  <a:lnTo>
                    <a:pt x="228600" y="0"/>
                  </a:lnTo>
                  <a:lnTo>
                    <a:pt x="4133850" y="0"/>
                  </a:lnTo>
                  <a:lnTo>
                    <a:pt x="4171950" y="0"/>
                  </a:lnTo>
                  <a:lnTo>
                    <a:pt x="4200525" y="9525"/>
                  </a:lnTo>
                  <a:lnTo>
                    <a:pt x="4238625" y="28575"/>
                  </a:lnTo>
                  <a:lnTo>
                    <a:pt x="4267200" y="47625"/>
                  </a:lnTo>
                  <a:lnTo>
                    <a:pt x="4295775" y="66675"/>
                  </a:lnTo>
                  <a:lnTo>
                    <a:pt x="4314825" y="95250"/>
                  </a:lnTo>
                  <a:lnTo>
                    <a:pt x="4333875" y="123825"/>
                  </a:lnTo>
                  <a:lnTo>
                    <a:pt x="4352925" y="161925"/>
                  </a:lnTo>
                  <a:lnTo>
                    <a:pt x="4362450" y="190500"/>
                  </a:lnTo>
                  <a:lnTo>
                    <a:pt x="4362450" y="228600"/>
                  </a:lnTo>
                  <a:lnTo>
                    <a:pt x="43624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card3-title"/>
            <p:cNvSpPr txBox="1"/>
            <p:nvPr/>
          </p:nvSpPr>
          <p:spPr>
            <a:xfrm>
              <a:off x="13449300" y="9229725"/>
              <a:ext cx="38100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年中</a:t>
              </a:r>
            </a:p>
          </p:txBody>
        </p:sp>
        <p:sp>
          <p:nvSpPr>
            <p:cNvPr id="54" name="card3-pill1"/>
            <p:cNvSpPr/>
            <p:nvPr/>
          </p:nvSpPr>
          <p:spPr>
            <a:xfrm>
              <a:off x="13811250" y="10229850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3-pill1-t"/>
            <p:cNvSpPr txBox="1"/>
            <p:nvPr/>
          </p:nvSpPr>
          <p:spPr>
            <a:xfrm>
              <a:off x="13925550" y="10296525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产品规划</a:t>
              </a:r>
            </a:p>
          </p:txBody>
        </p:sp>
        <p:sp>
          <p:nvSpPr>
            <p:cNvPr id="56" name="card3-body1"/>
            <p:cNvSpPr txBox="1"/>
            <p:nvPr/>
          </p:nvSpPr>
          <p:spPr>
            <a:xfrm>
              <a:off x="13354050" y="1104900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拓展产品</a:t>
              </a:r>
            </a:p>
          </p:txBody>
        </p:sp>
        <p:sp>
          <p:nvSpPr>
            <p:cNvPr id="57" name="card3-body2"/>
            <p:cNvSpPr txBox="1"/>
            <p:nvPr/>
          </p:nvSpPr>
          <p:spPr>
            <a:xfrm>
              <a:off x="13354050" y="1162050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新应用场景</a:t>
              </a:r>
            </a:p>
          </p:txBody>
        </p:sp>
        <p:sp>
          <p:nvSpPr>
            <p:cNvPr id="58" name="card3-pill2"/>
            <p:cNvSpPr/>
            <p:nvPr/>
          </p:nvSpPr>
          <p:spPr>
            <a:xfrm>
              <a:off x="13811250" y="12325350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card3-pill2-t"/>
            <p:cNvSpPr txBox="1"/>
            <p:nvPr/>
          </p:nvSpPr>
          <p:spPr>
            <a:xfrm>
              <a:off x="13925550" y="12392025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节奏管理</a:t>
              </a:r>
            </a:p>
          </p:txBody>
        </p:sp>
        <p:sp>
          <p:nvSpPr>
            <p:cNvPr id="60" name="card3-body3"/>
            <p:cNvSpPr txBox="1"/>
            <p:nvPr/>
          </p:nvSpPr>
          <p:spPr>
            <a:xfrm>
              <a:off x="13354050" y="1312545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开展版本内测</a:t>
              </a:r>
            </a:p>
          </p:txBody>
        </p:sp>
        <p:sp>
          <p:nvSpPr>
            <p:cNvPr id="61" name="card3-body4"/>
            <p:cNvSpPr txBox="1"/>
            <p:nvPr/>
          </p:nvSpPr>
          <p:spPr>
            <a:xfrm>
              <a:off x="13354050" y="1369695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与反馈收集</a:t>
              </a:r>
            </a:p>
          </p:txBody>
        </p:sp>
      </p:grpSp>
      <p:sp>
        <p:nvSpPr>
          <p:cNvPr id="62" name="circle3"/>
          <p:cNvSpPr/>
          <p:nvPr/>
        </p:nvSpPr>
        <p:spPr>
          <a:xfrm>
            <a:off x="14630400" y="6648450"/>
            <a:ext cx="1485900" cy="148590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ircle3-num"/>
          <p:cNvSpPr txBox="1"/>
          <p:nvPr/>
        </p:nvSpPr>
        <p:spPr>
          <a:xfrm>
            <a:off x="14658975" y="6838950"/>
            <a:ext cx="142875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98" name="card4"/>
          <p:cNvGrpSpPr/>
          <p:nvPr/>
        </p:nvGrpSpPr>
        <p:grpSpPr>
          <a:xfrm>
            <a:off x="18364200" y="6943725"/>
            <a:ext cx="4381500" cy="6019800"/>
            <a:chOff x="18364200" y="6943725"/>
            <a:chExt cx="4381500" cy="6019800"/>
          </a:xfrm>
        </p:grpSpPr>
        <p:sp>
          <p:nvSpPr>
            <p:cNvPr id="64" name="card4-roof"/>
            <p:cNvSpPr/>
            <p:nvPr/>
          </p:nvSpPr>
          <p:spPr>
            <a:xfrm>
              <a:off x="18421350" y="6943725"/>
              <a:ext cx="4267200" cy="533400"/>
            </a:xfrm>
            <a:custGeom>
              <a:avLst/>
              <a:gdLst/>
              <a:ahLst/>
              <a:cxnLst/>
              <a:rect l="l" t="t" r="r" b="b"/>
              <a:pathLst>
                <a:path w="4267200" h="533400">
                  <a:moveTo>
                    <a:pt x="628650" y="0"/>
                  </a:moveTo>
                  <a:lnTo>
                    <a:pt x="3638550" y="0"/>
                  </a:lnTo>
                  <a:lnTo>
                    <a:pt x="4267200" y="533400"/>
                  </a:lnTo>
                  <a:lnTo>
                    <a:pt x="0" y="5334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FDF0DC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card4-body"/>
            <p:cNvSpPr/>
            <p:nvPr/>
          </p:nvSpPr>
          <p:spPr>
            <a:xfrm>
              <a:off x="18364200" y="7458075"/>
              <a:ext cx="4381500" cy="5505450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57150">
              <a:solidFill>
                <a:srgbClr val="FE9D18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card4-wash1"/>
            <p:cNvSpPr/>
            <p:nvPr/>
          </p:nvSpPr>
          <p:spPr>
            <a:xfrm>
              <a:off x="18430875" y="7781925"/>
              <a:ext cx="4248150" cy="2381250"/>
            </a:xfrm>
            <a:prstGeom prst="roundRect">
              <a:avLst>
                <a:gd name="adj" fmla="val 4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1E5C8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card4-wash2"/>
            <p:cNvSpPr/>
            <p:nvPr/>
          </p:nvSpPr>
          <p:spPr>
            <a:xfrm>
              <a:off x="18430875" y="10163175"/>
              <a:ext cx="4248150" cy="1905000"/>
            </a:xfrm>
            <a:prstGeom prst="roundRect">
              <a:avLst>
                <a:gd name="adj" fmla="val 5000"/>
              </a:avLst>
            </a:prstGeom>
            <a:gradFill rotWithShape="1">
              <a:gsLst>
                <a:gs pos="0">
                  <a:srgbClr val="E1E5C8"/>
                </a:gs>
                <a:gs pos="100000">
                  <a:srgbClr val="E8F9F4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card4-cap"/>
            <p:cNvSpPr/>
            <p:nvPr/>
          </p:nvSpPr>
          <p:spPr>
            <a:xfrm>
              <a:off x="18373725" y="7467600"/>
              <a:ext cx="4362450" cy="323850"/>
            </a:xfrm>
            <a:custGeom>
              <a:avLst/>
              <a:gdLst/>
              <a:ahLst/>
              <a:cxnLst/>
              <a:rect l="l" t="t" r="r" b="b"/>
              <a:pathLst>
                <a:path w="4362450" h="323850">
                  <a:moveTo>
                    <a:pt x="0" y="228600"/>
                  </a:moveTo>
                  <a:lnTo>
                    <a:pt x="0" y="190500"/>
                  </a:lnTo>
                  <a:lnTo>
                    <a:pt x="9525" y="161925"/>
                  </a:lnTo>
                  <a:lnTo>
                    <a:pt x="28575" y="123825"/>
                  </a:lnTo>
                  <a:lnTo>
                    <a:pt x="47625" y="95250"/>
                  </a:lnTo>
                  <a:lnTo>
                    <a:pt x="66675" y="66675"/>
                  </a:lnTo>
                  <a:lnTo>
                    <a:pt x="95250" y="47625"/>
                  </a:lnTo>
                  <a:lnTo>
                    <a:pt x="123825" y="28575"/>
                  </a:lnTo>
                  <a:lnTo>
                    <a:pt x="161925" y="9525"/>
                  </a:lnTo>
                  <a:lnTo>
                    <a:pt x="190500" y="0"/>
                  </a:lnTo>
                  <a:lnTo>
                    <a:pt x="228600" y="0"/>
                  </a:lnTo>
                  <a:lnTo>
                    <a:pt x="4133850" y="0"/>
                  </a:lnTo>
                  <a:lnTo>
                    <a:pt x="4171950" y="0"/>
                  </a:lnTo>
                  <a:lnTo>
                    <a:pt x="4200525" y="9525"/>
                  </a:lnTo>
                  <a:lnTo>
                    <a:pt x="4238625" y="28575"/>
                  </a:lnTo>
                  <a:lnTo>
                    <a:pt x="4267200" y="47625"/>
                  </a:lnTo>
                  <a:lnTo>
                    <a:pt x="4295775" y="66675"/>
                  </a:lnTo>
                  <a:lnTo>
                    <a:pt x="4314825" y="95250"/>
                  </a:lnTo>
                  <a:lnTo>
                    <a:pt x="4333875" y="123825"/>
                  </a:lnTo>
                  <a:lnTo>
                    <a:pt x="4352925" y="161925"/>
                  </a:lnTo>
                  <a:lnTo>
                    <a:pt x="4362450" y="190500"/>
                  </a:lnTo>
                  <a:lnTo>
                    <a:pt x="4362450" y="228600"/>
                  </a:lnTo>
                  <a:lnTo>
                    <a:pt x="43624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FE9D1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card4-title"/>
            <p:cNvSpPr txBox="1"/>
            <p:nvPr/>
          </p:nvSpPr>
          <p:spPr>
            <a:xfrm>
              <a:off x="18649950" y="7867650"/>
              <a:ext cx="38100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第三季度末</a:t>
              </a:r>
            </a:p>
          </p:txBody>
        </p:sp>
        <p:sp>
          <p:nvSpPr>
            <p:cNvPr id="70" name="card4-pill1"/>
            <p:cNvSpPr/>
            <p:nvPr/>
          </p:nvSpPr>
          <p:spPr>
            <a:xfrm>
              <a:off x="19011900" y="8867775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FE9D1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card4-pill1-t"/>
            <p:cNvSpPr txBox="1"/>
            <p:nvPr/>
          </p:nvSpPr>
          <p:spPr>
            <a:xfrm>
              <a:off x="19126200" y="8934450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产品规划</a:t>
              </a:r>
            </a:p>
          </p:txBody>
        </p:sp>
        <p:sp>
          <p:nvSpPr>
            <p:cNvPr id="72" name="card4-body1"/>
            <p:cNvSpPr txBox="1"/>
            <p:nvPr/>
          </p:nvSpPr>
          <p:spPr>
            <a:xfrm>
              <a:off x="18554700" y="968692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提升产品</a:t>
              </a:r>
            </a:p>
          </p:txBody>
        </p:sp>
        <p:sp>
          <p:nvSpPr>
            <p:cNvPr id="73" name="card4-body2"/>
            <p:cNvSpPr txBox="1"/>
            <p:nvPr/>
          </p:nvSpPr>
          <p:spPr>
            <a:xfrm>
              <a:off x="18554700" y="1025842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性能稳定性</a:t>
              </a:r>
            </a:p>
          </p:txBody>
        </p:sp>
        <p:sp>
          <p:nvSpPr>
            <p:cNvPr id="74" name="card4-pill2"/>
            <p:cNvSpPr/>
            <p:nvPr/>
          </p:nvSpPr>
          <p:spPr>
            <a:xfrm>
              <a:off x="19011900" y="10963275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FE9D1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card4-pill2-t"/>
            <p:cNvSpPr txBox="1"/>
            <p:nvPr/>
          </p:nvSpPr>
          <p:spPr>
            <a:xfrm>
              <a:off x="19126200" y="11029950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节奏管理</a:t>
              </a:r>
            </a:p>
          </p:txBody>
        </p:sp>
        <p:sp>
          <p:nvSpPr>
            <p:cNvPr id="76" name="card4-body3"/>
            <p:cNvSpPr txBox="1"/>
            <p:nvPr/>
          </p:nvSpPr>
          <p:spPr>
            <a:xfrm>
              <a:off x="18554700" y="1176337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进行重大</a:t>
              </a:r>
            </a:p>
          </p:txBody>
        </p:sp>
        <p:sp>
          <p:nvSpPr>
            <p:cNvPr id="77" name="card4-body4"/>
            <p:cNvSpPr txBox="1"/>
            <p:nvPr/>
          </p:nvSpPr>
          <p:spPr>
            <a:xfrm>
              <a:off x="18554700" y="12334875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版本升级上线</a:t>
              </a:r>
            </a:p>
          </p:txBody>
        </p:sp>
      </p:grpSp>
      <p:sp>
        <p:nvSpPr>
          <p:cNvPr id="78" name="circle4"/>
          <p:cNvSpPr/>
          <p:nvPr/>
        </p:nvSpPr>
        <p:spPr>
          <a:xfrm>
            <a:off x="19812000" y="5314950"/>
            <a:ext cx="1485900" cy="1485900"/>
          </a:xfrm>
          <a:prstGeom prst="ellipse">
            <a:avLst/>
          </a:prstGeom>
          <a:solidFill>
            <a:srgbClr val="FE9D1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circle4-num"/>
          <p:cNvSpPr txBox="1"/>
          <p:nvPr/>
        </p:nvSpPr>
        <p:spPr>
          <a:xfrm>
            <a:off x="19840575" y="5505450"/>
            <a:ext cx="142875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pSp>
        <p:nvGrpSpPr>
          <p:cNvPr id="101" name="card5"/>
          <p:cNvGrpSpPr/>
          <p:nvPr/>
        </p:nvGrpSpPr>
        <p:grpSpPr>
          <a:xfrm>
            <a:off x="23555325" y="4972050"/>
            <a:ext cx="4381500" cy="6019800"/>
            <a:chOff x="23555325" y="4972050"/>
            <a:chExt cx="4381500" cy="6019800"/>
          </a:xfrm>
        </p:grpSpPr>
        <p:sp>
          <p:nvSpPr>
            <p:cNvPr id="80" name="card5-roof"/>
            <p:cNvSpPr/>
            <p:nvPr/>
          </p:nvSpPr>
          <p:spPr>
            <a:xfrm>
              <a:off x="23612475" y="4972050"/>
              <a:ext cx="4267200" cy="533400"/>
            </a:xfrm>
            <a:custGeom>
              <a:avLst/>
              <a:gdLst/>
              <a:ahLst/>
              <a:cxnLst/>
              <a:rect l="l" t="t" r="r" b="b"/>
              <a:pathLst>
                <a:path w="4267200" h="533400">
                  <a:moveTo>
                    <a:pt x="628650" y="0"/>
                  </a:moveTo>
                  <a:lnTo>
                    <a:pt x="3638550" y="0"/>
                  </a:lnTo>
                  <a:lnTo>
                    <a:pt x="4267200" y="533400"/>
                  </a:lnTo>
                  <a:lnTo>
                    <a:pt x="0" y="533400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E4F8F4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card5-body"/>
            <p:cNvSpPr/>
            <p:nvPr/>
          </p:nvSpPr>
          <p:spPr>
            <a:xfrm>
              <a:off x="23555325" y="5486400"/>
              <a:ext cx="4381500" cy="5505450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57150">
              <a:solidFill>
                <a:srgbClr val="4ED7C5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card5-wash1"/>
            <p:cNvSpPr/>
            <p:nvPr/>
          </p:nvSpPr>
          <p:spPr>
            <a:xfrm>
              <a:off x="23622000" y="5810250"/>
              <a:ext cx="4248150" cy="2381250"/>
            </a:xfrm>
            <a:prstGeom prst="roundRect">
              <a:avLst>
                <a:gd name="adj" fmla="val 400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6F1EB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card5-wash2"/>
            <p:cNvSpPr/>
            <p:nvPr/>
          </p:nvSpPr>
          <p:spPr>
            <a:xfrm>
              <a:off x="23622000" y="8191500"/>
              <a:ext cx="4248150" cy="1905000"/>
            </a:xfrm>
            <a:prstGeom prst="roundRect">
              <a:avLst>
                <a:gd name="adj" fmla="val 5000"/>
              </a:avLst>
            </a:prstGeom>
            <a:gradFill rotWithShape="1">
              <a:gsLst>
                <a:gs pos="0">
                  <a:srgbClr val="C6F1EB"/>
                </a:gs>
                <a:gs pos="100000">
                  <a:srgbClr val="FFFFFF"/>
                </a:gs>
              </a:gsLst>
              <a:lin scaled="0" ang="1620000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card5-cap"/>
            <p:cNvSpPr/>
            <p:nvPr/>
          </p:nvSpPr>
          <p:spPr>
            <a:xfrm>
              <a:off x="23564850" y="5495925"/>
              <a:ext cx="4362450" cy="323850"/>
            </a:xfrm>
            <a:custGeom>
              <a:avLst/>
              <a:gdLst/>
              <a:ahLst/>
              <a:cxnLst/>
              <a:rect l="l" t="t" r="r" b="b"/>
              <a:pathLst>
                <a:path w="4362450" h="323850">
                  <a:moveTo>
                    <a:pt x="0" y="228600"/>
                  </a:moveTo>
                  <a:lnTo>
                    <a:pt x="0" y="190500"/>
                  </a:lnTo>
                  <a:lnTo>
                    <a:pt x="9525" y="161925"/>
                  </a:lnTo>
                  <a:lnTo>
                    <a:pt x="28575" y="123825"/>
                  </a:lnTo>
                  <a:lnTo>
                    <a:pt x="47625" y="95250"/>
                  </a:lnTo>
                  <a:lnTo>
                    <a:pt x="66675" y="66675"/>
                  </a:lnTo>
                  <a:lnTo>
                    <a:pt x="95250" y="47625"/>
                  </a:lnTo>
                  <a:lnTo>
                    <a:pt x="123825" y="28575"/>
                  </a:lnTo>
                  <a:lnTo>
                    <a:pt x="161925" y="9525"/>
                  </a:lnTo>
                  <a:lnTo>
                    <a:pt x="190500" y="0"/>
                  </a:lnTo>
                  <a:lnTo>
                    <a:pt x="228600" y="0"/>
                  </a:lnTo>
                  <a:lnTo>
                    <a:pt x="4133850" y="0"/>
                  </a:lnTo>
                  <a:lnTo>
                    <a:pt x="4171950" y="0"/>
                  </a:lnTo>
                  <a:lnTo>
                    <a:pt x="4200525" y="9525"/>
                  </a:lnTo>
                  <a:lnTo>
                    <a:pt x="4238625" y="28575"/>
                  </a:lnTo>
                  <a:lnTo>
                    <a:pt x="4267200" y="47625"/>
                  </a:lnTo>
                  <a:lnTo>
                    <a:pt x="4295775" y="66675"/>
                  </a:lnTo>
                  <a:lnTo>
                    <a:pt x="4314825" y="95250"/>
                  </a:lnTo>
                  <a:lnTo>
                    <a:pt x="4333875" y="123825"/>
                  </a:lnTo>
                  <a:lnTo>
                    <a:pt x="4352925" y="161925"/>
                  </a:lnTo>
                  <a:lnTo>
                    <a:pt x="4362450" y="190500"/>
                  </a:lnTo>
                  <a:lnTo>
                    <a:pt x="4362450" y="228600"/>
                  </a:lnTo>
                  <a:lnTo>
                    <a:pt x="4362450" y="323850"/>
                  </a:lnTo>
                  <a:lnTo>
                    <a:pt x="0" y="323850"/>
                  </a:lnTo>
                  <a:close/>
                </a:path>
              </a:pathLst>
            </a:cu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card5-title"/>
            <p:cNvSpPr txBox="1"/>
            <p:nvPr/>
          </p:nvSpPr>
          <p:spPr>
            <a:xfrm>
              <a:off x="23841075" y="5895975"/>
              <a:ext cx="3810000" cy="809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975" b="1" i="0">
                  <a:solidFill>
                    <a:srgbClr val="141414"/>
                  </a:solidFill>
                  <a:latin typeface="Microsoft YaHei"/>
                  <a:ea typeface="Microsoft YaHei"/>
                  <a:cs typeface="Microsoft YaHei"/>
                </a:rPr>
                <a:t>年末</a:t>
              </a:r>
            </a:p>
          </p:txBody>
        </p:sp>
        <p:sp>
          <p:nvSpPr>
            <p:cNvPr id="86" name="card5-pill1"/>
            <p:cNvSpPr/>
            <p:nvPr/>
          </p:nvSpPr>
          <p:spPr>
            <a:xfrm>
              <a:off x="24203025" y="6896100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card5-pill1-t"/>
            <p:cNvSpPr txBox="1"/>
            <p:nvPr/>
          </p:nvSpPr>
          <p:spPr>
            <a:xfrm>
              <a:off x="24317325" y="6962775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产品规划</a:t>
              </a:r>
            </a:p>
          </p:txBody>
        </p:sp>
        <p:sp>
          <p:nvSpPr>
            <p:cNvPr id="88" name="card5-body1"/>
            <p:cNvSpPr txBox="1"/>
            <p:nvPr/>
          </p:nvSpPr>
          <p:spPr>
            <a:xfrm>
              <a:off x="23745825" y="771525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总结复盘</a:t>
              </a:r>
            </a:p>
          </p:txBody>
        </p:sp>
        <p:sp>
          <p:nvSpPr>
            <p:cNvPr id="89" name="card5-body2"/>
            <p:cNvSpPr txBox="1"/>
            <p:nvPr/>
          </p:nvSpPr>
          <p:spPr>
            <a:xfrm>
              <a:off x="23745825" y="828675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规划下一年</a:t>
              </a:r>
            </a:p>
          </p:txBody>
        </p:sp>
        <p:sp>
          <p:nvSpPr>
            <p:cNvPr id="90" name="card5-pill2"/>
            <p:cNvSpPr/>
            <p:nvPr/>
          </p:nvSpPr>
          <p:spPr>
            <a:xfrm>
              <a:off x="24203025" y="8991600"/>
              <a:ext cx="3086100" cy="685800"/>
            </a:xfrm>
            <a:prstGeom prst="roundRect">
              <a:avLst>
                <a:gd name="adj" fmla="val 50000"/>
              </a:avLst>
            </a:prstGeom>
            <a:solidFill>
              <a:srgbClr val="4ED7C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card5-pill2-t"/>
            <p:cNvSpPr txBox="1"/>
            <p:nvPr/>
          </p:nvSpPr>
          <p:spPr>
            <a:xfrm>
              <a:off x="24317325" y="9058275"/>
              <a:ext cx="285750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节奏管理</a:t>
              </a:r>
            </a:p>
          </p:txBody>
        </p:sp>
        <p:sp>
          <p:nvSpPr>
            <p:cNvPr id="92" name="card5-body3"/>
            <p:cNvSpPr txBox="1"/>
            <p:nvPr/>
          </p:nvSpPr>
          <p:spPr>
            <a:xfrm>
              <a:off x="23745825" y="979170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完成年终</a:t>
              </a:r>
            </a:p>
          </p:txBody>
        </p:sp>
        <p:sp>
          <p:nvSpPr>
            <p:cNvPr id="93" name="card5-body4"/>
            <p:cNvSpPr txBox="1"/>
            <p:nvPr/>
          </p:nvSpPr>
          <p:spPr>
            <a:xfrm>
              <a:off x="23745825" y="10363200"/>
              <a:ext cx="4000500" cy="5810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0" i="0">
                  <a:solidFill>
                    <a:srgbClr val="202020"/>
                  </a:solidFill>
                  <a:latin typeface="Microsoft YaHei"/>
                  <a:ea typeface="Microsoft YaHei"/>
                  <a:cs typeface="Microsoft YaHei"/>
                </a:rPr>
                <a:t>版本维护与总结</a:t>
              </a:r>
            </a:p>
          </p:txBody>
        </p:sp>
      </p:grpSp>
      <p:sp>
        <p:nvSpPr>
          <p:cNvPr id="94" name="circle5"/>
          <p:cNvSpPr/>
          <p:nvPr/>
        </p:nvSpPr>
        <p:spPr>
          <a:xfrm>
            <a:off x="24955500" y="2952750"/>
            <a:ext cx="1485900" cy="1485900"/>
          </a:xfrm>
          <a:prstGeom prst="ellipse">
            <a:avLst/>
          </a:prstGeom>
          <a:solidFill>
            <a:srgbClr val="4ED7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ircle5-num"/>
          <p:cNvSpPr txBox="1"/>
          <p:nvPr/>
        </p:nvSpPr>
        <p:spPr>
          <a:xfrm>
            <a:off x="24984075" y="3143250"/>
            <a:ext cx="1428750" cy="1095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96" name="illustration" descr="_photo_illu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0" y="11001375"/>
            <a:ext cx="5657850" cy="538162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