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3413700" cy="25755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3413700" cy="25755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bg"/>
          <p:cNvSpPr/>
          <p:nvPr/>
        </p:nvSpPr>
        <p:spPr>
          <a:xfrm>
            <a:off x="0" y="0"/>
            <a:ext cx="33413700" cy="25755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pSp>
        <p:nvGrpSpPr>
          <p:cNvPr id="164" name="hdr"/>
          <p:cNvGrpSpPr/>
          <p:nvPr/>
        </p:nvGrpSpPr>
        <p:grpSpPr>
          <a:xfrm>
            <a:off x="1162050" y="1219200"/>
            <a:ext cx="8220075" cy="2190750"/>
            <a:chOff x="1162050" y="1219200"/>
            <a:chExt cx="8220075" cy="2190750"/>
          </a:xfrm>
        </p:grpSpPr>
        <p:sp>
          <p:nvSpPr>
            <p:cNvPr id="4" name="hdr-title-en"/>
            <p:cNvSpPr txBox="1"/>
            <p:nvPr/>
          </p:nvSpPr>
          <p:spPr>
            <a:xfrm>
              <a:off x="1162050" y="1219200"/>
              <a:ext cx="2667000" cy="9525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6900" b="1" i="0">
                  <a:solidFill>
                    <a:srgbClr val="0B3D91"/>
                  </a:solidFill>
                  <a:latin typeface="Microsoft YaHei"/>
                  <a:ea typeface="Microsoft YaHei"/>
                  <a:cs typeface="Microsoft YaHei"/>
                </a:rPr>
                <a:t>SWOT</a:t>
              </a:r>
            </a:p>
          </p:txBody>
        </p:sp>
        <p:sp>
          <p:nvSpPr>
            <p:cNvPr id="5" name="hdr-title-zh"/>
            <p:cNvSpPr txBox="1"/>
            <p:nvPr/>
          </p:nvSpPr>
          <p:spPr>
            <a:xfrm>
              <a:off x="3790950" y="1219200"/>
              <a:ext cx="4953000" cy="9525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6900" b="1" i="0">
                  <a:solidFill>
                    <a:srgbClr val="0B3D91"/>
                  </a:solidFill>
                  <a:latin typeface="Microsoft YaHei"/>
                  <a:ea typeface="Microsoft YaHei"/>
                  <a:cs typeface="Microsoft YaHei"/>
                </a:rPr>
                <a:t>分析图模板</a:t>
              </a:r>
            </a:p>
          </p:txBody>
        </p:sp>
        <p:sp>
          <p:nvSpPr>
            <p:cNvPr id="6" name="hdr-sub"/>
            <p:cNvSpPr txBox="1"/>
            <p:nvPr/>
          </p:nvSpPr>
          <p:spPr>
            <a:xfrm>
              <a:off x="1190625" y="2724150"/>
              <a:ext cx="8191500" cy="3810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2475" b="0" i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结构经典 · 分析清晰 · 助力决策 · 驱动增长</a:t>
              </a:r>
            </a:p>
          </p:txBody>
        </p:sp>
        <p:sp>
          <p:nvSpPr>
            <p:cNvPr id="7" name="hdr-rule-o"/>
            <p:cNvSpPr/>
            <p:nvPr/>
          </p:nvSpPr>
          <p:spPr>
            <a:xfrm>
              <a:off x="1190625" y="3314700"/>
              <a:ext cx="2085975" cy="95250"/>
            </a:xfrm>
            <a:prstGeom prst="rect">
              <a:avLst/>
            </a:prstGeom>
            <a:solidFill>
              <a:srgbClr val="FA8A0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hdr-rule-b"/>
            <p:cNvSpPr/>
            <p:nvPr/>
          </p:nvSpPr>
          <p:spPr>
            <a:xfrm>
              <a:off x="3333750" y="3314700"/>
              <a:ext cx="3086100" cy="95250"/>
            </a:xfrm>
            <a:prstGeom prst="rect">
              <a:avLst/>
            </a:prstGeom>
            <a:solidFill>
              <a:srgbClr val="2F6CD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3" name="hdr-meta"/>
          <p:cNvGrpSpPr/>
          <p:nvPr/>
        </p:nvGrpSpPr>
        <p:grpSpPr>
          <a:xfrm>
            <a:off x="20602575" y="1028700"/>
            <a:ext cx="12668250" cy="1943100"/>
            <a:chOff x="20602575" y="1028700"/>
            <a:chExt cx="12668250" cy="1943100"/>
          </a:xfrm>
        </p:grpSpPr>
        <p:sp>
          <p:nvSpPr>
            <p:cNvPr id="9" name="meta0-ring"/>
            <p:cNvSpPr/>
            <p:nvPr/>
          </p:nvSpPr>
          <p:spPr>
            <a:xfrm>
              <a:off x="21488400" y="1057275"/>
              <a:ext cx="895350" cy="895350"/>
            </a:xfrm>
            <a:prstGeom prst="ellipse">
              <a:avLst/>
            </a:prstGeom>
            <a:solidFill>
              <a:srgbClr val="FFFFFF"/>
            </a:solidFill>
            <a:ln w="23812">
              <a:solidFill>
                <a:srgbClr val="2F6CD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meta0-ch"/>
            <p:cNvSpPr txBox="1"/>
            <p:nvPr/>
          </p:nvSpPr>
          <p:spPr>
            <a:xfrm>
              <a:off x="21650325" y="1276350"/>
              <a:ext cx="571500" cy="4572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2250" b="1" i="0">
                  <a:solidFill>
                    <a:srgbClr val="2F6CDC"/>
                  </a:solidFill>
                  <a:latin typeface="Microsoft YaHei"/>
                  <a:ea typeface="Microsoft YaHei"/>
                  <a:cs typeface="Microsoft YaHei"/>
                </a:rPr>
                <a:t>对</a:t>
              </a:r>
            </a:p>
          </p:txBody>
        </p:sp>
        <p:sp>
          <p:nvSpPr>
            <p:cNvPr id="11" name="meta0-lab"/>
            <p:cNvSpPr txBox="1"/>
            <p:nvPr/>
          </p:nvSpPr>
          <p:spPr>
            <a:xfrm>
              <a:off x="21078825" y="2019300"/>
              <a:ext cx="1714500" cy="3429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950" b="0" i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分析对象</a:t>
              </a:r>
            </a:p>
          </p:txBody>
        </p:sp>
        <p:sp>
          <p:nvSpPr>
            <p:cNvPr id="12" name="meta0-val"/>
            <p:cNvSpPr txBox="1"/>
            <p:nvPr/>
          </p:nvSpPr>
          <p:spPr>
            <a:xfrm>
              <a:off x="20602575" y="2628900"/>
              <a:ext cx="2667000" cy="3238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800" b="0" i="0">
                  <a:solidFill>
                    <a:srgbClr val="8A94A6"/>
                  </a:solidFill>
                  <a:latin typeface="Microsoft YaHei"/>
                  <a:ea typeface="Microsoft YaHei"/>
                  <a:cs typeface="Microsoft YaHei"/>
                </a:rPr>
                <a:t>请输入分析对象名称</a:t>
              </a:r>
            </a:p>
          </p:txBody>
        </p:sp>
        <p:sp>
          <p:nvSpPr>
            <p:cNvPr id="13" name="meta1-ring"/>
            <p:cNvSpPr/>
            <p:nvPr/>
          </p:nvSpPr>
          <p:spPr>
            <a:xfrm>
              <a:off x="24822150" y="1057275"/>
              <a:ext cx="895350" cy="895350"/>
            </a:xfrm>
            <a:prstGeom prst="ellipse">
              <a:avLst/>
            </a:prstGeom>
            <a:solidFill>
              <a:srgbClr val="FFFFFF"/>
            </a:solidFill>
            <a:ln w="23812">
              <a:solidFill>
                <a:srgbClr val="2F6CD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meta1-ch"/>
            <p:cNvSpPr txBox="1"/>
            <p:nvPr/>
          </p:nvSpPr>
          <p:spPr>
            <a:xfrm>
              <a:off x="24984075" y="1276350"/>
              <a:ext cx="571500" cy="4572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2250" b="1" i="0">
                  <a:solidFill>
                    <a:srgbClr val="2F6CDC"/>
                  </a:solidFill>
                  <a:latin typeface="Microsoft YaHei"/>
                  <a:ea typeface="Microsoft YaHei"/>
                  <a:cs typeface="Microsoft YaHei"/>
                </a:rPr>
                <a:t>人</a:t>
              </a:r>
            </a:p>
          </p:txBody>
        </p:sp>
        <p:sp>
          <p:nvSpPr>
            <p:cNvPr id="15" name="meta1-lab"/>
            <p:cNvSpPr txBox="1"/>
            <p:nvPr/>
          </p:nvSpPr>
          <p:spPr>
            <a:xfrm>
              <a:off x="24412575" y="2019300"/>
              <a:ext cx="1714500" cy="3429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950" b="0" i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分析人</a:t>
              </a:r>
            </a:p>
          </p:txBody>
        </p:sp>
        <p:sp>
          <p:nvSpPr>
            <p:cNvPr id="16" name="meta1-val"/>
            <p:cNvSpPr txBox="1"/>
            <p:nvPr/>
          </p:nvSpPr>
          <p:spPr>
            <a:xfrm>
              <a:off x="23936325" y="2628900"/>
              <a:ext cx="2667000" cy="3238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800" b="0" i="0">
                  <a:solidFill>
                    <a:srgbClr val="8A94A6"/>
                  </a:solidFill>
                  <a:latin typeface="Microsoft YaHei"/>
                  <a:ea typeface="Microsoft YaHei"/>
                  <a:cs typeface="Microsoft YaHei"/>
                </a:rPr>
                <a:t>请输入姓名</a:t>
              </a:r>
            </a:p>
          </p:txBody>
        </p:sp>
        <p:sp>
          <p:nvSpPr>
            <p:cNvPr id="17" name="meta2-ring"/>
            <p:cNvSpPr/>
            <p:nvPr/>
          </p:nvSpPr>
          <p:spPr>
            <a:xfrm>
              <a:off x="28155900" y="1057275"/>
              <a:ext cx="895350" cy="895350"/>
            </a:xfrm>
            <a:prstGeom prst="ellipse">
              <a:avLst/>
            </a:prstGeom>
            <a:solidFill>
              <a:srgbClr val="FFFFFF"/>
            </a:solidFill>
            <a:ln w="23812">
              <a:solidFill>
                <a:srgbClr val="2F6CD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meta2-ch"/>
            <p:cNvSpPr txBox="1"/>
            <p:nvPr/>
          </p:nvSpPr>
          <p:spPr>
            <a:xfrm>
              <a:off x="28317825" y="1276350"/>
              <a:ext cx="571500" cy="4572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2250" b="1" i="0">
                  <a:solidFill>
                    <a:srgbClr val="2F6CDC"/>
                  </a:solidFill>
                  <a:latin typeface="Microsoft YaHei"/>
                  <a:ea typeface="Microsoft YaHei"/>
                  <a:cs typeface="Microsoft YaHei"/>
                </a:rPr>
                <a:t>日</a:t>
              </a:r>
            </a:p>
          </p:txBody>
        </p:sp>
        <p:sp>
          <p:nvSpPr>
            <p:cNvPr id="19" name="meta2-lab"/>
            <p:cNvSpPr txBox="1"/>
            <p:nvPr/>
          </p:nvSpPr>
          <p:spPr>
            <a:xfrm>
              <a:off x="27746325" y="2019300"/>
              <a:ext cx="1714500" cy="3429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950" b="0" i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分析日期</a:t>
              </a:r>
            </a:p>
          </p:txBody>
        </p:sp>
        <p:sp>
          <p:nvSpPr>
            <p:cNvPr id="20" name="meta2-val"/>
            <p:cNvSpPr txBox="1"/>
            <p:nvPr/>
          </p:nvSpPr>
          <p:spPr>
            <a:xfrm>
              <a:off x="27270075" y="2628900"/>
              <a:ext cx="2667000" cy="3238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800" b="0" i="0">
                  <a:solidFill>
                    <a:srgbClr val="8A94A6"/>
                  </a:solidFill>
                  <a:latin typeface="Microsoft YaHei"/>
                  <a:ea typeface="Microsoft YaHei"/>
                  <a:cs typeface="Microsoft YaHei"/>
                </a:rPr>
                <a:t>20XX/XX/XX</a:t>
              </a:r>
            </a:p>
          </p:txBody>
        </p:sp>
        <p:sp>
          <p:nvSpPr>
            <p:cNvPr id="21" name="meta3-ring"/>
            <p:cNvSpPr/>
            <p:nvPr/>
          </p:nvSpPr>
          <p:spPr>
            <a:xfrm>
              <a:off x="31489650" y="1057275"/>
              <a:ext cx="895350" cy="895350"/>
            </a:xfrm>
            <a:prstGeom prst="ellipse">
              <a:avLst/>
            </a:prstGeom>
            <a:solidFill>
              <a:srgbClr val="FFFFFF"/>
            </a:solidFill>
            <a:ln w="23812">
              <a:solidFill>
                <a:srgbClr val="2F6CD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meta3-ch"/>
            <p:cNvSpPr txBox="1"/>
            <p:nvPr/>
          </p:nvSpPr>
          <p:spPr>
            <a:xfrm>
              <a:off x="31651575" y="1276350"/>
              <a:ext cx="571500" cy="4572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2250" b="1" i="0">
                  <a:solidFill>
                    <a:srgbClr val="2F6CDC"/>
                  </a:solidFill>
                  <a:latin typeface="Microsoft YaHei"/>
                  <a:ea typeface="Microsoft YaHei"/>
                  <a:cs typeface="Microsoft YaHei"/>
                </a:rPr>
                <a:t>版</a:t>
              </a:r>
            </a:p>
          </p:txBody>
        </p:sp>
        <p:sp>
          <p:nvSpPr>
            <p:cNvPr id="23" name="meta3-lab"/>
            <p:cNvSpPr txBox="1"/>
            <p:nvPr/>
          </p:nvSpPr>
          <p:spPr>
            <a:xfrm>
              <a:off x="31080075" y="2019300"/>
              <a:ext cx="1714500" cy="3429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950" b="0" i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版本号</a:t>
              </a:r>
            </a:p>
          </p:txBody>
        </p:sp>
        <p:sp>
          <p:nvSpPr>
            <p:cNvPr id="24" name="meta3-val"/>
            <p:cNvSpPr txBox="1"/>
            <p:nvPr/>
          </p:nvSpPr>
          <p:spPr>
            <a:xfrm>
              <a:off x="30603825" y="2628900"/>
              <a:ext cx="2667000" cy="3238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800" b="0" i="0">
                  <a:solidFill>
                    <a:srgbClr val="8A94A6"/>
                  </a:solidFill>
                  <a:latin typeface="Microsoft YaHei"/>
                  <a:ea typeface="Microsoft YaHei"/>
                  <a:cs typeface="Microsoft YaHei"/>
                </a:rPr>
                <a:t>V1.0</a:t>
              </a:r>
            </a:p>
          </p:txBody>
        </p:sp>
        <p:cxnSp>
          <p:nvCxnSpPr>
            <p:cNvPr id="25" name="meta-div0"/>
            <p:cNvCxnSpPr/>
            <p:nvPr/>
          </p:nvCxnSpPr>
          <p:spPr>
            <a:xfrm>
              <a:off x="23602950" y="1028700"/>
              <a:ext cx="0" cy="1943100"/>
            </a:xfrm>
            <a:prstGeom prst="line">
              <a:avLst/>
            </a:prstGeom>
            <a:ln w="19050">
              <a:solidFill>
                <a:srgbClr val="E3E9F2"/>
              </a:solidFill>
            </a:ln>
            <a:effectLst/>
          </p:spPr>
        </p:cxnSp>
        <p:cxnSp>
          <p:nvCxnSpPr>
            <p:cNvPr id="26" name="meta-div1"/>
            <p:cNvCxnSpPr/>
            <p:nvPr/>
          </p:nvCxnSpPr>
          <p:spPr>
            <a:xfrm>
              <a:off x="26936700" y="1028700"/>
              <a:ext cx="0" cy="1943100"/>
            </a:xfrm>
            <a:prstGeom prst="line">
              <a:avLst/>
            </a:prstGeom>
            <a:ln w="19050">
              <a:solidFill>
                <a:srgbClr val="E3E9F2"/>
              </a:solidFill>
            </a:ln>
            <a:effectLst/>
          </p:spPr>
        </p:cxnSp>
        <p:cxnSp>
          <p:nvCxnSpPr>
            <p:cNvPr id="27" name="meta-div2"/>
            <p:cNvCxnSpPr/>
            <p:nvPr/>
          </p:nvCxnSpPr>
          <p:spPr>
            <a:xfrm>
              <a:off x="30270450" y="1028700"/>
              <a:ext cx="0" cy="1943100"/>
            </a:xfrm>
            <a:prstGeom prst="line">
              <a:avLst/>
            </a:prstGeom>
            <a:ln w="19050">
              <a:solidFill>
                <a:srgbClr val="E3E9F2"/>
              </a:solidFill>
            </a:ln>
            <a:effectLst/>
          </p:spPr>
        </p:cxnSp>
      </p:grpSp>
      <p:grpSp>
        <p:nvGrpSpPr>
          <p:cNvPr id="169" name="card-S"/>
          <p:cNvGrpSpPr/>
          <p:nvPr/>
        </p:nvGrpSpPr>
        <p:grpSpPr>
          <a:xfrm>
            <a:off x="1409700" y="3867150"/>
            <a:ext cx="14811375" cy="7658100"/>
            <a:chOff x="1409700" y="3867150"/>
            <a:chExt cx="14811375" cy="7658100"/>
          </a:xfrm>
        </p:grpSpPr>
        <p:sp>
          <p:nvSpPr>
            <p:cNvPr id="28" name="card-S-panel"/>
            <p:cNvSpPr/>
            <p:nvPr/>
          </p:nvSpPr>
          <p:spPr>
            <a:xfrm>
              <a:off x="1409700" y="3867150"/>
              <a:ext cx="14811375" cy="7658100"/>
            </a:xfrm>
            <a:prstGeom prst="roundRect">
              <a:avLst>
                <a:gd name="adj" fmla="val 5970"/>
              </a:avLst>
            </a:prstGeom>
            <a:solidFill>
              <a:srgbClr val="FFFFFF"/>
            </a:solidFill>
            <a:ln w="23812">
              <a:solidFill>
                <a:srgbClr val="C4D8F2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card-S-badge"/>
            <p:cNvSpPr/>
            <p:nvPr/>
          </p:nvSpPr>
          <p:spPr>
            <a:xfrm>
              <a:off x="1428750" y="4133850"/>
              <a:ext cx="2552700" cy="2628900"/>
            </a:xfrm>
            <a:prstGeom prst="roundRect">
              <a:avLst>
                <a:gd name="adj" fmla="val 20895"/>
              </a:avLst>
            </a:prstGeom>
            <a:gradFill rotWithShape="1">
              <a:gsLst>
                <a:gs pos="0">
                  <a:srgbClr val="145BD8"/>
                </a:gs>
                <a:gs pos="100000">
                  <a:srgbClr val="3A82F8"/>
                </a:gs>
              </a:gsLst>
              <a:lin scaled="0" ang="18900000"/>
            </a:gra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card-S-letter"/>
            <p:cNvSpPr txBox="1"/>
            <p:nvPr/>
          </p:nvSpPr>
          <p:spPr>
            <a:xfrm>
              <a:off x="1428750" y="4133850"/>
              <a:ext cx="2552700" cy="26289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79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S</a:t>
              </a:r>
            </a:p>
          </p:txBody>
        </p:sp>
        <p:sp>
          <p:nvSpPr>
            <p:cNvPr id="31" name="card-S-en"/>
            <p:cNvSpPr txBox="1"/>
            <p:nvPr/>
          </p:nvSpPr>
          <p:spPr>
            <a:xfrm>
              <a:off x="4572000" y="4686300"/>
              <a:ext cx="4572000" cy="7048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4050" b="1" i="0">
                  <a:solidFill>
                    <a:srgbClr val="1C62E0"/>
                  </a:solidFill>
                  <a:latin typeface="Microsoft YaHei"/>
                  <a:ea typeface="Microsoft YaHei"/>
                  <a:cs typeface="Microsoft YaHei"/>
                </a:rPr>
                <a:t>Strengths</a:t>
              </a:r>
            </a:p>
          </p:txBody>
        </p:sp>
        <p:sp>
          <p:nvSpPr>
            <p:cNvPr id="32" name="card-S-zh"/>
            <p:cNvSpPr txBox="1"/>
            <p:nvPr/>
          </p:nvSpPr>
          <p:spPr>
            <a:xfrm>
              <a:off x="8972550" y="4743450"/>
              <a:ext cx="1619250" cy="6667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750" b="1" i="0">
                  <a:solidFill>
                    <a:srgbClr val="1C62E0"/>
                  </a:solidFill>
                  <a:latin typeface="Microsoft YaHei"/>
                  <a:ea typeface="Microsoft YaHei"/>
                  <a:cs typeface="Microsoft YaHei"/>
                </a:rPr>
                <a:t>优势</a:t>
              </a:r>
            </a:p>
          </p:txBody>
        </p:sp>
        <p:sp>
          <p:nvSpPr>
            <p:cNvPr id="33" name="card-S-banner"/>
            <p:cNvSpPr/>
            <p:nvPr/>
          </p:nvSpPr>
          <p:spPr>
            <a:xfrm>
              <a:off x="4705350" y="5734050"/>
              <a:ext cx="4333875" cy="552450"/>
            </a:xfrm>
            <a:custGeom>
              <a:avLst/>
              <a:gdLst/>
              <a:ahLst/>
              <a:cxnLst/>
              <a:rect l="l" t="t" r="r" b="b"/>
              <a:pathLst>
                <a:path w="4333875" h="552450">
                  <a:moveTo>
                    <a:pt x="0" y="0"/>
                  </a:moveTo>
                  <a:lnTo>
                    <a:pt x="3724275" y="0"/>
                  </a:lnTo>
                  <a:lnTo>
                    <a:pt x="4333875" y="276225"/>
                  </a:lnTo>
                  <a:lnTo>
                    <a:pt x="3724275" y="552450"/>
                  </a:lnTo>
                  <a:lnTo>
                    <a:pt x="0" y="552450"/>
                  </a:lnTo>
                  <a:close/>
                </a:path>
              </a:pathLst>
            </a:custGeom>
            <a:solidFill>
              <a:srgbClr val="2F6CD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card-S-bannertxt"/>
            <p:cNvSpPr txBox="1"/>
            <p:nvPr/>
          </p:nvSpPr>
          <p:spPr>
            <a:xfrm>
              <a:off x="4743450" y="5753100"/>
              <a:ext cx="3333750" cy="5143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21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内部有利因素</a:t>
              </a:r>
            </a:p>
          </p:txBody>
        </p:sp>
        <p:sp>
          <p:nvSpPr>
            <p:cNvPr id="35" name="card-S-dot1"/>
            <p:cNvSpPr/>
            <p:nvPr/>
          </p:nvSpPr>
          <p:spPr>
            <a:xfrm>
              <a:off x="4657725" y="7172325"/>
              <a:ext cx="190500" cy="190500"/>
            </a:xfrm>
            <a:prstGeom prst="ellipse">
              <a:avLst/>
            </a:prstGeom>
            <a:solidFill>
              <a:srgbClr val="1C62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card-S-li1"/>
            <p:cNvSpPr txBox="1"/>
            <p:nvPr/>
          </p:nvSpPr>
          <p:spPr>
            <a:xfrm>
              <a:off x="5143500" y="7067550"/>
              <a:ext cx="5524500" cy="4381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800" b="0" i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请输入优势要点 1</a:t>
              </a:r>
            </a:p>
          </p:txBody>
        </p:sp>
        <p:sp>
          <p:nvSpPr>
            <p:cNvPr id="37" name="card-S-dot2"/>
            <p:cNvSpPr/>
            <p:nvPr/>
          </p:nvSpPr>
          <p:spPr>
            <a:xfrm>
              <a:off x="4657725" y="7981950"/>
              <a:ext cx="190500" cy="190500"/>
            </a:xfrm>
            <a:prstGeom prst="ellipse">
              <a:avLst/>
            </a:prstGeom>
            <a:solidFill>
              <a:srgbClr val="1C62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card-S-li2"/>
            <p:cNvSpPr txBox="1"/>
            <p:nvPr/>
          </p:nvSpPr>
          <p:spPr>
            <a:xfrm>
              <a:off x="5143500" y="7877175"/>
              <a:ext cx="5524500" cy="4381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800" b="0" i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请输入优势要点 2</a:t>
              </a:r>
            </a:p>
          </p:txBody>
        </p:sp>
        <p:sp>
          <p:nvSpPr>
            <p:cNvPr id="39" name="card-S-dot3"/>
            <p:cNvSpPr/>
            <p:nvPr/>
          </p:nvSpPr>
          <p:spPr>
            <a:xfrm>
              <a:off x="4657725" y="8791575"/>
              <a:ext cx="190500" cy="190500"/>
            </a:xfrm>
            <a:prstGeom prst="ellipse">
              <a:avLst/>
            </a:prstGeom>
            <a:solidFill>
              <a:srgbClr val="1C62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card-S-li3"/>
            <p:cNvSpPr txBox="1"/>
            <p:nvPr/>
          </p:nvSpPr>
          <p:spPr>
            <a:xfrm>
              <a:off x="5143500" y="8686800"/>
              <a:ext cx="5524500" cy="4381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800" b="0" i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请输入优势要点 3</a:t>
              </a:r>
            </a:p>
          </p:txBody>
        </p:sp>
        <p:sp>
          <p:nvSpPr>
            <p:cNvPr id="41" name="card-S-dot4"/>
            <p:cNvSpPr/>
            <p:nvPr/>
          </p:nvSpPr>
          <p:spPr>
            <a:xfrm>
              <a:off x="4657725" y="9601200"/>
              <a:ext cx="190500" cy="190500"/>
            </a:xfrm>
            <a:prstGeom prst="ellipse">
              <a:avLst/>
            </a:prstGeom>
            <a:solidFill>
              <a:srgbClr val="1C62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card-S-li4"/>
            <p:cNvSpPr txBox="1"/>
            <p:nvPr/>
          </p:nvSpPr>
          <p:spPr>
            <a:xfrm>
              <a:off x="5143500" y="9496425"/>
              <a:ext cx="5524500" cy="4381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800" b="0" i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请输入优势要点 4</a:t>
              </a:r>
            </a:p>
          </p:txBody>
        </p:sp>
        <p:sp>
          <p:nvSpPr>
            <p:cNvPr id="43" name="card-S-dot5"/>
            <p:cNvSpPr/>
            <p:nvPr/>
          </p:nvSpPr>
          <p:spPr>
            <a:xfrm>
              <a:off x="4657725" y="10410825"/>
              <a:ext cx="190500" cy="190500"/>
            </a:xfrm>
            <a:prstGeom prst="ellipse">
              <a:avLst/>
            </a:prstGeom>
            <a:solidFill>
              <a:srgbClr val="1C62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card-S-li5"/>
            <p:cNvSpPr txBox="1"/>
            <p:nvPr/>
          </p:nvSpPr>
          <p:spPr>
            <a:xfrm>
              <a:off x="5143500" y="10306050"/>
              <a:ext cx="5524500" cy="4381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800" b="0" i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请输入优势要点 5</a:t>
              </a:r>
            </a:p>
          </p:txBody>
        </p:sp>
      </p:grpSp>
      <p:grpSp>
        <p:nvGrpSpPr>
          <p:cNvPr id="168" name="card-W"/>
          <p:cNvGrpSpPr/>
          <p:nvPr/>
        </p:nvGrpSpPr>
        <p:grpSpPr>
          <a:xfrm>
            <a:off x="17287875" y="3867150"/>
            <a:ext cx="14801850" cy="7658100"/>
            <a:chOff x="17287875" y="3867150"/>
            <a:chExt cx="14801850" cy="7658100"/>
          </a:xfrm>
        </p:grpSpPr>
        <p:sp>
          <p:nvSpPr>
            <p:cNvPr id="45" name="card-W-panel"/>
            <p:cNvSpPr/>
            <p:nvPr/>
          </p:nvSpPr>
          <p:spPr>
            <a:xfrm>
              <a:off x="17287875" y="3867150"/>
              <a:ext cx="14801850" cy="7658100"/>
            </a:xfrm>
            <a:prstGeom prst="roundRect">
              <a:avLst>
                <a:gd name="adj" fmla="val 5970"/>
              </a:avLst>
            </a:prstGeom>
            <a:solidFill>
              <a:srgbClr val="FFFFFF"/>
            </a:solidFill>
            <a:ln w="23812">
              <a:solidFill>
                <a:srgbClr val="C4D8F2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card-W-badge"/>
            <p:cNvSpPr/>
            <p:nvPr/>
          </p:nvSpPr>
          <p:spPr>
            <a:xfrm>
              <a:off x="29527500" y="4133850"/>
              <a:ext cx="2552700" cy="2628900"/>
            </a:xfrm>
            <a:prstGeom prst="roundRect">
              <a:avLst>
                <a:gd name="adj" fmla="val 20895"/>
              </a:avLst>
            </a:prstGeom>
            <a:gradFill rotWithShape="1">
              <a:gsLst>
                <a:gs pos="0">
                  <a:srgbClr val="145BD8"/>
                </a:gs>
                <a:gs pos="100000">
                  <a:srgbClr val="3A82F8"/>
                </a:gs>
              </a:gsLst>
              <a:lin scaled="0" ang="18900000"/>
            </a:gra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card-W-letter"/>
            <p:cNvSpPr txBox="1"/>
            <p:nvPr/>
          </p:nvSpPr>
          <p:spPr>
            <a:xfrm>
              <a:off x="29527500" y="4133850"/>
              <a:ext cx="2552700" cy="26289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79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W</a:t>
              </a:r>
            </a:p>
          </p:txBody>
        </p:sp>
        <p:sp>
          <p:nvSpPr>
            <p:cNvPr id="48" name="card-W-en"/>
            <p:cNvSpPr txBox="1"/>
            <p:nvPr/>
          </p:nvSpPr>
          <p:spPr>
            <a:xfrm>
              <a:off x="22860000" y="4686300"/>
              <a:ext cx="4476750" cy="7048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sz="4050" b="1" i="0">
                  <a:solidFill>
                    <a:srgbClr val="1C62E0"/>
                  </a:solidFill>
                  <a:latin typeface="Microsoft YaHei"/>
                  <a:ea typeface="Microsoft YaHei"/>
                  <a:cs typeface="Microsoft YaHei"/>
                </a:rPr>
                <a:t>Weaknesses</a:t>
              </a:r>
            </a:p>
          </p:txBody>
        </p:sp>
        <p:sp>
          <p:nvSpPr>
            <p:cNvPr id="49" name="card-W-zh"/>
            <p:cNvSpPr txBox="1"/>
            <p:nvPr/>
          </p:nvSpPr>
          <p:spPr>
            <a:xfrm>
              <a:off x="28098750" y="4743450"/>
              <a:ext cx="1219200" cy="6667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sz="3750" b="1" i="0">
                  <a:solidFill>
                    <a:srgbClr val="1C62E0"/>
                  </a:solidFill>
                  <a:latin typeface="Microsoft YaHei"/>
                  <a:ea typeface="Microsoft YaHei"/>
                  <a:cs typeface="Microsoft YaHei"/>
                </a:rPr>
                <a:t>劣势</a:t>
              </a:r>
            </a:p>
          </p:txBody>
        </p:sp>
        <p:sp>
          <p:nvSpPr>
            <p:cNvPr id="50" name="card-W-banner"/>
            <p:cNvSpPr/>
            <p:nvPr/>
          </p:nvSpPr>
          <p:spPr>
            <a:xfrm>
              <a:off x="25336500" y="5734050"/>
              <a:ext cx="4333875" cy="552450"/>
            </a:xfrm>
            <a:custGeom>
              <a:avLst/>
              <a:gdLst/>
              <a:ahLst/>
              <a:cxnLst/>
              <a:rect l="l" t="t" r="r" b="b"/>
              <a:pathLst>
                <a:path w="4333875" h="552450">
                  <a:moveTo>
                    <a:pt x="0" y="0"/>
                  </a:moveTo>
                  <a:lnTo>
                    <a:pt x="3724275" y="0"/>
                  </a:lnTo>
                  <a:lnTo>
                    <a:pt x="4333875" y="276225"/>
                  </a:lnTo>
                  <a:lnTo>
                    <a:pt x="3724275" y="552450"/>
                  </a:lnTo>
                  <a:lnTo>
                    <a:pt x="0" y="552450"/>
                  </a:lnTo>
                  <a:close/>
                </a:path>
              </a:pathLst>
            </a:custGeom>
            <a:solidFill>
              <a:srgbClr val="2F6CD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card-W-bannertxt"/>
            <p:cNvSpPr txBox="1"/>
            <p:nvPr/>
          </p:nvSpPr>
          <p:spPr>
            <a:xfrm>
              <a:off x="25374600" y="5753100"/>
              <a:ext cx="3333750" cy="5143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21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内部不利因素</a:t>
              </a:r>
            </a:p>
          </p:txBody>
        </p:sp>
        <p:sp>
          <p:nvSpPr>
            <p:cNvPr id="52" name="card-W-dot1"/>
            <p:cNvSpPr/>
            <p:nvPr/>
          </p:nvSpPr>
          <p:spPr>
            <a:xfrm>
              <a:off x="23955375" y="7143750"/>
              <a:ext cx="190500" cy="190500"/>
            </a:xfrm>
            <a:prstGeom prst="ellipse">
              <a:avLst/>
            </a:prstGeom>
            <a:solidFill>
              <a:srgbClr val="1C62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card-W-li1"/>
            <p:cNvSpPr txBox="1"/>
            <p:nvPr/>
          </p:nvSpPr>
          <p:spPr>
            <a:xfrm>
              <a:off x="24469725" y="7019925"/>
              <a:ext cx="5524500" cy="4381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2325" b="0" i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请输入劣势要点 1</a:t>
              </a:r>
            </a:p>
          </p:txBody>
        </p:sp>
        <p:sp>
          <p:nvSpPr>
            <p:cNvPr id="54" name="card-W-dot2"/>
            <p:cNvSpPr/>
            <p:nvPr/>
          </p:nvSpPr>
          <p:spPr>
            <a:xfrm>
              <a:off x="23955375" y="7953375"/>
              <a:ext cx="190500" cy="190500"/>
            </a:xfrm>
            <a:prstGeom prst="ellipse">
              <a:avLst/>
            </a:prstGeom>
            <a:solidFill>
              <a:srgbClr val="1C62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card-W-li2"/>
            <p:cNvSpPr txBox="1"/>
            <p:nvPr/>
          </p:nvSpPr>
          <p:spPr>
            <a:xfrm>
              <a:off x="24469725" y="7829550"/>
              <a:ext cx="5524500" cy="4381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2325" b="0" i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请输入劣势要点 2</a:t>
              </a:r>
            </a:p>
          </p:txBody>
        </p:sp>
        <p:sp>
          <p:nvSpPr>
            <p:cNvPr id="56" name="card-W-dot3"/>
            <p:cNvSpPr/>
            <p:nvPr/>
          </p:nvSpPr>
          <p:spPr>
            <a:xfrm>
              <a:off x="23955375" y="8763000"/>
              <a:ext cx="190500" cy="190500"/>
            </a:xfrm>
            <a:prstGeom prst="ellipse">
              <a:avLst/>
            </a:prstGeom>
            <a:solidFill>
              <a:srgbClr val="1C62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card-W-li3"/>
            <p:cNvSpPr txBox="1"/>
            <p:nvPr/>
          </p:nvSpPr>
          <p:spPr>
            <a:xfrm>
              <a:off x="24469725" y="8639175"/>
              <a:ext cx="5524500" cy="4381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2325" b="0" i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请输入劣势要点 3</a:t>
              </a:r>
            </a:p>
          </p:txBody>
        </p:sp>
        <p:sp>
          <p:nvSpPr>
            <p:cNvPr id="58" name="card-W-dot4"/>
            <p:cNvSpPr/>
            <p:nvPr/>
          </p:nvSpPr>
          <p:spPr>
            <a:xfrm>
              <a:off x="23955375" y="9572625"/>
              <a:ext cx="190500" cy="190500"/>
            </a:xfrm>
            <a:prstGeom prst="ellipse">
              <a:avLst/>
            </a:prstGeom>
            <a:solidFill>
              <a:srgbClr val="1C62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card-W-li4"/>
            <p:cNvSpPr txBox="1"/>
            <p:nvPr/>
          </p:nvSpPr>
          <p:spPr>
            <a:xfrm>
              <a:off x="24469725" y="9448800"/>
              <a:ext cx="5524500" cy="4381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2325" b="0" i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请输入劣势要点 4</a:t>
              </a:r>
            </a:p>
          </p:txBody>
        </p:sp>
        <p:sp>
          <p:nvSpPr>
            <p:cNvPr id="60" name="card-W-dot5"/>
            <p:cNvSpPr/>
            <p:nvPr/>
          </p:nvSpPr>
          <p:spPr>
            <a:xfrm>
              <a:off x="23955375" y="10382250"/>
              <a:ext cx="190500" cy="190500"/>
            </a:xfrm>
            <a:prstGeom prst="ellipse">
              <a:avLst/>
            </a:prstGeom>
            <a:solidFill>
              <a:srgbClr val="1C62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" name="card-W-li5"/>
            <p:cNvSpPr txBox="1"/>
            <p:nvPr/>
          </p:nvSpPr>
          <p:spPr>
            <a:xfrm>
              <a:off x="24469725" y="10258425"/>
              <a:ext cx="5524500" cy="4381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2325" b="0" i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请输入劣势要点 5</a:t>
              </a:r>
            </a:p>
          </p:txBody>
        </p:sp>
      </p:grpSp>
      <p:grpSp>
        <p:nvGrpSpPr>
          <p:cNvPr id="162" name="card-O"/>
          <p:cNvGrpSpPr/>
          <p:nvPr/>
        </p:nvGrpSpPr>
        <p:grpSpPr>
          <a:xfrm>
            <a:off x="1409700" y="12020550"/>
            <a:ext cx="14811375" cy="7581900"/>
            <a:chOff x="1409700" y="12020550"/>
            <a:chExt cx="14811375" cy="7581900"/>
          </a:xfrm>
        </p:grpSpPr>
        <p:sp>
          <p:nvSpPr>
            <p:cNvPr id="62" name="card-O-panel"/>
            <p:cNvSpPr/>
            <p:nvPr/>
          </p:nvSpPr>
          <p:spPr>
            <a:xfrm>
              <a:off x="1409700" y="12020550"/>
              <a:ext cx="14811375" cy="7581900"/>
            </a:xfrm>
            <a:prstGeom prst="roundRect">
              <a:avLst>
                <a:gd name="adj" fmla="val 6030"/>
              </a:avLst>
            </a:prstGeom>
            <a:solidFill>
              <a:srgbClr val="FFFFFF"/>
            </a:solidFill>
            <a:ln w="23812">
              <a:solidFill>
                <a:srgbClr val="F3C79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card-O-badge"/>
            <p:cNvSpPr/>
            <p:nvPr/>
          </p:nvSpPr>
          <p:spPr>
            <a:xfrm>
              <a:off x="1428750" y="12287250"/>
              <a:ext cx="2552700" cy="2628900"/>
            </a:xfrm>
            <a:prstGeom prst="roundRect">
              <a:avLst>
                <a:gd name="adj" fmla="val 20895"/>
              </a:avLst>
            </a:prstGeom>
            <a:gradFill rotWithShape="1">
              <a:gsLst>
                <a:gs pos="0">
                  <a:srgbClr val="F07C00"/>
                </a:gs>
                <a:gs pos="100000">
                  <a:srgbClr val="FFB04A"/>
                </a:gs>
              </a:gsLst>
              <a:lin scaled="0" ang="18900000"/>
            </a:gra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" name="card-O-letter"/>
            <p:cNvSpPr txBox="1"/>
            <p:nvPr/>
          </p:nvSpPr>
          <p:spPr>
            <a:xfrm>
              <a:off x="1428750" y="12287250"/>
              <a:ext cx="2552700" cy="26289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79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O</a:t>
              </a:r>
            </a:p>
          </p:txBody>
        </p:sp>
        <p:sp>
          <p:nvSpPr>
            <p:cNvPr id="65" name="card-O-en"/>
            <p:cNvSpPr txBox="1"/>
            <p:nvPr/>
          </p:nvSpPr>
          <p:spPr>
            <a:xfrm>
              <a:off x="4572000" y="12839700"/>
              <a:ext cx="4572000" cy="7048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4050" b="1" i="0">
                  <a:solidFill>
                    <a:srgbClr val="F7941D"/>
                  </a:solidFill>
                  <a:latin typeface="Microsoft YaHei"/>
                  <a:ea typeface="Microsoft YaHei"/>
                  <a:cs typeface="Microsoft YaHei"/>
                </a:rPr>
                <a:t>Opportunities</a:t>
              </a:r>
            </a:p>
          </p:txBody>
        </p:sp>
        <p:sp>
          <p:nvSpPr>
            <p:cNvPr id="66" name="card-O-zh"/>
            <p:cNvSpPr txBox="1"/>
            <p:nvPr/>
          </p:nvSpPr>
          <p:spPr>
            <a:xfrm>
              <a:off x="8972550" y="12896850"/>
              <a:ext cx="1619250" cy="6667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750" b="1" i="0">
                  <a:solidFill>
                    <a:srgbClr val="F7941D"/>
                  </a:solidFill>
                  <a:latin typeface="Microsoft YaHei"/>
                  <a:ea typeface="Microsoft YaHei"/>
                  <a:cs typeface="Microsoft YaHei"/>
                </a:rPr>
                <a:t>机会</a:t>
              </a:r>
            </a:p>
          </p:txBody>
        </p:sp>
        <p:sp>
          <p:nvSpPr>
            <p:cNvPr id="67" name="card-O-banner"/>
            <p:cNvSpPr/>
            <p:nvPr/>
          </p:nvSpPr>
          <p:spPr>
            <a:xfrm>
              <a:off x="4705350" y="13887450"/>
              <a:ext cx="4333875" cy="552450"/>
            </a:xfrm>
            <a:custGeom>
              <a:avLst/>
              <a:gdLst/>
              <a:ahLst/>
              <a:cxnLst/>
              <a:rect l="l" t="t" r="r" b="b"/>
              <a:pathLst>
                <a:path w="4333875" h="552450">
                  <a:moveTo>
                    <a:pt x="0" y="0"/>
                  </a:moveTo>
                  <a:lnTo>
                    <a:pt x="3724275" y="0"/>
                  </a:lnTo>
                  <a:lnTo>
                    <a:pt x="4333875" y="276225"/>
                  </a:lnTo>
                  <a:lnTo>
                    <a:pt x="3724275" y="552450"/>
                  </a:lnTo>
                  <a:lnTo>
                    <a:pt x="0" y="552450"/>
                  </a:lnTo>
                  <a:close/>
                </a:path>
              </a:pathLst>
            </a:custGeom>
            <a:solidFill>
              <a:srgbClr val="F7941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" name="card-O-bannertxt"/>
            <p:cNvSpPr txBox="1"/>
            <p:nvPr/>
          </p:nvSpPr>
          <p:spPr>
            <a:xfrm>
              <a:off x="4743450" y="13906500"/>
              <a:ext cx="3333750" cy="5143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21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外部有利因素</a:t>
              </a:r>
            </a:p>
          </p:txBody>
        </p:sp>
        <p:sp>
          <p:nvSpPr>
            <p:cNvPr id="69" name="card-O-dot1"/>
            <p:cNvSpPr/>
            <p:nvPr/>
          </p:nvSpPr>
          <p:spPr>
            <a:xfrm>
              <a:off x="4657725" y="15325725"/>
              <a:ext cx="190500" cy="190500"/>
            </a:xfrm>
            <a:prstGeom prst="ellipse">
              <a:avLst/>
            </a:prstGeom>
            <a:solidFill>
              <a:srgbClr val="F7941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" name="card-O-li1"/>
            <p:cNvSpPr txBox="1"/>
            <p:nvPr/>
          </p:nvSpPr>
          <p:spPr>
            <a:xfrm>
              <a:off x="5143500" y="15220950"/>
              <a:ext cx="5524500" cy="4381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800" b="0" i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请输入机会要点 1</a:t>
              </a:r>
            </a:p>
          </p:txBody>
        </p:sp>
        <p:sp>
          <p:nvSpPr>
            <p:cNvPr id="71" name="card-O-dot2"/>
            <p:cNvSpPr/>
            <p:nvPr/>
          </p:nvSpPr>
          <p:spPr>
            <a:xfrm>
              <a:off x="4657725" y="16135350"/>
              <a:ext cx="190500" cy="190500"/>
            </a:xfrm>
            <a:prstGeom prst="ellipse">
              <a:avLst/>
            </a:prstGeom>
            <a:solidFill>
              <a:srgbClr val="F7941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" name="card-O-li2"/>
            <p:cNvSpPr txBox="1"/>
            <p:nvPr/>
          </p:nvSpPr>
          <p:spPr>
            <a:xfrm>
              <a:off x="5143500" y="16030575"/>
              <a:ext cx="5524500" cy="4381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800" b="0" i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请输入机会要点 2</a:t>
              </a:r>
            </a:p>
          </p:txBody>
        </p:sp>
        <p:sp>
          <p:nvSpPr>
            <p:cNvPr id="73" name="card-O-dot3"/>
            <p:cNvSpPr/>
            <p:nvPr/>
          </p:nvSpPr>
          <p:spPr>
            <a:xfrm>
              <a:off x="4657725" y="16944975"/>
              <a:ext cx="190500" cy="190500"/>
            </a:xfrm>
            <a:prstGeom prst="ellipse">
              <a:avLst/>
            </a:prstGeom>
            <a:solidFill>
              <a:srgbClr val="F7941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" name="card-O-li3"/>
            <p:cNvSpPr txBox="1"/>
            <p:nvPr/>
          </p:nvSpPr>
          <p:spPr>
            <a:xfrm>
              <a:off x="5143500" y="16840200"/>
              <a:ext cx="5524500" cy="4381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800" b="0" i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请输入机会要点 3</a:t>
              </a:r>
            </a:p>
          </p:txBody>
        </p:sp>
        <p:sp>
          <p:nvSpPr>
            <p:cNvPr id="75" name="card-O-dot4"/>
            <p:cNvSpPr/>
            <p:nvPr/>
          </p:nvSpPr>
          <p:spPr>
            <a:xfrm>
              <a:off x="4657725" y="17754600"/>
              <a:ext cx="190500" cy="190500"/>
            </a:xfrm>
            <a:prstGeom prst="ellipse">
              <a:avLst/>
            </a:prstGeom>
            <a:solidFill>
              <a:srgbClr val="F7941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" name="card-O-li4"/>
            <p:cNvSpPr txBox="1"/>
            <p:nvPr/>
          </p:nvSpPr>
          <p:spPr>
            <a:xfrm>
              <a:off x="5143500" y="17649825"/>
              <a:ext cx="5524500" cy="4381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800" b="0" i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请输入机会要点 4</a:t>
              </a:r>
            </a:p>
          </p:txBody>
        </p:sp>
        <p:sp>
          <p:nvSpPr>
            <p:cNvPr id="77" name="card-O-dot5"/>
            <p:cNvSpPr/>
            <p:nvPr/>
          </p:nvSpPr>
          <p:spPr>
            <a:xfrm>
              <a:off x="4657725" y="18564225"/>
              <a:ext cx="190500" cy="190500"/>
            </a:xfrm>
            <a:prstGeom prst="ellipse">
              <a:avLst/>
            </a:prstGeom>
            <a:solidFill>
              <a:srgbClr val="F7941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" name="card-O-li5"/>
            <p:cNvSpPr txBox="1"/>
            <p:nvPr/>
          </p:nvSpPr>
          <p:spPr>
            <a:xfrm>
              <a:off x="5143500" y="18459450"/>
              <a:ext cx="5524500" cy="4381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800" b="0" i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请输入机会要点 5</a:t>
              </a:r>
            </a:p>
          </p:txBody>
        </p:sp>
      </p:grpSp>
      <p:grpSp>
        <p:nvGrpSpPr>
          <p:cNvPr id="161" name="card-T"/>
          <p:cNvGrpSpPr/>
          <p:nvPr/>
        </p:nvGrpSpPr>
        <p:grpSpPr>
          <a:xfrm>
            <a:off x="17287875" y="12020550"/>
            <a:ext cx="14801850" cy="7581900"/>
            <a:chOff x="17287875" y="12020550"/>
            <a:chExt cx="14801850" cy="7581900"/>
          </a:xfrm>
        </p:grpSpPr>
        <p:sp>
          <p:nvSpPr>
            <p:cNvPr id="79" name="card-T-panel"/>
            <p:cNvSpPr/>
            <p:nvPr/>
          </p:nvSpPr>
          <p:spPr>
            <a:xfrm>
              <a:off x="17287875" y="12020550"/>
              <a:ext cx="14801850" cy="7581900"/>
            </a:xfrm>
            <a:prstGeom prst="roundRect">
              <a:avLst>
                <a:gd name="adj" fmla="val 6030"/>
              </a:avLst>
            </a:prstGeom>
            <a:solidFill>
              <a:srgbClr val="FFFFFF"/>
            </a:solidFill>
            <a:ln w="23812">
              <a:solidFill>
                <a:srgbClr val="C4D8F2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" name="card-T-badge"/>
            <p:cNvSpPr/>
            <p:nvPr/>
          </p:nvSpPr>
          <p:spPr>
            <a:xfrm>
              <a:off x="29527500" y="12287250"/>
              <a:ext cx="2552700" cy="2628900"/>
            </a:xfrm>
            <a:prstGeom prst="roundRect">
              <a:avLst>
                <a:gd name="adj" fmla="val 20895"/>
              </a:avLst>
            </a:prstGeom>
            <a:gradFill rotWithShape="1">
              <a:gsLst>
                <a:gs pos="0">
                  <a:srgbClr val="145BD8"/>
                </a:gs>
                <a:gs pos="100000">
                  <a:srgbClr val="3A82F8"/>
                </a:gs>
              </a:gsLst>
              <a:lin scaled="0" ang="18900000"/>
            </a:gra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" name="card-T-letter"/>
            <p:cNvSpPr txBox="1"/>
            <p:nvPr/>
          </p:nvSpPr>
          <p:spPr>
            <a:xfrm>
              <a:off x="29527500" y="12287250"/>
              <a:ext cx="2552700" cy="26289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79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T</a:t>
              </a:r>
            </a:p>
          </p:txBody>
        </p:sp>
        <p:sp>
          <p:nvSpPr>
            <p:cNvPr id="82" name="card-T-en"/>
            <p:cNvSpPr txBox="1"/>
            <p:nvPr/>
          </p:nvSpPr>
          <p:spPr>
            <a:xfrm>
              <a:off x="22860000" y="12839700"/>
              <a:ext cx="4476750" cy="7048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sz="4050" b="1" i="0">
                  <a:solidFill>
                    <a:srgbClr val="1C62E0"/>
                  </a:solidFill>
                  <a:latin typeface="Microsoft YaHei"/>
                  <a:ea typeface="Microsoft YaHei"/>
                  <a:cs typeface="Microsoft YaHei"/>
                </a:rPr>
                <a:t>Threats</a:t>
              </a:r>
            </a:p>
          </p:txBody>
        </p:sp>
        <p:sp>
          <p:nvSpPr>
            <p:cNvPr id="83" name="card-T-banner"/>
            <p:cNvSpPr/>
            <p:nvPr/>
          </p:nvSpPr>
          <p:spPr>
            <a:xfrm>
              <a:off x="25336500" y="13887450"/>
              <a:ext cx="4333875" cy="552450"/>
            </a:xfrm>
            <a:custGeom>
              <a:avLst/>
              <a:gdLst/>
              <a:ahLst/>
              <a:cxnLst/>
              <a:rect l="l" t="t" r="r" b="b"/>
              <a:pathLst>
                <a:path w="4333875" h="552450">
                  <a:moveTo>
                    <a:pt x="0" y="0"/>
                  </a:moveTo>
                  <a:lnTo>
                    <a:pt x="3724275" y="0"/>
                  </a:lnTo>
                  <a:lnTo>
                    <a:pt x="4333875" y="276225"/>
                  </a:lnTo>
                  <a:lnTo>
                    <a:pt x="3724275" y="552450"/>
                  </a:lnTo>
                  <a:lnTo>
                    <a:pt x="0" y="552450"/>
                  </a:lnTo>
                  <a:close/>
                </a:path>
              </a:pathLst>
            </a:custGeom>
            <a:solidFill>
              <a:srgbClr val="2F6CD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" name="card-T-bannertxt"/>
            <p:cNvSpPr txBox="1"/>
            <p:nvPr/>
          </p:nvSpPr>
          <p:spPr>
            <a:xfrm>
              <a:off x="25374600" y="13906500"/>
              <a:ext cx="3333750" cy="5143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21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外部不利因素</a:t>
              </a:r>
            </a:p>
          </p:txBody>
        </p:sp>
        <p:sp>
          <p:nvSpPr>
            <p:cNvPr id="85" name="card-T-dot1"/>
            <p:cNvSpPr/>
            <p:nvPr/>
          </p:nvSpPr>
          <p:spPr>
            <a:xfrm>
              <a:off x="23955375" y="15297150"/>
              <a:ext cx="190500" cy="190500"/>
            </a:xfrm>
            <a:prstGeom prst="ellipse">
              <a:avLst/>
            </a:prstGeom>
            <a:solidFill>
              <a:srgbClr val="1C62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" name="card-T-li1"/>
            <p:cNvSpPr txBox="1"/>
            <p:nvPr/>
          </p:nvSpPr>
          <p:spPr>
            <a:xfrm>
              <a:off x="24469725" y="15173325"/>
              <a:ext cx="5524500" cy="4381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2325" b="0" i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请输入威胁要点 1</a:t>
              </a:r>
            </a:p>
          </p:txBody>
        </p:sp>
        <p:sp>
          <p:nvSpPr>
            <p:cNvPr id="87" name="card-T-dot2"/>
            <p:cNvSpPr/>
            <p:nvPr/>
          </p:nvSpPr>
          <p:spPr>
            <a:xfrm>
              <a:off x="23955375" y="16106775"/>
              <a:ext cx="190500" cy="190500"/>
            </a:xfrm>
            <a:prstGeom prst="ellipse">
              <a:avLst/>
            </a:prstGeom>
            <a:solidFill>
              <a:srgbClr val="1C62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" name="card-T-li2"/>
            <p:cNvSpPr txBox="1"/>
            <p:nvPr/>
          </p:nvSpPr>
          <p:spPr>
            <a:xfrm>
              <a:off x="24469725" y="15982950"/>
              <a:ext cx="5524500" cy="4381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2325" b="0" i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请输入威胁要点 2</a:t>
              </a:r>
            </a:p>
          </p:txBody>
        </p:sp>
        <p:sp>
          <p:nvSpPr>
            <p:cNvPr id="89" name="card-T-dot3"/>
            <p:cNvSpPr/>
            <p:nvPr/>
          </p:nvSpPr>
          <p:spPr>
            <a:xfrm>
              <a:off x="23955375" y="16916400"/>
              <a:ext cx="190500" cy="190500"/>
            </a:xfrm>
            <a:prstGeom prst="ellipse">
              <a:avLst/>
            </a:prstGeom>
            <a:solidFill>
              <a:srgbClr val="1C62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" name="card-T-li3"/>
            <p:cNvSpPr txBox="1"/>
            <p:nvPr/>
          </p:nvSpPr>
          <p:spPr>
            <a:xfrm>
              <a:off x="24469725" y="16792575"/>
              <a:ext cx="5524500" cy="4381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2325" b="0" i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请输入威胁要点 3</a:t>
              </a:r>
            </a:p>
          </p:txBody>
        </p:sp>
        <p:sp>
          <p:nvSpPr>
            <p:cNvPr id="91" name="card-T-dot4"/>
            <p:cNvSpPr/>
            <p:nvPr/>
          </p:nvSpPr>
          <p:spPr>
            <a:xfrm>
              <a:off x="23955375" y="17726025"/>
              <a:ext cx="190500" cy="190500"/>
            </a:xfrm>
            <a:prstGeom prst="ellipse">
              <a:avLst/>
            </a:prstGeom>
            <a:solidFill>
              <a:srgbClr val="1C62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" name="card-T-li4"/>
            <p:cNvSpPr txBox="1"/>
            <p:nvPr/>
          </p:nvSpPr>
          <p:spPr>
            <a:xfrm>
              <a:off x="24469725" y="17602200"/>
              <a:ext cx="5524500" cy="4381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2325" b="0" i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请输入威胁要点 4</a:t>
              </a:r>
            </a:p>
          </p:txBody>
        </p:sp>
        <p:sp>
          <p:nvSpPr>
            <p:cNvPr id="93" name="card-T-dot5"/>
            <p:cNvSpPr/>
            <p:nvPr/>
          </p:nvSpPr>
          <p:spPr>
            <a:xfrm>
              <a:off x="23955375" y="18535650"/>
              <a:ext cx="190500" cy="190500"/>
            </a:xfrm>
            <a:prstGeom prst="ellipse">
              <a:avLst/>
            </a:prstGeom>
            <a:solidFill>
              <a:srgbClr val="1C62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" name="card-T-li5"/>
            <p:cNvSpPr txBox="1"/>
            <p:nvPr/>
          </p:nvSpPr>
          <p:spPr>
            <a:xfrm>
              <a:off x="24469725" y="18411825"/>
              <a:ext cx="5524500" cy="4381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2325" b="0" i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请输入威胁要点 5</a:t>
              </a:r>
            </a:p>
          </p:txBody>
        </p:sp>
      </p:grpSp>
      <p:grpSp>
        <p:nvGrpSpPr>
          <p:cNvPr id="166" name="hub"/>
          <p:cNvGrpSpPr/>
          <p:nvPr/>
        </p:nvGrpSpPr>
        <p:grpSpPr>
          <a:xfrm>
            <a:off x="13298980" y="8507905"/>
            <a:ext cx="6891940" cy="6891940"/>
            <a:chOff x="13298980" y="8507905"/>
            <a:chExt cx="6891940" cy="6891940"/>
          </a:xfrm>
        </p:grpSpPr>
        <p:sp>
          <p:nvSpPr>
            <p:cNvPr id="95" name="hub-arc-1"/>
            <p:cNvSpPr/>
            <p:nvPr/>
          </p:nvSpPr>
          <p:spPr>
            <a:xfrm>
              <a:off x="13298980" y="8507905"/>
              <a:ext cx="2191739" cy="2191739"/>
            </a:xfrm>
            <a:custGeom>
              <a:avLst/>
              <a:gdLst/>
              <a:ahLst/>
              <a:cxnLst/>
              <a:rect l="l" t="t" r="r" b="b"/>
              <a:pathLst>
                <a:path w="2191739" h="2191739">
                  <a:moveTo>
                    <a:pt x="0" y="2191739"/>
                  </a:moveTo>
                  <a:lnTo>
                    <a:pt x="44030" y="2076807"/>
                  </a:lnTo>
                  <a:lnTo>
                    <a:pt x="91892" y="1963417"/>
                  </a:lnTo>
                  <a:lnTo>
                    <a:pt x="143532" y="1851696"/>
                  </a:lnTo>
                  <a:lnTo>
                    <a:pt x="198892" y="1741772"/>
                  </a:lnTo>
                  <a:lnTo>
                    <a:pt x="257910" y="1633767"/>
                  </a:lnTo>
                  <a:lnTo>
                    <a:pt x="320519" y="1527804"/>
                  </a:lnTo>
                  <a:lnTo>
                    <a:pt x="386648" y="1424001"/>
                  </a:lnTo>
                  <a:lnTo>
                    <a:pt x="456224" y="1322476"/>
                  </a:lnTo>
                  <a:lnTo>
                    <a:pt x="529168" y="1223343"/>
                  </a:lnTo>
                  <a:lnTo>
                    <a:pt x="605397" y="1126714"/>
                  </a:lnTo>
                  <a:lnTo>
                    <a:pt x="684826" y="1032697"/>
                  </a:lnTo>
                  <a:lnTo>
                    <a:pt x="767365" y="941398"/>
                  </a:lnTo>
                  <a:lnTo>
                    <a:pt x="852921" y="852921"/>
                  </a:lnTo>
                  <a:lnTo>
                    <a:pt x="941398" y="767365"/>
                  </a:lnTo>
                  <a:lnTo>
                    <a:pt x="1032697" y="684826"/>
                  </a:lnTo>
                  <a:lnTo>
                    <a:pt x="1126714" y="605397"/>
                  </a:lnTo>
                  <a:lnTo>
                    <a:pt x="1223343" y="529168"/>
                  </a:lnTo>
                  <a:lnTo>
                    <a:pt x="1322476" y="456224"/>
                  </a:lnTo>
                  <a:lnTo>
                    <a:pt x="1424001" y="386648"/>
                  </a:lnTo>
                  <a:lnTo>
                    <a:pt x="1527804" y="320519"/>
                  </a:lnTo>
                  <a:lnTo>
                    <a:pt x="1633767" y="257910"/>
                  </a:lnTo>
                  <a:lnTo>
                    <a:pt x="1741772" y="198892"/>
                  </a:lnTo>
                  <a:lnTo>
                    <a:pt x="1851696" y="143532"/>
                  </a:lnTo>
                  <a:lnTo>
                    <a:pt x="1963417" y="91892"/>
                  </a:lnTo>
                  <a:lnTo>
                    <a:pt x="2076807" y="44030"/>
                  </a:lnTo>
                  <a:lnTo>
                    <a:pt x="2191739" y="0"/>
                  </a:lnTo>
                </a:path>
              </a:pathLst>
            </a:custGeom>
            <a:noFill/>
            <a:ln w="323850">
              <a:solidFill>
                <a:srgbClr val="2F6CD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" name="hub-arc-2"/>
            <p:cNvSpPr/>
            <p:nvPr/>
          </p:nvSpPr>
          <p:spPr>
            <a:xfrm>
              <a:off x="17999181" y="8507905"/>
              <a:ext cx="2191739" cy="2191739"/>
            </a:xfrm>
            <a:custGeom>
              <a:avLst/>
              <a:gdLst/>
              <a:ahLst/>
              <a:cxnLst/>
              <a:rect l="l" t="t" r="r" b="b"/>
              <a:pathLst>
                <a:path w="2191739" h="2191739">
                  <a:moveTo>
                    <a:pt x="0" y="0"/>
                  </a:moveTo>
                  <a:lnTo>
                    <a:pt x="114932" y="44030"/>
                  </a:lnTo>
                  <a:lnTo>
                    <a:pt x="228322" y="91892"/>
                  </a:lnTo>
                  <a:lnTo>
                    <a:pt x="340043" y="143532"/>
                  </a:lnTo>
                  <a:lnTo>
                    <a:pt x="449967" y="198892"/>
                  </a:lnTo>
                  <a:lnTo>
                    <a:pt x="557972" y="257910"/>
                  </a:lnTo>
                  <a:lnTo>
                    <a:pt x="663935" y="320519"/>
                  </a:lnTo>
                  <a:lnTo>
                    <a:pt x="767738" y="386648"/>
                  </a:lnTo>
                  <a:lnTo>
                    <a:pt x="869263" y="456224"/>
                  </a:lnTo>
                  <a:lnTo>
                    <a:pt x="968396" y="529168"/>
                  </a:lnTo>
                  <a:lnTo>
                    <a:pt x="1065025" y="605397"/>
                  </a:lnTo>
                  <a:lnTo>
                    <a:pt x="1159042" y="684826"/>
                  </a:lnTo>
                  <a:lnTo>
                    <a:pt x="1250341" y="767365"/>
                  </a:lnTo>
                  <a:lnTo>
                    <a:pt x="1338818" y="852921"/>
                  </a:lnTo>
                  <a:lnTo>
                    <a:pt x="1424374" y="941398"/>
                  </a:lnTo>
                  <a:lnTo>
                    <a:pt x="1506913" y="1032697"/>
                  </a:lnTo>
                  <a:lnTo>
                    <a:pt x="1586342" y="1126714"/>
                  </a:lnTo>
                  <a:lnTo>
                    <a:pt x="1662571" y="1223343"/>
                  </a:lnTo>
                  <a:lnTo>
                    <a:pt x="1735515" y="1322476"/>
                  </a:lnTo>
                  <a:lnTo>
                    <a:pt x="1805091" y="1424001"/>
                  </a:lnTo>
                  <a:lnTo>
                    <a:pt x="1871220" y="1527804"/>
                  </a:lnTo>
                  <a:lnTo>
                    <a:pt x="1933829" y="1633767"/>
                  </a:lnTo>
                  <a:lnTo>
                    <a:pt x="1992847" y="1741772"/>
                  </a:lnTo>
                  <a:lnTo>
                    <a:pt x="2048207" y="1851696"/>
                  </a:lnTo>
                  <a:lnTo>
                    <a:pt x="2099847" y="1963417"/>
                  </a:lnTo>
                  <a:lnTo>
                    <a:pt x="2147709" y="2076807"/>
                  </a:lnTo>
                  <a:lnTo>
                    <a:pt x="2191739" y="2191739"/>
                  </a:lnTo>
                </a:path>
              </a:pathLst>
            </a:custGeom>
            <a:noFill/>
            <a:ln w="323850">
              <a:solidFill>
                <a:srgbClr val="2F6CD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" name="hub-arc-3"/>
            <p:cNvSpPr/>
            <p:nvPr/>
          </p:nvSpPr>
          <p:spPr>
            <a:xfrm>
              <a:off x="13298980" y="13208106"/>
              <a:ext cx="2191739" cy="2191739"/>
            </a:xfrm>
            <a:custGeom>
              <a:avLst/>
              <a:gdLst/>
              <a:ahLst/>
              <a:cxnLst/>
              <a:rect l="l" t="t" r="r" b="b"/>
              <a:pathLst>
                <a:path w="2191739" h="2191739">
                  <a:moveTo>
                    <a:pt x="2191739" y="2191739"/>
                  </a:moveTo>
                  <a:lnTo>
                    <a:pt x="2076807" y="2147709"/>
                  </a:lnTo>
                  <a:lnTo>
                    <a:pt x="1963417" y="2099847"/>
                  </a:lnTo>
                  <a:lnTo>
                    <a:pt x="1851696" y="2048207"/>
                  </a:lnTo>
                  <a:lnTo>
                    <a:pt x="1741772" y="1992847"/>
                  </a:lnTo>
                  <a:lnTo>
                    <a:pt x="1633767" y="1933829"/>
                  </a:lnTo>
                  <a:lnTo>
                    <a:pt x="1527804" y="1871220"/>
                  </a:lnTo>
                  <a:lnTo>
                    <a:pt x="1424001" y="1805091"/>
                  </a:lnTo>
                  <a:lnTo>
                    <a:pt x="1322476" y="1735515"/>
                  </a:lnTo>
                  <a:lnTo>
                    <a:pt x="1223343" y="1662571"/>
                  </a:lnTo>
                  <a:lnTo>
                    <a:pt x="1126714" y="1586342"/>
                  </a:lnTo>
                  <a:lnTo>
                    <a:pt x="1032697" y="1506913"/>
                  </a:lnTo>
                  <a:lnTo>
                    <a:pt x="941398" y="1424374"/>
                  </a:lnTo>
                  <a:lnTo>
                    <a:pt x="852921" y="1338818"/>
                  </a:lnTo>
                  <a:lnTo>
                    <a:pt x="767365" y="1250341"/>
                  </a:lnTo>
                  <a:lnTo>
                    <a:pt x="684826" y="1159042"/>
                  </a:lnTo>
                  <a:lnTo>
                    <a:pt x="605397" y="1065025"/>
                  </a:lnTo>
                  <a:lnTo>
                    <a:pt x="529168" y="968396"/>
                  </a:lnTo>
                  <a:lnTo>
                    <a:pt x="456224" y="869263"/>
                  </a:lnTo>
                  <a:lnTo>
                    <a:pt x="386648" y="767738"/>
                  </a:lnTo>
                  <a:lnTo>
                    <a:pt x="320519" y="663935"/>
                  </a:lnTo>
                  <a:lnTo>
                    <a:pt x="257910" y="557972"/>
                  </a:lnTo>
                  <a:lnTo>
                    <a:pt x="198892" y="449967"/>
                  </a:lnTo>
                  <a:lnTo>
                    <a:pt x="143532" y="340043"/>
                  </a:lnTo>
                  <a:lnTo>
                    <a:pt x="91892" y="228322"/>
                  </a:lnTo>
                  <a:lnTo>
                    <a:pt x="44030" y="114932"/>
                  </a:lnTo>
                  <a:lnTo>
                    <a:pt x="0" y="0"/>
                  </a:lnTo>
                </a:path>
              </a:pathLst>
            </a:custGeom>
            <a:noFill/>
            <a:ln w="323850">
              <a:solidFill>
                <a:srgbClr val="F7941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" name="hub-arc-4"/>
            <p:cNvSpPr/>
            <p:nvPr/>
          </p:nvSpPr>
          <p:spPr>
            <a:xfrm>
              <a:off x="17999181" y="13208106"/>
              <a:ext cx="2191739" cy="2191739"/>
            </a:xfrm>
            <a:custGeom>
              <a:avLst/>
              <a:gdLst/>
              <a:ahLst/>
              <a:cxnLst/>
              <a:rect l="l" t="t" r="r" b="b"/>
              <a:pathLst>
                <a:path w="2191739" h="2191739">
                  <a:moveTo>
                    <a:pt x="2191739" y="0"/>
                  </a:moveTo>
                  <a:lnTo>
                    <a:pt x="2147709" y="114932"/>
                  </a:lnTo>
                  <a:lnTo>
                    <a:pt x="2099847" y="228322"/>
                  </a:lnTo>
                  <a:lnTo>
                    <a:pt x="2048207" y="340043"/>
                  </a:lnTo>
                  <a:lnTo>
                    <a:pt x="1992847" y="449967"/>
                  </a:lnTo>
                  <a:lnTo>
                    <a:pt x="1933829" y="557972"/>
                  </a:lnTo>
                  <a:lnTo>
                    <a:pt x="1871220" y="663935"/>
                  </a:lnTo>
                  <a:lnTo>
                    <a:pt x="1805091" y="767738"/>
                  </a:lnTo>
                  <a:lnTo>
                    <a:pt x="1735515" y="869263"/>
                  </a:lnTo>
                  <a:lnTo>
                    <a:pt x="1662571" y="968396"/>
                  </a:lnTo>
                  <a:lnTo>
                    <a:pt x="1586342" y="1065025"/>
                  </a:lnTo>
                  <a:lnTo>
                    <a:pt x="1506913" y="1159042"/>
                  </a:lnTo>
                  <a:lnTo>
                    <a:pt x="1424374" y="1250341"/>
                  </a:lnTo>
                  <a:lnTo>
                    <a:pt x="1338818" y="1338818"/>
                  </a:lnTo>
                  <a:lnTo>
                    <a:pt x="1250341" y="1424374"/>
                  </a:lnTo>
                  <a:lnTo>
                    <a:pt x="1159042" y="1506913"/>
                  </a:lnTo>
                  <a:lnTo>
                    <a:pt x="1065025" y="1586342"/>
                  </a:lnTo>
                  <a:lnTo>
                    <a:pt x="968396" y="1662571"/>
                  </a:lnTo>
                  <a:lnTo>
                    <a:pt x="869263" y="1735515"/>
                  </a:lnTo>
                  <a:lnTo>
                    <a:pt x="767738" y="1805091"/>
                  </a:lnTo>
                  <a:lnTo>
                    <a:pt x="663935" y="1871220"/>
                  </a:lnTo>
                  <a:lnTo>
                    <a:pt x="557972" y="1933829"/>
                  </a:lnTo>
                  <a:lnTo>
                    <a:pt x="449967" y="1992847"/>
                  </a:lnTo>
                  <a:lnTo>
                    <a:pt x="340043" y="2048207"/>
                  </a:lnTo>
                  <a:lnTo>
                    <a:pt x="228322" y="2099847"/>
                  </a:lnTo>
                  <a:lnTo>
                    <a:pt x="114932" y="2147709"/>
                  </a:lnTo>
                  <a:lnTo>
                    <a:pt x="0" y="2191739"/>
                  </a:lnTo>
                </a:path>
              </a:pathLst>
            </a:custGeom>
            <a:noFill/>
            <a:ln w="323850">
              <a:solidFill>
                <a:srgbClr val="2F6CD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" name="hub-circle"/>
            <p:cNvSpPr/>
            <p:nvPr/>
          </p:nvSpPr>
          <p:spPr>
            <a:xfrm>
              <a:off x="14173200" y="9382125"/>
              <a:ext cx="5143500" cy="51435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D7E1F2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160" name="hub-icon"/>
            <p:cNvGrpSpPr/>
            <p:nvPr/>
          </p:nvGrpSpPr>
          <p:grpSpPr>
            <a:xfrm>
              <a:off x="16304895" y="11128248"/>
              <a:ext cx="842010" cy="871728"/>
              <a:chOff x="16304895" y="11128248"/>
              <a:chExt cx="842010" cy="871728"/>
            </a:xfrm>
          </p:grpSpPr>
          <p:sp>
            <p:nvSpPr>
              <p:cNvPr id="100" name="Oval 99"/>
              <p:cNvSpPr/>
              <p:nvPr/>
            </p:nvSpPr>
            <p:spPr>
              <a:xfrm>
                <a:off x="16517874" y="11128248"/>
                <a:ext cx="416052" cy="416052"/>
              </a:xfrm>
              <a:prstGeom prst="ellipse">
                <a:avLst/>
              </a:prstGeom>
              <a:solidFill>
                <a:srgbClr val="1C62E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" name="Freeform 100"/>
              <p:cNvSpPr/>
              <p:nvPr/>
            </p:nvSpPr>
            <p:spPr>
              <a:xfrm>
                <a:off x="16304895" y="11603736"/>
                <a:ext cx="842010" cy="396240"/>
              </a:xfrm>
              <a:custGeom>
                <a:avLst/>
                <a:gdLst/>
                <a:ahLst/>
                <a:cxnLst/>
                <a:rect l="l" t="t" r="r" b="b"/>
                <a:pathLst>
                  <a:path w="842010" h="396240">
                    <a:moveTo>
                      <a:pt x="0" y="396240"/>
                    </a:moveTo>
                    <a:lnTo>
                      <a:pt x="421005" y="0"/>
                    </a:lnTo>
                    <a:lnTo>
                      <a:pt x="842010" y="396240"/>
                    </a:lnTo>
                    <a:close/>
                  </a:path>
                </a:pathLst>
              </a:custGeom>
              <a:solidFill>
                <a:srgbClr val="1C62E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02" name="hub-title"/>
            <p:cNvSpPr txBox="1"/>
            <p:nvPr/>
          </p:nvSpPr>
          <p:spPr>
            <a:xfrm>
              <a:off x="15506700" y="12115800"/>
              <a:ext cx="2476500" cy="4381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2700" b="1" i="0">
                  <a:solidFill>
                    <a:srgbClr val="0B3D91"/>
                  </a:solidFill>
                  <a:latin typeface="Microsoft YaHei"/>
                  <a:ea typeface="Microsoft YaHei"/>
                  <a:cs typeface="Microsoft YaHei"/>
                </a:rPr>
                <a:t>分析对象</a:t>
              </a:r>
            </a:p>
          </p:txBody>
        </p:sp>
        <p:sp>
          <p:nvSpPr>
            <p:cNvPr id="103" name="hub-sub1"/>
            <p:cNvSpPr txBox="1"/>
            <p:nvPr/>
          </p:nvSpPr>
          <p:spPr>
            <a:xfrm>
              <a:off x="15220950" y="12973050"/>
              <a:ext cx="3048000" cy="3810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800" b="0" i="0">
                  <a:solidFill>
                    <a:srgbClr val="2A4468"/>
                  </a:solidFill>
                  <a:latin typeface="Microsoft YaHei"/>
                  <a:ea typeface="Microsoft YaHei"/>
                  <a:cs typeface="Microsoft YaHei"/>
                </a:rPr>
                <a:t>请输入产品 / 品牌</a:t>
              </a:r>
            </a:p>
          </p:txBody>
        </p:sp>
        <p:sp>
          <p:nvSpPr>
            <p:cNvPr id="104" name="hub-sub2"/>
            <p:cNvSpPr txBox="1"/>
            <p:nvPr/>
          </p:nvSpPr>
          <p:spPr>
            <a:xfrm>
              <a:off x="15220950" y="13373100"/>
              <a:ext cx="3048000" cy="3810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800" b="0" i="0">
                  <a:solidFill>
                    <a:srgbClr val="2A4468"/>
                  </a:solidFill>
                  <a:latin typeface="Microsoft YaHei"/>
                  <a:ea typeface="Microsoft YaHei"/>
                  <a:cs typeface="Microsoft YaHei"/>
                </a:rPr>
                <a:t>/ 项目名称</a:t>
              </a:r>
            </a:p>
          </p:txBody>
        </p:sp>
      </p:grpSp>
      <p:grpSp>
        <p:nvGrpSpPr>
          <p:cNvPr id="167" name="strat"/>
          <p:cNvGrpSpPr/>
          <p:nvPr/>
        </p:nvGrpSpPr>
        <p:grpSpPr>
          <a:xfrm>
            <a:off x="1114425" y="20002500"/>
            <a:ext cx="30622875" cy="2628900"/>
            <a:chOff x="1114425" y="20002500"/>
            <a:chExt cx="30622875" cy="2628900"/>
          </a:xfrm>
        </p:grpSpPr>
        <p:sp>
          <p:nvSpPr>
            <p:cNvPr id="105" name="strat-label"/>
            <p:cNvSpPr/>
            <p:nvPr/>
          </p:nvSpPr>
          <p:spPr>
            <a:xfrm>
              <a:off x="1114425" y="20050125"/>
              <a:ext cx="1762125" cy="2247900"/>
            </a:xfrm>
            <a:prstGeom prst="roundRect">
              <a:avLst>
                <a:gd name="adj" fmla="val 9729"/>
              </a:avLst>
            </a:prstGeom>
            <a:solidFill>
              <a:srgbClr val="2F6D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" name="strat-label-t"/>
            <p:cNvSpPr txBox="1"/>
            <p:nvPr/>
          </p:nvSpPr>
          <p:spPr>
            <a:xfrm>
              <a:off x="1114425" y="20002500"/>
              <a:ext cx="1762125" cy="22860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3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策</a:t>
              </a:r>
            </a:p>
            <a:p>
              <a:pPr algn="ctr">
                <a:lnSpc>
                  <a:spcPct val="100000"/>
                </a:lnSpc>
              </a:pPr>
              <a:r>
                <a:rPr sz="33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略</a:t>
              </a:r>
            </a:p>
            <a:p>
              <a:pPr algn="ctr">
                <a:lnSpc>
                  <a:spcPct val="100000"/>
                </a:lnSpc>
              </a:pPr>
              <a:r>
                <a:rPr sz="33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建议</a:t>
              </a:r>
            </a:p>
          </p:txBody>
        </p:sp>
        <p:sp>
          <p:nvSpPr>
            <p:cNvPr id="107" name="strat0-card"/>
            <p:cNvSpPr/>
            <p:nvPr/>
          </p:nvSpPr>
          <p:spPr>
            <a:xfrm>
              <a:off x="3200400" y="20269200"/>
              <a:ext cx="6677025" cy="1828800"/>
            </a:xfrm>
            <a:prstGeom prst="roundRect">
              <a:avLst>
                <a:gd name="adj" fmla="val 7291"/>
              </a:avLst>
            </a:prstGeom>
            <a:solidFill>
              <a:srgbClr val="F6F9FF"/>
            </a:solidFill>
            <a:ln w="19050">
              <a:solidFill>
                <a:srgbClr val="DBE3F0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" name="strat0-title"/>
            <p:cNvSpPr txBox="1"/>
            <p:nvPr/>
          </p:nvSpPr>
          <p:spPr>
            <a:xfrm>
              <a:off x="4324350" y="20650200"/>
              <a:ext cx="5334000" cy="5143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2550" b="1" i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SO策略（优势-机会）</a:t>
              </a:r>
            </a:p>
          </p:txBody>
        </p:sp>
        <p:sp>
          <p:nvSpPr>
            <p:cNvPr id="109" name="strat0-ring"/>
            <p:cNvSpPr/>
            <p:nvPr/>
          </p:nvSpPr>
          <p:spPr>
            <a:xfrm>
              <a:off x="4171950" y="21202650"/>
              <a:ext cx="838200" cy="838200"/>
            </a:xfrm>
            <a:prstGeom prst="ellipse">
              <a:avLst/>
            </a:prstGeom>
            <a:solidFill>
              <a:srgbClr val="FFFFFF"/>
            </a:solidFill>
            <a:ln w="47625">
              <a:solidFill>
                <a:srgbClr val="2F6CD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" name="strat0-ch"/>
            <p:cNvSpPr txBox="1"/>
            <p:nvPr/>
          </p:nvSpPr>
          <p:spPr>
            <a:xfrm>
              <a:off x="4210050" y="21355050"/>
              <a:ext cx="762000" cy="533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2F6CDC"/>
                  </a:solidFill>
                  <a:latin typeface="Microsoft YaHei"/>
                  <a:ea typeface="Microsoft YaHei"/>
                  <a:cs typeface="Microsoft YaHei"/>
                </a:rPr>
                <a:t>对</a:t>
              </a:r>
            </a:p>
          </p:txBody>
        </p:sp>
        <p:sp>
          <p:nvSpPr>
            <p:cNvPr id="111" name="strat0-l1"/>
            <p:cNvSpPr txBox="1"/>
            <p:nvPr/>
          </p:nvSpPr>
          <p:spPr>
            <a:xfrm>
              <a:off x="5295900" y="21545550"/>
              <a:ext cx="3238500" cy="4191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650" b="0" i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利用自身优势</a:t>
              </a:r>
            </a:p>
          </p:txBody>
        </p:sp>
        <p:sp>
          <p:nvSpPr>
            <p:cNvPr id="112" name="strat0-l2"/>
            <p:cNvSpPr txBox="1"/>
            <p:nvPr/>
          </p:nvSpPr>
          <p:spPr>
            <a:xfrm>
              <a:off x="5295900" y="22212300"/>
              <a:ext cx="3238500" cy="4191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650" b="0" i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抓住外部机会</a:t>
              </a:r>
            </a:p>
          </p:txBody>
        </p:sp>
        <p:sp>
          <p:nvSpPr>
            <p:cNvPr id="113" name="strat1-card"/>
            <p:cNvSpPr/>
            <p:nvPr/>
          </p:nvSpPr>
          <p:spPr>
            <a:xfrm>
              <a:off x="10487025" y="20269200"/>
              <a:ext cx="6677025" cy="1828800"/>
            </a:xfrm>
            <a:prstGeom prst="roundRect">
              <a:avLst>
                <a:gd name="adj" fmla="val 7291"/>
              </a:avLst>
            </a:prstGeom>
            <a:solidFill>
              <a:srgbClr val="F6F9FF"/>
            </a:solidFill>
            <a:ln w="19050">
              <a:solidFill>
                <a:srgbClr val="DBE3F0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" name="strat1-title"/>
            <p:cNvSpPr txBox="1"/>
            <p:nvPr/>
          </p:nvSpPr>
          <p:spPr>
            <a:xfrm>
              <a:off x="11610975" y="20650200"/>
              <a:ext cx="5334000" cy="5143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2550" b="1" i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WO策略（劣势-机会）</a:t>
              </a:r>
            </a:p>
          </p:txBody>
        </p:sp>
        <p:sp>
          <p:nvSpPr>
            <p:cNvPr id="115" name="strat1-ring"/>
            <p:cNvSpPr/>
            <p:nvPr/>
          </p:nvSpPr>
          <p:spPr>
            <a:xfrm>
              <a:off x="11458575" y="21202650"/>
              <a:ext cx="838200" cy="838200"/>
            </a:xfrm>
            <a:prstGeom prst="ellipse">
              <a:avLst/>
            </a:prstGeom>
            <a:solidFill>
              <a:srgbClr val="FFFFFF"/>
            </a:solidFill>
            <a:ln w="47625">
              <a:solidFill>
                <a:srgbClr val="2F6CD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" name="strat1-ch"/>
            <p:cNvSpPr txBox="1"/>
            <p:nvPr/>
          </p:nvSpPr>
          <p:spPr>
            <a:xfrm>
              <a:off x="11496675" y="21355050"/>
              <a:ext cx="762000" cy="533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2F6CDC"/>
                  </a:solidFill>
                  <a:latin typeface="Microsoft YaHei"/>
                  <a:ea typeface="Microsoft YaHei"/>
                  <a:cs typeface="Microsoft YaHei"/>
                </a:rPr>
                <a:t>策</a:t>
              </a:r>
            </a:p>
          </p:txBody>
        </p:sp>
        <p:sp>
          <p:nvSpPr>
            <p:cNvPr id="117" name="strat1-l1"/>
            <p:cNvSpPr txBox="1"/>
            <p:nvPr/>
          </p:nvSpPr>
          <p:spPr>
            <a:xfrm>
              <a:off x="12582525" y="21545550"/>
              <a:ext cx="3238500" cy="4191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650" b="0" i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改善内部劣势</a:t>
              </a:r>
            </a:p>
          </p:txBody>
        </p:sp>
        <p:sp>
          <p:nvSpPr>
            <p:cNvPr id="118" name="strat1-l2"/>
            <p:cNvSpPr txBox="1"/>
            <p:nvPr/>
          </p:nvSpPr>
          <p:spPr>
            <a:xfrm>
              <a:off x="12582525" y="22212300"/>
              <a:ext cx="3238500" cy="4191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650" b="0" i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把握外部机会</a:t>
              </a:r>
            </a:p>
          </p:txBody>
        </p:sp>
        <p:sp>
          <p:nvSpPr>
            <p:cNvPr id="119" name="strat2-card"/>
            <p:cNvSpPr/>
            <p:nvPr/>
          </p:nvSpPr>
          <p:spPr>
            <a:xfrm>
              <a:off x="17773650" y="20269200"/>
              <a:ext cx="6677025" cy="1828800"/>
            </a:xfrm>
            <a:prstGeom prst="roundRect">
              <a:avLst>
                <a:gd name="adj" fmla="val 7291"/>
              </a:avLst>
            </a:prstGeom>
            <a:solidFill>
              <a:srgbClr val="F6F9FF"/>
            </a:solidFill>
            <a:ln w="19050">
              <a:solidFill>
                <a:srgbClr val="DBE3F0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" name="strat2-title"/>
            <p:cNvSpPr txBox="1"/>
            <p:nvPr/>
          </p:nvSpPr>
          <p:spPr>
            <a:xfrm>
              <a:off x="18897600" y="20650200"/>
              <a:ext cx="5334000" cy="5143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2550" b="1" i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ST策略（优势-威胁）</a:t>
              </a:r>
            </a:p>
          </p:txBody>
        </p:sp>
        <p:sp>
          <p:nvSpPr>
            <p:cNvPr id="121" name="strat2-ring"/>
            <p:cNvSpPr/>
            <p:nvPr/>
          </p:nvSpPr>
          <p:spPr>
            <a:xfrm>
              <a:off x="18745200" y="21202650"/>
              <a:ext cx="838200" cy="838200"/>
            </a:xfrm>
            <a:prstGeom prst="ellipse">
              <a:avLst/>
            </a:prstGeom>
            <a:solidFill>
              <a:srgbClr val="FFFFFF"/>
            </a:solidFill>
            <a:ln w="47625">
              <a:solidFill>
                <a:srgbClr val="2F6CD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" name="strat2-ch"/>
            <p:cNvSpPr txBox="1"/>
            <p:nvPr/>
          </p:nvSpPr>
          <p:spPr>
            <a:xfrm>
              <a:off x="18783300" y="21355050"/>
              <a:ext cx="762000" cy="533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2F6CDC"/>
                  </a:solidFill>
                  <a:latin typeface="Microsoft YaHei"/>
                  <a:ea typeface="Microsoft YaHei"/>
                  <a:cs typeface="Microsoft YaHei"/>
                </a:rPr>
                <a:t>护</a:t>
              </a:r>
            </a:p>
          </p:txBody>
        </p:sp>
        <p:sp>
          <p:nvSpPr>
            <p:cNvPr id="123" name="strat2-l1"/>
            <p:cNvSpPr txBox="1"/>
            <p:nvPr/>
          </p:nvSpPr>
          <p:spPr>
            <a:xfrm>
              <a:off x="19869150" y="21545550"/>
              <a:ext cx="3238500" cy="4191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650" b="0" i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发挥自身优势</a:t>
              </a:r>
            </a:p>
          </p:txBody>
        </p:sp>
        <p:sp>
          <p:nvSpPr>
            <p:cNvPr id="124" name="strat2-l2"/>
            <p:cNvSpPr txBox="1"/>
            <p:nvPr/>
          </p:nvSpPr>
          <p:spPr>
            <a:xfrm>
              <a:off x="19869150" y="22212300"/>
              <a:ext cx="3238500" cy="4191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650" b="0" i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规避外部威胁</a:t>
              </a:r>
            </a:p>
          </p:txBody>
        </p:sp>
        <p:sp>
          <p:nvSpPr>
            <p:cNvPr id="125" name="strat3-card"/>
            <p:cNvSpPr/>
            <p:nvPr/>
          </p:nvSpPr>
          <p:spPr>
            <a:xfrm>
              <a:off x="25060275" y="20269200"/>
              <a:ext cx="6677025" cy="1828800"/>
            </a:xfrm>
            <a:prstGeom prst="roundRect">
              <a:avLst>
                <a:gd name="adj" fmla="val 7291"/>
              </a:avLst>
            </a:prstGeom>
            <a:solidFill>
              <a:srgbClr val="F6F9FF"/>
            </a:solidFill>
            <a:ln w="19050">
              <a:solidFill>
                <a:srgbClr val="DBE3F0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6" name="strat3-title"/>
            <p:cNvSpPr txBox="1"/>
            <p:nvPr/>
          </p:nvSpPr>
          <p:spPr>
            <a:xfrm>
              <a:off x="26184225" y="20650200"/>
              <a:ext cx="5334000" cy="5143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2550" b="1" i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WT策略（劣势-威胁）</a:t>
              </a:r>
            </a:p>
          </p:txBody>
        </p:sp>
        <p:sp>
          <p:nvSpPr>
            <p:cNvPr id="127" name="strat3-ring"/>
            <p:cNvSpPr/>
            <p:nvPr/>
          </p:nvSpPr>
          <p:spPr>
            <a:xfrm>
              <a:off x="26031825" y="21202650"/>
              <a:ext cx="838200" cy="838200"/>
            </a:xfrm>
            <a:prstGeom prst="ellipse">
              <a:avLst/>
            </a:prstGeom>
            <a:solidFill>
              <a:srgbClr val="FFFFFF"/>
            </a:solidFill>
            <a:ln w="47625">
              <a:solidFill>
                <a:srgbClr val="2F6CD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8" name="strat3-ch"/>
            <p:cNvSpPr txBox="1"/>
            <p:nvPr/>
          </p:nvSpPr>
          <p:spPr>
            <a:xfrm>
              <a:off x="26069925" y="21355050"/>
              <a:ext cx="762000" cy="533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2F6CDC"/>
                  </a:solidFill>
                  <a:latin typeface="Microsoft YaHei"/>
                  <a:ea typeface="Microsoft YaHei"/>
                  <a:cs typeface="Microsoft YaHei"/>
                </a:rPr>
                <a:t>稳</a:t>
              </a:r>
            </a:p>
          </p:txBody>
        </p:sp>
        <p:sp>
          <p:nvSpPr>
            <p:cNvPr id="129" name="strat3-l1"/>
            <p:cNvSpPr txBox="1"/>
            <p:nvPr/>
          </p:nvSpPr>
          <p:spPr>
            <a:xfrm>
              <a:off x="27155775" y="21545550"/>
              <a:ext cx="3238500" cy="4191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650" b="0" i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降低内部劣势</a:t>
              </a:r>
            </a:p>
          </p:txBody>
        </p:sp>
        <p:sp>
          <p:nvSpPr>
            <p:cNvPr id="130" name="strat3-l2"/>
            <p:cNvSpPr txBox="1"/>
            <p:nvPr/>
          </p:nvSpPr>
          <p:spPr>
            <a:xfrm>
              <a:off x="27155775" y="22212300"/>
              <a:ext cx="3238500" cy="4191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650" b="0" i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规避外部威胁</a:t>
              </a:r>
            </a:p>
          </p:txBody>
        </p:sp>
      </p:grpSp>
      <p:grpSp>
        <p:nvGrpSpPr>
          <p:cNvPr id="165" name="scen"/>
          <p:cNvGrpSpPr/>
          <p:nvPr/>
        </p:nvGrpSpPr>
        <p:grpSpPr>
          <a:xfrm>
            <a:off x="1114425" y="22783800"/>
            <a:ext cx="31061025" cy="1733550"/>
            <a:chOff x="1114425" y="22783800"/>
            <a:chExt cx="31061025" cy="1733550"/>
          </a:xfrm>
        </p:grpSpPr>
        <p:sp>
          <p:nvSpPr>
            <p:cNvPr id="131" name="scen-label"/>
            <p:cNvSpPr/>
            <p:nvPr/>
          </p:nvSpPr>
          <p:spPr>
            <a:xfrm>
              <a:off x="1114425" y="22879050"/>
              <a:ext cx="1762125" cy="1562100"/>
            </a:xfrm>
            <a:prstGeom prst="roundRect">
              <a:avLst>
                <a:gd name="adj" fmla="val 10975"/>
              </a:avLst>
            </a:prstGeom>
            <a:solidFill>
              <a:srgbClr val="2F6D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2" name="scen-label-t"/>
            <p:cNvSpPr txBox="1"/>
            <p:nvPr/>
          </p:nvSpPr>
          <p:spPr>
            <a:xfrm>
              <a:off x="1114425" y="22840950"/>
              <a:ext cx="1762125" cy="1676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3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适</a:t>
              </a:r>
            </a:p>
            <a:p>
              <a:pPr algn="ctr">
                <a:lnSpc>
                  <a:spcPct val="100000"/>
                </a:lnSpc>
              </a:pPr>
              <a:r>
                <a:rPr sz="33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用场景</a:t>
              </a:r>
            </a:p>
          </p:txBody>
        </p:sp>
        <p:sp>
          <p:nvSpPr>
            <p:cNvPr id="133" name="scen-body"/>
            <p:cNvSpPr/>
            <p:nvPr/>
          </p:nvSpPr>
          <p:spPr>
            <a:xfrm>
              <a:off x="2876550" y="22783800"/>
              <a:ext cx="29298900" cy="1657350"/>
            </a:xfrm>
            <a:prstGeom prst="roundRect">
              <a:avLst>
                <a:gd name="adj" fmla="val 8045"/>
              </a:avLst>
            </a:prstGeom>
            <a:solidFill>
              <a:srgbClr val="F7F9FE"/>
            </a:solidFill>
            <a:ln w="19050">
              <a:solidFill>
                <a:srgbClr val="E1E8F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4" name="scen0-ring"/>
            <p:cNvSpPr/>
            <p:nvPr/>
          </p:nvSpPr>
          <p:spPr>
            <a:xfrm>
              <a:off x="3467100" y="23098125"/>
              <a:ext cx="1047750" cy="104775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2F6CD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5" name="scen0-ch"/>
            <p:cNvSpPr txBox="1"/>
            <p:nvPr/>
          </p:nvSpPr>
          <p:spPr>
            <a:xfrm>
              <a:off x="3609975" y="23355300"/>
              <a:ext cx="762000" cy="533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2550" b="1" i="0">
                  <a:solidFill>
                    <a:srgbClr val="2F6CDC"/>
                  </a:solidFill>
                  <a:latin typeface="Microsoft YaHei"/>
                  <a:ea typeface="Microsoft YaHei"/>
                  <a:cs typeface="Microsoft YaHei"/>
                </a:rPr>
                <a:t>市</a:t>
              </a:r>
            </a:p>
          </p:txBody>
        </p:sp>
        <p:sp>
          <p:nvSpPr>
            <p:cNvPr id="136" name="scen0-title"/>
            <p:cNvSpPr txBox="1"/>
            <p:nvPr/>
          </p:nvSpPr>
          <p:spPr>
            <a:xfrm>
              <a:off x="5143500" y="23260050"/>
              <a:ext cx="3619500" cy="3429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2100" b="1" i="0">
                  <a:solidFill>
                    <a:srgbClr val="1B2F55"/>
                  </a:solidFill>
                  <a:latin typeface="Microsoft YaHei"/>
                  <a:ea typeface="Microsoft YaHei"/>
                  <a:cs typeface="Microsoft YaHei"/>
                </a:rPr>
                <a:t>市场分析</a:t>
              </a:r>
            </a:p>
          </p:txBody>
        </p:sp>
        <p:sp>
          <p:nvSpPr>
            <p:cNvPr id="137" name="scen0-sub"/>
            <p:cNvSpPr txBox="1"/>
            <p:nvPr/>
          </p:nvSpPr>
          <p:spPr>
            <a:xfrm>
              <a:off x="5143500" y="23831550"/>
              <a:ext cx="3810000" cy="3238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350" b="0" i="0">
                  <a:solidFill>
                    <a:srgbClr val="33456B"/>
                  </a:solidFill>
                  <a:latin typeface="Microsoft YaHei"/>
                  <a:ea typeface="Microsoft YaHei"/>
                  <a:cs typeface="Microsoft YaHei"/>
                </a:rPr>
                <a:t>市场环境分析 竞争格局分析</a:t>
              </a:r>
            </a:p>
          </p:txBody>
        </p:sp>
        <p:sp>
          <p:nvSpPr>
            <p:cNvPr id="138" name="scen1-ring"/>
            <p:cNvSpPr/>
            <p:nvPr/>
          </p:nvSpPr>
          <p:spPr>
            <a:xfrm>
              <a:off x="9229725" y="23098125"/>
              <a:ext cx="1047750" cy="104775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2F6CD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9" name="scen1-ch"/>
            <p:cNvSpPr txBox="1"/>
            <p:nvPr/>
          </p:nvSpPr>
          <p:spPr>
            <a:xfrm>
              <a:off x="9372600" y="23355300"/>
              <a:ext cx="762000" cy="533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2550" b="1" i="0">
                  <a:solidFill>
                    <a:srgbClr val="2F6CDC"/>
                  </a:solidFill>
                  <a:latin typeface="Microsoft YaHei"/>
                  <a:ea typeface="Microsoft YaHei"/>
                  <a:cs typeface="Microsoft YaHei"/>
                </a:rPr>
                <a:t>商</a:t>
              </a:r>
            </a:p>
          </p:txBody>
        </p:sp>
        <p:sp>
          <p:nvSpPr>
            <p:cNvPr id="140" name="scen1-title"/>
            <p:cNvSpPr txBox="1"/>
            <p:nvPr/>
          </p:nvSpPr>
          <p:spPr>
            <a:xfrm>
              <a:off x="10906125" y="23260050"/>
              <a:ext cx="3619500" cy="3429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2100" b="1" i="0">
                  <a:solidFill>
                    <a:srgbClr val="1B2F55"/>
                  </a:solidFill>
                  <a:latin typeface="Microsoft YaHei"/>
                  <a:ea typeface="Microsoft YaHei"/>
                  <a:cs typeface="Microsoft YaHei"/>
                </a:rPr>
                <a:t>商业汇报</a:t>
              </a:r>
            </a:p>
          </p:txBody>
        </p:sp>
        <p:sp>
          <p:nvSpPr>
            <p:cNvPr id="141" name="scen1-sub"/>
            <p:cNvSpPr txBox="1"/>
            <p:nvPr/>
          </p:nvSpPr>
          <p:spPr>
            <a:xfrm>
              <a:off x="10906125" y="23831550"/>
              <a:ext cx="3810000" cy="3238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350" b="0" i="0">
                  <a:solidFill>
                    <a:srgbClr val="33456B"/>
                  </a:solidFill>
                  <a:latin typeface="Microsoft YaHei"/>
                  <a:ea typeface="Microsoft YaHei"/>
                  <a:cs typeface="Microsoft YaHei"/>
                </a:rPr>
                <a:t>项目汇报演示 投资决策支持</a:t>
              </a:r>
            </a:p>
          </p:txBody>
        </p:sp>
        <p:cxnSp>
          <p:nvCxnSpPr>
            <p:cNvPr id="142" name="scen-sep1"/>
            <p:cNvCxnSpPr/>
            <p:nvPr/>
          </p:nvCxnSpPr>
          <p:spPr>
            <a:xfrm>
              <a:off x="8305800" y="23126700"/>
              <a:ext cx="0" cy="990600"/>
            </a:xfrm>
            <a:prstGeom prst="line">
              <a:avLst/>
            </a:prstGeom>
            <a:ln w="19050">
              <a:solidFill>
                <a:srgbClr val="E1E7F2"/>
              </a:solidFill>
              <a:prstDash val="dash"/>
            </a:ln>
            <a:effectLst/>
          </p:spPr>
        </p:cxnSp>
        <p:sp>
          <p:nvSpPr>
            <p:cNvPr id="143" name="scen2-ring"/>
            <p:cNvSpPr/>
            <p:nvPr/>
          </p:nvSpPr>
          <p:spPr>
            <a:xfrm>
              <a:off x="14992350" y="23098125"/>
              <a:ext cx="1047750" cy="104775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2F6CD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4" name="scen2-ch"/>
            <p:cNvSpPr txBox="1"/>
            <p:nvPr/>
          </p:nvSpPr>
          <p:spPr>
            <a:xfrm>
              <a:off x="15135225" y="23355300"/>
              <a:ext cx="762000" cy="533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2550" b="1" i="0">
                  <a:solidFill>
                    <a:srgbClr val="2F6CDC"/>
                  </a:solidFill>
                  <a:latin typeface="Microsoft YaHei"/>
                  <a:ea typeface="Microsoft YaHei"/>
                  <a:cs typeface="Microsoft YaHei"/>
                </a:rPr>
                <a:t>产</a:t>
              </a:r>
            </a:p>
          </p:txBody>
        </p:sp>
        <p:sp>
          <p:nvSpPr>
            <p:cNvPr id="145" name="scen2-title"/>
            <p:cNvSpPr txBox="1"/>
            <p:nvPr/>
          </p:nvSpPr>
          <p:spPr>
            <a:xfrm>
              <a:off x="16668750" y="23260050"/>
              <a:ext cx="3619500" cy="3429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2100" b="1" i="0">
                  <a:solidFill>
                    <a:srgbClr val="1B2F55"/>
                  </a:solidFill>
                  <a:latin typeface="Microsoft YaHei"/>
                  <a:ea typeface="Microsoft YaHei"/>
                  <a:cs typeface="Microsoft YaHei"/>
                </a:rPr>
                <a:t>产品策划</a:t>
              </a:r>
            </a:p>
          </p:txBody>
        </p:sp>
        <p:sp>
          <p:nvSpPr>
            <p:cNvPr id="146" name="scen2-sub"/>
            <p:cNvSpPr txBox="1"/>
            <p:nvPr/>
          </p:nvSpPr>
          <p:spPr>
            <a:xfrm>
              <a:off x="16668750" y="23831550"/>
              <a:ext cx="3810000" cy="3238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350" b="0" i="0">
                  <a:solidFill>
                    <a:srgbClr val="33456B"/>
                  </a:solidFill>
                  <a:latin typeface="Microsoft YaHei"/>
                  <a:ea typeface="Microsoft YaHei"/>
                  <a:cs typeface="Microsoft YaHei"/>
                </a:rPr>
                <a:t>产品定位分析 功能策略规划</a:t>
              </a:r>
            </a:p>
          </p:txBody>
        </p:sp>
        <p:cxnSp>
          <p:nvCxnSpPr>
            <p:cNvPr id="147" name="scen-sep2"/>
            <p:cNvCxnSpPr/>
            <p:nvPr/>
          </p:nvCxnSpPr>
          <p:spPr>
            <a:xfrm>
              <a:off x="14068425" y="23126700"/>
              <a:ext cx="0" cy="990600"/>
            </a:xfrm>
            <a:prstGeom prst="line">
              <a:avLst/>
            </a:prstGeom>
            <a:ln w="19050">
              <a:solidFill>
                <a:srgbClr val="E1E7F2"/>
              </a:solidFill>
              <a:prstDash val="dash"/>
            </a:ln>
            <a:effectLst/>
          </p:spPr>
        </p:cxnSp>
        <p:sp>
          <p:nvSpPr>
            <p:cNvPr id="148" name="scen3-ring"/>
            <p:cNvSpPr/>
            <p:nvPr/>
          </p:nvSpPr>
          <p:spPr>
            <a:xfrm>
              <a:off x="20754975" y="23098125"/>
              <a:ext cx="1047750" cy="104775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2F6CD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9" name="scen3-ch"/>
            <p:cNvSpPr txBox="1"/>
            <p:nvPr/>
          </p:nvSpPr>
          <p:spPr>
            <a:xfrm>
              <a:off x="20897850" y="23355300"/>
              <a:ext cx="762000" cy="533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2550" b="1" i="0">
                  <a:solidFill>
                    <a:srgbClr val="2F6CDC"/>
                  </a:solidFill>
                  <a:latin typeface="Microsoft YaHei"/>
                  <a:ea typeface="Microsoft YaHei"/>
                  <a:cs typeface="Microsoft YaHei"/>
                </a:rPr>
                <a:t>战</a:t>
              </a:r>
            </a:p>
          </p:txBody>
        </p:sp>
        <p:sp>
          <p:nvSpPr>
            <p:cNvPr id="150" name="scen3-title"/>
            <p:cNvSpPr txBox="1"/>
            <p:nvPr/>
          </p:nvSpPr>
          <p:spPr>
            <a:xfrm>
              <a:off x="22431375" y="23260050"/>
              <a:ext cx="3619500" cy="3429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2100" b="1" i="0">
                  <a:solidFill>
                    <a:srgbClr val="1B2F55"/>
                  </a:solidFill>
                  <a:latin typeface="Microsoft YaHei"/>
                  <a:ea typeface="Microsoft YaHei"/>
                  <a:cs typeface="Microsoft YaHei"/>
                </a:rPr>
                <a:t>战略规划</a:t>
              </a:r>
            </a:p>
          </p:txBody>
        </p:sp>
        <p:sp>
          <p:nvSpPr>
            <p:cNvPr id="151" name="scen3-sub"/>
            <p:cNvSpPr txBox="1"/>
            <p:nvPr/>
          </p:nvSpPr>
          <p:spPr>
            <a:xfrm>
              <a:off x="22431375" y="23831550"/>
              <a:ext cx="3810000" cy="3238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350" b="0" i="0">
                  <a:solidFill>
                    <a:srgbClr val="33456B"/>
                  </a:solidFill>
                  <a:latin typeface="Microsoft YaHei"/>
                  <a:ea typeface="Microsoft YaHei"/>
                  <a:cs typeface="Microsoft YaHei"/>
                </a:rPr>
                <a:t>企业战略制定 业务方向规划</a:t>
              </a:r>
            </a:p>
          </p:txBody>
        </p:sp>
        <p:cxnSp>
          <p:nvCxnSpPr>
            <p:cNvPr id="152" name="scen-sep3"/>
            <p:cNvCxnSpPr/>
            <p:nvPr/>
          </p:nvCxnSpPr>
          <p:spPr>
            <a:xfrm>
              <a:off x="19831050" y="23126700"/>
              <a:ext cx="0" cy="990600"/>
            </a:xfrm>
            <a:prstGeom prst="line">
              <a:avLst/>
            </a:prstGeom>
            <a:ln w="19050">
              <a:solidFill>
                <a:srgbClr val="E1E7F2"/>
              </a:solidFill>
              <a:prstDash val="dash"/>
            </a:ln>
            <a:effectLst/>
          </p:spPr>
        </p:cxnSp>
        <p:sp>
          <p:nvSpPr>
            <p:cNvPr id="153" name="scen4-ring"/>
            <p:cNvSpPr/>
            <p:nvPr/>
          </p:nvSpPr>
          <p:spPr>
            <a:xfrm>
              <a:off x="26517600" y="23098125"/>
              <a:ext cx="1047750" cy="104775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2F6CD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4" name="scen4-ch"/>
            <p:cNvSpPr txBox="1"/>
            <p:nvPr/>
          </p:nvSpPr>
          <p:spPr>
            <a:xfrm>
              <a:off x="26660475" y="23355300"/>
              <a:ext cx="762000" cy="533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2550" b="1" i="0">
                  <a:solidFill>
                    <a:srgbClr val="2F6CDC"/>
                  </a:solidFill>
                  <a:latin typeface="Microsoft YaHei"/>
                  <a:ea typeface="Microsoft YaHei"/>
                  <a:cs typeface="Microsoft YaHei"/>
                </a:rPr>
                <a:t>人</a:t>
              </a:r>
            </a:p>
          </p:txBody>
        </p:sp>
        <p:sp>
          <p:nvSpPr>
            <p:cNvPr id="155" name="scen4-title"/>
            <p:cNvSpPr txBox="1"/>
            <p:nvPr/>
          </p:nvSpPr>
          <p:spPr>
            <a:xfrm>
              <a:off x="28194000" y="23260050"/>
              <a:ext cx="3619500" cy="3429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2100" b="1" i="0">
                  <a:solidFill>
                    <a:srgbClr val="1B2F55"/>
                  </a:solidFill>
                  <a:latin typeface="Microsoft YaHei"/>
                  <a:ea typeface="Microsoft YaHei"/>
                  <a:cs typeface="Microsoft YaHei"/>
                </a:rPr>
                <a:t>个人职业分析</a:t>
              </a:r>
            </a:p>
          </p:txBody>
        </p:sp>
        <p:sp>
          <p:nvSpPr>
            <p:cNvPr id="156" name="scen4-sub"/>
            <p:cNvSpPr txBox="1"/>
            <p:nvPr/>
          </p:nvSpPr>
          <p:spPr>
            <a:xfrm>
              <a:off x="28194000" y="23831550"/>
              <a:ext cx="3810000" cy="3238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350" b="0" i="0">
                  <a:solidFill>
                    <a:srgbClr val="33456B"/>
                  </a:solidFill>
                  <a:latin typeface="Microsoft YaHei"/>
                  <a:ea typeface="Microsoft YaHei"/>
                  <a:cs typeface="Microsoft YaHei"/>
                </a:rPr>
                <a:t>个人优势分析 职业发展规划</a:t>
              </a:r>
            </a:p>
          </p:txBody>
        </p:sp>
        <p:cxnSp>
          <p:nvCxnSpPr>
            <p:cNvPr id="157" name="scen-sep4"/>
            <p:cNvCxnSpPr/>
            <p:nvPr/>
          </p:nvCxnSpPr>
          <p:spPr>
            <a:xfrm>
              <a:off x="25593675" y="23126700"/>
              <a:ext cx="0" cy="990600"/>
            </a:xfrm>
            <a:prstGeom prst="line">
              <a:avLst/>
            </a:prstGeom>
            <a:ln w="19050">
              <a:solidFill>
                <a:srgbClr val="E1E7F2"/>
              </a:solidFill>
              <a:prstDash val="dash"/>
            </a:ln>
            <a:effectLst/>
          </p:spPr>
        </p:cxnSp>
      </p:grpSp>
      <p:sp>
        <p:nvSpPr>
          <p:cNvPr id="158" name="footer-bar"/>
          <p:cNvSpPr/>
          <p:nvPr/>
        </p:nvSpPr>
        <p:spPr>
          <a:xfrm>
            <a:off x="1133475" y="24555450"/>
            <a:ext cx="31156275" cy="190500"/>
          </a:xfrm>
          <a:prstGeom prst="rect">
            <a:avLst/>
          </a:prstGeom>
          <a:solidFill>
            <a:srgbClr val="1054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