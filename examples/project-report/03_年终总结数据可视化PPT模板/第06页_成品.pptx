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54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54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2" name="hdr-icon"/>
          <p:cNvGrpSpPr/>
          <p:nvPr/>
        </p:nvGrpSpPr>
        <p:grpSpPr>
          <a:xfrm>
            <a:off x="1250823" y="498348"/>
            <a:ext cx="1022604" cy="1022604"/>
            <a:chOff x="1250823" y="498348"/>
            <a:chExt cx="1022604" cy="1022604"/>
          </a:xfrm>
        </p:grpSpPr>
        <p:sp>
          <p:nvSpPr>
            <p:cNvPr id="3" name="Oval 2"/>
            <p:cNvSpPr/>
            <p:nvPr/>
          </p:nvSpPr>
          <p:spPr>
            <a:xfrm>
              <a:off x="1250823" y="498348"/>
              <a:ext cx="1022604" cy="1022604"/>
            </a:xfrm>
            <a:prstGeom prst="ellipse">
              <a:avLst/>
            </a:prstGeom>
            <a:noFill/>
            <a:ln w="15240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1518094" y="1032891"/>
              <a:ext cx="174308" cy="185928"/>
            </a:xfrm>
            <a:prstGeom prst="line">
              <a:avLst/>
            </a:prstGeom>
            <a:ln w="120853">
              <a:solidFill>
                <a:srgbClr val="1C407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V="1">
              <a:off x="1692402" y="835342"/>
              <a:ext cx="325374" cy="383477"/>
            </a:xfrm>
            <a:prstGeom prst="line">
              <a:avLst/>
            </a:prstGeom>
            <a:ln w="120853">
              <a:solidFill>
                <a:srgbClr val="1C407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hdr-title"/>
          <p:cNvSpPr txBox="1"/>
          <p:nvPr/>
        </p:nvSpPr>
        <p:spPr>
          <a:xfrm>
            <a:off x="2686050" y="552450"/>
            <a:ext cx="17145000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7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IT 技术团队 “研发项目效能投入产出分析” 报告</a:t>
            </a:r>
          </a:p>
        </p:txBody>
      </p:sp>
      <p:sp>
        <p:nvSpPr>
          <p:cNvPr id="7" name="hdr-tag"/>
          <p:cNvSpPr/>
          <p:nvPr/>
        </p:nvSpPr>
        <p:spPr>
          <a:xfrm>
            <a:off x="25317450" y="571500"/>
            <a:ext cx="4305300" cy="87630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tag-t"/>
          <p:cNvSpPr txBox="1"/>
          <p:nvPr/>
        </p:nvSpPr>
        <p:spPr>
          <a:xfrm>
            <a:off x="25317450" y="571500"/>
            <a:ext cx="43053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9" name="hdr-rule"/>
          <p:cNvSpPr/>
          <p:nvPr/>
        </p:nvSpPr>
        <p:spPr>
          <a:xfrm>
            <a:off x="1162050" y="1676400"/>
            <a:ext cx="28441650" cy="13335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t01-tag"/>
          <p:cNvSpPr/>
          <p:nvPr/>
        </p:nvSpPr>
        <p:spPr>
          <a:xfrm>
            <a:off x="1714500" y="2857500"/>
            <a:ext cx="2571750" cy="97155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t01-tag-t"/>
          <p:cNvSpPr txBox="1"/>
          <p:nvPr/>
        </p:nvSpPr>
        <p:spPr>
          <a:xfrm>
            <a:off x="1714500" y="2857500"/>
            <a:ext cx="2571750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12" name="part01-box"/>
          <p:cNvSpPr/>
          <p:nvPr/>
        </p:nvSpPr>
        <p:spPr>
          <a:xfrm>
            <a:off x="4295775" y="2857500"/>
            <a:ext cx="3486150" cy="990600"/>
          </a:xfrm>
          <a:prstGeom prst="rect">
            <a:avLst/>
          </a:prstGeom>
          <a:solidFill>
            <a:srgbClr val="FFFFFF"/>
          </a:solidFill>
          <a:ln w="28575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t01-box-t"/>
          <p:cNvSpPr txBox="1"/>
          <p:nvPr/>
        </p:nvSpPr>
        <p:spPr>
          <a:xfrm>
            <a:off x="4295775" y="2857500"/>
            <a:ext cx="348615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第一部分内容</a:t>
            </a:r>
          </a:p>
        </p:txBody>
      </p:sp>
      <p:sp>
        <p:nvSpPr>
          <p:cNvPr id="14" name="part01-body"/>
          <p:cNvSpPr txBox="1"/>
          <p:nvPr/>
        </p:nvSpPr>
        <p:spPr>
          <a:xfrm>
            <a:off x="1695450" y="4019550"/>
            <a:ext cx="7009089" cy="2419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2024 年度研发资源投入中，架构基建（占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比 40%）、提效工具采购（占比 35%）、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专项人力（占比 25%）为核心投入方向，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其中架构基建投入对长期效能的拉动最显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著。</a:t>
            </a:r>
          </a:p>
        </p:txBody>
      </p:sp>
      <p:sp>
        <p:nvSpPr>
          <p:cNvPr id="15" name="part02-tag"/>
          <p:cNvSpPr/>
          <p:nvPr/>
        </p:nvSpPr>
        <p:spPr>
          <a:xfrm>
            <a:off x="22574250" y="2857500"/>
            <a:ext cx="2571750" cy="97155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t02-tag-t"/>
          <p:cNvSpPr txBox="1"/>
          <p:nvPr/>
        </p:nvSpPr>
        <p:spPr>
          <a:xfrm>
            <a:off x="22574250" y="2857500"/>
            <a:ext cx="2571750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17" name="part02-box"/>
          <p:cNvSpPr/>
          <p:nvPr/>
        </p:nvSpPr>
        <p:spPr>
          <a:xfrm>
            <a:off x="25136475" y="2857500"/>
            <a:ext cx="3486150" cy="990600"/>
          </a:xfrm>
          <a:prstGeom prst="rect">
            <a:avLst/>
          </a:prstGeom>
          <a:solidFill>
            <a:srgbClr val="FFFFFF"/>
          </a:solidFill>
          <a:ln w="28575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t02-box-t"/>
          <p:cNvSpPr txBox="1"/>
          <p:nvPr/>
        </p:nvSpPr>
        <p:spPr>
          <a:xfrm>
            <a:off x="25136475" y="2857500"/>
            <a:ext cx="348615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第二部分内容</a:t>
            </a:r>
          </a:p>
        </p:txBody>
      </p:sp>
      <p:sp>
        <p:nvSpPr>
          <p:cNvPr id="19" name="part02-body"/>
          <p:cNvSpPr txBox="1"/>
          <p:nvPr/>
        </p:nvSpPr>
        <p:spPr>
          <a:xfrm>
            <a:off x="22650450" y="4095750"/>
            <a:ext cx="7009089" cy="19621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2024 年度核心效能目标中，需求交付周期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缩短 30%、线上故障率下降 25% 已超额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达成；代码复用率目标（预期提升 40%）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实际达成 32%，需后续优化。</a:t>
            </a:r>
          </a:p>
        </p:txBody>
      </p:sp>
      <p:sp>
        <p:nvSpPr>
          <p:cNvPr id="20" name="part03-tag"/>
          <p:cNvSpPr/>
          <p:nvPr/>
        </p:nvSpPr>
        <p:spPr>
          <a:xfrm>
            <a:off x="1714500" y="6800850"/>
            <a:ext cx="2571750" cy="97155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t03-tag-t"/>
          <p:cNvSpPr txBox="1"/>
          <p:nvPr/>
        </p:nvSpPr>
        <p:spPr>
          <a:xfrm>
            <a:off x="1714500" y="6800850"/>
            <a:ext cx="2571750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22" name="part03-box"/>
          <p:cNvSpPr/>
          <p:nvPr/>
        </p:nvSpPr>
        <p:spPr>
          <a:xfrm>
            <a:off x="4295775" y="6800850"/>
            <a:ext cx="3486150" cy="990600"/>
          </a:xfrm>
          <a:prstGeom prst="rect">
            <a:avLst/>
          </a:prstGeom>
          <a:solidFill>
            <a:srgbClr val="FFFFFF"/>
          </a:solidFill>
          <a:ln w="28575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t03-box-t"/>
          <p:cNvSpPr txBox="1"/>
          <p:nvPr/>
        </p:nvSpPr>
        <p:spPr>
          <a:xfrm>
            <a:off x="4295775" y="6800850"/>
            <a:ext cx="348615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第三部分内容</a:t>
            </a:r>
          </a:p>
        </p:txBody>
      </p:sp>
      <p:sp>
        <p:nvSpPr>
          <p:cNvPr id="24" name="part03-body"/>
          <p:cNvSpPr txBox="1"/>
          <p:nvPr/>
        </p:nvSpPr>
        <p:spPr>
          <a:xfrm>
            <a:off x="1838325" y="7924800"/>
            <a:ext cx="6667500" cy="19621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2024 年度数据显示：提效工具投入每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增加 10%，对应模块的交付效率提升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8%；架构基建投入的效能收益存在 3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个月左右的滞后周期。</a:t>
            </a:r>
          </a:p>
        </p:txBody>
      </p:sp>
      <p:sp>
        <p:nvSpPr>
          <p:cNvPr id="25" name="part04-tag"/>
          <p:cNvSpPr/>
          <p:nvPr/>
        </p:nvSpPr>
        <p:spPr>
          <a:xfrm>
            <a:off x="22574250" y="6800850"/>
            <a:ext cx="2571750" cy="97155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t04-tag-t"/>
          <p:cNvSpPr txBox="1"/>
          <p:nvPr/>
        </p:nvSpPr>
        <p:spPr>
          <a:xfrm>
            <a:off x="22574250" y="6800850"/>
            <a:ext cx="2571750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27" name="part04-box"/>
          <p:cNvSpPr/>
          <p:nvPr/>
        </p:nvSpPr>
        <p:spPr>
          <a:xfrm>
            <a:off x="25136475" y="6800850"/>
            <a:ext cx="3486150" cy="990600"/>
          </a:xfrm>
          <a:prstGeom prst="rect">
            <a:avLst/>
          </a:prstGeom>
          <a:solidFill>
            <a:srgbClr val="FFFFFF"/>
          </a:solidFill>
          <a:ln w="28575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t04-box-t"/>
          <p:cNvSpPr txBox="1"/>
          <p:nvPr/>
        </p:nvSpPr>
        <p:spPr>
          <a:xfrm>
            <a:off x="25136475" y="6800850"/>
            <a:ext cx="348615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第四部分内容</a:t>
            </a:r>
          </a:p>
        </p:txBody>
      </p:sp>
      <p:sp>
        <p:nvSpPr>
          <p:cNvPr id="29" name="part04-body"/>
          <p:cNvSpPr txBox="1"/>
          <p:nvPr/>
        </p:nvSpPr>
        <p:spPr>
          <a:xfrm>
            <a:off x="22650450" y="8153400"/>
            <a:ext cx="6715125" cy="1504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建议 2025 年资源向“低代码平台迭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代”“自动化测试工具扩容”倾斜，</a:t>
            </a:r>
          </a:p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预估可带动整体效能再提升 20%。</a:t>
            </a:r>
          </a:p>
        </p:txBody>
      </p:sp>
      <p:sp>
        <p:nvSpPr>
          <p:cNvPr id="30" name="circle-left"/>
          <p:cNvSpPr/>
          <p:nvPr/>
        </p:nvSpPr>
        <p:spPr>
          <a:xfrm>
            <a:off x="8524875" y="3286125"/>
            <a:ext cx="4572000" cy="548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ircle-right"/>
          <p:cNvSpPr/>
          <p:nvPr/>
        </p:nvSpPr>
        <p:spPr>
          <a:xfrm>
            <a:off x="17497425" y="3400425"/>
            <a:ext cx="4343400" cy="5257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335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ng-red"/>
          <p:cNvSpPr/>
          <p:nvPr/>
        </p:nvSpPr>
        <p:spPr>
          <a:xfrm>
            <a:off x="11658600" y="2324100"/>
            <a:ext cx="7162800" cy="71628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A335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ub"/>
          <p:cNvSpPr/>
          <p:nvPr/>
        </p:nvSpPr>
        <p:spPr>
          <a:xfrm>
            <a:off x="12277725" y="2933700"/>
            <a:ext cx="5924550" cy="5943600"/>
          </a:xfrm>
          <a:prstGeom prst="ellipse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ub-t1"/>
          <p:cNvSpPr txBox="1"/>
          <p:nvPr/>
        </p:nvSpPr>
        <p:spPr>
          <a:xfrm>
            <a:off x="12192000" y="5029200"/>
            <a:ext cx="60960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研发项目效能</a:t>
            </a:r>
          </a:p>
        </p:txBody>
      </p:sp>
      <p:sp>
        <p:nvSpPr>
          <p:cNvPr id="35" name="hub-t2"/>
          <p:cNvSpPr txBox="1"/>
          <p:nvPr/>
        </p:nvSpPr>
        <p:spPr>
          <a:xfrm>
            <a:off x="12192000" y="5886450"/>
            <a:ext cx="60960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投入产出分析</a:t>
            </a:r>
          </a:p>
        </p:txBody>
      </p:sp>
      <p:sp>
        <p:nvSpPr>
          <p:cNvPr id="36" name="left-t1"/>
          <p:cNvSpPr txBox="1"/>
          <p:nvPr/>
        </p:nvSpPr>
        <p:spPr>
          <a:xfrm>
            <a:off x="8763000" y="5010150"/>
            <a:ext cx="32385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25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前期资源</a:t>
            </a:r>
          </a:p>
        </p:txBody>
      </p:sp>
      <p:sp>
        <p:nvSpPr>
          <p:cNvPr id="37" name="left-t2"/>
          <p:cNvSpPr txBox="1"/>
          <p:nvPr/>
        </p:nvSpPr>
        <p:spPr>
          <a:xfrm>
            <a:off x="8763000" y="5867400"/>
            <a:ext cx="32385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25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投入</a:t>
            </a:r>
          </a:p>
        </p:txBody>
      </p:sp>
      <p:sp>
        <p:nvSpPr>
          <p:cNvPr id="38" name="left-s"/>
          <p:cNvSpPr txBox="1"/>
          <p:nvPr/>
        </p:nvSpPr>
        <p:spPr>
          <a:xfrm>
            <a:off x="9334500" y="6915150"/>
            <a:ext cx="3048000" cy="152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85">
                <a:solidFill>
                  <a:srgbClr val="3B4859"/>
                </a:solidFill>
                <a:latin typeface="Microsoft YaHei"/>
                <a:ea typeface="Microsoft YaHei"/>
                <a:cs typeface="Microsoft YaHei"/>
              </a:rPr>
              <a:t>研发人力、工具</a:t>
            </a:r>
          </a:p>
          <a:p>
            <a:pPr algn="ctr">
              <a:lnSpc>
                <a:spcPct val="100000"/>
              </a:lnSpc>
            </a:pPr>
            <a:r>
              <a:rPr sz="3300" b="0" i="0" spc="85">
                <a:solidFill>
                  <a:srgbClr val="3B4859"/>
                </a:solidFill>
                <a:latin typeface="Microsoft YaHei"/>
                <a:ea typeface="Microsoft YaHei"/>
                <a:cs typeface="Microsoft YaHei"/>
              </a:rPr>
              <a:t>成本、架构基建</a:t>
            </a:r>
          </a:p>
          <a:p>
            <a:pPr algn="ctr">
              <a:lnSpc>
                <a:spcPct val="100000"/>
              </a:lnSpc>
            </a:pPr>
            <a:r>
              <a:rPr sz="3300" b="0" i="0" spc="85">
                <a:solidFill>
                  <a:srgbClr val="3B4859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39" name="right-t1"/>
          <p:cNvSpPr txBox="1"/>
          <p:nvPr/>
        </p:nvSpPr>
        <p:spPr>
          <a:xfrm>
            <a:off x="18497550" y="4972050"/>
            <a:ext cx="32385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5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阶段目标</a:t>
            </a:r>
          </a:p>
        </p:txBody>
      </p:sp>
      <p:sp>
        <p:nvSpPr>
          <p:cNvPr id="40" name="right-t2"/>
          <p:cNvSpPr txBox="1"/>
          <p:nvPr/>
        </p:nvSpPr>
        <p:spPr>
          <a:xfrm>
            <a:off x="18497550" y="5867400"/>
            <a:ext cx="32385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5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41" name="right-s"/>
          <p:cNvSpPr txBox="1"/>
          <p:nvPr/>
        </p:nvSpPr>
        <p:spPr>
          <a:xfrm>
            <a:off x="18383250" y="6915150"/>
            <a:ext cx="3048000" cy="152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85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项目交付周期、</a:t>
            </a:r>
          </a:p>
          <a:p>
            <a:pPr algn="ctr">
              <a:lnSpc>
                <a:spcPct val="100000"/>
              </a:lnSpc>
            </a:pPr>
            <a:r>
              <a:rPr sz="3300" b="0" i="0" spc="85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代码质量指标、</a:t>
            </a:r>
          </a:p>
          <a:p>
            <a:pPr algn="ctr">
              <a:lnSpc>
                <a:spcPct val="100000"/>
              </a:lnSpc>
            </a:pPr>
            <a:r>
              <a:rPr sz="3300" b="0" i="0" spc="85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业务支撑效率</a:t>
            </a:r>
          </a:p>
        </p:txBody>
      </p:sp>
      <p:sp>
        <p:nvSpPr>
          <p:cNvPr id="42" name="band1"/>
          <p:cNvSpPr/>
          <p:nvPr/>
        </p:nvSpPr>
        <p:spPr>
          <a:xfrm>
            <a:off x="1676400" y="9972675"/>
            <a:ext cx="27508200" cy="1771650"/>
          </a:xfrm>
          <a:prstGeom prst="rect">
            <a:avLst/>
          </a:prstGeom>
          <a:solidFill>
            <a:srgbClr val="F6F9FE"/>
          </a:solidFill>
          <a:ln w="38100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nd1-chip"/>
          <p:cNvSpPr/>
          <p:nvPr/>
        </p:nvSpPr>
        <p:spPr>
          <a:xfrm>
            <a:off x="2200275" y="9839325"/>
            <a:ext cx="3190875" cy="904875"/>
          </a:xfrm>
          <a:prstGeom prst="roundRect">
            <a:avLst>
              <a:gd name="adj" fmla="val 14736"/>
            </a:avLst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nd1-chip-t"/>
          <p:cNvSpPr txBox="1"/>
          <p:nvPr/>
        </p:nvSpPr>
        <p:spPr>
          <a:xfrm>
            <a:off x="2200275" y="9839325"/>
            <a:ext cx="3190875" cy="904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常规采纳路径</a:t>
            </a:r>
          </a:p>
        </p:txBody>
      </p:sp>
      <p:sp>
        <p:nvSpPr>
          <p:cNvPr id="45" name="band1-step1"/>
          <p:cNvSpPr txBox="1"/>
          <p:nvPr/>
        </p:nvSpPr>
        <p:spPr>
          <a:xfrm>
            <a:off x="3105150" y="10877550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获取技术方案信息</a:t>
            </a:r>
          </a:p>
        </p:txBody>
      </p:sp>
      <p:sp>
        <p:nvSpPr>
          <p:cNvPr id="46" name="band1-step2"/>
          <p:cNvSpPr txBox="1"/>
          <p:nvPr/>
        </p:nvSpPr>
        <p:spPr>
          <a:xfrm>
            <a:off x="9029700" y="10877550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内部测试验证</a:t>
            </a:r>
          </a:p>
        </p:txBody>
      </p:sp>
      <p:sp>
        <p:nvSpPr>
          <p:cNvPr id="47" name="band1-step3"/>
          <p:cNvSpPr txBox="1"/>
          <p:nvPr/>
        </p:nvSpPr>
        <p:spPr>
          <a:xfrm>
            <a:off x="14030325" y="10877550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查看落地案例</a:t>
            </a:r>
          </a:p>
        </p:txBody>
      </p:sp>
      <p:sp>
        <p:nvSpPr>
          <p:cNvPr id="48" name="band1-step4"/>
          <p:cNvSpPr txBox="1"/>
          <p:nvPr/>
        </p:nvSpPr>
        <p:spPr>
          <a:xfrm>
            <a:off x="18869025" y="10877550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正式接入使用</a:t>
            </a:r>
          </a:p>
        </p:txBody>
      </p:sp>
      <p:sp>
        <p:nvSpPr>
          <p:cNvPr id="49" name="band1-step5"/>
          <p:cNvSpPr txBox="1"/>
          <p:nvPr/>
        </p:nvSpPr>
        <p:spPr>
          <a:xfrm>
            <a:off x="23774400" y="10877550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持续优化迭代</a:t>
            </a:r>
          </a:p>
        </p:txBody>
      </p:sp>
      <p:cxnSp>
        <p:nvCxnSpPr>
          <p:cNvPr id="50" name="band1-arw1"/>
          <p:cNvCxnSpPr/>
          <p:nvPr/>
        </p:nvCxnSpPr>
        <p:spPr>
          <a:xfrm>
            <a:off x="7753350" y="11144250"/>
            <a:ext cx="552450" cy="0"/>
          </a:xfrm>
          <a:prstGeom prst="line">
            <a:avLst/>
          </a:prstGeom>
          <a:ln w="47625">
            <a:solidFill>
              <a:srgbClr val="7E9A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band1-arw2"/>
          <p:cNvCxnSpPr/>
          <p:nvPr/>
        </p:nvCxnSpPr>
        <p:spPr>
          <a:xfrm>
            <a:off x="12725400" y="11144250"/>
            <a:ext cx="552450" cy="0"/>
          </a:xfrm>
          <a:prstGeom prst="line">
            <a:avLst/>
          </a:prstGeom>
          <a:ln w="47625">
            <a:solidFill>
              <a:srgbClr val="7E9A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band1-arw3"/>
          <p:cNvCxnSpPr/>
          <p:nvPr/>
        </p:nvCxnSpPr>
        <p:spPr>
          <a:xfrm>
            <a:off x="17659350" y="11144250"/>
            <a:ext cx="552450" cy="0"/>
          </a:xfrm>
          <a:prstGeom prst="line">
            <a:avLst/>
          </a:prstGeom>
          <a:ln w="47625">
            <a:solidFill>
              <a:srgbClr val="7E9A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band1-arw4"/>
          <p:cNvCxnSpPr/>
          <p:nvPr/>
        </p:nvCxnSpPr>
        <p:spPr>
          <a:xfrm>
            <a:off x="22507575" y="11144250"/>
            <a:ext cx="552450" cy="0"/>
          </a:xfrm>
          <a:prstGeom prst="line">
            <a:avLst/>
          </a:prstGeom>
          <a:ln w="47625">
            <a:solidFill>
              <a:srgbClr val="7E9A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band2"/>
          <p:cNvSpPr/>
          <p:nvPr/>
        </p:nvSpPr>
        <p:spPr>
          <a:xfrm>
            <a:off x="1676400" y="11868150"/>
            <a:ext cx="27508200" cy="1952625"/>
          </a:xfrm>
          <a:prstGeom prst="rect">
            <a:avLst/>
          </a:prstGeom>
          <a:solidFill>
            <a:srgbClr val="FDF7F7"/>
          </a:solidFill>
          <a:ln w="38100">
            <a:solidFill>
              <a:srgbClr val="A335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and2-chip"/>
          <p:cNvSpPr/>
          <p:nvPr/>
        </p:nvSpPr>
        <p:spPr>
          <a:xfrm>
            <a:off x="2266950" y="11868150"/>
            <a:ext cx="4010025" cy="838200"/>
          </a:xfrm>
          <a:prstGeom prst="roundRect">
            <a:avLst>
              <a:gd name="adj" fmla="val 15909"/>
            </a:avLst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nd2-chip-t"/>
          <p:cNvSpPr txBox="1"/>
          <p:nvPr/>
        </p:nvSpPr>
        <p:spPr>
          <a:xfrm>
            <a:off x="2266950" y="11868150"/>
            <a:ext cx="4010025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团队推荐采纳路径</a:t>
            </a:r>
          </a:p>
        </p:txBody>
      </p:sp>
      <p:sp>
        <p:nvSpPr>
          <p:cNvPr id="57" name="band2-step1"/>
          <p:cNvSpPr txBox="1"/>
          <p:nvPr/>
        </p:nvSpPr>
        <p:spPr>
          <a:xfrm>
            <a:off x="3162300" y="12887325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同事 / 团队推荐</a:t>
            </a:r>
          </a:p>
        </p:txBody>
      </p:sp>
      <p:sp>
        <p:nvSpPr>
          <p:cNvPr id="58" name="band2-step2"/>
          <p:cNvSpPr txBox="1"/>
          <p:nvPr/>
        </p:nvSpPr>
        <p:spPr>
          <a:xfrm>
            <a:off x="9029700" y="12887325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技术方案对齐</a:t>
            </a:r>
          </a:p>
        </p:txBody>
      </p:sp>
      <p:sp>
        <p:nvSpPr>
          <p:cNvPr id="59" name="band2-step3"/>
          <p:cNvSpPr txBox="1"/>
          <p:nvPr/>
        </p:nvSpPr>
        <p:spPr>
          <a:xfrm>
            <a:off x="14039850" y="12887325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试点场景验证</a:t>
            </a:r>
          </a:p>
        </p:txBody>
      </p:sp>
      <p:sp>
        <p:nvSpPr>
          <p:cNvPr id="60" name="band2-step4"/>
          <p:cNvSpPr txBox="1"/>
          <p:nvPr/>
        </p:nvSpPr>
        <p:spPr>
          <a:xfrm>
            <a:off x="19221450" y="12887325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全链路接入</a:t>
            </a:r>
          </a:p>
        </p:txBody>
      </p:sp>
      <p:sp>
        <p:nvSpPr>
          <p:cNvPr id="61" name="band2-step5"/>
          <p:cNvSpPr txBox="1"/>
          <p:nvPr/>
        </p:nvSpPr>
        <p:spPr>
          <a:xfrm>
            <a:off x="23831550" y="12887325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问题反馈迭代</a:t>
            </a:r>
          </a:p>
        </p:txBody>
      </p:sp>
      <p:cxnSp>
        <p:nvCxnSpPr>
          <p:cNvPr id="62" name="band2-arw1"/>
          <p:cNvCxnSpPr/>
          <p:nvPr/>
        </p:nvCxnSpPr>
        <p:spPr>
          <a:xfrm>
            <a:off x="7553325" y="13154025"/>
            <a:ext cx="552450" cy="0"/>
          </a:xfrm>
          <a:prstGeom prst="line">
            <a:avLst/>
          </a:prstGeom>
          <a:ln w="47625">
            <a:solidFill>
              <a:srgbClr val="B081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band2-arw2"/>
          <p:cNvCxnSpPr/>
          <p:nvPr/>
        </p:nvCxnSpPr>
        <p:spPr>
          <a:xfrm>
            <a:off x="12744450" y="13154025"/>
            <a:ext cx="552450" cy="0"/>
          </a:xfrm>
          <a:prstGeom prst="line">
            <a:avLst/>
          </a:prstGeom>
          <a:ln w="47625">
            <a:solidFill>
              <a:srgbClr val="B081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band2-arw3"/>
          <p:cNvCxnSpPr/>
          <p:nvPr/>
        </p:nvCxnSpPr>
        <p:spPr>
          <a:xfrm>
            <a:off x="17840325" y="13154025"/>
            <a:ext cx="552450" cy="0"/>
          </a:xfrm>
          <a:prstGeom prst="line">
            <a:avLst/>
          </a:prstGeom>
          <a:ln w="47625">
            <a:solidFill>
              <a:srgbClr val="B081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band2-arw4"/>
          <p:cNvCxnSpPr/>
          <p:nvPr/>
        </p:nvCxnSpPr>
        <p:spPr>
          <a:xfrm>
            <a:off x="22479000" y="13154025"/>
            <a:ext cx="552450" cy="0"/>
          </a:xfrm>
          <a:prstGeom prst="line">
            <a:avLst/>
          </a:prstGeom>
          <a:ln w="47625">
            <a:solidFill>
              <a:srgbClr val="B081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bt-red"/>
          <p:cNvSpPr/>
          <p:nvPr/>
        </p:nvSpPr>
        <p:spPr>
          <a:xfrm>
            <a:off x="1695450" y="14268450"/>
            <a:ext cx="5372100" cy="180975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bt-red-t"/>
          <p:cNvSpPr txBox="1"/>
          <p:nvPr/>
        </p:nvSpPr>
        <p:spPr>
          <a:xfrm>
            <a:off x="1695450" y="14268450"/>
            <a:ext cx="5372100" cy="1809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效能反馈</a:t>
            </a:r>
          </a:p>
        </p:txBody>
      </p:sp>
      <p:sp>
        <p:nvSpPr>
          <p:cNvPr id="68" name="fbt-navy"/>
          <p:cNvSpPr/>
          <p:nvPr/>
        </p:nvSpPr>
        <p:spPr>
          <a:xfrm>
            <a:off x="7067550" y="14268450"/>
            <a:ext cx="22117050" cy="180975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bt-body"/>
          <p:cNvSpPr txBox="1"/>
          <p:nvPr/>
        </p:nvSpPr>
        <p:spPr>
          <a:xfrm>
            <a:off x="7677150" y="14573250"/>
            <a:ext cx="23477311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结合 2024 年度数据，可以看出业务方对研发效能的关注更加强烈，高效能团队的业务粘性显著增加，其中交付效率、故障响</a:t>
            </a:r>
          </a:p>
          <a:p>
            <a:pPr algn="l">
              <a:lnSpc>
                <a:spcPct val="100000"/>
              </a:lnSpc>
            </a:pPr>
            <a:r>
              <a:rPr sz="3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应速度、需求匹配度都对业务方的满意度起到了很大的影响。</a:t>
            </a:r>
          </a:p>
        </p:txBody>
      </p:sp>
      <p:sp>
        <p:nvSpPr>
          <p:cNvPr id="70" name="fbt-rule"/>
          <p:cNvSpPr/>
          <p:nvPr/>
        </p:nvSpPr>
        <p:spPr>
          <a:xfrm>
            <a:off x="1695450" y="16840200"/>
            <a:ext cx="27489150" cy="28575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