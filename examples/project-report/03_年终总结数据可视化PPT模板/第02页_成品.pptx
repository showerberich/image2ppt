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icon-ring"/>
          <p:cNvSpPr/>
          <p:nvPr/>
        </p:nvSpPr>
        <p:spPr>
          <a:xfrm>
            <a:off x="962025" y="504825"/>
            <a:ext cx="704850" cy="7048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02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3" name="hdr-icon-check"/>
          <p:cNvGrpSpPr/>
          <p:nvPr/>
        </p:nvGrpSpPr>
        <p:grpSpPr>
          <a:xfrm>
            <a:off x="1184529" y="693801"/>
            <a:ext cx="259842" cy="326898"/>
            <a:chOff x="1184529" y="693801"/>
            <a:chExt cx="259842" cy="326898"/>
          </a:xfrm>
        </p:grpSpPr>
        <p:sp>
          <p:nvSpPr>
            <p:cNvPr id="4" name="Rounded Rectangle 3"/>
            <p:cNvSpPr/>
            <p:nvPr/>
          </p:nvSpPr>
          <p:spPr>
            <a:xfrm>
              <a:off x="1184529" y="693801"/>
              <a:ext cx="259842" cy="326898"/>
            </a:xfrm>
            <a:prstGeom prst="roundRect">
              <a:avLst>
                <a:gd name="adj" fmla="val 19354"/>
              </a:avLst>
            </a:prstGeom>
            <a:noFill/>
            <a:ln w="15240">
              <a:solidFill>
                <a:srgbClr val="0220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47394" y="857250"/>
              <a:ext cx="50292" cy="58674"/>
            </a:xfrm>
            <a:prstGeom prst="line">
              <a:avLst/>
            </a:prstGeom>
            <a:ln w="46310">
              <a:solidFill>
                <a:srgbClr val="02206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V="1">
              <a:off x="1297686" y="790194"/>
              <a:ext cx="88011" cy="125730"/>
            </a:xfrm>
            <a:prstGeom prst="line">
              <a:avLst/>
            </a:prstGeom>
            <a:ln w="46310">
              <a:solidFill>
                <a:srgbClr val="02206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hdr-title"/>
          <p:cNvSpPr txBox="1"/>
          <p:nvPr/>
        </p:nvSpPr>
        <p:spPr>
          <a:xfrm>
            <a:off x="1733550" y="495300"/>
            <a:ext cx="11239500" cy="8839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022060"/>
                </a:solidFill>
                <a:latin typeface="Microsoft YaHei"/>
                <a:ea typeface="Microsoft YaHei"/>
                <a:cs typeface="Microsoft YaHei"/>
              </a:rPr>
              <a:t>IT 工程师团队项目效能分析报告</a:t>
            </a:r>
          </a:p>
        </p:txBody>
      </p:sp>
      <p:sp>
        <p:nvSpPr>
          <p:cNvPr id="8" name="hdr-badge"/>
          <p:cNvSpPr/>
          <p:nvPr/>
        </p:nvSpPr>
        <p:spPr>
          <a:xfrm>
            <a:off x="25317450" y="590550"/>
            <a:ext cx="4295775" cy="866775"/>
          </a:xfrm>
          <a:prstGeom prst="rect">
            <a:avLst/>
          </a:prstGeom>
          <a:solidFill>
            <a:srgbClr val="AF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dr-badge-text"/>
          <p:cNvSpPr txBox="1"/>
          <p:nvPr/>
        </p:nvSpPr>
        <p:spPr>
          <a:xfrm>
            <a:off x="25317450" y="590550"/>
            <a:ext cx="4295775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10" name="hdr-rule"/>
          <p:cNvSpPr/>
          <p:nvPr/>
        </p:nvSpPr>
        <p:spPr>
          <a:xfrm>
            <a:off x="1143000" y="1724025"/>
            <a:ext cx="28479750" cy="123825"/>
          </a:xfrm>
          <a:prstGeom prst="rect">
            <a:avLst/>
          </a:prstGeom>
          <a:solidFill>
            <a:srgbClr val="02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p-panel"/>
          <p:cNvSpPr/>
          <p:nvPr/>
        </p:nvSpPr>
        <p:spPr>
          <a:xfrm>
            <a:off x="1057275" y="2419350"/>
            <a:ext cx="19440525" cy="11449050"/>
          </a:xfrm>
          <a:prstGeom prst="roundRect">
            <a:avLst>
              <a:gd name="adj" fmla="val 831"/>
            </a:avLst>
          </a:prstGeom>
          <a:solidFill>
            <a:srgbClr val="F5F8FF"/>
          </a:solidFill>
          <a:ln w="23812">
            <a:solidFill>
              <a:srgbClr val="0220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p-title"/>
          <p:cNvSpPr txBox="1"/>
          <p:nvPr/>
        </p:nvSpPr>
        <p:spPr>
          <a:xfrm>
            <a:off x="3429000" y="2628900"/>
            <a:ext cx="14478000" cy="8010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022060"/>
                </a:solidFill>
                <a:latin typeface="Microsoft YaHei"/>
                <a:ea typeface="Microsoft YaHei"/>
                <a:cs typeface="Microsoft YaHei"/>
              </a:rPr>
              <a:t>2024 年 XX 技术团队项目交付效能实现重大突破</a:t>
            </a:r>
          </a:p>
        </p:txBody>
      </p:sp>
      <p:sp>
        <p:nvSpPr>
          <p:cNvPr id="13" name="ring-seg-growth"/>
          <p:cNvSpPr/>
          <p:nvPr/>
        </p:nvSpPr>
        <p:spPr>
          <a:xfrm>
            <a:off x="7154228" y="4333875"/>
            <a:ext cx="6032182" cy="2980373"/>
          </a:xfrm>
          <a:custGeom>
            <a:avLst/>
            <a:gdLst/>
            <a:ahLst/>
            <a:cxnLst/>
            <a:rect l="l" t="t" r="r" b="b"/>
            <a:pathLst>
              <a:path w="6032182" h="2980373">
                <a:moveTo>
                  <a:pt x="0" y="2279333"/>
                </a:moveTo>
                <a:lnTo>
                  <a:pt x="118110" y="2055495"/>
                </a:lnTo>
                <a:lnTo>
                  <a:pt x="249554" y="1839277"/>
                </a:lnTo>
                <a:lnTo>
                  <a:pt x="394334" y="1631633"/>
                </a:lnTo>
                <a:lnTo>
                  <a:pt x="551497" y="1433513"/>
                </a:lnTo>
                <a:lnTo>
                  <a:pt x="721042" y="1245870"/>
                </a:lnTo>
                <a:lnTo>
                  <a:pt x="902017" y="1069657"/>
                </a:lnTo>
                <a:lnTo>
                  <a:pt x="1093470" y="903923"/>
                </a:lnTo>
                <a:lnTo>
                  <a:pt x="1295400" y="751523"/>
                </a:lnTo>
                <a:lnTo>
                  <a:pt x="1505902" y="611505"/>
                </a:lnTo>
                <a:lnTo>
                  <a:pt x="1724024" y="484823"/>
                </a:lnTo>
                <a:lnTo>
                  <a:pt x="1950720" y="371475"/>
                </a:lnTo>
                <a:lnTo>
                  <a:pt x="2183130" y="273367"/>
                </a:lnTo>
                <a:lnTo>
                  <a:pt x="2422207" y="189547"/>
                </a:lnTo>
                <a:lnTo>
                  <a:pt x="2665094" y="120967"/>
                </a:lnTo>
                <a:lnTo>
                  <a:pt x="2912744" y="66675"/>
                </a:lnTo>
                <a:lnTo>
                  <a:pt x="3162300" y="28575"/>
                </a:lnTo>
                <a:lnTo>
                  <a:pt x="3414712" y="6667"/>
                </a:lnTo>
                <a:lnTo>
                  <a:pt x="3667124" y="0"/>
                </a:lnTo>
                <a:lnTo>
                  <a:pt x="3920490" y="9525"/>
                </a:lnTo>
                <a:lnTo>
                  <a:pt x="4171950" y="34290"/>
                </a:lnTo>
                <a:lnTo>
                  <a:pt x="4421504" y="74295"/>
                </a:lnTo>
                <a:lnTo>
                  <a:pt x="4668202" y="130493"/>
                </a:lnTo>
                <a:lnTo>
                  <a:pt x="4911090" y="201930"/>
                </a:lnTo>
                <a:lnTo>
                  <a:pt x="5148262" y="287655"/>
                </a:lnTo>
                <a:lnTo>
                  <a:pt x="5380672" y="388620"/>
                </a:lnTo>
                <a:lnTo>
                  <a:pt x="5605462" y="503873"/>
                </a:lnTo>
                <a:lnTo>
                  <a:pt x="5822632" y="632460"/>
                </a:lnTo>
                <a:lnTo>
                  <a:pt x="6032182" y="775335"/>
                </a:lnTo>
                <a:lnTo>
                  <a:pt x="5091112" y="2069783"/>
                </a:lnTo>
                <a:lnTo>
                  <a:pt x="4965382" y="1983105"/>
                </a:lnTo>
                <a:lnTo>
                  <a:pt x="4832984" y="1905000"/>
                </a:lnTo>
                <a:lnTo>
                  <a:pt x="4696777" y="1835467"/>
                </a:lnTo>
                <a:lnTo>
                  <a:pt x="4556760" y="1774507"/>
                </a:lnTo>
                <a:lnTo>
                  <a:pt x="4411980" y="1722120"/>
                </a:lnTo>
                <a:lnTo>
                  <a:pt x="4265294" y="1679257"/>
                </a:lnTo>
                <a:lnTo>
                  <a:pt x="4115752" y="1644967"/>
                </a:lnTo>
                <a:lnTo>
                  <a:pt x="3965257" y="1621155"/>
                </a:lnTo>
                <a:lnTo>
                  <a:pt x="3812857" y="1605915"/>
                </a:lnTo>
                <a:lnTo>
                  <a:pt x="3659504" y="1600200"/>
                </a:lnTo>
                <a:lnTo>
                  <a:pt x="3506152" y="1604010"/>
                </a:lnTo>
                <a:lnTo>
                  <a:pt x="3353752" y="1617345"/>
                </a:lnTo>
                <a:lnTo>
                  <a:pt x="3202304" y="1641157"/>
                </a:lnTo>
                <a:lnTo>
                  <a:pt x="3052762" y="1673543"/>
                </a:lnTo>
                <a:lnTo>
                  <a:pt x="2905124" y="1714500"/>
                </a:lnTo>
                <a:lnTo>
                  <a:pt x="2760344" y="1765935"/>
                </a:lnTo>
                <a:lnTo>
                  <a:pt x="2619374" y="1824990"/>
                </a:lnTo>
                <a:lnTo>
                  <a:pt x="2482214" y="1893570"/>
                </a:lnTo>
                <a:lnTo>
                  <a:pt x="2349817" y="1970723"/>
                </a:lnTo>
                <a:lnTo>
                  <a:pt x="2222182" y="2055495"/>
                </a:lnTo>
                <a:lnTo>
                  <a:pt x="2100262" y="2147887"/>
                </a:lnTo>
                <a:lnTo>
                  <a:pt x="1985010" y="2247900"/>
                </a:lnTo>
                <a:lnTo>
                  <a:pt x="1875472" y="2354580"/>
                </a:lnTo>
                <a:lnTo>
                  <a:pt x="1772602" y="2468880"/>
                </a:lnTo>
                <a:lnTo>
                  <a:pt x="1677352" y="2588895"/>
                </a:lnTo>
                <a:lnTo>
                  <a:pt x="1589722" y="2713673"/>
                </a:lnTo>
                <a:lnTo>
                  <a:pt x="1509712" y="2845117"/>
                </a:lnTo>
                <a:lnTo>
                  <a:pt x="1438274" y="2980373"/>
                </a:lnTo>
                <a:close/>
              </a:path>
            </a:pathLst>
          </a:custGeom>
          <a:solidFill>
            <a:srgbClr val="AF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ng-seg-increment"/>
          <p:cNvSpPr/>
          <p:nvPr/>
        </p:nvSpPr>
        <p:spPr>
          <a:xfrm>
            <a:off x="12477750" y="5423535"/>
            <a:ext cx="2380298" cy="4154805"/>
          </a:xfrm>
          <a:custGeom>
            <a:avLst/>
            <a:gdLst/>
            <a:ahLst/>
            <a:cxnLst/>
            <a:rect l="l" t="t" r="r" b="b"/>
            <a:pathLst>
              <a:path w="2380298" h="4154805">
                <a:moveTo>
                  <a:pt x="1090612" y="0"/>
                </a:moveTo>
                <a:lnTo>
                  <a:pt x="1206818" y="113347"/>
                </a:lnTo>
                <a:lnTo>
                  <a:pt x="1318260" y="230505"/>
                </a:lnTo>
                <a:lnTo>
                  <a:pt x="1425892" y="352425"/>
                </a:lnTo>
                <a:lnTo>
                  <a:pt x="1526858" y="478155"/>
                </a:lnTo>
                <a:lnTo>
                  <a:pt x="1624012" y="607695"/>
                </a:lnTo>
                <a:lnTo>
                  <a:pt x="1715452" y="741045"/>
                </a:lnTo>
                <a:lnTo>
                  <a:pt x="1802130" y="878205"/>
                </a:lnTo>
                <a:lnTo>
                  <a:pt x="1882140" y="1018223"/>
                </a:lnTo>
                <a:lnTo>
                  <a:pt x="1957388" y="1162050"/>
                </a:lnTo>
                <a:lnTo>
                  <a:pt x="2025968" y="1308735"/>
                </a:lnTo>
                <a:lnTo>
                  <a:pt x="2089785" y="1457325"/>
                </a:lnTo>
                <a:lnTo>
                  <a:pt x="2146935" y="1608773"/>
                </a:lnTo>
                <a:lnTo>
                  <a:pt x="2198370" y="1762125"/>
                </a:lnTo>
                <a:lnTo>
                  <a:pt x="2243138" y="1917383"/>
                </a:lnTo>
                <a:lnTo>
                  <a:pt x="2282190" y="2074545"/>
                </a:lnTo>
                <a:lnTo>
                  <a:pt x="2314575" y="2233613"/>
                </a:lnTo>
                <a:lnTo>
                  <a:pt x="2340292" y="2393633"/>
                </a:lnTo>
                <a:lnTo>
                  <a:pt x="2360295" y="2553653"/>
                </a:lnTo>
                <a:lnTo>
                  <a:pt x="2373630" y="2715577"/>
                </a:lnTo>
                <a:lnTo>
                  <a:pt x="2380298" y="2876550"/>
                </a:lnTo>
                <a:lnTo>
                  <a:pt x="2380298" y="3038475"/>
                </a:lnTo>
                <a:lnTo>
                  <a:pt x="2374582" y="3200400"/>
                </a:lnTo>
                <a:lnTo>
                  <a:pt x="2362200" y="3362325"/>
                </a:lnTo>
                <a:lnTo>
                  <a:pt x="2343150" y="3522345"/>
                </a:lnTo>
                <a:lnTo>
                  <a:pt x="2317432" y="3682365"/>
                </a:lnTo>
                <a:lnTo>
                  <a:pt x="2286000" y="3841433"/>
                </a:lnTo>
                <a:lnTo>
                  <a:pt x="2247900" y="3998595"/>
                </a:lnTo>
                <a:lnTo>
                  <a:pt x="2204085" y="4154805"/>
                </a:lnTo>
                <a:lnTo>
                  <a:pt x="673418" y="3686175"/>
                </a:lnTo>
                <a:lnTo>
                  <a:pt x="700088" y="3591877"/>
                </a:lnTo>
                <a:lnTo>
                  <a:pt x="723900" y="3496627"/>
                </a:lnTo>
                <a:lnTo>
                  <a:pt x="742950" y="3400425"/>
                </a:lnTo>
                <a:lnTo>
                  <a:pt x="758190" y="3304223"/>
                </a:lnTo>
                <a:lnTo>
                  <a:pt x="769620" y="3206115"/>
                </a:lnTo>
                <a:lnTo>
                  <a:pt x="777240" y="3108960"/>
                </a:lnTo>
                <a:lnTo>
                  <a:pt x="781050" y="3010853"/>
                </a:lnTo>
                <a:lnTo>
                  <a:pt x="780098" y="2912745"/>
                </a:lnTo>
                <a:lnTo>
                  <a:pt x="776288" y="2814637"/>
                </a:lnTo>
                <a:lnTo>
                  <a:pt x="768668" y="2717483"/>
                </a:lnTo>
                <a:lnTo>
                  <a:pt x="756285" y="2620327"/>
                </a:lnTo>
                <a:lnTo>
                  <a:pt x="740092" y="2523173"/>
                </a:lnTo>
                <a:lnTo>
                  <a:pt x="721042" y="2426970"/>
                </a:lnTo>
                <a:lnTo>
                  <a:pt x="697230" y="2331720"/>
                </a:lnTo>
                <a:lnTo>
                  <a:pt x="669608" y="2237423"/>
                </a:lnTo>
                <a:lnTo>
                  <a:pt x="639128" y="2145030"/>
                </a:lnTo>
                <a:lnTo>
                  <a:pt x="604838" y="2052637"/>
                </a:lnTo>
                <a:lnTo>
                  <a:pt x="565785" y="1963103"/>
                </a:lnTo>
                <a:lnTo>
                  <a:pt x="523875" y="1874520"/>
                </a:lnTo>
                <a:lnTo>
                  <a:pt x="479108" y="1786890"/>
                </a:lnTo>
                <a:lnTo>
                  <a:pt x="429578" y="1702117"/>
                </a:lnTo>
                <a:lnTo>
                  <a:pt x="378142" y="1619250"/>
                </a:lnTo>
                <a:lnTo>
                  <a:pt x="322898" y="1538287"/>
                </a:lnTo>
                <a:lnTo>
                  <a:pt x="263842" y="1460183"/>
                </a:lnTo>
                <a:lnTo>
                  <a:pt x="201930" y="1383983"/>
                </a:lnTo>
                <a:lnTo>
                  <a:pt x="137160" y="1309687"/>
                </a:lnTo>
                <a:lnTo>
                  <a:pt x="69532" y="1239203"/>
                </a:lnTo>
                <a:lnTo>
                  <a:pt x="0" y="1170623"/>
                </a:lnTo>
                <a:close/>
              </a:path>
            </a:pathLst>
          </a:custGeom>
          <a:solidFill>
            <a:srgbClr val="8E9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ng-seg-next"/>
          <p:cNvSpPr/>
          <p:nvPr/>
        </p:nvSpPr>
        <p:spPr>
          <a:xfrm>
            <a:off x="10518458" y="9468802"/>
            <a:ext cx="3930014" cy="2980373"/>
          </a:xfrm>
          <a:custGeom>
            <a:avLst/>
            <a:gdLst/>
            <a:ahLst/>
            <a:cxnLst/>
            <a:rect l="l" t="t" r="r" b="b"/>
            <a:pathLst>
              <a:path w="3930014" h="2980373">
                <a:moveTo>
                  <a:pt x="3930014" y="701040"/>
                </a:moveTo>
                <a:lnTo>
                  <a:pt x="3850957" y="854393"/>
                </a:lnTo>
                <a:lnTo>
                  <a:pt x="3766184" y="1003936"/>
                </a:lnTo>
                <a:lnTo>
                  <a:pt x="3674744" y="1149668"/>
                </a:lnTo>
                <a:lnTo>
                  <a:pt x="3577590" y="1291590"/>
                </a:lnTo>
                <a:lnTo>
                  <a:pt x="3473767" y="1428750"/>
                </a:lnTo>
                <a:lnTo>
                  <a:pt x="3365182" y="1562100"/>
                </a:lnTo>
                <a:lnTo>
                  <a:pt x="3250882" y="1689736"/>
                </a:lnTo>
                <a:lnTo>
                  <a:pt x="3130867" y="1813560"/>
                </a:lnTo>
                <a:lnTo>
                  <a:pt x="3005137" y="1931670"/>
                </a:lnTo>
                <a:lnTo>
                  <a:pt x="2875597" y="2044066"/>
                </a:lnTo>
                <a:lnTo>
                  <a:pt x="2741294" y="2150746"/>
                </a:lnTo>
                <a:lnTo>
                  <a:pt x="2602230" y="2252663"/>
                </a:lnTo>
                <a:lnTo>
                  <a:pt x="2458402" y="2347913"/>
                </a:lnTo>
                <a:lnTo>
                  <a:pt x="2311717" y="2436496"/>
                </a:lnTo>
                <a:lnTo>
                  <a:pt x="2161222" y="2519363"/>
                </a:lnTo>
                <a:lnTo>
                  <a:pt x="2006917" y="2595563"/>
                </a:lnTo>
                <a:lnTo>
                  <a:pt x="1849754" y="2666048"/>
                </a:lnTo>
                <a:lnTo>
                  <a:pt x="1689734" y="2728913"/>
                </a:lnTo>
                <a:lnTo>
                  <a:pt x="1526857" y="2785110"/>
                </a:lnTo>
                <a:lnTo>
                  <a:pt x="1362074" y="2833688"/>
                </a:lnTo>
                <a:lnTo>
                  <a:pt x="1195387" y="2876550"/>
                </a:lnTo>
                <a:lnTo>
                  <a:pt x="1027747" y="2911793"/>
                </a:lnTo>
                <a:lnTo>
                  <a:pt x="857250" y="2939416"/>
                </a:lnTo>
                <a:lnTo>
                  <a:pt x="686752" y="2960370"/>
                </a:lnTo>
                <a:lnTo>
                  <a:pt x="515302" y="2973706"/>
                </a:lnTo>
                <a:lnTo>
                  <a:pt x="343852" y="2980373"/>
                </a:lnTo>
                <a:lnTo>
                  <a:pt x="171450" y="2978468"/>
                </a:lnTo>
                <a:lnTo>
                  <a:pt x="0" y="2970848"/>
                </a:lnTo>
                <a:lnTo>
                  <a:pt x="111442" y="1374458"/>
                </a:lnTo>
                <a:lnTo>
                  <a:pt x="215264" y="1379220"/>
                </a:lnTo>
                <a:lnTo>
                  <a:pt x="320040" y="1380173"/>
                </a:lnTo>
                <a:lnTo>
                  <a:pt x="423862" y="1376363"/>
                </a:lnTo>
                <a:lnTo>
                  <a:pt x="527684" y="1367790"/>
                </a:lnTo>
                <a:lnTo>
                  <a:pt x="630554" y="1355408"/>
                </a:lnTo>
                <a:lnTo>
                  <a:pt x="733424" y="1338263"/>
                </a:lnTo>
                <a:lnTo>
                  <a:pt x="835342" y="1317308"/>
                </a:lnTo>
                <a:lnTo>
                  <a:pt x="936307" y="1291590"/>
                </a:lnTo>
                <a:lnTo>
                  <a:pt x="1036320" y="1262063"/>
                </a:lnTo>
                <a:lnTo>
                  <a:pt x="1134427" y="1227773"/>
                </a:lnTo>
                <a:lnTo>
                  <a:pt x="1231582" y="1189673"/>
                </a:lnTo>
                <a:lnTo>
                  <a:pt x="1326832" y="1147763"/>
                </a:lnTo>
                <a:lnTo>
                  <a:pt x="1420177" y="1101090"/>
                </a:lnTo>
                <a:lnTo>
                  <a:pt x="1511617" y="1050608"/>
                </a:lnTo>
                <a:lnTo>
                  <a:pt x="1601152" y="997268"/>
                </a:lnTo>
                <a:lnTo>
                  <a:pt x="1687830" y="939166"/>
                </a:lnTo>
                <a:lnTo>
                  <a:pt x="1771650" y="878206"/>
                </a:lnTo>
                <a:lnTo>
                  <a:pt x="1853564" y="813436"/>
                </a:lnTo>
                <a:lnTo>
                  <a:pt x="1931670" y="744856"/>
                </a:lnTo>
                <a:lnTo>
                  <a:pt x="2007870" y="673418"/>
                </a:lnTo>
                <a:lnTo>
                  <a:pt x="2080260" y="599123"/>
                </a:lnTo>
                <a:lnTo>
                  <a:pt x="2149792" y="521018"/>
                </a:lnTo>
                <a:lnTo>
                  <a:pt x="2215514" y="440056"/>
                </a:lnTo>
                <a:lnTo>
                  <a:pt x="2278380" y="357188"/>
                </a:lnTo>
                <a:lnTo>
                  <a:pt x="2337434" y="271463"/>
                </a:lnTo>
                <a:lnTo>
                  <a:pt x="2392680" y="182880"/>
                </a:lnTo>
                <a:lnTo>
                  <a:pt x="2444114" y="92393"/>
                </a:lnTo>
                <a:lnTo>
                  <a:pt x="249174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ng-seg-decline"/>
          <p:cNvSpPr/>
          <p:nvPr/>
        </p:nvSpPr>
        <p:spPr>
          <a:xfrm>
            <a:off x="6744652" y="7003732"/>
            <a:ext cx="3588068" cy="5371148"/>
          </a:xfrm>
          <a:custGeom>
            <a:avLst/>
            <a:gdLst/>
            <a:ahLst/>
            <a:cxnLst/>
            <a:rect l="l" t="t" r="r" b="b"/>
            <a:pathLst>
              <a:path w="3588068" h="5371148">
                <a:moveTo>
                  <a:pt x="3282316" y="5371148"/>
                </a:moveTo>
                <a:lnTo>
                  <a:pt x="3038476" y="5315903"/>
                </a:lnTo>
                <a:lnTo>
                  <a:pt x="2798446" y="5245418"/>
                </a:lnTo>
                <a:lnTo>
                  <a:pt x="2562226" y="5160646"/>
                </a:lnTo>
                <a:lnTo>
                  <a:pt x="2332673" y="5060633"/>
                </a:lnTo>
                <a:lnTo>
                  <a:pt x="2109788" y="4947286"/>
                </a:lnTo>
                <a:lnTo>
                  <a:pt x="1893570" y="4820603"/>
                </a:lnTo>
                <a:lnTo>
                  <a:pt x="1685926" y="4680586"/>
                </a:lnTo>
                <a:lnTo>
                  <a:pt x="1487806" y="4528186"/>
                </a:lnTo>
                <a:lnTo>
                  <a:pt x="1298258" y="4364356"/>
                </a:lnTo>
                <a:lnTo>
                  <a:pt x="1120140" y="4188143"/>
                </a:lnTo>
                <a:lnTo>
                  <a:pt x="953453" y="4001453"/>
                </a:lnTo>
                <a:lnTo>
                  <a:pt x="798196" y="3805238"/>
                </a:lnTo>
                <a:lnTo>
                  <a:pt x="655320" y="3599498"/>
                </a:lnTo>
                <a:lnTo>
                  <a:pt x="524828" y="3386138"/>
                </a:lnTo>
                <a:lnTo>
                  <a:pt x="408623" y="3164206"/>
                </a:lnTo>
                <a:lnTo>
                  <a:pt x="305753" y="2935606"/>
                </a:lnTo>
                <a:lnTo>
                  <a:pt x="218123" y="2701290"/>
                </a:lnTo>
                <a:lnTo>
                  <a:pt x="143828" y="2462213"/>
                </a:lnTo>
                <a:lnTo>
                  <a:pt x="84773" y="2219326"/>
                </a:lnTo>
                <a:lnTo>
                  <a:pt x="40958" y="1972628"/>
                </a:lnTo>
                <a:lnTo>
                  <a:pt x="13336" y="1724026"/>
                </a:lnTo>
                <a:lnTo>
                  <a:pt x="0" y="1473518"/>
                </a:lnTo>
                <a:lnTo>
                  <a:pt x="1906" y="1223010"/>
                </a:lnTo>
                <a:lnTo>
                  <a:pt x="20003" y="973456"/>
                </a:lnTo>
                <a:lnTo>
                  <a:pt x="53340" y="725806"/>
                </a:lnTo>
                <a:lnTo>
                  <a:pt x="101918" y="480060"/>
                </a:lnTo>
                <a:lnTo>
                  <a:pt x="165736" y="238126"/>
                </a:lnTo>
                <a:lnTo>
                  <a:pt x="243840" y="0"/>
                </a:lnTo>
                <a:lnTo>
                  <a:pt x="1747838" y="547688"/>
                </a:lnTo>
                <a:lnTo>
                  <a:pt x="1700213" y="691516"/>
                </a:lnTo>
                <a:lnTo>
                  <a:pt x="1661160" y="838200"/>
                </a:lnTo>
                <a:lnTo>
                  <a:pt x="1632586" y="986790"/>
                </a:lnTo>
                <a:lnTo>
                  <a:pt x="1611630" y="1137286"/>
                </a:lnTo>
                <a:lnTo>
                  <a:pt x="1601153" y="1287780"/>
                </a:lnTo>
                <a:lnTo>
                  <a:pt x="1600200" y="1440180"/>
                </a:lnTo>
                <a:lnTo>
                  <a:pt x="1607820" y="1591628"/>
                </a:lnTo>
                <a:lnTo>
                  <a:pt x="1624966" y="1742123"/>
                </a:lnTo>
                <a:lnTo>
                  <a:pt x="1651636" y="1891666"/>
                </a:lnTo>
                <a:lnTo>
                  <a:pt x="1686878" y="2038350"/>
                </a:lnTo>
                <a:lnTo>
                  <a:pt x="1731646" y="2183130"/>
                </a:lnTo>
                <a:lnTo>
                  <a:pt x="1784986" y="2325053"/>
                </a:lnTo>
                <a:lnTo>
                  <a:pt x="1846898" y="2464118"/>
                </a:lnTo>
                <a:lnTo>
                  <a:pt x="1917383" y="2597468"/>
                </a:lnTo>
                <a:lnTo>
                  <a:pt x="1996440" y="2727960"/>
                </a:lnTo>
                <a:lnTo>
                  <a:pt x="2083118" y="2851786"/>
                </a:lnTo>
                <a:lnTo>
                  <a:pt x="2177416" y="2970848"/>
                </a:lnTo>
                <a:lnTo>
                  <a:pt x="2278380" y="3084196"/>
                </a:lnTo>
                <a:lnTo>
                  <a:pt x="2386013" y="3189923"/>
                </a:lnTo>
                <a:lnTo>
                  <a:pt x="2500313" y="3289936"/>
                </a:lnTo>
                <a:lnTo>
                  <a:pt x="2621280" y="3382328"/>
                </a:lnTo>
                <a:lnTo>
                  <a:pt x="2747010" y="3467100"/>
                </a:lnTo>
                <a:lnTo>
                  <a:pt x="2877503" y="3544253"/>
                </a:lnTo>
                <a:lnTo>
                  <a:pt x="3012758" y="3612833"/>
                </a:lnTo>
                <a:lnTo>
                  <a:pt x="3151823" y="3672840"/>
                </a:lnTo>
                <a:lnTo>
                  <a:pt x="3294698" y="3724276"/>
                </a:lnTo>
                <a:lnTo>
                  <a:pt x="3439478" y="3766186"/>
                </a:lnTo>
                <a:lnTo>
                  <a:pt x="3588068" y="3800476"/>
                </a:lnTo>
                <a:close/>
              </a:path>
            </a:pathLst>
          </a:custGeom>
          <a:solidFill>
            <a:srgbClr val="02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ng-lbl-growth"/>
          <p:cNvSpPr txBox="1"/>
          <p:nvPr/>
        </p:nvSpPr>
        <p:spPr>
          <a:xfrm rot="20520000">
            <a:off x="8937308" y="5045392"/>
            <a:ext cx="1714500" cy="52482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增长情况</a:t>
            </a:r>
          </a:p>
        </p:txBody>
      </p:sp>
      <p:sp>
        <p:nvSpPr>
          <p:cNvPr id="18" name="ring-lbl-increment"/>
          <p:cNvSpPr txBox="1"/>
          <p:nvPr/>
        </p:nvSpPr>
        <p:spPr>
          <a:xfrm rot="4560000">
            <a:off x="13104495" y="7356158"/>
            <a:ext cx="1714500" cy="52482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增量领域</a:t>
            </a:r>
          </a:p>
        </p:txBody>
      </p:sp>
      <p:sp>
        <p:nvSpPr>
          <p:cNvPr id="19" name="ring-lbl-next"/>
          <p:cNvSpPr txBox="1"/>
          <p:nvPr/>
        </p:nvSpPr>
        <p:spPr>
          <a:xfrm rot="19680000">
            <a:off x="11586210" y="10906125"/>
            <a:ext cx="1882140" cy="52482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下阶段预期</a:t>
            </a:r>
          </a:p>
        </p:txBody>
      </p:sp>
      <p:sp>
        <p:nvSpPr>
          <p:cNvPr id="20" name="ring-lbl-decline"/>
          <p:cNvSpPr txBox="1"/>
          <p:nvPr/>
        </p:nvSpPr>
        <p:spPr>
          <a:xfrm rot="15000000">
            <a:off x="6610731" y="9258300"/>
            <a:ext cx="2258568" cy="52482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效能下降部分</a:t>
            </a:r>
          </a:p>
        </p:txBody>
      </p:sp>
      <p:sp>
        <p:nvSpPr>
          <p:cNvPr id="21" name="donut-t1"/>
          <p:cNvSpPr txBox="1"/>
          <p:nvPr/>
        </p:nvSpPr>
        <p:spPr>
          <a:xfrm>
            <a:off x="8477250" y="7096125"/>
            <a:ext cx="31432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2F6AEA"/>
                </a:solidFill>
                <a:latin typeface="Microsoft YaHei"/>
                <a:ea typeface="Microsoft YaHei"/>
                <a:cs typeface="Microsoft YaHei"/>
              </a:rPr>
              <a:t>项目交付</a:t>
            </a:r>
          </a:p>
        </p:txBody>
      </p:sp>
      <p:sp>
        <p:nvSpPr>
          <p:cNvPr id="22" name="donut-t2"/>
          <p:cNvSpPr txBox="1"/>
          <p:nvPr/>
        </p:nvSpPr>
        <p:spPr>
          <a:xfrm>
            <a:off x="8191500" y="7734300"/>
            <a:ext cx="3714750" cy="1104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3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效能情况</a:t>
            </a:r>
          </a:p>
        </p:txBody>
      </p:sp>
      <p:sp>
        <p:nvSpPr>
          <p:cNvPr id="23" name="donut-t3"/>
          <p:cNvSpPr txBox="1"/>
          <p:nvPr/>
        </p:nvSpPr>
        <p:spPr>
          <a:xfrm>
            <a:off x="8477250" y="8915400"/>
            <a:ext cx="3143250" cy="1143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Performance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situation</a:t>
            </a:r>
          </a:p>
        </p:txBody>
      </p:sp>
      <p:sp>
        <p:nvSpPr>
          <p:cNvPr id="24" name="donut-t4"/>
          <p:cNvSpPr txBox="1"/>
          <p:nvPr/>
        </p:nvSpPr>
        <p:spPr>
          <a:xfrm>
            <a:off x="8477250" y="8362950"/>
            <a:ext cx="3143250" cy="4419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situation</a:t>
            </a:r>
          </a:p>
        </p:txBody>
      </p:sp>
      <p:grpSp>
        <p:nvGrpSpPr>
          <p:cNvPr id="114" name="tl-icon"/>
          <p:cNvGrpSpPr/>
          <p:nvPr/>
        </p:nvGrpSpPr>
        <p:grpSpPr>
          <a:xfrm>
            <a:off x="3960495" y="4379595"/>
            <a:ext cx="670560" cy="594360"/>
            <a:chOff x="3960495" y="4379595"/>
            <a:chExt cx="670560" cy="594360"/>
          </a:xfrm>
        </p:grpSpPr>
        <p:cxnSp>
          <p:nvCxnSpPr>
            <p:cNvPr id="25" name="Connector 24"/>
            <p:cNvCxnSpPr/>
            <p:nvPr/>
          </p:nvCxnSpPr>
          <p:spPr>
            <a:xfrm>
              <a:off x="3960495" y="4973955"/>
              <a:ext cx="670560" cy="0"/>
            </a:xfrm>
            <a:prstGeom prst="line">
              <a:avLst/>
            </a:prstGeom>
            <a:ln w="59436">
              <a:solidFill>
                <a:srgbClr val="AF112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V="1">
              <a:off x="3960495" y="4379595"/>
              <a:ext cx="0" cy="594360"/>
            </a:xfrm>
            <a:prstGeom prst="line">
              <a:avLst/>
            </a:prstGeom>
            <a:ln w="59436">
              <a:solidFill>
                <a:srgbClr val="AF112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4044315" y="4638675"/>
              <a:ext cx="175260" cy="152400"/>
            </a:xfrm>
            <a:prstGeom prst="line">
              <a:avLst/>
            </a:prstGeom>
            <a:ln w="69342">
              <a:solidFill>
                <a:srgbClr val="AF112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219575" y="4638675"/>
              <a:ext cx="160020" cy="83820"/>
            </a:xfrm>
            <a:prstGeom prst="line">
              <a:avLst/>
            </a:prstGeom>
            <a:ln w="69342">
              <a:solidFill>
                <a:srgbClr val="AF112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4379595" y="4448175"/>
              <a:ext cx="175260" cy="274320"/>
            </a:xfrm>
            <a:prstGeom prst="line">
              <a:avLst/>
            </a:prstGeom>
            <a:ln w="69342">
              <a:solidFill>
                <a:srgbClr val="AF112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4501515" y="4394835"/>
              <a:ext cx="106680" cy="106680"/>
            </a:xfrm>
            <a:prstGeom prst="ellipse">
              <a:avLst/>
            </a:prstGeom>
            <a:solidFill>
              <a:srgbClr val="AF11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1" name="tl-head"/>
          <p:cNvSpPr txBox="1"/>
          <p:nvPr/>
        </p:nvSpPr>
        <p:spPr>
          <a:xfrm>
            <a:off x="1885950" y="5295900"/>
            <a:ext cx="3429000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AF1120"/>
                </a:solidFill>
                <a:latin typeface="Microsoft YaHei"/>
                <a:ea typeface="Microsoft YaHei"/>
                <a:cs typeface="Microsoft YaHei"/>
              </a:rPr>
              <a:t>同比提升150%</a:t>
            </a:r>
          </a:p>
        </p:txBody>
      </p:sp>
      <p:sp>
        <p:nvSpPr>
          <p:cNvPr id="32" name="tl-body-1"/>
          <p:cNvSpPr txBox="1"/>
          <p:nvPr/>
        </p:nvSpPr>
        <p:spPr>
          <a:xfrm>
            <a:off x="1866900" y="6457950"/>
            <a:ext cx="3413760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2024 年度，技术需求爆</a:t>
            </a:r>
          </a:p>
        </p:txBody>
      </p:sp>
      <p:sp>
        <p:nvSpPr>
          <p:cNvPr id="33" name="tl-body-2"/>
          <p:cNvSpPr txBox="1"/>
          <p:nvPr/>
        </p:nvSpPr>
        <p:spPr>
          <a:xfrm>
            <a:off x="1866900" y="6877050"/>
            <a:ext cx="3866198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发，实现项目交付效率同比</a:t>
            </a:r>
          </a:p>
        </p:txBody>
      </p:sp>
      <p:sp>
        <p:nvSpPr>
          <p:cNvPr id="34" name="tl-body-3"/>
          <p:cNvSpPr txBox="1"/>
          <p:nvPr/>
        </p:nvSpPr>
        <p:spPr>
          <a:xfrm>
            <a:off x="1866900" y="7296150"/>
            <a:ext cx="3728085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提升 150%，核心模块迭代</a:t>
            </a:r>
          </a:p>
        </p:txBody>
      </p:sp>
      <p:sp>
        <p:nvSpPr>
          <p:cNvPr id="35" name="tl-body-4"/>
          <p:cNvSpPr txBox="1"/>
          <p:nvPr/>
        </p:nvSpPr>
        <p:spPr>
          <a:xfrm>
            <a:off x="1866900" y="7715250"/>
            <a:ext cx="3551872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周期缩短 50%，研发产能</a:t>
            </a:r>
          </a:p>
        </p:txBody>
      </p:sp>
      <p:sp>
        <p:nvSpPr>
          <p:cNvPr id="36" name="tl-body-5"/>
          <p:cNvSpPr txBox="1"/>
          <p:nvPr/>
        </p:nvSpPr>
        <p:spPr>
          <a:xfrm>
            <a:off x="1866900" y="8134350"/>
            <a:ext cx="2709862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增收等效 100 人天</a:t>
            </a:r>
          </a:p>
        </p:txBody>
      </p:sp>
      <p:grpSp>
        <p:nvGrpSpPr>
          <p:cNvPr id="115" name="tr-icon"/>
          <p:cNvGrpSpPr/>
          <p:nvPr/>
        </p:nvGrpSpPr>
        <p:grpSpPr>
          <a:xfrm>
            <a:off x="14666595" y="4341495"/>
            <a:ext cx="670560" cy="670560"/>
            <a:chOff x="14666595" y="4341495"/>
            <a:chExt cx="670560" cy="670560"/>
          </a:xfrm>
        </p:grpSpPr>
        <p:sp>
          <p:nvSpPr>
            <p:cNvPr id="37" name="Oval 36"/>
            <p:cNvSpPr/>
            <p:nvPr/>
          </p:nvSpPr>
          <p:spPr>
            <a:xfrm>
              <a:off x="14666595" y="4341495"/>
              <a:ext cx="670560" cy="670560"/>
            </a:xfrm>
            <a:prstGeom prst="ellipse">
              <a:avLst/>
            </a:prstGeom>
            <a:noFill/>
            <a:ln w="15240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14841855" y="4692015"/>
              <a:ext cx="114300" cy="121920"/>
            </a:xfrm>
            <a:prstGeom prst="line">
              <a:avLst/>
            </a:prstGeom>
            <a:ln w="79248">
              <a:solidFill>
                <a:srgbClr val="7F7F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 flipV="1">
              <a:off x="14956155" y="4562475"/>
              <a:ext cx="213360" cy="251460"/>
            </a:xfrm>
            <a:prstGeom prst="line">
              <a:avLst/>
            </a:prstGeom>
            <a:ln w="79248">
              <a:solidFill>
                <a:srgbClr val="7F7F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r-head"/>
          <p:cNvSpPr txBox="1"/>
          <p:nvPr/>
        </p:nvSpPr>
        <p:spPr>
          <a:xfrm>
            <a:off x="14573250" y="5295900"/>
            <a:ext cx="3619500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多领域取得增量</a:t>
            </a:r>
          </a:p>
        </p:txBody>
      </p:sp>
      <p:sp>
        <p:nvSpPr>
          <p:cNvPr id="41" name="tr-body-1"/>
          <p:cNvSpPr txBox="1"/>
          <p:nvPr/>
        </p:nvSpPr>
        <p:spPr>
          <a:xfrm>
            <a:off x="14554200" y="6457950"/>
            <a:ext cx="4366729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2024 年度，云原生、微服务、</a:t>
            </a:r>
          </a:p>
        </p:txBody>
      </p:sp>
      <p:sp>
        <p:nvSpPr>
          <p:cNvPr id="42" name="tr-body-2"/>
          <p:cNvSpPr txBox="1"/>
          <p:nvPr/>
        </p:nvSpPr>
        <p:spPr>
          <a:xfrm>
            <a:off x="14554200" y="6877050"/>
            <a:ext cx="4360316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DevOps、自动化测试、低代码</a:t>
            </a:r>
          </a:p>
        </p:txBody>
      </p:sp>
      <p:sp>
        <p:nvSpPr>
          <p:cNvPr id="43" name="tr-body-3"/>
          <p:cNvSpPr txBox="1"/>
          <p:nvPr/>
        </p:nvSpPr>
        <p:spPr>
          <a:xfrm>
            <a:off x="14554200" y="7296150"/>
            <a:ext cx="4494848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等多个技术板块交付效能提升，</a:t>
            </a:r>
          </a:p>
        </p:txBody>
      </p:sp>
      <p:sp>
        <p:nvSpPr>
          <p:cNvPr id="44" name="tr-body-4"/>
          <p:cNvSpPr txBox="1"/>
          <p:nvPr/>
        </p:nvSpPr>
        <p:spPr>
          <a:xfrm>
            <a:off x="14554200" y="7715250"/>
            <a:ext cx="4180522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其中云原生方向增量最为明显</a:t>
            </a:r>
          </a:p>
        </p:txBody>
      </p:sp>
      <p:grpSp>
        <p:nvGrpSpPr>
          <p:cNvPr id="116" name="bl-icon"/>
          <p:cNvGrpSpPr/>
          <p:nvPr/>
        </p:nvGrpSpPr>
        <p:grpSpPr>
          <a:xfrm>
            <a:off x="4084320" y="9989820"/>
            <a:ext cx="670560" cy="594360"/>
            <a:chOff x="4084320" y="9989820"/>
            <a:chExt cx="670560" cy="594360"/>
          </a:xfrm>
        </p:grpSpPr>
        <p:cxnSp>
          <p:nvCxnSpPr>
            <p:cNvPr id="45" name="Connector 44"/>
            <p:cNvCxnSpPr/>
            <p:nvPr/>
          </p:nvCxnSpPr>
          <p:spPr>
            <a:xfrm>
              <a:off x="4084320" y="10584180"/>
              <a:ext cx="670560" cy="0"/>
            </a:xfrm>
            <a:prstGeom prst="line">
              <a:avLst/>
            </a:prstGeom>
            <a:ln w="59436">
              <a:solidFill>
                <a:srgbClr val="02206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 flipV="1">
              <a:off x="4084320" y="9989820"/>
              <a:ext cx="0" cy="594360"/>
            </a:xfrm>
            <a:prstGeom prst="line">
              <a:avLst/>
            </a:prstGeom>
            <a:ln w="59436">
              <a:solidFill>
                <a:srgbClr val="02206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 flipV="1">
              <a:off x="4168140" y="10248900"/>
              <a:ext cx="175260" cy="152400"/>
            </a:xfrm>
            <a:prstGeom prst="line">
              <a:avLst/>
            </a:prstGeom>
            <a:ln w="69342">
              <a:solidFill>
                <a:srgbClr val="02206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>
              <a:off x="4343400" y="10248900"/>
              <a:ext cx="160020" cy="83820"/>
            </a:xfrm>
            <a:prstGeom prst="line">
              <a:avLst/>
            </a:prstGeom>
            <a:ln w="69342">
              <a:solidFill>
                <a:srgbClr val="02206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 flipV="1">
              <a:off x="4503420" y="10058400"/>
              <a:ext cx="175260" cy="274320"/>
            </a:xfrm>
            <a:prstGeom prst="line">
              <a:avLst/>
            </a:prstGeom>
            <a:ln w="69342">
              <a:solidFill>
                <a:srgbClr val="02206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/>
            <p:cNvSpPr/>
            <p:nvPr/>
          </p:nvSpPr>
          <p:spPr>
            <a:xfrm>
              <a:off x="4625340" y="10005060"/>
              <a:ext cx="106680" cy="106680"/>
            </a:xfrm>
            <a:prstGeom prst="ellipse">
              <a:avLst/>
            </a:prstGeom>
            <a:solidFill>
              <a:srgbClr val="0220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" name="bl-head"/>
          <p:cNvSpPr txBox="1"/>
          <p:nvPr/>
        </p:nvSpPr>
        <p:spPr>
          <a:xfrm>
            <a:off x="1885950" y="10515600"/>
            <a:ext cx="3429000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022060"/>
                </a:solidFill>
                <a:latin typeface="Microsoft YaHei"/>
                <a:ea typeface="Microsoft YaHei"/>
                <a:cs typeface="Microsoft YaHei"/>
              </a:rPr>
              <a:t>效能部分下降</a:t>
            </a:r>
          </a:p>
        </p:txBody>
      </p:sp>
      <p:sp>
        <p:nvSpPr>
          <p:cNvPr id="52" name="bl-body-1"/>
          <p:cNvSpPr txBox="1"/>
          <p:nvPr/>
        </p:nvSpPr>
        <p:spPr>
          <a:xfrm>
            <a:off x="1885950" y="11410950"/>
            <a:ext cx="3413760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基础架构模块：2024 年</a:t>
            </a:r>
          </a:p>
        </p:txBody>
      </p:sp>
      <p:sp>
        <p:nvSpPr>
          <p:cNvPr id="53" name="bl-body-2"/>
          <p:cNvSpPr txBox="1"/>
          <p:nvPr/>
        </p:nvSpPr>
        <p:spPr>
          <a:xfrm>
            <a:off x="1885950" y="11801475"/>
            <a:ext cx="3866198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度，由于底层组件升级成本</a:t>
            </a:r>
          </a:p>
        </p:txBody>
      </p:sp>
      <p:sp>
        <p:nvSpPr>
          <p:cNvPr id="54" name="bl-body-3"/>
          <p:cNvSpPr txBox="1"/>
          <p:nvPr/>
        </p:nvSpPr>
        <p:spPr>
          <a:xfrm>
            <a:off x="1885950" y="12192000"/>
            <a:ext cx="3866198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高，该模块交付效率出现一</a:t>
            </a:r>
          </a:p>
        </p:txBody>
      </p:sp>
      <p:sp>
        <p:nvSpPr>
          <p:cNvPr id="55" name="bl-body-4"/>
          <p:cNvSpPr txBox="1"/>
          <p:nvPr/>
        </p:nvSpPr>
        <p:spPr>
          <a:xfrm>
            <a:off x="1885950" y="12582525"/>
            <a:ext cx="1665922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定下降趋势</a:t>
            </a:r>
          </a:p>
        </p:txBody>
      </p:sp>
      <p:grpSp>
        <p:nvGrpSpPr>
          <p:cNvPr id="117" name="br-icon"/>
          <p:cNvGrpSpPr/>
          <p:nvPr/>
        </p:nvGrpSpPr>
        <p:grpSpPr>
          <a:xfrm>
            <a:off x="15171420" y="10003155"/>
            <a:ext cx="594360" cy="525780"/>
            <a:chOff x="15171420" y="10003155"/>
            <a:chExt cx="594360" cy="525780"/>
          </a:xfrm>
        </p:grpSpPr>
        <p:sp>
          <p:nvSpPr>
            <p:cNvPr id="56" name="Rounded Rectangle 55"/>
            <p:cNvSpPr/>
            <p:nvPr/>
          </p:nvSpPr>
          <p:spPr>
            <a:xfrm>
              <a:off x="15171420" y="10003155"/>
              <a:ext cx="594360" cy="411480"/>
            </a:xfrm>
            <a:prstGeom prst="roundRect">
              <a:avLst>
                <a:gd name="adj" fmla="val 18518"/>
              </a:avLst>
            </a:prstGeom>
            <a:noFill/>
            <a:ln w="15240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Connector 56"/>
            <p:cNvCxnSpPr/>
            <p:nvPr/>
          </p:nvCxnSpPr>
          <p:spPr>
            <a:xfrm>
              <a:off x="15468600" y="10414635"/>
              <a:ext cx="0" cy="114300"/>
            </a:xfrm>
            <a:prstGeom prst="line">
              <a:avLst/>
            </a:prstGeom>
            <a:ln w="74295">
              <a:solidFill>
                <a:srgbClr val="7F7F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>
              <a:off x="15297150" y="10528935"/>
              <a:ext cx="342900" cy="0"/>
            </a:xfrm>
            <a:prstGeom prst="line">
              <a:avLst/>
            </a:prstGeom>
            <a:ln w="74295">
              <a:solidFill>
                <a:srgbClr val="7F7F7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br-head"/>
          <p:cNvSpPr txBox="1"/>
          <p:nvPr/>
        </p:nvSpPr>
        <p:spPr>
          <a:xfrm>
            <a:off x="14649450" y="10515600"/>
            <a:ext cx="3429000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持续优势巩固</a:t>
            </a:r>
          </a:p>
        </p:txBody>
      </p:sp>
      <p:sp>
        <p:nvSpPr>
          <p:cNvPr id="60" name="br-body-1"/>
          <p:cNvSpPr txBox="1"/>
          <p:nvPr/>
        </p:nvSpPr>
        <p:spPr>
          <a:xfrm>
            <a:off x="14706600" y="11525250"/>
            <a:ext cx="4687340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2024 年度，在云原生、微服务、</a:t>
            </a:r>
          </a:p>
        </p:txBody>
      </p:sp>
      <p:sp>
        <p:nvSpPr>
          <p:cNvPr id="61" name="br-body-2"/>
          <p:cNvSpPr txBox="1"/>
          <p:nvPr/>
        </p:nvSpPr>
        <p:spPr>
          <a:xfrm>
            <a:off x="14706600" y="11925300"/>
            <a:ext cx="4456500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DevOps 等多个技术板块持续发</a:t>
            </a:r>
          </a:p>
        </p:txBody>
      </p:sp>
      <p:sp>
        <p:nvSpPr>
          <p:cNvPr id="62" name="br-body-3"/>
          <p:cNvSpPr txBox="1"/>
          <p:nvPr/>
        </p:nvSpPr>
        <p:spPr>
          <a:xfrm>
            <a:off x="14706600" y="12325350"/>
            <a:ext cx="2608898" cy="456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力，巩固效能优势</a:t>
            </a:r>
          </a:p>
        </p:txBody>
      </p:sp>
      <p:cxnSp>
        <p:nvCxnSpPr>
          <p:cNvPr id="63" name="lead-1"/>
          <p:cNvCxnSpPr/>
          <p:nvPr/>
        </p:nvCxnSpPr>
        <p:spPr>
          <a:xfrm>
            <a:off x="5905500" y="6096000"/>
            <a:ext cx="1333500" cy="571500"/>
          </a:xfrm>
          <a:prstGeom prst="line">
            <a:avLst/>
          </a:prstGeom>
          <a:ln w="15240">
            <a:solidFill>
              <a:srgbClr val="B9BDC4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lead-2"/>
          <p:cNvCxnSpPr/>
          <p:nvPr/>
        </p:nvCxnSpPr>
        <p:spPr>
          <a:xfrm flipH="1">
            <a:off x="12954000" y="6096000"/>
            <a:ext cx="1333500" cy="571500"/>
          </a:xfrm>
          <a:prstGeom prst="line">
            <a:avLst/>
          </a:prstGeom>
          <a:ln w="15240">
            <a:solidFill>
              <a:srgbClr val="B9BDC4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lead-3"/>
          <p:cNvCxnSpPr/>
          <p:nvPr/>
        </p:nvCxnSpPr>
        <p:spPr>
          <a:xfrm flipV="1">
            <a:off x="6096000" y="10477500"/>
            <a:ext cx="1333500" cy="571500"/>
          </a:xfrm>
          <a:prstGeom prst="line">
            <a:avLst/>
          </a:prstGeom>
          <a:ln w="15240">
            <a:solidFill>
              <a:srgbClr val="B9BDC4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ead-4"/>
          <p:cNvCxnSpPr/>
          <p:nvPr/>
        </p:nvCxnSpPr>
        <p:spPr>
          <a:xfrm flipH="1" flipV="1">
            <a:off x="12954000" y="10668000"/>
            <a:ext cx="1333500" cy="571500"/>
          </a:xfrm>
          <a:prstGeom prst="line">
            <a:avLst/>
          </a:prstGeom>
          <a:ln w="15240">
            <a:solidFill>
              <a:srgbClr val="B9BDC4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p-panel"/>
          <p:cNvSpPr/>
          <p:nvPr/>
        </p:nvSpPr>
        <p:spPr>
          <a:xfrm>
            <a:off x="21574125" y="2419350"/>
            <a:ext cx="7581900" cy="11449050"/>
          </a:xfrm>
          <a:prstGeom prst="roundRect">
            <a:avLst>
              <a:gd name="adj" fmla="val 1256"/>
            </a:avLst>
          </a:prstGeom>
          <a:solidFill>
            <a:srgbClr val="F5F8FF"/>
          </a:solidFill>
          <a:ln w="23812">
            <a:solidFill>
              <a:srgbClr val="0220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p-card1"/>
          <p:cNvSpPr/>
          <p:nvPr/>
        </p:nvSpPr>
        <p:spPr>
          <a:xfrm>
            <a:off x="21774150" y="2857500"/>
            <a:ext cx="7096125" cy="2457450"/>
          </a:xfrm>
          <a:prstGeom prst="roundRect">
            <a:avLst>
              <a:gd name="adj" fmla="val 3100"/>
            </a:avLst>
          </a:prstGeom>
          <a:solidFill>
            <a:srgbClr val="FFFFFF"/>
          </a:solidFill>
          <a:ln w="19050">
            <a:solidFill>
              <a:srgbClr val="F1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p-card1-accent"/>
          <p:cNvSpPr/>
          <p:nvPr/>
        </p:nvSpPr>
        <p:spPr>
          <a:xfrm>
            <a:off x="21888450" y="3200400"/>
            <a:ext cx="142875" cy="1771650"/>
          </a:xfrm>
          <a:prstGeom prst="rect">
            <a:avLst/>
          </a:prstGeom>
          <a:solidFill>
            <a:srgbClr val="A5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p-card1-year"/>
          <p:cNvSpPr txBox="1"/>
          <p:nvPr/>
        </p:nvSpPr>
        <p:spPr>
          <a:xfrm>
            <a:off x="22288500" y="3238500"/>
            <a:ext cx="2857500" cy="10772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850" b="1" i="0">
                <a:solidFill>
                  <a:srgbClr val="022060"/>
                </a:solidFill>
                <a:latin typeface="Microsoft YaHei"/>
                <a:ea typeface="Microsoft YaHei"/>
                <a:cs typeface="Microsoft YaHei"/>
              </a:rPr>
              <a:t>2025年</a:t>
            </a:r>
          </a:p>
        </p:txBody>
      </p:sp>
      <p:sp>
        <p:nvSpPr>
          <p:cNvPr id="71" name="rp-card1-sub"/>
          <p:cNvSpPr txBox="1"/>
          <p:nvPr/>
        </p:nvSpPr>
        <p:spPr>
          <a:xfrm>
            <a:off x="22288500" y="4457700"/>
            <a:ext cx="6286500" cy="52482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022060"/>
                </a:solidFill>
                <a:latin typeface="Microsoft YaHei"/>
                <a:ea typeface="Microsoft YaHei"/>
                <a:cs typeface="Microsoft YaHei"/>
              </a:rPr>
              <a:t>XX 技术团队项目效能数据表现</a:t>
            </a:r>
          </a:p>
        </p:txBody>
      </p:sp>
      <p:sp>
        <p:nvSpPr>
          <p:cNvPr id="72" name="rp-card2"/>
          <p:cNvSpPr/>
          <p:nvPr/>
        </p:nvSpPr>
        <p:spPr>
          <a:xfrm>
            <a:off x="21774150" y="5715000"/>
            <a:ext cx="7096125" cy="285750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p-card2-l1"/>
          <p:cNvSpPr txBox="1"/>
          <p:nvPr/>
        </p:nvSpPr>
        <p:spPr>
          <a:xfrm>
            <a:off x="22098000" y="6210300"/>
            <a:ext cx="2476500" cy="6076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2025年整体</a:t>
            </a:r>
          </a:p>
        </p:txBody>
      </p:sp>
      <p:sp>
        <p:nvSpPr>
          <p:cNvPr id="74" name="rp-card2-l2"/>
          <p:cNvSpPr txBox="1"/>
          <p:nvPr/>
        </p:nvSpPr>
        <p:spPr>
          <a:xfrm>
            <a:off x="22098000" y="6819900"/>
            <a:ext cx="2476500" cy="6076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效能提升</a:t>
            </a:r>
          </a:p>
        </p:txBody>
      </p:sp>
      <p:sp>
        <p:nvSpPr>
          <p:cNvPr id="75" name="rp-card2-pct"/>
          <p:cNvSpPr txBox="1"/>
          <p:nvPr/>
        </p:nvSpPr>
        <p:spPr>
          <a:xfrm>
            <a:off x="26098500" y="5905500"/>
            <a:ext cx="2571750" cy="20716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66%</a:t>
            </a:r>
          </a:p>
        </p:txBody>
      </p:sp>
      <p:sp>
        <p:nvSpPr>
          <p:cNvPr id="76" name="rp-card3"/>
          <p:cNvSpPr/>
          <p:nvPr/>
        </p:nvSpPr>
        <p:spPr>
          <a:xfrm>
            <a:off x="21231225" y="8782050"/>
            <a:ext cx="7686675" cy="6858000"/>
          </a:xfrm>
          <a:prstGeom prst="roundRect">
            <a:avLst>
              <a:gd name="adj" fmla="val 1111"/>
            </a:avLst>
          </a:prstGeom>
          <a:solidFill>
            <a:srgbClr val="EAD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p-bubble"/>
          <p:cNvSpPr/>
          <p:nvPr/>
        </p:nvSpPr>
        <p:spPr>
          <a:xfrm>
            <a:off x="18954750" y="8915400"/>
            <a:ext cx="2686050" cy="10668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28575">
            <a:solidFill>
              <a:srgbClr val="02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p-bubble-text"/>
          <p:cNvSpPr txBox="1"/>
          <p:nvPr/>
        </p:nvSpPr>
        <p:spPr>
          <a:xfrm>
            <a:off x="18954750" y="8915400"/>
            <a:ext cx="2686050" cy="7181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022060"/>
                </a:solidFill>
                <a:latin typeface="Microsoft YaHei"/>
                <a:ea typeface="Microsoft YaHei"/>
                <a:cs typeface="Microsoft YaHei"/>
              </a:rPr>
              <a:t>实现路径</a:t>
            </a:r>
          </a:p>
        </p:txBody>
      </p:sp>
      <p:sp>
        <p:nvSpPr>
          <p:cNvPr id="79" name="hub"/>
          <p:cNvSpPr/>
          <p:nvPr/>
        </p:nvSpPr>
        <p:spPr>
          <a:xfrm>
            <a:off x="24374475" y="11830050"/>
            <a:ext cx="1066800" cy="1066800"/>
          </a:xfrm>
          <a:prstGeom prst="ellipse">
            <a:avLst/>
          </a:prstGeom>
          <a:solidFill>
            <a:srgbClr val="2F6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8" name="hub-icon"/>
          <p:cNvGrpSpPr/>
          <p:nvPr/>
        </p:nvGrpSpPr>
        <p:grpSpPr>
          <a:xfrm>
            <a:off x="24707278" y="12162854"/>
            <a:ext cx="406337" cy="406336"/>
            <a:chOff x="24707278" y="12162854"/>
            <a:chExt cx="406337" cy="406336"/>
          </a:xfrm>
        </p:grpSpPr>
        <p:sp>
          <p:nvSpPr>
            <p:cNvPr id="80" name="Oval 79"/>
            <p:cNvSpPr/>
            <p:nvPr/>
          </p:nvSpPr>
          <p:spPr>
            <a:xfrm>
              <a:off x="24707278" y="12162854"/>
              <a:ext cx="318897" cy="318897"/>
            </a:xfrm>
            <a:prstGeom prst="ellipse">
              <a:avLst/>
            </a:prstGeom>
            <a:noFill/>
            <a:ln w="1524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1" name="Connector 80"/>
            <p:cNvCxnSpPr/>
            <p:nvPr/>
          </p:nvCxnSpPr>
          <p:spPr>
            <a:xfrm>
              <a:off x="24969597" y="12425172"/>
              <a:ext cx="144018" cy="144018"/>
            </a:xfrm>
            <a:prstGeom prst="line">
              <a:avLst/>
            </a:prstGeom>
            <a:ln w="53492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arrow-up"/>
          <p:cNvSpPr/>
          <p:nvPr/>
        </p:nvSpPr>
        <p:spPr>
          <a:xfrm>
            <a:off x="24269700" y="9163050"/>
            <a:ext cx="1428750" cy="2495550"/>
          </a:xfrm>
          <a:prstGeom prst="upArrow">
            <a:avLst/>
          </a:prstGeom>
          <a:solidFill>
            <a:srgbClr val="FFFFFF"/>
          </a:solidFill>
          <a:ln w="32384">
            <a:solidFill>
              <a:srgbClr val="8E9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rrow-right"/>
          <p:cNvSpPr/>
          <p:nvPr/>
        </p:nvSpPr>
        <p:spPr>
          <a:xfrm>
            <a:off x="25355550" y="11849100"/>
            <a:ext cx="2857500" cy="1028700"/>
          </a:xfrm>
          <a:prstGeom prst="rightArrow">
            <a:avLst/>
          </a:prstGeom>
          <a:solidFill>
            <a:srgbClr val="FFFFFF"/>
          </a:solidFill>
          <a:ln w="32384">
            <a:solidFill>
              <a:srgbClr val="02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rrow-left"/>
          <p:cNvSpPr/>
          <p:nvPr/>
        </p:nvSpPr>
        <p:spPr>
          <a:xfrm>
            <a:off x="21964650" y="11849100"/>
            <a:ext cx="2552700" cy="1028700"/>
          </a:xfrm>
          <a:prstGeom prst="leftArrow">
            <a:avLst/>
          </a:prstGeom>
          <a:solidFill>
            <a:srgbClr val="FFFFFF"/>
          </a:solidFill>
          <a:ln w="32384">
            <a:solidFill>
              <a:srgbClr val="2F6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rrow-down"/>
          <p:cNvSpPr/>
          <p:nvPr/>
        </p:nvSpPr>
        <p:spPr>
          <a:xfrm>
            <a:off x="24269700" y="13335000"/>
            <a:ext cx="1428750" cy="2286000"/>
          </a:xfrm>
          <a:prstGeom prst="downArrow">
            <a:avLst/>
          </a:prstGeom>
          <a:solidFill>
            <a:srgbClr val="FFFFFF"/>
          </a:solidFill>
          <a:ln w="32384">
            <a:solidFill>
              <a:srgbClr val="AF11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ag-01"/>
          <p:cNvSpPr/>
          <p:nvPr/>
        </p:nvSpPr>
        <p:spPr>
          <a:xfrm>
            <a:off x="25908000" y="12153900"/>
            <a:ext cx="419100" cy="419100"/>
          </a:xfrm>
          <a:prstGeom prst="ellipse">
            <a:avLst/>
          </a:prstGeom>
          <a:solidFill>
            <a:srgbClr val="02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ag-01-text"/>
          <p:cNvSpPr txBox="1"/>
          <p:nvPr/>
        </p:nvSpPr>
        <p:spPr>
          <a:xfrm>
            <a:off x="25908000" y="12211050"/>
            <a:ext cx="419100" cy="3314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8" name="tag-02"/>
          <p:cNvSpPr/>
          <p:nvPr/>
        </p:nvSpPr>
        <p:spPr>
          <a:xfrm>
            <a:off x="24765000" y="13792200"/>
            <a:ext cx="419100" cy="419100"/>
          </a:xfrm>
          <a:prstGeom prst="ellipse">
            <a:avLst/>
          </a:prstGeom>
          <a:solidFill>
            <a:srgbClr val="AF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ag-02-text"/>
          <p:cNvSpPr txBox="1"/>
          <p:nvPr/>
        </p:nvSpPr>
        <p:spPr>
          <a:xfrm>
            <a:off x="24765000" y="13849350"/>
            <a:ext cx="419100" cy="3314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0" name="tag-03"/>
          <p:cNvSpPr/>
          <p:nvPr/>
        </p:nvSpPr>
        <p:spPr>
          <a:xfrm>
            <a:off x="23279100" y="12153900"/>
            <a:ext cx="419100" cy="419100"/>
          </a:xfrm>
          <a:prstGeom prst="ellipse">
            <a:avLst/>
          </a:prstGeom>
          <a:solidFill>
            <a:srgbClr val="2F6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ag-03-text"/>
          <p:cNvSpPr txBox="1"/>
          <p:nvPr/>
        </p:nvSpPr>
        <p:spPr>
          <a:xfrm>
            <a:off x="23279100" y="12211050"/>
            <a:ext cx="419100" cy="3314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tag-04"/>
          <p:cNvSpPr/>
          <p:nvPr/>
        </p:nvSpPr>
        <p:spPr>
          <a:xfrm>
            <a:off x="24765000" y="10458450"/>
            <a:ext cx="419100" cy="419100"/>
          </a:xfrm>
          <a:prstGeom prst="ellipse">
            <a:avLst/>
          </a:prstGeom>
          <a:solidFill>
            <a:srgbClr val="8E9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ag-04-text"/>
          <p:cNvSpPr txBox="1"/>
          <p:nvPr/>
        </p:nvSpPr>
        <p:spPr>
          <a:xfrm>
            <a:off x="24765000" y="10515600"/>
            <a:ext cx="419100" cy="3314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94" name="path-lead-1"/>
          <p:cNvCxnSpPr/>
          <p:nvPr/>
        </p:nvCxnSpPr>
        <p:spPr>
          <a:xfrm>
            <a:off x="26117550" y="12553950"/>
            <a:ext cx="0" cy="323850"/>
          </a:xfrm>
          <a:prstGeom prst="line">
            <a:avLst/>
          </a:prstGeom>
          <a:ln w="22859">
            <a:solidFill>
              <a:srgbClr val="0220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path-lead-2"/>
          <p:cNvCxnSpPr/>
          <p:nvPr/>
        </p:nvCxnSpPr>
        <p:spPr>
          <a:xfrm flipH="1">
            <a:off x="24479250" y="13182600"/>
            <a:ext cx="285750" cy="0"/>
          </a:xfrm>
          <a:prstGeom prst="line">
            <a:avLst/>
          </a:prstGeom>
          <a:ln w="22859">
            <a:solidFill>
              <a:srgbClr val="AF11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path-lead-3"/>
          <p:cNvCxnSpPr/>
          <p:nvPr/>
        </p:nvCxnSpPr>
        <p:spPr>
          <a:xfrm flipV="1">
            <a:off x="23488650" y="11582400"/>
            <a:ext cx="0" cy="571500"/>
          </a:xfrm>
          <a:prstGeom prst="line">
            <a:avLst/>
          </a:prstGeom>
          <a:ln w="22859">
            <a:solidFill>
              <a:srgbClr val="8E91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path-lead-4"/>
          <p:cNvCxnSpPr/>
          <p:nvPr/>
        </p:nvCxnSpPr>
        <p:spPr>
          <a:xfrm>
            <a:off x="25184100" y="10668000"/>
            <a:ext cx="438150" cy="0"/>
          </a:xfrm>
          <a:prstGeom prst="line">
            <a:avLst/>
          </a:prstGeom>
          <a:ln w="22859">
            <a:solidFill>
              <a:srgbClr val="8E91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path-lbl-1"/>
          <p:cNvSpPr txBox="1"/>
          <p:nvPr/>
        </p:nvSpPr>
        <p:spPr>
          <a:xfrm>
            <a:off x="21830157" y="11049000"/>
            <a:ext cx="2535936" cy="4419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发挥组件复用优势</a:t>
            </a:r>
          </a:p>
        </p:txBody>
      </p:sp>
      <p:sp>
        <p:nvSpPr>
          <p:cNvPr id="99" name="path-lbl-2"/>
          <p:cNvSpPr txBox="1"/>
          <p:nvPr/>
        </p:nvSpPr>
        <p:spPr>
          <a:xfrm>
            <a:off x="26098500" y="10334625"/>
            <a:ext cx="2571750" cy="4419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技术品牌</a:t>
            </a:r>
          </a:p>
        </p:txBody>
      </p:sp>
      <p:sp>
        <p:nvSpPr>
          <p:cNvPr id="100" name="path-lbl-2b"/>
          <p:cNvSpPr txBox="1"/>
          <p:nvPr/>
        </p:nvSpPr>
        <p:spPr>
          <a:xfrm>
            <a:off x="26098500" y="10791825"/>
            <a:ext cx="2852928" cy="4419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（如内部框架）打造</a:t>
            </a:r>
          </a:p>
        </p:txBody>
      </p:sp>
      <p:sp>
        <p:nvSpPr>
          <p:cNvPr id="101" name="path-lbl-3"/>
          <p:cNvSpPr txBox="1"/>
          <p:nvPr/>
        </p:nvSpPr>
        <p:spPr>
          <a:xfrm>
            <a:off x="21907500" y="13668375"/>
            <a:ext cx="285750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开展工程师</a:t>
            </a:r>
          </a:p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技能培训</a:t>
            </a:r>
          </a:p>
        </p:txBody>
      </p:sp>
      <p:sp>
        <p:nvSpPr>
          <p:cNvPr id="102" name="path-lbl-4"/>
          <p:cNvSpPr txBox="1"/>
          <p:nvPr/>
        </p:nvSpPr>
        <p:spPr>
          <a:xfrm>
            <a:off x="25908000" y="13811250"/>
            <a:ext cx="2476500" cy="4419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优化技术栈结构</a:t>
            </a:r>
          </a:p>
        </p:txBody>
      </p:sp>
      <p:sp>
        <p:nvSpPr>
          <p:cNvPr id="103" name="chev-30"/>
          <p:cNvSpPr/>
          <p:nvPr/>
        </p:nvSpPr>
        <p:spPr>
          <a:xfrm>
            <a:off x="1304925" y="14563725"/>
            <a:ext cx="4495800" cy="1438275"/>
          </a:xfrm>
          <a:prstGeom prst="chevron">
            <a:avLst/>
          </a:prstGeom>
          <a:solidFill>
            <a:srgbClr val="AF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ev-30-text"/>
          <p:cNvSpPr txBox="1"/>
          <p:nvPr/>
        </p:nvSpPr>
        <p:spPr>
          <a:xfrm>
            <a:off x="1304925" y="14563725"/>
            <a:ext cx="4495800" cy="8010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105" name="chev-40"/>
          <p:cNvSpPr/>
          <p:nvPr/>
        </p:nvSpPr>
        <p:spPr>
          <a:xfrm>
            <a:off x="5800725" y="14563725"/>
            <a:ext cx="4476750" cy="1438275"/>
          </a:xfrm>
          <a:prstGeom prst="chevron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hev-40-text"/>
          <p:cNvSpPr txBox="1"/>
          <p:nvPr/>
        </p:nvSpPr>
        <p:spPr>
          <a:xfrm>
            <a:off x="5800725" y="14563725"/>
            <a:ext cx="4476750" cy="8010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107" name="chev-50"/>
          <p:cNvSpPr/>
          <p:nvPr/>
        </p:nvSpPr>
        <p:spPr>
          <a:xfrm>
            <a:off x="10277475" y="14563725"/>
            <a:ext cx="4495800" cy="1438275"/>
          </a:xfrm>
          <a:prstGeom prst="chevron">
            <a:avLst/>
          </a:prstGeom>
          <a:solidFill>
            <a:srgbClr val="AF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hev-50-text"/>
          <p:cNvSpPr txBox="1"/>
          <p:nvPr/>
        </p:nvSpPr>
        <p:spPr>
          <a:xfrm>
            <a:off x="10277475" y="14563725"/>
            <a:ext cx="4495800" cy="8010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109" name="chev-60"/>
          <p:cNvSpPr/>
          <p:nvPr/>
        </p:nvSpPr>
        <p:spPr>
          <a:xfrm>
            <a:off x="14773275" y="14563725"/>
            <a:ext cx="4495800" cy="1438275"/>
          </a:xfrm>
          <a:prstGeom prst="chevron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hev-60-text"/>
          <p:cNvSpPr txBox="1"/>
          <p:nvPr/>
        </p:nvSpPr>
        <p:spPr>
          <a:xfrm>
            <a:off x="14773275" y="14563725"/>
            <a:ext cx="4495800" cy="8010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111" name="foot-rule"/>
          <p:cNvSpPr/>
          <p:nvPr/>
        </p:nvSpPr>
        <p:spPr>
          <a:xfrm>
            <a:off x="1323975" y="16468725"/>
            <a:ext cx="28479750" cy="38100"/>
          </a:xfrm>
          <a:prstGeom prst="rect">
            <a:avLst/>
          </a:prstGeom>
          <a:solidFill>
            <a:srgbClr val="02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