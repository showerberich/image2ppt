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30489525" cy="17154525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30489525" cy="17154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85" name="hdr-icon"/>
          <p:cNvGrpSpPr/>
          <p:nvPr/>
        </p:nvGrpSpPr>
        <p:grpSpPr>
          <a:xfrm>
            <a:off x="1168908" y="445008"/>
            <a:ext cx="938784" cy="938784"/>
            <a:chOff x="1168908" y="445008"/>
            <a:chExt cx="938784" cy="938784"/>
          </a:xfrm>
        </p:grpSpPr>
        <p:sp>
          <p:nvSpPr>
            <p:cNvPr id="3" name="Oval 2"/>
            <p:cNvSpPr/>
            <p:nvPr/>
          </p:nvSpPr>
          <p:spPr>
            <a:xfrm>
              <a:off x="1168908" y="445008"/>
              <a:ext cx="938784" cy="938784"/>
            </a:xfrm>
            <a:prstGeom prst="ellipse">
              <a:avLst/>
            </a:prstGeom>
            <a:noFill/>
            <a:ln w="15240">
              <a:solidFill>
                <a:srgbClr val="1C407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4" name="Connector 3"/>
            <p:cNvCxnSpPr/>
            <p:nvPr/>
          </p:nvCxnSpPr>
          <p:spPr>
            <a:xfrm>
              <a:off x="1414272" y="935736"/>
              <a:ext cx="160020" cy="170688"/>
            </a:xfrm>
            <a:prstGeom prst="line">
              <a:avLst/>
            </a:prstGeom>
            <a:ln w="110947">
              <a:solidFill>
                <a:srgbClr val="1C4072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Connector 4"/>
            <p:cNvCxnSpPr/>
            <p:nvPr/>
          </p:nvCxnSpPr>
          <p:spPr>
            <a:xfrm flipV="1">
              <a:off x="1574292" y="754380"/>
              <a:ext cx="298704" cy="352044"/>
            </a:xfrm>
            <a:prstGeom prst="line">
              <a:avLst/>
            </a:prstGeom>
            <a:ln w="110947">
              <a:solidFill>
                <a:srgbClr val="1C4072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" name="hdr-title"/>
          <p:cNvSpPr txBox="1"/>
          <p:nvPr/>
        </p:nvSpPr>
        <p:spPr>
          <a:xfrm>
            <a:off x="2552700" y="723900"/>
            <a:ext cx="15621000" cy="8763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5550" b="1" i="0">
                <a:solidFill>
                  <a:srgbClr val="1C4072"/>
                </a:solidFill>
                <a:latin typeface="Microsoft YaHei"/>
                <a:ea typeface="Microsoft YaHei"/>
                <a:cs typeface="Microsoft YaHei"/>
              </a:rPr>
              <a:t>IT 技术团队 “研发工具生态覆盖能力分析” 报告</a:t>
            </a:r>
          </a:p>
        </p:txBody>
      </p:sp>
      <p:sp>
        <p:nvSpPr>
          <p:cNvPr id="7" name="hdr-badge"/>
          <p:cNvSpPr/>
          <p:nvPr/>
        </p:nvSpPr>
        <p:spPr>
          <a:xfrm>
            <a:off x="25336500" y="552450"/>
            <a:ext cx="4286250" cy="876300"/>
          </a:xfrm>
          <a:prstGeom prst="roundRect">
            <a:avLst>
              <a:gd name="adj" fmla="val 2173"/>
            </a:avLst>
          </a:prstGeom>
          <a:solidFill>
            <a:srgbClr val="A335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hdr-badge-txt"/>
          <p:cNvSpPr txBox="1"/>
          <p:nvPr/>
        </p:nvSpPr>
        <p:spPr>
          <a:xfrm>
            <a:off x="25336500" y="552450"/>
            <a:ext cx="4286250" cy="8763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49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数据可视化</a:t>
            </a:r>
          </a:p>
        </p:txBody>
      </p:sp>
      <p:cxnSp>
        <p:nvCxnSpPr>
          <p:cNvPr id="9" name="hdr-rule"/>
          <p:cNvCxnSpPr/>
          <p:nvPr/>
        </p:nvCxnSpPr>
        <p:spPr>
          <a:xfrm>
            <a:off x="1171575" y="1781175"/>
            <a:ext cx="28432125" cy="0"/>
          </a:xfrm>
          <a:prstGeom prst="line">
            <a:avLst/>
          </a:prstGeom>
          <a:ln w="114300">
            <a:solidFill>
              <a:srgbClr val="1C40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2" name="card-1"/>
          <p:cNvGrpSpPr/>
          <p:nvPr/>
        </p:nvGrpSpPr>
        <p:grpSpPr>
          <a:xfrm>
            <a:off x="1419225" y="2390775"/>
            <a:ext cx="13401675" cy="2838450"/>
            <a:chOff x="1419225" y="2390775"/>
            <a:chExt cx="13401675" cy="2838450"/>
          </a:xfrm>
        </p:grpSpPr>
        <p:sp>
          <p:nvSpPr>
            <p:cNvPr id="10" name="card1-frame"/>
            <p:cNvSpPr/>
            <p:nvPr/>
          </p:nvSpPr>
          <p:spPr>
            <a:xfrm>
              <a:off x="1419225" y="2390775"/>
              <a:ext cx="13401675" cy="2838450"/>
            </a:xfrm>
            <a:prstGeom prst="roundRect">
              <a:avLst>
                <a:gd name="adj" fmla="val 3355"/>
              </a:avLst>
            </a:prstGeom>
            <a:solidFill>
              <a:srgbClr val="D2E1F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card1-inner"/>
            <p:cNvSpPr/>
            <p:nvPr/>
          </p:nvSpPr>
          <p:spPr>
            <a:xfrm>
              <a:off x="1695450" y="2628900"/>
              <a:ext cx="12915900" cy="2362200"/>
            </a:xfrm>
            <a:prstGeom prst="roundRect">
              <a:avLst>
                <a:gd name="adj" fmla="val 2419"/>
              </a:avLst>
            </a:prstGeom>
            <a:solidFill>
              <a:srgbClr val="FFFFFF"/>
            </a:solidFill>
            <a:ln w="19050">
              <a:solidFill>
                <a:srgbClr val="1C4072"/>
              </a:solidFill>
              <a:prstDash val="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card1-navy"/>
            <p:cNvSpPr/>
            <p:nvPr/>
          </p:nvSpPr>
          <p:spPr>
            <a:xfrm>
              <a:off x="7515225" y="2638425"/>
              <a:ext cx="7096125" cy="2343150"/>
            </a:xfrm>
            <a:prstGeom prst="rect">
              <a:avLst/>
            </a:prstGeom>
            <a:solidFill>
              <a:srgbClr val="1C407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card1-year"/>
            <p:cNvSpPr txBox="1"/>
            <p:nvPr/>
          </p:nvSpPr>
          <p:spPr>
            <a:xfrm>
              <a:off x="2028825" y="3067050"/>
              <a:ext cx="2381250" cy="523875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3750" b="1" i="0">
                  <a:solidFill>
                    <a:srgbClr val="1C4072"/>
                  </a:solidFill>
                  <a:latin typeface="Microsoft YaHei"/>
                  <a:ea typeface="Microsoft YaHei"/>
                  <a:cs typeface="Microsoft YaHei"/>
                </a:rPr>
                <a:t>2024年</a:t>
              </a:r>
            </a:p>
          </p:txBody>
        </p:sp>
        <p:sp>
          <p:nvSpPr>
            <p:cNvPr id="14" name="card1-sub"/>
            <p:cNvSpPr txBox="1"/>
            <p:nvPr/>
          </p:nvSpPr>
          <p:spPr>
            <a:xfrm>
              <a:off x="1866900" y="3714750"/>
              <a:ext cx="4095750" cy="4191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2550" b="0" i="0">
                  <a:solidFill>
                    <a:srgbClr val="1C4072"/>
                  </a:solidFill>
                  <a:latin typeface="Microsoft YaHei"/>
                  <a:ea typeface="Microsoft YaHei"/>
                  <a:cs typeface="Microsoft YaHei"/>
                </a:rPr>
                <a:t>研发工具生态使用数据表现</a:t>
              </a:r>
            </a:p>
          </p:txBody>
        </p:sp>
        <p:sp>
          <p:nvSpPr>
            <p:cNvPr id="15" name="card1-en"/>
            <p:cNvSpPr txBox="1"/>
            <p:nvPr/>
          </p:nvSpPr>
          <p:spPr>
            <a:xfrm>
              <a:off x="1847850" y="4114800"/>
              <a:ext cx="5818807" cy="28575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1575" b="0" i="0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rPr>
                <a:t>Performance of ecological usage data of R &amp; D tools in</a:t>
              </a:r>
            </a:p>
          </p:txBody>
        </p:sp>
        <p:sp>
          <p:nvSpPr>
            <p:cNvPr id="16" name="card1-en2"/>
            <p:cNvSpPr txBox="1"/>
            <p:nvPr/>
          </p:nvSpPr>
          <p:spPr>
            <a:xfrm>
              <a:off x="1990725" y="4400550"/>
              <a:ext cx="857250" cy="24765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1575" b="0" i="0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rPr>
                <a:t>2025</a:t>
              </a:r>
            </a:p>
          </p:txBody>
        </p:sp>
        <p:sp>
          <p:nvSpPr>
            <p:cNvPr id="17" name="card1-n1"/>
            <p:cNvSpPr txBox="1"/>
            <p:nvPr/>
          </p:nvSpPr>
          <p:spPr>
            <a:xfrm>
              <a:off x="7791450" y="2952750"/>
              <a:ext cx="3714750" cy="43815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2325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2024 年 Q4核心研发工具</a:t>
              </a:r>
            </a:p>
          </p:txBody>
        </p:sp>
        <p:sp>
          <p:nvSpPr>
            <p:cNvPr id="18" name="card1-n2"/>
            <p:cNvSpPr txBox="1"/>
            <p:nvPr/>
          </p:nvSpPr>
          <p:spPr>
            <a:xfrm>
              <a:off x="7791450" y="3514725"/>
              <a:ext cx="3714750" cy="4191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2325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使用量同比增长</a:t>
              </a:r>
            </a:p>
          </p:txBody>
        </p:sp>
        <p:sp>
          <p:nvSpPr>
            <p:cNvPr id="19" name="card1-en3"/>
            <p:cNvSpPr txBox="1"/>
            <p:nvPr/>
          </p:nvSpPr>
          <p:spPr>
            <a:xfrm>
              <a:off x="7791450" y="4057650"/>
              <a:ext cx="3750183" cy="24765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1500" b="0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The use of core R &amp; D tools in Q4 will</a:t>
              </a:r>
            </a:p>
          </p:txBody>
        </p:sp>
        <p:sp>
          <p:nvSpPr>
            <p:cNvPr id="20" name="card1-en4"/>
            <p:cNvSpPr txBox="1"/>
            <p:nvPr/>
          </p:nvSpPr>
          <p:spPr>
            <a:xfrm>
              <a:off x="7791450" y="4381500"/>
              <a:ext cx="3619500" cy="24765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1500" b="0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increase year-on-year in 2024</a:t>
              </a:r>
            </a:p>
          </p:txBody>
        </p:sp>
        <p:sp>
          <p:nvSpPr>
            <p:cNvPr id="21" name="card1-pct"/>
            <p:cNvSpPr txBox="1"/>
            <p:nvPr/>
          </p:nvSpPr>
          <p:spPr>
            <a:xfrm>
              <a:off x="10763250" y="3009900"/>
              <a:ext cx="3238500" cy="161925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r">
                <a:lnSpc>
                  <a:spcPct val="100000"/>
                </a:lnSpc>
              </a:pPr>
              <a:r>
                <a:rPr sz="10350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86%</a:t>
              </a:r>
            </a:p>
          </p:txBody>
        </p:sp>
      </p:grpSp>
      <p:grpSp>
        <p:nvGrpSpPr>
          <p:cNvPr id="91" name="card-2"/>
          <p:cNvGrpSpPr/>
          <p:nvPr/>
        </p:nvGrpSpPr>
        <p:grpSpPr>
          <a:xfrm>
            <a:off x="15821025" y="2390775"/>
            <a:ext cx="13363575" cy="2838450"/>
            <a:chOff x="15821025" y="2390775"/>
            <a:chExt cx="13363575" cy="2838450"/>
          </a:xfrm>
        </p:grpSpPr>
        <p:sp>
          <p:nvSpPr>
            <p:cNvPr id="22" name="card2-frame"/>
            <p:cNvSpPr/>
            <p:nvPr/>
          </p:nvSpPr>
          <p:spPr>
            <a:xfrm>
              <a:off x="15821025" y="2390775"/>
              <a:ext cx="13363575" cy="2838450"/>
            </a:xfrm>
            <a:prstGeom prst="roundRect">
              <a:avLst>
                <a:gd name="adj" fmla="val 3355"/>
              </a:avLst>
            </a:prstGeom>
            <a:solidFill>
              <a:srgbClr val="D2E1F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card2-inner"/>
            <p:cNvSpPr/>
            <p:nvPr/>
          </p:nvSpPr>
          <p:spPr>
            <a:xfrm>
              <a:off x="16097250" y="2628900"/>
              <a:ext cx="12877800" cy="2362200"/>
            </a:xfrm>
            <a:prstGeom prst="roundRect">
              <a:avLst>
                <a:gd name="adj" fmla="val 2419"/>
              </a:avLst>
            </a:prstGeom>
            <a:solidFill>
              <a:srgbClr val="FFFFFF"/>
            </a:solidFill>
            <a:ln w="19050">
              <a:solidFill>
                <a:srgbClr val="1C4072"/>
              </a:solidFill>
              <a:prstDash val="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card2-navy"/>
            <p:cNvSpPr/>
            <p:nvPr/>
          </p:nvSpPr>
          <p:spPr>
            <a:xfrm>
              <a:off x="21917025" y="2638425"/>
              <a:ext cx="7096125" cy="2343150"/>
            </a:xfrm>
            <a:prstGeom prst="rect">
              <a:avLst/>
            </a:prstGeom>
            <a:solidFill>
              <a:srgbClr val="1C407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card2-year"/>
            <p:cNvSpPr txBox="1"/>
            <p:nvPr/>
          </p:nvSpPr>
          <p:spPr>
            <a:xfrm>
              <a:off x="16430625" y="3067050"/>
              <a:ext cx="2381250" cy="523875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3750" b="1" i="0">
                  <a:solidFill>
                    <a:srgbClr val="1C4072"/>
                  </a:solidFill>
                  <a:latin typeface="Microsoft YaHei"/>
                  <a:ea typeface="Microsoft YaHei"/>
                  <a:cs typeface="Microsoft YaHei"/>
                </a:rPr>
                <a:t>2024年</a:t>
              </a:r>
            </a:p>
          </p:txBody>
        </p:sp>
        <p:sp>
          <p:nvSpPr>
            <p:cNvPr id="26" name="card2-sub"/>
            <p:cNvSpPr txBox="1"/>
            <p:nvPr/>
          </p:nvSpPr>
          <p:spPr>
            <a:xfrm>
              <a:off x="16268700" y="3714750"/>
              <a:ext cx="4095750" cy="4191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2550" b="0" i="0">
                  <a:solidFill>
                    <a:srgbClr val="1C4072"/>
                  </a:solidFill>
                  <a:latin typeface="Microsoft YaHei"/>
                  <a:ea typeface="Microsoft YaHei"/>
                  <a:cs typeface="Microsoft YaHei"/>
                </a:rPr>
                <a:t>研发工具生态使用数据表现</a:t>
              </a:r>
            </a:p>
          </p:txBody>
        </p:sp>
        <p:sp>
          <p:nvSpPr>
            <p:cNvPr id="27" name="card2-en"/>
            <p:cNvSpPr txBox="1"/>
            <p:nvPr/>
          </p:nvSpPr>
          <p:spPr>
            <a:xfrm>
              <a:off x="16249650" y="4114800"/>
              <a:ext cx="5818807" cy="28575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1575" b="0" i="0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rPr>
                <a:t>Performance of ecological usage data of R &amp; D tools in</a:t>
              </a:r>
            </a:p>
          </p:txBody>
        </p:sp>
        <p:sp>
          <p:nvSpPr>
            <p:cNvPr id="28" name="card2-en2"/>
            <p:cNvSpPr txBox="1"/>
            <p:nvPr/>
          </p:nvSpPr>
          <p:spPr>
            <a:xfrm>
              <a:off x="16392525" y="4400550"/>
              <a:ext cx="857250" cy="24765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1575" b="0" i="0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rPr>
                <a:t>2025</a:t>
              </a:r>
            </a:p>
          </p:txBody>
        </p:sp>
        <p:sp>
          <p:nvSpPr>
            <p:cNvPr id="29" name="card2-n1"/>
            <p:cNvSpPr txBox="1"/>
            <p:nvPr/>
          </p:nvSpPr>
          <p:spPr>
            <a:xfrm>
              <a:off x="22193250" y="2952750"/>
              <a:ext cx="3714750" cy="43815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2325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2024 年 Q4跨团队工具复</a:t>
              </a:r>
            </a:p>
          </p:txBody>
        </p:sp>
        <p:sp>
          <p:nvSpPr>
            <p:cNvPr id="30" name="card2-n2"/>
            <p:cNvSpPr txBox="1"/>
            <p:nvPr/>
          </p:nvSpPr>
          <p:spPr>
            <a:xfrm>
              <a:off x="22193250" y="3514725"/>
              <a:ext cx="3714750" cy="4191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2325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用率同比增长</a:t>
              </a:r>
            </a:p>
          </p:txBody>
        </p:sp>
        <p:sp>
          <p:nvSpPr>
            <p:cNvPr id="31" name="card2-en3"/>
            <p:cNvSpPr txBox="1"/>
            <p:nvPr/>
          </p:nvSpPr>
          <p:spPr>
            <a:xfrm>
              <a:off x="22193250" y="4057650"/>
              <a:ext cx="3619500" cy="24765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1500" b="0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Q4 cross-team tool reuse rate will</a:t>
              </a:r>
            </a:p>
          </p:txBody>
        </p:sp>
        <p:sp>
          <p:nvSpPr>
            <p:cNvPr id="32" name="card2-en4"/>
            <p:cNvSpPr txBox="1"/>
            <p:nvPr/>
          </p:nvSpPr>
          <p:spPr>
            <a:xfrm>
              <a:off x="22193250" y="4381500"/>
              <a:ext cx="3619500" cy="24765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1500" b="0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increase year-on-year in 2024</a:t>
              </a:r>
            </a:p>
          </p:txBody>
        </p:sp>
        <p:sp>
          <p:nvSpPr>
            <p:cNvPr id="33" name="card2-pct"/>
            <p:cNvSpPr txBox="1"/>
            <p:nvPr/>
          </p:nvSpPr>
          <p:spPr>
            <a:xfrm>
              <a:off x="25165050" y="3009900"/>
              <a:ext cx="3238500" cy="161925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r">
                <a:lnSpc>
                  <a:spcPct val="100000"/>
                </a:lnSpc>
              </a:pPr>
              <a:r>
                <a:rPr sz="10350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76%</a:t>
              </a:r>
            </a:p>
          </p:txBody>
        </p:sp>
      </p:grpSp>
      <p:grpSp>
        <p:nvGrpSpPr>
          <p:cNvPr id="89" name="left-main"/>
          <p:cNvGrpSpPr/>
          <p:nvPr/>
        </p:nvGrpSpPr>
        <p:grpSpPr>
          <a:xfrm>
            <a:off x="1847850" y="6496050"/>
            <a:ext cx="8382000" cy="6305550"/>
            <a:chOff x="1847850" y="6496050"/>
            <a:chExt cx="8382000" cy="6305550"/>
          </a:xfrm>
        </p:grpSpPr>
        <p:sp>
          <p:nvSpPr>
            <p:cNvPr id="34" name="main-year"/>
            <p:cNvSpPr txBox="1"/>
            <p:nvPr/>
          </p:nvSpPr>
          <p:spPr>
            <a:xfrm>
              <a:off x="1847850" y="6496050"/>
              <a:ext cx="2667000" cy="8001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4875" b="1" i="0">
                  <a:solidFill>
                    <a:srgbClr val="1C4072"/>
                  </a:solidFill>
                  <a:latin typeface="Microsoft YaHei"/>
                  <a:ea typeface="Microsoft YaHei"/>
                  <a:cs typeface="Microsoft YaHei"/>
                </a:rPr>
                <a:t>2024 年</a:t>
              </a:r>
            </a:p>
          </p:txBody>
        </p:sp>
        <p:sp>
          <p:nvSpPr>
            <p:cNvPr id="35" name="main-sub"/>
            <p:cNvSpPr txBox="1"/>
            <p:nvPr/>
          </p:nvSpPr>
          <p:spPr>
            <a:xfrm>
              <a:off x="1847850" y="7334250"/>
              <a:ext cx="8382000" cy="62865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4050" b="0" i="0">
                  <a:solidFill>
                    <a:srgbClr val="1C4072"/>
                  </a:solidFill>
                  <a:latin typeface="Microsoft YaHei"/>
                  <a:ea typeface="Microsoft YaHei"/>
                  <a:cs typeface="Microsoft YaHei"/>
                </a:rPr>
                <a:t>技术团队研发工具生态覆盖 TOP 10</a:t>
              </a:r>
            </a:p>
          </p:txBody>
        </p:sp>
        <p:sp>
          <p:nvSpPr>
            <p:cNvPr id="36" name="main-circle"/>
            <p:cNvSpPr/>
            <p:nvPr/>
          </p:nvSpPr>
          <p:spPr>
            <a:xfrm>
              <a:off x="2838450" y="8267700"/>
              <a:ext cx="4533900" cy="4533900"/>
            </a:xfrm>
            <a:prstGeom prst="ellipse">
              <a:avLst/>
            </a:prstGeom>
            <a:solidFill>
              <a:srgbClr val="A335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" name="circle-t1"/>
            <p:cNvSpPr txBox="1"/>
            <p:nvPr/>
          </p:nvSpPr>
          <p:spPr>
            <a:xfrm>
              <a:off x="3486150" y="9620250"/>
              <a:ext cx="3238500" cy="8763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5850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工具能力</a:t>
              </a:r>
            </a:p>
          </p:txBody>
        </p:sp>
        <p:sp>
          <p:nvSpPr>
            <p:cNvPr id="38" name="circle-t2"/>
            <p:cNvSpPr txBox="1"/>
            <p:nvPr/>
          </p:nvSpPr>
          <p:spPr>
            <a:xfrm>
              <a:off x="3409950" y="10629900"/>
              <a:ext cx="3238500" cy="8763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5850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丰富</a:t>
              </a:r>
            </a:p>
          </p:txBody>
        </p:sp>
      </p:grpSp>
      <p:grpSp>
        <p:nvGrpSpPr>
          <p:cNvPr id="90" name="tool-panel"/>
          <p:cNvGrpSpPr/>
          <p:nvPr/>
        </p:nvGrpSpPr>
        <p:grpSpPr>
          <a:xfrm>
            <a:off x="11315700" y="5981700"/>
            <a:ext cx="17678400" cy="9105900"/>
            <a:chOff x="11315700" y="5981700"/>
            <a:chExt cx="17678400" cy="9105900"/>
          </a:xfrm>
        </p:grpSpPr>
        <p:sp>
          <p:nvSpPr>
            <p:cNvPr id="39" name="panel-bg"/>
            <p:cNvSpPr/>
            <p:nvPr/>
          </p:nvSpPr>
          <p:spPr>
            <a:xfrm>
              <a:off x="11315700" y="5981700"/>
              <a:ext cx="17678400" cy="9105900"/>
            </a:xfrm>
            <a:prstGeom prst="roundRect">
              <a:avLst>
                <a:gd name="adj" fmla="val 2719"/>
              </a:avLst>
            </a:prstGeom>
            <a:solidFill>
              <a:srgbClr val="F4D1C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grpSp>
          <p:nvGrpSpPr>
            <p:cNvPr id="88" name="col-01"/>
            <p:cNvGrpSpPr/>
            <p:nvPr/>
          </p:nvGrpSpPr>
          <p:grpSpPr>
            <a:xfrm>
              <a:off x="13411200" y="7086600"/>
              <a:ext cx="4476750" cy="7200900"/>
              <a:chOff x="13411200" y="7086600"/>
              <a:chExt cx="4476750" cy="7200900"/>
            </a:xfrm>
          </p:grpSpPr>
          <p:sp>
            <p:nvSpPr>
              <p:cNvPr id="40" name="col01-card"/>
              <p:cNvSpPr/>
              <p:nvPr/>
            </p:nvSpPr>
            <p:spPr>
              <a:xfrm>
                <a:off x="13411200" y="7677150"/>
                <a:ext cx="4476750" cy="6610350"/>
              </a:xfrm>
              <a:prstGeom prst="roundRect">
                <a:avLst>
                  <a:gd name="adj" fmla="val 4680"/>
                </a:avLst>
              </a:prstGeom>
              <a:solidFill>
                <a:srgbClr val="D4BBB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1" name="col01-hdr"/>
              <p:cNvSpPr/>
              <p:nvPr/>
            </p:nvSpPr>
            <p:spPr>
              <a:xfrm>
                <a:off x="13935075" y="7086600"/>
                <a:ext cx="3429000" cy="1028700"/>
              </a:xfrm>
              <a:prstGeom prst="roundRect">
                <a:avLst>
                  <a:gd name="adj" fmla="val 7407"/>
                </a:avLst>
              </a:prstGeom>
              <a:solidFill>
                <a:srgbClr val="A33524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2" name="col01-hdr-tx"/>
              <p:cNvSpPr txBox="1"/>
              <p:nvPr/>
            </p:nvSpPr>
            <p:spPr>
              <a:xfrm>
                <a:off x="13935075" y="7086600"/>
                <a:ext cx="3429000" cy="1028700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ctr">
                <a:noAutofit/>
              </a:bodyPr>
              <a:lstStyle/>
              <a:p>
                <a:pPr algn="ctr">
                  <a:lnSpc>
                    <a:spcPct val="100000"/>
                  </a:lnSpc>
                </a:pPr>
                <a:r>
                  <a:rPr sz="4350" b="1" i="0">
                    <a:solidFill>
                      <a:srgbClr val="FFFFFF"/>
                    </a:solidFill>
                    <a:latin typeface="Microsoft YaHei"/>
                    <a:ea typeface="Microsoft YaHei"/>
                    <a:cs typeface="Microsoft YaHei"/>
                  </a:rPr>
                  <a:t>PART. 01</a:t>
                </a:r>
              </a:p>
            </p:txBody>
          </p:sp>
          <p:sp>
            <p:nvSpPr>
              <p:cNvPr id="43" name="col01-box1"/>
              <p:cNvSpPr/>
              <p:nvPr/>
            </p:nvSpPr>
            <p:spPr>
              <a:xfrm>
                <a:off x="14058900" y="8953500"/>
                <a:ext cx="3390900" cy="1038225"/>
              </a:xfrm>
              <a:prstGeom prst="roundRect">
                <a:avLst>
                  <a:gd name="adj" fmla="val 7339"/>
                </a:avLst>
              </a:prstGeom>
              <a:solidFill>
                <a:srgbClr val="FFFFFF"/>
              </a:solidFill>
              <a:ln w="19050">
                <a:solidFill>
                  <a:srgbClr val="1C4072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4" name="col01-box1-tx"/>
              <p:cNvSpPr txBox="1"/>
              <p:nvPr/>
            </p:nvSpPr>
            <p:spPr>
              <a:xfrm>
                <a:off x="14058900" y="8953500"/>
                <a:ext cx="3390900" cy="1038225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ctr">
                <a:noAutofit/>
              </a:bodyPr>
              <a:lstStyle/>
              <a:p>
                <a:pPr algn="ctr">
                  <a:lnSpc>
                    <a:spcPct val="100000"/>
                  </a:lnSpc>
                </a:pPr>
                <a:r>
                  <a:rPr sz="3525" b="0" i="0">
                    <a:solidFill>
                      <a:srgbClr val="1C4072"/>
                    </a:solidFill>
                    <a:latin typeface="Microsoft YaHei"/>
                    <a:ea typeface="Microsoft YaHei"/>
                    <a:cs typeface="Microsoft YaHei"/>
                  </a:rPr>
                  <a:t>代码编辑器</a:t>
                </a:r>
              </a:p>
            </p:txBody>
          </p:sp>
          <p:sp>
            <p:nvSpPr>
              <p:cNvPr id="45" name="col01-box2"/>
              <p:cNvSpPr/>
              <p:nvPr/>
            </p:nvSpPr>
            <p:spPr>
              <a:xfrm>
                <a:off x="14058900" y="10925175"/>
                <a:ext cx="3390900" cy="1038225"/>
              </a:xfrm>
              <a:prstGeom prst="roundRect">
                <a:avLst>
                  <a:gd name="adj" fmla="val 7339"/>
                </a:avLst>
              </a:prstGeom>
              <a:solidFill>
                <a:srgbClr val="FFFFFF"/>
              </a:solidFill>
              <a:ln w="19050">
                <a:solidFill>
                  <a:srgbClr val="1C4072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6" name="col01-box2-tx"/>
              <p:cNvSpPr txBox="1"/>
              <p:nvPr/>
            </p:nvSpPr>
            <p:spPr>
              <a:xfrm>
                <a:off x="14058900" y="10925175"/>
                <a:ext cx="3390900" cy="1038225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ctr">
                <a:noAutofit/>
              </a:bodyPr>
              <a:lstStyle/>
              <a:p>
                <a:pPr algn="ctr">
                  <a:lnSpc>
                    <a:spcPct val="100000"/>
                  </a:lnSpc>
                </a:pPr>
                <a:r>
                  <a:rPr sz="3525" b="0" i="0">
                    <a:solidFill>
                      <a:srgbClr val="1C4072"/>
                    </a:solidFill>
                    <a:latin typeface="Microsoft YaHei"/>
                    <a:ea typeface="Microsoft YaHei"/>
                    <a:cs typeface="Microsoft YaHei"/>
                  </a:rPr>
                  <a:t>版本管理工具</a:t>
                </a:r>
              </a:p>
            </p:txBody>
          </p:sp>
          <p:sp>
            <p:nvSpPr>
              <p:cNvPr id="47" name="col01-box3"/>
              <p:cNvSpPr/>
              <p:nvPr/>
            </p:nvSpPr>
            <p:spPr>
              <a:xfrm>
                <a:off x="14058900" y="12677775"/>
                <a:ext cx="3390900" cy="1038225"/>
              </a:xfrm>
              <a:prstGeom prst="roundRect">
                <a:avLst>
                  <a:gd name="adj" fmla="val 7339"/>
                </a:avLst>
              </a:prstGeom>
              <a:solidFill>
                <a:srgbClr val="FFFFFF"/>
              </a:solidFill>
              <a:ln w="19050">
                <a:solidFill>
                  <a:srgbClr val="1C4072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8" name="col01-box3-tx"/>
              <p:cNvSpPr txBox="1"/>
              <p:nvPr/>
            </p:nvSpPr>
            <p:spPr>
              <a:xfrm>
                <a:off x="14058900" y="12677775"/>
                <a:ext cx="3390900" cy="1038225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ctr">
                <a:noAutofit/>
              </a:bodyPr>
              <a:lstStyle/>
              <a:p>
                <a:pPr algn="ctr">
                  <a:lnSpc>
                    <a:spcPct val="100000"/>
                  </a:lnSpc>
                </a:pPr>
                <a:r>
                  <a:rPr sz="3525" b="0" i="0">
                    <a:solidFill>
                      <a:srgbClr val="1C4072"/>
                    </a:solidFill>
                    <a:latin typeface="Microsoft YaHei"/>
                    <a:ea typeface="Microsoft YaHei"/>
                    <a:cs typeface="Microsoft YaHei"/>
                  </a:rPr>
                  <a:t>低代码平台</a:t>
                </a:r>
              </a:p>
            </p:txBody>
          </p:sp>
        </p:grpSp>
        <p:grpSp>
          <p:nvGrpSpPr>
            <p:cNvPr id="86" name="col-02"/>
            <p:cNvGrpSpPr/>
            <p:nvPr/>
          </p:nvGrpSpPr>
          <p:grpSpPr>
            <a:xfrm>
              <a:off x="18630900" y="7086600"/>
              <a:ext cx="4476750" cy="7200900"/>
              <a:chOff x="18630900" y="7086600"/>
              <a:chExt cx="4476750" cy="7200900"/>
            </a:xfrm>
          </p:grpSpPr>
          <p:sp>
            <p:nvSpPr>
              <p:cNvPr id="49" name="col02-card"/>
              <p:cNvSpPr/>
              <p:nvPr/>
            </p:nvSpPr>
            <p:spPr>
              <a:xfrm>
                <a:off x="18630900" y="7677150"/>
                <a:ext cx="4476750" cy="6610350"/>
              </a:xfrm>
              <a:prstGeom prst="roundRect">
                <a:avLst>
                  <a:gd name="adj" fmla="val 4680"/>
                </a:avLst>
              </a:prstGeom>
              <a:solidFill>
                <a:srgbClr val="D4BBB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0" name="col02-hdr"/>
              <p:cNvSpPr/>
              <p:nvPr/>
            </p:nvSpPr>
            <p:spPr>
              <a:xfrm>
                <a:off x="19173825" y="7086600"/>
                <a:ext cx="3429000" cy="1028700"/>
              </a:xfrm>
              <a:prstGeom prst="roundRect">
                <a:avLst>
                  <a:gd name="adj" fmla="val 7407"/>
                </a:avLst>
              </a:prstGeom>
              <a:solidFill>
                <a:srgbClr val="A33524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1" name="col02-hdr-tx"/>
              <p:cNvSpPr txBox="1"/>
              <p:nvPr/>
            </p:nvSpPr>
            <p:spPr>
              <a:xfrm>
                <a:off x="19173825" y="7086600"/>
                <a:ext cx="3429000" cy="1028700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ctr">
                <a:noAutofit/>
              </a:bodyPr>
              <a:lstStyle/>
              <a:p>
                <a:pPr algn="ctr">
                  <a:lnSpc>
                    <a:spcPct val="100000"/>
                  </a:lnSpc>
                </a:pPr>
                <a:r>
                  <a:rPr sz="4350" b="1" i="0">
                    <a:solidFill>
                      <a:srgbClr val="FFFFFF"/>
                    </a:solidFill>
                    <a:latin typeface="Microsoft YaHei"/>
                    <a:ea typeface="Microsoft YaHei"/>
                    <a:cs typeface="Microsoft YaHei"/>
                  </a:rPr>
                  <a:t>PART. 02</a:t>
                </a:r>
              </a:p>
            </p:txBody>
          </p:sp>
          <p:sp>
            <p:nvSpPr>
              <p:cNvPr id="52" name="col02-box1"/>
              <p:cNvSpPr/>
              <p:nvPr/>
            </p:nvSpPr>
            <p:spPr>
              <a:xfrm>
                <a:off x="19202400" y="9067800"/>
                <a:ext cx="3409950" cy="1038225"/>
              </a:xfrm>
              <a:prstGeom prst="roundRect">
                <a:avLst>
                  <a:gd name="adj" fmla="val 7339"/>
                </a:avLst>
              </a:prstGeom>
              <a:solidFill>
                <a:srgbClr val="FFFFFF"/>
              </a:solidFill>
              <a:ln w="19050">
                <a:solidFill>
                  <a:srgbClr val="1C4072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3" name="col02-box1-tx"/>
              <p:cNvSpPr txBox="1"/>
              <p:nvPr/>
            </p:nvSpPr>
            <p:spPr>
              <a:xfrm>
                <a:off x="19202400" y="9067800"/>
                <a:ext cx="3409950" cy="1038225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ctr">
                <a:noAutofit/>
              </a:bodyPr>
              <a:lstStyle/>
              <a:p>
                <a:pPr algn="ctr">
                  <a:lnSpc>
                    <a:spcPct val="100000"/>
                  </a:lnSpc>
                </a:pPr>
                <a:r>
                  <a:rPr sz="3525" b="0" i="0">
                    <a:solidFill>
                      <a:srgbClr val="1C4072"/>
                    </a:solidFill>
                    <a:latin typeface="Microsoft YaHei"/>
                    <a:ea typeface="Microsoft YaHei"/>
                    <a:cs typeface="Microsoft YaHei"/>
                  </a:rPr>
                  <a:t>自动化测试工具</a:t>
                </a:r>
              </a:p>
            </p:txBody>
          </p:sp>
          <p:sp>
            <p:nvSpPr>
              <p:cNvPr id="54" name="col02-box2"/>
              <p:cNvSpPr/>
              <p:nvPr/>
            </p:nvSpPr>
            <p:spPr>
              <a:xfrm>
                <a:off x="19202400" y="10610850"/>
                <a:ext cx="3409950" cy="1038225"/>
              </a:xfrm>
              <a:prstGeom prst="roundRect">
                <a:avLst>
                  <a:gd name="adj" fmla="val 7339"/>
                </a:avLst>
              </a:prstGeom>
              <a:solidFill>
                <a:srgbClr val="FFFFFF"/>
              </a:solidFill>
              <a:ln w="19050">
                <a:solidFill>
                  <a:srgbClr val="1C4072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5" name="col02-box2-tx"/>
              <p:cNvSpPr txBox="1"/>
              <p:nvPr/>
            </p:nvSpPr>
            <p:spPr>
              <a:xfrm>
                <a:off x="19202400" y="10610850"/>
                <a:ext cx="3409950" cy="1038225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ctr">
                <a:noAutofit/>
              </a:bodyPr>
              <a:lstStyle/>
              <a:p>
                <a:pPr algn="ctr">
                  <a:lnSpc>
                    <a:spcPct val="100000"/>
                  </a:lnSpc>
                </a:pPr>
                <a:r>
                  <a:rPr sz="3525" b="0" i="0">
                    <a:solidFill>
                      <a:srgbClr val="1C4072"/>
                    </a:solidFill>
                    <a:latin typeface="Microsoft YaHei"/>
                    <a:ea typeface="Microsoft YaHei"/>
                    <a:cs typeface="Microsoft YaHei"/>
                  </a:rPr>
                  <a:t>接口测试平台</a:t>
                </a:r>
              </a:p>
            </p:txBody>
          </p:sp>
          <p:sp>
            <p:nvSpPr>
              <p:cNvPr id="56" name="col02-box3"/>
              <p:cNvSpPr/>
              <p:nvPr/>
            </p:nvSpPr>
            <p:spPr>
              <a:xfrm>
                <a:off x="19202400" y="12182475"/>
                <a:ext cx="3409950" cy="1038225"/>
              </a:xfrm>
              <a:prstGeom prst="roundRect">
                <a:avLst>
                  <a:gd name="adj" fmla="val 7339"/>
                </a:avLst>
              </a:prstGeom>
              <a:solidFill>
                <a:srgbClr val="FFFFFF"/>
              </a:solidFill>
              <a:ln w="19050">
                <a:solidFill>
                  <a:srgbClr val="1C4072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7" name="col02-box3-tx"/>
              <p:cNvSpPr txBox="1"/>
              <p:nvPr/>
            </p:nvSpPr>
            <p:spPr>
              <a:xfrm>
                <a:off x="19202400" y="12182475"/>
                <a:ext cx="3409950" cy="1038225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ctr">
                <a:noAutofit/>
              </a:bodyPr>
              <a:lstStyle/>
              <a:p>
                <a:pPr algn="ctr">
                  <a:lnSpc>
                    <a:spcPct val="100000"/>
                  </a:lnSpc>
                </a:pPr>
                <a:r>
                  <a:rPr sz="3525" b="0" i="0">
                    <a:solidFill>
                      <a:srgbClr val="1C4072"/>
                    </a:solidFill>
                    <a:latin typeface="Microsoft YaHei"/>
                    <a:ea typeface="Microsoft YaHei"/>
                    <a:cs typeface="Microsoft YaHei"/>
                  </a:rPr>
                  <a:t>性能测试工具</a:t>
                </a:r>
              </a:p>
            </p:txBody>
          </p:sp>
        </p:grpSp>
        <p:grpSp>
          <p:nvGrpSpPr>
            <p:cNvPr id="87" name="col-03"/>
            <p:cNvGrpSpPr/>
            <p:nvPr/>
          </p:nvGrpSpPr>
          <p:grpSpPr>
            <a:xfrm>
              <a:off x="23869650" y="7086600"/>
              <a:ext cx="4476750" cy="7200900"/>
              <a:chOff x="23869650" y="7086600"/>
              <a:chExt cx="4476750" cy="7200900"/>
            </a:xfrm>
          </p:grpSpPr>
          <p:sp>
            <p:nvSpPr>
              <p:cNvPr id="58" name="col03-card"/>
              <p:cNvSpPr/>
              <p:nvPr/>
            </p:nvSpPr>
            <p:spPr>
              <a:xfrm>
                <a:off x="23869650" y="7677150"/>
                <a:ext cx="4476750" cy="6610350"/>
              </a:xfrm>
              <a:prstGeom prst="roundRect">
                <a:avLst>
                  <a:gd name="adj" fmla="val 4680"/>
                </a:avLst>
              </a:prstGeom>
              <a:solidFill>
                <a:srgbClr val="D4BBB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9" name="col03-hdr"/>
              <p:cNvSpPr/>
              <p:nvPr/>
            </p:nvSpPr>
            <p:spPr>
              <a:xfrm>
                <a:off x="24393525" y="7086600"/>
                <a:ext cx="3429000" cy="1028700"/>
              </a:xfrm>
              <a:prstGeom prst="roundRect">
                <a:avLst>
                  <a:gd name="adj" fmla="val 7407"/>
                </a:avLst>
              </a:prstGeom>
              <a:solidFill>
                <a:srgbClr val="A33524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0" name="col03-hdr-tx"/>
              <p:cNvSpPr txBox="1"/>
              <p:nvPr/>
            </p:nvSpPr>
            <p:spPr>
              <a:xfrm>
                <a:off x="24393525" y="7086600"/>
                <a:ext cx="3429000" cy="1028700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ctr">
                <a:noAutofit/>
              </a:bodyPr>
              <a:lstStyle/>
              <a:p>
                <a:pPr algn="ctr">
                  <a:lnSpc>
                    <a:spcPct val="100000"/>
                  </a:lnSpc>
                </a:pPr>
                <a:r>
                  <a:rPr sz="4350" b="1" i="0">
                    <a:solidFill>
                      <a:srgbClr val="FFFFFF"/>
                    </a:solidFill>
                    <a:latin typeface="Microsoft YaHei"/>
                    <a:ea typeface="Microsoft YaHei"/>
                    <a:cs typeface="Microsoft YaHei"/>
                  </a:rPr>
                  <a:t>PART. 03</a:t>
                </a:r>
              </a:p>
            </p:txBody>
          </p:sp>
          <p:sp>
            <p:nvSpPr>
              <p:cNvPr id="61" name="col03-box1"/>
              <p:cNvSpPr/>
              <p:nvPr/>
            </p:nvSpPr>
            <p:spPr>
              <a:xfrm>
                <a:off x="24422100" y="9086850"/>
                <a:ext cx="3390900" cy="1038225"/>
              </a:xfrm>
              <a:prstGeom prst="roundRect">
                <a:avLst>
                  <a:gd name="adj" fmla="val 7339"/>
                </a:avLst>
              </a:prstGeom>
              <a:solidFill>
                <a:srgbClr val="FFFFFF"/>
              </a:solidFill>
              <a:ln w="19050">
                <a:solidFill>
                  <a:srgbClr val="1C4072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2" name="col03-box1-tx"/>
              <p:cNvSpPr txBox="1"/>
              <p:nvPr/>
            </p:nvSpPr>
            <p:spPr>
              <a:xfrm>
                <a:off x="24422100" y="9086850"/>
                <a:ext cx="3390900" cy="1038225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ctr">
                <a:noAutofit/>
              </a:bodyPr>
              <a:lstStyle/>
              <a:p>
                <a:pPr algn="ctr">
                  <a:lnSpc>
                    <a:spcPct val="100000"/>
                  </a:lnSpc>
                </a:pPr>
                <a:r>
                  <a:rPr sz="3525" b="0" i="0">
                    <a:solidFill>
                      <a:srgbClr val="1C4072"/>
                    </a:solidFill>
                    <a:latin typeface="Microsoft YaHei"/>
                    <a:ea typeface="Microsoft YaHei"/>
                    <a:cs typeface="Microsoft YaHei"/>
                  </a:rPr>
                  <a:t>容器管理工具</a:t>
                </a:r>
              </a:p>
            </p:txBody>
          </p:sp>
          <p:sp>
            <p:nvSpPr>
              <p:cNvPr id="63" name="col03-box2"/>
              <p:cNvSpPr/>
              <p:nvPr/>
            </p:nvSpPr>
            <p:spPr>
              <a:xfrm>
                <a:off x="24422100" y="10639425"/>
                <a:ext cx="3390900" cy="1038225"/>
              </a:xfrm>
              <a:prstGeom prst="roundRect">
                <a:avLst>
                  <a:gd name="adj" fmla="val 7339"/>
                </a:avLst>
              </a:prstGeom>
              <a:solidFill>
                <a:srgbClr val="FFFFFF"/>
              </a:solidFill>
              <a:ln w="19050">
                <a:solidFill>
                  <a:srgbClr val="1C4072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4" name="col03-box2-tx"/>
              <p:cNvSpPr txBox="1"/>
              <p:nvPr/>
            </p:nvSpPr>
            <p:spPr>
              <a:xfrm>
                <a:off x="24422100" y="10639425"/>
                <a:ext cx="3390900" cy="1038225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ctr">
                <a:noAutofit/>
              </a:bodyPr>
              <a:lstStyle/>
              <a:p>
                <a:pPr algn="ctr">
                  <a:lnSpc>
                    <a:spcPct val="100000"/>
                  </a:lnSpc>
                </a:pPr>
                <a:r>
                  <a:rPr sz="3525" b="0" i="0">
                    <a:solidFill>
                      <a:srgbClr val="1C4072"/>
                    </a:solidFill>
                    <a:latin typeface="Microsoft YaHei"/>
                    <a:ea typeface="Microsoft YaHei"/>
                    <a:cs typeface="Microsoft YaHei"/>
                  </a:rPr>
                  <a:t>监控告警平台</a:t>
                </a:r>
              </a:p>
            </p:txBody>
          </p:sp>
          <p:sp>
            <p:nvSpPr>
              <p:cNvPr id="65" name="col03-box3"/>
              <p:cNvSpPr/>
              <p:nvPr/>
            </p:nvSpPr>
            <p:spPr>
              <a:xfrm>
                <a:off x="24422100" y="12211050"/>
                <a:ext cx="3390900" cy="1038225"/>
              </a:xfrm>
              <a:prstGeom prst="roundRect">
                <a:avLst>
                  <a:gd name="adj" fmla="val 7339"/>
                </a:avLst>
              </a:prstGeom>
              <a:solidFill>
                <a:srgbClr val="FFFFFF"/>
              </a:solidFill>
              <a:ln w="19050">
                <a:solidFill>
                  <a:srgbClr val="1C4072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6" name="col03-box3-tx"/>
              <p:cNvSpPr txBox="1"/>
              <p:nvPr/>
            </p:nvSpPr>
            <p:spPr>
              <a:xfrm>
                <a:off x="24422100" y="12211050"/>
                <a:ext cx="3390900" cy="1038225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ctr">
                <a:noAutofit/>
              </a:bodyPr>
              <a:lstStyle/>
              <a:p>
                <a:pPr algn="ctr">
                  <a:lnSpc>
                    <a:spcPct val="100000"/>
                  </a:lnSpc>
                </a:pPr>
                <a:r>
                  <a:rPr sz="3525" b="0" i="0">
                    <a:solidFill>
                      <a:srgbClr val="1C4072"/>
                    </a:solidFill>
                    <a:latin typeface="Microsoft YaHei"/>
                    <a:ea typeface="Microsoft YaHei"/>
                    <a:cs typeface="Microsoft YaHei"/>
                  </a:rPr>
                  <a:t>部署流水线工具</a:t>
                </a:r>
              </a:p>
            </p:txBody>
          </p:sp>
        </p:grpSp>
        <p:sp>
          <p:nvSpPr>
            <p:cNvPr id="67" name="tri-1-1"/>
            <p:cNvSpPr/>
            <p:nvPr/>
          </p:nvSpPr>
          <p:spPr>
            <a:xfrm>
              <a:off x="18116550" y="10553700"/>
              <a:ext cx="247650" cy="381000"/>
            </a:xfrm>
            <a:custGeom>
              <a:avLst/>
              <a:gdLst/>
              <a:ahLst/>
              <a:cxnLst/>
              <a:rect l="l" t="t" r="r" b="b"/>
              <a:pathLst>
                <a:path w="247650" h="381000">
                  <a:moveTo>
                    <a:pt x="0" y="190500"/>
                  </a:moveTo>
                  <a:lnTo>
                    <a:pt x="247650" y="0"/>
                  </a:lnTo>
                  <a:lnTo>
                    <a:pt x="247650" y="381000"/>
                  </a:lnTo>
                  <a:close/>
                </a:path>
              </a:pathLst>
            </a:custGeom>
            <a:solidFill>
              <a:srgbClr val="1C407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8" name="tri-1-2"/>
            <p:cNvSpPr/>
            <p:nvPr/>
          </p:nvSpPr>
          <p:spPr>
            <a:xfrm>
              <a:off x="18116550" y="10991850"/>
              <a:ext cx="247650" cy="381000"/>
            </a:xfrm>
            <a:custGeom>
              <a:avLst/>
              <a:gdLst/>
              <a:ahLst/>
              <a:cxnLst/>
              <a:rect l="l" t="t" r="r" b="b"/>
              <a:pathLst>
                <a:path w="247650" h="381000">
                  <a:moveTo>
                    <a:pt x="0" y="190500"/>
                  </a:moveTo>
                  <a:lnTo>
                    <a:pt x="247650" y="0"/>
                  </a:lnTo>
                  <a:lnTo>
                    <a:pt x="247650" y="381000"/>
                  </a:lnTo>
                  <a:close/>
                </a:path>
              </a:pathLst>
            </a:custGeom>
            <a:solidFill>
              <a:srgbClr val="1C407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9" name="tri-2-1"/>
            <p:cNvSpPr/>
            <p:nvPr/>
          </p:nvSpPr>
          <p:spPr>
            <a:xfrm>
              <a:off x="23374350" y="10553700"/>
              <a:ext cx="247650" cy="381000"/>
            </a:xfrm>
            <a:custGeom>
              <a:avLst/>
              <a:gdLst/>
              <a:ahLst/>
              <a:cxnLst/>
              <a:rect l="l" t="t" r="r" b="b"/>
              <a:pathLst>
                <a:path w="247650" h="381000">
                  <a:moveTo>
                    <a:pt x="0" y="190500"/>
                  </a:moveTo>
                  <a:lnTo>
                    <a:pt x="247650" y="0"/>
                  </a:lnTo>
                  <a:lnTo>
                    <a:pt x="247650" y="381000"/>
                  </a:lnTo>
                  <a:close/>
                </a:path>
              </a:pathLst>
            </a:custGeom>
            <a:solidFill>
              <a:srgbClr val="1C407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0" name="tri-2-2"/>
            <p:cNvSpPr/>
            <p:nvPr/>
          </p:nvSpPr>
          <p:spPr>
            <a:xfrm>
              <a:off x="23374350" y="10991850"/>
              <a:ext cx="247650" cy="381000"/>
            </a:xfrm>
            <a:custGeom>
              <a:avLst/>
              <a:gdLst/>
              <a:ahLst/>
              <a:cxnLst/>
              <a:rect l="l" t="t" r="r" b="b"/>
              <a:pathLst>
                <a:path w="247650" h="381000">
                  <a:moveTo>
                    <a:pt x="0" y="190500"/>
                  </a:moveTo>
                  <a:lnTo>
                    <a:pt x="247650" y="0"/>
                  </a:lnTo>
                  <a:lnTo>
                    <a:pt x="247650" y="381000"/>
                  </a:lnTo>
                  <a:close/>
                </a:path>
              </a:pathLst>
            </a:custGeom>
            <a:solidFill>
              <a:srgbClr val="1C407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cxnSp>
        <p:nvCxnSpPr>
          <p:cNvPr id="71" name="conn-1"/>
          <p:cNvCxnSpPr/>
          <p:nvPr/>
        </p:nvCxnSpPr>
        <p:spPr>
          <a:xfrm flipV="1">
            <a:off x="7620000" y="8172450"/>
            <a:ext cx="1905000" cy="2381250"/>
          </a:xfrm>
          <a:prstGeom prst="line">
            <a:avLst/>
          </a:prstGeom>
          <a:ln w="28575">
            <a:solidFill>
              <a:srgbClr val="1C4072"/>
            </a:solidFill>
            <a:tailEnd type="triangle" w="med" len="med"/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conn-2"/>
          <p:cNvCxnSpPr/>
          <p:nvPr/>
        </p:nvCxnSpPr>
        <p:spPr>
          <a:xfrm>
            <a:off x="7620000" y="10553700"/>
            <a:ext cx="1905000" cy="0"/>
          </a:xfrm>
          <a:prstGeom prst="line">
            <a:avLst/>
          </a:prstGeom>
          <a:ln w="28575">
            <a:solidFill>
              <a:srgbClr val="1C4072"/>
            </a:solidFill>
            <a:tailEnd type="triangle" w="med" len="med"/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conn-3"/>
          <p:cNvCxnSpPr/>
          <p:nvPr/>
        </p:nvCxnSpPr>
        <p:spPr>
          <a:xfrm>
            <a:off x="7620000" y="10553700"/>
            <a:ext cx="1905000" cy="2647950"/>
          </a:xfrm>
          <a:prstGeom prst="line">
            <a:avLst/>
          </a:prstGeom>
          <a:ln w="28575">
            <a:solidFill>
              <a:srgbClr val="1C4072"/>
            </a:solidFill>
            <a:tailEnd type="triangle" w="med" len="med"/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3" name="domains"/>
          <p:cNvGrpSpPr/>
          <p:nvPr/>
        </p:nvGrpSpPr>
        <p:grpSpPr>
          <a:xfrm>
            <a:off x="9705975" y="7667625"/>
            <a:ext cx="2886075" cy="6076950"/>
            <a:chOff x="9705975" y="7667625"/>
            <a:chExt cx="2886075" cy="6076950"/>
          </a:xfrm>
        </p:grpSpPr>
        <p:sp>
          <p:nvSpPr>
            <p:cNvPr id="74" name="domain-1-bg"/>
            <p:cNvSpPr/>
            <p:nvPr/>
          </p:nvSpPr>
          <p:spPr>
            <a:xfrm>
              <a:off x="9705975" y="7667625"/>
              <a:ext cx="2886075" cy="1028700"/>
            </a:xfrm>
            <a:prstGeom prst="roundRect">
              <a:avLst>
                <a:gd name="adj" fmla="val 3703"/>
              </a:avLst>
            </a:prstGeom>
            <a:solidFill>
              <a:srgbClr val="1C407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5" name="domain-1-tx"/>
            <p:cNvSpPr txBox="1"/>
            <p:nvPr/>
          </p:nvSpPr>
          <p:spPr>
            <a:xfrm>
              <a:off x="9705975" y="7667625"/>
              <a:ext cx="2886075" cy="10287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3525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开发领域</a:t>
              </a:r>
            </a:p>
          </p:txBody>
        </p:sp>
        <p:sp>
          <p:nvSpPr>
            <p:cNvPr id="76" name="domain-2-bg"/>
            <p:cNvSpPr/>
            <p:nvPr/>
          </p:nvSpPr>
          <p:spPr>
            <a:xfrm>
              <a:off x="9705975" y="10191750"/>
              <a:ext cx="2886075" cy="1028700"/>
            </a:xfrm>
            <a:prstGeom prst="roundRect">
              <a:avLst>
                <a:gd name="adj" fmla="val 3703"/>
              </a:avLst>
            </a:prstGeom>
            <a:solidFill>
              <a:srgbClr val="1C407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7" name="domain-2-tx"/>
            <p:cNvSpPr txBox="1"/>
            <p:nvPr/>
          </p:nvSpPr>
          <p:spPr>
            <a:xfrm>
              <a:off x="9705975" y="10191750"/>
              <a:ext cx="2886075" cy="10287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3525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测试领域</a:t>
              </a:r>
            </a:p>
          </p:txBody>
        </p:sp>
        <p:sp>
          <p:nvSpPr>
            <p:cNvPr id="78" name="domain-3-bg"/>
            <p:cNvSpPr/>
            <p:nvPr/>
          </p:nvSpPr>
          <p:spPr>
            <a:xfrm>
              <a:off x="9705975" y="12715875"/>
              <a:ext cx="2886075" cy="1028700"/>
            </a:xfrm>
            <a:prstGeom prst="roundRect">
              <a:avLst>
                <a:gd name="adj" fmla="val 3703"/>
              </a:avLst>
            </a:prstGeom>
            <a:solidFill>
              <a:srgbClr val="1C407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9" name="domain-3-tx"/>
            <p:cNvSpPr txBox="1"/>
            <p:nvPr/>
          </p:nvSpPr>
          <p:spPr>
            <a:xfrm>
              <a:off x="9705975" y="12715875"/>
              <a:ext cx="2886075" cy="10287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3525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运维领域</a:t>
              </a:r>
            </a:p>
          </p:txBody>
        </p:sp>
      </p:grpSp>
      <p:cxnSp>
        <p:nvCxnSpPr>
          <p:cNvPr id="80" name="panel-rule"/>
          <p:cNvCxnSpPr/>
          <p:nvPr/>
        </p:nvCxnSpPr>
        <p:spPr>
          <a:xfrm>
            <a:off x="11239500" y="15259050"/>
            <a:ext cx="17811750" cy="0"/>
          </a:xfrm>
          <a:prstGeom prst="line">
            <a:avLst/>
          </a:prstGeom>
          <a:ln w="38100">
            <a:solidFill>
              <a:srgbClr val="A33524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note-bg"/>
          <p:cNvSpPr/>
          <p:nvPr/>
        </p:nvSpPr>
        <p:spPr>
          <a:xfrm>
            <a:off x="495300" y="14135100"/>
            <a:ext cx="10067925" cy="1066800"/>
          </a:xfrm>
          <a:prstGeom prst="roundRect">
            <a:avLst>
              <a:gd name="adj" fmla="val 1785"/>
            </a:avLst>
          </a:prstGeom>
          <a:solidFill>
            <a:srgbClr val="F1E2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note-tx"/>
          <p:cNvSpPr txBox="1"/>
          <p:nvPr/>
        </p:nvSpPr>
        <p:spPr>
          <a:xfrm>
            <a:off x="495300" y="14135100"/>
            <a:ext cx="10067925" cy="1066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3900" b="0" i="0">
                <a:solidFill>
                  <a:srgbClr val="A33524"/>
                </a:solidFill>
                <a:latin typeface="Microsoft YaHei"/>
                <a:ea typeface="Microsoft YaHei"/>
                <a:cs typeface="Microsoft YaHei"/>
              </a:rPr>
              <a:t>工具生态覆盖能力总体呈现显著上升趋势</a:t>
            </a:r>
          </a:p>
        </p:txBody>
      </p:sp>
      <p:cxnSp>
        <p:nvCxnSpPr>
          <p:cNvPr id="83" name="bottom-rule"/>
          <p:cNvCxnSpPr/>
          <p:nvPr/>
        </p:nvCxnSpPr>
        <p:spPr>
          <a:xfrm>
            <a:off x="990600" y="16449675"/>
            <a:ext cx="28689300" cy="0"/>
          </a:xfrm>
          <a:prstGeom prst="line">
            <a:avLst/>
          </a:prstGeom>
          <a:ln w="28575">
            <a:solidFill>
              <a:srgbClr val="1C40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