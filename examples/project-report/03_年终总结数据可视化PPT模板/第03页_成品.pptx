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9525" cy="171545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9525" cy="17154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-circle"/>
          <p:cNvSpPr/>
          <p:nvPr/>
        </p:nvSpPr>
        <p:spPr>
          <a:xfrm>
            <a:off x="1190625" y="390525"/>
            <a:ext cx="1047750" cy="1047750"/>
          </a:xfrm>
          <a:prstGeom prst="ellipse">
            <a:avLst/>
          </a:prstGeom>
          <a:solidFill>
            <a:srgbClr val="FFFFFF"/>
          </a:solidFill>
          <a:ln w="95250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ic-check"/>
          <p:cNvCxnSpPr/>
          <p:nvPr/>
        </p:nvCxnSpPr>
        <p:spPr>
          <a:xfrm>
            <a:off x="1409700" y="914400"/>
            <a:ext cx="228600" cy="228600"/>
          </a:xfrm>
          <a:prstGeom prst="line">
            <a:avLst/>
          </a:prstGeom>
          <a:ln w="95250">
            <a:solidFill>
              <a:srgbClr val="1C40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-check2"/>
          <p:cNvCxnSpPr/>
          <p:nvPr/>
        </p:nvCxnSpPr>
        <p:spPr>
          <a:xfrm flipV="1">
            <a:off x="1638300" y="647700"/>
            <a:ext cx="400050" cy="495300"/>
          </a:xfrm>
          <a:prstGeom prst="line">
            <a:avLst/>
          </a:prstGeom>
          <a:ln w="95250">
            <a:solidFill>
              <a:srgbClr val="1C40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"/>
          <p:cNvSpPr txBox="1"/>
          <p:nvPr/>
        </p:nvSpPr>
        <p:spPr>
          <a:xfrm>
            <a:off x="2562225" y="352425"/>
            <a:ext cx="13139318" cy="1181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IT 工程师团队项目运营效能分析报告</a:t>
            </a:r>
          </a:p>
        </p:txBody>
      </p:sp>
      <p:sp>
        <p:nvSpPr>
          <p:cNvPr id="7" name="tag-viz"/>
          <p:cNvSpPr/>
          <p:nvPr/>
        </p:nvSpPr>
        <p:spPr>
          <a:xfrm>
            <a:off x="25317450" y="581025"/>
            <a:ext cx="4295775" cy="876300"/>
          </a:xfrm>
          <a:prstGeom prst="roundRect">
            <a:avLst>
              <a:gd name="adj" fmla="val 4347"/>
            </a:avLst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ag-viz-t"/>
          <p:cNvSpPr txBox="1"/>
          <p:nvPr/>
        </p:nvSpPr>
        <p:spPr>
          <a:xfrm>
            <a:off x="25317450" y="694372"/>
            <a:ext cx="4295775" cy="64960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9" name="hd-rule"/>
          <p:cNvSpPr/>
          <p:nvPr/>
        </p:nvSpPr>
        <p:spPr>
          <a:xfrm>
            <a:off x="1181100" y="1752600"/>
            <a:ext cx="28460700" cy="123825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-box"/>
          <p:cNvSpPr/>
          <p:nvPr/>
        </p:nvSpPr>
        <p:spPr>
          <a:xfrm>
            <a:off x="1905000" y="2409825"/>
            <a:ext cx="27070050" cy="2867025"/>
          </a:xfrm>
          <a:prstGeom prst="roundRect">
            <a:avLst>
              <a:gd name="adj" fmla="val 5980"/>
            </a:avLst>
          </a:prstGeom>
          <a:solidFill>
            <a:srgbClr val="FFFFFF"/>
          </a:solidFill>
          <a:ln w="38100">
            <a:solidFill>
              <a:srgbClr val="A9B8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pi-accent"/>
          <p:cNvSpPr/>
          <p:nvPr/>
        </p:nvSpPr>
        <p:spPr>
          <a:xfrm>
            <a:off x="2190750" y="2705100"/>
            <a:ext cx="85725" cy="230505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1-year"/>
          <p:cNvSpPr txBox="1"/>
          <p:nvPr/>
        </p:nvSpPr>
        <p:spPr>
          <a:xfrm>
            <a:off x="2981325" y="2993231"/>
            <a:ext cx="1905000" cy="7381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75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2025年</a:t>
            </a:r>
          </a:p>
        </p:txBody>
      </p:sp>
      <p:sp>
        <p:nvSpPr>
          <p:cNvPr id="13" name="kpi1-cn"/>
          <p:cNvSpPr txBox="1"/>
          <p:nvPr/>
        </p:nvSpPr>
        <p:spPr>
          <a:xfrm>
            <a:off x="2971800" y="3640455"/>
            <a:ext cx="4000500" cy="4724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技术团队核心效能数据表现</a:t>
            </a:r>
          </a:p>
        </p:txBody>
      </p:sp>
      <p:sp>
        <p:nvSpPr>
          <p:cNvPr id="14" name="kpi1-en1"/>
          <p:cNvSpPr txBox="1"/>
          <p:nvPr/>
        </p:nvSpPr>
        <p:spPr>
          <a:xfrm>
            <a:off x="2990850" y="4142899"/>
            <a:ext cx="4890394" cy="324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Performance of core effectiveness data of</a:t>
            </a:r>
          </a:p>
        </p:txBody>
      </p:sp>
      <p:sp>
        <p:nvSpPr>
          <p:cNvPr id="15" name="kpi1-en2"/>
          <p:cNvSpPr txBox="1"/>
          <p:nvPr/>
        </p:nvSpPr>
        <p:spPr>
          <a:xfrm>
            <a:off x="2981325" y="4485799"/>
            <a:ext cx="2597749" cy="324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technical team in 2024</a:t>
            </a:r>
          </a:p>
        </p:txBody>
      </p:sp>
      <p:sp>
        <p:nvSpPr>
          <p:cNvPr id="16" name="kpi2-cn1"/>
          <p:cNvSpPr txBox="1"/>
          <p:nvPr/>
        </p:nvSpPr>
        <p:spPr>
          <a:xfrm>
            <a:off x="8324850" y="3080623"/>
            <a:ext cx="3429000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2024 年 Q4 项目交付量</a:t>
            </a:r>
          </a:p>
        </p:txBody>
      </p:sp>
      <p:sp>
        <p:nvSpPr>
          <p:cNvPr id="17" name="kpi2-cn2"/>
          <p:cNvSpPr txBox="1"/>
          <p:nvPr/>
        </p:nvSpPr>
        <p:spPr>
          <a:xfrm>
            <a:off x="8334375" y="3480673"/>
            <a:ext cx="1619250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同比增长</a:t>
            </a:r>
          </a:p>
        </p:txBody>
      </p:sp>
      <p:sp>
        <p:nvSpPr>
          <p:cNvPr id="18" name="kpi2-en1"/>
          <p:cNvSpPr txBox="1"/>
          <p:nvPr/>
        </p:nvSpPr>
        <p:spPr>
          <a:xfrm>
            <a:off x="8324850" y="4142899"/>
            <a:ext cx="4005590" cy="324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Q4 project deliveries in 2024 will</a:t>
            </a:r>
          </a:p>
        </p:txBody>
      </p:sp>
      <p:sp>
        <p:nvSpPr>
          <p:cNvPr id="19" name="kpi2-en2"/>
          <p:cNvSpPr txBox="1"/>
          <p:nvPr/>
        </p:nvSpPr>
        <p:spPr>
          <a:xfrm>
            <a:off x="8334375" y="4476274"/>
            <a:ext cx="2514935" cy="324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increase year-on-year</a:t>
            </a:r>
          </a:p>
        </p:txBody>
      </p:sp>
      <p:sp>
        <p:nvSpPr>
          <p:cNvPr id="20" name="kpi2-num"/>
          <p:cNvSpPr txBox="1"/>
          <p:nvPr/>
        </p:nvSpPr>
        <p:spPr>
          <a:xfrm>
            <a:off x="12001500" y="2662952"/>
            <a:ext cx="2286000" cy="246554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2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21" name="kpi2-pct"/>
          <p:cNvSpPr txBox="1"/>
          <p:nvPr/>
        </p:nvSpPr>
        <p:spPr>
          <a:xfrm>
            <a:off x="13744575" y="3090862"/>
            <a:ext cx="800100" cy="1476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22" name="kpi3-cn1"/>
          <p:cNvSpPr txBox="1"/>
          <p:nvPr/>
        </p:nvSpPr>
        <p:spPr>
          <a:xfrm>
            <a:off x="14887575" y="3058478"/>
            <a:ext cx="3238500" cy="5314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技术平台累计接入服</a:t>
            </a:r>
          </a:p>
        </p:txBody>
      </p:sp>
      <p:sp>
        <p:nvSpPr>
          <p:cNvPr id="23" name="kpi3-cn2"/>
          <p:cNvSpPr txBox="1"/>
          <p:nvPr/>
        </p:nvSpPr>
        <p:spPr>
          <a:xfrm>
            <a:off x="14887575" y="3506152"/>
            <a:ext cx="857250" cy="5314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务数</a:t>
            </a:r>
          </a:p>
        </p:txBody>
      </p:sp>
      <p:sp>
        <p:nvSpPr>
          <p:cNvPr id="24" name="kpi3-en1"/>
          <p:cNvSpPr txBox="1"/>
          <p:nvPr/>
        </p:nvSpPr>
        <p:spPr>
          <a:xfrm>
            <a:off x="14954250" y="4123849"/>
            <a:ext cx="3495629" cy="324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Cumulative number of services</a:t>
            </a:r>
          </a:p>
        </p:txBody>
      </p:sp>
      <p:sp>
        <p:nvSpPr>
          <p:cNvPr id="25" name="kpi3-en2"/>
          <p:cNvSpPr txBox="1"/>
          <p:nvPr/>
        </p:nvSpPr>
        <p:spPr>
          <a:xfrm>
            <a:off x="14954250" y="4457224"/>
            <a:ext cx="3988156" cy="324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connected to technology platforms</a:t>
            </a:r>
          </a:p>
        </p:txBody>
      </p:sp>
      <p:sp>
        <p:nvSpPr>
          <p:cNvPr id="26" name="kpi3-num"/>
          <p:cNvSpPr txBox="1"/>
          <p:nvPr/>
        </p:nvSpPr>
        <p:spPr>
          <a:xfrm>
            <a:off x="17964150" y="2643902"/>
            <a:ext cx="2878485" cy="246554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2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cxnSp>
        <p:nvCxnSpPr>
          <p:cNvPr id="27" name="kpi3-up"/>
          <p:cNvCxnSpPr/>
          <p:nvPr/>
        </p:nvCxnSpPr>
        <p:spPr>
          <a:xfrm flipV="1">
            <a:off x="21012150" y="4076700"/>
            <a:ext cx="0" cy="533400"/>
          </a:xfrm>
          <a:prstGeom prst="line">
            <a:avLst/>
          </a:prstGeom>
          <a:ln w="76200">
            <a:solidFill>
              <a:srgbClr val="1C40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kpi4-cn1"/>
          <p:cNvSpPr txBox="1"/>
          <p:nvPr/>
        </p:nvSpPr>
        <p:spPr>
          <a:xfrm>
            <a:off x="21812250" y="3023473"/>
            <a:ext cx="3268980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近一年核心接口响应速</a:t>
            </a:r>
          </a:p>
        </p:txBody>
      </p:sp>
      <p:sp>
        <p:nvSpPr>
          <p:cNvPr id="29" name="kpi4-cn2"/>
          <p:cNvSpPr txBox="1"/>
          <p:nvPr/>
        </p:nvSpPr>
        <p:spPr>
          <a:xfrm>
            <a:off x="21812250" y="3471148"/>
            <a:ext cx="3268980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度同比涨幅（优化率）</a:t>
            </a:r>
          </a:p>
        </p:txBody>
      </p:sp>
      <p:sp>
        <p:nvSpPr>
          <p:cNvPr id="30" name="kpi4-en1"/>
          <p:cNvSpPr txBox="1"/>
          <p:nvPr/>
        </p:nvSpPr>
        <p:spPr>
          <a:xfrm>
            <a:off x="21812250" y="4057174"/>
            <a:ext cx="3417174" cy="324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Year-on-year increase in core</a:t>
            </a:r>
          </a:p>
        </p:txBody>
      </p:sp>
      <p:sp>
        <p:nvSpPr>
          <p:cNvPr id="31" name="kpi4-en2"/>
          <p:cNvSpPr txBox="1"/>
          <p:nvPr/>
        </p:nvSpPr>
        <p:spPr>
          <a:xfrm>
            <a:off x="21812250" y="4390549"/>
            <a:ext cx="3674334" cy="324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interface response speed in the</a:t>
            </a:r>
          </a:p>
        </p:txBody>
      </p:sp>
      <p:sp>
        <p:nvSpPr>
          <p:cNvPr id="32" name="kpi4-en3"/>
          <p:cNvSpPr txBox="1"/>
          <p:nvPr/>
        </p:nvSpPr>
        <p:spPr>
          <a:xfrm>
            <a:off x="21812250" y="4723924"/>
            <a:ext cx="3404098" cy="3248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past year (optimization rate)</a:t>
            </a:r>
          </a:p>
        </p:txBody>
      </p:sp>
      <p:sp>
        <p:nvSpPr>
          <p:cNvPr id="33" name="kpi4-num"/>
          <p:cNvSpPr txBox="1"/>
          <p:nvPr/>
        </p:nvSpPr>
        <p:spPr>
          <a:xfrm>
            <a:off x="24955500" y="2626042"/>
            <a:ext cx="3238500" cy="25393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9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+80</a:t>
            </a:r>
          </a:p>
        </p:txBody>
      </p:sp>
      <p:sp>
        <p:nvSpPr>
          <p:cNvPr id="34" name="kpi4-pct"/>
          <p:cNvSpPr txBox="1"/>
          <p:nvPr/>
        </p:nvSpPr>
        <p:spPr>
          <a:xfrm>
            <a:off x="27870150" y="3012758"/>
            <a:ext cx="857250" cy="15944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1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35" name="lc-panel"/>
          <p:cNvSpPr/>
          <p:nvPr/>
        </p:nvSpPr>
        <p:spPr>
          <a:xfrm>
            <a:off x="2066925" y="5867400"/>
            <a:ext cx="6991350" cy="10077450"/>
          </a:xfrm>
          <a:prstGeom prst="roundRect">
            <a:avLst>
              <a:gd name="adj" fmla="val 817"/>
            </a:avLst>
          </a:prstGeom>
          <a:solidFill>
            <a:srgbClr val="FFFFFF"/>
          </a:solidFill>
          <a:ln w="12382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c-head"/>
          <p:cNvSpPr/>
          <p:nvPr/>
        </p:nvSpPr>
        <p:spPr>
          <a:xfrm>
            <a:off x="2190750" y="5991225"/>
            <a:ext cx="6734175" cy="190500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c-goal1"/>
          <p:cNvSpPr txBox="1"/>
          <p:nvPr/>
        </p:nvSpPr>
        <p:spPr>
          <a:xfrm>
            <a:off x="2524125" y="6165056"/>
            <a:ext cx="495300" cy="7381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38" name="lc-goal2"/>
          <p:cNvSpPr txBox="1"/>
          <p:nvPr/>
        </p:nvSpPr>
        <p:spPr>
          <a:xfrm>
            <a:off x="2524125" y="6698456"/>
            <a:ext cx="495300" cy="7381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</a:t>
            </a:r>
          </a:p>
        </p:txBody>
      </p:sp>
      <p:sp>
        <p:nvSpPr>
          <p:cNvPr id="39" name="lc-h1"/>
          <p:cNvSpPr txBox="1"/>
          <p:nvPr/>
        </p:nvSpPr>
        <p:spPr>
          <a:xfrm>
            <a:off x="3209925" y="6331982"/>
            <a:ext cx="5715000" cy="5757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早入局的品牌在市场站稳了脚跟</a:t>
            </a:r>
          </a:p>
        </p:txBody>
      </p:sp>
      <p:sp>
        <p:nvSpPr>
          <p:cNvPr id="40" name="lc-h2"/>
          <p:cNvSpPr txBox="1"/>
          <p:nvPr/>
        </p:nvSpPr>
        <p:spPr>
          <a:xfrm>
            <a:off x="3209925" y="7074932"/>
            <a:ext cx="5810250" cy="5757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研发提效助于进一步提升团队产能</a:t>
            </a:r>
          </a:p>
        </p:txBody>
      </p:sp>
      <p:sp>
        <p:nvSpPr>
          <p:cNvPr id="41" name="lc-t1"/>
          <p:cNvSpPr txBox="1"/>
          <p:nvPr/>
        </p:nvSpPr>
        <p:spPr>
          <a:xfrm>
            <a:off x="2733675" y="8448675"/>
            <a:ext cx="4754880" cy="1181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平均交付周期</a:t>
            </a:r>
          </a:p>
        </p:txBody>
      </p:sp>
      <p:sp>
        <p:nvSpPr>
          <p:cNvPr id="42" name="lc-u1"/>
          <p:cNvSpPr/>
          <p:nvPr/>
        </p:nvSpPr>
        <p:spPr>
          <a:xfrm>
            <a:off x="2771775" y="9563100"/>
            <a:ext cx="5572125" cy="47625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c-sub1"/>
          <p:cNvSpPr txBox="1"/>
          <p:nvPr/>
        </p:nvSpPr>
        <p:spPr>
          <a:xfrm>
            <a:off x="2714625" y="9885045"/>
            <a:ext cx="2857500" cy="7086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头部团队对比</a:t>
            </a:r>
          </a:p>
        </p:txBody>
      </p:sp>
      <p:sp>
        <p:nvSpPr>
          <p:cNvPr id="44" name="lc-b1"/>
          <p:cNvSpPr txBox="1"/>
          <p:nvPr/>
        </p:nvSpPr>
        <p:spPr>
          <a:xfrm>
            <a:off x="2752725" y="10729198"/>
            <a:ext cx="5719709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对比 2024 年和 2025 年落地的技术团队</a:t>
            </a:r>
          </a:p>
        </p:txBody>
      </p:sp>
      <p:sp>
        <p:nvSpPr>
          <p:cNvPr id="45" name="lc-b2"/>
          <p:cNvSpPr txBox="1"/>
          <p:nvPr/>
        </p:nvSpPr>
        <p:spPr>
          <a:xfrm>
            <a:off x="2781300" y="11186398"/>
            <a:ext cx="6187802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中，2025 年全年交付周期 TOP10 的团队，</a:t>
            </a:r>
          </a:p>
        </p:txBody>
      </p:sp>
      <p:sp>
        <p:nvSpPr>
          <p:cNvPr id="46" name="lc-b3"/>
          <p:cNvSpPr txBox="1"/>
          <p:nvPr/>
        </p:nvSpPr>
        <p:spPr>
          <a:xfrm>
            <a:off x="2762250" y="11634073"/>
            <a:ext cx="5450396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均是各业务线效能领先的超头部研发组</a:t>
            </a:r>
          </a:p>
        </p:txBody>
      </p:sp>
      <p:sp>
        <p:nvSpPr>
          <p:cNvPr id="47" name="lc-t2"/>
          <p:cNvSpPr txBox="1"/>
          <p:nvPr/>
        </p:nvSpPr>
        <p:spPr>
          <a:xfrm>
            <a:off x="2724150" y="12077700"/>
            <a:ext cx="6339840" cy="1181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研发团队粘性分析</a:t>
            </a:r>
          </a:p>
        </p:txBody>
      </p:sp>
      <p:sp>
        <p:nvSpPr>
          <p:cNvPr id="48" name="lc-u2"/>
          <p:cNvSpPr/>
          <p:nvPr/>
        </p:nvSpPr>
        <p:spPr>
          <a:xfrm>
            <a:off x="2771775" y="13230225"/>
            <a:ext cx="5572125" cy="47625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c-b4"/>
          <p:cNvSpPr txBox="1"/>
          <p:nvPr/>
        </p:nvSpPr>
        <p:spPr>
          <a:xfrm>
            <a:off x="2771775" y="13634323"/>
            <a:ext cx="5969786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2025 年协同开发的工程师平均专注时长进</a:t>
            </a:r>
          </a:p>
        </p:txBody>
      </p:sp>
      <p:sp>
        <p:nvSpPr>
          <p:cNvPr id="50" name="lc-b5"/>
          <p:cNvSpPr txBox="1"/>
          <p:nvPr/>
        </p:nvSpPr>
        <p:spPr>
          <a:xfrm>
            <a:off x="2762250" y="14091523"/>
            <a:ext cx="6091618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一步提升，团队对技术栈的粘性有所增加，</a:t>
            </a:r>
          </a:p>
        </p:txBody>
      </p:sp>
      <p:sp>
        <p:nvSpPr>
          <p:cNvPr id="51" name="lc-b6"/>
          <p:cNvSpPr txBox="1"/>
          <p:nvPr/>
        </p:nvSpPr>
        <p:spPr>
          <a:xfrm>
            <a:off x="2762250" y="14539198"/>
            <a:ext cx="6091618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其中架构易用性、提效工具对于工程师的协</a:t>
            </a:r>
          </a:p>
        </p:txBody>
      </p:sp>
      <p:sp>
        <p:nvSpPr>
          <p:cNvPr id="52" name="lc-b7"/>
          <p:cNvSpPr txBox="1"/>
          <p:nvPr/>
        </p:nvSpPr>
        <p:spPr>
          <a:xfrm>
            <a:off x="2762250" y="14996398"/>
            <a:ext cx="3526726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作效率起到了很大的影响</a:t>
            </a:r>
          </a:p>
        </p:txBody>
      </p:sp>
      <p:sp>
        <p:nvSpPr>
          <p:cNvPr id="53" name="arrow-big"/>
          <p:cNvSpPr/>
          <p:nvPr/>
        </p:nvSpPr>
        <p:spPr>
          <a:xfrm>
            <a:off x="9582150" y="9115425"/>
            <a:ext cx="1047750" cy="3314700"/>
          </a:xfrm>
          <a:custGeom>
            <a:avLst/>
            <a:gdLst/>
            <a:ahLst/>
            <a:cxnLst/>
            <a:rect l="l" t="t" r="r" b="b"/>
            <a:pathLst>
              <a:path w="1047750" h="3314700">
                <a:moveTo>
                  <a:pt x="0" y="0"/>
                </a:moveTo>
                <a:lnTo>
                  <a:pt x="1047750" y="1752600"/>
                </a:lnTo>
                <a:lnTo>
                  <a:pt x="0" y="3314700"/>
                </a:lnTo>
                <a:close/>
              </a:path>
            </a:pathLst>
          </a:cu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act-label"/>
          <p:cNvSpPr txBox="1"/>
          <p:nvPr/>
        </p:nvSpPr>
        <p:spPr>
          <a:xfrm>
            <a:off x="9372600" y="12751594"/>
            <a:ext cx="1188720" cy="442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具体行动</a:t>
            </a:r>
          </a:p>
        </p:txBody>
      </p:sp>
      <p:sp>
        <p:nvSpPr>
          <p:cNvPr id="55" name="rc-box"/>
          <p:cNvSpPr/>
          <p:nvPr/>
        </p:nvSpPr>
        <p:spPr>
          <a:xfrm>
            <a:off x="11134725" y="5905500"/>
            <a:ext cx="17783175" cy="10096500"/>
          </a:xfrm>
          <a:prstGeom prst="roundRect">
            <a:avLst>
              <a:gd name="adj" fmla="val 566"/>
            </a:avLst>
          </a:prstGeom>
          <a:solidFill>
            <a:srgbClr val="FFFFFF">
              <a:alpha val="0"/>
            </a:srgbClr>
          </a:solidFill>
          <a:ln w="47625">
            <a:solidFill>
              <a:srgbClr val="8E3F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c-top"/>
          <p:cNvSpPr/>
          <p:nvPr/>
        </p:nvSpPr>
        <p:spPr>
          <a:xfrm>
            <a:off x="12734925" y="6781800"/>
            <a:ext cx="7038975" cy="1981200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c-top1"/>
          <p:cNvSpPr txBox="1"/>
          <p:nvPr/>
        </p:nvSpPr>
        <p:spPr>
          <a:xfrm>
            <a:off x="12734925" y="7026592"/>
            <a:ext cx="7038975" cy="7677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聚焦技术热门场景</a:t>
            </a:r>
          </a:p>
        </p:txBody>
      </p:sp>
      <p:sp>
        <p:nvSpPr>
          <p:cNvPr id="58" name="rc-top2"/>
          <p:cNvSpPr txBox="1"/>
          <p:nvPr/>
        </p:nvSpPr>
        <p:spPr>
          <a:xfrm>
            <a:off x="12734925" y="7760018"/>
            <a:ext cx="7038975" cy="7677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持续挖掘研发效能需求</a:t>
            </a:r>
          </a:p>
        </p:txBody>
      </p:sp>
      <p:sp>
        <p:nvSpPr>
          <p:cNvPr id="59" name="rA-blue"/>
          <p:cNvSpPr/>
          <p:nvPr/>
        </p:nvSpPr>
        <p:spPr>
          <a:xfrm>
            <a:off x="12734925" y="8953500"/>
            <a:ext cx="2343150" cy="186690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A-blue1"/>
          <p:cNvSpPr txBox="1"/>
          <p:nvPr/>
        </p:nvSpPr>
        <p:spPr>
          <a:xfrm>
            <a:off x="12734925" y="9305925"/>
            <a:ext cx="23431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做好技术</a:t>
            </a:r>
          </a:p>
        </p:txBody>
      </p:sp>
      <p:sp>
        <p:nvSpPr>
          <p:cNvPr id="61" name="rA-blue2"/>
          <p:cNvSpPr txBox="1"/>
          <p:nvPr/>
        </p:nvSpPr>
        <p:spPr>
          <a:xfrm>
            <a:off x="12734925" y="9839325"/>
            <a:ext cx="23431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调研</a:t>
            </a:r>
          </a:p>
        </p:txBody>
      </p:sp>
      <p:sp>
        <p:nvSpPr>
          <p:cNvPr id="62" name="rA-white"/>
          <p:cNvSpPr/>
          <p:nvPr/>
        </p:nvSpPr>
        <p:spPr>
          <a:xfrm>
            <a:off x="15078075" y="8953500"/>
            <a:ext cx="4648200" cy="1866900"/>
          </a:xfrm>
          <a:prstGeom prst="rect">
            <a:avLst/>
          </a:prstGeom>
          <a:solidFill>
            <a:srgbClr val="FFFFFF"/>
          </a:solidFill>
          <a:ln w="6667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A-white1"/>
          <p:cNvSpPr txBox="1"/>
          <p:nvPr/>
        </p:nvSpPr>
        <p:spPr>
          <a:xfrm>
            <a:off x="15506700" y="9591675"/>
            <a:ext cx="37147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关键系统 + 目标业务</a:t>
            </a:r>
          </a:p>
        </p:txBody>
      </p:sp>
      <p:sp>
        <p:nvSpPr>
          <p:cNvPr id="64" name="rB-blue"/>
          <p:cNvSpPr/>
          <p:nvPr/>
        </p:nvSpPr>
        <p:spPr>
          <a:xfrm>
            <a:off x="12734925" y="10972800"/>
            <a:ext cx="2343150" cy="386715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B-blue1"/>
          <p:cNvSpPr txBox="1"/>
          <p:nvPr/>
        </p:nvSpPr>
        <p:spPr>
          <a:xfrm>
            <a:off x="12734925" y="11791950"/>
            <a:ext cx="23431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持续做好</a:t>
            </a:r>
          </a:p>
        </p:txBody>
      </p:sp>
      <p:sp>
        <p:nvSpPr>
          <p:cNvPr id="66" name="rB-blue2"/>
          <p:cNvSpPr txBox="1"/>
          <p:nvPr/>
        </p:nvSpPr>
        <p:spPr>
          <a:xfrm>
            <a:off x="12734925" y="12315825"/>
            <a:ext cx="23431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架构、工</a:t>
            </a:r>
          </a:p>
        </p:txBody>
      </p:sp>
      <p:sp>
        <p:nvSpPr>
          <p:cNvPr id="67" name="rB-blue3"/>
          <p:cNvSpPr txBox="1"/>
          <p:nvPr/>
        </p:nvSpPr>
        <p:spPr>
          <a:xfrm>
            <a:off x="12734925" y="12839700"/>
            <a:ext cx="23431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具设计</a:t>
            </a:r>
          </a:p>
        </p:txBody>
      </p:sp>
      <p:sp>
        <p:nvSpPr>
          <p:cNvPr id="68" name="rB-w1"/>
          <p:cNvSpPr/>
          <p:nvPr/>
        </p:nvSpPr>
        <p:spPr>
          <a:xfrm>
            <a:off x="15078075" y="10972800"/>
            <a:ext cx="4648200" cy="1847850"/>
          </a:xfrm>
          <a:prstGeom prst="rect">
            <a:avLst/>
          </a:prstGeom>
          <a:solidFill>
            <a:srgbClr val="FFFFFF"/>
          </a:solidFill>
          <a:ln w="6667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B-w1a"/>
          <p:cNvSpPr txBox="1"/>
          <p:nvPr/>
        </p:nvSpPr>
        <p:spPr>
          <a:xfrm>
            <a:off x="15497175" y="11344275"/>
            <a:ext cx="28575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吸引工程师兴趣</a:t>
            </a:r>
          </a:p>
        </p:txBody>
      </p:sp>
      <p:sp>
        <p:nvSpPr>
          <p:cNvPr id="70" name="rB-w1b"/>
          <p:cNvSpPr txBox="1"/>
          <p:nvPr/>
        </p:nvSpPr>
        <p:spPr>
          <a:xfrm>
            <a:off x="15487650" y="12072223"/>
            <a:ext cx="3143250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工具体验 + 文档内容</a:t>
            </a:r>
          </a:p>
        </p:txBody>
      </p:sp>
      <p:sp>
        <p:nvSpPr>
          <p:cNvPr id="71" name="rB-w2"/>
          <p:cNvSpPr/>
          <p:nvPr/>
        </p:nvSpPr>
        <p:spPr>
          <a:xfrm>
            <a:off x="15078075" y="13011150"/>
            <a:ext cx="4648200" cy="1828800"/>
          </a:xfrm>
          <a:prstGeom prst="rect">
            <a:avLst/>
          </a:prstGeom>
          <a:solidFill>
            <a:srgbClr val="FFFFFF"/>
          </a:solidFill>
          <a:ln w="6667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B-w2a"/>
          <p:cNvSpPr txBox="1"/>
          <p:nvPr/>
        </p:nvSpPr>
        <p:spPr>
          <a:xfrm>
            <a:off x="15487650" y="13268325"/>
            <a:ext cx="36195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研发实际需求、诉求</a:t>
            </a:r>
          </a:p>
        </p:txBody>
      </p:sp>
      <p:sp>
        <p:nvSpPr>
          <p:cNvPr id="73" name="rB-w2b"/>
          <p:cNvSpPr txBox="1"/>
          <p:nvPr/>
        </p:nvSpPr>
        <p:spPr>
          <a:xfrm>
            <a:off x="15487650" y="13994130"/>
            <a:ext cx="4000500" cy="4724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研发效能瓶颈 + 工程师画像</a:t>
            </a:r>
          </a:p>
        </p:txBody>
      </p:sp>
      <p:sp>
        <p:nvSpPr>
          <p:cNvPr id="74" name="cir-hot"/>
          <p:cNvSpPr/>
          <p:nvPr/>
        </p:nvSpPr>
        <p:spPr>
          <a:xfrm>
            <a:off x="21983700" y="6743700"/>
            <a:ext cx="2438400" cy="2438400"/>
          </a:xfrm>
          <a:prstGeom prst="ellipse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ir-hot1"/>
          <p:cNvSpPr txBox="1"/>
          <p:nvPr/>
        </p:nvSpPr>
        <p:spPr>
          <a:xfrm>
            <a:off x="22440900" y="7166134"/>
            <a:ext cx="1524000" cy="6791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热门</a:t>
            </a:r>
          </a:p>
        </p:txBody>
      </p:sp>
      <p:sp>
        <p:nvSpPr>
          <p:cNvPr id="76" name="cir-hot2"/>
          <p:cNvSpPr txBox="1"/>
          <p:nvPr/>
        </p:nvSpPr>
        <p:spPr>
          <a:xfrm>
            <a:off x="22440900" y="7870984"/>
            <a:ext cx="1524000" cy="6791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赛道</a:t>
            </a:r>
          </a:p>
        </p:txBody>
      </p:sp>
      <p:sp>
        <p:nvSpPr>
          <p:cNvPr id="77" name="cir-health"/>
          <p:cNvSpPr/>
          <p:nvPr/>
        </p:nvSpPr>
        <p:spPr>
          <a:xfrm>
            <a:off x="21983700" y="9601200"/>
            <a:ext cx="2400300" cy="240030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ir-health1"/>
          <p:cNvSpPr txBox="1"/>
          <p:nvPr/>
        </p:nvSpPr>
        <p:spPr>
          <a:xfrm>
            <a:off x="22183725" y="10215086"/>
            <a:ext cx="2000250" cy="6200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health</a:t>
            </a:r>
          </a:p>
        </p:txBody>
      </p:sp>
      <p:sp>
        <p:nvSpPr>
          <p:cNvPr id="79" name="cir-health2"/>
          <p:cNvSpPr txBox="1"/>
          <p:nvPr/>
        </p:nvSpPr>
        <p:spPr>
          <a:xfrm>
            <a:off x="22469475" y="10789920"/>
            <a:ext cx="1428750" cy="7086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健康</a:t>
            </a:r>
          </a:p>
        </p:txBody>
      </p:sp>
      <p:sp>
        <p:nvSpPr>
          <p:cNvPr id="80" name="cir-prev"/>
          <p:cNvSpPr/>
          <p:nvPr/>
        </p:nvSpPr>
        <p:spPr>
          <a:xfrm>
            <a:off x="21945600" y="12592050"/>
            <a:ext cx="2438400" cy="243840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ir-prev1"/>
          <p:cNvSpPr txBox="1"/>
          <p:nvPr/>
        </p:nvSpPr>
        <p:spPr>
          <a:xfrm>
            <a:off x="22088475" y="13186886"/>
            <a:ext cx="2143125" cy="6200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prevent</a:t>
            </a:r>
          </a:p>
        </p:txBody>
      </p:sp>
      <p:sp>
        <p:nvSpPr>
          <p:cNvPr id="82" name="cir-prev2"/>
          <p:cNvSpPr txBox="1"/>
          <p:nvPr/>
        </p:nvSpPr>
        <p:spPr>
          <a:xfrm>
            <a:off x="22450425" y="13762672"/>
            <a:ext cx="1428750" cy="64960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预防</a:t>
            </a:r>
          </a:p>
        </p:txBody>
      </p:sp>
      <p:cxnSp>
        <p:nvCxnSpPr>
          <p:cNvPr id="83" name="ar-down1"/>
          <p:cNvCxnSpPr/>
          <p:nvPr/>
        </p:nvCxnSpPr>
        <p:spPr>
          <a:xfrm>
            <a:off x="23202900" y="9201150"/>
            <a:ext cx="0" cy="342900"/>
          </a:xfrm>
          <a:prstGeom prst="line">
            <a:avLst/>
          </a:prstGeom>
          <a:ln w="38100">
            <a:solidFill>
              <a:srgbClr val="A335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ar-up1"/>
          <p:cNvCxnSpPr/>
          <p:nvPr/>
        </p:nvCxnSpPr>
        <p:spPr>
          <a:xfrm flipV="1">
            <a:off x="23202900" y="12058650"/>
            <a:ext cx="0" cy="514350"/>
          </a:xfrm>
          <a:prstGeom prst="line">
            <a:avLst/>
          </a:prstGeom>
          <a:ln w="38100">
            <a:solidFill>
              <a:srgbClr val="A335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cal-1"/>
          <p:cNvSpPr/>
          <p:nvPr/>
        </p:nvSpPr>
        <p:spPr>
          <a:xfrm>
            <a:off x="25412700" y="7096125"/>
            <a:ext cx="3086100" cy="1685925"/>
          </a:xfrm>
          <a:prstGeom prst="roundRect">
            <a:avLst>
              <a:gd name="adj" fmla="val 5649"/>
            </a:avLst>
          </a:prstGeom>
          <a:solidFill>
            <a:srgbClr val="FFFFFF"/>
          </a:solidFill>
          <a:ln w="28575">
            <a:solidFill>
              <a:srgbClr val="5F7F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al-1a"/>
          <p:cNvSpPr txBox="1"/>
          <p:nvPr/>
        </p:nvSpPr>
        <p:spPr>
          <a:xfrm>
            <a:off x="25679400" y="7256859"/>
            <a:ext cx="2720340" cy="5167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云原生：聚焦技术</a:t>
            </a:r>
          </a:p>
        </p:txBody>
      </p:sp>
      <p:sp>
        <p:nvSpPr>
          <p:cNvPr id="87" name="cal-1b"/>
          <p:cNvSpPr txBox="1"/>
          <p:nvPr/>
        </p:nvSpPr>
        <p:spPr>
          <a:xfrm>
            <a:off x="25679400" y="7723584"/>
            <a:ext cx="2857500" cy="5167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热门，打造高可用</a:t>
            </a:r>
          </a:p>
        </p:txBody>
      </p:sp>
      <p:sp>
        <p:nvSpPr>
          <p:cNvPr id="88" name="cal-1c"/>
          <p:cNvSpPr txBox="1"/>
          <p:nvPr/>
        </p:nvSpPr>
        <p:spPr>
          <a:xfrm>
            <a:off x="25679400" y="8161734"/>
            <a:ext cx="1524000" cy="5167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技术组件</a:t>
            </a:r>
          </a:p>
        </p:txBody>
      </p:sp>
      <p:sp>
        <p:nvSpPr>
          <p:cNvPr id="89" name="cal-2"/>
          <p:cNvSpPr/>
          <p:nvPr/>
        </p:nvSpPr>
        <p:spPr>
          <a:xfrm>
            <a:off x="25384125" y="10172700"/>
            <a:ext cx="3143250" cy="135255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28575">
            <a:solidFill>
              <a:srgbClr val="8E3F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al-2a"/>
          <p:cNvSpPr txBox="1"/>
          <p:nvPr/>
        </p:nvSpPr>
        <p:spPr>
          <a:xfrm>
            <a:off x="25612725" y="10342959"/>
            <a:ext cx="3400425" cy="5167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系统稳定性理念树立，</a:t>
            </a:r>
          </a:p>
        </p:txBody>
      </p:sp>
      <p:sp>
        <p:nvSpPr>
          <p:cNvPr id="91" name="cal-2b"/>
          <p:cNvSpPr txBox="1"/>
          <p:nvPr/>
        </p:nvSpPr>
        <p:spPr>
          <a:xfrm>
            <a:off x="25612725" y="10819209"/>
            <a:ext cx="2720340" cy="5167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服务可用水平提升</a:t>
            </a:r>
          </a:p>
        </p:txBody>
      </p:sp>
      <p:sp>
        <p:nvSpPr>
          <p:cNvPr id="92" name="cal-3"/>
          <p:cNvSpPr/>
          <p:nvPr/>
        </p:nvSpPr>
        <p:spPr>
          <a:xfrm>
            <a:off x="25384125" y="13620750"/>
            <a:ext cx="31432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8575">
            <a:solidFill>
              <a:srgbClr val="8E3F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cal-3a"/>
          <p:cNvSpPr txBox="1"/>
          <p:nvPr/>
        </p:nvSpPr>
        <p:spPr>
          <a:xfrm>
            <a:off x="25565100" y="13810059"/>
            <a:ext cx="2992374" cy="5167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“防故障”理念盛行，</a:t>
            </a:r>
          </a:p>
        </p:txBody>
      </p:sp>
      <p:sp>
        <p:nvSpPr>
          <p:cNvPr id="94" name="cal-3b"/>
          <p:cNvSpPr txBox="1"/>
          <p:nvPr/>
        </p:nvSpPr>
        <p:spPr>
          <a:xfrm>
            <a:off x="25565100" y="14229159"/>
            <a:ext cx="3060382" cy="5167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监控体系迎来新升级</a:t>
            </a:r>
          </a:p>
        </p:txBody>
      </p:sp>
      <p:cxnSp>
        <p:nvCxnSpPr>
          <p:cNvPr id="95" name="lead-1"/>
          <p:cNvCxnSpPr/>
          <p:nvPr/>
        </p:nvCxnSpPr>
        <p:spPr>
          <a:xfrm flipV="1">
            <a:off x="24422100" y="7762875"/>
            <a:ext cx="990600" cy="200025"/>
          </a:xfrm>
          <a:prstGeom prst="line">
            <a:avLst/>
          </a:prstGeom>
          <a:ln w="23812">
            <a:solidFill>
              <a:srgbClr val="5F7FA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lead-2"/>
          <p:cNvCxnSpPr/>
          <p:nvPr/>
        </p:nvCxnSpPr>
        <p:spPr>
          <a:xfrm>
            <a:off x="24384000" y="10801350"/>
            <a:ext cx="981075" cy="200025"/>
          </a:xfrm>
          <a:prstGeom prst="line">
            <a:avLst/>
          </a:prstGeom>
          <a:ln w="23812">
            <a:solidFill>
              <a:srgbClr val="8E3F3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lead-3"/>
          <p:cNvCxnSpPr/>
          <p:nvPr/>
        </p:nvCxnSpPr>
        <p:spPr>
          <a:xfrm>
            <a:off x="24384000" y="13811250"/>
            <a:ext cx="981075" cy="285750"/>
          </a:xfrm>
          <a:prstGeom prst="line">
            <a:avLst/>
          </a:prstGeom>
          <a:ln w="23812">
            <a:solidFill>
              <a:srgbClr val="8E3F3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dot-1"/>
          <p:cNvSpPr/>
          <p:nvPr/>
        </p:nvSpPr>
        <p:spPr>
          <a:xfrm>
            <a:off x="24345900" y="7886700"/>
            <a:ext cx="152400" cy="152400"/>
          </a:xfrm>
          <a:prstGeom prst="ellipse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ot-2"/>
          <p:cNvSpPr/>
          <p:nvPr/>
        </p:nvSpPr>
        <p:spPr>
          <a:xfrm>
            <a:off x="24307800" y="10725150"/>
            <a:ext cx="152400" cy="15240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ot-3"/>
          <p:cNvSpPr/>
          <p:nvPr/>
        </p:nvSpPr>
        <p:spPr>
          <a:xfrm>
            <a:off x="24307800" y="13735050"/>
            <a:ext cx="152400" cy="15240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eff-arrow"/>
          <p:cNvCxnSpPr/>
          <p:nvPr/>
        </p:nvCxnSpPr>
        <p:spPr>
          <a:xfrm flipV="1">
            <a:off x="12372975" y="9296400"/>
            <a:ext cx="0" cy="4581525"/>
          </a:xfrm>
          <a:prstGeom prst="line">
            <a:avLst/>
          </a:prstGeom>
          <a:ln w="57150">
            <a:solidFill>
              <a:srgbClr val="A335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eff1"/>
          <p:cNvSpPr txBox="1"/>
          <p:nvPr/>
        </p:nvSpPr>
        <p:spPr>
          <a:xfrm>
            <a:off x="11610975" y="10221754"/>
            <a:ext cx="666750" cy="79724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0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效</a:t>
            </a:r>
          </a:p>
        </p:txBody>
      </p:sp>
      <p:sp>
        <p:nvSpPr>
          <p:cNvPr id="103" name="eff2"/>
          <p:cNvSpPr txBox="1"/>
          <p:nvPr/>
        </p:nvSpPr>
        <p:spPr>
          <a:xfrm>
            <a:off x="11610975" y="10955179"/>
            <a:ext cx="666750" cy="79724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0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能</a:t>
            </a:r>
          </a:p>
        </p:txBody>
      </p:sp>
      <p:sp>
        <p:nvSpPr>
          <p:cNvPr id="104" name="eff3"/>
          <p:cNvSpPr txBox="1"/>
          <p:nvPr/>
        </p:nvSpPr>
        <p:spPr>
          <a:xfrm>
            <a:off x="11610975" y="11688604"/>
            <a:ext cx="666750" cy="79724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0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提</a:t>
            </a:r>
          </a:p>
        </p:txBody>
      </p:sp>
      <p:sp>
        <p:nvSpPr>
          <p:cNvPr id="105" name="eff4"/>
          <p:cNvSpPr txBox="1"/>
          <p:nvPr/>
        </p:nvSpPr>
        <p:spPr>
          <a:xfrm>
            <a:off x="11610975" y="12422029"/>
            <a:ext cx="666750" cy="79724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0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升</a:t>
            </a:r>
          </a:p>
        </p:txBody>
      </p:sp>
      <p:sp>
        <p:nvSpPr>
          <p:cNvPr id="106" name="ft-rule"/>
          <p:cNvSpPr/>
          <p:nvPr/>
        </p:nvSpPr>
        <p:spPr>
          <a:xfrm>
            <a:off x="1181100" y="16449675"/>
            <a:ext cx="28460700" cy="57150"/>
          </a:xfrm>
          <a:prstGeom prst="rect">
            <a:avLst/>
          </a:prstGeom>
          <a:solidFill>
            <a:srgbClr val="273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