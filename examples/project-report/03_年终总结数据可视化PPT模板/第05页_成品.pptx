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54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54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icon-bg"/>
          <p:cNvSpPr/>
          <p:nvPr/>
        </p:nvSpPr>
        <p:spPr>
          <a:xfrm>
            <a:off x="771525" y="390525"/>
            <a:ext cx="933450" cy="93345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1" name="hdr-icon-check"/>
          <p:cNvGrpSpPr/>
          <p:nvPr/>
        </p:nvGrpSpPr>
        <p:grpSpPr>
          <a:xfrm>
            <a:off x="1061085" y="653415"/>
            <a:ext cx="354330" cy="445770"/>
            <a:chOff x="1061085" y="653415"/>
            <a:chExt cx="354330" cy="445770"/>
          </a:xfrm>
        </p:grpSpPr>
        <p:sp>
          <p:nvSpPr>
            <p:cNvPr id="4" name="Rounded Rectangle 3"/>
            <p:cNvSpPr/>
            <p:nvPr/>
          </p:nvSpPr>
          <p:spPr>
            <a:xfrm>
              <a:off x="1061085" y="653415"/>
              <a:ext cx="354330" cy="445770"/>
            </a:xfrm>
            <a:prstGeom prst="roundRect">
              <a:avLst>
                <a:gd name="adj" fmla="val 19354"/>
              </a:avLst>
            </a:prstGeom>
            <a:noFill/>
            <a:ln w="15240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146810" y="876300"/>
              <a:ext cx="68580" cy="80010"/>
            </a:xfrm>
            <a:prstGeom prst="line">
              <a:avLst/>
            </a:prstGeom>
            <a:ln w="63150">
              <a:solidFill>
                <a:srgbClr val="1C407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V="1">
              <a:off x="1215390" y="784860"/>
              <a:ext cx="120015" cy="171450"/>
            </a:xfrm>
            <a:prstGeom prst="line">
              <a:avLst/>
            </a:prstGeom>
            <a:ln w="63150">
              <a:solidFill>
                <a:srgbClr val="1C407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hdr-title"/>
          <p:cNvSpPr txBox="1"/>
          <p:nvPr/>
        </p:nvSpPr>
        <p:spPr>
          <a:xfrm>
            <a:off x="2438400" y="361950"/>
            <a:ext cx="2095500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IT 技术团队 “研发工具生态” 流量结构分析报告</a:t>
            </a:r>
          </a:p>
        </p:txBody>
      </p:sp>
      <p:sp>
        <p:nvSpPr>
          <p:cNvPr id="8" name="hdr-rule"/>
          <p:cNvSpPr/>
          <p:nvPr/>
        </p:nvSpPr>
        <p:spPr>
          <a:xfrm>
            <a:off x="1143000" y="1695450"/>
            <a:ext cx="28489275" cy="14287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dr-badge"/>
          <p:cNvSpPr/>
          <p:nvPr/>
        </p:nvSpPr>
        <p:spPr>
          <a:xfrm>
            <a:off x="25336500" y="581025"/>
            <a:ext cx="4286250" cy="85725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dr-badge-t"/>
          <p:cNvSpPr txBox="1"/>
          <p:nvPr/>
        </p:nvSpPr>
        <p:spPr>
          <a:xfrm>
            <a:off x="25336500" y="581025"/>
            <a:ext cx="428625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11" name="eco-outer"/>
          <p:cNvSpPr/>
          <p:nvPr/>
        </p:nvSpPr>
        <p:spPr>
          <a:xfrm>
            <a:off x="676275" y="3286125"/>
            <a:ext cx="11449050" cy="11449050"/>
          </a:xfrm>
          <a:prstGeom prst="ellipse">
            <a:avLst/>
          </a:prstGeom>
          <a:solidFill>
            <a:srgbClr val="EBC4BF"/>
          </a:solidFill>
          <a:ln w="28575">
            <a:solidFill>
              <a:srgbClr val="2B5F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co-collab"/>
          <p:cNvSpPr/>
          <p:nvPr/>
        </p:nvSpPr>
        <p:spPr>
          <a:xfrm>
            <a:off x="1790700" y="4286250"/>
            <a:ext cx="8629650" cy="9144000"/>
          </a:xfrm>
          <a:prstGeom prst="ellipse">
            <a:avLst/>
          </a:prstGeom>
          <a:noFill/>
          <a:ln w="28575">
            <a:solidFill>
              <a:srgbClr val="A335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ub-2025"/>
          <p:cNvSpPr txBox="1"/>
          <p:nvPr/>
        </p:nvSpPr>
        <p:spPr>
          <a:xfrm>
            <a:off x="1066800" y="2400300"/>
            <a:ext cx="133350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2025 年技术团队研发工具生态使用结构（截止 2025 年 3 月）</a:t>
            </a:r>
          </a:p>
        </p:txBody>
      </p:sp>
      <p:sp>
        <p:nvSpPr>
          <p:cNvPr id="14" name="src-mark"/>
          <p:cNvSpPr/>
          <p:nvPr/>
        </p:nvSpPr>
        <p:spPr>
          <a:xfrm>
            <a:off x="495300" y="3486150"/>
            <a:ext cx="228600" cy="285750"/>
          </a:xfrm>
          <a:prstGeom prst="rect">
            <a:avLst/>
          </a:prstGeom>
          <a:noFill/>
          <a:ln w="28575">
            <a:solidFill>
              <a:srgbClr val="A33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rc-t1"/>
          <p:cNvSpPr txBox="1"/>
          <p:nvPr/>
        </p:nvSpPr>
        <p:spPr>
          <a:xfrm>
            <a:off x="914400" y="3333750"/>
            <a:ext cx="1809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数据来源：</a:t>
            </a:r>
          </a:p>
        </p:txBody>
      </p:sp>
      <p:sp>
        <p:nvSpPr>
          <p:cNvPr id="16" name="src-t2"/>
          <p:cNvSpPr txBox="1"/>
          <p:nvPr/>
        </p:nvSpPr>
        <p:spPr>
          <a:xfrm>
            <a:off x="914400" y="3771900"/>
            <a:ext cx="2286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XX 技术委员会</a:t>
            </a:r>
          </a:p>
        </p:txBody>
      </p:sp>
      <p:sp>
        <p:nvSpPr>
          <p:cNvPr id="17" name="code-brown"/>
          <p:cNvSpPr/>
          <p:nvPr/>
        </p:nvSpPr>
        <p:spPr>
          <a:xfrm>
            <a:off x="3524250" y="3714750"/>
            <a:ext cx="5181600" cy="4705350"/>
          </a:xfrm>
          <a:prstGeom prst="ellipse">
            <a:avLst/>
          </a:prstGeom>
          <a:solidFill>
            <a:srgbClr val="8F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de-blue"/>
          <p:cNvSpPr/>
          <p:nvPr/>
        </p:nvSpPr>
        <p:spPr>
          <a:xfrm>
            <a:off x="4286250" y="3333750"/>
            <a:ext cx="3638550" cy="3619500"/>
          </a:xfrm>
          <a:prstGeom prst="ellipse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-code"/>
          <p:cNvSpPr txBox="1"/>
          <p:nvPr/>
        </p:nvSpPr>
        <p:spPr>
          <a:xfrm>
            <a:off x="5194173" y="4591050"/>
            <a:ext cx="1822704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代码工具</a:t>
            </a:r>
          </a:p>
        </p:txBody>
      </p:sp>
      <p:sp>
        <p:nvSpPr>
          <p:cNvPr id="20" name="lbl-editor"/>
          <p:cNvSpPr txBox="1"/>
          <p:nvPr/>
        </p:nvSpPr>
        <p:spPr>
          <a:xfrm>
            <a:off x="3810000" y="6286500"/>
            <a:ext cx="165163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代码编辑器</a:t>
            </a:r>
          </a:p>
        </p:txBody>
      </p:sp>
      <p:sp>
        <p:nvSpPr>
          <p:cNvPr id="21" name="lbl-debug"/>
          <p:cNvSpPr txBox="1"/>
          <p:nvPr/>
        </p:nvSpPr>
        <p:spPr>
          <a:xfrm>
            <a:off x="6648450" y="6905625"/>
            <a:ext cx="1428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调试插件</a:t>
            </a:r>
          </a:p>
        </p:txBody>
      </p:sp>
      <p:sp>
        <p:nvSpPr>
          <p:cNvPr id="22" name="lbl-vcs"/>
          <p:cNvSpPr txBox="1"/>
          <p:nvPr/>
        </p:nvSpPr>
        <p:spPr>
          <a:xfrm>
            <a:off x="4914900" y="7505700"/>
            <a:ext cx="20574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版本管理工具</a:t>
            </a:r>
          </a:p>
        </p:txBody>
      </p:sp>
      <p:sp>
        <p:nvSpPr>
          <p:cNvPr id="23" name="lbl-pm"/>
          <p:cNvSpPr txBox="1"/>
          <p:nvPr/>
        </p:nvSpPr>
        <p:spPr>
          <a:xfrm>
            <a:off x="2447925" y="8029575"/>
            <a:ext cx="20574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项目管理平台</a:t>
            </a:r>
          </a:p>
        </p:txBody>
      </p:sp>
      <p:sp>
        <p:nvSpPr>
          <p:cNvPr id="24" name="lbl-im"/>
          <p:cNvSpPr txBox="1"/>
          <p:nvPr/>
        </p:nvSpPr>
        <p:spPr>
          <a:xfrm>
            <a:off x="8391525" y="8058150"/>
            <a:ext cx="20002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即时通讯工具</a:t>
            </a:r>
          </a:p>
        </p:txBody>
      </p:sp>
      <p:sp>
        <p:nvSpPr>
          <p:cNvPr id="25" name="lbl-doc"/>
          <p:cNvSpPr txBox="1"/>
          <p:nvPr/>
        </p:nvSpPr>
        <p:spPr>
          <a:xfrm>
            <a:off x="3781425" y="9058275"/>
            <a:ext cx="1981962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文档协作工具</a:t>
            </a:r>
          </a:p>
        </p:txBody>
      </p:sp>
      <p:sp>
        <p:nvSpPr>
          <p:cNvPr id="26" name="lbl-lowcode"/>
          <p:cNvSpPr txBox="1"/>
          <p:nvPr/>
        </p:nvSpPr>
        <p:spPr>
          <a:xfrm>
            <a:off x="1009650" y="9772650"/>
            <a:ext cx="17145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低代码平台</a:t>
            </a:r>
          </a:p>
        </p:txBody>
      </p:sp>
      <p:sp>
        <p:nvSpPr>
          <p:cNvPr id="27" name="lbl-test"/>
          <p:cNvSpPr txBox="1"/>
          <p:nvPr/>
        </p:nvSpPr>
        <p:spPr>
          <a:xfrm>
            <a:off x="2257425" y="11363325"/>
            <a:ext cx="13525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测试工具</a:t>
            </a:r>
          </a:p>
        </p:txBody>
      </p:sp>
      <p:sp>
        <p:nvSpPr>
          <p:cNvPr id="28" name="lbl-monitor"/>
          <p:cNvSpPr txBox="1"/>
          <p:nvPr/>
        </p:nvSpPr>
        <p:spPr>
          <a:xfrm>
            <a:off x="9639300" y="11410950"/>
            <a:ext cx="1321308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监控工具</a:t>
            </a:r>
          </a:p>
        </p:txBody>
      </p:sp>
      <p:sp>
        <p:nvSpPr>
          <p:cNvPr id="29" name="lbl-ops"/>
          <p:cNvSpPr txBox="1"/>
          <p:nvPr/>
        </p:nvSpPr>
        <p:spPr>
          <a:xfrm>
            <a:off x="6172200" y="12201525"/>
            <a:ext cx="224428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运维自动化工具</a:t>
            </a:r>
          </a:p>
        </p:txBody>
      </p:sp>
      <p:sp>
        <p:nvSpPr>
          <p:cNvPr id="30" name="lbl-deploy"/>
          <p:cNvSpPr txBox="1"/>
          <p:nvPr/>
        </p:nvSpPr>
        <p:spPr>
          <a:xfrm>
            <a:off x="4000500" y="13001625"/>
            <a:ext cx="13716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部署工具</a:t>
            </a:r>
          </a:p>
        </p:txBody>
      </p:sp>
      <p:sp>
        <p:nvSpPr>
          <p:cNvPr id="31" name="lbl-collab"/>
          <p:cNvSpPr txBox="1"/>
          <p:nvPr/>
        </p:nvSpPr>
        <p:spPr>
          <a:xfrm>
            <a:off x="5762625" y="9886950"/>
            <a:ext cx="16383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协作工具</a:t>
            </a:r>
          </a:p>
        </p:txBody>
      </p:sp>
      <p:sp>
        <p:nvSpPr>
          <p:cNvPr id="32" name="lbl-support"/>
          <p:cNvSpPr txBox="1"/>
          <p:nvPr/>
        </p:nvSpPr>
        <p:spPr>
          <a:xfrm>
            <a:off x="5734050" y="12877800"/>
            <a:ext cx="150495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支撑工具</a:t>
            </a:r>
          </a:p>
        </p:txBody>
      </p:sp>
      <p:sp>
        <p:nvSpPr>
          <p:cNvPr id="33" name="sec-2024"/>
          <p:cNvSpPr txBox="1"/>
          <p:nvPr/>
        </p:nvSpPr>
        <p:spPr>
          <a:xfrm>
            <a:off x="3057525" y="15411450"/>
            <a:ext cx="81915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2024 年研发工具品类使用数据表现</a:t>
            </a:r>
          </a:p>
        </p:txBody>
      </p:sp>
      <p:cxnSp>
        <p:nvCxnSpPr>
          <p:cNvPr id="34" name="arrow-2024"/>
          <p:cNvCxnSpPr/>
          <p:nvPr/>
        </p:nvCxnSpPr>
        <p:spPr>
          <a:xfrm flipH="1">
            <a:off x="3733800" y="12477750"/>
            <a:ext cx="361950" cy="2762250"/>
          </a:xfrm>
          <a:prstGeom prst="line">
            <a:avLst/>
          </a:prstGeom>
          <a:ln w="28575">
            <a:solidFill>
              <a:srgbClr val="2B5FAC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yer-core"/>
          <p:cNvSpPr/>
          <p:nvPr/>
        </p:nvSpPr>
        <p:spPr>
          <a:xfrm>
            <a:off x="13573125" y="5219700"/>
            <a:ext cx="2990850" cy="299085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bl-core"/>
          <p:cNvSpPr txBox="1"/>
          <p:nvPr/>
        </p:nvSpPr>
        <p:spPr>
          <a:xfrm>
            <a:off x="14325600" y="6467475"/>
            <a:ext cx="14859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核心层</a:t>
            </a:r>
          </a:p>
        </p:txBody>
      </p:sp>
      <p:sp>
        <p:nvSpPr>
          <p:cNvPr id="37" name="layer-mid"/>
          <p:cNvSpPr/>
          <p:nvPr/>
        </p:nvSpPr>
        <p:spPr>
          <a:xfrm>
            <a:off x="13573125" y="7772400"/>
            <a:ext cx="2990850" cy="2990850"/>
          </a:xfrm>
          <a:prstGeom prst="ellipse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bl-mid"/>
          <p:cNvSpPr txBox="1"/>
          <p:nvPr/>
        </p:nvSpPr>
        <p:spPr>
          <a:xfrm>
            <a:off x="14249400" y="9020175"/>
            <a:ext cx="16383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中间层</a:t>
            </a:r>
          </a:p>
        </p:txBody>
      </p:sp>
      <p:sp>
        <p:nvSpPr>
          <p:cNvPr id="39" name="layer-out"/>
          <p:cNvSpPr/>
          <p:nvPr/>
        </p:nvSpPr>
        <p:spPr>
          <a:xfrm>
            <a:off x="13449300" y="9896475"/>
            <a:ext cx="3238500" cy="2952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bl-out"/>
          <p:cNvSpPr txBox="1"/>
          <p:nvPr/>
        </p:nvSpPr>
        <p:spPr>
          <a:xfrm>
            <a:off x="14706600" y="12058650"/>
            <a:ext cx="1143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外层</a:t>
            </a:r>
          </a:p>
        </p:txBody>
      </p:sp>
      <p:sp>
        <p:nvSpPr>
          <p:cNvPr id="41" name="cap-top1"/>
          <p:cNvSpPr txBox="1"/>
          <p:nvPr/>
        </p:nvSpPr>
        <p:spPr>
          <a:xfrm>
            <a:off x="12592050" y="3486150"/>
            <a:ext cx="2623185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工具需求催生使用量</a:t>
            </a:r>
          </a:p>
        </p:txBody>
      </p:sp>
      <p:sp>
        <p:nvSpPr>
          <p:cNvPr id="42" name="cap-top2"/>
          <p:cNvSpPr txBox="1"/>
          <p:nvPr/>
        </p:nvSpPr>
        <p:spPr>
          <a:xfrm>
            <a:off x="12020550" y="4114800"/>
            <a:ext cx="47625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使用量提升对研发效率起到推动作用</a:t>
            </a:r>
          </a:p>
        </p:txBody>
      </p:sp>
      <p:sp>
        <p:nvSpPr>
          <p:cNvPr id="43" name="cap-bot1"/>
          <p:cNvSpPr txBox="1"/>
          <p:nvPr/>
        </p:nvSpPr>
        <p:spPr>
          <a:xfrm>
            <a:off x="13125450" y="13335000"/>
            <a:ext cx="2710624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工具需求催生使用量</a:t>
            </a:r>
          </a:p>
        </p:txBody>
      </p:sp>
      <p:sp>
        <p:nvSpPr>
          <p:cNvPr id="44" name="cap-bot2"/>
          <p:cNvSpPr txBox="1"/>
          <p:nvPr/>
        </p:nvSpPr>
        <p:spPr>
          <a:xfrm>
            <a:off x="11972925" y="13963650"/>
            <a:ext cx="46672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使用量提升对研发效率起到推动作用</a:t>
            </a:r>
          </a:p>
        </p:txBody>
      </p:sp>
      <p:cxnSp>
        <p:nvCxnSpPr>
          <p:cNvPr id="45" name="arr-toplong"/>
          <p:cNvCxnSpPr/>
          <p:nvPr/>
        </p:nvCxnSpPr>
        <p:spPr>
          <a:xfrm flipV="1">
            <a:off x="10953750" y="3743325"/>
            <a:ext cx="6915150" cy="619125"/>
          </a:xfrm>
          <a:prstGeom prst="line">
            <a:avLst/>
          </a:prstGeom>
          <a:ln w="47625">
            <a:solidFill>
              <a:srgbClr val="1C40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arr-botdiag"/>
          <p:cNvCxnSpPr/>
          <p:nvPr/>
        </p:nvCxnSpPr>
        <p:spPr>
          <a:xfrm>
            <a:off x="11239500" y="13868400"/>
            <a:ext cx="6400800" cy="238125"/>
          </a:xfrm>
          <a:prstGeom prst="line">
            <a:avLst/>
          </a:prstGeom>
          <a:ln w="28575">
            <a:solidFill>
              <a:srgbClr val="A335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n-sq-0"/>
          <p:cNvSpPr/>
          <p:nvPr/>
        </p:nvSpPr>
        <p:spPr>
          <a:xfrm>
            <a:off x="8286750" y="6067425"/>
            <a:ext cx="352425" cy="34290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arr-red-0"/>
          <p:cNvCxnSpPr/>
          <p:nvPr/>
        </p:nvCxnSpPr>
        <p:spPr>
          <a:xfrm>
            <a:off x="8639175" y="6238875"/>
            <a:ext cx="4381500" cy="0"/>
          </a:xfrm>
          <a:prstGeom prst="line">
            <a:avLst/>
          </a:prstGeom>
          <a:ln w="19050">
            <a:solidFill>
              <a:srgbClr val="D969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n-sq-1"/>
          <p:cNvSpPr/>
          <p:nvPr/>
        </p:nvSpPr>
        <p:spPr>
          <a:xfrm>
            <a:off x="8248650" y="9086850"/>
            <a:ext cx="352425" cy="342900"/>
          </a:xfrm>
          <a:prstGeom prst="rect">
            <a:avLst/>
          </a:prstGeom>
          <a:noFill/>
          <a:ln w="38100">
            <a:solidFill>
              <a:srgbClr val="A33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arr-red-1"/>
          <p:cNvCxnSpPr/>
          <p:nvPr/>
        </p:nvCxnSpPr>
        <p:spPr>
          <a:xfrm>
            <a:off x="8601075" y="9258300"/>
            <a:ext cx="4419600" cy="0"/>
          </a:xfrm>
          <a:prstGeom prst="line">
            <a:avLst/>
          </a:prstGeom>
          <a:ln w="19050">
            <a:solidFill>
              <a:srgbClr val="D969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onn-sq-2"/>
          <p:cNvSpPr/>
          <p:nvPr/>
        </p:nvSpPr>
        <p:spPr>
          <a:xfrm>
            <a:off x="8458200" y="12344400"/>
            <a:ext cx="352425" cy="342900"/>
          </a:xfrm>
          <a:prstGeom prst="rect">
            <a:avLst/>
          </a:prstGeom>
          <a:noFill/>
          <a:ln w="38100">
            <a:solidFill>
              <a:srgbClr val="A33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arr-red-2"/>
          <p:cNvCxnSpPr/>
          <p:nvPr/>
        </p:nvCxnSpPr>
        <p:spPr>
          <a:xfrm>
            <a:off x="8810625" y="12515850"/>
            <a:ext cx="4210050" cy="0"/>
          </a:xfrm>
          <a:prstGeom prst="line">
            <a:avLst/>
          </a:prstGeom>
          <a:ln w="19050">
            <a:solidFill>
              <a:srgbClr val="D969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t-a"/>
          <p:cNvSpPr/>
          <p:nvPr/>
        </p:nvSpPr>
        <p:spPr>
          <a:xfrm>
            <a:off x="8391525" y="7810500"/>
            <a:ext cx="133350" cy="13335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t-b"/>
          <p:cNvSpPr/>
          <p:nvPr/>
        </p:nvSpPr>
        <p:spPr>
          <a:xfrm>
            <a:off x="9382125" y="10829925"/>
            <a:ext cx="133350" cy="13335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rr-dash-1"/>
          <p:cNvSpPr/>
          <p:nvPr/>
        </p:nvSpPr>
        <p:spPr>
          <a:xfrm>
            <a:off x="16573500" y="7620000"/>
            <a:ext cx="666750" cy="1390650"/>
          </a:xfrm>
          <a:custGeom>
            <a:avLst/>
            <a:gdLst/>
            <a:ahLst/>
            <a:cxnLst/>
            <a:rect l="l" t="t" r="r" b="b"/>
            <a:pathLst>
              <a:path w="666750" h="1390650">
                <a:moveTo>
                  <a:pt x="0" y="0"/>
                </a:moveTo>
                <a:lnTo>
                  <a:pt x="628650" y="285750"/>
                </a:lnTo>
                <a:lnTo>
                  <a:pt x="666750" y="1238250"/>
                </a:lnTo>
                <a:lnTo>
                  <a:pt x="38100" y="1390650"/>
                </a:lnTo>
              </a:path>
            </a:pathLst>
          </a:custGeom>
          <a:noFill/>
          <a:ln w="28575">
            <a:solidFill>
              <a:srgbClr val="2B5F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rr-dash-2"/>
          <p:cNvSpPr/>
          <p:nvPr/>
        </p:nvSpPr>
        <p:spPr>
          <a:xfrm>
            <a:off x="16573500" y="10191750"/>
            <a:ext cx="666750" cy="1371600"/>
          </a:xfrm>
          <a:custGeom>
            <a:avLst/>
            <a:gdLst/>
            <a:ahLst/>
            <a:cxnLst/>
            <a:rect l="l" t="t" r="r" b="b"/>
            <a:pathLst>
              <a:path w="666750" h="1371600">
                <a:moveTo>
                  <a:pt x="0" y="0"/>
                </a:moveTo>
                <a:lnTo>
                  <a:pt x="628650" y="285750"/>
                </a:lnTo>
                <a:lnTo>
                  <a:pt x="666750" y="1238250"/>
                </a:lnTo>
                <a:lnTo>
                  <a:pt x="38100" y="1371600"/>
                </a:lnTo>
              </a:path>
            </a:pathLst>
          </a:custGeom>
          <a:noFill/>
          <a:ln w="28575">
            <a:solidFill>
              <a:srgbClr val="2B5F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nel-dash"/>
          <p:cNvSpPr/>
          <p:nvPr/>
        </p:nvSpPr>
        <p:spPr>
          <a:xfrm>
            <a:off x="17859375" y="2828925"/>
            <a:ext cx="7600950" cy="13639800"/>
          </a:xfrm>
          <a:prstGeom prst="roundRect">
            <a:avLst>
              <a:gd name="adj" fmla="val 2255"/>
            </a:avLst>
          </a:prstGeom>
          <a:noFill/>
          <a:ln w="28575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p-head"/>
          <p:cNvSpPr/>
          <p:nvPr/>
        </p:nvSpPr>
        <p:spPr>
          <a:xfrm>
            <a:off x="18211800" y="3124200"/>
            <a:ext cx="6943725" cy="2628900"/>
          </a:xfrm>
          <a:prstGeom prst="rect">
            <a:avLst/>
          </a:prstGeom>
          <a:solidFill>
            <a:srgbClr val="FC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p-head-bar"/>
          <p:cNvSpPr/>
          <p:nvPr/>
        </p:nvSpPr>
        <p:spPr>
          <a:xfrm>
            <a:off x="18573750" y="3429000"/>
            <a:ext cx="95250" cy="180975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p-2025"/>
          <p:cNvSpPr txBox="1"/>
          <p:nvPr/>
        </p:nvSpPr>
        <p:spPr>
          <a:xfrm>
            <a:off x="19183350" y="3276600"/>
            <a:ext cx="28575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45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2025年</a:t>
            </a:r>
          </a:p>
        </p:txBody>
      </p:sp>
      <p:sp>
        <p:nvSpPr>
          <p:cNvPr id="61" name="rp-sub"/>
          <p:cNvSpPr txBox="1"/>
          <p:nvPr/>
        </p:nvSpPr>
        <p:spPr>
          <a:xfrm>
            <a:off x="19183350" y="3905250"/>
            <a:ext cx="5715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研发工具品类使用数据表现</a:t>
            </a:r>
          </a:p>
        </p:txBody>
      </p:sp>
      <p:sp>
        <p:nvSpPr>
          <p:cNvPr id="62" name="rp-en1"/>
          <p:cNvSpPr txBox="1"/>
          <p:nvPr/>
        </p:nvSpPr>
        <p:spPr>
          <a:xfrm>
            <a:off x="19183350" y="4400550"/>
            <a:ext cx="5715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Performance of R &amp; D tool category</a:t>
            </a:r>
          </a:p>
        </p:txBody>
      </p:sp>
      <p:sp>
        <p:nvSpPr>
          <p:cNvPr id="63" name="rp-en2"/>
          <p:cNvSpPr txBox="1"/>
          <p:nvPr/>
        </p:nvSpPr>
        <p:spPr>
          <a:xfrm>
            <a:off x="19183350" y="4743450"/>
            <a:ext cx="3810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usage data in 2025</a:t>
            </a:r>
          </a:p>
        </p:txBody>
      </p:sp>
      <p:sp>
        <p:nvSpPr>
          <p:cNvPr id="64" name="rp-m1-bg"/>
          <p:cNvSpPr/>
          <p:nvPr/>
        </p:nvSpPr>
        <p:spPr>
          <a:xfrm>
            <a:off x="18211800" y="6381750"/>
            <a:ext cx="6943725" cy="249555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p-m1-l0"/>
          <p:cNvSpPr txBox="1"/>
          <p:nvPr/>
        </p:nvSpPr>
        <p:spPr>
          <a:xfrm>
            <a:off x="18364200" y="7058025"/>
            <a:ext cx="4191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年度整体工</a:t>
            </a:r>
          </a:p>
        </p:txBody>
      </p:sp>
      <p:sp>
        <p:nvSpPr>
          <p:cNvPr id="66" name="rp-m1-l1"/>
          <p:cNvSpPr txBox="1"/>
          <p:nvPr/>
        </p:nvSpPr>
        <p:spPr>
          <a:xfrm>
            <a:off x="18364200" y="7677150"/>
            <a:ext cx="4191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具使用频次提升</a:t>
            </a:r>
          </a:p>
        </p:txBody>
      </p:sp>
      <p:sp>
        <p:nvSpPr>
          <p:cNvPr id="67" name="rp-m1-num"/>
          <p:cNvSpPr txBox="1"/>
          <p:nvPr/>
        </p:nvSpPr>
        <p:spPr>
          <a:xfrm>
            <a:off x="21135975" y="6381750"/>
            <a:ext cx="2857500" cy="2495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16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68" name="rp-m1-pct"/>
          <p:cNvSpPr txBox="1"/>
          <p:nvPr/>
        </p:nvSpPr>
        <p:spPr>
          <a:xfrm>
            <a:off x="24012525" y="6229350"/>
            <a:ext cx="571500" cy="2495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69" name="rp-m2-bg"/>
          <p:cNvSpPr/>
          <p:nvPr/>
        </p:nvSpPr>
        <p:spPr>
          <a:xfrm>
            <a:off x="18211800" y="9048750"/>
            <a:ext cx="6943725" cy="2495550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p-m2-l0"/>
          <p:cNvSpPr txBox="1"/>
          <p:nvPr/>
        </p:nvSpPr>
        <p:spPr>
          <a:xfrm>
            <a:off x="18202275" y="9410700"/>
            <a:ext cx="4191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协作工具（项目管</a:t>
            </a:r>
          </a:p>
        </p:txBody>
      </p:sp>
      <p:sp>
        <p:nvSpPr>
          <p:cNvPr id="71" name="rp-m2-l1"/>
          <p:cNvSpPr txBox="1"/>
          <p:nvPr/>
        </p:nvSpPr>
        <p:spPr>
          <a:xfrm>
            <a:off x="18202275" y="10029825"/>
            <a:ext cx="4191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理／文档等）使用</a:t>
            </a:r>
          </a:p>
        </p:txBody>
      </p:sp>
      <p:sp>
        <p:nvSpPr>
          <p:cNvPr id="72" name="rp-m2-l2"/>
          <p:cNvSpPr txBox="1"/>
          <p:nvPr/>
        </p:nvSpPr>
        <p:spPr>
          <a:xfrm>
            <a:off x="18202275" y="10648950"/>
            <a:ext cx="4191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量提升显著</a:t>
            </a:r>
          </a:p>
        </p:txBody>
      </p:sp>
      <p:sp>
        <p:nvSpPr>
          <p:cNvPr id="73" name="rp-m2-num"/>
          <p:cNvSpPr txBox="1"/>
          <p:nvPr/>
        </p:nvSpPr>
        <p:spPr>
          <a:xfrm>
            <a:off x="21135975" y="9048750"/>
            <a:ext cx="2857500" cy="2495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16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  <p:sp>
        <p:nvSpPr>
          <p:cNvPr id="74" name="rp-m2-pct"/>
          <p:cNvSpPr txBox="1"/>
          <p:nvPr/>
        </p:nvSpPr>
        <p:spPr>
          <a:xfrm>
            <a:off x="24012525" y="8896350"/>
            <a:ext cx="571500" cy="2495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75" name="rp-m3-bg"/>
          <p:cNvSpPr/>
          <p:nvPr/>
        </p:nvSpPr>
        <p:spPr>
          <a:xfrm>
            <a:off x="18211800" y="11687175"/>
            <a:ext cx="6943725" cy="249555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p-m3-l0"/>
          <p:cNvSpPr txBox="1"/>
          <p:nvPr/>
        </p:nvSpPr>
        <p:spPr>
          <a:xfrm>
            <a:off x="18354675" y="12068175"/>
            <a:ext cx="4191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支撑工具（测试／</a:t>
            </a:r>
          </a:p>
        </p:txBody>
      </p:sp>
      <p:sp>
        <p:nvSpPr>
          <p:cNvPr id="77" name="rp-m3-l1"/>
          <p:cNvSpPr txBox="1"/>
          <p:nvPr/>
        </p:nvSpPr>
        <p:spPr>
          <a:xfrm>
            <a:off x="18354675" y="12687300"/>
            <a:ext cx="4191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部署等）增量相对</a:t>
            </a:r>
          </a:p>
        </p:txBody>
      </p:sp>
      <p:sp>
        <p:nvSpPr>
          <p:cNvPr id="78" name="rp-m3-l2"/>
          <p:cNvSpPr txBox="1"/>
          <p:nvPr/>
        </p:nvSpPr>
        <p:spPr>
          <a:xfrm>
            <a:off x="18354675" y="13306425"/>
            <a:ext cx="4191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较缓</a:t>
            </a:r>
          </a:p>
        </p:txBody>
      </p:sp>
      <p:sp>
        <p:nvSpPr>
          <p:cNvPr id="79" name="rp-m3-num"/>
          <p:cNvSpPr txBox="1"/>
          <p:nvPr/>
        </p:nvSpPr>
        <p:spPr>
          <a:xfrm>
            <a:off x="21135975" y="11687175"/>
            <a:ext cx="2857500" cy="2495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16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80" name="rp-m3-pct"/>
          <p:cNvSpPr txBox="1"/>
          <p:nvPr/>
        </p:nvSpPr>
        <p:spPr>
          <a:xfrm>
            <a:off x="24012525" y="11534775"/>
            <a:ext cx="571500" cy="2495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81" name="rp-foot"/>
          <p:cNvSpPr/>
          <p:nvPr/>
        </p:nvSpPr>
        <p:spPr>
          <a:xfrm>
            <a:off x="18211800" y="14411325"/>
            <a:ext cx="6943725" cy="1066800"/>
          </a:xfrm>
          <a:prstGeom prst="rect">
            <a:avLst/>
          </a:prstGeom>
          <a:solidFill>
            <a:srgbClr val="E8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p-foot-t"/>
          <p:cNvSpPr txBox="1"/>
          <p:nvPr/>
        </p:nvSpPr>
        <p:spPr>
          <a:xfrm>
            <a:off x="18211800" y="14411325"/>
            <a:ext cx="6943725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总体呈现显著上升趋势</a:t>
            </a:r>
          </a:p>
        </p:txBody>
      </p:sp>
      <p:sp>
        <p:nvSpPr>
          <p:cNvPr id="83" name="bubble"/>
          <p:cNvSpPr/>
          <p:nvPr/>
        </p:nvSpPr>
        <p:spPr>
          <a:xfrm>
            <a:off x="26146125" y="1724025"/>
            <a:ext cx="3143250" cy="1762125"/>
          </a:xfrm>
          <a:prstGeom prst="roundRect">
            <a:avLst>
              <a:gd name="adj" fmla="val 8648"/>
            </a:avLst>
          </a:prstGeom>
          <a:solidFill>
            <a:srgbClr val="FFFFFF"/>
          </a:solidFill>
          <a:ln w="5715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ubble-tail"/>
          <p:cNvSpPr/>
          <p:nvPr/>
        </p:nvSpPr>
        <p:spPr>
          <a:xfrm>
            <a:off x="27432000" y="3333750"/>
            <a:ext cx="714375" cy="857250"/>
          </a:xfrm>
          <a:custGeom>
            <a:avLst/>
            <a:gdLst/>
            <a:ahLst/>
            <a:cxnLst/>
            <a:rect l="l" t="t" r="r" b="b"/>
            <a:pathLst>
              <a:path w="714375" h="857250">
                <a:moveTo>
                  <a:pt x="0" y="0"/>
                </a:moveTo>
                <a:lnTo>
                  <a:pt x="714375" y="0"/>
                </a:lnTo>
                <a:lnTo>
                  <a:pt x="333375" y="857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ubble-t1"/>
          <p:cNvSpPr txBox="1"/>
          <p:nvPr/>
        </p:nvSpPr>
        <p:spPr>
          <a:xfrm>
            <a:off x="26336625" y="2152650"/>
            <a:ext cx="2857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细分高使用</a:t>
            </a:r>
          </a:p>
        </p:txBody>
      </p:sp>
      <p:sp>
        <p:nvSpPr>
          <p:cNvPr id="86" name="bubble-t2"/>
          <p:cNvSpPr txBox="1"/>
          <p:nvPr/>
        </p:nvSpPr>
        <p:spPr>
          <a:xfrm>
            <a:off x="26336625" y="2705100"/>
            <a:ext cx="2857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量领域工具</a:t>
            </a:r>
          </a:p>
        </p:txBody>
      </p:sp>
      <p:sp>
        <p:nvSpPr>
          <p:cNvPr id="87" name="listbox-1"/>
          <p:cNvSpPr/>
          <p:nvPr/>
        </p:nvSpPr>
        <p:spPr>
          <a:xfrm>
            <a:off x="26917650" y="4981575"/>
            <a:ext cx="2600325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28575">
            <a:solidFill>
              <a:srgbClr val="A33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istbox-1-t"/>
          <p:cNvSpPr txBox="1"/>
          <p:nvPr/>
        </p:nvSpPr>
        <p:spPr>
          <a:xfrm>
            <a:off x="26917650" y="4981575"/>
            <a:ext cx="2600325" cy="1171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代码编辑器</a:t>
            </a:r>
          </a:p>
        </p:txBody>
      </p:sp>
      <p:sp>
        <p:nvSpPr>
          <p:cNvPr id="89" name="listbox-2"/>
          <p:cNvSpPr/>
          <p:nvPr/>
        </p:nvSpPr>
        <p:spPr>
          <a:xfrm>
            <a:off x="26917650" y="6600825"/>
            <a:ext cx="2600325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28575">
            <a:solidFill>
              <a:srgbClr val="A33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istbox-2-t"/>
          <p:cNvSpPr txBox="1"/>
          <p:nvPr/>
        </p:nvSpPr>
        <p:spPr>
          <a:xfrm>
            <a:off x="26917650" y="6600825"/>
            <a:ext cx="2600325" cy="1171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版本管理工具</a:t>
            </a:r>
          </a:p>
        </p:txBody>
      </p:sp>
      <p:sp>
        <p:nvSpPr>
          <p:cNvPr id="91" name="listbox-3"/>
          <p:cNvSpPr/>
          <p:nvPr/>
        </p:nvSpPr>
        <p:spPr>
          <a:xfrm>
            <a:off x="26917650" y="8553450"/>
            <a:ext cx="2600325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28575">
            <a:solidFill>
              <a:srgbClr val="A33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listbox-3-t"/>
          <p:cNvSpPr txBox="1"/>
          <p:nvPr/>
        </p:nvSpPr>
        <p:spPr>
          <a:xfrm>
            <a:off x="26917650" y="8553450"/>
            <a:ext cx="2600325" cy="1171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项目管理平台</a:t>
            </a:r>
          </a:p>
        </p:txBody>
      </p:sp>
      <p:sp>
        <p:nvSpPr>
          <p:cNvPr id="93" name="listbox-4"/>
          <p:cNvSpPr/>
          <p:nvPr/>
        </p:nvSpPr>
        <p:spPr>
          <a:xfrm>
            <a:off x="26917650" y="10287000"/>
            <a:ext cx="2600325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28575">
            <a:solidFill>
              <a:srgbClr val="A33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istbox-4-t"/>
          <p:cNvSpPr txBox="1"/>
          <p:nvPr/>
        </p:nvSpPr>
        <p:spPr>
          <a:xfrm>
            <a:off x="26917650" y="10287000"/>
            <a:ext cx="2600325" cy="1171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文档协作工具</a:t>
            </a:r>
          </a:p>
        </p:txBody>
      </p:sp>
      <p:sp>
        <p:nvSpPr>
          <p:cNvPr id="95" name="listbox-5"/>
          <p:cNvSpPr/>
          <p:nvPr/>
        </p:nvSpPr>
        <p:spPr>
          <a:xfrm>
            <a:off x="26917650" y="11982450"/>
            <a:ext cx="2600325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28575">
            <a:solidFill>
              <a:srgbClr val="A33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istbox-5-t"/>
          <p:cNvSpPr txBox="1"/>
          <p:nvPr/>
        </p:nvSpPr>
        <p:spPr>
          <a:xfrm>
            <a:off x="26917650" y="11982450"/>
            <a:ext cx="2600325" cy="1171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测试工具</a:t>
            </a:r>
          </a:p>
        </p:txBody>
      </p:sp>
      <p:cxnSp>
        <p:nvCxnSpPr>
          <p:cNvPr id="97" name="bracket"/>
          <p:cNvCxnSpPr/>
          <p:nvPr/>
        </p:nvCxnSpPr>
        <p:spPr>
          <a:xfrm>
            <a:off x="25831800" y="1905000"/>
            <a:ext cx="0" cy="11144250"/>
          </a:xfrm>
          <a:prstGeom prst="line">
            <a:avLst/>
          </a:prstGeom>
          <a:ln w="28575">
            <a:solidFill>
              <a:srgbClr val="2B5FA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br-0"/>
          <p:cNvCxnSpPr/>
          <p:nvPr/>
        </p:nvCxnSpPr>
        <p:spPr>
          <a:xfrm>
            <a:off x="25831800" y="5562600"/>
            <a:ext cx="876300" cy="0"/>
          </a:xfrm>
          <a:prstGeom prst="line">
            <a:avLst/>
          </a:prstGeom>
          <a:ln w="19050">
            <a:solidFill>
              <a:srgbClr val="2B5FA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node-0"/>
          <p:cNvSpPr/>
          <p:nvPr/>
        </p:nvSpPr>
        <p:spPr>
          <a:xfrm>
            <a:off x="26689050" y="5467350"/>
            <a:ext cx="190500" cy="1905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br-1"/>
          <p:cNvCxnSpPr/>
          <p:nvPr/>
        </p:nvCxnSpPr>
        <p:spPr>
          <a:xfrm>
            <a:off x="25831800" y="7181850"/>
            <a:ext cx="876300" cy="0"/>
          </a:xfrm>
          <a:prstGeom prst="line">
            <a:avLst/>
          </a:prstGeom>
          <a:ln w="19050">
            <a:solidFill>
              <a:srgbClr val="2B5FA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node-1"/>
          <p:cNvSpPr/>
          <p:nvPr/>
        </p:nvSpPr>
        <p:spPr>
          <a:xfrm>
            <a:off x="26689050" y="7086600"/>
            <a:ext cx="190500" cy="1905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br-2"/>
          <p:cNvCxnSpPr/>
          <p:nvPr/>
        </p:nvCxnSpPr>
        <p:spPr>
          <a:xfrm>
            <a:off x="25831800" y="9134475"/>
            <a:ext cx="876300" cy="0"/>
          </a:xfrm>
          <a:prstGeom prst="line">
            <a:avLst/>
          </a:prstGeom>
          <a:ln w="19050">
            <a:solidFill>
              <a:srgbClr val="2B5FA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node-2"/>
          <p:cNvSpPr/>
          <p:nvPr/>
        </p:nvSpPr>
        <p:spPr>
          <a:xfrm>
            <a:off x="26689050" y="9039225"/>
            <a:ext cx="190500" cy="1905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br-3"/>
          <p:cNvCxnSpPr/>
          <p:nvPr/>
        </p:nvCxnSpPr>
        <p:spPr>
          <a:xfrm>
            <a:off x="25831800" y="10868025"/>
            <a:ext cx="876300" cy="0"/>
          </a:xfrm>
          <a:prstGeom prst="line">
            <a:avLst/>
          </a:prstGeom>
          <a:ln w="19050">
            <a:solidFill>
              <a:srgbClr val="2B5FA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node-3"/>
          <p:cNvSpPr/>
          <p:nvPr/>
        </p:nvSpPr>
        <p:spPr>
          <a:xfrm>
            <a:off x="26689050" y="10772775"/>
            <a:ext cx="190500" cy="1905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br-4"/>
          <p:cNvCxnSpPr/>
          <p:nvPr/>
        </p:nvCxnSpPr>
        <p:spPr>
          <a:xfrm>
            <a:off x="25831800" y="12563475"/>
            <a:ext cx="876300" cy="0"/>
          </a:xfrm>
          <a:prstGeom prst="line">
            <a:avLst/>
          </a:prstGeom>
          <a:ln w="19050">
            <a:solidFill>
              <a:srgbClr val="2B5FA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node-4"/>
          <p:cNvSpPr/>
          <p:nvPr/>
        </p:nvSpPr>
        <p:spPr>
          <a:xfrm>
            <a:off x="26689050" y="12468225"/>
            <a:ext cx="190500" cy="1905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bigarrow-red"/>
          <p:cNvSpPr/>
          <p:nvPr/>
        </p:nvSpPr>
        <p:spPr>
          <a:xfrm>
            <a:off x="26689050" y="13363575"/>
            <a:ext cx="1657350" cy="2409825"/>
          </a:xfrm>
          <a:custGeom>
            <a:avLst/>
            <a:gdLst/>
            <a:ahLst/>
            <a:cxnLst/>
            <a:rect l="l" t="t" r="r" b="b"/>
            <a:pathLst>
              <a:path w="1657350" h="2409825">
                <a:moveTo>
                  <a:pt x="838200" y="0"/>
                </a:moveTo>
                <a:lnTo>
                  <a:pt x="1657350" y="952500"/>
                </a:lnTo>
                <a:lnTo>
                  <a:pt x="1485900" y="1038225"/>
                </a:lnTo>
                <a:lnTo>
                  <a:pt x="1219200" y="1381125"/>
                </a:lnTo>
                <a:lnTo>
                  <a:pt x="1076325" y="1685925"/>
                </a:lnTo>
                <a:lnTo>
                  <a:pt x="962025" y="1876425"/>
                </a:lnTo>
                <a:lnTo>
                  <a:pt x="809625" y="2085975"/>
                </a:lnTo>
                <a:lnTo>
                  <a:pt x="571500" y="2314575"/>
                </a:lnTo>
                <a:lnTo>
                  <a:pt x="381000" y="2409825"/>
                </a:lnTo>
                <a:lnTo>
                  <a:pt x="476250" y="2066925"/>
                </a:lnTo>
                <a:lnTo>
                  <a:pt x="466725" y="1685925"/>
                </a:lnTo>
                <a:lnTo>
                  <a:pt x="419100" y="1304925"/>
                </a:lnTo>
                <a:lnTo>
                  <a:pt x="419100" y="1019175"/>
                </a:lnTo>
                <a:lnTo>
                  <a:pt x="0" y="952500"/>
                </a:lnTo>
                <a:close/>
              </a:path>
            </a:pathLst>
          </a:cu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bigarrow-blue"/>
          <p:cNvSpPr/>
          <p:nvPr/>
        </p:nvSpPr>
        <p:spPr>
          <a:xfrm>
            <a:off x="28013025" y="13925550"/>
            <a:ext cx="1143000" cy="1838325"/>
          </a:xfrm>
          <a:custGeom>
            <a:avLst/>
            <a:gdLst/>
            <a:ahLst/>
            <a:cxnLst/>
            <a:rect l="l" t="t" r="r" b="b"/>
            <a:pathLst>
              <a:path w="1143000" h="1838325">
                <a:moveTo>
                  <a:pt x="638175" y="0"/>
                </a:moveTo>
                <a:lnTo>
                  <a:pt x="1143000" y="628650"/>
                </a:lnTo>
                <a:lnTo>
                  <a:pt x="895350" y="933450"/>
                </a:lnTo>
                <a:lnTo>
                  <a:pt x="828675" y="1123950"/>
                </a:lnTo>
                <a:lnTo>
                  <a:pt x="723900" y="1314450"/>
                </a:lnTo>
                <a:lnTo>
                  <a:pt x="561975" y="1504950"/>
                </a:lnTo>
                <a:lnTo>
                  <a:pt x="200025" y="1771650"/>
                </a:lnTo>
                <a:lnTo>
                  <a:pt x="85725" y="1838325"/>
                </a:lnTo>
                <a:lnTo>
                  <a:pt x="390525" y="1123950"/>
                </a:lnTo>
                <a:lnTo>
                  <a:pt x="400050" y="914400"/>
                </a:lnTo>
                <a:lnTo>
                  <a:pt x="180975" y="647700"/>
                </a:lnTo>
                <a:lnTo>
                  <a:pt x="0" y="628650"/>
                </a:lnTo>
                <a:close/>
              </a:path>
            </a:pathLst>
          </a:cu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