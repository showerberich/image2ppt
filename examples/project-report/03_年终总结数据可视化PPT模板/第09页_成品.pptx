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7" name="header"/>
          <p:cNvGrpSpPr/>
          <p:nvPr/>
        </p:nvGrpSpPr>
        <p:grpSpPr>
          <a:xfrm>
            <a:off x="1143000" y="609600"/>
            <a:ext cx="28479750" cy="1209675"/>
            <a:chOff x="1143000" y="609600"/>
            <a:chExt cx="28479750" cy="1209675"/>
          </a:xfrm>
        </p:grpSpPr>
        <p:sp>
          <p:nvSpPr>
            <p:cNvPr id="3" name="hdr-ring"/>
            <p:cNvSpPr/>
            <p:nvPr/>
          </p:nvSpPr>
          <p:spPr>
            <a:xfrm>
              <a:off x="1257300" y="6762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check"/>
            <p:cNvSpPr/>
            <p:nvPr/>
          </p:nvSpPr>
          <p:spPr>
            <a:xfrm>
              <a:off x="1504950" y="952500"/>
              <a:ext cx="476250" cy="390525"/>
            </a:xfrm>
            <a:custGeom>
              <a:avLst/>
              <a:gdLst/>
              <a:ahLst/>
              <a:cxnLst/>
              <a:rect l="l" t="t" r="r" b="b"/>
              <a:pathLst>
                <a:path w="476250" h="390525">
                  <a:moveTo>
                    <a:pt x="0" y="190500"/>
                  </a:moveTo>
                  <a:lnTo>
                    <a:pt x="171450" y="390525"/>
                  </a:lnTo>
                  <a:lnTo>
                    <a:pt x="476250" y="0"/>
                  </a:lnTo>
                </a:path>
              </a:pathLst>
            </a:custGeom>
            <a:noFill/>
            <a:ln w="66675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title"/>
            <p:cNvSpPr txBox="1"/>
            <p:nvPr/>
          </p:nvSpPr>
          <p:spPr>
            <a:xfrm>
              <a:off x="2552700" y="704850"/>
              <a:ext cx="2190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400" b="1" i="0">
                  <a:solidFill>
                    <a:srgbClr val="082056"/>
                  </a:solidFill>
                  <a:latin typeface="Microsoft YaHei"/>
                  <a:ea typeface="Microsoft YaHei"/>
                  <a:cs typeface="Microsoft YaHei"/>
                </a:rPr>
                <a:t>IT 技术团队 “研发项目交付效能数据与核心能力分析” 报告</a:t>
              </a:r>
            </a:p>
          </p:txBody>
        </p:sp>
        <p:sp>
          <p:nvSpPr>
            <p:cNvPr id="6" name="hdr-tag"/>
            <p:cNvSpPr/>
            <p:nvPr/>
          </p:nvSpPr>
          <p:spPr>
            <a:xfrm>
              <a:off x="24879300" y="609600"/>
              <a:ext cx="4162425" cy="771525"/>
            </a:xfrm>
            <a:prstGeom prst="rect">
              <a:avLst/>
            </a:prstGeom>
            <a:solidFill>
              <a:srgbClr val="A335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tag-text"/>
            <p:cNvSpPr txBox="1"/>
            <p:nvPr/>
          </p:nvSpPr>
          <p:spPr>
            <a:xfrm>
              <a:off x="24879300" y="609600"/>
              <a:ext cx="4162425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</a:p>
          </p:txBody>
        </p:sp>
        <p:sp>
          <p:nvSpPr>
            <p:cNvPr id="8" name="hdr-rule"/>
            <p:cNvSpPr/>
            <p:nvPr/>
          </p:nvSpPr>
          <p:spPr>
            <a:xfrm>
              <a:off x="1143000" y="1695450"/>
              <a:ext cx="28479750" cy="123825"/>
            </a:xfrm>
            <a:prstGeom prst="rect">
              <a:avLst/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" name="panel"/>
          <p:cNvGrpSpPr/>
          <p:nvPr/>
        </p:nvGrpSpPr>
        <p:grpSpPr>
          <a:xfrm>
            <a:off x="1581150" y="2686050"/>
            <a:ext cx="18478500" cy="13668375"/>
            <a:chOff x="1581150" y="2686050"/>
            <a:chExt cx="18478500" cy="13668375"/>
          </a:xfrm>
        </p:grpSpPr>
        <p:sp>
          <p:nvSpPr>
            <p:cNvPr id="9" name="panel-bg"/>
            <p:cNvSpPr/>
            <p:nvPr/>
          </p:nvSpPr>
          <p:spPr>
            <a:xfrm>
              <a:off x="1581150" y="2686050"/>
              <a:ext cx="18478500" cy="13668375"/>
            </a:xfrm>
            <a:prstGeom prst="rect">
              <a:avLst/>
            </a:prstGeom>
            <a:solidFill>
              <a:srgbClr val="F6F9FE"/>
            </a:solidFill>
            <a:ln w="28575">
              <a:solidFill>
                <a:srgbClr val="3341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anel-dash"/>
            <p:cNvSpPr/>
            <p:nvPr/>
          </p:nvSpPr>
          <p:spPr>
            <a:xfrm>
              <a:off x="2009775" y="2990850"/>
              <a:ext cx="17573625" cy="13106400"/>
            </a:xfrm>
            <a:prstGeom prst="rect">
              <a:avLst/>
            </a:prstGeom>
            <a:noFill/>
            <a:ln w="76200">
              <a:solidFill>
                <a:srgbClr val="8EA2B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93" name="stat-s1"/>
            <p:cNvGrpSpPr/>
            <p:nvPr/>
          </p:nvGrpSpPr>
          <p:grpSpPr>
            <a:xfrm>
              <a:off x="2362200" y="3238500"/>
              <a:ext cx="5705475" cy="2324100"/>
              <a:chOff x="2362200" y="3238500"/>
              <a:chExt cx="5705475" cy="2324100"/>
            </a:xfrm>
          </p:grpSpPr>
          <p:sp>
            <p:nvSpPr>
              <p:cNvPr id="11" name="s1"/>
              <p:cNvSpPr/>
              <p:nvPr/>
            </p:nvSpPr>
            <p:spPr>
              <a:xfrm>
                <a:off x="2362200" y="3238500"/>
                <a:ext cx="5705475" cy="2324100"/>
              </a:xfrm>
              <a:prstGeom prst="rect">
                <a:avLst/>
              </a:prstGeom>
              <a:solidFill>
                <a:srgbClr val="A3352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s1-big"/>
              <p:cNvSpPr txBox="1"/>
              <p:nvPr/>
            </p:nvSpPr>
            <p:spPr>
              <a:xfrm>
                <a:off x="2362200" y="3543300"/>
                <a:ext cx="5705475" cy="10001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7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2024年</a:t>
                </a:r>
              </a:p>
            </p:txBody>
          </p:sp>
          <p:sp>
            <p:nvSpPr>
              <p:cNvPr id="13" name="s1-sub"/>
              <p:cNvSpPr txBox="1"/>
              <p:nvPr/>
            </p:nvSpPr>
            <p:spPr>
              <a:xfrm>
                <a:off x="2362200" y="4629150"/>
                <a:ext cx="5705475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750" b="0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研发项目交付数据</a:t>
                </a:r>
              </a:p>
            </p:txBody>
          </p:sp>
        </p:grpSp>
        <p:grpSp>
          <p:nvGrpSpPr>
            <p:cNvPr id="97" name="stat-s2"/>
            <p:cNvGrpSpPr/>
            <p:nvPr/>
          </p:nvGrpSpPr>
          <p:grpSpPr>
            <a:xfrm>
              <a:off x="8286750" y="3238500"/>
              <a:ext cx="5172075" cy="2324100"/>
              <a:chOff x="8286750" y="3238500"/>
              <a:chExt cx="5172075" cy="2324100"/>
            </a:xfrm>
          </p:grpSpPr>
          <p:sp>
            <p:nvSpPr>
              <p:cNvPr id="14" name="s2"/>
              <p:cNvSpPr/>
              <p:nvPr/>
            </p:nvSpPr>
            <p:spPr>
              <a:xfrm>
                <a:off x="8286750" y="3238500"/>
                <a:ext cx="5172075" cy="2324100"/>
              </a:xfrm>
              <a:prstGeom prst="rect">
                <a:avLst/>
              </a:prstGeom>
              <a:solidFill>
                <a:srgbClr val="1C40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2-big"/>
              <p:cNvSpPr txBox="1"/>
              <p:nvPr/>
            </p:nvSpPr>
            <p:spPr>
              <a:xfrm>
                <a:off x="8286750" y="3543300"/>
                <a:ext cx="5172075" cy="10001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7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1000人天</a:t>
                </a:r>
              </a:p>
            </p:txBody>
          </p:sp>
          <p:sp>
            <p:nvSpPr>
              <p:cNvPr id="16" name="s2-sub"/>
              <p:cNvSpPr txBox="1"/>
              <p:nvPr/>
            </p:nvSpPr>
            <p:spPr>
              <a:xfrm>
                <a:off x="8286750" y="4629150"/>
                <a:ext cx="5172075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750" b="0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项目投入总工时</a:t>
                </a:r>
              </a:p>
            </p:txBody>
          </p:sp>
        </p:grpSp>
        <p:grpSp>
          <p:nvGrpSpPr>
            <p:cNvPr id="101" name="stat-s3"/>
            <p:cNvGrpSpPr/>
            <p:nvPr/>
          </p:nvGrpSpPr>
          <p:grpSpPr>
            <a:xfrm>
              <a:off x="13687425" y="3238500"/>
              <a:ext cx="5534025" cy="2324100"/>
              <a:chOff x="13687425" y="3238500"/>
              <a:chExt cx="5534025" cy="2324100"/>
            </a:xfrm>
          </p:grpSpPr>
          <p:sp>
            <p:nvSpPr>
              <p:cNvPr id="17" name="s3"/>
              <p:cNvSpPr/>
              <p:nvPr/>
            </p:nvSpPr>
            <p:spPr>
              <a:xfrm>
                <a:off x="13687425" y="3238500"/>
                <a:ext cx="5534025" cy="2324100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3-big"/>
              <p:cNvSpPr txBox="1"/>
              <p:nvPr/>
            </p:nvSpPr>
            <p:spPr>
              <a:xfrm>
                <a:off x="13687425" y="3543300"/>
                <a:ext cx="5534025" cy="10001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7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10  行</a:t>
                </a:r>
              </a:p>
            </p:txBody>
          </p:sp>
          <p:sp>
            <p:nvSpPr>
              <p:cNvPr id="19" name="s3-sub"/>
              <p:cNvSpPr txBox="1"/>
              <p:nvPr/>
            </p:nvSpPr>
            <p:spPr>
              <a:xfrm>
                <a:off x="13687425" y="4629150"/>
                <a:ext cx="5534025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750" b="0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核心代码交付总量</a:t>
                </a:r>
              </a:p>
            </p:txBody>
          </p:sp>
        </p:grpSp>
      </p:grpSp>
      <p:grpSp>
        <p:nvGrpSpPr>
          <p:cNvPr id="108" name="competency"/>
          <p:cNvGrpSpPr/>
          <p:nvPr/>
        </p:nvGrpSpPr>
        <p:grpSpPr>
          <a:xfrm>
            <a:off x="2124075" y="6057900"/>
            <a:ext cx="10106025" cy="10991850"/>
            <a:chOff x="2124075" y="6057900"/>
            <a:chExt cx="10106025" cy="10991850"/>
          </a:xfrm>
        </p:grpSpPr>
        <p:sp>
          <p:nvSpPr>
            <p:cNvPr id="20" name="dia-hub"/>
            <p:cNvSpPr/>
            <p:nvPr/>
          </p:nvSpPr>
          <p:spPr>
            <a:xfrm>
              <a:off x="4743450" y="9363075"/>
              <a:ext cx="4914900" cy="4914900"/>
            </a:xfrm>
            <a:prstGeom prst="ellipse">
              <a:avLst/>
            </a:prstGeom>
            <a:solidFill>
              <a:srgbClr val="FDFEFF"/>
            </a:solidFill>
            <a:ln w="28575">
              <a:solidFill>
                <a:srgbClr val="B469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-hub-t1"/>
            <p:cNvSpPr txBox="1"/>
            <p:nvPr/>
          </p:nvSpPr>
          <p:spPr>
            <a:xfrm>
              <a:off x="5295900" y="10744200"/>
              <a:ext cx="38100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0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研发工程师</a:t>
              </a:r>
            </a:p>
          </p:txBody>
        </p:sp>
        <p:sp>
          <p:nvSpPr>
            <p:cNvPr id="22" name="dia-hub-t2"/>
            <p:cNvSpPr txBox="1"/>
            <p:nvPr/>
          </p:nvSpPr>
          <p:spPr>
            <a:xfrm>
              <a:off x="5010150" y="11353800"/>
              <a:ext cx="4381500" cy="781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0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核心能力要素</a:t>
              </a:r>
            </a:p>
          </p:txBody>
        </p:sp>
        <p:grpSp>
          <p:nvGrpSpPr>
            <p:cNvPr id="95" name="node-n1"/>
            <p:cNvGrpSpPr/>
            <p:nvPr/>
          </p:nvGrpSpPr>
          <p:grpSpPr>
            <a:xfrm>
              <a:off x="5438775" y="6057900"/>
              <a:ext cx="3486150" cy="3486150"/>
              <a:chOff x="5438775" y="6057900"/>
              <a:chExt cx="3486150" cy="3486150"/>
            </a:xfrm>
          </p:grpSpPr>
          <p:sp>
            <p:nvSpPr>
              <p:cNvPr id="23" name="n1-ring"/>
              <p:cNvSpPr/>
              <p:nvPr/>
            </p:nvSpPr>
            <p:spPr>
              <a:xfrm>
                <a:off x="5438775" y="6057900"/>
                <a:ext cx="3486150" cy="3486150"/>
              </a:xfrm>
              <a:prstGeom prst="ellipse">
                <a:avLst/>
              </a:prstGeom>
              <a:solidFill>
                <a:srgbClr val="FFFFFF"/>
              </a:solidFill>
              <a:ln w="180975">
                <a:solidFill>
                  <a:srgbClr val="A3352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n1-badge"/>
              <p:cNvSpPr/>
              <p:nvPr/>
            </p:nvSpPr>
            <p:spPr>
              <a:xfrm>
                <a:off x="6572250" y="6534150"/>
                <a:ext cx="1219200" cy="1219200"/>
              </a:xfrm>
              <a:prstGeom prst="ellipse">
                <a:avLst/>
              </a:prstGeom>
              <a:solidFill>
                <a:srgbClr val="A3352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n1-num"/>
              <p:cNvSpPr txBox="1"/>
              <p:nvPr/>
            </p:nvSpPr>
            <p:spPr>
              <a:xfrm>
                <a:off x="6515100" y="6819900"/>
                <a:ext cx="1333500" cy="647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0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01</a:t>
                </a:r>
              </a:p>
            </p:txBody>
          </p:sp>
          <p:sp>
            <p:nvSpPr>
              <p:cNvPr id="26" name="n1-cn"/>
              <p:cNvSpPr txBox="1"/>
              <p:nvPr/>
            </p:nvSpPr>
            <p:spPr>
              <a:xfrm>
                <a:off x="6229350" y="7820025"/>
                <a:ext cx="1905000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责任</a:t>
                </a:r>
              </a:p>
            </p:txBody>
          </p:sp>
          <p:sp>
            <p:nvSpPr>
              <p:cNvPr id="27" name="n1-en"/>
              <p:cNvSpPr txBox="1"/>
              <p:nvPr/>
            </p:nvSpPr>
            <p:spPr>
              <a:xfrm>
                <a:off x="5753100" y="8524875"/>
                <a:ext cx="285750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55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responsibility</a:t>
                </a:r>
              </a:p>
            </p:txBody>
          </p:sp>
        </p:grpSp>
        <p:grpSp>
          <p:nvGrpSpPr>
            <p:cNvPr id="99" name="node-n2"/>
            <p:cNvGrpSpPr/>
            <p:nvPr/>
          </p:nvGrpSpPr>
          <p:grpSpPr>
            <a:xfrm>
              <a:off x="2124075" y="11772900"/>
              <a:ext cx="3486150" cy="3486150"/>
              <a:chOff x="2124075" y="11772900"/>
              <a:chExt cx="3486150" cy="3486150"/>
            </a:xfrm>
          </p:grpSpPr>
          <p:sp>
            <p:nvSpPr>
              <p:cNvPr id="28" name="n2-ring"/>
              <p:cNvSpPr/>
              <p:nvPr/>
            </p:nvSpPr>
            <p:spPr>
              <a:xfrm>
                <a:off x="2124075" y="11772900"/>
                <a:ext cx="3486150" cy="3486150"/>
              </a:xfrm>
              <a:prstGeom prst="ellipse">
                <a:avLst/>
              </a:prstGeom>
              <a:solidFill>
                <a:srgbClr val="FFFFFF"/>
              </a:solidFill>
              <a:ln w="180975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2-badge"/>
              <p:cNvSpPr/>
              <p:nvPr/>
            </p:nvSpPr>
            <p:spPr>
              <a:xfrm>
                <a:off x="3257550" y="12249150"/>
                <a:ext cx="1219200" cy="1219200"/>
              </a:xfrm>
              <a:prstGeom prst="ellipse">
                <a:avLst/>
              </a:prstGeom>
              <a:solidFill>
                <a:srgbClr val="1C40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2-num"/>
              <p:cNvSpPr txBox="1"/>
              <p:nvPr/>
            </p:nvSpPr>
            <p:spPr>
              <a:xfrm>
                <a:off x="3200400" y="12534900"/>
                <a:ext cx="1333500" cy="647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0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02</a:t>
                </a:r>
              </a:p>
            </p:txBody>
          </p:sp>
          <p:sp>
            <p:nvSpPr>
              <p:cNvPr id="31" name="n2-cn"/>
              <p:cNvSpPr txBox="1"/>
              <p:nvPr/>
            </p:nvSpPr>
            <p:spPr>
              <a:xfrm>
                <a:off x="2914650" y="13535025"/>
                <a:ext cx="1905000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学习</a:t>
                </a:r>
              </a:p>
            </p:txBody>
          </p:sp>
          <p:sp>
            <p:nvSpPr>
              <p:cNvPr id="32" name="n2-en"/>
              <p:cNvSpPr txBox="1"/>
              <p:nvPr/>
            </p:nvSpPr>
            <p:spPr>
              <a:xfrm>
                <a:off x="2438400" y="14239875"/>
                <a:ext cx="285750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55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learning</a:t>
                </a:r>
              </a:p>
            </p:txBody>
          </p:sp>
        </p:grpSp>
        <p:grpSp>
          <p:nvGrpSpPr>
            <p:cNvPr id="100" name="node-n3"/>
            <p:cNvGrpSpPr/>
            <p:nvPr/>
          </p:nvGrpSpPr>
          <p:grpSpPr>
            <a:xfrm>
              <a:off x="8743950" y="11772900"/>
              <a:ext cx="3486150" cy="3486150"/>
              <a:chOff x="8743950" y="11772900"/>
              <a:chExt cx="3486150" cy="3486150"/>
            </a:xfrm>
          </p:grpSpPr>
          <p:sp>
            <p:nvSpPr>
              <p:cNvPr id="33" name="n3-ring"/>
              <p:cNvSpPr/>
              <p:nvPr/>
            </p:nvSpPr>
            <p:spPr>
              <a:xfrm>
                <a:off x="8743950" y="11772900"/>
                <a:ext cx="3486150" cy="3486150"/>
              </a:xfrm>
              <a:prstGeom prst="ellipse">
                <a:avLst/>
              </a:prstGeom>
              <a:solidFill>
                <a:srgbClr val="FFFFFF"/>
              </a:solidFill>
              <a:ln w="180975">
                <a:solidFill>
                  <a:srgbClr val="96969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n3-badge"/>
              <p:cNvSpPr/>
              <p:nvPr/>
            </p:nvSpPr>
            <p:spPr>
              <a:xfrm>
                <a:off x="9877425" y="12249150"/>
                <a:ext cx="1219200" cy="1219200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n3-num"/>
              <p:cNvSpPr txBox="1"/>
              <p:nvPr/>
            </p:nvSpPr>
            <p:spPr>
              <a:xfrm>
                <a:off x="9820275" y="12534900"/>
                <a:ext cx="1333500" cy="647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0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03</a:t>
                </a:r>
              </a:p>
            </p:txBody>
          </p:sp>
          <p:sp>
            <p:nvSpPr>
              <p:cNvPr id="36" name="n3-cn"/>
              <p:cNvSpPr txBox="1"/>
              <p:nvPr/>
            </p:nvSpPr>
            <p:spPr>
              <a:xfrm>
                <a:off x="9534525" y="13535025"/>
                <a:ext cx="1905000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激情</a:t>
                </a:r>
              </a:p>
            </p:txBody>
          </p:sp>
          <p:sp>
            <p:nvSpPr>
              <p:cNvPr id="37" name="n3-en"/>
              <p:cNvSpPr txBox="1"/>
              <p:nvPr/>
            </p:nvSpPr>
            <p:spPr>
              <a:xfrm>
                <a:off x="9058275" y="14239875"/>
                <a:ext cx="285750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550" b="0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passion</a:t>
                </a:r>
              </a:p>
            </p:txBody>
          </p:sp>
        </p:grpSp>
        <p:sp>
          <p:nvSpPr>
            <p:cNvPr id="38" name="arc-1to2"/>
            <p:cNvSpPr/>
            <p:nvPr/>
          </p:nvSpPr>
          <p:spPr>
            <a:xfrm>
              <a:off x="7505700" y="7305675"/>
              <a:ext cx="1981200" cy="2828925"/>
            </a:xfrm>
            <a:custGeom>
              <a:avLst/>
              <a:gdLst/>
              <a:ahLst/>
              <a:cxnLst/>
              <a:rect l="l" t="t" r="r" b="b"/>
              <a:pathLst>
                <a:path w="1981200" h="2828925">
                  <a:moveTo>
                    <a:pt x="1981200" y="2828925"/>
                  </a:moveTo>
                  <a:lnTo>
                    <a:pt x="1962150" y="2705100"/>
                  </a:lnTo>
                  <a:lnTo>
                    <a:pt x="1933575" y="2581275"/>
                  </a:lnTo>
                  <a:lnTo>
                    <a:pt x="1905000" y="2457450"/>
                  </a:lnTo>
                  <a:lnTo>
                    <a:pt x="1876425" y="2333625"/>
                  </a:lnTo>
                  <a:lnTo>
                    <a:pt x="1838325" y="2209800"/>
                  </a:lnTo>
                  <a:lnTo>
                    <a:pt x="1800225" y="2085975"/>
                  </a:lnTo>
                  <a:lnTo>
                    <a:pt x="1752600" y="1962150"/>
                  </a:lnTo>
                  <a:lnTo>
                    <a:pt x="1704975" y="1847850"/>
                  </a:lnTo>
                  <a:lnTo>
                    <a:pt x="1647825" y="1733550"/>
                  </a:lnTo>
                  <a:lnTo>
                    <a:pt x="1590675" y="1619250"/>
                  </a:lnTo>
                  <a:lnTo>
                    <a:pt x="1533525" y="1504950"/>
                  </a:lnTo>
                  <a:lnTo>
                    <a:pt x="1466850" y="1390650"/>
                  </a:lnTo>
                  <a:lnTo>
                    <a:pt x="1400175" y="1285875"/>
                  </a:lnTo>
                  <a:lnTo>
                    <a:pt x="1333500" y="1181100"/>
                  </a:lnTo>
                  <a:lnTo>
                    <a:pt x="1257300" y="1076325"/>
                  </a:lnTo>
                  <a:lnTo>
                    <a:pt x="1171575" y="971550"/>
                  </a:lnTo>
                  <a:lnTo>
                    <a:pt x="1095375" y="876300"/>
                  </a:lnTo>
                  <a:lnTo>
                    <a:pt x="1009650" y="781050"/>
                  </a:lnTo>
                  <a:lnTo>
                    <a:pt x="923925" y="685800"/>
                  </a:lnTo>
                  <a:lnTo>
                    <a:pt x="828675" y="600075"/>
                  </a:lnTo>
                  <a:lnTo>
                    <a:pt x="733425" y="504825"/>
                  </a:lnTo>
                  <a:lnTo>
                    <a:pt x="638175" y="428625"/>
                  </a:lnTo>
                  <a:lnTo>
                    <a:pt x="533400" y="342900"/>
                  </a:lnTo>
                  <a:lnTo>
                    <a:pt x="428625" y="266700"/>
                  </a:lnTo>
                  <a:lnTo>
                    <a:pt x="323850" y="200025"/>
                  </a:lnTo>
                  <a:lnTo>
                    <a:pt x="219075" y="123825"/>
                  </a:lnTo>
                  <a:lnTo>
                    <a:pt x="114300" y="5715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1A1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arc-1to3"/>
            <p:cNvSpPr/>
            <p:nvPr/>
          </p:nvSpPr>
          <p:spPr>
            <a:xfrm>
              <a:off x="9810750" y="7381875"/>
              <a:ext cx="1905000" cy="6543675"/>
            </a:xfrm>
            <a:custGeom>
              <a:avLst/>
              <a:gdLst/>
              <a:ahLst/>
              <a:cxnLst/>
              <a:rect l="l" t="t" r="r" b="b"/>
              <a:pathLst>
                <a:path w="1905000" h="6543675">
                  <a:moveTo>
                    <a:pt x="0" y="0"/>
                  </a:moveTo>
                  <a:lnTo>
                    <a:pt x="209550" y="161925"/>
                  </a:lnTo>
                  <a:lnTo>
                    <a:pt x="409575" y="333375"/>
                  </a:lnTo>
                  <a:lnTo>
                    <a:pt x="600075" y="514350"/>
                  </a:lnTo>
                  <a:lnTo>
                    <a:pt x="781050" y="704850"/>
                  </a:lnTo>
                  <a:lnTo>
                    <a:pt x="952500" y="904875"/>
                  </a:lnTo>
                  <a:lnTo>
                    <a:pt x="1114425" y="1123950"/>
                  </a:lnTo>
                  <a:lnTo>
                    <a:pt x="1257300" y="1343025"/>
                  </a:lnTo>
                  <a:lnTo>
                    <a:pt x="1390650" y="1571625"/>
                  </a:lnTo>
                  <a:lnTo>
                    <a:pt x="1504950" y="1809750"/>
                  </a:lnTo>
                  <a:lnTo>
                    <a:pt x="1609725" y="2057400"/>
                  </a:lnTo>
                  <a:lnTo>
                    <a:pt x="1695450" y="2305050"/>
                  </a:lnTo>
                  <a:lnTo>
                    <a:pt x="1762125" y="2562225"/>
                  </a:lnTo>
                  <a:lnTo>
                    <a:pt x="1828800" y="2819400"/>
                  </a:lnTo>
                  <a:lnTo>
                    <a:pt x="1866900" y="3086100"/>
                  </a:lnTo>
                  <a:lnTo>
                    <a:pt x="1895475" y="3343275"/>
                  </a:lnTo>
                  <a:lnTo>
                    <a:pt x="1905000" y="3609975"/>
                  </a:lnTo>
                  <a:lnTo>
                    <a:pt x="1895475" y="3876675"/>
                  </a:lnTo>
                  <a:lnTo>
                    <a:pt x="1876425" y="4143375"/>
                  </a:lnTo>
                  <a:lnTo>
                    <a:pt x="1847850" y="4400550"/>
                  </a:lnTo>
                  <a:lnTo>
                    <a:pt x="1790700" y="4667250"/>
                  </a:lnTo>
                  <a:lnTo>
                    <a:pt x="1724025" y="4924425"/>
                  </a:lnTo>
                  <a:lnTo>
                    <a:pt x="1647825" y="5172075"/>
                  </a:lnTo>
                  <a:lnTo>
                    <a:pt x="1552575" y="5419725"/>
                  </a:lnTo>
                  <a:lnTo>
                    <a:pt x="1438275" y="5657850"/>
                  </a:lnTo>
                  <a:lnTo>
                    <a:pt x="1314450" y="5895975"/>
                  </a:lnTo>
                  <a:lnTo>
                    <a:pt x="1171575" y="6115050"/>
                  </a:lnTo>
                  <a:lnTo>
                    <a:pt x="1019175" y="6334125"/>
                  </a:lnTo>
                  <a:lnTo>
                    <a:pt x="857250" y="6543675"/>
                  </a:lnTo>
                </a:path>
              </a:pathLst>
            </a:custGeom>
            <a:noFill/>
            <a:ln w="28575">
              <a:solidFill>
                <a:srgbClr val="1C407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rc-2to3"/>
            <p:cNvSpPr/>
            <p:nvPr/>
          </p:nvSpPr>
          <p:spPr>
            <a:xfrm>
              <a:off x="3933825" y="14411325"/>
              <a:ext cx="6515100" cy="2638425"/>
            </a:xfrm>
            <a:custGeom>
              <a:avLst/>
              <a:gdLst/>
              <a:ahLst/>
              <a:cxnLst/>
              <a:rect l="l" t="t" r="r" b="b"/>
              <a:pathLst>
                <a:path w="6515100" h="2638425">
                  <a:moveTo>
                    <a:pt x="0" y="0"/>
                  </a:moveTo>
                  <a:lnTo>
                    <a:pt x="76200" y="314325"/>
                  </a:lnTo>
                  <a:lnTo>
                    <a:pt x="190500" y="619125"/>
                  </a:lnTo>
                  <a:lnTo>
                    <a:pt x="333375" y="904875"/>
                  </a:lnTo>
                  <a:lnTo>
                    <a:pt x="504825" y="1181100"/>
                  </a:lnTo>
                  <a:lnTo>
                    <a:pt x="695325" y="1438275"/>
                  </a:lnTo>
                  <a:lnTo>
                    <a:pt x="914400" y="1676400"/>
                  </a:lnTo>
                  <a:lnTo>
                    <a:pt x="1162050" y="1895475"/>
                  </a:lnTo>
                  <a:lnTo>
                    <a:pt x="1419225" y="2085975"/>
                  </a:lnTo>
                  <a:lnTo>
                    <a:pt x="1695450" y="2247900"/>
                  </a:lnTo>
                  <a:lnTo>
                    <a:pt x="1990725" y="2390775"/>
                  </a:lnTo>
                  <a:lnTo>
                    <a:pt x="2295525" y="2495550"/>
                  </a:lnTo>
                  <a:lnTo>
                    <a:pt x="2609850" y="2571750"/>
                  </a:lnTo>
                  <a:lnTo>
                    <a:pt x="2933700" y="2619375"/>
                  </a:lnTo>
                  <a:lnTo>
                    <a:pt x="3257550" y="2638425"/>
                  </a:lnTo>
                  <a:lnTo>
                    <a:pt x="3581400" y="2619375"/>
                  </a:lnTo>
                  <a:lnTo>
                    <a:pt x="3905250" y="2571750"/>
                  </a:lnTo>
                  <a:lnTo>
                    <a:pt x="4219575" y="2495550"/>
                  </a:lnTo>
                  <a:lnTo>
                    <a:pt x="4524375" y="2390775"/>
                  </a:lnTo>
                  <a:lnTo>
                    <a:pt x="4819650" y="2247900"/>
                  </a:lnTo>
                  <a:lnTo>
                    <a:pt x="5095875" y="2085975"/>
                  </a:lnTo>
                  <a:lnTo>
                    <a:pt x="5353050" y="1895475"/>
                  </a:lnTo>
                  <a:lnTo>
                    <a:pt x="5600700" y="1676400"/>
                  </a:lnTo>
                  <a:lnTo>
                    <a:pt x="5819775" y="1438275"/>
                  </a:lnTo>
                  <a:lnTo>
                    <a:pt x="6010275" y="1181100"/>
                  </a:lnTo>
                  <a:lnTo>
                    <a:pt x="6181725" y="904875"/>
                  </a:lnTo>
                  <a:lnTo>
                    <a:pt x="6324600" y="619125"/>
                  </a:lnTo>
                  <a:lnTo>
                    <a:pt x="6438900" y="314325"/>
                  </a:lnTo>
                  <a:lnTo>
                    <a:pt x="6515100" y="0"/>
                  </a:lnTo>
                </a:path>
              </a:pathLst>
            </a:custGeom>
            <a:noFill/>
            <a:ln w="28575">
              <a:solidFill>
                <a:srgbClr val="1C407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ap-left"/>
            <p:cNvSpPr txBox="1"/>
            <p:nvPr/>
          </p:nvSpPr>
          <p:spPr>
            <a:xfrm rot="3420000">
              <a:off x="2766822" y="10001250"/>
              <a:ext cx="3419856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需求交付的可靠性</a:t>
              </a:r>
            </a:p>
            <a:p>
              <a:pPr algn="ctr">
                <a:lnSpc>
                  <a:spcPct val="100000"/>
                </a:lnSpc>
              </a:pPr>
              <a:r>
                <a:rPr sz="33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故障响应的及时性</a:t>
              </a:r>
            </a:p>
          </p:txBody>
        </p:sp>
        <p:sp>
          <p:nvSpPr>
            <p:cNvPr id="42" name="cap-right"/>
            <p:cNvSpPr txBox="1"/>
            <p:nvPr/>
          </p:nvSpPr>
          <p:spPr>
            <a:xfrm rot="18180000">
              <a:off x="7944231" y="9944100"/>
              <a:ext cx="3847338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技术攻坚的主动性</a:t>
              </a:r>
            </a:p>
            <a:p>
              <a:pPr algn="ctr">
                <a:lnSpc>
                  <a:spcPct val="100000"/>
                </a:lnSpc>
              </a:pPr>
              <a:r>
                <a:rPr sz="33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跨团队协作的积极性</a:t>
              </a:r>
            </a:p>
          </p:txBody>
        </p:sp>
        <p:sp>
          <p:nvSpPr>
            <p:cNvPr id="43" name="cap-b1"/>
            <p:cNvSpPr txBox="1"/>
            <p:nvPr/>
          </p:nvSpPr>
          <p:spPr>
            <a:xfrm>
              <a:off x="5619750" y="13696950"/>
              <a:ext cx="457200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技术栈迭代能力</a:t>
              </a:r>
            </a:p>
          </p:txBody>
        </p:sp>
        <p:sp>
          <p:nvSpPr>
            <p:cNvPr id="44" name="cap-b2"/>
            <p:cNvSpPr txBox="1"/>
            <p:nvPr/>
          </p:nvSpPr>
          <p:spPr>
            <a:xfrm>
              <a:off x="5876925" y="14268450"/>
              <a:ext cx="457200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新工具掌握速度</a:t>
              </a:r>
            </a:p>
          </p:txBody>
        </p:sp>
      </p:grpSp>
      <p:grpSp>
        <p:nvGrpSpPr>
          <p:cNvPr id="103" name="ranking"/>
          <p:cNvGrpSpPr/>
          <p:nvPr/>
        </p:nvGrpSpPr>
        <p:grpSpPr>
          <a:xfrm>
            <a:off x="12934950" y="6572250"/>
            <a:ext cx="6667500" cy="8210550"/>
            <a:chOff x="12934950" y="6572250"/>
            <a:chExt cx="6667500" cy="8210550"/>
          </a:xfrm>
        </p:grpSpPr>
        <p:sp>
          <p:nvSpPr>
            <p:cNvPr id="45" name="rank-title"/>
            <p:cNvSpPr txBox="1"/>
            <p:nvPr/>
          </p:nvSpPr>
          <p:spPr>
            <a:xfrm>
              <a:off x="12934950" y="6572250"/>
              <a:ext cx="66675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2024 年研发团队效能排名</a:t>
              </a:r>
            </a:p>
          </p:txBody>
        </p:sp>
        <p:grpSp>
          <p:nvGrpSpPr>
            <p:cNvPr id="102" name="rank-item1"/>
            <p:cNvGrpSpPr/>
            <p:nvPr/>
          </p:nvGrpSpPr>
          <p:grpSpPr>
            <a:xfrm>
              <a:off x="12934950" y="7924800"/>
              <a:ext cx="6496050" cy="1371600"/>
              <a:chOff x="12934950" y="7924800"/>
              <a:chExt cx="6496050" cy="1371600"/>
            </a:xfrm>
          </p:grpSpPr>
          <p:sp>
            <p:nvSpPr>
              <p:cNvPr id="46" name="rank-row1"/>
              <p:cNvSpPr/>
              <p:nvPr/>
            </p:nvSpPr>
            <p:spPr>
              <a:xfrm>
                <a:off x="12934950" y="7924800"/>
                <a:ext cx="6496050" cy="1371600"/>
              </a:xfrm>
              <a:prstGeom prst="roundRect">
                <a:avLst>
                  <a:gd name="adj" fmla="val 9722"/>
                </a:avLst>
              </a:prstGeom>
              <a:solidFill>
                <a:srgbClr val="F7FAFF"/>
              </a:solidFill>
              <a:ln w="23812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ank-txt1"/>
              <p:cNvSpPr txBox="1"/>
              <p:nvPr/>
            </p:nvSpPr>
            <p:spPr>
              <a:xfrm>
                <a:off x="13296900" y="7924800"/>
                <a:ext cx="6096000" cy="1371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NO.1 技术负责人 XX</a:t>
                </a:r>
              </a:p>
            </p:txBody>
          </p:sp>
        </p:grpSp>
        <p:grpSp>
          <p:nvGrpSpPr>
            <p:cNvPr id="94" name="rank-item2"/>
            <p:cNvGrpSpPr/>
            <p:nvPr/>
          </p:nvGrpSpPr>
          <p:grpSpPr>
            <a:xfrm>
              <a:off x="12934950" y="9753600"/>
              <a:ext cx="6496050" cy="1371600"/>
              <a:chOff x="12934950" y="9753600"/>
              <a:chExt cx="6496050" cy="1371600"/>
            </a:xfrm>
          </p:grpSpPr>
          <p:sp>
            <p:nvSpPr>
              <p:cNvPr id="48" name="rank-row2"/>
              <p:cNvSpPr/>
              <p:nvPr/>
            </p:nvSpPr>
            <p:spPr>
              <a:xfrm>
                <a:off x="12934950" y="9753600"/>
                <a:ext cx="6496050" cy="1371600"/>
              </a:xfrm>
              <a:prstGeom prst="roundRect">
                <a:avLst>
                  <a:gd name="adj" fmla="val 9722"/>
                </a:avLst>
              </a:prstGeom>
              <a:solidFill>
                <a:srgbClr val="F7FAFF"/>
              </a:solidFill>
              <a:ln w="23812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rank-txt2"/>
              <p:cNvSpPr txBox="1"/>
              <p:nvPr/>
            </p:nvSpPr>
            <p:spPr>
              <a:xfrm>
                <a:off x="13296900" y="9753600"/>
                <a:ext cx="6096000" cy="1371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NO.2 资深开发工程师 XX</a:t>
                </a:r>
              </a:p>
            </p:txBody>
          </p:sp>
        </p:grpSp>
        <p:grpSp>
          <p:nvGrpSpPr>
            <p:cNvPr id="96" name="rank-item3"/>
            <p:cNvGrpSpPr/>
            <p:nvPr/>
          </p:nvGrpSpPr>
          <p:grpSpPr>
            <a:xfrm>
              <a:off x="12934950" y="11582400"/>
              <a:ext cx="6496050" cy="1371600"/>
              <a:chOff x="12934950" y="11582400"/>
              <a:chExt cx="6496050" cy="1371600"/>
            </a:xfrm>
          </p:grpSpPr>
          <p:sp>
            <p:nvSpPr>
              <p:cNvPr id="50" name="rank-row3"/>
              <p:cNvSpPr/>
              <p:nvPr/>
            </p:nvSpPr>
            <p:spPr>
              <a:xfrm>
                <a:off x="12934950" y="11582400"/>
                <a:ext cx="6496050" cy="1371600"/>
              </a:xfrm>
              <a:prstGeom prst="roundRect">
                <a:avLst>
                  <a:gd name="adj" fmla="val 9722"/>
                </a:avLst>
              </a:prstGeom>
              <a:solidFill>
                <a:srgbClr val="F7FAFF"/>
              </a:solidFill>
              <a:ln w="23812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rank-txt3"/>
              <p:cNvSpPr txBox="1"/>
              <p:nvPr/>
            </p:nvSpPr>
            <p:spPr>
              <a:xfrm>
                <a:off x="13296900" y="11582400"/>
                <a:ext cx="6096000" cy="1371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NO.3 测试架构师 XX</a:t>
                </a:r>
              </a:p>
            </p:txBody>
          </p:sp>
        </p:grpSp>
        <p:grpSp>
          <p:nvGrpSpPr>
            <p:cNvPr id="98" name="rank-item4"/>
            <p:cNvGrpSpPr/>
            <p:nvPr/>
          </p:nvGrpSpPr>
          <p:grpSpPr>
            <a:xfrm>
              <a:off x="12934950" y="13411200"/>
              <a:ext cx="6496050" cy="1371600"/>
              <a:chOff x="12934950" y="13411200"/>
              <a:chExt cx="6496050" cy="1371600"/>
            </a:xfrm>
          </p:grpSpPr>
          <p:sp>
            <p:nvSpPr>
              <p:cNvPr id="52" name="rank-row4"/>
              <p:cNvSpPr/>
              <p:nvPr/>
            </p:nvSpPr>
            <p:spPr>
              <a:xfrm>
                <a:off x="12934950" y="13411200"/>
                <a:ext cx="6496050" cy="1371600"/>
              </a:xfrm>
              <a:prstGeom prst="roundRect">
                <a:avLst>
                  <a:gd name="adj" fmla="val 9722"/>
                </a:avLst>
              </a:prstGeom>
              <a:solidFill>
                <a:srgbClr val="F7FAFF"/>
              </a:solidFill>
              <a:ln w="23812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ank-txt4"/>
              <p:cNvSpPr txBox="1"/>
              <p:nvPr/>
            </p:nvSpPr>
            <p:spPr>
              <a:xfrm>
                <a:off x="13296900" y="13411200"/>
                <a:ext cx="6096000" cy="1371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NO.4 运维专家 XX</a:t>
                </a:r>
              </a:p>
            </p:txBody>
          </p:sp>
        </p:grpSp>
      </p:grpSp>
      <p:grpSp>
        <p:nvGrpSpPr>
          <p:cNvPr id="105" name="card-top"/>
          <p:cNvGrpSpPr/>
          <p:nvPr/>
        </p:nvGrpSpPr>
        <p:grpSpPr>
          <a:xfrm>
            <a:off x="21221700" y="2114550"/>
            <a:ext cx="7753350" cy="6467475"/>
            <a:chOff x="21221700" y="2114550"/>
            <a:chExt cx="7753350" cy="6467475"/>
          </a:xfrm>
        </p:grpSpPr>
        <p:sp>
          <p:nvSpPr>
            <p:cNvPr id="54" name="c1-card"/>
            <p:cNvSpPr/>
            <p:nvPr/>
          </p:nvSpPr>
          <p:spPr>
            <a:xfrm>
              <a:off x="21221700" y="3609975"/>
              <a:ext cx="7753350" cy="4972050"/>
            </a:xfrm>
            <a:prstGeom prst="roundRect">
              <a:avLst>
                <a:gd name="adj" fmla="val 4980"/>
              </a:avLst>
            </a:prstGeom>
            <a:solidFill>
              <a:srgbClr val="FFFFFF"/>
            </a:solidFill>
            <a:ln w="28575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1-body"/>
            <p:cNvSpPr/>
            <p:nvPr/>
          </p:nvSpPr>
          <p:spPr>
            <a:xfrm>
              <a:off x="21221700" y="3609975"/>
              <a:ext cx="7753350" cy="4210050"/>
            </a:xfrm>
            <a:custGeom>
              <a:avLst/>
              <a:gdLst/>
              <a:ahLst/>
              <a:cxnLst/>
              <a:rect l="l" t="t" r="r" b="b"/>
              <a:pathLst>
                <a:path w="7753350" h="4210050">
                  <a:moveTo>
                    <a:pt x="0" y="4210050"/>
                  </a:moveTo>
                  <a:lnTo>
                    <a:pt x="0" y="247650"/>
                  </a:lnTo>
                  <a:lnTo>
                    <a:pt x="0" y="247650"/>
                  </a:lnTo>
                  <a:lnTo>
                    <a:pt x="8572" y="311467"/>
                  </a:lnTo>
                  <a:lnTo>
                    <a:pt x="33338" y="371475"/>
                  </a:lnTo>
                  <a:lnTo>
                    <a:pt x="72390" y="422910"/>
                  </a:lnTo>
                  <a:lnTo>
                    <a:pt x="123825" y="461963"/>
                  </a:lnTo>
                  <a:lnTo>
                    <a:pt x="183832" y="486727"/>
                  </a:lnTo>
                  <a:lnTo>
                    <a:pt x="247650" y="495300"/>
                  </a:lnTo>
                  <a:lnTo>
                    <a:pt x="7505700" y="0"/>
                  </a:lnTo>
                  <a:lnTo>
                    <a:pt x="7441882" y="8573"/>
                  </a:lnTo>
                  <a:lnTo>
                    <a:pt x="7381875" y="33337"/>
                  </a:lnTo>
                  <a:lnTo>
                    <a:pt x="7330440" y="72390"/>
                  </a:lnTo>
                  <a:lnTo>
                    <a:pt x="7291388" y="123825"/>
                  </a:lnTo>
                  <a:lnTo>
                    <a:pt x="7266622" y="183833"/>
                  </a:lnTo>
                  <a:lnTo>
                    <a:pt x="7258050" y="247650"/>
                  </a:lnTo>
                  <a:lnTo>
                    <a:pt x="7753350" y="421005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1-foot"/>
            <p:cNvSpPr/>
            <p:nvPr/>
          </p:nvSpPr>
          <p:spPr>
            <a:xfrm>
              <a:off x="21221700" y="7820025"/>
              <a:ext cx="77533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c1-arcL"/>
            <p:cNvSpPr/>
            <p:nvPr/>
          </p:nvSpPr>
          <p:spPr>
            <a:xfrm>
              <a:off x="21774150" y="3933825"/>
              <a:ext cx="285750" cy="1485900"/>
            </a:xfrm>
            <a:custGeom>
              <a:avLst/>
              <a:gdLst/>
              <a:ahLst/>
              <a:cxnLst/>
              <a:rect l="l" t="t" r="r" b="b"/>
              <a:pathLst>
                <a:path w="285750" h="1485900">
                  <a:moveTo>
                    <a:pt x="285750" y="0"/>
                  </a:moveTo>
                  <a:lnTo>
                    <a:pt x="0" y="742950"/>
                  </a:lnTo>
                  <a:lnTo>
                    <a:pt x="285750" y="1485900"/>
                  </a:lnTo>
                </a:path>
              </a:pathLst>
            </a:custGeom>
            <a:noFill/>
            <a:ln w="1047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c1-arcR"/>
            <p:cNvSpPr/>
            <p:nvPr/>
          </p:nvSpPr>
          <p:spPr>
            <a:xfrm>
              <a:off x="28136850" y="3933825"/>
              <a:ext cx="285750" cy="1485900"/>
            </a:xfrm>
            <a:custGeom>
              <a:avLst/>
              <a:gdLst/>
              <a:ahLst/>
              <a:cxnLst/>
              <a:rect l="l" t="t" r="r" b="b"/>
              <a:pathLst>
                <a:path w="285750" h="1485900">
                  <a:moveTo>
                    <a:pt x="0" y="0"/>
                  </a:moveTo>
                  <a:lnTo>
                    <a:pt x="285750" y="742950"/>
                  </a:lnTo>
                  <a:lnTo>
                    <a:pt x="0" y="1485900"/>
                  </a:lnTo>
                </a:path>
              </a:pathLst>
            </a:custGeom>
            <a:noFill/>
            <a:ln w="1047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1-title"/>
            <p:cNvSpPr txBox="1"/>
            <p:nvPr/>
          </p:nvSpPr>
          <p:spPr>
            <a:xfrm>
              <a:off x="22098000" y="4362450"/>
              <a:ext cx="600075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xx业绩表现情况</a:t>
              </a:r>
            </a:p>
          </p:txBody>
        </p:sp>
        <p:sp>
          <p:nvSpPr>
            <p:cNvPr id="60" name="c1-line"/>
            <p:cNvSpPr/>
            <p:nvPr/>
          </p:nvSpPr>
          <p:spPr>
            <a:xfrm>
              <a:off x="22288500" y="4991100"/>
              <a:ext cx="561975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c1-bullet"/>
            <p:cNvSpPr/>
            <p:nvPr/>
          </p:nvSpPr>
          <p:spPr>
            <a:xfrm>
              <a:off x="22155150" y="5419725"/>
              <a:ext cx="1524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c1-body1"/>
            <p:cNvSpPr txBox="1"/>
            <p:nvPr/>
          </p:nvSpPr>
          <p:spPr>
            <a:xfrm>
              <a:off x="22479000" y="532447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 年度，带领 XX 技术团队攻坚</a:t>
              </a:r>
            </a:p>
          </p:txBody>
        </p:sp>
        <p:sp>
          <p:nvSpPr>
            <p:cNvPr id="63" name="c1-body2"/>
            <p:cNvSpPr txBox="1"/>
            <p:nvPr/>
          </p:nvSpPr>
          <p:spPr>
            <a:xfrm>
              <a:off x="22479000" y="587692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核心系统，围绕云原生、自动化测</a:t>
              </a:r>
            </a:p>
          </p:txBody>
        </p:sp>
        <p:sp>
          <p:nvSpPr>
            <p:cNvPr id="64" name="c1-body3"/>
            <p:cNvSpPr txBox="1"/>
            <p:nvPr/>
          </p:nvSpPr>
          <p:spPr>
            <a:xfrm>
              <a:off x="22479000" y="642937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试、高可用架构赛道持续发力，实现</a:t>
              </a:r>
            </a:p>
          </p:txBody>
        </p:sp>
        <p:sp>
          <p:nvSpPr>
            <p:cNvPr id="65" name="c1-body4"/>
            <p:cNvSpPr txBox="1"/>
            <p:nvPr/>
          </p:nvSpPr>
          <p:spPr>
            <a:xfrm>
              <a:off x="22479000" y="698182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交付效率、系统稳定性双提升</a:t>
              </a:r>
            </a:p>
          </p:txBody>
        </p:sp>
        <p:sp>
          <p:nvSpPr>
            <p:cNvPr id="66" name="c1-pill1"/>
            <p:cNvSpPr/>
            <p:nvPr/>
          </p:nvSpPr>
          <p:spPr>
            <a:xfrm>
              <a:off x="22898100" y="802957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C6D9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1-pilltx1"/>
            <p:cNvSpPr txBox="1"/>
            <p:nvPr/>
          </p:nvSpPr>
          <p:spPr>
            <a:xfrm>
              <a:off x="22898100" y="802957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关键词1</a:t>
              </a:r>
            </a:p>
          </p:txBody>
        </p:sp>
        <p:sp>
          <p:nvSpPr>
            <p:cNvPr id="68" name="c1-pill2"/>
            <p:cNvSpPr/>
            <p:nvPr/>
          </p:nvSpPr>
          <p:spPr>
            <a:xfrm>
              <a:off x="24564975" y="802957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C6D9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1-pilltx2"/>
            <p:cNvSpPr txBox="1"/>
            <p:nvPr/>
          </p:nvSpPr>
          <p:spPr>
            <a:xfrm>
              <a:off x="24564975" y="802957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关键词2</a:t>
              </a:r>
            </a:p>
          </p:txBody>
        </p:sp>
        <p:sp>
          <p:nvSpPr>
            <p:cNvPr id="70" name="c1-pill3"/>
            <p:cNvSpPr/>
            <p:nvPr/>
          </p:nvSpPr>
          <p:spPr>
            <a:xfrm>
              <a:off x="26231850" y="802957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C6D9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c1-pilltx3"/>
            <p:cNvSpPr txBox="1"/>
            <p:nvPr/>
          </p:nvSpPr>
          <p:spPr>
            <a:xfrm>
              <a:off x="26231850" y="802957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关键词3</a:t>
              </a:r>
            </a:p>
          </p:txBody>
        </p:sp>
        <p:pic>
          <p:nvPicPr>
            <p:cNvPr id="72" name="c1-avatar" descr="_photo_c1_avata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69675" y="2114550"/>
              <a:ext cx="2152650" cy="2152650"/>
            </a:xfrm>
            <a:prstGeom prst="rect">
              <a:avLst/>
            </a:prstGeom>
            <a:effectLst/>
          </p:spPr>
        </p:pic>
      </p:grpSp>
      <p:grpSp>
        <p:nvGrpSpPr>
          <p:cNvPr id="106" name="card-bottom"/>
          <p:cNvGrpSpPr/>
          <p:nvPr/>
        </p:nvGrpSpPr>
        <p:grpSpPr>
          <a:xfrm>
            <a:off x="21221700" y="9182100"/>
            <a:ext cx="7753350" cy="6505575"/>
            <a:chOff x="21221700" y="9182100"/>
            <a:chExt cx="7753350" cy="6505575"/>
          </a:xfrm>
        </p:grpSpPr>
        <p:sp>
          <p:nvSpPr>
            <p:cNvPr id="73" name="c2-card"/>
            <p:cNvSpPr/>
            <p:nvPr/>
          </p:nvSpPr>
          <p:spPr>
            <a:xfrm>
              <a:off x="21221700" y="10677525"/>
              <a:ext cx="7753350" cy="5010150"/>
            </a:xfrm>
            <a:prstGeom prst="roundRect">
              <a:avLst>
                <a:gd name="adj" fmla="val 4942"/>
              </a:avLst>
            </a:prstGeom>
            <a:solidFill>
              <a:srgbClr val="FFFFFF"/>
            </a:solidFill>
            <a:ln w="28575">
              <a:solidFill>
                <a:srgbClr val="A335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2-body"/>
            <p:cNvSpPr/>
            <p:nvPr/>
          </p:nvSpPr>
          <p:spPr>
            <a:xfrm>
              <a:off x="21221700" y="10677525"/>
              <a:ext cx="7753350" cy="4210050"/>
            </a:xfrm>
            <a:custGeom>
              <a:avLst/>
              <a:gdLst/>
              <a:ahLst/>
              <a:cxnLst/>
              <a:rect l="l" t="t" r="r" b="b"/>
              <a:pathLst>
                <a:path w="7753350" h="4210050">
                  <a:moveTo>
                    <a:pt x="0" y="4210050"/>
                  </a:moveTo>
                  <a:lnTo>
                    <a:pt x="0" y="247650"/>
                  </a:lnTo>
                  <a:lnTo>
                    <a:pt x="0" y="247650"/>
                  </a:lnTo>
                  <a:lnTo>
                    <a:pt x="8572" y="311467"/>
                  </a:lnTo>
                  <a:lnTo>
                    <a:pt x="33338" y="371475"/>
                  </a:lnTo>
                  <a:lnTo>
                    <a:pt x="72390" y="422910"/>
                  </a:lnTo>
                  <a:lnTo>
                    <a:pt x="123825" y="461963"/>
                  </a:lnTo>
                  <a:lnTo>
                    <a:pt x="183832" y="486727"/>
                  </a:lnTo>
                  <a:lnTo>
                    <a:pt x="247650" y="495300"/>
                  </a:lnTo>
                  <a:lnTo>
                    <a:pt x="7505700" y="0"/>
                  </a:lnTo>
                  <a:lnTo>
                    <a:pt x="7441882" y="8573"/>
                  </a:lnTo>
                  <a:lnTo>
                    <a:pt x="7381875" y="33337"/>
                  </a:lnTo>
                  <a:lnTo>
                    <a:pt x="7330440" y="72390"/>
                  </a:lnTo>
                  <a:lnTo>
                    <a:pt x="7291388" y="123825"/>
                  </a:lnTo>
                  <a:lnTo>
                    <a:pt x="7266622" y="183833"/>
                  </a:lnTo>
                  <a:lnTo>
                    <a:pt x="7258050" y="247650"/>
                  </a:lnTo>
                  <a:lnTo>
                    <a:pt x="7753350" y="4210050"/>
                  </a:lnTo>
                  <a:close/>
                </a:path>
              </a:pathLst>
            </a:custGeom>
            <a:solidFill>
              <a:srgbClr val="A335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c2-foot"/>
            <p:cNvSpPr/>
            <p:nvPr/>
          </p:nvSpPr>
          <p:spPr>
            <a:xfrm>
              <a:off x="21221700" y="14887575"/>
              <a:ext cx="77533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2-arcL"/>
            <p:cNvSpPr/>
            <p:nvPr/>
          </p:nvSpPr>
          <p:spPr>
            <a:xfrm>
              <a:off x="21774150" y="11001375"/>
              <a:ext cx="285750" cy="1485900"/>
            </a:xfrm>
            <a:custGeom>
              <a:avLst/>
              <a:gdLst/>
              <a:ahLst/>
              <a:cxnLst/>
              <a:rect l="l" t="t" r="r" b="b"/>
              <a:pathLst>
                <a:path w="285750" h="1485900">
                  <a:moveTo>
                    <a:pt x="285750" y="0"/>
                  </a:moveTo>
                  <a:lnTo>
                    <a:pt x="0" y="742950"/>
                  </a:lnTo>
                  <a:lnTo>
                    <a:pt x="285750" y="1485900"/>
                  </a:lnTo>
                </a:path>
              </a:pathLst>
            </a:custGeom>
            <a:noFill/>
            <a:ln w="1047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2-arcR"/>
            <p:cNvSpPr/>
            <p:nvPr/>
          </p:nvSpPr>
          <p:spPr>
            <a:xfrm>
              <a:off x="28136850" y="11001375"/>
              <a:ext cx="285750" cy="1485900"/>
            </a:xfrm>
            <a:custGeom>
              <a:avLst/>
              <a:gdLst/>
              <a:ahLst/>
              <a:cxnLst/>
              <a:rect l="l" t="t" r="r" b="b"/>
              <a:pathLst>
                <a:path w="285750" h="1485900">
                  <a:moveTo>
                    <a:pt x="0" y="0"/>
                  </a:moveTo>
                  <a:lnTo>
                    <a:pt x="285750" y="742950"/>
                  </a:lnTo>
                  <a:lnTo>
                    <a:pt x="0" y="1485900"/>
                  </a:lnTo>
                </a:path>
              </a:pathLst>
            </a:custGeom>
            <a:noFill/>
            <a:ln w="1047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c2-title"/>
            <p:cNvSpPr txBox="1"/>
            <p:nvPr/>
          </p:nvSpPr>
          <p:spPr>
            <a:xfrm>
              <a:off x="22098000" y="11430000"/>
              <a:ext cx="600075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xx业绩表现情况</a:t>
              </a:r>
            </a:p>
          </p:txBody>
        </p:sp>
        <p:sp>
          <p:nvSpPr>
            <p:cNvPr id="79" name="c2-line"/>
            <p:cNvSpPr/>
            <p:nvPr/>
          </p:nvSpPr>
          <p:spPr>
            <a:xfrm>
              <a:off x="22288500" y="12058650"/>
              <a:ext cx="561975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c2-bullet"/>
            <p:cNvSpPr/>
            <p:nvPr/>
          </p:nvSpPr>
          <p:spPr>
            <a:xfrm>
              <a:off x="22155150" y="12487275"/>
              <a:ext cx="1524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c2-body1"/>
            <p:cNvSpPr txBox="1"/>
            <p:nvPr/>
          </p:nvSpPr>
          <p:spPr>
            <a:xfrm>
              <a:off x="22479000" y="1239202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 年度，带领 XX 技术团队支撑</a:t>
              </a:r>
            </a:p>
          </p:txBody>
        </p:sp>
        <p:sp>
          <p:nvSpPr>
            <p:cNvPr id="82" name="c2-body2"/>
            <p:cNvSpPr txBox="1"/>
            <p:nvPr/>
          </p:nvSpPr>
          <p:spPr>
            <a:xfrm>
              <a:off x="22479000" y="1294447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业务需求，围绕低代码、性能优化、</a:t>
              </a:r>
            </a:p>
          </p:txBody>
        </p:sp>
        <p:sp>
          <p:nvSpPr>
            <p:cNvPr id="83" name="c2-body3"/>
            <p:cNvSpPr txBox="1"/>
            <p:nvPr/>
          </p:nvSpPr>
          <p:spPr>
            <a:xfrm>
              <a:off x="22479000" y="1349692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需求拆解赛道持续发力，实现需求交</a:t>
              </a:r>
            </a:p>
          </p:txBody>
        </p:sp>
        <p:sp>
          <p:nvSpPr>
            <p:cNvPr id="84" name="c2-body4"/>
            <p:cNvSpPr txBox="1"/>
            <p:nvPr/>
          </p:nvSpPr>
          <p:spPr>
            <a:xfrm>
              <a:off x="22479000" y="14049375"/>
              <a:ext cx="61912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付周期、代码复用率双提升</a:t>
              </a:r>
            </a:p>
          </p:txBody>
        </p:sp>
        <p:sp>
          <p:nvSpPr>
            <p:cNvPr id="85" name="c2-pill1"/>
            <p:cNvSpPr/>
            <p:nvPr/>
          </p:nvSpPr>
          <p:spPr>
            <a:xfrm>
              <a:off x="22898100" y="1509712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D7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c2-pilltx1"/>
            <p:cNvSpPr txBox="1"/>
            <p:nvPr/>
          </p:nvSpPr>
          <p:spPr>
            <a:xfrm>
              <a:off x="22898100" y="1509712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A33524"/>
                  </a:solidFill>
                  <a:latin typeface="Microsoft YaHei"/>
                  <a:ea typeface="Microsoft YaHei"/>
                  <a:cs typeface="Microsoft YaHei"/>
                </a:rPr>
                <a:t>关键词1</a:t>
              </a:r>
            </a:p>
          </p:txBody>
        </p:sp>
        <p:sp>
          <p:nvSpPr>
            <p:cNvPr id="87" name="c2-pill2"/>
            <p:cNvSpPr/>
            <p:nvPr/>
          </p:nvSpPr>
          <p:spPr>
            <a:xfrm>
              <a:off x="24564975" y="1509712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D7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c2-pilltx2"/>
            <p:cNvSpPr txBox="1"/>
            <p:nvPr/>
          </p:nvSpPr>
          <p:spPr>
            <a:xfrm>
              <a:off x="24564975" y="1509712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A33524"/>
                  </a:solidFill>
                  <a:latin typeface="Microsoft YaHei"/>
                  <a:ea typeface="Microsoft YaHei"/>
                  <a:cs typeface="Microsoft YaHei"/>
                </a:rPr>
                <a:t>关键词2</a:t>
              </a:r>
            </a:p>
          </p:txBody>
        </p:sp>
        <p:sp>
          <p:nvSpPr>
            <p:cNvPr id="89" name="c2-pill3"/>
            <p:cNvSpPr/>
            <p:nvPr/>
          </p:nvSpPr>
          <p:spPr>
            <a:xfrm>
              <a:off x="26231850" y="15097125"/>
              <a:ext cx="1362075" cy="438150"/>
            </a:xfrm>
            <a:prstGeom prst="roundRect">
              <a:avLst>
                <a:gd name="adj" fmla="val 17391"/>
              </a:avLst>
            </a:prstGeom>
            <a:solidFill>
              <a:srgbClr val="D7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c2-pilltx3"/>
            <p:cNvSpPr txBox="1"/>
            <p:nvPr/>
          </p:nvSpPr>
          <p:spPr>
            <a:xfrm>
              <a:off x="26231850" y="15097125"/>
              <a:ext cx="1362075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1" i="0">
                  <a:solidFill>
                    <a:srgbClr val="A33524"/>
                  </a:solidFill>
                  <a:latin typeface="Microsoft YaHei"/>
                  <a:ea typeface="Microsoft YaHei"/>
                  <a:cs typeface="Microsoft YaHei"/>
                </a:rPr>
                <a:t>关键词3</a:t>
              </a:r>
            </a:p>
          </p:txBody>
        </p:sp>
        <p:pic>
          <p:nvPicPr>
            <p:cNvPr id="91" name="c2-avatar" descr="_photo_c2_avata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69675" y="9182100"/>
              <a:ext cx="2152650" cy="215265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