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89525" cy="1715452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89525" cy="17154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icon-ring"/>
          <p:cNvSpPr/>
          <p:nvPr/>
        </p:nvSpPr>
        <p:spPr>
          <a:xfrm>
            <a:off x="1181100" y="542925"/>
            <a:ext cx="1085850" cy="1085850"/>
          </a:xfrm>
          <a:prstGeom prst="ellipse">
            <a:avLst/>
          </a:prstGeom>
          <a:solidFill>
            <a:srgbClr val="FFFFFF"/>
          </a:solidFill>
          <a:ln w="57150">
            <a:solidFill>
              <a:srgbClr val="1C40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hdr-icon-check1"/>
          <p:cNvCxnSpPr/>
          <p:nvPr/>
        </p:nvCxnSpPr>
        <p:spPr>
          <a:xfrm>
            <a:off x="1485900" y="1104900"/>
            <a:ext cx="190500" cy="209550"/>
          </a:xfrm>
          <a:prstGeom prst="line">
            <a:avLst/>
          </a:prstGeom>
          <a:ln w="85725">
            <a:solidFill>
              <a:srgbClr val="1C40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hdr-icon-check2"/>
          <p:cNvCxnSpPr/>
          <p:nvPr/>
        </p:nvCxnSpPr>
        <p:spPr>
          <a:xfrm flipV="1">
            <a:off x="1676400" y="895350"/>
            <a:ext cx="323850" cy="419100"/>
          </a:xfrm>
          <a:prstGeom prst="line">
            <a:avLst/>
          </a:prstGeom>
          <a:ln w="85725">
            <a:solidFill>
              <a:srgbClr val="1C40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hdr-title"/>
          <p:cNvSpPr txBox="1"/>
          <p:nvPr/>
        </p:nvSpPr>
        <p:spPr>
          <a:xfrm>
            <a:off x="2190750" y="432911"/>
            <a:ext cx="16192500" cy="121062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150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IT 技术团队 “架构品牌化” 建设分析报告</a:t>
            </a:r>
          </a:p>
        </p:txBody>
      </p:sp>
      <p:sp>
        <p:nvSpPr>
          <p:cNvPr id="7" name="hdr-tag"/>
          <p:cNvSpPr/>
          <p:nvPr/>
        </p:nvSpPr>
        <p:spPr>
          <a:xfrm>
            <a:off x="25317450" y="590550"/>
            <a:ext cx="4286250" cy="857250"/>
          </a:xfrm>
          <a:prstGeom prst="roundRect">
            <a:avLst>
              <a:gd name="adj" fmla="val 8888"/>
            </a:avLst>
          </a:pr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tag-text"/>
          <p:cNvSpPr txBox="1"/>
          <p:nvPr/>
        </p:nvSpPr>
        <p:spPr>
          <a:xfrm>
            <a:off x="25317450" y="517208"/>
            <a:ext cx="4286250" cy="100393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数据可视化</a:t>
            </a:r>
          </a:p>
        </p:txBody>
      </p:sp>
      <p:sp>
        <p:nvSpPr>
          <p:cNvPr id="9" name="hdr-rule"/>
          <p:cNvSpPr/>
          <p:nvPr/>
        </p:nvSpPr>
        <p:spPr>
          <a:xfrm>
            <a:off x="1162050" y="1428750"/>
            <a:ext cx="28441650" cy="85725"/>
          </a:xfrm>
          <a:prstGeom prst="rect">
            <a:avLst/>
          </a:prstGeom>
          <a:solidFill>
            <a:srgbClr val="1C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pi1-frame"/>
          <p:cNvSpPr/>
          <p:nvPr/>
        </p:nvSpPr>
        <p:spPr>
          <a:xfrm>
            <a:off x="1209675" y="1714500"/>
            <a:ext cx="13449300" cy="3562350"/>
          </a:xfrm>
          <a:prstGeom prst="roundRect">
            <a:avLst>
              <a:gd name="adj" fmla="val 4812"/>
            </a:avLst>
          </a:prstGeom>
          <a:solidFill>
            <a:srgbClr val="FFFFFF"/>
          </a:solidFill>
          <a:ln w="28575">
            <a:solidFill>
              <a:srgbClr val="1C40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pi1-panel"/>
          <p:cNvSpPr/>
          <p:nvPr/>
        </p:nvSpPr>
        <p:spPr>
          <a:xfrm>
            <a:off x="1428750" y="2419350"/>
            <a:ext cx="13011150" cy="2819400"/>
          </a:xfrm>
          <a:prstGeom prst="roundRect">
            <a:avLst>
              <a:gd name="adj" fmla="val 4054"/>
            </a:avLst>
          </a:prstGeom>
          <a:solidFill>
            <a:srgbClr val="F6F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pi1-panel-white"/>
          <p:cNvSpPr/>
          <p:nvPr/>
        </p:nvSpPr>
        <p:spPr>
          <a:xfrm>
            <a:off x="1733550" y="2628900"/>
            <a:ext cx="12496800" cy="2305050"/>
          </a:xfrm>
          <a:prstGeom prst="roundRect">
            <a:avLst>
              <a:gd name="adj" fmla="val 330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1-bar"/>
          <p:cNvSpPr/>
          <p:nvPr/>
        </p:nvSpPr>
        <p:spPr>
          <a:xfrm>
            <a:off x="1562100" y="2352675"/>
            <a:ext cx="123825" cy="2314575"/>
          </a:xfrm>
          <a:prstGeom prst="rect">
            <a:avLst/>
          </a:prstGeom>
          <a:solidFill>
            <a:srgbClr val="1C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1-year"/>
          <p:cNvSpPr txBox="1"/>
          <p:nvPr/>
        </p:nvSpPr>
        <p:spPr>
          <a:xfrm>
            <a:off x="2343150" y="2991088"/>
            <a:ext cx="2286000" cy="7234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675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2025年</a:t>
            </a:r>
          </a:p>
        </p:txBody>
      </p:sp>
      <p:sp>
        <p:nvSpPr>
          <p:cNvPr id="15" name="kpi1-sub1"/>
          <p:cNvSpPr txBox="1"/>
          <p:nvPr/>
        </p:nvSpPr>
        <p:spPr>
          <a:xfrm>
            <a:off x="2333625" y="3779639"/>
            <a:ext cx="4762500" cy="47982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37" b="0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技术团队架构组件品牌化与生态</a:t>
            </a:r>
          </a:p>
        </p:txBody>
      </p:sp>
      <p:sp>
        <p:nvSpPr>
          <p:cNvPr id="16" name="kpi1-sub2"/>
          <p:cNvSpPr txBox="1"/>
          <p:nvPr/>
        </p:nvSpPr>
        <p:spPr>
          <a:xfrm>
            <a:off x="2333625" y="4236839"/>
            <a:ext cx="1905000" cy="47982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37" b="0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扩展</a:t>
            </a:r>
          </a:p>
        </p:txBody>
      </p:sp>
      <p:sp>
        <p:nvSpPr>
          <p:cNvPr id="17" name="kpi1-cn1"/>
          <p:cNvSpPr txBox="1"/>
          <p:nvPr/>
        </p:nvSpPr>
        <p:spPr>
          <a:xfrm>
            <a:off x="7534275" y="2990612"/>
            <a:ext cx="4572000" cy="45767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325" b="0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2024 年 Q4 核心架构组</a:t>
            </a:r>
          </a:p>
        </p:txBody>
      </p:sp>
      <p:sp>
        <p:nvSpPr>
          <p:cNvPr id="18" name="kpi1-cn2"/>
          <p:cNvSpPr txBox="1"/>
          <p:nvPr/>
        </p:nvSpPr>
        <p:spPr>
          <a:xfrm>
            <a:off x="7534275" y="3381137"/>
            <a:ext cx="3143250" cy="45767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325" b="0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件复用率同比增长</a:t>
            </a:r>
          </a:p>
        </p:txBody>
      </p:sp>
      <p:sp>
        <p:nvSpPr>
          <p:cNvPr id="19" name="kpi1-en1"/>
          <p:cNvSpPr txBox="1"/>
          <p:nvPr/>
        </p:nvSpPr>
        <p:spPr>
          <a:xfrm>
            <a:off x="7534275" y="3756660"/>
            <a:ext cx="3810000" cy="35433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The reuse rate of Q4 core</a:t>
            </a:r>
          </a:p>
        </p:txBody>
      </p:sp>
      <p:sp>
        <p:nvSpPr>
          <p:cNvPr id="20" name="kpi1-en2"/>
          <p:cNvSpPr txBox="1"/>
          <p:nvPr/>
        </p:nvSpPr>
        <p:spPr>
          <a:xfrm>
            <a:off x="7534275" y="4051935"/>
            <a:ext cx="4191000" cy="35433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architecture components will</a:t>
            </a:r>
          </a:p>
        </p:txBody>
      </p:sp>
      <p:sp>
        <p:nvSpPr>
          <p:cNvPr id="21" name="kpi1-en3"/>
          <p:cNvSpPr txBox="1"/>
          <p:nvPr/>
        </p:nvSpPr>
        <p:spPr>
          <a:xfrm>
            <a:off x="7534275" y="4347210"/>
            <a:ext cx="4191000" cy="35433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increase year-on-year in 2024</a:t>
            </a:r>
          </a:p>
        </p:txBody>
      </p:sp>
      <p:sp>
        <p:nvSpPr>
          <p:cNvPr id="22" name="kpi1-num"/>
          <p:cNvSpPr txBox="1"/>
          <p:nvPr/>
        </p:nvSpPr>
        <p:spPr>
          <a:xfrm>
            <a:off x="11363325" y="2570083"/>
            <a:ext cx="2857500" cy="261318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275" b="1" i="0">
                <a:solidFill>
                  <a:srgbClr val="A33524"/>
                </a:solidFill>
                <a:latin typeface="Microsoft YaHei"/>
                <a:ea typeface="Microsoft YaHei"/>
                <a:cs typeface="Microsoft YaHei"/>
              </a:rPr>
              <a:t>86</a:t>
            </a:r>
          </a:p>
        </p:txBody>
      </p:sp>
      <p:sp>
        <p:nvSpPr>
          <p:cNvPr id="23" name="kpi1-pct"/>
          <p:cNvSpPr txBox="1"/>
          <p:nvPr/>
        </p:nvSpPr>
        <p:spPr>
          <a:xfrm>
            <a:off x="13325475" y="3665696"/>
            <a:ext cx="857250" cy="97440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950" b="1" i="0">
                <a:solidFill>
                  <a:srgbClr val="A33524"/>
                </a:solidFill>
                <a:latin typeface="Microsoft YaHei"/>
                <a:ea typeface="Microsoft YaHei"/>
                <a:cs typeface="Microsoft YaHei"/>
              </a:rPr>
              <a:t>%</a:t>
            </a:r>
          </a:p>
        </p:txBody>
      </p:sp>
      <p:sp>
        <p:nvSpPr>
          <p:cNvPr id="24" name="kpi2-frame"/>
          <p:cNvSpPr/>
          <p:nvPr/>
        </p:nvSpPr>
        <p:spPr>
          <a:xfrm>
            <a:off x="15611475" y="1714500"/>
            <a:ext cx="13449300" cy="3562350"/>
          </a:xfrm>
          <a:prstGeom prst="roundRect">
            <a:avLst>
              <a:gd name="adj" fmla="val 4812"/>
            </a:avLst>
          </a:prstGeom>
          <a:solidFill>
            <a:srgbClr val="FFFFFF"/>
          </a:solidFill>
          <a:ln w="28575">
            <a:solidFill>
              <a:srgbClr val="1C40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kpi2-panel"/>
          <p:cNvSpPr/>
          <p:nvPr/>
        </p:nvSpPr>
        <p:spPr>
          <a:xfrm>
            <a:off x="15830550" y="2419350"/>
            <a:ext cx="13011150" cy="2819400"/>
          </a:xfrm>
          <a:prstGeom prst="roundRect">
            <a:avLst>
              <a:gd name="adj" fmla="val 4054"/>
            </a:avLst>
          </a:prstGeom>
          <a:solidFill>
            <a:srgbClr val="F6F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2-panel-white"/>
          <p:cNvSpPr/>
          <p:nvPr/>
        </p:nvSpPr>
        <p:spPr>
          <a:xfrm>
            <a:off x="16135350" y="2628900"/>
            <a:ext cx="12496800" cy="2305050"/>
          </a:xfrm>
          <a:prstGeom prst="roundRect">
            <a:avLst>
              <a:gd name="adj" fmla="val 330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pi2-bar"/>
          <p:cNvSpPr/>
          <p:nvPr/>
        </p:nvSpPr>
        <p:spPr>
          <a:xfrm>
            <a:off x="15963900" y="2352675"/>
            <a:ext cx="123825" cy="2314575"/>
          </a:xfrm>
          <a:prstGeom prst="rect">
            <a:avLst/>
          </a:prstGeom>
          <a:solidFill>
            <a:srgbClr val="1C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2-year"/>
          <p:cNvSpPr txBox="1"/>
          <p:nvPr/>
        </p:nvSpPr>
        <p:spPr>
          <a:xfrm>
            <a:off x="16744950" y="2991088"/>
            <a:ext cx="2286000" cy="7234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675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2025年</a:t>
            </a:r>
          </a:p>
        </p:txBody>
      </p:sp>
      <p:sp>
        <p:nvSpPr>
          <p:cNvPr id="29" name="kpi2-sub1"/>
          <p:cNvSpPr txBox="1"/>
          <p:nvPr/>
        </p:nvSpPr>
        <p:spPr>
          <a:xfrm>
            <a:off x="16735425" y="3779639"/>
            <a:ext cx="4762500" cy="47982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37" b="0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技术架构组件落地效能表现</a:t>
            </a:r>
          </a:p>
        </p:txBody>
      </p:sp>
      <p:sp>
        <p:nvSpPr>
          <p:cNvPr id="30" name="kpi2-cn1"/>
          <p:cNvSpPr txBox="1"/>
          <p:nvPr/>
        </p:nvSpPr>
        <p:spPr>
          <a:xfrm>
            <a:off x="21936075" y="2990612"/>
            <a:ext cx="4572000" cy="45767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325" b="0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2024 年 Q4 架构组件接</a:t>
            </a:r>
          </a:p>
        </p:txBody>
      </p:sp>
      <p:sp>
        <p:nvSpPr>
          <p:cNvPr id="31" name="kpi2-cn2"/>
          <p:cNvSpPr txBox="1"/>
          <p:nvPr/>
        </p:nvSpPr>
        <p:spPr>
          <a:xfrm>
            <a:off x="21936075" y="3381137"/>
            <a:ext cx="3143250" cy="45767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325" b="0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入业务线数量同比增长</a:t>
            </a:r>
          </a:p>
        </p:txBody>
      </p:sp>
      <p:sp>
        <p:nvSpPr>
          <p:cNvPr id="32" name="kpi2-en1"/>
          <p:cNvSpPr txBox="1"/>
          <p:nvPr/>
        </p:nvSpPr>
        <p:spPr>
          <a:xfrm>
            <a:off x="21936075" y="3756660"/>
            <a:ext cx="3810000" cy="35433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The number of Q4 architecture</a:t>
            </a:r>
          </a:p>
        </p:txBody>
      </p:sp>
      <p:sp>
        <p:nvSpPr>
          <p:cNvPr id="33" name="kpi2-en2"/>
          <p:cNvSpPr txBox="1"/>
          <p:nvPr/>
        </p:nvSpPr>
        <p:spPr>
          <a:xfrm>
            <a:off x="21936075" y="4051935"/>
            <a:ext cx="4537527" cy="35433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components accessing business lines</a:t>
            </a:r>
          </a:p>
        </p:txBody>
      </p:sp>
      <p:sp>
        <p:nvSpPr>
          <p:cNvPr id="34" name="kpi2-en3"/>
          <p:cNvSpPr txBox="1"/>
          <p:nvPr/>
        </p:nvSpPr>
        <p:spPr>
          <a:xfrm>
            <a:off x="21936075" y="4347210"/>
            <a:ext cx="4253057" cy="35433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will increase year-on-year in 2024</a:t>
            </a:r>
          </a:p>
        </p:txBody>
      </p:sp>
      <p:sp>
        <p:nvSpPr>
          <p:cNvPr id="35" name="kpi2-num"/>
          <p:cNvSpPr txBox="1"/>
          <p:nvPr/>
        </p:nvSpPr>
        <p:spPr>
          <a:xfrm>
            <a:off x="25765125" y="2570083"/>
            <a:ext cx="2857500" cy="261318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275" b="1" i="0">
                <a:solidFill>
                  <a:srgbClr val="A33524"/>
                </a:solidFill>
                <a:latin typeface="Microsoft YaHei"/>
                <a:ea typeface="Microsoft YaHei"/>
                <a:cs typeface="Microsoft YaHei"/>
              </a:rPr>
              <a:t>76</a:t>
            </a:r>
          </a:p>
        </p:txBody>
      </p:sp>
      <p:sp>
        <p:nvSpPr>
          <p:cNvPr id="36" name="kpi2-pct"/>
          <p:cNvSpPr txBox="1"/>
          <p:nvPr/>
        </p:nvSpPr>
        <p:spPr>
          <a:xfrm>
            <a:off x="27727275" y="3665696"/>
            <a:ext cx="857250" cy="97440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950" b="1" i="0">
                <a:solidFill>
                  <a:srgbClr val="A33524"/>
                </a:solidFill>
                <a:latin typeface="Microsoft YaHei"/>
                <a:ea typeface="Microsoft YaHei"/>
                <a:cs typeface="Microsoft YaHei"/>
              </a:rPr>
              <a:t>%</a:t>
            </a:r>
          </a:p>
        </p:txBody>
      </p:sp>
      <p:sp>
        <p:nvSpPr>
          <p:cNvPr id="37" name="dg-label-top"/>
          <p:cNvSpPr txBox="1"/>
          <p:nvPr/>
        </p:nvSpPr>
        <p:spPr>
          <a:xfrm>
            <a:off x="7972425" y="7227094"/>
            <a:ext cx="5715000" cy="4429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形象和技术理念高度统一</a:t>
            </a:r>
          </a:p>
        </p:txBody>
      </p:sp>
      <p:cxnSp>
        <p:nvCxnSpPr>
          <p:cNvPr id="38" name="dg-link-lc"/>
          <p:cNvCxnSpPr/>
          <p:nvPr/>
        </p:nvCxnSpPr>
        <p:spPr>
          <a:xfrm>
            <a:off x="4405312" y="9005888"/>
            <a:ext cx="2814638" cy="252412"/>
          </a:xfrm>
          <a:prstGeom prst="line">
            <a:avLst/>
          </a:prstGeom>
          <a:ln w="19050">
            <a:solidFill>
              <a:srgbClr val="8FA6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dg-link-rc"/>
          <p:cNvCxnSpPr/>
          <p:nvPr/>
        </p:nvCxnSpPr>
        <p:spPr>
          <a:xfrm flipH="1">
            <a:off x="9220200" y="9005888"/>
            <a:ext cx="2809875" cy="252412"/>
          </a:xfrm>
          <a:prstGeom prst="line">
            <a:avLst/>
          </a:prstGeom>
          <a:ln w="19050">
            <a:solidFill>
              <a:srgbClr val="8FA6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dg-link-cb"/>
          <p:cNvCxnSpPr/>
          <p:nvPr/>
        </p:nvCxnSpPr>
        <p:spPr>
          <a:xfrm flipH="1">
            <a:off x="8205788" y="11972925"/>
            <a:ext cx="14287" cy="419100"/>
          </a:xfrm>
          <a:prstGeom prst="line">
            <a:avLst/>
          </a:prstGeom>
          <a:ln w="19050">
            <a:solidFill>
              <a:srgbClr val="8FA6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dg-link-lb"/>
          <p:cNvCxnSpPr/>
          <p:nvPr/>
        </p:nvCxnSpPr>
        <p:spPr>
          <a:xfrm>
            <a:off x="2376488" y="9548812"/>
            <a:ext cx="4381500" cy="3805238"/>
          </a:xfrm>
          <a:prstGeom prst="line">
            <a:avLst/>
          </a:prstGeom>
          <a:ln w="19050">
            <a:solidFill>
              <a:srgbClr val="8FA6B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dg-link-rb"/>
          <p:cNvCxnSpPr/>
          <p:nvPr/>
        </p:nvCxnSpPr>
        <p:spPr>
          <a:xfrm flipH="1">
            <a:off x="9653588" y="9548812"/>
            <a:ext cx="4405312" cy="3805238"/>
          </a:xfrm>
          <a:prstGeom prst="line">
            <a:avLst/>
          </a:prstGeom>
          <a:ln w="19050">
            <a:solidFill>
              <a:srgbClr val="8FA6B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dg-ringL"/>
          <p:cNvSpPr/>
          <p:nvPr/>
        </p:nvSpPr>
        <p:spPr>
          <a:xfrm>
            <a:off x="1404938" y="6005512"/>
            <a:ext cx="3752850" cy="3752850"/>
          </a:xfrm>
          <a:prstGeom prst="ellipse">
            <a:avLst/>
          </a:prstGeom>
          <a:solidFill>
            <a:srgbClr val="FFFFFF"/>
          </a:solidFill>
          <a:ln w="323850">
            <a:solidFill>
              <a:srgbClr val="1C40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g-ringL-dash"/>
          <p:cNvSpPr/>
          <p:nvPr/>
        </p:nvSpPr>
        <p:spPr>
          <a:xfrm>
            <a:off x="1414462" y="6015038"/>
            <a:ext cx="3733800" cy="37338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FF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g-ringR"/>
          <p:cNvSpPr/>
          <p:nvPr/>
        </p:nvSpPr>
        <p:spPr>
          <a:xfrm>
            <a:off x="11287125" y="6015038"/>
            <a:ext cx="3733800" cy="3733800"/>
          </a:xfrm>
          <a:prstGeom prst="ellipse">
            <a:avLst/>
          </a:prstGeom>
          <a:solidFill>
            <a:srgbClr val="FFFFFF"/>
          </a:solidFill>
          <a:ln w="323850">
            <a:solidFill>
              <a:srgbClr val="1C40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g-ringR-dash"/>
          <p:cNvSpPr/>
          <p:nvPr/>
        </p:nvSpPr>
        <p:spPr>
          <a:xfrm>
            <a:off x="11296650" y="6024562"/>
            <a:ext cx="3714750" cy="37147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FF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g-ringB"/>
          <p:cNvSpPr/>
          <p:nvPr/>
        </p:nvSpPr>
        <p:spPr>
          <a:xfrm>
            <a:off x="6319838" y="12534900"/>
            <a:ext cx="3771900" cy="3771900"/>
          </a:xfrm>
          <a:prstGeom prst="ellipse">
            <a:avLst/>
          </a:prstGeom>
          <a:solidFill>
            <a:srgbClr val="FFFFFF"/>
          </a:solidFill>
          <a:ln w="323850">
            <a:solidFill>
              <a:srgbClr val="1C40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g-ringB-dash"/>
          <p:cNvSpPr/>
          <p:nvPr/>
        </p:nvSpPr>
        <p:spPr>
          <a:xfrm>
            <a:off x="6329362" y="12544425"/>
            <a:ext cx="3752850" cy="37528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FF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dg-core"/>
          <p:cNvSpPr/>
          <p:nvPr/>
        </p:nvSpPr>
        <p:spPr>
          <a:xfrm>
            <a:off x="6505575" y="8543925"/>
            <a:ext cx="3429000" cy="3429000"/>
          </a:xfrm>
          <a:prstGeom prst="ellipse">
            <a:avLst/>
          </a:pr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dg-ringL-title"/>
          <p:cNvSpPr txBox="1"/>
          <p:nvPr/>
        </p:nvSpPr>
        <p:spPr>
          <a:xfrm>
            <a:off x="1185862" y="7048500"/>
            <a:ext cx="4191000" cy="590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架构品牌形象打造</a:t>
            </a:r>
          </a:p>
        </p:txBody>
      </p:sp>
      <p:sp>
        <p:nvSpPr>
          <p:cNvPr id="51" name="dg-ringL-l1"/>
          <p:cNvSpPr txBox="1"/>
          <p:nvPr/>
        </p:nvSpPr>
        <p:spPr>
          <a:xfrm>
            <a:off x="1281112" y="8036719"/>
            <a:ext cx="4000500" cy="4429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0" i="0">
                <a:solidFill>
                  <a:srgbClr val="1C4B78"/>
                </a:solidFill>
                <a:latin typeface="Microsoft YaHei"/>
                <a:ea typeface="Microsoft YaHei"/>
                <a:cs typeface="Microsoft YaHei"/>
              </a:rPr>
              <a:t>架构特性 / 业务场</a:t>
            </a:r>
          </a:p>
        </p:txBody>
      </p:sp>
      <p:sp>
        <p:nvSpPr>
          <p:cNvPr id="52" name="dg-ringL-l2"/>
          <p:cNvSpPr txBox="1"/>
          <p:nvPr/>
        </p:nvSpPr>
        <p:spPr>
          <a:xfrm>
            <a:off x="1281112" y="8398669"/>
            <a:ext cx="4000500" cy="4429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0" i="0">
                <a:solidFill>
                  <a:srgbClr val="1C4B78"/>
                </a:solidFill>
                <a:latin typeface="Microsoft YaHei"/>
                <a:ea typeface="Microsoft YaHei"/>
                <a:cs typeface="Microsoft YaHei"/>
              </a:rPr>
              <a:t>景适配 / 技术领域</a:t>
            </a:r>
          </a:p>
        </p:txBody>
      </p:sp>
      <p:sp>
        <p:nvSpPr>
          <p:cNvPr id="53" name="dg-ringR-title"/>
          <p:cNvSpPr txBox="1"/>
          <p:nvPr/>
        </p:nvSpPr>
        <p:spPr>
          <a:xfrm>
            <a:off x="11058525" y="6915150"/>
            <a:ext cx="4191000" cy="590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架构品牌形象打造</a:t>
            </a:r>
          </a:p>
        </p:txBody>
      </p:sp>
      <p:sp>
        <p:nvSpPr>
          <p:cNvPr id="54" name="dg-ringR-l1"/>
          <p:cNvSpPr txBox="1"/>
          <p:nvPr/>
        </p:nvSpPr>
        <p:spPr>
          <a:xfrm>
            <a:off x="11153775" y="7846219"/>
            <a:ext cx="4000500" cy="4429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0" i="0">
                <a:solidFill>
                  <a:srgbClr val="1C4B78"/>
                </a:solidFill>
                <a:latin typeface="Microsoft YaHei"/>
                <a:ea typeface="Microsoft YaHei"/>
                <a:cs typeface="Microsoft YaHei"/>
              </a:rPr>
              <a:t>架构设计原则 /</a:t>
            </a:r>
          </a:p>
        </p:txBody>
      </p:sp>
      <p:sp>
        <p:nvSpPr>
          <p:cNvPr id="55" name="dg-ringR-l2"/>
          <p:cNvSpPr txBox="1"/>
          <p:nvPr/>
        </p:nvSpPr>
        <p:spPr>
          <a:xfrm>
            <a:off x="11153775" y="8255794"/>
            <a:ext cx="4000500" cy="4429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0" i="0">
                <a:solidFill>
                  <a:srgbClr val="1C4B78"/>
                </a:solidFill>
                <a:latin typeface="Microsoft YaHei"/>
                <a:ea typeface="Microsoft YaHei"/>
                <a:cs typeface="Microsoft YaHei"/>
              </a:rPr>
              <a:t>技术理念</a:t>
            </a:r>
          </a:p>
        </p:txBody>
      </p:sp>
      <p:sp>
        <p:nvSpPr>
          <p:cNvPr id="56" name="dg-ringB-title"/>
          <p:cNvSpPr txBox="1"/>
          <p:nvPr/>
        </p:nvSpPr>
        <p:spPr>
          <a:xfrm>
            <a:off x="6153150" y="13582650"/>
            <a:ext cx="4191000" cy="590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架构价值持续提升</a:t>
            </a:r>
          </a:p>
        </p:txBody>
      </p:sp>
      <p:sp>
        <p:nvSpPr>
          <p:cNvPr id="57" name="dg-ringB-l1"/>
          <p:cNvSpPr txBox="1"/>
          <p:nvPr/>
        </p:nvSpPr>
        <p:spPr>
          <a:xfrm>
            <a:off x="6248400" y="14532769"/>
            <a:ext cx="4000500" cy="4429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0" i="0">
                <a:solidFill>
                  <a:srgbClr val="1C4B78"/>
                </a:solidFill>
                <a:latin typeface="Microsoft YaHei"/>
                <a:ea typeface="Microsoft YaHei"/>
                <a:cs typeface="Microsoft YaHei"/>
              </a:rPr>
              <a:t>组件定位 / 技术</a:t>
            </a:r>
          </a:p>
        </p:txBody>
      </p:sp>
      <p:sp>
        <p:nvSpPr>
          <p:cNvPr id="58" name="dg-ringB-l2"/>
          <p:cNvSpPr txBox="1"/>
          <p:nvPr/>
        </p:nvSpPr>
        <p:spPr>
          <a:xfrm>
            <a:off x="6248400" y="14932819"/>
            <a:ext cx="4000500" cy="4429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0" i="0">
                <a:solidFill>
                  <a:srgbClr val="1C4B78"/>
                </a:solidFill>
                <a:latin typeface="Microsoft YaHei"/>
                <a:ea typeface="Microsoft YaHei"/>
                <a:cs typeface="Microsoft YaHei"/>
              </a:rPr>
              <a:t>支撑目标</a:t>
            </a:r>
          </a:p>
        </p:txBody>
      </p:sp>
      <p:sp>
        <p:nvSpPr>
          <p:cNvPr id="59" name="dg-core-l1"/>
          <p:cNvSpPr txBox="1"/>
          <p:nvPr/>
        </p:nvSpPr>
        <p:spPr>
          <a:xfrm>
            <a:off x="6505575" y="9273302"/>
            <a:ext cx="3429000" cy="693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5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打造技术架构</a:t>
            </a:r>
          </a:p>
        </p:txBody>
      </p:sp>
      <p:sp>
        <p:nvSpPr>
          <p:cNvPr id="60" name="dg-core-l2"/>
          <p:cNvSpPr txBox="1"/>
          <p:nvPr/>
        </p:nvSpPr>
        <p:spPr>
          <a:xfrm>
            <a:off x="6505575" y="9892427"/>
            <a:ext cx="3429000" cy="693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5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组件品牌</a:t>
            </a:r>
          </a:p>
        </p:txBody>
      </p:sp>
      <p:sp>
        <p:nvSpPr>
          <p:cNvPr id="61" name="dg-core-l3"/>
          <p:cNvSpPr txBox="1"/>
          <p:nvPr/>
        </p:nvSpPr>
        <p:spPr>
          <a:xfrm>
            <a:off x="6505575" y="10511552"/>
            <a:ext cx="3429000" cy="693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5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扩展技术生态</a:t>
            </a:r>
          </a:p>
        </p:txBody>
      </p:sp>
      <p:sp>
        <p:nvSpPr>
          <p:cNvPr id="62" name="dg-label-left"/>
          <p:cNvSpPr txBox="1"/>
          <p:nvPr/>
        </p:nvSpPr>
        <p:spPr>
          <a:xfrm rot="19620000">
            <a:off x="2381250" y="11040189"/>
            <a:ext cx="4381500" cy="39862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025" b="0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持续优化架构形象，提升技术价值</a:t>
            </a:r>
          </a:p>
        </p:txBody>
      </p:sp>
      <p:sp>
        <p:nvSpPr>
          <p:cNvPr id="63" name="dg-label-right"/>
          <p:cNvSpPr txBox="1"/>
          <p:nvPr/>
        </p:nvSpPr>
        <p:spPr>
          <a:xfrm rot="1980000">
            <a:off x="10953750" y="10944939"/>
            <a:ext cx="4381500" cy="39862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025" b="0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核心观念、架构价值协同提升</a:t>
            </a:r>
          </a:p>
        </p:txBody>
      </p:sp>
      <p:sp>
        <p:nvSpPr>
          <p:cNvPr id="64" name="dg-boxL"/>
          <p:cNvSpPr/>
          <p:nvPr/>
        </p:nvSpPr>
        <p:spPr>
          <a:xfrm>
            <a:off x="1876425" y="14906625"/>
            <a:ext cx="3952875" cy="790575"/>
          </a:xfrm>
          <a:prstGeom prst="rect">
            <a:avLst/>
          </a:prstGeom>
          <a:solidFill>
            <a:srgbClr val="FFFFFF"/>
          </a:solidFill>
          <a:ln w="19050">
            <a:solidFill>
              <a:srgbClr val="7C8FA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dg-boxL-tag"/>
          <p:cNvSpPr txBox="1"/>
          <p:nvPr/>
        </p:nvSpPr>
        <p:spPr>
          <a:xfrm>
            <a:off x="2171700" y="15090458"/>
            <a:ext cx="762000" cy="41338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66" name="dg-boxL-txt"/>
          <p:cNvSpPr txBox="1"/>
          <p:nvPr/>
        </p:nvSpPr>
        <p:spPr>
          <a:xfrm>
            <a:off x="3000375" y="15090458"/>
            <a:ext cx="2762250" cy="41338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0" i="0">
                <a:solidFill>
                  <a:srgbClr val="1C2B3A"/>
                </a:solidFill>
                <a:latin typeface="Microsoft YaHei"/>
                <a:ea typeface="Microsoft YaHei"/>
                <a:cs typeface="Microsoft YaHei"/>
              </a:rPr>
              <a:t>架构价值重点提升</a:t>
            </a:r>
          </a:p>
        </p:txBody>
      </p:sp>
      <p:sp>
        <p:nvSpPr>
          <p:cNvPr id="67" name="dg-boxR"/>
          <p:cNvSpPr/>
          <p:nvPr/>
        </p:nvSpPr>
        <p:spPr>
          <a:xfrm>
            <a:off x="10544175" y="14906625"/>
            <a:ext cx="3952875" cy="790575"/>
          </a:xfrm>
          <a:prstGeom prst="rect">
            <a:avLst/>
          </a:prstGeom>
          <a:solidFill>
            <a:srgbClr val="FFFFFF"/>
          </a:solidFill>
          <a:ln w="19050">
            <a:solidFill>
              <a:srgbClr val="7C8FA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g-boxR-tag"/>
          <p:cNvSpPr txBox="1"/>
          <p:nvPr/>
        </p:nvSpPr>
        <p:spPr>
          <a:xfrm>
            <a:off x="10839450" y="15090458"/>
            <a:ext cx="762000" cy="41338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69" name="dg-boxR-txt"/>
          <p:cNvSpPr txBox="1"/>
          <p:nvPr/>
        </p:nvSpPr>
        <p:spPr>
          <a:xfrm>
            <a:off x="11668125" y="15090458"/>
            <a:ext cx="3264408" cy="41338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0" i="0">
                <a:solidFill>
                  <a:srgbClr val="1C2B3A"/>
                </a:solidFill>
                <a:latin typeface="Microsoft YaHei"/>
                <a:ea typeface="Microsoft YaHei"/>
                <a:cs typeface="Microsoft YaHei"/>
              </a:rPr>
              <a:t>价值直接影响组件落地效果</a:t>
            </a:r>
          </a:p>
        </p:txBody>
      </p:sp>
      <p:cxnSp>
        <p:nvCxnSpPr>
          <p:cNvPr id="70" name="dg-arrL"/>
          <p:cNvCxnSpPr/>
          <p:nvPr/>
        </p:nvCxnSpPr>
        <p:spPr>
          <a:xfrm flipH="1">
            <a:off x="5886450" y="15297150"/>
            <a:ext cx="476250" cy="0"/>
          </a:xfrm>
          <a:prstGeom prst="line">
            <a:avLst/>
          </a:prstGeom>
          <a:ln w="28575">
            <a:solidFill>
              <a:srgbClr val="8FA6BF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dg-arrR"/>
          <p:cNvCxnSpPr/>
          <p:nvPr/>
        </p:nvCxnSpPr>
        <p:spPr>
          <a:xfrm>
            <a:off x="10048875" y="15297150"/>
            <a:ext cx="447675" cy="0"/>
          </a:xfrm>
          <a:prstGeom prst="line">
            <a:avLst/>
          </a:prstGeom>
          <a:ln w="28575">
            <a:solidFill>
              <a:srgbClr val="8FA6BF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pb-head"/>
          <p:cNvSpPr txBox="1"/>
          <p:nvPr/>
        </p:nvSpPr>
        <p:spPr>
          <a:xfrm>
            <a:off x="18002250" y="5581650"/>
            <a:ext cx="2286000" cy="590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01、问题</a:t>
            </a:r>
          </a:p>
        </p:txBody>
      </p:sp>
      <p:sp>
        <p:nvSpPr>
          <p:cNvPr id="73" name="pb-part1"/>
          <p:cNvSpPr/>
          <p:nvPr/>
        </p:nvSpPr>
        <p:spPr>
          <a:xfrm>
            <a:off x="15554325" y="6276975"/>
            <a:ext cx="6924675" cy="3714750"/>
          </a:xfrm>
          <a:prstGeom prst="roundRect">
            <a:avLst>
              <a:gd name="adj" fmla="val 1025"/>
            </a:avLst>
          </a:prstGeom>
          <a:solidFill>
            <a:srgbClr val="FFFFFF"/>
          </a:solidFill>
          <a:ln w="19050">
            <a:solidFill>
              <a:srgbClr val="1C40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pb-part1-tag"/>
          <p:cNvSpPr txBox="1"/>
          <p:nvPr/>
        </p:nvSpPr>
        <p:spPr>
          <a:xfrm>
            <a:off x="16192500" y="6518910"/>
            <a:ext cx="2286000" cy="944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PART1</a:t>
            </a:r>
          </a:p>
        </p:txBody>
      </p:sp>
      <p:sp>
        <p:nvSpPr>
          <p:cNvPr id="75" name="pb-part1-q"/>
          <p:cNvSpPr txBox="1"/>
          <p:nvPr/>
        </p:nvSpPr>
        <p:spPr>
          <a:xfrm>
            <a:off x="16116300" y="7620000"/>
            <a:ext cx="6477000" cy="590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C2B3A"/>
                </a:solidFill>
                <a:latin typeface="Microsoft YaHei"/>
                <a:ea typeface="Microsoft YaHei"/>
                <a:cs typeface="Microsoft YaHei"/>
              </a:rPr>
              <a:t>问题1 | 业务方对架构组件价值关注</a:t>
            </a:r>
          </a:p>
        </p:txBody>
      </p:sp>
      <p:sp>
        <p:nvSpPr>
          <p:cNvPr id="76" name="pb-part1-d1"/>
          <p:cNvSpPr txBox="1"/>
          <p:nvPr/>
        </p:nvSpPr>
        <p:spPr>
          <a:xfrm>
            <a:off x="16078200" y="8380214"/>
            <a:ext cx="6572250" cy="47982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37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架构组件已成为业务团队技术选型的重点关注</a:t>
            </a:r>
          </a:p>
        </p:txBody>
      </p:sp>
      <p:sp>
        <p:nvSpPr>
          <p:cNvPr id="77" name="pb-part1-d2"/>
          <p:cNvSpPr txBox="1"/>
          <p:nvPr/>
        </p:nvSpPr>
        <p:spPr>
          <a:xfrm>
            <a:off x="16078200" y="8827889"/>
            <a:ext cx="1143000" cy="47982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37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要素</a:t>
            </a:r>
          </a:p>
        </p:txBody>
      </p:sp>
      <p:sp>
        <p:nvSpPr>
          <p:cNvPr id="78" name="pb-part1-rule"/>
          <p:cNvSpPr/>
          <p:nvPr/>
        </p:nvSpPr>
        <p:spPr>
          <a:xfrm>
            <a:off x="15973425" y="9658350"/>
            <a:ext cx="6667500" cy="104775"/>
          </a:xfrm>
          <a:prstGeom prst="rect">
            <a:avLst/>
          </a:prstGeom>
          <a:solidFill>
            <a:srgbClr val="1C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pb-part2"/>
          <p:cNvSpPr/>
          <p:nvPr/>
        </p:nvSpPr>
        <p:spPr>
          <a:xfrm>
            <a:off x="15554325" y="10296525"/>
            <a:ext cx="6924675" cy="388620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 w="19050">
            <a:solidFill>
              <a:srgbClr val="A33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pb-part2-tag"/>
          <p:cNvSpPr txBox="1"/>
          <p:nvPr/>
        </p:nvSpPr>
        <p:spPr>
          <a:xfrm>
            <a:off x="16154400" y="10357485"/>
            <a:ext cx="2286000" cy="944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A33524"/>
                </a:solidFill>
                <a:latin typeface="Microsoft YaHei"/>
                <a:ea typeface="Microsoft YaHei"/>
                <a:cs typeface="Microsoft YaHei"/>
              </a:rPr>
              <a:t>PART2</a:t>
            </a:r>
          </a:p>
        </p:txBody>
      </p:sp>
      <p:sp>
        <p:nvSpPr>
          <p:cNvPr id="81" name="pb-part2-q1"/>
          <p:cNvSpPr txBox="1"/>
          <p:nvPr/>
        </p:nvSpPr>
        <p:spPr>
          <a:xfrm>
            <a:off x="16116300" y="11315700"/>
            <a:ext cx="6477000" cy="590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C2B3A"/>
                </a:solidFill>
                <a:latin typeface="Microsoft YaHei"/>
                <a:ea typeface="Microsoft YaHei"/>
                <a:cs typeface="Microsoft YaHei"/>
              </a:rPr>
              <a:t>问题2 | 业组件能力、定位与架构品</a:t>
            </a:r>
          </a:p>
        </p:txBody>
      </p:sp>
      <p:sp>
        <p:nvSpPr>
          <p:cNvPr id="82" name="pb-part2-q2"/>
          <p:cNvSpPr txBox="1"/>
          <p:nvPr/>
        </p:nvSpPr>
        <p:spPr>
          <a:xfrm>
            <a:off x="17526000" y="11791950"/>
            <a:ext cx="4381500" cy="590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C2B3A"/>
                </a:solidFill>
                <a:latin typeface="Microsoft YaHei"/>
                <a:ea typeface="Microsoft YaHei"/>
                <a:cs typeface="Microsoft YaHei"/>
              </a:rPr>
              <a:t>牌之间存在显著差距</a:t>
            </a:r>
          </a:p>
        </p:txBody>
      </p:sp>
      <p:sp>
        <p:nvSpPr>
          <p:cNvPr id="83" name="pb-part2-d1"/>
          <p:cNvSpPr txBox="1"/>
          <p:nvPr/>
        </p:nvSpPr>
        <p:spPr>
          <a:xfrm>
            <a:off x="16078200" y="12628364"/>
            <a:ext cx="6572250" cy="47982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37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从数据上看，部分组件实际能力与架构品牌定</a:t>
            </a:r>
          </a:p>
        </p:txBody>
      </p:sp>
      <p:sp>
        <p:nvSpPr>
          <p:cNvPr id="84" name="pb-part2-d2"/>
          <p:cNvSpPr txBox="1"/>
          <p:nvPr/>
        </p:nvSpPr>
        <p:spPr>
          <a:xfrm>
            <a:off x="16078200" y="13076039"/>
            <a:ext cx="2095500" cy="47982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37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位严重不符</a:t>
            </a:r>
          </a:p>
        </p:txBody>
      </p:sp>
      <p:sp>
        <p:nvSpPr>
          <p:cNvPr id="85" name="pb-part2-rule"/>
          <p:cNvSpPr/>
          <p:nvPr/>
        </p:nvSpPr>
        <p:spPr>
          <a:xfrm>
            <a:off x="15973425" y="13754100"/>
            <a:ext cx="6667500" cy="104775"/>
          </a:xfrm>
          <a:prstGeom prst="rect">
            <a:avLst/>
          </a:pr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ms-head"/>
          <p:cNvSpPr txBox="1"/>
          <p:nvPr/>
        </p:nvSpPr>
        <p:spPr>
          <a:xfrm>
            <a:off x="25374600" y="5581650"/>
            <a:ext cx="2286000" cy="590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02、措施</a:t>
            </a:r>
          </a:p>
        </p:txBody>
      </p:sp>
      <p:sp>
        <p:nvSpPr>
          <p:cNvPr id="87" name="ms-block1"/>
          <p:cNvSpPr/>
          <p:nvPr/>
        </p:nvSpPr>
        <p:spPr>
          <a:xfrm>
            <a:off x="22555200" y="6324600"/>
            <a:ext cx="7105650" cy="2476500"/>
          </a:xfrm>
          <a:prstGeom prst="rect">
            <a:avLst/>
          </a:prstGeom>
          <a:solidFill>
            <a:srgbClr val="1C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ms-block1-l1"/>
          <p:cNvSpPr txBox="1"/>
          <p:nvPr/>
        </p:nvSpPr>
        <p:spPr>
          <a:xfrm>
            <a:off x="22745700" y="6906339"/>
            <a:ext cx="6667500" cy="693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5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结合业务调研，持续架</a:t>
            </a:r>
          </a:p>
        </p:txBody>
      </p:sp>
      <p:sp>
        <p:nvSpPr>
          <p:cNvPr id="89" name="ms-block1-l2"/>
          <p:cNvSpPr txBox="1"/>
          <p:nvPr/>
        </p:nvSpPr>
        <p:spPr>
          <a:xfrm>
            <a:off x="22745700" y="7525464"/>
            <a:ext cx="6667500" cy="693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5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构组件优化、提升</a:t>
            </a:r>
          </a:p>
        </p:txBody>
      </p:sp>
      <p:sp>
        <p:nvSpPr>
          <p:cNvPr id="90" name="ms-block2"/>
          <p:cNvSpPr/>
          <p:nvPr/>
        </p:nvSpPr>
        <p:spPr>
          <a:xfrm>
            <a:off x="22555200" y="8972550"/>
            <a:ext cx="7105650" cy="2486025"/>
          </a:xfrm>
          <a:prstGeom prst="rect">
            <a:avLst/>
          </a:pr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ms-block2-l1"/>
          <p:cNvSpPr txBox="1"/>
          <p:nvPr/>
        </p:nvSpPr>
        <p:spPr>
          <a:xfrm>
            <a:off x="22745700" y="9559052"/>
            <a:ext cx="6667500" cy="693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5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对于组件能力进行调</a:t>
            </a:r>
          </a:p>
        </p:txBody>
      </p:sp>
      <p:sp>
        <p:nvSpPr>
          <p:cNvPr id="92" name="ms-block2-l2"/>
          <p:cNvSpPr txBox="1"/>
          <p:nvPr/>
        </p:nvSpPr>
        <p:spPr>
          <a:xfrm>
            <a:off x="22745700" y="10178177"/>
            <a:ext cx="6667500" cy="693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5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整，符合架构品牌理念</a:t>
            </a:r>
          </a:p>
        </p:txBody>
      </p:sp>
      <p:sp>
        <p:nvSpPr>
          <p:cNvPr id="93" name="ms-block3"/>
          <p:cNvSpPr/>
          <p:nvPr/>
        </p:nvSpPr>
        <p:spPr>
          <a:xfrm>
            <a:off x="22555200" y="11630025"/>
            <a:ext cx="7105650" cy="2466975"/>
          </a:xfrm>
          <a:prstGeom prst="rect">
            <a:avLst/>
          </a:prstGeom>
          <a:solidFill>
            <a:srgbClr val="1C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ms-block3-l1"/>
          <p:cNvSpPr txBox="1"/>
          <p:nvPr/>
        </p:nvSpPr>
        <p:spPr>
          <a:xfrm>
            <a:off x="22745700" y="11897439"/>
            <a:ext cx="6667500" cy="693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5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推进组件迭代创新，紧</a:t>
            </a:r>
          </a:p>
        </p:txBody>
      </p:sp>
      <p:sp>
        <p:nvSpPr>
          <p:cNvPr id="95" name="ms-block3-l2"/>
          <p:cNvSpPr txBox="1"/>
          <p:nvPr/>
        </p:nvSpPr>
        <p:spPr>
          <a:xfrm>
            <a:off x="22745700" y="12516564"/>
            <a:ext cx="6667500" cy="693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5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密围绕架构品牌做好技</a:t>
            </a:r>
          </a:p>
        </p:txBody>
      </p:sp>
      <p:sp>
        <p:nvSpPr>
          <p:cNvPr id="96" name="ms-block3-l3"/>
          <p:cNvSpPr txBox="1"/>
          <p:nvPr/>
        </p:nvSpPr>
        <p:spPr>
          <a:xfrm>
            <a:off x="22745700" y="13135689"/>
            <a:ext cx="6667500" cy="693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5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术开发</a:t>
            </a:r>
          </a:p>
        </p:txBody>
      </p:sp>
      <p:sp>
        <p:nvSpPr>
          <p:cNvPr id="97" name="bt-box"/>
          <p:cNvSpPr/>
          <p:nvPr/>
        </p:nvSpPr>
        <p:spPr>
          <a:xfrm>
            <a:off x="15563850" y="14201775"/>
            <a:ext cx="14077950" cy="1924050"/>
          </a:xfrm>
          <a:prstGeom prst="rect">
            <a:avLst/>
          </a:prstGeom>
          <a:solidFill>
            <a:srgbClr val="F6F9FE"/>
          </a:solidFill>
          <a:ln w="19050">
            <a:solidFill>
              <a:srgbClr val="1C40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bt-l1"/>
          <p:cNvSpPr txBox="1"/>
          <p:nvPr/>
        </p:nvSpPr>
        <p:spPr>
          <a:xfrm>
            <a:off x="15735300" y="14710648"/>
            <a:ext cx="13811250" cy="4872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7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结合 2024 年度数据，可以看出业务方对于架构组件品牌的关注更加强烈，头部架构组件的业务粘</a:t>
            </a:r>
          </a:p>
        </p:txBody>
      </p:sp>
      <p:sp>
        <p:nvSpPr>
          <p:cNvPr id="99" name="bt-l2"/>
          <p:cNvSpPr txBox="1"/>
          <p:nvPr/>
        </p:nvSpPr>
        <p:spPr>
          <a:xfrm>
            <a:off x="15735300" y="15348823"/>
            <a:ext cx="13525500" cy="4872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7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性显著增加，其中能力匹配度、接入成本、技术定位都对业务方的选用起到了很大的影响。</a:t>
            </a:r>
          </a:p>
        </p:txBody>
      </p:sp>
      <p:sp>
        <p:nvSpPr>
          <p:cNvPr id="100" name="bt-rule"/>
          <p:cNvSpPr/>
          <p:nvPr/>
        </p:nvSpPr>
        <p:spPr>
          <a:xfrm>
            <a:off x="15240000" y="16459200"/>
            <a:ext cx="14373225" cy="2857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